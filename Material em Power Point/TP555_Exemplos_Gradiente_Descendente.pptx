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CA026FDC-55E5-4CD2-A70D-5B1A65844C32}"/>
    <pc:docChg chg="undo custSel modSld">
      <pc:chgData name="Luiz Augusto Melo Pereira" userId="4bd5ce759a66f368" providerId="LiveId" clId="{CA026FDC-55E5-4CD2-A70D-5B1A65844C32}" dt="2025-01-28T14:22:03.598" v="72" actId="1076"/>
      <pc:docMkLst>
        <pc:docMk/>
      </pc:docMkLst>
      <pc:sldChg chg="delSp modSp mod">
        <pc:chgData name="Luiz Augusto Melo Pereira" userId="4bd5ce759a66f368" providerId="LiveId" clId="{CA026FDC-55E5-4CD2-A70D-5B1A65844C32}" dt="2025-01-28T14:19:56.546" v="9" actId="1076"/>
        <pc:sldMkLst>
          <pc:docMk/>
          <pc:sldMk cId="0" sldId="257"/>
        </pc:sldMkLst>
        <pc:spChg chg="del">
          <ac:chgData name="Luiz Augusto Melo Pereira" userId="4bd5ce759a66f368" providerId="LiveId" clId="{CA026FDC-55E5-4CD2-A70D-5B1A65844C32}" dt="2025-01-28T14:19:51.756" v="8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Luiz Augusto Melo Pereira" userId="4bd5ce759a66f368" providerId="LiveId" clId="{CA026FDC-55E5-4CD2-A70D-5B1A65844C32}" dt="2025-01-28T14:19:56.546" v="9" actId="1076"/>
          <ac:spMkLst>
            <pc:docMk/>
            <pc:sldMk cId="0" sldId="257"/>
            <ac:spMk id="7" creationId="{00000000-0000-0000-0000-000000000000}"/>
          </ac:spMkLst>
        </pc:spChg>
      </pc:sldChg>
      <pc:sldChg chg="delSp modSp mod">
        <pc:chgData name="Luiz Augusto Melo Pereira" userId="4bd5ce759a66f368" providerId="LiveId" clId="{CA026FDC-55E5-4CD2-A70D-5B1A65844C32}" dt="2025-01-28T14:20:18.935" v="18" actId="1076"/>
        <pc:sldMkLst>
          <pc:docMk/>
          <pc:sldMk cId="0" sldId="259"/>
        </pc:sldMkLst>
        <pc:spChg chg="del">
          <ac:chgData name="Luiz Augusto Melo Pereira" userId="4bd5ce759a66f368" providerId="LiveId" clId="{CA026FDC-55E5-4CD2-A70D-5B1A65844C32}" dt="2025-01-28T14:20:16.429" v="17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Luiz Augusto Melo Pereira" userId="4bd5ce759a66f368" providerId="LiveId" clId="{CA026FDC-55E5-4CD2-A70D-5B1A65844C32}" dt="2025-01-28T14:20:18.935" v="18" actId="1076"/>
          <ac:spMkLst>
            <pc:docMk/>
            <pc:sldMk cId="0" sldId="259"/>
            <ac:spMk id="8" creationId="{00000000-0000-0000-0000-000000000000}"/>
          </ac:spMkLst>
        </pc:spChg>
        <pc:picChg chg="mod">
          <ac:chgData name="Luiz Augusto Melo Pereira" userId="4bd5ce759a66f368" providerId="LiveId" clId="{CA026FDC-55E5-4CD2-A70D-5B1A65844C32}" dt="2025-01-28T14:20:06.112" v="10" actId="1076"/>
          <ac:picMkLst>
            <pc:docMk/>
            <pc:sldMk cId="0" sldId="259"/>
            <ac:picMk id="27" creationId="{00000000-0000-0000-0000-000000000000}"/>
          </ac:picMkLst>
        </pc:picChg>
      </pc:sldChg>
      <pc:sldChg chg="modSp mod">
        <pc:chgData name="Luiz Augusto Melo Pereira" userId="4bd5ce759a66f368" providerId="LiveId" clId="{CA026FDC-55E5-4CD2-A70D-5B1A65844C32}" dt="2025-01-28T14:20:25.450" v="20" actId="1076"/>
        <pc:sldMkLst>
          <pc:docMk/>
          <pc:sldMk cId="0" sldId="260"/>
        </pc:sldMkLst>
        <pc:spChg chg="mod">
          <ac:chgData name="Luiz Augusto Melo Pereira" userId="4bd5ce759a66f368" providerId="LiveId" clId="{CA026FDC-55E5-4CD2-A70D-5B1A65844C32}" dt="2025-01-28T14:20:25.450" v="20" actId="1076"/>
          <ac:spMkLst>
            <pc:docMk/>
            <pc:sldMk cId="0" sldId="260"/>
            <ac:spMk id="7" creationId="{00000000-0000-0000-0000-000000000000}"/>
          </ac:spMkLst>
        </pc:spChg>
      </pc:sldChg>
      <pc:sldChg chg="delSp modSp mod">
        <pc:chgData name="Luiz Augusto Melo Pereira" userId="4bd5ce759a66f368" providerId="LiveId" clId="{CA026FDC-55E5-4CD2-A70D-5B1A65844C32}" dt="2025-01-28T14:20:44.884" v="28" actId="1076"/>
        <pc:sldMkLst>
          <pc:docMk/>
          <pc:sldMk cId="0" sldId="261"/>
        </pc:sldMkLst>
        <pc:spChg chg="del">
          <ac:chgData name="Luiz Augusto Melo Pereira" userId="4bd5ce759a66f368" providerId="LiveId" clId="{CA026FDC-55E5-4CD2-A70D-5B1A65844C32}" dt="2025-01-28T14:20:41.131" v="27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Luiz Augusto Melo Pereira" userId="4bd5ce759a66f368" providerId="LiveId" clId="{CA026FDC-55E5-4CD2-A70D-5B1A65844C32}" dt="2025-01-28T14:20:44.884" v="28" actId="1076"/>
          <ac:spMkLst>
            <pc:docMk/>
            <pc:sldMk cId="0" sldId="261"/>
            <ac:spMk id="7" creationId="{00000000-0000-0000-0000-000000000000}"/>
          </ac:spMkLst>
        </pc:spChg>
      </pc:sldChg>
      <pc:sldChg chg="addSp delSp modSp mod">
        <pc:chgData name="Luiz Augusto Melo Pereira" userId="4bd5ce759a66f368" providerId="LiveId" clId="{CA026FDC-55E5-4CD2-A70D-5B1A65844C32}" dt="2025-01-28T14:22:03.598" v="72" actId="1076"/>
        <pc:sldMkLst>
          <pc:docMk/>
          <pc:sldMk cId="0" sldId="263"/>
        </pc:sldMkLst>
        <pc:spChg chg="del">
          <ac:chgData name="Luiz Augusto Melo Pereira" userId="4bd5ce759a66f368" providerId="LiveId" clId="{CA026FDC-55E5-4CD2-A70D-5B1A65844C32}" dt="2025-01-28T14:21:57.057" v="69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Luiz Augusto Melo Pereira" userId="4bd5ce759a66f368" providerId="LiveId" clId="{CA026FDC-55E5-4CD2-A70D-5B1A65844C32}" dt="2025-01-28T14:21:57.885" v="70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Luiz Augusto Melo Pereira" userId="4bd5ce759a66f368" providerId="LiveId" clId="{CA026FDC-55E5-4CD2-A70D-5B1A65844C32}" dt="2025-01-28T14:21:54.463" v="67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Luiz Augusto Melo Pereira" userId="4bd5ce759a66f368" providerId="LiveId" clId="{CA026FDC-55E5-4CD2-A70D-5B1A65844C32}" dt="2025-01-28T14:21:55.415" v="68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Luiz Augusto Melo Pereira" userId="4bd5ce759a66f368" providerId="LiveId" clId="{CA026FDC-55E5-4CD2-A70D-5B1A65844C32}" dt="2025-01-28T14:21:53.344" v="66" actId="478"/>
          <ac:spMkLst>
            <pc:docMk/>
            <pc:sldMk cId="0" sldId="263"/>
            <ac:spMk id="8" creationId="{00000000-0000-0000-0000-000000000000}"/>
          </ac:spMkLst>
        </pc:spChg>
        <pc:spChg chg="add mod">
          <ac:chgData name="Luiz Augusto Melo Pereira" userId="4bd5ce759a66f368" providerId="LiveId" clId="{CA026FDC-55E5-4CD2-A70D-5B1A65844C32}" dt="2025-01-28T14:22:03.598" v="72" actId="1076"/>
          <ac:spMkLst>
            <pc:docMk/>
            <pc:sldMk cId="0" sldId="263"/>
            <ac:spMk id="12" creationId="{17D5E3B8-2980-C1DC-7A4B-CDBEB73F1F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263207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123010"/>
            <a:ext cx="10659745" cy="3872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hyperlink" Target="https://colab.research.google.com/github/luiz10ml/tp555-ml/blob/main/exemplos/linear-regression/linear_regression_with_gradient_descent_exemplo1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github/luiz10ml/tp555-ml/blob/main/exemplos/linear-regression/linear_regression_with_gradient_descent_exemplo2.ipynb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hyperlink" Target="https://colab.research.google.com/github/luiz10ml/tp555-ml/blob/main/exemplos/linear-regression/linear_regression_with_gradient_descent_exemplo3.ipynb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linear-regression/gd_versions/SGD_with_scikit_learn_lib.ipynb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1620" y="512191"/>
            <a:ext cx="7588250" cy="14439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477645" marR="5080" indent="-1464945">
              <a:lnSpc>
                <a:spcPts val="5290"/>
              </a:lnSpc>
              <a:spcBef>
                <a:spcPts val="760"/>
              </a:spcBef>
            </a:pPr>
            <a:r>
              <a:rPr sz="4900" b="0" dirty="0">
                <a:latin typeface="Calibri Light"/>
                <a:cs typeface="Calibri Light"/>
              </a:rPr>
              <a:t>TP555</a:t>
            </a:r>
            <a:r>
              <a:rPr sz="4900" b="0" spc="-125" dirty="0">
                <a:latin typeface="Calibri Light"/>
                <a:cs typeface="Calibri Light"/>
              </a:rPr>
              <a:t> </a:t>
            </a:r>
            <a:r>
              <a:rPr sz="4900" b="0" dirty="0">
                <a:latin typeface="Calibri Light"/>
                <a:cs typeface="Calibri Light"/>
              </a:rPr>
              <a:t>-</a:t>
            </a:r>
            <a:r>
              <a:rPr sz="4900" b="0" spc="-145" dirty="0">
                <a:latin typeface="Calibri Light"/>
                <a:cs typeface="Calibri Light"/>
              </a:rPr>
              <a:t> </a:t>
            </a:r>
            <a:r>
              <a:rPr sz="4900" b="0" spc="-10" dirty="0">
                <a:latin typeface="Calibri Light"/>
                <a:cs typeface="Calibri Light"/>
              </a:rPr>
              <a:t>Inteligência</a:t>
            </a:r>
            <a:r>
              <a:rPr sz="4900" b="0" spc="-80" dirty="0">
                <a:latin typeface="Calibri Light"/>
                <a:cs typeface="Calibri Light"/>
              </a:rPr>
              <a:t> </a:t>
            </a:r>
            <a:r>
              <a:rPr sz="4900" b="0" dirty="0">
                <a:latin typeface="Calibri Light"/>
                <a:cs typeface="Calibri Light"/>
              </a:rPr>
              <a:t>Artificial</a:t>
            </a:r>
            <a:r>
              <a:rPr sz="4900" b="0" spc="-110" dirty="0">
                <a:latin typeface="Calibri Light"/>
                <a:cs typeface="Calibri Light"/>
              </a:rPr>
              <a:t> </a:t>
            </a:r>
            <a:r>
              <a:rPr sz="4900" b="0" spc="-50" dirty="0">
                <a:latin typeface="Calibri Light"/>
                <a:cs typeface="Calibri Light"/>
              </a:rPr>
              <a:t>e </a:t>
            </a:r>
            <a:r>
              <a:rPr sz="4900" b="0" dirty="0">
                <a:latin typeface="Calibri Light"/>
                <a:cs typeface="Calibri Light"/>
              </a:rPr>
              <a:t>Machine</a:t>
            </a:r>
            <a:r>
              <a:rPr sz="4900" b="0" spc="-150" dirty="0">
                <a:latin typeface="Calibri Light"/>
                <a:cs typeface="Calibri Light"/>
              </a:rPr>
              <a:t> </a:t>
            </a:r>
            <a:r>
              <a:rPr sz="4900" b="0" spc="-10" dirty="0">
                <a:latin typeface="Calibri Light"/>
                <a:cs typeface="Calibri Light"/>
              </a:rPr>
              <a:t>Learning:</a:t>
            </a:r>
            <a:endParaRPr sz="4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0704" y="1844421"/>
            <a:ext cx="8536940" cy="15894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10310" marR="5080" indent="-1198245">
              <a:lnSpc>
                <a:spcPts val="5830"/>
              </a:lnSpc>
              <a:spcBef>
                <a:spcPts val="835"/>
              </a:spcBef>
            </a:pPr>
            <a:r>
              <a:rPr sz="5400" i="1" spc="-35" dirty="0">
                <a:latin typeface="Calibri Light"/>
                <a:cs typeface="Calibri Light"/>
              </a:rPr>
              <a:t>Exemplos</a:t>
            </a:r>
            <a:r>
              <a:rPr sz="5400" i="1" spc="-204" dirty="0">
                <a:latin typeface="Calibri Light"/>
                <a:cs typeface="Calibri Light"/>
              </a:rPr>
              <a:t> </a:t>
            </a:r>
            <a:r>
              <a:rPr sz="5400" i="1" dirty="0">
                <a:latin typeface="Calibri Light"/>
                <a:cs typeface="Calibri Light"/>
              </a:rPr>
              <a:t>de</a:t>
            </a:r>
            <a:r>
              <a:rPr sz="5400" i="1" spc="-195" dirty="0">
                <a:latin typeface="Calibri Light"/>
                <a:cs typeface="Calibri Light"/>
              </a:rPr>
              <a:t> </a:t>
            </a:r>
            <a:r>
              <a:rPr sz="5400" i="1" spc="-45" dirty="0">
                <a:latin typeface="Calibri Light"/>
                <a:cs typeface="Calibri Light"/>
              </a:rPr>
              <a:t>implementação</a:t>
            </a:r>
            <a:r>
              <a:rPr sz="5400" i="1" spc="-204" dirty="0">
                <a:latin typeface="Calibri Light"/>
                <a:cs typeface="Calibri Light"/>
              </a:rPr>
              <a:t> </a:t>
            </a:r>
            <a:r>
              <a:rPr sz="5400" i="1" spc="-25" dirty="0">
                <a:latin typeface="Calibri Light"/>
                <a:cs typeface="Calibri Light"/>
              </a:rPr>
              <a:t>do </a:t>
            </a:r>
            <a:r>
              <a:rPr sz="5400" i="1" spc="-35" dirty="0">
                <a:latin typeface="Calibri Light"/>
                <a:cs typeface="Calibri Light"/>
              </a:rPr>
              <a:t>gradiente</a:t>
            </a:r>
            <a:r>
              <a:rPr sz="5400" i="1" spc="-250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descendente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396386"/>
            <a:ext cx="2261361" cy="2237104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00B19F4A-AC24-6D90-F2AF-C69C918302D0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E9E9994-0830-0026-657D-FCFBA2B5670F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40" dirty="0"/>
              <a:t> </a:t>
            </a:r>
            <a:r>
              <a:rPr spc="-25" dirty="0"/>
              <a:t>#1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696277" y="2964554"/>
                <a:ext cx="10799445" cy="3079433"/>
              </a:xfrm>
              <a:prstGeom prst="rect">
                <a:avLst/>
              </a:prstGeom>
            </p:spPr>
            <p:txBody>
              <a:bodyPr vert="horz" wrap="square" lIns="0" tIns="92075" rIns="0" bIns="0" rtlCol="0">
                <a:spAutoFit/>
              </a:bodyPr>
              <a:lstStyle/>
              <a:p>
                <a:pPr marL="292100" marR="55880" indent="-228600">
                  <a:lnSpc>
                    <a:spcPct val="80000"/>
                  </a:lnSpc>
                  <a:spcBef>
                    <a:spcPts val="725"/>
                  </a:spcBef>
                  <a:buFont typeface="Arial"/>
                  <a:buChar char="•"/>
                  <a:tabLst>
                    <a:tab pos="292100" algn="l"/>
                    <a:tab pos="7182484" algn="l"/>
                    <a:tab pos="7510145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posse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dos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dados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ruidosos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mostrados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figura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acima,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encontrar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libri"/>
                    <a:cs typeface="Calibri"/>
                  </a:rPr>
                  <a:t>o </a:t>
                </a:r>
                <a:r>
                  <a:rPr lang="pt-BR" sz="2600" b="1" i="1" dirty="0">
                    <a:latin typeface="Calibri"/>
                    <a:cs typeface="Calibri"/>
                  </a:rPr>
                  <a:t>gradiente</a:t>
                </a:r>
                <a:r>
                  <a:rPr lang="pt-BR" sz="26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descendente</a:t>
                </a:r>
                <a:r>
                  <a:rPr lang="pt-BR" sz="26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pesos</a:t>
                </a:r>
                <a:r>
                  <a:rPr lang="pt-BR" sz="2600" spc="-6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função,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mbria Math"/>
                    <a:cs typeface="Cambria Math"/>
                  </a:rPr>
                  <a:t>ℎ(𝒙)</a:t>
                </a:r>
                <a:r>
                  <a:rPr lang="pt-BR" sz="2600" dirty="0">
                    <a:latin typeface="Cambria Math"/>
                    <a:cs typeface="Cambria Math"/>
                  </a:rPr>
                  <a:t>	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que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aproxime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função objetivo.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292100" marR="513080" indent="-228600">
                  <a:lnSpc>
                    <a:spcPts val="2500"/>
                  </a:lnSpc>
                  <a:spcBef>
                    <a:spcPts val="975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facilitar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nossa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análise,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vamos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simplificar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pouco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usar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uma</a:t>
                </a:r>
                <a:r>
                  <a:rPr lang="pt-BR" sz="2600" spc="-120" dirty="0">
                    <a:latin typeface="Calibri"/>
                    <a:cs typeface="Calibri"/>
                  </a:rPr>
                  <a:t> </a:t>
                </a:r>
                <a:r>
                  <a:rPr lang="pt-BR" sz="2600" b="1" i="1" spc="-10" dirty="0">
                    <a:latin typeface="Calibri"/>
                    <a:cs typeface="Calibri"/>
                  </a:rPr>
                  <a:t>função </a:t>
                </a:r>
                <a:r>
                  <a:rPr lang="pt-BR" sz="2600" b="1" i="1" dirty="0">
                    <a:latin typeface="Calibri"/>
                    <a:cs typeface="Calibri"/>
                  </a:rPr>
                  <a:t>hipótese</a:t>
                </a:r>
                <a:r>
                  <a:rPr lang="pt-BR" sz="26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apenas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peso,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4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4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4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600" spc="-265" dirty="0">
                    <a:latin typeface="Calibri"/>
                    <a:cs typeface="Calibri"/>
                  </a:rPr>
                  <a:t>:</a:t>
                </a:r>
              </a:p>
              <a:p>
                <a:pPr marL="63500" marR="513080">
                  <a:lnSpc>
                    <a:spcPts val="2500"/>
                  </a:lnSpc>
                  <a:spcBef>
                    <a:spcPts val="975"/>
                  </a:spcBef>
                  <a:tabLst>
                    <a:tab pos="2921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				</a:t>
                </a:r>
                <a14:m>
                  <m:oMath xmlns:m="http://schemas.openxmlformats.org/officeDocument/2006/math">
                    <m:r>
                      <a:rPr lang="pt-BR" sz="2600" b="0" i="0" smtClean="0">
                        <a:latin typeface="Cambria Math" panose="02040503050406030204" pitchFamily="18" charset="0"/>
                        <a:cs typeface="Calibri"/>
                      </a:rPr>
                      <m:t>              </m:t>
                    </m:r>
                    <m:acc>
                      <m:accPr>
                        <m:chr m:val="̂"/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lang="pt-BR" sz="2600" dirty="0">
                  <a:latin typeface="Calibri"/>
                  <a:cs typeface="Calibri"/>
                </a:endParaRPr>
              </a:p>
              <a:p>
                <a:pPr marL="292100" indent="-228600">
                  <a:lnSpc>
                    <a:spcPts val="3115"/>
                  </a:lnSpc>
                  <a:spcBef>
                    <a:spcPts val="550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Qual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regra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atualização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</a:t>
                </a:r>
                <a:r>
                  <a:rPr lang="pt-BR" sz="2600" spc="-9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9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9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9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600" spc="-265" dirty="0">
                    <a:latin typeface="Calibri"/>
                    <a:cs typeface="Calibri"/>
                  </a:rPr>
                  <a:t>?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749300" lvl="1" indent="-229235">
                  <a:lnSpc>
                    <a:spcPts val="2635"/>
                  </a:lnSpc>
                  <a:buFont typeface="Wingdings"/>
                  <a:buChar char=""/>
                  <a:tabLst>
                    <a:tab pos="749935" algn="l"/>
                  </a:tabLst>
                </a:pPr>
                <a:r>
                  <a:rPr lang="pt-BR" sz="2200" b="1" spc="-10" dirty="0">
                    <a:latin typeface="Calibri"/>
                    <a:cs typeface="Calibri"/>
                  </a:rPr>
                  <a:t>Dicas</a:t>
                </a:r>
                <a:r>
                  <a:rPr lang="pt-BR" sz="2200" spc="-10" dirty="0">
                    <a:latin typeface="Calibri"/>
                    <a:cs typeface="Calibri"/>
                  </a:rPr>
                  <a:t>: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77" y="2964554"/>
                <a:ext cx="10799445" cy="3079433"/>
              </a:xfrm>
              <a:prstGeom prst="rect">
                <a:avLst/>
              </a:prstGeom>
              <a:blipFill>
                <a:blip r:embed="rId2"/>
                <a:stretch>
                  <a:fillRect l="-1129" t="-2376" r="-1806" b="-4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1946062" y="6043987"/>
                <a:ext cx="8798138" cy="44486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95"/>
                  </a:spcBef>
                  <a:buFont typeface="Courier New"/>
                  <a:buChar char="o"/>
                  <a:tabLst>
                    <a:tab pos="241300" algn="l"/>
                    <a:tab pos="3086735" algn="l"/>
                    <a:tab pos="3742054" algn="l"/>
                  </a:tabLst>
                </a:pPr>
                <a:r>
                  <a:rPr lang="pt-BR" sz="1900" dirty="0">
                    <a:latin typeface="Calibri"/>
                    <a:cs typeface="Calibri"/>
                  </a:rPr>
                  <a:t>Comecem</a:t>
                </a:r>
                <a:r>
                  <a:rPr lang="pt-BR" sz="1900" spc="-100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 err="1">
                    <a:latin typeface="Calibri"/>
                    <a:cs typeface="Calibri"/>
                  </a:rPr>
                  <a:t>substituindo</a:t>
                </a:r>
                <a:r>
                  <a:rPr lang="pt-BR" sz="19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19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9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sz="1900" spc="-10" dirty="0">
                    <a:latin typeface="Calibri"/>
                    <a:cs typeface="Calibri"/>
                  </a:rPr>
                  <a:t>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</m:e>
                      <m:sub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900" b="1" i="1" spc="-10" smtClean="0">
                            <a:latin typeface="Cambria Math" panose="02040503050406030204" pitchFamily="18" charset="0"/>
                            <a:cs typeface="Calibri"/>
                          </a:rPr>
                          <m:t>𝒂</m:t>
                        </m:r>
                      </m:e>
                    </m:d>
                    <m:r>
                      <a:rPr lang="pt-BR" sz="1900" b="0" i="1" spc="-1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1900" b="1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𝒚</m:t>
                            </m:r>
                            <m: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accPr>
                              <m:e>
                                <m:r>
                                  <a:rPr lang="pt-BR" sz="1900" b="1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p>
                    <m:r>
                      <a:rPr lang="pt-BR" sz="1900" b="0" i="1" spc="-1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=0</m:t>
                        </m:r>
                      </m:sub>
                      <m:sup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𝑦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.</m:t>
                        </m:r>
                      </m:e>
                    </m:nary>
                  </m:oMath>
                </a14:m>
                <a:r>
                  <a:rPr lang="pt-BR" sz="1900" spc="-10" dirty="0">
                    <a:latin typeface="Calibri"/>
                    <a:cs typeface="Calibri"/>
                  </a:rPr>
                  <a:t> </a:t>
                </a:r>
                <a:endParaRPr sz="19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062" y="6043987"/>
                <a:ext cx="8798138" cy="444865"/>
              </a:xfrm>
              <a:prstGeom prst="rect">
                <a:avLst/>
              </a:prstGeom>
              <a:blipFill>
                <a:blip r:embed="rId3"/>
                <a:stretch>
                  <a:fillRect l="-1454" b="-205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bject 25"/>
          <p:cNvSpPr txBox="1"/>
          <p:nvPr/>
        </p:nvSpPr>
        <p:spPr>
          <a:xfrm>
            <a:off x="1946062" y="6477444"/>
            <a:ext cx="633857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Courier New"/>
              <a:buChar char="o"/>
              <a:tabLst>
                <a:tab pos="241300" algn="l"/>
              </a:tabLst>
            </a:pPr>
            <a:r>
              <a:rPr sz="1900" spc="-25" dirty="0">
                <a:latin typeface="Calibri"/>
                <a:cs typeface="Calibri"/>
              </a:rPr>
              <a:t>Lembrem-</a:t>
            </a:r>
            <a:r>
              <a:rPr sz="1900" dirty="0">
                <a:latin typeface="Calibri"/>
                <a:cs typeface="Calibri"/>
              </a:rPr>
              <a:t>se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que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operação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derivada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parcial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é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distributiva.</a:t>
            </a:r>
            <a:endParaRPr sz="1900" dirty="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9836" y="597020"/>
            <a:ext cx="3609485" cy="23524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90321"/>
            <a:ext cx="26314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</a:t>
            </a:r>
            <a:r>
              <a:rPr spc="-145" dirty="0"/>
              <a:t> </a:t>
            </a:r>
            <a:r>
              <a:rPr spc="-25" dirty="0"/>
              <a:t>#1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84440" y="523494"/>
            <a:ext cx="43834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</a:t>
            </a:r>
            <a:r>
              <a:rPr sz="12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1:</a:t>
            </a:r>
            <a:r>
              <a:rPr sz="12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linear_regression_with_gradient_descent_exemplo1.ipynb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62930" y="1216185"/>
            <a:ext cx="2660432" cy="24507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2897" y="4106700"/>
            <a:ext cx="2779607" cy="25611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886269" y="1370343"/>
                <a:ext cx="8537575" cy="137185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ts val="2245"/>
                  </a:lnSpc>
                  <a:spcBef>
                    <a:spcPts val="95"/>
                  </a:spcBef>
                </a:pPr>
                <a:r>
                  <a:rPr lang="pt-BR" sz="2200" spc="-10" dirty="0">
                    <a:latin typeface="Calibri"/>
                    <a:cs typeface="Calibri"/>
                  </a:rPr>
                  <a:t>Para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facilitar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nossa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análise,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vamos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simplificar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pouco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usar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uma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função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50800">
                  <a:lnSpc>
                    <a:spcPts val="2245"/>
                  </a:lnSpc>
                </a:pPr>
                <a:r>
                  <a:rPr lang="pt-BR" sz="2200" b="1" i="1" spc="-10" dirty="0">
                    <a:latin typeface="Calibri"/>
                    <a:cs typeface="Calibri"/>
                  </a:rPr>
                  <a:t>hipótese</a:t>
                </a:r>
                <a:r>
                  <a:rPr lang="pt-BR" sz="22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com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apenas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spc="-20" dirty="0">
                    <a:latin typeface="Calibri"/>
                    <a:cs typeface="Calibri"/>
                  </a:rPr>
                  <a:t>peso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204"/>
                  </a:spcBef>
                </a:pPr>
                <a:r>
                  <a:rPr lang="pt-BR" sz="2200" dirty="0">
                    <a:latin typeface="Calibri"/>
                    <a:cs typeface="Calibri"/>
                  </a:rPr>
                  <a:t>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2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2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22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2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2200" b="0" i="1" spc="-10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200" b="0" i="1" spc="-10" dirty="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pt-BR" sz="22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200" b="0" i="1" spc="-10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200" b="0" i="1" spc="-10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200" b="0" i="1" spc="-10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pt-BR" sz="2200" b="0" i="1" spc="-10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200" b="0" i="1" spc="-10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pt-BR" sz="2200" b="0" i="1" spc="-10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pt-BR" sz="22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b="0" i="1" spc="-10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200" b="0" i="1" spc="-10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2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2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2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2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pt-BR" sz="2200" b="0" i="1" spc="-10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200" b="0" i="1" spc="-10" dirty="0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pt-BR" sz="2200" b="0" i="1" spc="-10" dirty="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lang="pt-BR" sz="2200" dirty="0">
                  <a:latin typeface="Calibri"/>
                  <a:cs typeface="Calibri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204"/>
                  </a:spcBef>
                </a:pPr>
                <a:r>
                  <a:rPr lang="pt-BR" sz="2200" dirty="0">
                    <a:latin typeface="Calibri"/>
                    <a:cs typeface="Calibri"/>
                  </a:rPr>
                  <a:t>Com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função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erro</a:t>
                </a:r>
                <a:r>
                  <a:rPr lang="pt-BR" sz="22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dada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spc="-25" dirty="0">
                    <a:latin typeface="Calibri"/>
                    <a:cs typeface="Calibri"/>
                  </a:rPr>
                  <a:t>por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69" y="1370343"/>
                <a:ext cx="8537575" cy="1371850"/>
              </a:xfrm>
              <a:prstGeom prst="rect">
                <a:avLst/>
              </a:prstGeom>
              <a:blipFill>
                <a:blip r:embed="rId5"/>
                <a:stretch>
                  <a:fillRect l="-1428" t="-9333" r="-357" b="-9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bject 15"/>
          <p:cNvSpPr txBox="1"/>
          <p:nvPr/>
        </p:nvSpPr>
        <p:spPr>
          <a:xfrm>
            <a:off x="916939" y="3237356"/>
            <a:ext cx="22402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Gradiente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por</a:t>
            </a:r>
            <a:endParaRPr sz="2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0"/>
              <p:cNvSpPr txBox="1"/>
              <p:nvPr/>
            </p:nvSpPr>
            <p:spPr>
              <a:xfrm>
                <a:off x="849970" y="5331673"/>
                <a:ext cx="4145915" cy="463588"/>
              </a:xfrm>
              <a:prstGeom prst="rect">
                <a:avLst/>
              </a:prstGeom>
            </p:spPr>
            <p:txBody>
              <a:bodyPr vert="horz" wrap="square" lIns="0" tIns="141605" rIns="0" bIns="0" rtlCol="0">
                <a:spAutoFit/>
              </a:bodyPr>
              <a:lstStyle/>
              <a:p>
                <a:pPr marL="38100">
                  <a:lnSpc>
                    <a:spcPts val="2485"/>
                  </a:lnSpc>
                </a:pPr>
                <a:r>
                  <a:rPr lang="pt-BR" sz="2200" dirty="0">
                    <a:latin typeface="Calibri"/>
                    <a:cs typeface="Calibri"/>
                  </a:rPr>
                  <a:t>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atualização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do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peso</a:t>
                </a:r>
                <a:r>
                  <a:rPr lang="pt-BR" sz="22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spc="-1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2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spc="-140" dirty="0">
                    <a:latin typeface="Calibri"/>
                    <a:cs typeface="Calibri"/>
                  </a:rPr>
                  <a:t>dad</a:t>
                </a:r>
                <a:r>
                  <a:rPr lang="pt-BR" sz="2200" spc="-130" dirty="0">
                    <a:latin typeface="Calibri"/>
                    <a:cs typeface="Calibri"/>
                  </a:rPr>
                  <a:t>a</a:t>
                </a:r>
                <a:r>
                  <a:rPr lang="pt-BR" sz="2200" spc="-5" dirty="0">
                    <a:latin typeface="Calibri"/>
                    <a:cs typeface="Calibri"/>
                  </a:rPr>
                  <a:t> </a:t>
                </a:r>
                <a:r>
                  <a:rPr lang="pt-BR" sz="2200" spc="-25" dirty="0">
                    <a:latin typeface="Calibri"/>
                    <a:cs typeface="Calibri"/>
                  </a:rPr>
                  <a:t>por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0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70" y="5331673"/>
                <a:ext cx="4145915" cy="463588"/>
              </a:xfrm>
              <a:prstGeom prst="rect">
                <a:avLst/>
              </a:prstGeom>
              <a:blipFill>
                <a:blip r:embed="rId6"/>
                <a:stretch>
                  <a:fillRect l="-3231" b="-35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bject 38"/>
          <p:cNvSpPr/>
          <p:nvPr/>
        </p:nvSpPr>
        <p:spPr>
          <a:xfrm>
            <a:off x="2546604" y="6650457"/>
            <a:ext cx="158750" cy="18415"/>
          </a:xfrm>
          <a:custGeom>
            <a:avLst/>
            <a:gdLst/>
            <a:ahLst/>
            <a:cxnLst/>
            <a:rect l="l" t="t" r="r" b="b"/>
            <a:pathLst>
              <a:path w="158750" h="18414">
                <a:moveTo>
                  <a:pt x="158495" y="0"/>
                </a:moveTo>
                <a:lnTo>
                  <a:pt x="0" y="0"/>
                </a:lnTo>
                <a:lnTo>
                  <a:pt x="0" y="18288"/>
                </a:lnTo>
                <a:lnTo>
                  <a:pt x="158495" y="18288"/>
                </a:lnTo>
                <a:lnTo>
                  <a:pt x="1584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553970" y="6360414"/>
            <a:ext cx="1441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40" dirty="0">
                <a:latin typeface="Cambria Math"/>
                <a:cs typeface="Cambria Math"/>
              </a:rPr>
              <a:t>2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34157" y="6663690"/>
            <a:ext cx="1803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 dirty="0">
                <a:latin typeface="Cambria Math"/>
                <a:cs typeface="Cambria Math"/>
              </a:rPr>
              <a:t>𝑁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6939" y="6448807"/>
            <a:ext cx="70707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50389" algn="l"/>
              </a:tabLst>
            </a:pPr>
            <a:r>
              <a:rPr sz="2200" dirty="0">
                <a:latin typeface="Calibri"/>
                <a:cs typeface="Calibri"/>
              </a:rPr>
              <a:t>onde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termo</a:t>
            </a:r>
            <a:r>
              <a:rPr sz="2200" dirty="0">
                <a:latin typeface="Calibri"/>
                <a:cs typeface="Calibri"/>
              </a:rPr>
              <a:t>	foi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absorvido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passo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aprendizagem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𝛼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155057" y="3147441"/>
            <a:ext cx="2296160" cy="584200"/>
          </a:xfrm>
          <a:custGeom>
            <a:avLst/>
            <a:gdLst/>
            <a:ahLst/>
            <a:cxnLst/>
            <a:rect l="l" t="t" r="r" b="b"/>
            <a:pathLst>
              <a:path w="2296159" h="584200">
                <a:moveTo>
                  <a:pt x="65023" y="509651"/>
                </a:moveTo>
                <a:lnTo>
                  <a:pt x="0" y="564769"/>
                </a:lnTo>
                <a:lnTo>
                  <a:pt x="83057" y="583692"/>
                </a:lnTo>
                <a:lnTo>
                  <a:pt x="75510" y="552704"/>
                </a:lnTo>
                <a:lnTo>
                  <a:pt x="62483" y="552704"/>
                </a:lnTo>
                <a:lnTo>
                  <a:pt x="60959" y="546608"/>
                </a:lnTo>
                <a:lnTo>
                  <a:pt x="73290" y="543590"/>
                </a:lnTo>
                <a:lnTo>
                  <a:pt x="65023" y="509651"/>
                </a:lnTo>
                <a:close/>
              </a:path>
              <a:path w="2296159" h="584200">
                <a:moveTo>
                  <a:pt x="73290" y="543590"/>
                </a:moveTo>
                <a:lnTo>
                  <a:pt x="60959" y="546608"/>
                </a:lnTo>
                <a:lnTo>
                  <a:pt x="62483" y="552704"/>
                </a:lnTo>
                <a:lnTo>
                  <a:pt x="74777" y="549695"/>
                </a:lnTo>
                <a:lnTo>
                  <a:pt x="73290" y="543590"/>
                </a:lnTo>
                <a:close/>
              </a:path>
              <a:path w="2296159" h="584200">
                <a:moveTo>
                  <a:pt x="74777" y="549695"/>
                </a:moveTo>
                <a:lnTo>
                  <a:pt x="62483" y="552704"/>
                </a:lnTo>
                <a:lnTo>
                  <a:pt x="75510" y="552704"/>
                </a:lnTo>
                <a:lnTo>
                  <a:pt x="74777" y="549695"/>
                </a:lnTo>
                <a:close/>
              </a:path>
              <a:path w="2296159" h="584200">
                <a:moveTo>
                  <a:pt x="2294509" y="0"/>
                </a:moveTo>
                <a:lnTo>
                  <a:pt x="73290" y="543590"/>
                </a:lnTo>
                <a:lnTo>
                  <a:pt x="74777" y="549695"/>
                </a:lnTo>
                <a:lnTo>
                  <a:pt x="2295906" y="6223"/>
                </a:lnTo>
                <a:lnTo>
                  <a:pt x="229450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589266" y="2910027"/>
            <a:ext cx="16071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Operação </a:t>
            </a:r>
            <a:r>
              <a:rPr sz="1400" dirty="0">
                <a:latin typeface="Calibri"/>
                <a:cs typeface="Calibri"/>
              </a:rPr>
              <a:t>da </a:t>
            </a:r>
            <a:r>
              <a:rPr sz="1400" spc="-10" dirty="0">
                <a:latin typeface="Calibri"/>
                <a:cs typeface="Calibri"/>
              </a:rPr>
              <a:t>derivada</a:t>
            </a:r>
            <a:endParaRPr sz="1400">
              <a:latin typeface="Calibri"/>
              <a:cs typeface="Calibri"/>
            </a:endParaRPr>
          </a:p>
          <a:p>
            <a:pPr marL="4762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parcial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distributiva.</a:t>
            </a:r>
            <a:endParaRPr sz="14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088665DE-B312-7EC6-254C-C02DC97BF193}"/>
                  </a:ext>
                </a:extLst>
              </p:cNvPr>
              <p:cNvSpPr txBox="1"/>
              <p:nvPr/>
            </p:nvSpPr>
            <p:spPr>
              <a:xfrm>
                <a:off x="2553970" y="2728824"/>
                <a:ext cx="4640758" cy="6932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088665DE-B312-7EC6-254C-C02DC97BF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970" y="2728824"/>
                <a:ext cx="4640758" cy="6932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13D1282E-C5CC-14B9-DDCA-FC139A420F97}"/>
                  </a:ext>
                </a:extLst>
              </p:cNvPr>
              <p:cNvSpPr txBox="1"/>
              <p:nvPr/>
            </p:nvSpPr>
            <p:spPr>
              <a:xfrm>
                <a:off x="2920429" y="3565316"/>
                <a:ext cx="4635115" cy="9522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13D1282E-C5CC-14B9-DDCA-FC139A420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429" y="3565316"/>
                <a:ext cx="4635115" cy="9522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DCEAE1C7-FA34-648F-5F80-7070FBD495B7}"/>
                  </a:ext>
                </a:extLst>
              </p:cNvPr>
              <p:cNvSpPr txBox="1"/>
              <p:nvPr/>
            </p:nvSpPr>
            <p:spPr>
              <a:xfrm>
                <a:off x="2234313" y="4457952"/>
                <a:ext cx="4090287" cy="9522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DCEAE1C7-FA34-648F-5F80-7070FBD49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313" y="4457952"/>
                <a:ext cx="4090287" cy="9522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2420157B-E064-5BB1-2894-9BF1316BE4EE}"/>
                  </a:ext>
                </a:extLst>
              </p:cNvPr>
              <p:cNvSpPr txBox="1"/>
              <p:nvPr/>
            </p:nvSpPr>
            <p:spPr>
              <a:xfrm>
                <a:off x="1195767" y="5780291"/>
                <a:ext cx="7918578" cy="712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2420157B-E064-5BB1-2894-9BF1316BE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767" y="5780291"/>
                <a:ext cx="7918578" cy="71243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55" dirty="0"/>
              <a:t> </a:t>
            </a:r>
            <a:r>
              <a:rPr spc="-25" dirty="0"/>
              <a:t>#2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8"/>
              <p:cNvSpPr txBox="1"/>
              <p:nvPr/>
            </p:nvSpPr>
            <p:spPr>
              <a:xfrm>
                <a:off x="856254" y="3021228"/>
                <a:ext cx="10799445" cy="3028137"/>
              </a:xfrm>
              <a:prstGeom prst="rect">
                <a:avLst/>
              </a:prstGeom>
            </p:spPr>
            <p:txBody>
              <a:bodyPr vert="horz" wrap="square" lIns="0" tIns="92075" rIns="0" bIns="0" rtlCol="0">
                <a:spAutoFit/>
              </a:bodyPr>
              <a:lstStyle/>
              <a:p>
                <a:pPr marL="292100" marR="55880" indent="-228600">
                  <a:lnSpc>
                    <a:spcPct val="80000"/>
                  </a:lnSpc>
                  <a:spcBef>
                    <a:spcPts val="725"/>
                  </a:spcBef>
                  <a:buFont typeface="Arial"/>
                  <a:buChar char="•"/>
                  <a:tabLst>
                    <a:tab pos="292100" algn="l"/>
                    <a:tab pos="7182484" algn="l"/>
                    <a:tab pos="7510145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posse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dos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dados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ruidosos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mostrados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figura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acima,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encontrar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libri"/>
                    <a:cs typeface="Calibri"/>
                  </a:rPr>
                  <a:t>o </a:t>
                </a:r>
                <a:r>
                  <a:rPr lang="pt-BR" sz="2600" b="1" i="1" dirty="0">
                    <a:latin typeface="Calibri"/>
                    <a:cs typeface="Calibri"/>
                  </a:rPr>
                  <a:t>gradiente</a:t>
                </a:r>
                <a:r>
                  <a:rPr lang="pt-BR" sz="26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descendente</a:t>
                </a:r>
                <a:r>
                  <a:rPr lang="pt-BR" sz="26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pesos</a:t>
                </a:r>
                <a:r>
                  <a:rPr lang="pt-BR" sz="2600" spc="-6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função,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mbria Math"/>
                    <a:cs typeface="Cambria Math"/>
                  </a:rPr>
                  <a:t>ℎ(𝒙)</a:t>
                </a:r>
                <a:r>
                  <a:rPr lang="pt-BR" sz="2600" dirty="0">
                    <a:latin typeface="Cambria Math"/>
                    <a:cs typeface="Cambria Math"/>
                  </a:rPr>
                  <a:t>	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que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aproxime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função objetivo.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292100" indent="-228600">
                  <a:lnSpc>
                    <a:spcPts val="2810"/>
                  </a:lnSpc>
                  <a:spcBef>
                    <a:spcPts val="375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Neste</a:t>
                </a:r>
                <a:r>
                  <a:rPr lang="pt-BR" sz="2600" spc="-10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exemplo,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vamos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usar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uma</a:t>
                </a:r>
                <a:r>
                  <a:rPr lang="pt-BR" sz="2600" spc="-6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função</a:t>
                </a:r>
                <a:r>
                  <a:rPr lang="pt-BR" sz="2600" b="1" i="1" spc="-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hipótese</a:t>
                </a:r>
                <a:r>
                  <a:rPr lang="pt-BR" sz="26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2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pesos,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4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 </a:t>
                </a:r>
                <a:r>
                  <a:rPr lang="pt-BR" sz="2600" spc="-20" dirty="0">
                    <a:latin typeface="Calibri"/>
                    <a:cs typeface="Calibri"/>
                  </a:rPr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=0</m:t>
                    </m:r>
                  </m:oMath>
                </a14:m>
                <a:endParaRPr lang="pt-BR" sz="2600" dirty="0">
                  <a:latin typeface="Cambria Math"/>
                  <a:cs typeface="Cambria Math"/>
                </a:endParaRPr>
              </a:p>
              <a:p>
                <a:pPr marL="63500">
                  <a:lnSpc>
                    <a:spcPts val="2810"/>
                  </a:lnSpc>
                  <a:spcBef>
                    <a:spcPts val="375"/>
                  </a:spcBef>
                  <a:tabLst>
                    <a:tab pos="292100" algn="l"/>
                  </a:tabLst>
                </a:pPr>
                <a:r>
                  <a:rPr lang="pt-BR" sz="2600" dirty="0">
                    <a:latin typeface="Cambria Math"/>
                    <a:cs typeface="Cambria Math"/>
                  </a:rPr>
                  <a:t>                         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1" i="1" dirty="0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d>
                          <m:dPr>
                            <m:ctrlP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lang="pt-BR" sz="2600" dirty="0">
                  <a:latin typeface="Cambria Math"/>
                  <a:cs typeface="Cambria Math"/>
                </a:endParaRPr>
              </a:p>
              <a:p>
                <a:pPr marL="292100" indent="-228600">
                  <a:lnSpc>
                    <a:spcPts val="3110"/>
                  </a:lnSpc>
                  <a:spcBef>
                    <a:spcPts val="455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Qual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regra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atualização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os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pesos</a:t>
                </a:r>
                <a:r>
                  <a:rPr lang="pt-BR" sz="2600" spc="-1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1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1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1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600" spc="-265" dirty="0">
                    <a:latin typeface="Calibri"/>
                    <a:cs typeface="Calibri"/>
                  </a:rPr>
                  <a:t> 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26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2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26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600" spc="-265" dirty="0">
                    <a:latin typeface="Calibri"/>
                    <a:cs typeface="Calibri"/>
                  </a:rPr>
                  <a:t>?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749300" lvl="1" indent="-229235">
                  <a:lnSpc>
                    <a:spcPts val="2630"/>
                  </a:lnSpc>
                  <a:buFont typeface="Wingdings"/>
                  <a:buChar char=""/>
                  <a:tabLst>
                    <a:tab pos="749935" algn="l"/>
                  </a:tabLst>
                </a:pPr>
                <a:r>
                  <a:rPr lang="pt-BR" sz="2200" b="1" spc="-10" dirty="0">
                    <a:latin typeface="Calibri"/>
                    <a:cs typeface="Calibri"/>
                  </a:rPr>
                  <a:t>Dicas</a:t>
                </a:r>
                <a:r>
                  <a:rPr lang="pt-BR" sz="2200" spc="-10" dirty="0">
                    <a:latin typeface="Calibri"/>
                    <a:cs typeface="Calibri"/>
                  </a:rPr>
                  <a:t>: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54" y="3021228"/>
                <a:ext cx="10799445" cy="3028137"/>
              </a:xfrm>
              <a:prstGeom prst="rect">
                <a:avLst/>
              </a:prstGeom>
              <a:blipFill>
                <a:blip r:embed="rId2"/>
                <a:stretch>
                  <a:fillRect l="-1129" t="-2621" r="-1806" b="-48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1831594" y="6049365"/>
                <a:ext cx="9293606" cy="44486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95"/>
                  </a:spcBef>
                  <a:buFont typeface="Courier New"/>
                  <a:buChar char="o"/>
                  <a:tabLst>
                    <a:tab pos="241300" algn="l"/>
                    <a:tab pos="3086735" algn="l"/>
                    <a:tab pos="3742054" algn="l"/>
                  </a:tabLst>
                </a:pPr>
                <a:r>
                  <a:rPr sz="1900" dirty="0">
                    <a:latin typeface="Calibri"/>
                    <a:cs typeface="Calibri"/>
                  </a:rPr>
                  <a:t>Comecem</a:t>
                </a:r>
                <a:r>
                  <a:rPr sz="1900" spc="-100" dirty="0">
                    <a:latin typeface="Calibri"/>
                    <a:cs typeface="Calibri"/>
                  </a:rPr>
                  <a:t> </a:t>
                </a:r>
                <a:r>
                  <a:rPr sz="1900" spc="-10" dirty="0" err="1">
                    <a:latin typeface="Calibri"/>
                    <a:cs typeface="Calibri"/>
                  </a:rPr>
                  <a:t>substituindo</a:t>
                </a:r>
                <a:r>
                  <a:rPr sz="19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19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9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sz="1900" spc="-10" dirty="0">
                    <a:latin typeface="Calibri"/>
                    <a:cs typeface="Calibri"/>
                  </a:rPr>
                  <a:t>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</m:e>
                      <m:sub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900" b="1" i="1" spc="-10" smtClean="0">
                            <a:latin typeface="Cambria Math" panose="02040503050406030204" pitchFamily="18" charset="0"/>
                            <a:cs typeface="Calibri"/>
                          </a:rPr>
                          <m:t>𝒂</m:t>
                        </m:r>
                      </m:e>
                    </m:d>
                    <m:r>
                      <a:rPr lang="pt-BR" sz="1900" b="0" i="1" spc="-1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1900" b="1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𝒚</m:t>
                            </m:r>
                            <m: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accPr>
                              <m:e>
                                <m:r>
                                  <a:rPr lang="pt-BR" sz="1900" b="1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p>
                    <m:r>
                      <a:rPr lang="pt-BR" sz="1900" b="0" i="1" spc="-1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  <m:sup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𝑦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.</m:t>
                        </m:r>
                      </m:e>
                    </m:nary>
                  </m:oMath>
                </a14:m>
                <a:r>
                  <a:rPr lang="pt-BR" sz="1900" spc="-10" dirty="0">
                    <a:latin typeface="Calibri"/>
                    <a:cs typeface="Calibri"/>
                  </a:rPr>
                  <a:t> </a:t>
                </a:r>
                <a:r>
                  <a:rPr sz="1900" dirty="0">
                    <a:latin typeface="Cambria Math"/>
                    <a:cs typeface="Cambria Math"/>
                  </a:rPr>
                  <a:t>	</a:t>
                </a:r>
                <a:r>
                  <a:rPr sz="1900" spc="-35" dirty="0">
                    <a:latin typeface="Calibri"/>
                    <a:cs typeface="Calibri"/>
                  </a:rPr>
                  <a:t> </a:t>
                </a:r>
                <a:endParaRPr sz="19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594" y="6049365"/>
                <a:ext cx="9293606" cy="444865"/>
              </a:xfrm>
              <a:prstGeom prst="rect">
                <a:avLst/>
              </a:prstGeom>
              <a:blipFill>
                <a:blip r:embed="rId3"/>
                <a:stretch>
                  <a:fillRect l="-1377" b="-205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 txBox="1"/>
          <p:nvPr/>
        </p:nvSpPr>
        <p:spPr>
          <a:xfrm>
            <a:off x="1845335" y="6494230"/>
            <a:ext cx="633857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Courier New"/>
              <a:buChar char="o"/>
              <a:tabLst>
                <a:tab pos="241300" algn="l"/>
              </a:tabLst>
            </a:pPr>
            <a:r>
              <a:rPr sz="1900" spc="-25" dirty="0">
                <a:latin typeface="Calibri"/>
                <a:cs typeface="Calibri"/>
              </a:rPr>
              <a:t>Lembrem-</a:t>
            </a:r>
            <a:r>
              <a:rPr sz="1900" dirty="0">
                <a:latin typeface="Calibri"/>
                <a:cs typeface="Calibri"/>
              </a:rPr>
              <a:t>se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que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operação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derivada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parcial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é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distributiva.</a:t>
            </a:r>
            <a:endParaRPr sz="1900" dirty="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2099" y="-13741"/>
            <a:ext cx="2987802" cy="2863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25730"/>
            <a:ext cx="2630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</a:t>
            </a:r>
            <a:r>
              <a:rPr spc="-155" dirty="0"/>
              <a:t> </a:t>
            </a:r>
            <a:r>
              <a:rPr spc="-25" dirty="0"/>
              <a:t>#2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956945" y="877980"/>
                <a:ext cx="7926705" cy="1070549"/>
              </a:xfrm>
              <a:prstGeom prst="rect">
                <a:avLst/>
              </a:prstGeom>
            </p:spPr>
            <p:txBody>
              <a:bodyPr vert="horz" wrap="square" lIns="0" tIns="74930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590"/>
                  </a:spcBef>
                </a:pPr>
                <a:r>
                  <a:rPr lang="pt-BR" sz="1800" dirty="0">
                    <a:latin typeface="Calibri"/>
                    <a:cs typeface="Calibri"/>
                  </a:rPr>
                  <a:t>Neste</a:t>
                </a:r>
                <a:r>
                  <a:rPr lang="pt-BR" sz="1800" spc="-65" dirty="0">
                    <a:latin typeface="Calibri"/>
                    <a:cs typeface="Calibri"/>
                  </a:rPr>
                  <a:t> </a:t>
                </a:r>
                <a:r>
                  <a:rPr lang="pt-BR" sz="1800" spc="-10" dirty="0">
                    <a:latin typeface="Calibri"/>
                    <a:cs typeface="Calibri"/>
                  </a:rPr>
                  <a:t>exemplo, </a:t>
                </a:r>
                <a:r>
                  <a:rPr lang="pt-BR" sz="1800" dirty="0">
                    <a:latin typeface="Calibri"/>
                    <a:cs typeface="Calibri"/>
                  </a:rPr>
                  <a:t>usaremos</a:t>
                </a:r>
                <a:r>
                  <a:rPr lang="pt-BR" sz="1800" spc="-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uma</a:t>
                </a:r>
                <a:r>
                  <a:rPr lang="pt-BR" sz="1800" spc="-5" dirty="0">
                    <a:latin typeface="Calibri"/>
                    <a:cs typeface="Calibri"/>
                  </a:rPr>
                  <a:t> </a:t>
                </a:r>
                <a:r>
                  <a:rPr lang="pt-BR" sz="1800" b="1" i="1" dirty="0">
                    <a:latin typeface="Calibri"/>
                    <a:cs typeface="Calibri"/>
                  </a:rPr>
                  <a:t>função</a:t>
                </a:r>
                <a:r>
                  <a:rPr lang="pt-BR" sz="1800" b="1" i="1" spc="-5" dirty="0">
                    <a:latin typeface="Calibri"/>
                    <a:cs typeface="Calibri"/>
                  </a:rPr>
                  <a:t> </a:t>
                </a:r>
                <a:r>
                  <a:rPr lang="pt-BR" sz="1800" b="1" i="1" dirty="0">
                    <a:latin typeface="Calibri"/>
                    <a:cs typeface="Calibri"/>
                  </a:rPr>
                  <a:t>hipótese</a:t>
                </a:r>
                <a:r>
                  <a:rPr lang="pt-BR" sz="1800" b="1" i="1" spc="-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com</a:t>
                </a:r>
                <a:r>
                  <a:rPr lang="pt-BR" sz="1800" spc="-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2</a:t>
                </a:r>
                <a:r>
                  <a:rPr lang="pt-BR" sz="1800" spc="-1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pesos,</a:t>
                </a:r>
                <a:r>
                  <a:rPr lang="pt-BR" sz="18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1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1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800" spc="-165" dirty="0">
                    <a:latin typeface="Calibri"/>
                    <a:cs typeface="Calibri"/>
                  </a:rPr>
                  <a:t>  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spc="-16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1800" b="0" i="1" spc="-1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1800" b="0" i="1" spc="-16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800" spc="-165" dirty="0">
                    <a:latin typeface="Calibri"/>
                    <a:cs typeface="Calibri"/>
                  </a:rPr>
                  <a:t>,</a:t>
                </a:r>
                <a:r>
                  <a:rPr lang="pt-BR" sz="1800" spc="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sendo</a:t>
                </a:r>
                <a:r>
                  <a:rPr lang="pt-BR" sz="18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1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1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pt-BR" sz="1800" b="0" i="1" dirty="0" smtClean="0">
                        <a:latin typeface="Cambria Math" panose="02040503050406030204" pitchFamily="18" charset="0"/>
                        <a:cs typeface="Calibri"/>
                      </a:rPr>
                      <m:t>=0</m:t>
                    </m:r>
                  </m:oMath>
                </a14:m>
                <a:endParaRPr lang="pt-BR" sz="1800" b="0" dirty="0">
                  <a:latin typeface="Calibri"/>
                  <a:cs typeface="Calibri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590"/>
                  </a:spcBef>
                </a:pPr>
                <a:r>
                  <a:rPr lang="pt-BR" sz="1800" dirty="0">
                    <a:latin typeface="Cambria Math"/>
                    <a:cs typeface="Cambria Math"/>
                  </a:rPr>
                  <a:t>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1800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18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800" b="1" i="1" dirty="0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d>
                          <m:dPr>
                            <m:ctrlPr>
                              <a:rPr lang="pt-BR" sz="1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1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pt-BR" sz="18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1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1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1800" b="0" i="1" dirty="0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1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1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1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pt-BR" sz="1800" b="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lang="pt-BR" sz="1800" dirty="0">
                  <a:latin typeface="Cambria Math"/>
                  <a:cs typeface="Cambria Math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395"/>
                  </a:spcBef>
                </a:pPr>
                <a:r>
                  <a:rPr lang="pt-BR" sz="1800" dirty="0">
                    <a:latin typeface="Calibri"/>
                    <a:cs typeface="Calibri"/>
                  </a:rPr>
                  <a:t>A</a:t>
                </a:r>
                <a:r>
                  <a:rPr lang="pt-BR" sz="1800" spc="-10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função</a:t>
                </a:r>
                <a:r>
                  <a:rPr lang="pt-BR" sz="1800" spc="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de</a:t>
                </a:r>
                <a:r>
                  <a:rPr lang="pt-BR" sz="1800" spc="-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erro é</a:t>
                </a:r>
                <a:r>
                  <a:rPr lang="pt-BR" sz="1800" spc="-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dada </a:t>
                </a:r>
                <a:r>
                  <a:rPr lang="pt-BR" sz="1800" spc="-25" dirty="0">
                    <a:latin typeface="Calibri"/>
                    <a:cs typeface="Calibri"/>
                  </a:rPr>
                  <a:t>por</a:t>
                </a:r>
                <a:endParaRPr sz="1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45" y="877980"/>
                <a:ext cx="7926705" cy="1070549"/>
              </a:xfrm>
              <a:prstGeom prst="rect">
                <a:avLst/>
              </a:prstGeom>
              <a:blipFill>
                <a:blip r:embed="rId2"/>
                <a:stretch>
                  <a:fillRect l="-1077" t="-568" b="-125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0"/>
          <p:cNvSpPr txBox="1"/>
          <p:nvPr/>
        </p:nvSpPr>
        <p:spPr>
          <a:xfrm>
            <a:off x="916939" y="2407411"/>
            <a:ext cx="4265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Cada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elemento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vetor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gradiente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1539" y="3420871"/>
            <a:ext cx="4598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atualização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pesos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60" dirty="0">
                <a:latin typeface="Cambria Math"/>
                <a:cs typeface="Cambria Math"/>
              </a:rPr>
              <a:t>𝑎</a:t>
            </a:r>
            <a:r>
              <a:rPr sz="1950" spc="89" baseline="-14957" dirty="0">
                <a:latin typeface="Cambria Math"/>
                <a:cs typeface="Cambria Math"/>
              </a:rPr>
              <a:t>𝑘</a:t>
            </a:r>
            <a:r>
              <a:rPr sz="1800" spc="60" dirty="0">
                <a:latin typeface="Cambria Math"/>
                <a:cs typeface="Cambria Math"/>
              </a:rPr>
              <a:t>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𝑘</a:t>
            </a:r>
            <a:r>
              <a:rPr sz="1800" spc="1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e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2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253995" y="4385309"/>
            <a:ext cx="129539" cy="15240"/>
          </a:xfrm>
          <a:custGeom>
            <a:avLst/>
            <a:gdLst/>
            <a:ahLst/>
            <a:cxnLst/>
            <a:rect l="l" t="t" r="r" b="b"/>
            <a:pathLst>
              <a:path w="129539" h="15239">
                <a:moveTo>
                  <a:pt x="129539" y="0"/>
                </a:moveTo>
                <a:lnTo>
                  <a:pt x="0" y="0"/>
                </a:lnTo>
                <a:lnTo>
                  <a:pt x="0" y="15239"/>
                </a:lnTo>
                <a:lnTo>
                  <a:pt x="129539" y="15239"/>
                </a:lnTo>
                <a:lnTo>
                  <a:pt x="129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256789" y="4145026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241550" y="4393438"/>
            <a:ext cx="1524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𝑁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16939" y="4218178"/>
            <a:ext cx="5802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9555" algn="l"/>
              </a:tabLst>
            </a:pPr>
            <a:r>
              <a:rPr sz="1800" dirty="0">
                <a:latin typeface="Calibri"/>
                <a:cs typeface="Calibri"/>
              </a:rPr>
              <a:t>onde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 termo</a:t>
            </a:r>
            <a:r>
              <a:rPr sz="1800" dirty="0">
                <a:latin typeface="Calibri"/>
                <a:cs typeface="Calibri"/>
              </a:rPr>
              <a:t>	foi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absorvido pelo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passo de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aprendizagem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𝛼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993883" y="1892300"/>
            <a:ext cx="160718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625" marR="5080" indent="-3556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Operação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derivada </a:t>
            </a:r>
            <a:r>
              <a:rPr sz="1400" dirty="0">
                <a:latin typeface="Calibri"/>
                <a:cs typeface="Calibri"/>
              </a:rPr>
              <a:t>parcial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distributiva.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852420" y="2126233"/>
            <a:ext cx="7052945" cy="671195"/>
          </a:xfrm>
          <a:custGeom>
            <a:avLst/>
            <a:gdLst/>
            <a:ahLst/>
            <a:cxnLst/>
            <a:rect l="l" t="t" r="r" b="b"/>
            <a:pathLst>
              <a:path w="7052945" h="671194">
                <a:moveTo>
                  <a:pt x="72390" y="594867"/>
                </a:moveTo>
                <a:lnTo>
                  <a:pt x="0" y="639699"/>
                </a:lnTo>
                <a:lnTo>
                  <a:pt x="79248" y="670813"/>
                </a:lnTo>
                <a:lnTo>
                  <a:pt x="76495" y="640333"/>
                </a:lnTo>
                <a:lnTo>
                  <a:pt x="63754" y="640333"/>
                </a:lnTo>
                <a:lnTo>
                  <a:pt x="62611" y="627633"/>
                </a:lnTo>
                <a:lnTo>
                  <a:pt x="75246" y="626499"/>
                </a:lnTo>
                <a:lnTo>
                  <a:pt x="72390" y="594867"/>
                </a:lnTo>
                <a:close/>
              </a:path>
              <a:path w="7052945" h="671194">
                <a:moveTo>
                  <a:pt x="75246" y="626499"/>
                </a:moveTo>
                <a:lnTo>
                  <a:pt x="62611" y="627633"/>
                </a:lnTo>
                <a:lnTo>
                  <a:pt x="63754" y="640333"/>
                </a:lnTo>
                <a:lnTo>
                  <a:pt x="76393" y="639198"/>
                </a:lnTo>
                <a:lnTo>
                  <a:pt x="75246" y="626499"/>
                </a:lnTo>
                <a:close/>
              </a:path>
              <a:path w="7052945" h="671194">
                <a:moveTo>
                  <a:pt x="76393" y="639198"/>
                </a:moveTo>
                <a:lnTo>
                  <a:pt x="63754" y="640333"/>
                </a:lnTo>
                <a:lnTo>
                  <a:pt x="76495" y="640333"/>
                </a:lnTo>
                <a:lnTo>
                  <a:pt x="76393" y="639198"/>
                </a:lnTo>
                <a:close/>
              </a:path>
              <a:path w="7052945" h="671194">
                <a:moveTo>
                  <a:pt x="7051675" y="0"/>
                </a:moveTo>
                <a:lnTo>
                  <a:pt x="75246" y="626499"/>
                </a:lnTo>
                <a:lnTo>
                  <a:pt x="76393" y="639198"/>
                </a:lnTo>
                <a:lnTo>
                  <a:pt x="7052818" y="12573"/>
                </a:lnTo>
                <a:lnTo>
                  <a:pt x="70516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3890517" y="4656582"/>
            <a:ext cx="137668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Superfície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contorno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o </a:t>
            </a:r>
            <a:r>
              <a:rPr sz="1400" dirty="0">
                <a:latin typeface="Calibri"/>
                <a:cs typeface="Calibri"/>
              </a:rPr>
              <a:t>caminho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feito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pelo </a:t>
            </a:r>
            <a:r>
              <a:rPr sz="1400" dirty="0">
                <a:latin typeface="Calibri"/>
                <a:cs typeface="Calibri"/>
              </a:rPr>
              <a:t>algoritmo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até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 </a:t>
            </a:r>
            <a:r>
              <a:rPr sz="1400" spc="-10" dirty="0">
                <a:latin typeface="Calibri"/>
                <a:cs typeface="Calibri"/>
              </a:rPr>
              <a:t>convergência.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211057" y="4656582"/>
            <a:ext cx="135572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Curva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EQM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em </a:t>
            </a:r>
            <a:r>
              <a:rPr sz="1400" dirty="0">
                <a:latin typeface="Calibri"/>
                <a:cs typeface="Calibri"/>
              </a:rPr>
              <a:t>função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número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 épocas.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5" name="object 7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624" y="4634508"/>
            <a:ext cx="2798895" cy="2157222"/>
          </a:xfrm>
          <a:prstGeom prst="rect">
            <a:avLst/>
          </a:prstGeom>
        </p:spPr>
      </p:pic>
      <p:grpSp>
        <p:nvGrpSpPr>
          <p:cNvPr id="76" name="object 76"/>
          <p:cNvGrpSpPr/>
          <p:nvPr/>
        </p:nvGrpSpPr>
        <p:grpSpPr>
          <a:xfrm>
            <a:off x="4577588" y="4625732"/>
            <a:ext cx="3156585" cy="2189480"/>
            <a:chOff x="4577588" y="4625732"/>
            <a:chExt cx="3156585" cy="2189480"/>
          </a:xfrm>
        </p:grpSpPr>
        <p:pic>
          <p:nvPicPr>
            <p:cNvPr id="77" name="object 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8572" y="4625732"/>
              <a:ext cx="2315414" cy="218919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577588" y="5800915"/>
              <a:ext cx="1482725" cy="338455"/>
            </a:xfrm>
            <a:custGeom>
              <a:avLst/>
              <a:gdLst/>
              <a:ahLst/>
              <a:cxnLst/>
              <a:rect l="l" t="t" r="r" b="b"/>
              <a:pathLst>
                <a:path w="1482725" h="338454">
                  <a:moveTo>
                    <a:pt x="1407261" y="304205"/>
                  </a:moveTo>
                  <a:lnTo>
                    <a:pt x="1400048" y="338353"/>
                  </a:lnTo>
                  <a:lnTo>
                    <a:pt x="1482471" y="316865"/>
                  </a:lnTo>
                  <a:lnTo>
                    <a:pt x="1469847" y="306819"/>
                  </a:lnTo>
                  <a:lnTo>
                    <a:pt x="1419606" y="306819"/>
                  </a:lnTo>
                  <a:lnTo>
                    <a:pt x="1407261" y="304205"/>
                  </a:lnTo>
                  <a:close/>
                </a:path>
                <a:path w="1482725" h="338454">
                  <a:moveTo>
                    <a:pt x="1408577" y="297977"/>
                  </a:moveTo>
                  <a:lnTo>
                    <a:pt x="1407261" y="304205"/>
                  </a:lnTo>
                  <a:lnTo>
                    <a:pt x="1419606" y="306819"/>
                  </a:lnTo>
                  <a:lnTo>
                    <a:pt x="1421002" y="300609"/>
                  </a:lnTo>
                  <a:lnTo>
                    <a:pt x="1408577" y="297977"/>
                  </a:lnTo>
                  <a:close/>
                </a:path>
                <a:path w="1482725" h="338454">
                  <a:moveTo>
                    <a:pt x="1415796" y="263804"/>
                  </a:moveTo>
                  <a:lnTo>
                    <a:pt x="1408577" y="297977"/>
                  </a:lnTo>
                  <a:lnTo>
                    <a:pt x="1421002" y="300609"/>
                  </a:lnTo>
                  <a:lnTo>
                    <a:pt x="1419606" y="306819"/>
                  </a:lnTo>
                  <a:lnTo>
                    <a:pt x="1469847" y="306819"/>
                  </a:lnTo>
                  <a:lnTo>
                    <a:pt x="1415796" y="263804"/>
                  </a:lnTo>
                  <a:close/>
                </a:path>
                <a:path w="1482725" h="338454">
                  <a:moveTo>
                    <a:pt x="1397" y="0"/>
                  </a:moveTo>
                  <a:lnTo>
                    <a:pt x="0" y="6210"/>
                  </a:lnTo>
                  <a:lnTo>
                    <a:pt x="1407261" y="304205"/>
                  </a:lnTo>
                  <a:lnTo>
                    <a:pt x="1408577" y="297977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8883650" y="4595048"/>
            <a:ext cx="3110230" cy="2208530"/>
            <a:chOff x="8883650" y="4595048"/>
            <a:chExt cx="3110230" cy="2208530"/>
          </a:xfrm>
        </p:grpSpPr>
        <p:pic>
          <p:nvPicPr>
            <p:cNvPr id="80" name="object 8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45395" y="4595048"/>
              <a:ext cx="2347905" cy="2208499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8883650" y="5357494"/>
              <a:ext cx="1558290" cy="908685"/>
            </a:xfrm>
            <a:custGeom>
              <a:avLst/>
              <a:gdLst/>
              <a:ahLst/>
              <a:cxnLst/>
              <a:rect l="l" t="t" r="r" b="b"/>
              <a:pathLst>
                <a:path w="1558290" h="908685">
                  <a:moveTo>
                    <a:pt x="1490783" y="872901"/>
                  </a:moveTo>
                  <a:lnTo>
                    <a:pt x="1473200" y="903096"/>
                  </a:lnTo>
                  <a:lnTo>
                    <a:pt x="1558163" y="908494"/>
                  </a:lnTo>
                  <a:lnTo>
                    <a:pt x="1539065" y="879297"/>
                  </a:lnTo>
                  <a:lnTo>
                    <a:pt x="1501775" y="879297"/>
                  </a:lnTo>
                  <a:lnTo>
                    <a:pt x="1490783" y="872901"/>
                  </a:lnTo>
                  <a:close/>
                </a:path>
                <a:path w="1558290" h="908685">
                  <a:moveTo>
                    <a:pt x="1493973" y="867424"/>
                  </a:moveTo>
                  <a:lnTo>
                    <a:pt x="1490783" y="872901"/>
                  </a:lnTo>
                  <a:lnTo>
                    <a:pt x="1501775" y="879297"/>
                  </a:lnTo>
                  <a:lnTo>
                    <a:pt x="1504950" y="873810"/>
                  </a:lnTo>
                  <a:lnTo>
                    <a:pt x="1493973" y="867424"/>
                  </a:lnTo>
                  <a:close/>
                </a:path>
                <a:path w="1558290" h="908685">
                  <a:moveTo>
                    <a:pt x="1511553" y="837234"/>
                  </a:moveTo>
                  <a:lnTo>
                    <a:pt x="1493973" y="867424"/>
                  </a:lnTo>
                  <a:lnTo>
                    <a:pt x="1504950" y="873810"/>
                  </a:lnTo>
                  <a:lnTo>
                    <a:pt x="1501775" y="879297"/>
                  </a:lnTo>
                  <a:lnTo>
                    <a:pt x="1539065" y="879297"/>
                  </a:lnTo>
                  <a:lnTo>
                    <a:pt x="1511553" y="837234"/>
                  </a:lnTo>
                  <a:close/>
                </a:path>
                <a:path w="1558290" h="908685">
                  <a:moveTo>
                    <a:pt x="3175" y="0"/>
                  </a:moveTo>
                  <a:lnTo>
                    <a:pt x="0" y="5460"/>
                  </a:lnTo>
                  <a:lnTo>
                    <a:pt x="1490783" y="872901"/>
                  </a:lnTo>
                  <a:lnTo>
                    <a:pt x="1493973" y="867424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7652766" y="425272"/>
            <a:ext cx="43834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Exemplo</a:t>
            </a:r>
            <a:r>
              <a:rPr sz="12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2:</a:t>
            </a:r>
            <a:r>
              <a:rPr sz="12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linear_regression_with_gradient_descent_exemplo2.ipynb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5D363D56-229F-4C34-4E3D-6A5163BEFBFB}"/>
                  </a:ext>
                </a:extLst>
              </p:cNvPr>
              <p:cNvSpPr txBox="1"/>
              <p:nvPr/>
            </p:nvSpPr>
            <p:spPr>
              <a:xfrm>
                <a:off x="2730841" y="1828800"/>
                <a:ext cx="6093500" cy="659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𝐽</m:t>
                          </m:r>
                        </m:e>
                        <m:sub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1800" b="1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𝒂</m:t>
                          </m:r>
                        </m:e>
                      </m:d>
                      <m:r>
                        <a:rPr lang="pt-BR" sz="1800" b="0" i="1" spc="-10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f>
                        <m:fPr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num>
                        <m:den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0</m:t>
                          </m:r>
                        </m:sub>
                        <m:sup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5D363D56-229F-4C34-4E3D-6A5163BEF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841" y="1828800"/>
                <a:ext cx="6093500" cy="6594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2A7361D5-9C0C-2073-A932-0BC903FDFE67}"/>
                  </a:ext>
                </a:extLst>
              </p:cNvPr>
              <p:cNvSpPr txBox="1"/>
              <p:nvPr/>
            </p:nvSpPr>
            <p:spPr>
              <a:xfrm>
                <a:off x="118344" y="2682217"/>
                <a:ext cx="1291587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1800" b="1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𝜕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accPr>
                                <m:e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pt-BR" sz="1800" b="0" i="1" spc="-10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f>
                        <m:fPr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num>
                        <m:den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=0</m:t>
                          </m:r>
                        </m:sub>
                        <m:sup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pt-BR" sz="1800" b="0" i="1" spc="-10" smtClean="0">
                                                      <a:latin typeface="Cambria Math" panose="02040503050406030204" pitchFamily="18" charset="0"/>
                                                      <a:cs typeface="Calibri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pt-BR" sz="1800" b="0" i="1" spc="-10" smtClean="0">
                                                      <a:latin typeface="Cambria Math" panose="02040503050406030204" pitchFamily="18" charset="0"/>
                                                      <a:cs typeface="Calibri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pt-BR" sz="1800" b="0" i="1" spc="-10" smtClean="0">
                                                      <a:latin typeface="Cambria Math" panose="02040503050406030204" pitchFamily="18" charset="0"/>
                                                      <a:cs typeface="Calibri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pt-BR" sz="1800" b="0" i="1" spc="-10" smtClean="0">
                                                      <a:latin typeface="Cambria Math" panose="02040503050406030204" pitchFamily="18" charset="0"/>
                                                      <a:cs typeface="Calibri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𝜕</m:t>
                              </m:r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pt-BR" sz="1800" b="0" i="1" spc="-10" smtClean="0">
                          <a:latin typeface="Cambria Math" panose="02040503050406030204" pitchFamily="18" charset="0"/>
                          <a:cs typeface="Calibri"/>
                        </a:rPr>
                        <m:t>=−</m:t>
                      </m:r>
                      <m:f>
                        <m:fPr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num>
                        <m:den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0</m:t>
                          </m:r>
                        </m:sub>
                        <m:sup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,       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𝑘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=1,2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2A7361D5-9C0C-2073-A932-0BC903FDF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44" y="2682217"/>
                <a:ext cx="12915870" cy="8714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09DB8AC1-C6BB-DAB2-FC55-50ED90F116A3}"/>
                  </a:ext>
                </a:extLst>
              </p:cNvPr>
              <p:cNvSpPr txBox="1"/>
              <p:nvPr/>
            </p:nvSpPr>
            <p:spPr>
              <a:xfrm>
                <a:off x="1685872" y="3652889"/>
                <a:ext cx="10156435" cy="649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,      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=1,2</m:t>
                          </m:r>
                        </m:e>
                      </m:nary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09DB8AC1-C6BB-DAB2-FC55-50ED90F11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872" y="3652889"/>
                <a:ext cx="10156435" cy="6492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55" dirty="0"/>
              <a:t> </a:t>
            </a:r>
            <a:r>
              <a:rPr spc="-25" dirty="0"/>
              <a:t>#3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916939" y="3421505"/>
                <a:ext cx="10799445" cy="2291653"/>
              </a:xfrm>
              <a:prstGeom prst="rect">
                <a:avLst/>
              </a:prstGeom>
            </p:spPr>
            <p:txBody>
              <a:bodyPr vert="horz" wrap="square" lIns="0" tIns="132080" rIns="0" bIns="0" rtlCol="0">
                <a:spAutoFit/>
              </a:bodyPr>
              <a:lstStyle/>
              <a:p>
                <a:pPr marL="292100" marR="55880" indent="-228600">
                  <a:lnSpc>
                    <a:spcPct val="70000"/>
                  </a:lnSpc>
                  <a:spcBef>
                    <a:spcPts val="1040"/>
                  </a:spcBef>
                  <a:buFont typeface="Arial"/>
                  <a:buChar char="•"/>
                  <a:tabLst>
                    <a:tab pos="292100" algn="l"/>
                    <a:tab pos="7182484" algn="l"/>
                    <a:tab pos="7510145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posse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dos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dados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ruidosos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mostrados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figura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acima,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encontrar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libri"/>
                    <a:cs typeface="Calibri"/>
                  </a:rPr>
                  <a:t>o </a:t>
                </a:r>
                <a:r>
                  <a:rPr lang="pt-BR" sz="2600" b="1" i="1" dirty="0">
                    <a:latin typeface="Calibri"/>
                    <a:cs typeface="Calibri"/>
                  </a:rPr>
                  <a:t>gradiente</a:t>
                </a:r>
                <a:r>
                  <a:rPr lang="pt-BR" sz="26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descendente</a:t>
                </a:r>
                <a:r>
                  <a:rPr lang="pt-BR" sz="26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os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pesos</a:t>
                </a:r>
                <a:r>
                  <a:rPr lang="pt-BR" sz="2600" spc="-7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uma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função,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mbria Math"/>
                    <a:cs typeface="Cambria Math"/>
                  </a:rPr>
                  <a:t>ℎ(𝒙)</a:t>
                </a:r>
                <a:r>
                  <a:rPr lang="pt-BR" sz="2600" dirty="0">
                    <a:latin typeface="Cambria Math"/>
                    <a:cs typeface="Cambria Math"/>
                  </a:rPr>
                  <a:t>	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que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aproxime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função objetivo.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292100" indent="-228600">
                  <a:lnSpc>
                    <a:spcPct val="100000"/>
                  </a:lnSpc>
                  <a:spcBef>
                    <a:spcPts val="60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Neste</a:t>
                </a:r>
                <a:r>
                  <a:rPr lang="pt-BR" sz="2600" spc="-9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exemplo,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vamos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usar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uma</a:t>
                </a:r>
                <a:r>
                  <a:rPr lang="pt-BR" sz="2600" spc="-7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função</a:t>
                </a:r>
                <a:r>
                  <a:rPr lang="pt-BR" sz="2600" b="1" i="1" spc="-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hipótese</a:t>
                </a:r>
                <a:r>
                  <a:rPr lang="pt-BR" sz="26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2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pesos,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4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600" spc="-265" dirty="0">
                    <a:latin typeface="Calibri"/>
                    <a:cs typeface="Calibri"/>
                  </a:rPr>
                  <a:t>  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26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2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26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  </a:t>
                </a:r>
                <a:endParaRPr lang="pt-BR" sz="2600" spc="-265" dirty="0">
                  <a:latin typeface="Calibri"/>
                  <a:cs typeface="Calibri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60"/>
                  </a:spcBef>
                  <a:tabLst>
                    <a:tab pos="2921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                          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1" i="1" dirty="0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d>
                          <m:dPr>
                            <m:ctrlP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6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lang="pt-BR" sz="2600" dirty="0">
                  <a:latin typeface="Calibri"/>
                  <a:cs typeface="Calibri"/>
                </a:endParaRPr>
              </a:p>
              <a:p>
                <a:pPr marL="292100" indent="-228600">
                  <a:lnSpc>
                    <a:spcPct val="100000"/>
                  </a:lnSpc>
                  <a:spcBef>
                    <a:spcPts val="135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Qual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regra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atualização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os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pesos</a:t>
                </a:r>
                <a:r>
                  <a:rPr lang="pt-BR" sz="2600" spc="-9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4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spc="-45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600" spc="-265" dirty="0">
                    <a:latin typeface="Calibri"/>
                    <a:cs typeface="Calibri"/>
                  </a:rPr>
                  <a:t>  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pc="-26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spc="-2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26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spc="-265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600" spc="-265" dirty="0">
                    <a:latin typeface="Calibri"/>
                    <a:cs typeface="Calibri"/>
                  </a:rPr>
                  <a:t>?</a:t>
                </a:r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3421505"/>
                <a:ext cx="10799445" cy="2291653"/>
              </a:xfrm>
              <a:prstGeom prst="rect">
                <a:avLst/>
              </a:prstGeom>
              <a:blipFill>
                <a:blip r:embed="rId2"/>
                <a:stretch>
                  <a:fillRect l="-1129" t="-2926" r="-1749" b="-69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1368106" y="5582412"/>
                <a:ext cx="10595294" cy="863570"/>
              </a:xfrm>
              <a:prstGeom prst="rect">
                <a:avLst/>
              </a:prstGeom>
            </p:spPr>
            <p:txBody>
              <a:bodyPr vert="horz" wrap="square" lIns="0" tIns="53340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420"/>
                  </a:spcBef>
                  <a:buFont typeface="Wingdings"/>
                  <a:buChar char=""/>
                  <a:tabLst>
                    <a:tab pos="241300" algn="l"/>
                  </a:tabLst>
                </a:pPr>
                <a:r>
                  <a:rPr sz="2200" b="1" spc="-10" dirty="0">
                    <a:latin typeface="Calibri"/>
                    <a:cs typeface="Calibri"/>
                  </a:rPr>
                  <a:t>Dicas</a:t>
                </a:r>
                <a:r>
                  <a:rPr sz="2200" spc="-10" dirty="0">
                    <a:latin typeface="Calibri"/>
                    <a:cs typeface="Calibri"/>
                  </a:rPr>
                  <a:t>:</a:t>
                </a:r>
                <a:endParaRPr sz="2200" dirty="0">
                  <a:latin typeface="Calibri"/>
                  <a:cs typeface="Calibri"/>
                </a:endParaRPr>
              </a:p>
              <a:p>
                <a:pPr marL="698500" lvl="1" indent="-228600">
                  <a:lnSpc>
                    <a:spcPct val="100000"/>
                  </a:lnSpc>
                  <a:spcBef>
                    <a:spcPts val="275"/>
                  </a:spcBef>
                  <a:buFont typeface="Courier New"/>
                  <a:buChar char="o"/>
                  <a:tabLst>
                    <a:tab pos="698500" algn="l"/>
                    <a:tab pos="3543935" algn="l"/>
                    <a:tab pos="4199255" algn="l"/>
                  </a:tabLst>
                </a:pPr>
                <a:r>
                  <a:rPr sz="1900" dirty="0" err="1">
                    <a:latin typeface="Calibri"/>
                    <a:cs typeface="Calibri"/>
                  </a:rPr>
                  <a:t>Comecem</a:t>
                </a:r>
                <a:r>
                  <a:rPr sz="1900" spc="-100" dirty="0">
                    <a:latin typeface="Calibri"/>
                    <a:cs typeface="Calibri"/>
                  </a:rPr>
                  <a:t> </a:t>
                </a:r>
                <a:r>
                  <a:rPr sz="1900" spc="-10" dirty="0" err="1">
                    <a:latin typeface="Calibri"/>
                    <a:cs typeface="Calibri"/>
                  </a:rPr>
                  <a:t>substituindo</a:t>
                </a:r>
                <a:r>
                  <a:rPr lang="pt-BR" sz="19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19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9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sz="1900" spc="-10" dirty="0">
                    <a:latin typeface="Calibri"/>
                    <a:cs typeface="Calibri"/>
                  </a:rPr>
                  <a:t>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</m:e>
                      <m:sub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900" b="1" i="1" spc="-10" smtClean="0">
                            <a:latin typeface="Cambria Math" panose="02040503050406030204" pitchFamily="18" charset="0"/>
                            <a:cs typeface="Calibri"/>
                          </a:rPr>
                          <m:t>𝒂</m:t>
                        </m:r>
                      </m:e>
                    </m:d>
                    <m:r>
                      <a:rPr lang="pt-BR" sz="1900" b="0" i="1" spc="-1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1900" b="1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𝒚</m:t>
                            </m:r>
                            <m: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accPr>
                              <m:e>
                                <m:r>
                                  <a:rPr lang="pt-BR" sz="1900" b="1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p>
                    <m:r>
                      <a:rPr lang="pt-BR" sz="1900" b="0" i="1" spc="-1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  <m:sup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pt-BR" sz="19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𝑦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900" b="0" i="1" spc="-1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sz="19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  <m:r>
                          <a:rPr lang="pt-BR" sz="19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.</m:t>
                        </m:r>
                      </m:e>
                    </m:nary>
                  </m:oMath>
                </a14:m>
                <a:endParaRPr sz="19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106" y="5582412"/>
                <a:ext cx="10595294" cy="863570"/>
              </a:xfrm>
              <a:prstGeom prst="rect">
                <a:avLst/>
              </a:prstGeom>
              <a:blipFill>
                <a:blip r:embed="rId3"/>
                <a:stretch>
                  <a:fillRect l="-1380" t="-4255" b="-106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bject 25"/>
          <p:cNvSpPr txBox="1"/>
          <p:nvPr/>
        </p:nvSpPr>
        <p:spPr>
          <a:xfrm>
            <a:off x="1803865" y="6445982"/>
            <a:ext cx="633857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Courier New"/>
              <a:buChar char="o"/>
              <a:tabLst>
                <a:tab pos="241300" algn="l"/>
              </a:tabLst>
            </a:pPr>
            <a:r>
              <a:rPr sz="1900" spc="-25" dirty="0">
                <a:latin typeface="Calibri"/>
                <a:cs typeface="Calibri"/>
              </a:rPr>
              <a:t>Lembrem-</a:t>
            </a:r>
            <a:r>
              <a:rPr sz="1900" dirty="0">
                <a:latin typeface="Calibri"/>
                <a:cs typeface="Calibri"/>
              </a:rPr>
              <a:t>se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que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operação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derivada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parcial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é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distributiva.</a:t>
            </a:r>
            <a:endParaRPr sz="1900" dirty="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0946" y="756412"/>
            <a:ext cx="3497679" cy="26814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71094"/>
            <a:ext cx="26308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55" dirty="0"/>
              <a:t> </a:t>
            </a:r>
            <a:r>
              <a:rPr spc="-25" dirty="0"/>
              <a:t>#3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878839" y="1493395"/>
                <a:ext cx="5329555" cy="430887"/>
              </a:xfrm>
              <a:prstGeom prst="rect">
                <a:avLst/>
              </a:prstGeom>
            </p:spPr>
            <p:txBody>
              <a:bodyPr vert="horz" wrap="square" lIns="0" tIns="6096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480"/>
                  </a:spcBef>
                </a:pPr>
                <a:r>
                  <a:rPr sz="2200" b="1" i="1" dirty="0">
                    <a:latin typeface="Calibri"/>
                    <a:cs typeface="Calibri"/>
                  </a:rPr>
                  <a:t>Função</a:t>
                </a:r>
                <a:r>
                  <a:rPr sz="2200" b="1" i="1" spc="-105" dirty="0">
                    <a:latin typeface="Calibri"/>
                    <a:cs typeface="Calibri"/>
                  </a:rPr>
                  <a:t> </a:t>
                </a:r>
                <a:r>
                  <a:rPr sz="2200" b="1" i="1" dirty="0">
                    <a:latin typeface="Calibri"/>
                    <a:cs typeface="Calibri"/>
                  </a:rPr>
                  <a:t>hipótese</a:t>
                </a:r>
                <a:r>
                  <a:rPr sz="2200" b="1" i="1" spc="-50" dirty="0">
                    <a:latin typeface="Calibri"/>
                    <a:cs typeface="Calibri"/>
                  </a:rPr>
                  <a:t> </a:t>
                </a:r>
                <a:r>
                  <a:rPr sz="2200" dirty="0">
                    <a:latin typeface="Calibri"/>
                    <a:cs typeface="Calibri"/>
                  </a:rPr>
                  <a:t>com</a:t>
                </a:r>
                <a:r>
                  <a:rPr sz="2200" spc="-40" dirty="0">
                    <a:latin typeface="Calibri"/>
                    <a:cs typeface="Calibri"/>
                  </a:rPr>
                  <a:t> </a:t>
                </a:r>
                <a:r>
                  <a:rPr sz="2200" dirty="0">
                    <a:latin typeface="Calibri"/>
                    <a:cs typeface="Calibri"/>
                  </a:rPr>
                  <a:t>2</a:t>
                </a:r>
                <a:r>
                  <a:rPr sz="2200" spc="-50" dirty="0">
                    <a:latin typeface="Calibri"/>
                    <a:cs typeface="Calibri"/>
                  </a:rPr>
                  <a:t> </a:t>
                </a:r>
                <a:r>
                  <a:rPr sz="2200" dirty="0">
                    <a:latin typeface="Calibri"/>
                    <a:cs typeface="Calibri"/>
                  </a:rPr>
                  <a:t>pesos,</a:t>
                </a:r>
                <a:r>
                  <a:rPr sz="22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pc="-4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4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spc="-265" dirty="0">
                    <a:latin typeface="Calibri"/>
                    <a:cs typeface="Calibri"/>
                  </a:rPr>
                  <a:t>  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pc="-26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b="0" i="1" spc="-2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400" b="0" i="1" spc="-26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sz="2200" spc="-225" dirty="0">
                    <a:latin typeface="Calibri"/>
                    <a:cs typeface="Calibri"/>
                  </a:rPr>
                  <a:t>,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839" y="1493395"/>
                <a:ext cx="5329555" cy="430887"/>
              </a:xfrm>
              <a:prstGeom prst="rect">
                <a:avLst/>
              </a:prstGeom>
              <a:blipFill>
                <a:blip r:embed="rId2"/>
                <a:stretch>
                  <a:fillRect l="-2288" t="-8451" b="-408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916939" y="2295524"/>
            <a:ext cx="32150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erro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por</a:t>
            </a:r>
            <a:endParaRPr sz="2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891539" y="3132200"/>
                <a:ext cx="5747385" cy="35073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pt-BR" sz="2200" dirty="0">
                    <a:latin typeface="Calibri"/>
                    <a:cs typeface="Calibri"/>
                  </a:rPr>
                  <a:t>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atualização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dos</a:t>
                </a:r>
                <a:r>
                  <a:rPr lang="pt-BR" sz="2200" spc="-1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pesos</a:t>
                </a:r>
                <a:r>
                  <a:rPr lang="pt-BR" sz="22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spc="-1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2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200" dirty="0">
                    <a:latin typeface="Cambria Math"/>
                    <a:cs typeface="Cambria Math"/>
                  </a:rPr>
                  <a:t>, 𝑘</a:t>
                </a:r>
                <a:r>
                  <a:rPr lang="pt-BR" sz="2200" spc="16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=</a:t>
                </a:r>
                <a:r>
                  <a:rPr lang="pt-BR" sz="2200" spc="8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0</a:t>
                </a:r>
                <a:r>
                  <a:rPr lang="pt-BR" sz="2200" spc="-2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e</a:t>
                </a:r>
                <a:r>
                  <a:rPr lang="pt-BR" sz="2200" spc="-2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1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dada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25" dirty="0">
                    <a:latin typeface="Calibri"/>
                    <a:cs typeface="Calibri"/>
                  </a:rPr>
                  <a:t>por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39" y="3132200"/>
                <a:ext cx="5747385" cy="350737"/>
              </a:xfrm>
              <a:prstGeom prst="rect">
                <a:avLst/>
              </a:prstGeom>
              <a:blipFill>
                <a:blip r:embed="rId3"/>
                <a:stretch>
                  <a:fillRect l="-2333" t="-24561" r="-1379" b="-491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object 61"/>
          <p:cNvSpPr/>
          <p:nvPr/>
        </p:nvSpPr>
        <p:spPr>
          <a:xfrm>
            <a:off x="1873123" y="5233415"/>
            <a:ext cx="347345" cy="258445"/>
          </a:xfrm>
          <a:custGeom>
            <a:avLst/>
            <a:gdLst/>
            <a:ahLst/>
            <a:cxnLst/>
            <a:rect l="l" t="t" r="r" b="b"/>
            <a:pathLst>
              <a:path w="347344" h="258445">
                <a:moveTo>
                  <a:pt x="264794" y="0"/>
                </a:moveTo>
                <a:lnTo>
                  <a:pt x="261112" y="10541"/>
                </a:lnTo>
                <a:lnTo>
                  <a:pt x="276066" y="17019"/>
                </a:lnTo>
                <a:lnTo>
                  <a:pt x="288925" y="25987"/>
                </a:lnTo>
                <a:lnTo>
                  <a:pt x="315023" y="67649"/>
                </a:lnTo>
                <a:lnTo>
                  <a:pt x="322643" y="105888"/>
                </a:lnTo>
                <a:lnTo>
                  <a:pt x="323595" y="127889"/>
                </a:lnTo>
                <a:lnTo>
                  <a:pt x="322641" y="150673"/>
                </a:lnTo>
                <a:lnTo>
                  <a:pt x="314969" y="190003"/>
                </a:lnTo>
                <a:lnTo>
                  <a:pt x="288909" y="232298"/>
                </a:lnTo>
                <a:lnTo>
                  <a:pt x="261493" y="247904"/>
                </a:lnTo>
                <a:lnTo>
                  <a:pt x="264794" y="258318"/>
                </a:lnTo>
                <a:lnTo>
                  <a:pt x="300005" y="241823"/>
                </a:lnTo>
                <a:lnTo>
                  <a:pt x="325881" y="213233"/>
                </a:lnTo>
                <a:lnTo>
                  <a:pt x="341820" y="174926"/>
                </a:lnTo>
                <a:lnTo>
                  <a:pt x="347090" y="129286"/>
                </a:lnTo>
                <a:lnTo>
                  <a:pt x="345759" y="105596"/>
                </a:lnTo>
                <a:lnTo>
                  <a:pt x="335143" y="63599"/>
                </a:lnTo>
                <a:lnTo>
                  <a:pt x="314051" y="29432"/>
                </a:lnTo>
                <a:lnTo>
                  <a:pt x="283483" y="6762"/>
                </a:lnTo>
                <a:lnTo>
                  <a:pt x="264794" y="0"/>
                </a:lnTo>
                <a:close/>
              </a:path>
              <a:path w="347344" h="258445">
                <a:moveTo>
                  <a:pt x="82422" y="0"/>
                </a:moveTo>
                <a:lnTo>
                  <a:pt x="47259" y="16573"/>
                </a:lnTo>
                <a:lnTo>
                  <a:pt x="21335" y="45339"/>
                </a:lnTo>
                <a:lnTo>
                  <a:pt x="5333" y="83693"/>
                </a:lnTo>
                <a:lnTo>
                  <a:pt x="0" y="129286"/>
                </a:lnTo>
                <a:lnTo>
                  <a:pt x="1331" y="153029"/>
                </a:lnTo>
                <a:lnTo>
                  <a:pt x="11947" y="194990"/>
                </a:lnTo>
                <a:lnTo>
                  <a:pt x="33023" y="229046"/>
                </a:lnTo>
                <a:lnTo>
                  <a:pt x="82422" y="258318"/>
                </a:lnTo>
                <a:lnTo>
                  <a:pt x="85597" y="247904"/>
                </a:lnTo>
                <a:lnTo>
                  <a:pt x="70901" y="241381"/>
                </a:lnTo>
                <a:lnTo>
                  <a:pt x="58229" y="232298"/>
                </a:lnTo>
                <a:lnTo>
                  <a:pt x="32194" y="190003"/>
                </a:lnTo>
                <a:lnTo>
                  <a:pt x="24574" y="150673"/>
                </a:lnTo>
                <a:lnTo>
                  <a:pt x="23621" y="127889"/>
                </a:lnTo>
                <a:lnTo>
                  <a:pt x="24574" y="105888"/>
                </a:lnTo>
                <a:lnTo>
                  <a:pt x="32194" y="67649"/>
                </a:lnTo>
                <a:lnTo>
                  <a:pt x="58340" y="25987"/>
                </a:lnTo>
                <a:lnTo>
                  <a:pt x="86106" y="10541"/>
                </a:lnTo>
                <a:lnTo>
                  <a:pt x="824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878839" y="5150611"/>
            <a:ext cx="24250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085215" algn="l"/>
                <a:tab pos="1443355" algn="l"/>
              </a:tabLst>
            </a:pPr>
            <a:r>
              <a:rPr sz="2200" dirty="0">
                <a:latin typeface="Calibri"/>
                <a:cs typeface="Calibri"/>
              </a:rPr>
              <a:t>onde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𝑥</a:t>
            </a:r>
            <a:r>
              <a:rPr sz="2400" spc="-37" baseline="-15625" dirty="0">
                <a:latin typeface="Cambria Math"/>
                <a:cs typeface="Cambria Math"/>
              </a:rPr>
              <a:t>0</a:t>
            </a:r>
            <a:r>
              <a:rPr sz="2400" baseline="-15625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𝑛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130" dirty="0">
                <a:latin typeface="Cambria Math"/>
                <a:cs typeface="Cambria Math"/>
              </a:rPr>
              <a:t> </a:t>
            </a:r>
            <a:r>
              <a:rPr sz="2200" spc="-20" dirty="0">
                <a:latin typeface="Cambria Math"/>
                <a:cs typeface="Cambria Math"/>
              </a:rPr>
              <a:t>1,</a:t>
            </a:r>
            <a:r>
              <a:rPr sz="2200" spc="-120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∀𝑛.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16939" y="5513323"/>
            <a:ext cx="10679430" cy="1191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45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OBS.1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Temos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bias/intercept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nesta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hipótese,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esqueçam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da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coluna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‘1’s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i="1" dirty="0">
                <a:latin typeface="Calibri"/>
                <a:cs typeface="Calibri"/>
              </a:rPr>
              <a:t>vetor</a:t>
            </a:r>
            <a:r>
              <a:rPr sz="2200" i="1" spc="-7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do</a:t>
            </a:r>
            <a:r>
              <a:rPr sz="2200" i="1" spc="-6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atributo</a:t>
            </a:r>
            <a:r>
              <a:rPr sz="2200" i="1" spc="-7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de</a:t>
            </a:r>
            <a:r>
              <a:rPr sz="2200" i="1" spc="-7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bias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implementação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código.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245"/>
              </a:lnSpc>
              <a:spcBef>
                <a:spcPts val="204"/>
              </a:spcBef>
            </a:pPr>
            <a:r>
              <a:rPr sz="2200" b="1" dirty="0">
                <a:latin typeface="Calibri"/>
                <a:cs typeface="Calibri"/>
              </a:rPr>
              <a:t>OBS.2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executar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necessário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instalar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biblioteca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ffmpeg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comando: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245"/>
              </a:lnSpc>
            </a:pPr>
            <a:r>
              <a:rPr sz="2200" i="1" dirty="0">
                <a:latin typeface="Calibri"/>
                <a:cs typeface="Calibri"/>
              </a:rPr>
              <a:t>conda</a:t>
            </a:r>
            <a:r>
              <a:rPr sz="2200" i="1" spc="-9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install</a:t>
            </a:r>
            <a:r>
              <a:rPr sz="2200" i="1" spc="-9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ffmpeg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668259" y="676783"/>
            <a:ext cx="43834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Exemplo</a:t>
            </a:r>
            <a:r>
              <a:rPr sz="12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3:</a:t>
            </a:r>
            <a:r>
              <a:rPr sz="12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linear_regression_with_gradient_descent_exemplo3.ipynb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209913" y="2907283"/>
            <a:ext cx="160718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625" marR="5080" indent="-3556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Operação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derivada </a:t>
            </a:r>
            <a:r>
              <a:rPr sz="1400" dirty="0">
                <a:latin typeface="Calibri"/>
                <a:cs typeface="Calibri"/>
              </a:rPr>
              <a:t>parcial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distributiva.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3406394" y="3141091"/>
            <a:ext cx="5715000" cy="478790"/>
          </a:xfrm>
          <a:custGeom>
            <a:avLst/>
            <a:gdLst/>
            <a:ahLst/>
            <a:cxnLst/>
            <a:rect l="l" t="t" r="r" b="b"/>
            <a:pathLst>
              <a:path w="5715000" h="478789">
                <a:moveTo>
                  <a:pt x="73025" y="402336"/>
                </a:moveTo>
                <a:lnTo>
                  <a:pt x="0" y="446150"/>
                </a:lnTo>
                <a:lnTo>
                  <a:pt x="78866" y="478282"/>
                </a:lnTo>
                <a:lnTo>
                  <a:pt x="76512" y="447675"/>
                </a:lnTo>
                <a:lnTo>
                  <a:pt x="63753" y="447675"/>
                </a:lnTo>
                <a:lnTo>
                  <a:pt x="62737" y="434975"/>
                </a:lnTo>
                <a:lnTo>
                  <a:pt x="75460" y="433995"/>
                </a:lnTo>
                <a:lnTo>
                  <a:pt x="73025" y="402336"/>
                </a:lnTo>
                <a:close/>
              </a:path>
              <a:path w="5715000" h="478789">
                <a:moveTo>
                  <a:pt x="75460" y="433995"/>
                </a:moveTo>
                <a:lnTo>
                  <a:pt x="62737" y="434975"/>
                </a:lnTo>
                <a:lnTo>
                  <a:pt x="63753" y="447675"/>
                </a:lnTo>
                <a:lnTo>
                  <a:pt x="76437" y="446698"/>
                </a:lnTo>
                <a:lnTo>
                  <a:pt x="75460" y="433995"/>
                </a:lnTo>
                <a:close/>
              </a:path>
              <a:path w="5715000" h="478789">
                <a:moveTo>
                  <a:pt x="76437" y="446698"/>
                </a:moveTo>
                <a:lnTo>
                  <a:pt x="63753" y="447675"/>
                </a:lnTo>
                <a:lnTo>
                  <a:pt x="76512" y="447675"/>
                </a:lnTo>
                <a:lnTo>
                  <a:pt x="76437" y="446698"/>
                </a:lnTo>
                <a:close/>
              </a:path>
              <a:path w="5715000" h="478789">
                <a:moveTo>
                  <a:pt x="5713983" y="0"/>
                </a:moveTo>
                <a:lnTo>
                  <a:pt x="75460" y="433995"/>
                </a:lnTo>
                <a:lnTo>
                  <a:pt x="76437" y="446698"/>
                </a:lnTo>
                <a:lnTo>
                  <a:pt x="5715000" y="12700"/>
                </a:lnTo>
                <a:lnTo>
                  <a:pt x="57139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6542023" y="5407533"/>
            <a:ext cx="10985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50" dirty="0">
                <a:latin typeface="Cambria Math"/>
                <a:cs typeface="Cambria Math"/>
              </a:rPr>
              <a:t>𝑁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009894" y="5241416"/>
            <a:ext cx="3485515" cy="2571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54990">
              <a:lnSpc>
                <a:spcPts val="690"/>
              </a:lnSpc>
              <a:spcBef>
                <a:spcPts val="125"/>
              </a:spcBef>
            </a:pPr>
            <a:r>
              <a:rPr sz="850" u="sng" spc="3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endParaRPr sz="850" dirty="0">
              <a:latin typeface="Cambria Math"/>
              <a:cs typeface="Cambria Math"/>
            </a:endParaRPr>
          </a:p>
          <a:p>
            <a:pPr marL="12700">
              <a:lnSpc>
                <a:spcPts val="1110"/>
              </a:lnSpc>
              <a:tabLst>
                <a:tab pos="666115" algn="l"/>
              </a:tabLst>
            </a:pPr>
            <a:r>
              <a:rPr sz="1200" dirty="0">
                <a:latin typeface="Calibri"/>
                <a:cs typeface="Calibri"/>
              </a:rPr>
              <a:t>o </a:t>
            </a:r>
            <a:r>
              <a:rPr sz="1200" spc="-10" dirty="0">
                <a:latin typeface="Calibri"/>
                <a:cs typeface="Calibri"/>
              </a:rPr>
              <a:t>termo</a:t>
            </a:r>
            <a:r>
              <a:rPr sz="1200" dirty="0">
                <a:latin typeface="Calibri"/>
                <a:cs typeface="Calibri"/>
              </a:rPr>
              <a:t>	foi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absorvido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pelo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passo</a:t>
            </a:r>
            <a:r>
              <a:rPr sz="1200" b="1" i="1" spc="1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de</a:t>
            </a:r>
            <a:r>
              <a:rPr sz="1200" b="1" i="1" spc="-1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aprendizagem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𝛼</a:t>
            </a:r>
            <a:endParaRPr sz="1200" dirty="0">
              <a:latin typeface="Cambria Math"/>
              <a:cs typeface="Cambria Math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549900" y="5016500"/>
            <a:ext cx="381000" cy="425450"/>
          </a:xfrm>
          <a:custGeom>
            <a:avLst/>
            <a:gdLst/>
            <a:ahLst/>
            <a:cxnLst/>
            <a:rect l="l" t="t" r="r" b="b"/>
            <a:pathLst>
              <a:path w="381000" h="425450">
                <a:moveTo>
                  <a:pt x="304419" y="349250"/>
                </a:moveTo>
                <a:lnTo>
                  <a:pt x="304419" y="425450"/>
                </a:lnTo>
                <a:lnTo>
                  <a:pt x="374269" y="390525"/>
                </a:lnTo>
                <a:lnTo>
                  <a:pt x="317119" y="390525"/>
                </a:lnTo>
                <a:lnTo>
                  <a:pt x="317119" y="384175"/>
                </a:lnTo>
                <a:lnTo>
                  <a:pt x="374269" y="384175"/>
                </a:lnTo>
                <a:lnTo>
                  <a:pt x="304419" y="349250"/>
                </a:lnTo>
                <a:close/>
              </a:path>
              <a:path w="381000" h="425450">
                <a:moveTo>
                  <a:pt x="6350" y="0"/>
                </a:moveTo>
                <a:lnTo>
                  <a:pt x="0" y="0"/>
                </a:lnTo>
                <a:lnTo>
                  <a:pt x="0" y="390525"/>
                </a:lnTo>
                <a:lnTo>
                  <a:pt x="304419" y="390525"/>
                </a:lnTo>
                <a:lnTo>
                  <a:pt x="304419" y="387350"/>
                </a:lnTo>
                <a:lnTo>
                  <a:pt x="6350" y="387350"/>
                </a:lnTo>
                <a:lnTo>
                  <a:pt x="3175" y="384175"/>
                </a:lnTo>
                <a:lnTo>
                  <a:pt x="6350" y="384175"/>
                </a:lnTo>
                <a:lnTo>
                  <a:pt x="6350" y="0"/>
                </a:lnTo>
                <a:close/>
              </a:path>
              <a:path w="381000" h="425450">
                <a:moveTo>
                  <a:pt x="374269" y="384175"/>
                </a:moveTo>
                <a:lnTo>
                  <a:pt x="317119" y="384175"/>
                </a:lnTo>
                <a:lnTo>
                  <a:pt x="317119" y="390525"/>
                </a:lnTo>
                <a:lnTo>
                  <a:pt x="374269" y="390525"/>
                </a:lnTo>
                <a:lnTo>
                  <a:pt x="380619" y="387350"/>
                </a:lnTo>
                <a:lnTo>
                  <a:pt x="374269" y="384175"/>
                </a:lnTo>
                <a:close/>
              </a:path>
              <a:path w="381000" h="425450">
                <a:moveTo>
                  <a:pt x="6350" y="384175"/>
                </a:moveTo>
                <a:lnTo>
                  <a:pt x="3175" y="384175"/>
                </a:lnTo>
                <a:lnTo>
                  <a:pt x="6350" y="387350"/>
                </a:lnTo>
                <a:lnTo>
                  <a:pt x="6350" y="384175"/>
                </a:lnTo>
                <a:close/>
              </a:path>
              <a:path w="381000" h="425450">
                <a:moveTo>
                  <a:pt x="304419" y="384175"/>
                </a:moveTo>
                <a:lnTo>
                  <a:pt x="6350" y="384175"/>
                </a:lnTo>
                <a:lnTo>
                  <a:pt x="6350" y="387350"/>
                </a:lnTo>
                <a:lnTo>
                  <a:pt x="304419" y="387350"/>
                </a:lnTo>
                <a:lnTo>
                  <a:pt x="304419" y="384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F8A498DA-2846-AF82-698F-87DDB7285146}"/>
                  </a:ext>
                </a:extLst>
              </p:cNvPr>
              <p:cNvSpPr txBox="1"/>
              <p:nvPr/>
            </p:nvSpPr>
            <p:spPr>
              <a:xfrm>
                <a:off x="2944581" y="1946580"/>
                <a:ext cx="6093500" cy="474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60"/>
                  </a:spcBef>
                  <a:tabLst>
                    <a:tab pos="2921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2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acc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e>
                      </m:d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libri"/>
                        </a:rPr>
                        <m:t>h</m:t>
                      </m:r>
                      <m:d>
                        <m:dPr>
                          <m:ctrlP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2200" b="1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2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22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2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pt-BR" sz="22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0</m:t>
                          </m:r>
                        </m:sub>
                      </m:sSub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sSub>
                        <m:sSubPr>
                          <m:ctrlP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2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pt-BR" sz="22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</m:e>
                        <m:sub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b>
                      </m:sSub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libri"/>
                        </a:rPr>
                        <m:t>(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libri"/>
                        </a:rPr>
                        <m:t>𝑛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pt-BR"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F8A498DA-2846-AF82-698F-87DDB7285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581" y="1946580"/>
                <a:ext cx="6093500" cy="474489"/>
              </a:xfrm>
              <a:prstGeom prst="rect">
                <a:avLst/>
              </a:prstGeom>
              <a:blipFill>
                <a:blip r:embed="rId5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6FEE36AB-762B-31C5-1BB0-7552BBF02129}"/>
                  </a:ext>
                </a:extLst>
              </p:cNvPr>
              <p:cNvSpPr txBox="1"/>
              <p:nvPr/>
            </p:nvSpPr>
            <p:spPr>
              <a:xfrm>
                <a:off x="1341754" y="3504129"/>
                <a:ext cx="982980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1800" b="1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𝜕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accPr>
                                <m:e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pt-BR" sz="1800" b="0" i="1" spc="-10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f>
                        <m:fPr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num>
                        <m:den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=0</m:t>
                          </m:r>
                        </m:sub>
                        <m:sup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pt-BR" sz="1800" b="0" i="1" spc="-10" smtClean="0">
                                                      <a:latin typeface="Cambria Math" panose="02040503050406030204" pitchFamily="18" charset="0"/>
                                                      <a:cs typeface="Calibri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pt-BR" sz="1800" b="0" i="1" spc="-10" smtClean="0">
                                                      <a:latin typeface="Cambria Math" panose="02040503050406030204" pitchFamily="18" charset="0"/>
                                                      <a:cs typeface="Calibri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pt-BR" sz="1800" b="0" i="1" spc="-10" smtClean="0">
                                                      <a:latin typeface="Cambria Math" panose="02040503050406030204" pitchFamily="18" charset="0"/>
                                                      <a:cs typeface="Calibri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pt-BR" sz="1800" b="0" i="1" spc="-10" smtClean="0">
                                                      <a:latin typeface="Cambria Math" panose="02040503050406030204" pitchFamily="18" charset="0"/>
                                                      <a:cs typeface="Calibri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800" b="0" i="1" spc="-10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𝜕</m:t>
                              </m:r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pt-BR" sz="1800" b="0" i="1" spc="-10" smtClean="0">
                          <a:latin typeface="Cambria Math" panose="02040503050406030204" pitchFamily="18" charset="0"/>
                          <a:cs typeface="Calibri"/>
                        </a:rPr>
                        <m:t>=−</m:t>
                      </m:r>
                      <m:f>
                        <m:fPr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num>
                        <m:den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0</m:t>
                          </m:r>
                        </m:sub>
                        <m:sup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1800" b="0" i="1" spc="-1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1800" b="0" i="1" spc="-10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b="0" i="1" spc="-1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800" b="0" i="1" spc="-1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pt-BR" sz="1800" b="0" i="1" spc="-10" smtClean="0">
                              <a:latin typeface="Cambria Math" panose="02040503050406030204" pitchFamily="18" charset="0"/>
                              <a:cs typeface="Calibri"/>
                            </a:rPr>
                            <m:t>)</m:t>
                          </m:r>
                        </m:e>
                      </m:nary>
                      <m:r>
                        <a:rPr lang="pt-BR" sz="1800" b="0" i="1" spc="-10" smtClean="0">
                          <a:latin typeface="Cambria Math" panose="02040503050406030204" pitchFamily="18" charset="0"/>
                          <a:cs typeface="Calibri"/>
                        </a:rPr>
                        <m:t>,    </m:t>
                      </m:r>
                      <m:r>
                        <a:rPr lang="pt-BR" sz="1800" b="0" i="1" spc="-10" smtClean="0">
                          <a:latin typeface="Cambria Math" panose="02040503050406030204" pitchFamily="18" charset="0"/>
                          <a:cs typeface="Calibri"/>
                        </a:rPr>
                        <m:t>𝑘</m:t>
                      </m:r>
                      <m:r>
                        <a:rPr lang="pt-BR" sz="1800" b="0" i="1" spc="-10" smtClean="0">
                          <a:latin typeface="Cambria Math" panose="02040503050406030204" pitchFamily="18" charset="0"/>
                          <a:cs typeface="Calibri"/>
                        </a:rPr>
                        <m:t>=0,1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6FEE36AB-762B-31C5-1BB0-7552BBF02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754" y="3504129"/>
                <a:ext cx="9829800" cy="8714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E5BFACC5-392B-A0EC-6751-546995646D7A}"/>
                  </a:ext>
                </a:extLst>
              </p:cNvPr>
              <p:cNvSpPr txBox="1"/>
              <p:nvPr/>
            </p:nvSpPr>
            <p:spPr>
              <a:xfrm>
                <a:off x="1836819" y="4578410"/>
                <a:ext cx="9550242" cy="649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,      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=0,1</m:t>
                          </m:r>
                        </m:e>
                      </m:nary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E5BFACC5-392B-A0EC-6751-546995646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819" y="4578410"/>
                <a:ext cx="9550242" cy="6492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94309"/>
            <a:ext cx="76835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</a:t>
            </a:r>
            <a:r>
              <a:rPr spc="-45" dirty="0"/>
              <a:t> </a:t>
            </a:r>
            <a:r>
              <a:rPr dirty="0"/>
              <a:t>#4:</a:t>
            </a:r>
            <a:r>
              <a:rPr spc="-35" dirty="0"/>
              <a:t> </a:t>
            </a:r>
            <a:r>
              <a:rPr dirty="0"/>
              <a:t>GDE</a:t>
            </a:r>
            <a:r>
              <a:rPr spc="-40" dirty="0"/>
              <a:t> </a:t>
            </a:r>
            <a:r>
              <a:rPr dirty="0"/>
              <a:t>com</a:t>
            </a:r>
            <a:r>
              <a:rPr spc="-35" dirty="0"/>
              <a:t> </a:t>
            </a:r>
            <a:r>
              <a:rPr spc="-10" dirty="0"/>
              <a:t>Scikit-Learn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-40" dirty="0"/>
              <a:t> </a:t>
            </a:r>
            <a:r>
              <a:rPr dirty="0"/>
              <a:t>classe</a:t>
            </a:r>
            <a:r>
              <a:rPr spc="-45" dirty="0"/>
              <a:t> </a:t>
            </a:r>
            <a:r>
              <a:rPr b="1" i="1" dirty="0">
                <a:latin typeface="Calibri"/>
                <a:cs typeface="Calibri"/>
              </a:rPr>
              <a:t>SGDRegressor</a:t>
            </a:r>
            <a:r>
              <a:rPr dirty="0"/>
              <a:t>,</a:t>
            </a:r>
            <a:r>
              <a:rPr spc="-25" dirty="0"/>
              <a:t> </a:t>
            </a:r>
            <a:r>
              <a:rPr dirty="0"/>
              <a:t>da</a:t>
            </a:r>
            <a:r>
              <a:rPr spc="-35" dirty="0"/>
              <a:t> </a:t>
            </a:r>
            <a:r>
              <a:rPr dirty="0"/>
              <a:t>biblioteca</a:t>
            </a:r>
            <a:r>
              <a:rPr spc="-40" dirty="0"/>
              <a:t> </a:t>
            </a:r>
            <a:r>
              <a:rPr b="1" i="1" spc="-10" dirty="0">
                <a:latin typeface="Calibri"/>
                <a:cs typeface="Calibri"/>
              </a:rPr>
              <a:t>Scikit-</a:t>
            </a:r>
            <a:r>
              <a:rPr b="1" i="1" dirty="0">
                <a:latin typeface="Calibri"/>
                <a:cs typeface="Calibri"/>
              </a:rPr>
              <a:t>Learn</a:t>
            </a:r>
            <a:r>
              <a:rPr dirty="0"/>
              <a:t>,</a:t>
            </a:r>
            <a:r>
              <a:rPr spc="-30" dirty="0"/>
              <a:t> </a:t>
            </a:r>
            <a:r>
              <a:rPr dirty="0"/>
              <a:t>implementa</a:t>
            </a:r>
            <a:r>
              <a:rPr spc="-55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b="1" i="1" spc="-10" dirty="0">
                <a:latin typeface="Calibri"/>
                <a:cs typeface="Calibri"/>
              </a:rPr>
              <a:t>gradiente</a:t>
            </a:r>
          </a:p>
          <a:p>
            <a:pPr marL="241300">
              <a:lnSpc>
                <a:spcPts val="2735"/>
              </a:lnSpc>
            </a:pPr>
            <a:r>
              <a:rPr b="1" i="1" dirty="0">
                <a:latin typeface="Calibri"/>
                <a:cs typeface="Calibri"/>
              </a:rPr>
              <a:t>descendente</a:t>
            </a:r>
            <a:r>
              <a:rPr b="1" i="1" spc="-114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estocástico</a:t>
            </a:r>
            <a:r>
              <a:rPr spc="-10" dirty="0"/>
              <a:t>.</a:t>
            </a:r>
          </a:p>
          <a:p>
            <a:pPr marL="241300" marR="18415" indent="-228600">
              <a:lnSpc>
                <a:spcPts val="259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classe</a:t>
            </a:r>
            <a:r>
              <a:rPr spc="-25" dirty="0"/>
              <a:t> </a:t>
            </a:r>
            <a:r>
              <a:rPr dirty="0"/>
              <a:t>possui</a:t>
            </a:r>
            <a:r>
              <a:rPr spc="-10" dirty="0"/>
              <a:t> </a:t>
            </a:r>
            <a:r>
              <a:rPr dirty="0"/>
              <a:t>vários</a:t>
            </a:r>
            <a:r>
              <a:rPr spc="-50" dirty="0"/>
              <a:t> </a:t>
            </a:r>
            <a:r>
              <a:rPr b="1" i="1" dirty="0">
                <a:latin typeface="Calibri"/>
                <a:cs typeface="Calibri"/>
              </a:rPr>
              <a:t>hiperparâmetros</a:t>
            </a:r>
            <a:r>
              <a:rPr b="1" i="1" spc="-25" dirty="0">
                <a:latin typeface="Calibri"/>
                <a:cs typeface="Calibri"/>
              </a:rPr>
              <a:t> </a:t>
            </a:r>
            <a:r>
              <a:rPr dirty="0"/>
              <a:t>que</a:t>
            </a:r>
            <a:r>
              <a:rPr spc="-15" dirty="0"/>
              <a:t> </a:t>
            </a:r>
            <a:r>
              <a:rPr dirty="0"/>
              <a:t>podem</a:t>
            </a:r>
            <a:r>
              <a:rPr spc="-20" dirty="0"/>
              <a:t> </a:t>
            </a:r>
            <a:r>
              <a:rPr dirty="0"/>
              <a:t>ser</a:t>
            </a:r>
            <a:r>
              <a:rPr spc="-30" dirty="0"/>
              <a:t> </a:t>
            </a:r>
            <a:r>
              <a:rPr dirty="0"/>
              <a:t>configurados</a:t>
            </a:r>
            <a:r>
              <a:rPr spc="-25" dirty="0"/>
              <a:t> </a:t>
            </a:r>
            <a:r>
              <a:rPr dirty="0"/>
              <a:t>(tipo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função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erro,</a:t>
            </a:r>
            <a:r>
              <a:rPr spc="-40" dirty="0"/>
              <a:t> </a:t>
            </a:r>
            <a:r>
              <a:rPr dirty="0"/>
              <a:t>esquema</a:t>
            </a:r>
            <a:r>
              <a:rPr spc="-5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variação</a:t>
            </a:r>
            <a:r>
              <a:rPr spc="-40" dirty="0"/>
              <a:t> </a:t>
            </a:r>
            <a:r>
              <a:rPr dirty="0"/>
              <a:t>do</a:t>
            </a:r>
            <a:r>
              <a:rPr spc="-55" dirty="0"/>
              <a:t> </a:t>
            </a:r>
            <a:r>
              <a:rPr dirty="0"/>
              <a:t>passo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aprendizagem,</a:t>
            </a:r>
            <a:r>
              <a:rPr spc="-40" dirty="0"/>
              <a:t> </a:t>
            </a:r>
            <a:r>
              <a:rPr dirty="0"/>
              <a:t>penalização,</a:t>
            </a:r>
            <a:r>
              <a:rPr spc="-50" dirty="0"/>
              <a:t> </a:t>
            </a:r>
            <a:r>
              <a:rPr spc="-10" dirty="0"/>
              <a:t>etc.).</a:t>
            </a: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b="1" spc="-10" dirty="0">
                <a:latin typeface="Calibri"/>
                <a:cs typeface="Calibri"/>
              </a:rPr>
              <a:t>Hiperparâmetro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parâmetro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controla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aprendizagem.</a:t>
            </a:r>
            <a:endParaRPr sz="20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59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-45" dirty="0"/>
              <a:t> </a:t>
            </a:r>
            <a:r>
              <a:rPr b="1" i="1" dirty="0">
                <a:latin typeface="Calibri"/>
                <a:cs typeface="Calibri"/>
              </a:rPr>
              <a:t>função</a:t>
            </a:r>
            <a:r>
              <a:rPr b="1" i="1" spc="-3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5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erro</a:t>
            </a:r>
            <a:r>
              <a:rPr b="1" i="1" spc="-25" dirty="0">
                <a:latin typeface="Calibri"/>
                <a:cs typeface="Calibri"/>
              </a:rPr>
              <a:t> </a:t>
            </a:r>
            <a:r>
              <a:rPr dirty="0"/>
              <a:t>pode</a:t>
            </a:r>
            <a:r>
              <a:rPr spc="-35" dirty="0"/>
              <a:t> </a:t>
            </a:r>
            <a:r>
              <a:rPr dirty="0"/>
              <a:t>ser</a:t>
            </a:r>
            <a:r>
              <a:rPr spc="-35" dirty="0"/>
              <a:t> </a:t>
            </a:r>
            <a:r>
              <a:rPr dirty="0"/>
              <a:t>configurada</a:t>
            </a:r>
            <a:r>
              <a:rPr spc="-40" dirty="0"/>
              <a:t> </a:t>
            </a:r>
            <a:r>
              <a:rPr dirty="0"/>
              <a:t>entre</a:t>
            </a:r>
            <a:r>
              <a:rPr spc="-40" dirty="0"/>
              <a:t> </a:t>
            </a:r>
            <a:r>
              <a:rPr dirty="0"/>
              <a:t>várias</a:t>
            </a:r>
            <a:r>
              <a:rPr spc="-40" dirty="0"/>
              <a:t> </a:t>
            </a:r>
            <a:r>
              <a:rPr dirty="0"/>
              <a:t>opções,</a:t>
            </a:r>
            <a:r>
              <a:rPr spc="-30" dirty="0"/>
              <a:t> </a:t>
            </a:r>
            <a:r>
              <a:rPr dirty="0"/>
              <a:t>mas</a:t>
            </a:r>
            <a:r>
              <a:rPr spc="-50" dirty="0"/>
              <a:t> </a:t>
            </a:r>
            <a:r>
              <a:rPr dirty="0"/>
              <a:t>por</a:t>
            </a:r>
            <a:r>
              <a:rPr spc="-40" dirty="0"/>
              <a:t> </a:t>
            </a:r>
            <a:r>
              <a:rPr dirty="0"/>
              <a:t>padrão,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classe </a:t>
            </a:r>
            <a:r>
              <a:rPr dirty="0"/>
              <a:t>usa</a:t>
            </a:r>
            <a:r>
              <a:rPr spc="-25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b="1" i="1" dirty="0">
                <a:latin typeface="Calibri"/>
                <a:cs typeface="Calibri"/>
              </a:rPr>
              <a:t>erro</a:t>
            </a:r>
            <a:r>
              <a:rPr b="1" i="1" spc="-1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quadrático</a:t>
            </a:r>
            <a:r>
              <a:rPr b="1" i="1" spc="-4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médio</a:t>
            </a:r>
            <a:r>
              <a:rPr b="1" spc="-10" dirty="0">
                <a:latin typeface="Calibri"/>
                <a:cs typeface="Calibri"/>
              </a:rPr>
              <a:t>.</a:t>
            </a:r>
          </a:p>
          <a:p>
            <a:pPr marL="241300" indent="-228600">
              <a:lnSpc>
                <a:spcPts val="2735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É</a:t>
            </a:r>
            <a:r>
              <a:rPr spc="-30" dirty="0"/>
              <a:t> </a:t>
            </a:r>
            <a:r>
              <a:rPr dirty="0"/>
              <a:t>possível</a:t>
            </a:r>
            <a:r>
              <a:rPr spc="-10" dirty="0"/>
              <a:t> </a:t>
            </a:r>
            <a:r>
              <a:rPr dirty="0"/>
              <a:t>definir o</a:t>
            </a:r>
            <a:r>
              <a:rPr spc="-45" dirty="0"/>
              <a:t> </a:t>
            </a:r>
            <a:r>
              <a:rPr b="1" i="1" dirty="0">
                <a:latin typeface="Calibri"/>
                <a:cs typeface="Calibri"/>
              </a:rPr>
              <a:t>esquema</a:t>
            </a:r>
            <a:r>
              <a:rPr b="1" i="1" spc="-4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2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variação</a:t>
            </a:r>
            <a:r>
              <a:rPr b="1" i="1" spc="-2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do</a:t>
            </a:r>
            <a:r>
              <a:rPr b="1" i="1" spc="-2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passo</a:t>
            </a:r>
            <a:r>
              <a:rPr b="1" i="1" spc="-4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25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aprendizagem</a:t>
            </a:r>
            <a:r>
              <a:rPr spc="-10" dirty="0"/>
              <a:t>:</a:t>
            </a:r>
            <a:r>
              <a:rPr spc="-50" dirty="0"/>
              <a:t> </a:t>
            </a:r>
            <a:r>
              <a:rPr spc="-10" dirty="0"/>
              <a:t>constante,</a:t>
            </a:r>
          </a:p>
          <a:p>
            <a:pPr marL="241300">
              <a:lnSpc>
                <a:spcPts val="2735"/>
              </a:lnSpc>
            </a:pPr>
            <a:r>
              <a:rPr dirty="0"/>
              <a:t>redução</a:t>
            </a:r>
            <a:r>
              <a:rPr spc="-70" dirty="0"/>
              <a:t> </a:t>
            </a:r>
            <a:r>
              <a:rPr dirty="0"/>
              <a:t>programada</a:t>
            </a:r>
            <a:r>
              <a:rPr spc="-70" dirty="0"/>
              <a:t> </a:t>
            </a:r>
            <a:r>
              <a:rPr dirty="0"/>
              <a:t>ou</a:t>
            </a:r>
            <a:r>
              <a:rPr spc="-45" dirty="0"/>
              <a:t> </a:t>
            </a:r>
            <a:r>
              <a:rPr spc="-10" dirty="0"/>
              <a:t>adaptativo.</a:t>
            </a:r>
          </a:p>
          <a:p>
            <a:pPr marL="241300" indent="-22860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Por</a:t>
            </a:r>
            <a:r>
              <a:rPr spc="-50" dirty="0"/>
              <a:t> </a:t>
            </a:r>
            <a:r>
              <a:rPr dirty="0"/>
              <a:t>padrão,</a:t>
            </a:r>
            <a:r>
              <a:rPr spc="-30" dirty="0"/>
              <a:t> </a:t>
            </a:r>
            <a:r>
              <a:rPr dirty="0"/>
              <a:t>o</a:t>
            </a:r>
            <a:r>
              <a:rPr spc="-40" dirty="0"/>
              <a:t> </a:t>
            </a:r>
            <a:r>
              <a:rPr dirty="0"/>
              <a:t>esquema</a:t>
            </a:r>
            <a:r>
              <a:rPr spc="-25" dirty="0"/>
              <a:t> </a:t>
            </a:r>
            <a:r>
              <a:rPr dirty="0"/>
              <a:t>é</a:t>
            </a:r>
            <a:r>
              <a:rPr spc="-45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da</a:t>
            </a:r>
            <a:r>
              <a:rPr spc="-40" dirty="0"/>
              <a:t> </a:t>
            </a:r>
            <a:r>
              <a:rPr dirty="0"/>
              <a:t>escala</a:t>
            </a:r>
            <a:r>
              <a:rPr spc="-40" dirty="0"/>
              <a:t> </a:t>
            </a:r>
            <a:r>
              <a:rPr dirty="0"/>
              <a:t>inversa,</a:t>
            </a:r>
            <a:r>
              <a:rPr spc="-30" dirty="0"/>
              <a:t> </a:t>
            </a:r>
            <a:r>
              <a:rPr spc="-10" dirty="0"/>
              <a:t>“</a:t>
            </a:r>
            <a:r>
              <a:rPr b="1" i="1" spc="-10" dirty="0">
                <a:latin typeface="Calibri"/>
                <a:cs typeface="Calibri"/>
              </a:rPr>
              <a:t>invscaling</a:t>
            </a:r>
            <a:r>
              <a:rPr spc="-10" dirty="0"/>
              <a:t>”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1539" y="5629452"/>
            <a:ext cx="10847070" cy="11747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66700" marR="30480" indent="-228600">
              <a:lnSpc>
                <a:spcPts val="2580"/>
              </a:lnSpc>
              <a:spcBef>
                <a:spcPts val="434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onde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60" dirty="0">
                <a:latin typeface="Cambria Math"/>
                <a:cs typeface="Cambria Math"/>
              </a:rPr>
              <a:t>𝛼</a:t>
            </a:r>
            <a:r>
              <a:rPr sz="2625" spc="89" baseline="-15873" dirty="0">
                <a:latin typeface="Cambria Math"/>
                <a:cs typeface="Cambria Math"/>
              </a:rPr>
              <a:t>𝑖𝑛𝑖𝑡</a:t>
            </a:r>
            <a:r>
              <a:rPr sz="2625" spc="40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padrão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0.01),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𝑖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iteração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𝑝𝑜𝑤𝑒𝑟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expoente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inversa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padrão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0.25).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conseguimos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versões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batelada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mini-batch.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3234" y="1035545"/>
            <a:ext cx="1327403" cy="71578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384918" y="497585"/>
            <a:ext cx="26352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2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SGD_with_scikit_learn_lib.ipynb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7D5E3B8-2980-C1DC-7A4B-CDBEB73F1F89}"/>
                  </a:ext>
                </a:extLst>
              </p:cNvPr>
              <p:cNvSpPr txBox="1"/>
              <p:nvPr/>
            </p:nvSpPr>
            <p:spPr>
              <a:xfrm>
                <a:off x="5595390" y="4995239"/>
                <a:ext cx="1439368" cy="578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init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𝑝𝑜𝑤𝑒𝑟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7D5E3B8-2980-C1DC-7A4B-CDBEB73F1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390" y="4995239"/>
                <a:ext cx="1439368" cy="5788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1008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Exemplos de implementação do gradiente descendente</vt:lpstr>
      <vt:lpstr>Exemplo #1</vt:lpstr>
      <vt:lpstr>Exemplo #1</vt:lpstr>
      <vt:lpstr>Exemplo #2</vt:lpstr>
      <vt:lpstr>Exemplo #2</vt:lpstr>
      <vt:lpstr>Exemplo #3</vt:lpstr>
      <vt:lpstr>Exemplo #3</vt:lpstr>
      <vt:lpstr>Exemplo #4: GDE com Scikit-Learn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Felipe Augusto Pereira de Figueiredo</dc:creator>
  <cp:lastModifiedBy>Luiz Augusto Melo Pereira</cp:lastModifiedBy>
  <cp:revision>8</cp:revision>
  <dcterms:created xsi:type="dcterms:W3CDTF">2025-01-23T21:37:10Z</dcterms:created>
  <dcterms:modified xsi:type="dcterms:W3CDTF">2025-01-28T14:22:07Z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2024-08-14T00:00:00Z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2025-01-23T00:00:00Z</vt:filetime>
  </property>
  <property fmtid="{D5CDD505-2E9C-101B-9397-08002B2CF9AE}" pid="5" name="Producer">
    <vt:lpwstr>Microsoft® PowerPoint® LTSC</vt:lpwstr>
  </property>
</Properties>
</file>