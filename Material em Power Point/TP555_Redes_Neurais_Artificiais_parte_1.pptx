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ugusto Melo Pereira" userId="4bd5ce759a66f368" providerId="LiveId" clId="{B3C24C72-2F98-42F5-8D94-BDDCC90CD373}"/>
    <pc:docChg chg="undo custSel modSld">
      <pc:chgData name="Luiz Augusto Melo Pereira" userId="4bd5ce759a66f368" providerId="LiveId" clId="{B3C24C72-2F98-42F5-8D94-BDDCC90CD373}" dt="2025-01-27T19:03:33.910" v="496" actId="1076"/>
      <pc:docMkLst>
        <pc:docMk/>
      </pc:docMkLst>
      <pc:sldChg chg="modSp mod">
        <pc:chgData name="Luiz Augusto Melo Pereira" userId="4bd5ce759a66f368" providerId="LiveId" clId="{B3C24C72-2F98-42F5-8D94-BDDCC90CD373}" dt="2025-01-27T18:45:15.561" v="1" actId="1076"/>
        <pc:sldMkLst>
          <pc:docMk/>
          <pc:sldMk cId="0" sldId="257"/>
        </pc:sldMkLst>
        <pc:spChg chg="mod">
          <ac:chgData name="Luiz Augusto Melo Pereira" userId="4bd5ce759a66f368" providerId="LiveId" clId="{B3C24C72-2F98-42F5-8D94-BDDCC90CD373}" dt="2025-01-27T18:45:15.561" v="1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45:18.431" v="3" actId="1076"/>
        <pc:sldMkLst>
          <pc:docMk/>
          <pc:sldMk cId="0" sldId="258"/>
        </pc:sldMkLst>
        <pc:spChg chg="mod">
          <ac:chgData name="Luiz Augusto Melo Pereira" userId="4bd5ce759a66f368" providerId="LiveId" clId="{B3C24C72-2F98-42F5-8D94-BDDCC90CD373}" dt="2025-01-27T18:45:18.431" v="3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45:21.412" v="5" actId="1076"/>
        <pc:sldMkLst>
          <pc:docMk/>
          <pc:sldMk cId="0" sldId="259"/>
        </pc:sldMkLst>
        <pc:spChg chg="mod">
          <ac:chgData name="Luiz Augusto Melo Pereira" userId="4bd5ce759a66f368" providerId="LiveId" clId="{B3C24C72-2F98-42F5-8D94-BDDCC90CD373}" dt="2025-01-27T18:45:21.412" v="5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45:24.734" v="7" actId="1076"/>
        <pc:sldMkLst>
          <pc:docMk/>
          <pc:sldMk cId="0" sldId="260"/>
        </pc:sldMkLst>
        <pc:spChg chg="mod">
          <ac:chgData name="Luiz Augusto Melo Pereira" userId="4bd5ce759a66f368" providerId="LiveId" clId="{B3C24C72-2F98-42F5-8D94-BDDCC90CD373}" dt="2025-01-27T18:45:24.734" v="7" actId="107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45:29.810" v="9" actId="1076"/>
        <pc:sldMkLst>
          <pc:docMk/>
          <pc:sldMk cId="0" sldId="261"/>
        </pc:sldMkLst>
        <pc:spChg chg="mod">
          <ac:chgData name="Luiz Augusto Melo Pereira" userId="4bd5ce759a66f368" providerId="LiveId" clId="{B3C24C72-2F98-42F5-8D94-BDDCC90CD373}" dt="2025-01-27T18:45:29.810" v="9" actId="107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45:32.973" v="11" actId="1076"/>
        <pc:sldMkLst>
          <pc:docMk/>
          <pc:sldMk cId="0" sldId="262"/>
        </pc:sldMkLst>
        <pc:spChg chg="mod">
          <ac:chgData name="Luiz Augusto Melo Pereira" userId="4bd5ce759a66f368" providerId="LiveId" clId="{B3C24C72-2F98-42F5-8D94-BDDCC90CD373}" dt="2025-01-27T18:45:32.973" v="11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45:36.182" v="13" actId="1076"/>
        <pc:sldMkLst>
          <pc:docMk/>
          <pc:sldMk cId="0" sldId="263"/>
        </pc:sldMkLst>
        <pc:spChg chg="mod">
          <ac:chgData name="Luiz Augusto Melo Pereira" userId="4bd5ce759a66f368" providerId="LiveId" clId="{B3C24C72-2F98-42F5-8D94-BDDCC90CD373}" dt="2025-01-27T18:45:36.182" v="13" actId="1076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45:41.048" v="16" actId="1076"/>
        <pc:sldMkLst>
          <pc:docMk/>
          <pc:sldMk cId="0" sldId="264"/>
        </pc:sldMkLst>
        <pc:spChg chg="mod">
          <ac:chgData name="Luiz Augusto Melo Pereira" userId="4bd5ce759a66f368" providerId="LiveId" clId="{B3C24C72-2F98-42F5-8D94-BDDCC90CD373}" dt="2025-01-27T18:45:41.048" v="16" actId="107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45:45.925" v="20" actId="1076"/>
        <pc:sldMkLst>
          <pc:docMk/>
          <pc:sldMk cId="0" sldId="265"/>
        </pc:sldMkLst>
        <pc:spChg chg="mod">
          <ac:chgData name="Luiz Augusto Melo Pereira" userId="4bd5ce759a66f368" providerId="LiveId" clId="{B3C24C72-2F98-42F5-8D94-BDDCC90CD373}" dt="2025-01-27T18:45:45.925" v="20" actId="1076"/>
          <ac:spMkLst>
            <pc:docMk/>
            <pc:sldMk cId="0" sldId="265"/>
            <ac:spMk id="4" creationId="{00000000-0000-0000-0000-000000000000}"/>
          </ac:spMkLst>
        </pc:spChg>
        <pc:picChg chg="mod">
          <ac:chgData name="Luiz Augusto Melo Pereira" userId="4bd5ce759a66f368" providerId="LiveId" clId="{B3C24C72-2F98-42F5-8D94-BDDCC90CD373}" dt="2025-01-27T18:45:43.872" v="18" actId="1076"/>
          <ac:picMkLst>
            <pc:docMk/>
            <pc:sldMk cId="0" sldId="265"/>
            <ac:picMk id="3" creationId="{00000000-0000-0000-0000-000000000000}"/>
          </ac:picMkLst>
        </pc:picChg>
      </pc:sldChg>
      <pc:sldChg chg="modSp mod">
        <pc:chgData name="Luiz Augusto Melo Pereira" userId="4bd5ce759a66f368" providerId="LiveId" clId="{B3C24C72-2F98-42F5-8D94-BDDCC90CD373}" dt="2025-01-27T18:45:51.002" v="22" actId="1076"/>
        <pc:sldMkLst>
          <pc:docMk/>
          <pc:sldMk cId="0" sldId="266"/>
        </pc:sldMkLst>
        <pc:spChg chg="mod">
          <ac:chgData name="Luiz Augusto Melo Pereira" userId="4bd5ce759a66f368" providerId="LiveId" clId="{B3C24C72-2F98-42F5-8D94-BDDCC90CD373}" dt="2025-01-27T18:45:51.002" v="22" actId="1076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45:54.055" v="24" actId="1076"/>
        <pc:sldMkLst>
          <pc:docMk/>
          <pc:sldMk cId="0" sldId="267"/>
        </pc:sldMkLst>
        <pc:spChg chg="mod">
          <ac:chgData name="Luiz Augusto Melo Pereira" userId="4bd5ce759a66f368" providerId="LiveId" clId="{B3C24C72-2F98-42F5-8D94-BDDCC90CD373}" dt="2025-01-27T18:45:54.055" v="24" actId="1076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45:57.891" v="26" actId="1076"/>
        <pc:sldMkLst>
          <pc:docMk/>
          <pc:sldMk cId="0" sldId="268"/>
        </pc:sldMkLst>
        <pc:spChg chg="mod">
          <ac:chgData name="Luiz Augusto Melo Pereira" userId="4bd5ce759a66f368" providerId="LiveId" clId="{B3C24C72-2F98-42F5-8D94-BDDCC90CD373}" dt="2025-01-27T18:45:57.891" v="26" actId="1076"/>
          <ac:spMkLst>
            <pc:docMk/>
            <pc:sldMk cId="0" sldId="268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B3C24C72-2F98-42F5-8D94-BDDCC90CD373}" dt="2025-01-27T18:46:16.388" v="36" actId="1076"/>
        <pc:sldMkLst>
          <pc:docMk/>
          <pc:sldMk cId="0" sldId="269"/>
        </pc:sldMkLst>
        <pc:spChg chg="del">
          <ac:chgData name="Luiz Augusto Melo Pereira" userId="4bd5ce759a66f368" providerId="LiveId" clId="{B3C24C72-2F98-42F5-8D94-BDDCC90CD373}" dt="2025-01-27T18:46:13.136" v="35" actId="478"/>
          <ac:spMkLst>
            <pc:docMk/>
            <pc:sldMk cId="0" sldId="269"/>
            <ac:spMk id="3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46:16.388" v="36" actId="1076"/>
          <ac:spMkLst>
            <pc:docMk/>
            <pc:sldMk cId="0" sldId="269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46:22.795" v="40" actId="1076"/>
        <pc:sldMkLst>
          <pc:docMk/>
          <pc:sldMk cId="0" sldId="270"/>
        </pc:sldMkLst>
        <pc:spChg chg="mod">
          <ac:chgData name="Luiz Augusto Melo Pereira" userId="4bd5ce759a66f368" providerId="LiveId" clId="{B3C24C72-2F98-42F5-8D94-BDDCC90CD373}" dt="2025-01-27T18:46:20.472" v="38" actId="1076"/>
          <ac:spMkLst>
            <pc:docMk/>
            <pc:sldMk cId="0" sldId="270"/>
            <ac:spMk id="3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46:22.795" v="40" actId="1076"/>
          <ac:spMkLst>
            <pc:docMk/>
            <pc:sldMk cId="0" sldId="270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46:45.713" v="52" actId="1076"/>
        <pc:sldMkLst>
          <pc:docMk/>
          <pc:sldMk cId="0" sldId="271"/>
        </pc:sldMkLst>
        <pc:spChg chg="mod">
          <ac:chgData name="Luiz Augusto Melo Pereira" userId="4bd5ce759a66f368" providerId="LiveId" clId="{B3C24C72-2F98-42F5-8D94-BDDCC90CD373}" dt="2025-01-27T18:46:32.743" v="45"/>
          <ac:spMkLst>
            <pc:docMk/>
            <pc:sldMk cId="0" sldId="271"/>
            <ac:spMk id="3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46:45.713" v="52" actId="1076"/>
          <ac:spMkLst>
            <pc:docMk/>
            <pc:sldMk cId="0" sldId="271"/>
            <ac:spMk id="4" creationId="{00000000-0000-0000-0000-000000000000}"/>
          </ac:spMkLst>
        </pc:spChg>
      </pc:sldChg>
      <pc:sldChg chg="addSp delSp modSp mod">
        <pc:chgData name="Luiz Augusto Melo Pereira" userId="4bd5ce759a66f368" providerId="LiveId" clId="{B3C24C72-2F98-42F5-8D94-BDDCC90CD373}" dt="2025-01-27T18:50:50.185" v="137" actId="1076"/>
        <pc:sldMkLst>
          <pc:docMk/>
          <pc:sldMk cId="0" sldId="272"/>
        </pc:sldMkLst>
        <pc:spChg chg="del">
          <ac:chgData name="Luiz Augusto Melo Pereira" userId="4bd5ce759a66f368" providerId="LiveId" clId="{B3C24C72-2F98-42F5-8D94-BDDCC90CD373}" dt="2025-01-27T18:47:14.164" v="65" actId="478"/>
          <ac:spMkLst>
            <pc:docMk/>
            <pc:sldMk cId="0" sldId="272"/>
            <ac:spMk id="8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0:32.136" v="132" actId="478"/>
          <ac:spMkLst>
            <pc:docMk/>
            <pc:sldMk cId="0" sldId="272"/>
            <ac:spMk id="11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0:31.349" v="131" actId="478"/>
          <ac:spMkLst>
            <pc:docMk/>
            <pc:sldMk cId="0" sldId="272"/>
            <ac:spMk id="12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49:22.060" v="98" actId="554"/>
          <ac:spMkLst>
            <pc:docMk/>
            <pc:sldMk cId="0" sldId="272"/>
            <ac:spMk id="14" creationId="{00000000-0000-0000-0000-000000000000}"/>
          </ac:spMkLst>
        </pc:spChg>
        <pc:spChg chg="mod topLvl">
          <ac:chgData name="Luiz Augusto Melo Pereira" userId="4bd5ce759a66f368" providerId="LiveId" clId="{B3C24C72-2F98-42F5-8D94-BDDCC90CD373}" dt="2025-01-27T18:48:32.533" v="85" actId="165"/>
          <ac:spMkLst>
            <pc:docMk/>
            <pc:sldMk cId="0" sldId="272"/>
            <ac:spMk id="19" creationId="{00000000-0000-0000-0000-000000000000}"/>
          </ac:spMkLst>
        </pc:spChg>
        <pc:spChg chg="del mod topLvl">
          <ac:chgData name="Luiz Augusto Melo Pereira" userId="4bd5ce759a66f368" providerId="LiveId" clId="{B3C24C72-2F98-42F5-8D94-BDDCC90CD373}" dt="2025-01-27T18:48:57.438" v="92" actId="478"/>
          <ac:spMkLst>
            <pc:docMk/>
            <pc:sldMk cId="0" sldId="272"/>
            <ac:spMk id="20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50:42.573" v="135" actId="12789"/>
          <ac:spMkLst>
            <pc:docMk/>
            <pc:sldMk cId="0" sldId="272"/>
            <ac:spMk id="22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49:22.060" v="98" actId="554"/>
          <ac:spMkLst>
            <pc:docMk/>
            <pc:sldMk cId="0" sldId="272"/>
            <ac:spMk id="25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50:50.185" v="137" actId="1076"/>
          <ac:spMkLst>
            <pc:docMk/>
            <pc:sldMk cId="0" sldId="272"/>
            <ac:spMk id="26" creationId="{00000000-0000-0000-0000-000000000000}"/>
          </ac:spMkLst>
        </pc:spChg>
        <pc:spChg chg="mod topLvl">
          <ac:chgData name="Luiz Augusto Melo Pereira" userId="4bd5ce759a66f368" providerId="LiveId" clId="{B3C24C72-2F98-42F5-8D94-BDDCC90CD373}" dt="2025-01-27T18:49:42.430" v="106" actId="165"/>
          <ac:spMkLst>
            <pc:docMk/>
            <pc:sldMk cId="0" sldId="272"/>
            <ac:spMk id="31" creationId="{00000000-0000-0000-0000-000000000000}"/>
          </ac:spMkLst>
        </pc:spChg>
        <pc:spChg chg="del mod topLvl">
          <ac:chgData name="Luiz Augusto Melo Pereira" userId="4bd5ce759a66f368" providerId="LiveId" clId="{B3C24C72-2F98-42F5-8D94-BDDCC90CD373}" dt="2025-01-27T18:49:44.303" v="107" actId="478"/>
          <ac:spMkLst>
            <pc:docMk/>
            <pc:sldMk cId="0" sldId="272"/>
            <ac:spMk id="32" creationId="{00000000-0000-0000-0000-000000000000}"/>
          </ac:spMkLst>
        </pc:spChg>
        <pc:spChg chg="del mod">
          <ac:chgData name="Luiz Augusto Melo Pereira" userId="4bd5ce759a66f368" providerId="LiveId" clId="{B3C24C72-2F98-42F5-8D94-BDDCC90CD373}" dt="2025-01-27T18:49:35.847" v="103" actId="478"/>
          <ac:spMkLst>
            <pc:docMk/>
            <pc:sldMk cId="0" sldId="272"/>
            <ac:spMk id="33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0:03.688" v="118" actId="478"/>
          <ac:spMkLst>
            <pc:docMk/>
            <pc:sldMk cId="0" sldId="272"/>
            <ac:spMk id="34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50:02.106" v="117" actId="1076"/>
          <ac:spMkLst>
            <pc:docMk/>
            <pc:sldMk cId="0" sldId="272"/>
            <ac:spMk id="35" creationId="{00000000-0000-0000-0000-000000000000}"/>
          </ac:spMkLst>
        </pc:spChg>
        <pc:spChg chg="add mod">
          <ac:chgData name="Luiz Augusto Melo Pereira" userId="4bd5ce759a66f368" providerId="LiveId" clId="{B3C24C72-2F98-42F5-8D94-BDDCC90CD373}" dt="2025-01-27T18:49:55.039" v="113" actId="1076"/>
          <ac:spMkLst>
            <pc:docMk/>
            <pc:sldMk cId="0" sldId="272"/>
            <ac:spMk id="78" creationId="{9E885AC8-59AC-A03D-D178-F83383930D3D}"/>
          </ac:spMkLst>
        </pc:spChg>
        <pc:spChg chg="add mod">
          <ac:chgData name="Luiz Augusto Melo Pereira" userId="4bd5ce759a66f368" providerId="LiveId" clId="{B3C24C72-2F98-42F5-8D94-BDDCC90CD373}" dt="2025-01-27T18:50:42.573" v="135" actId="12789"/>
          <ac:spMkLst>
            <pc:docMk/>
            <pc:sldMk cId="0" sldId="272"/>
            <ac:spMk id="80" creationId="{B1AEB81E-7DF7-78C8-3FB2-F760966AA556}"/>
          </ac:spMkLst>
        </pc:spChg>
        <pc:spChg chg="add mod">
          <ac:chgData name="Luiz Augusto Melo Pereira" userId="4bd5ce759a66f368" providerId="LiveId" clId="{B3C24C72-2F98-42F5-8D94-BDDCC90CD373}" dt="2025-01-27T18:50:42.573" v="135" actId="12789"/>
          <ac:spMkLst>
            <pc:docMk/>
            <pc:sldMk cId="0" sldId="272"/>
            <ac:spMk id="81" creationId="{1DCF21CA-8495-FEDE-C4A9-C4125B19851E}"/>
          </ac:spMkLst>
        </pc:spChg>
        <pc:grpChg chg="del mod">
          <ac:chgData name="Luiz Augusto Melo Pereira" userId="4bd5ce759a66f368" providerId="LiveId" clId="{B3C24C72-2F98-42F5-8D94-BDDCC90CD373}" dt="2025-01-27T18:48:32.533" v="85" actId="165"/>
          <ac:grpSpMkLst>
            <pc:docMk/>
            <pc:sldMk cId="0" sldId="272"/>
            <ac:grpSpMk id="18" creationId="{00000000-0000-0000-0000-000000000000}"/>
          </ac:grpSpMkLst>
        </pc:grpChg>
        <pc:grpChg chg="add del">
          <ac:chgData name="Luiz Augusto Melo Pereira" userId="4bd5ce759a66f368" providerId="LiveId" clId="{B3C24C72-2F98-42F5-8D94-BDDCC90CD373}" dt="2025-01-27T18:49:42.430" v="106" actId="165"/>
          <ac:grpSpMkLst>
            <pc:docMk/>
            <pc:sldMk cId="0" sldId="272"/>
            <ac:grpSpMk id="30" creationId="{00000000-0000-0000-0000-000000000000}"/>
          </ac:grpSpMkLst>
        </pc:grpChg>
      </pc:sldChg>
      <pc:sldChg chg="modSp mod">
        <pc:chgData name="Luiz Augusto Melo Pereira" userId="4bd5ce759a66f368" providerId="LiveId" clId="{B3C24C72-2F98-42F5-8D94-BDDCC90CD373}" dt="2025-01-27T18:51:02.933" v="139" actId="1076"/>
        <pc:sldMkLst>
          <pc:docMk/>
          <pc:sldMk cId="0" sldId="273"/>
        </pc:sldMkLst>
        <pc:spChg chg="mod">
          <ac:chgData name="Luiz Augusto Melo Pereira" userId="4bd5ce759a66f368" providerId="LiveId" clId="{B3C24C72-2F98-42F5-8D94-BDDCC90CD373}" dt="2025-01-27T18:51:02.933" v="139" actId="1076"/>
          <ac:spMkLst>
            <pc:docMk/>
            <pc:sldMk cId="0" sldId="273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51:07.530" v="141" actId="1076"/>
        <pc:sldMkLst>
          <pc:docMk/>
          <pc:sldMk cId="0" sldId="274"/>
        </pc:sldMkLst>
        <pc:spChg chg="mod">
          <ac:chgData name="Luiz Augusto Melo Pereira" userId="4bd5ce759a66f368" providerId="LiveId" clId="{B3C24C72-2F98-42F5-8D94-BDDCC90CD373}" dt="2025-01-27T18:51:07.530" v="141" actId="1076"/>
          <ac:spMkLst>
            <pc:docMk/>
            <pc:sldMk cId="0" sldId="274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B3C24C72-2F98-42F5-8D94-BDDCC90CD373}" dt="2025-01-27T18:52:09.620" v="175" actId="1076"/>
        <pc:sldMkLst>
          <pc:docMk/>
          <pc:sldMk cId="0" sldId="275"/>
        </pc:sldMkLst>
        <pc:spChg chg="mod">
          <ac:chgData name="Luiz Augusto Melo Pereira" userId="4bd5ce759a66f368" providerId="LiveId" clId="{B3C24C72-2F98-42F5-8D94-BDDCC90CD373}" dt="2025-01-27T18:52:09.620" v="175" actId="1076"/>
          <ac:spMkLst>
            <pc:docMk/>
            <pc:sldMk cId="0" sldId="275"/>
            <ac:spMk id="3" creationId="{00000000-0000-0000-0000-000000000000}"/>
          </ac:spMkLst>
        </pc:spChg>
        <pc:spChg chg="add mod">
          <ac:chgData name="Luiz Augusto Melo Pereira" userId="4bd5ce759a66f368" providerId="LiveId" clId="{B3C24C72-2F98-42F5-8D94-BDDCC90CD373}" dt="2025-01-27T18:51:45.997" v="160" actId="113"/>
          <ac:spMkLst>
            <pc:docMk/>
            <pc:sldMk cId="0" sldId="275"/>
            <ac:spMk id="5" creationId="{D3796374-31BF-8783-ACD5-56BEE5BAD5A8}"/>
          </ac:spMkLst>
        </pc:spChg>
        <pc:spChg chg="add mod">
          <ac:chgData name="Luiz Augusto Melo Pereira" userId="4bd5ce759a66f368" providerId="LiveId" clId="{B3C24C72-2F98-42F5-8D94-BDDCC90CD373}" dt="2025-01-27T18:52:05.637" v="173" actId="1076"/>
          <ac:spMkLst>
            <pc:docMk/>
            <pc:sldMk cId="0" sldId="275"/>
            <ac:spMk id="6" creationId="{00C6A0CD-DDD2-C9AE-5B89-3F7E23CA288D}"/>
          </ac:spMkLst>
        </pc:spChg>
        <pc:spChg chg="del">
          <ac:chgData name="Luiz Augusto Melo Pereira" userId="4bd5ce759a66f368" providerId="LiveId" clId="{B3C24C72-2F98-42F5-8D94-BDDCC90CD373}" dt="2025-01-27T18:51:19.487" v="147" actId="478"/>
          <ac:spMkLst>
            <pc:docMk/>
            <pc:sldMk cId="0" sldId="275"/>
            <ac:spMk id="16" creationId="{00000000-0000-0000-0000-000000000000}"/>
          </ac:spMkLst>
        </pc:spChg>
        <pc:spChg chg="del mod">
          <ac:chgData name="Luiz Augusto Melo Pereira" userId="4bd5ce759a66f368" providerId="LiveId" clId="{B3C24C72-2F98-42F5-8D94-BDDCC90CD373}" dt="2025-01-27T18:51:18.071" v="146"/>
          <ac:spMkLst>
            <pc:docMk/>
            <pc:sldMk cId="0" sldId="275"/>
            <ac:spMk id="17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1:52.363" v="164" actId="478"/>
          <ac:spMkLst>
            <pc:docMk/>
            <pc:sldMk cId="0" sldId="275"/>
            <ac:spMk id="18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1:51.656" v="163" actId="478"/>
          <ac:spMkLst>
            <pc:docMk/>
            <pc:sldMk cId="0" sldId="275"/>
            <ac:spMk id="19" creationId="{00000000-0000-0000-0000-000000000000}"/>
          </ac:spMkLst>
        </pc:spChg>
      </pc:sldChg>
      <pc:sldChg chg="addSp delSp modSp mod">
        <pc:chgData name="Luiz Augusto Melo Pereira" userId="4bd5ce759a66f368" providerId="LiveId" clId="{B3C24C72-2F98-42F5-8D94-BDDCC90CD373}" dt="2025-01-27T18:53:22.053" v="198" actId="1076"/>
        <pc:sldMkLst>
          <pc:docMk/>
          <pc:sldMk cId="0" sldId="276"/>
        </pc:sldMkLst>
        <pc:spChg chg="del">
          <ac:chgData name="Luiz Augusto Melo Pereira" userId="4bd5ce759a66f368" providerId="LiveId" clId="{B3C24C72-2F98-42F5-8D94-BDDCC90CD373}" dt="2025-01-27T18:53:17.850" v="196" actId="478"/>
          <ac:spMkLst>
            <pc:docMk/>
            <pc:sldMk cId="0" sldId="276"/>
            <ac:spMk id="3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53:22.053" v="198" actId="1076"/>
          <ac:spMkLst>
            <pc:docMk/>
            <pc:sldMk cId="0" sldId="276"/>
            <ac:spMk id="4" creationId="{00000000-0000-0000-0000-000000000000}"/>
          </ac:spMkLst>
        </pc:spChg>
        <pc:spChg chg="add mod">
          <ac:chgData name="Luiz Augusto Melo Pereira" userId="4bd5ce759a66f368" providerId="LiveId" clId="{B3C24C72-2F98-42F5-8D94-BDDCC90CD373}" dt="2025-01-27T18:52:26.008" v="181" actId="1076"/>
          <ac:spMkLst>
            <pc:docMk/>
            <pc:sldMk cId="0" sldId="276"/>
            <ac:spMk id="5" creationId="{6376E229-4F95-03BD-D9ED-446005535CA1}"/>
          </ac:spMkLst>
        </pc:spChg>
        <pc:spChg chg="add mod">
          <ac:chgData name="Luiz Augusto Melo Pereira" userId="4bd5ce759a66f368" providerId="LiveId" clId="{B3C24C72-2F98-42F5-8D94-BDDCC90CD373}" dt="2025-01-27T18:52:42.949" v="185" actId="1076"/>
          <ac:spMkLst>
            <pc:docMk/>
            <pc:sldMk cId="0" sldId="276"/>
            <ac:spMk id="6" creationId="{49C7A634-0D70-D32E-B1EC-D0AA1C071851}"/>
          </ac:spMkLst>
        </pc:spChg>
        <pc:spChg chg="del">
          <ac:chgData name="Luiz Augusto Melo Pereira" userId="4bd5ce759a66f368" providerId="LiveId" clId="{B3C24C72-2F98-42F5-8D94-BDDCC90CD373}" dt="2025-01-27T18:52:21.823" v="179" actId="478"/>
          <ac:spMkLst>
            <pc:docMk/>
            <pc:sldMk cId="0" sldId="276"/>
            <ac:spMk id="16" creationId="{00000000-0000-0000-0000-000000000000}"/>
          </ac:spMkLst>
        </pc:spChg>
        <pc:spChg chg="del mod">
          <ac:chgData name="Luiz Augusto Melo Pereira" userId="4bd5ce759a66f368" providerId="LiveId" clId="{B3C24C72-2F98-42F5-8D94-BDDCC90CD373}" dt="2025-01-27T18:52:20.924" v="178" actId="478"/>
          <ac:spMkLst>
            <pc:docMk/>
            <pc:sldMk cId="0" sldId="276"/>
            <ac:spMk id="17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2:37.279" v="183" actId="478"/>
          <ac:spMkLst>
            <pc:docMk/>
            <pc:sldMk cId="0" sldId="276"/>
            <ac:spMk id="18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2:36.429" v="182" actId="478"/>
          <ac:spMkLst>
            <pc:docMk/>
            <pc:sldMk cId="0" sldId="276"/>
            <ac:spMk id="19" creationId="{00000000-0000-0000-0000-000000000000}"/>
          </ac:spMkLst>
        </pc:spChg>
      </pc:sldChg>
      <pc:sldChg chg="addSp delSp modSp mod">
        <pc:chgData name="Luiz Augusto Melo Pereira" userId="4bd5ce759a66f368" providerId="LiveId" clId="{B3C24C72-2F98-42F5-8D94-BDDCC90CD373}" dt="2025-01-27T18:54:42.468" v="231" actId="20577"/>
        <pc:sldMkLst>
          <pc:docMk/>
          <pc:sldMk cId="0" sldId="277"/>
        </pc:sldMkLst>
        <pc:spChg chg="mod">
          <ac:chgData name="Luiz Augusto Melo Pereira" userId="4bd5ce759a66f368" providerId="LiveId" clId="{B3C24C72-2F98-42F5-8D94-BDDCC90CD373}" dt="2025-01-27T18:53:28.915" v="200" actId="1076"/>
          <ac:spMkLst>
            <pc:docMk/>
            <pc:sldMk cId="0" sldId="277"/>
            <ac:spMk id="3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2:58.227" v="186" actId="478"/>
          <ac:spMkLst>
            <pc:docMk/>
            <pc:sldMk cId="0" sldId="277"/>
            <ac:spMk id="7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2:58.227" v="186" actId="478"/>
          <ac:spMkLst>
            <pc:docMk/>
            <pc:sldMk cId="0" sldId="277"/>
            <ac:spMk id="9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2:58.227" v="186" actId="478"/>
          <ac:spMkLst>
            <pc:docMk/>
            <pc:sldMk cId="0" sldId="277"/>
            <ac:spMk id="10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2:58.227" v="186" actId="478"/>
          <ac:spMkLst>
            <pc:docMk/>
            <pc:sldMk cId="0" sldId="277"/>
            <ac:spMk id="11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2:58.227" v="186" actId="478"/>
          <ac:spMkLst>
            <pc:docMk/>
            <pc:sldMk cId="0" sldId="277"/>
            <ac:spMk id="13" creationId="{6466D29E-804E-9987-BDE8-D49ADD01709B}"/>
          </ac:spMkLst>
        </pc:spChg>
        <pc:spChg chg="mod">
          <ac:chgData name="Luiz Augusto Melo Pereira" userId="4bd5ce759a66f368" providerId="LiveId" clId="{B3C24C72-2F98-42F5-8D94-BDDCC90CD373}" dt="2025-01-27T18:52:58.405" v="187"/>
          <ac:spMkLst>
            <pc:docMk/>
            <pc:sldMk cId="0" sldId="277"/>
            <ac:spMk id="14" creationId="{D9017BAF-9795-F760-B04A-0033B67647DD}"/>
          </ac:spMkLst>
        </pc:spChg>
        <pc:spChg chg="mod">
          <ac:chgData name="Luiz Augusto Melo Pereira" userId="4bd5ce759a66f368" providerId="LiveId" clId="{B3C24C72-2F98-42F5-8D94-BDDCC90CD373}" dt="2025-01-27T18:52:58.405" v="187"/>
          <ac:spMkLst>
            <pc:docMk/>
            <pc:sldMk cId="0" sldId="277"/>
            <ac:spMk id="15" creationId="{21F986CC-4FC3-3451-81C5-0872AC8BDCAE}"/>
          </ac:spMkLst>
        </pc:spChg>
        <pc:spChg chg="add mod">
          <ac:chgData name="Luiz Augusto Melo Pereira" userId="4bd5ce759a66f368" providerId="LiveId" clId="{B3C24C72-2F98-42F5-8D94-BDDCC90CD373}" dt="2025-01-27T18:53:01.208" v="188" actId="1076"/>
          <ac:spMkLst>
            <pc:docMk/>
            <pc:sldMk cId="0" sldId="277"/>
            <ac:spMk id="16" creationId="{E251580F-9BE0-96BC-08B4-73B6D67B62C6}"/>
          </ac:spMkLst>
        </pc:spChg>
        <pc:spChg chg="add mod">
          <ac:chgData name="Luiz Augusto Melo Pereira" userId="4bd5ce759a66f368" providerId="LiveId" clId="{B3C24C72-2F98-42F5-8D94-BDDCC90CD373}" dt="2025-01-27T18:53:01.208" v="188" actId="1076"/>
          <ac:spMkLst>
            <pc:docMk/>
            <pc:sldMk cId="0" sldId="277"/>
            <ac:spMk id="17" creationId="{9F1281DE-A322-5EA7-3258-2153D04A226D}"/>
          </ac:spMkLst>
        </pc:spChg>
        <pc:spChg chg="add del mod">
          <ac:chgData name="Luiz Augusto Melo Pereira" userId="4bd5ce759a66f368" providerId="LiveId" clId="{B3C24C72-2F98-42F5-8D94-BDDCC90CD373}" dt="2025-01-27T18:53:05.001" v="189" actId="478"/>
          <ac:spMkLst>
            <pc:docMk/>
            <pc:sldMk cId="0" sldId="277"/>
            <ac:spMk id="18" creationId="{B32C70D7-D52B-ADC3-D60A-629E0F128A8C}"/>
          </ac:spMkLst>
        </pc:spChg>
        <pc:spChg chg="add mod">
          <ac:chgData name="Luiz Augusto Melo Pereira" userId="4bd5ce759a66f368" providerId="LiveId" clId="{B3C24C72-2F98-42F5-8D94-BDDCC90CD373}" dt="2025-01-27T18:54:42.468" v="231" actId="20577"/>
          <ac:spMkLst>
            <pc:docMk/>
            <pc:sldMk cId="0" sldId="277"/>
            <ac:spMk id="19" creationId="{917F36F3-2148-0CE6-1B70-AC65C44F614D}"/>
          </ac:spMkLst>
        </pc:spChg>
        <pc:spChg chg="add mod">
          <ac:chgData name="Luiz Augusto Melo Pereira" userId="4bd5ce759a66f368" providerId="LiveId" clId="{B3C24C72-2F98-42F5-8D94-BDDCC90CD373}" dt="2025-01-27T18:53:01.208" v="188" actId="1076"/>
          <ac:spMkLst>
            <pc:docMk/>
            <pc:sldMk cId="0" sldId="277"/>
            <ac:spMk id="20" creationId="{7E366451-8F19-A05D-0227-08FDFBA04F7F}"/>
          </ac:spMkLst>
        </pc:spChg>
        <pc:grpChg chg="del">
          <ac:chgData name="Luiz Augusto Melo Pereira" userId="4bd5ce759a66f368" providerId="LiveId" clId="{B3C24C72-2F98-42F5-8D94-BDDCC90CD373}" dt="2025-01-27T18:52:58.227" v="186" actId="478"/>
          <ac:grpSpMkLst>
            <pc:docMk/>
            <pc:sldMk cId="0" sldId="277"/>
            <ac:grpSpMk id="4" creationId="{00000000-0000-0000-0000-000000000000}"/>
          </ac:grpSpMkLst>
        </pc:grpChg>
        <pc:grpChg chg="add mod">
          <ac:chgData name="Luiz Augusto Melo Pereira" userId="4bd5ce759a66f368" providerId="LiveId" clId="{B3C24C72-2F98-42F5-8D94-BDDCC90CD373}" dt="2025-01-27T18:53:01.208" v="188" actId="1076"/>
          <ac:grpSpMkLst>
            <pc:docMk/>
            <pc:sldMk cId="0" sldId="277"/>
            <ac:grpSpMk id="8" creationId="{A498D5E1-4AB5-EB0D-AEAE-27038356C266}"/>
          </ac:grpSpMkLst>
        </pc:grpChg>
      </pc:sldChg>
      <pc:sldChg chg="addSp delSp modSp mod">
        <pc:chgData name="Luiz Augusto Melo Pereira" userId="4bd5ce759a66f368" providerId="LiveId" clId="{B3C24C72-2F98-42F5-8D94-BDDCC90CD373}" dt="2025-01-27T18:54:52.307" v="233" actId="1076"/>
        <pc:sldMkLst>
          <pc:docMk/>
          <pc:sldMk cId="0" sldId="278"/>
        </pc:sldMkLst>
        <pc:spChg chg="del">
          <ac:chgData name="Luiz Augusto Melo Pereira" userId="4bd5ce759a66f368" providerId="LiveId" clId="{B3C24C72-2F98-42F5-8D94-BDDCC90CD373}" dt="2025-01-27T18:53:46.591" v="211" actId="478"/>
          <ac:spMkLst>
            <pc:docMk/>
            <pc:sldMk cId="0" sldId="278"/>
            <ac:spMk id="3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54:52.307" v="233" actId="1076"/>
          <ac:spMkLst>
            <pc:docMk/>
            <pc:sldMk cId="0" sldId="278"/>
            <ac:spMk id="4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54:00.045" v="213"/>
          <ac:spMkLst>
            <pc:docMk/>
            <pc:sldMk cId="0" sldId="278"/>
            <ac:spMk id="6" creationId="{735D0628-6F96-97D5-3DED-92348375477A}"/>
          </ac:spMkLst>
        </pc:spChg>
        <pc:spChg chg="mod">
          <ac:chgData name="Luiz Augusto Melo Pereira" userId="4bd5ce759a66f368" providerId="LiveId" clId="{B3C24C72-2F98-42F5-8D94-BDDCC90CD373}" dt="2025-01-27T18:54:00.045" v="213"/>
          <ac:spMkLst>
            <pc:docMk/>
            <pc:sldMk cId="0" sldId="278"/>
            <ac:spMk id="7" creationId="{1095FD60-3C27-11F8-5997-156A442770B9}"/>
          </ac:spMkLst>
        </pc:spChg>
        <pc:spChg chg="add mod">
          <ac:chgData name="Luiz Augusto Melo Pereira" userId="4bd5ce759a66f368" providerId="LiveId" clId="{B3C24C72-2F98-42F5-8D94-BDDCC90CD373}" dt="2025-01-27T18:54:00.045" v="213"/>
          <ac:spMkLst>
            <pc:docMk/>
            <pc:sldMk cId="0" sldId="278"/>
            <ac:spMk id="8" creationId="{DA32F7F7-CFC2-20E5-3E1A-25D29C86002E}"/>
          </ac:spMkLst>
        </pc:spChg>
        <pc:spChg chg="add mod">
          <ac:chgData name="Luiz Augusto Melo Pereira" userId="4bd5ce759a66f368" providerId="LiveId" clId="{B3C24C72-2F98-42F5-8D94-BDDCC90CD373}" dt="2025-01-27T18:54:00.045" v="213"/>
          <ac:spMkLst>
            <pc:docMk/>
            <pc:sldMk cId="0" sldId="278"/>
            <ac:spMk id="9" creationId="{21ED6CD5-F0CF-1D08-60F4-E5B5574EB082}"/>
          </ac:spMkLst>
        </pc:spChg>
        <pc:spChg chg="add mod">
          <ac:chgData name="Luiz Augusto Melo Pereira" userId="4bd5ce759a66f368" providerId="LiveId" clId="{B3C24C72-2F98-42F5-8D94-BDDCC90CD373}" dt="2025-01-27T18:54:00.045" v="213"/>
          <ac:spMkLst>
            <pc:docMk/>
            <pc:sldMk cId="0" sldId="278"/>
            <ac:spMk id="10" creationId="{07EBF90C-2E69-1B8B-C4E3-6EF94269FF7E}"/>
          </ac:spMkLst>
        </pc:spChg>
        <pc:spChg chg="add mod">
          <ac:chgData name="Luiz Augusto Melo Pereira" userId="4bd5ce759a66f368" providerId="LiveId" clId="{B3C24C72-2F98-42F5-8D94-BDDCC90CD373}" dt="2025-01-27T18:54:00.045" v="213"/>
          <ac:spMkLst>
            <pc:docMk/>
            <pc:sldMk cId="0" sldId="278"/>
            <ac:spMk id="11" creationId="{C2A58317-01D5-5310-3FEA-D7FAD831E26E}"/>
          </ac:spMkLst>
        </pc:spChg>
        <pc:spChg chg="del">
          <ac:chgData name="Luiz Augusto Melo Pereira" userId="4bd5ce759a66f368" providerId="LiveId" clId="{B3C24C72-2F98-42F5-8D94-BDDCC90CD373}" dt="2025-01-27T18:54:01.880" v="214" actId="478"/>
          <ac:spMkLst>
            <pc:docMk/>
            <pc:sldMk cId="0" sldId="278"/>
            <ac:spMk id="17" creationId="{687B51ED-986B-E4AB-4E42-25A22BB87C0F}"/>
          </ac:spMkLst>
        </pc:spChg>
        <pc:spChg chg="del">
          <ac:chgData name="Luiz Augusto Melo Pereira" userId="4bd5ce759a66f368" providerId="LiveId" clId="{B3C24C72-2F98-42F5-8D94-BDDCC90CD373}" dt="2025-01-27T18:54:01.880" v="214" actId="478"/>
          <ac:spMkLst>
            <pc:docMk/>
            <pc:sldMk cId="0" sldId="278"/>
            <ac:spMk id="18" creationId="{02BCA001-3824-4074-F99E-FF1C129FF4A7}"/>
          </ac:spMkLst>
        </pc:spChg>
        <pc:spChg chg="del">
          <ac:chgData name="Luiz Augusto Melo Pereira" userId="4bd5ce759a66f368" providerId="LiveId" clId="{B3C24C72-2F98-42F5-8D94-BDDCC90CD373}" dt="2025-01-27T18:54:01.880" v="214" actId="478"/>
          <ac:spMkLst>
            <pc:docMk/>
            <pc:sldMk cId="0" sldId="278"/>
            <ac:spMk id="19" creationId="{8B9E4F93-7460-C74C-41A8-56A7DDFBD73B}"/>
          </ac:spMkLst>
        </pc:spChg>
        <pc:spChg chg="del">
          <ac:chgData name="Luiz Augusto Melo Pereira" userId="4bd5ce759a66f368" providerId="LiveId" clId="{B3C24C72-2F98-42F5-8D94-BDDCC90CD373}" dt="2025-01-27T18:54:01.880" v="214" actId="478"/>
          <ac:spMkLst>
            <pc:docMk/>
            <pc:sldMk cId="0" sldId="278"/>
            <ac:spMk id="20" creationId="{CA82B6B0-2D24-5DD3-BFB0-452BBCA7B183}"/>
          </ac:spMkLst>
        </pc:spChg>
        <pc:spChg chg="del">
          <ac:chgData name="Luiz Augusto Melo Pereira" userId="4bd5ce759a66f368" providerId="LiveId" clId="{B3C24C72-2F98-42F5-8D94-BDDCC90CD373}" dt="2025-01-27T18:54:01.880" v="214" actId="478"/>
          <ac:spMkLst>
            <pc:docMk/>
            <pc:sldMk cId="0" sldId="278"/>
            <ac:spMk id="21" creationId="{902C7ABF-0141-F52C-4A93-133D7C30AC8C}"/>
          </ac:spMkLst>
        </pc:spChg>
        <pc:spChg chg="mod">
          <ac:chgData name="Luiz Augusto Melo Pereira" userId="4bd5ce759a66f368" providerId="LiveId" clId="{B3C24C72-2F98-42F5-8D94-BDDCC90CD373}" dt="2025-01-27T18:54:02.631" v="215"/>
          <ac:spMkLst>
            <pc:docMk/>
            <pc:sldMk cId="0" sldId="278"/>
            <ac:spMk id="22" creationId="{05BAE0D7-879F-EB91-6DFA-35C5A6699B91}"/>
          </ac:spMkLst>
        </pc:spChg>
        <pc:spChg chg="mod">
          <ac:chgData name="Luiz Augusto Melo Pereira" userId="4bd5ce759a66f368" providerId="LiveId" clId="{B3C24C72-2F98-42F5-8D94-BDDCC90CD373}" dt="2025-01-27T18:54:02.631" v="215"/>
          <ac:spMkLst>
            <pc:docMk/>
            <pc:sldMk cId="0" sldId="278"/>
            <ac:spMk id="23" creationId="{924FD7E3-1FE8-B2CB-133E-CB5D396B8881}"/>
          </ac:spMkLst>
        </pc:spChg>
        <pc:spChg chg="add mod">
          <ac:chgData name="Luiz Augusto Melo Pereira" userId="4bd5ce759a66f368" providerId="LiveId" clId="{B3C24C72-2F98-42F5-8D94-BDDCC90CD373}" dt="2025-01-27T18:54:02.631" v="215"/>
          <ac:spMkLst>
            <pc:docMk/>
            <pc:sldMk cId="0" sldId="278"/>
            <ac:spMk id="24" creationId="{19425307-0EC2-5934-6443-85AC28CECB24}"/>
          </ac:spMkLst>
        </pc:spChg>
        <pc:spChg chg="add mod">
          <ac:chgData name="Luiz Augusto Melo Pereira" userId="4bd5ce759a66f368" providerId="LiveId" clId="{B3C24C72-2F98-42F5-8D94-BDDCC90CD373}" dt="2025-01-27T18:54:02.631" v="215"/>
          <ac:spMkLst>
            <pc:docMk/>
            <pc:sldMk cId="0" sldId="278"/>
            <ac:spMk id="25" creationId="{E2902F81-49CD-7296-AB47-EC697E4B4A82}"/>
          </ac:spMkLst>
        </pc:spChg>
        <pc:spChg chg="add mod">
          <ac:chgData name="Luiz Augusto Melo Pereira" userId="4bd5ce759a66f368" providerId="LiveId" clId="{B3C24C72-2F98-42F5-8D94-BDDCC90CD373}" dt="2025-01-27T18:54:30.697" v="223" actId="20577"/>
          <ac:spMkLst>
            <pc:docMk/>
            <pc:sldMk cId="0" sldId="278"/>
            <ac:spMk id="26" creationId="{60684E47-DD4D-8030-CE26-D4442849B19C}"/>
          </ac:spMkLst>
        </pc:spChg>
        <pc:spChg chg="add mod">
          <ac:chgData name="Luiz Augusto Melo Pereira" userId="4bd5ce759a66f368" providerId="LiveId" clId="{B3C24C72-2F98-42F5-8D94-BDDCC90CD373}" dt="2025-01-27T18:54:02.631" v="215"/>
          <ac:spMkLst>
            <pc:docMk/>
            <pc:sldMk cId="0" sldId="278"/>
            <ac:spMk id="27" creationId="{24219768-94C8-6773-D44C-D0D8193AAE81}"/>
          </ac:spMkLst>
        </pc:spChg>
        <pc:grpChg chg="add mod">
          <ac:chgData name="Luiz Augusto Melo Pereira" userId="4bd5ce759a66f368" providerId="LiveId" clId="{B3C24C72-2F98-42F5-8D94-BDDCC90CD373}" dt="2025-01-27T18:54:00.045" v="213"/>
          <ac:grpSpMkLst>
            <pc:docMk/>
            <pc:sldMk cId="0" sldId="278"/>
            <ac:grpSpMk id="5" creationId="{AC42A7C0-4F06-4931-9E1F-239B0CD12768}"/>
          </ac:grpSpMkLst>
        </pc:grpChg>
        <pc:grpChg chg="add mod">
          <ac:chgData name="Luiz Augusto Melo Pereira" userId="4bd5ce759a66f368" providerId="LiveId" clId="{B3C24C72-2F98-42F5-8D94-BDDCC90CD373}" dt="2025-01-27T18:54:02.631" v="215"/>
          <ac:grpSpMkLst>
            <pc:docMk/>
            <pc:sldMk cId="0" sldId="278"/>
            <ac:grpSpMk id="12" creationId="{86A9547E-D757-9655-0253-EA436DA9E218}"/>
          </ac:grpSpMkLst>
        </pc:grpChg>
        <pc:grpChg chg="del">
          <ac:chgData name="Luiz Augusto Melo Pereira" userId="4bd5ce759a66f368" providerId="LiveId" clId="{B3C24C72-2F98-42F5-8D94-BDDCC90CD373}" dt="2025-01-27T18:54:01.880" v="214" actId="478"/>
          <ac:grpSpMkLst>
            <pc:docMk/>
            <pc:sldMk cId="0" sldId="278"/>
            <ac:grpSpMk id="14" creationId="{0B254059-D8B7-B5A2-B791-3A22206BEDA2}"/>
          </ac:grpSpMkLst>
        </pc:grpChg>
      </pc:sldChg>
      <pc:sldChg chg="delSp modSp mod">
        <pc:chgData name="Luiz Augusto Melo Pereira" userId="4bd5ce759a66f368" providerId="LiveId" clId="{B3C24C72-2F98-42F5-8D94-BDDCC90CD373}" dt="2025-01-27T18:55:13.780" v="244" actId="1076"/>
        <pc:sldMkLst>
          <pc:docMk/>
          <pc:sldMk cId="0" sldId="279"/>
        </pc:sldMkLst>
        <pc:spChg chg="del">
          <ac:chgData name="Luiz Augusto Melo Pereira" userId="4bd5ce759a66f368" providerId="LiveId" clId="{B3C24C72-2F98-42F5-8D94-BDDCC90CD373}" dt="2025-01-27T18:55:09.726" v="243" actId="478"/>
          <ac:spMkLst>
            <pc:docMk/>
            <pc:sldMk cId="0" sldId="279"/>
            <ac:spMk id="3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5:09.726" v="243" actId="478"/>
          <ac:spMkLst>
            <pc:docMk/>
            <pc:sldMk cId="0" sldId="279"/>
            <ac:spMk id="4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55:13.780" v="244" actId="1076"/>
          <ac:spMkLst>
            <pc:docMk/>
            <pc:sldMk cId="0" sldId="279"/>
            <ac:spMk id="5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55:22.823" v="249" actId="1076"/>
        <pc:sldMkLst>
          <pc:docMk/>
          <pc:sldMk cId="0" sldId="280"/>
        </pc:sldMkLst>
        <pc:spChg chg="mod">
          <ac:chgData name="Luiz Augusto Melo Pereira" userId="4bd5ce759a66f368" providerId="LiveId" clId="{B3C24C72-2F98-42F5-8D94-BDDCC90CD373}" dt="2025-01-27T18:55:18.510" v="247" actId="1076"/>
          <ac:spMkLst>
            <pc:docMk/>
            <pc:sldMk cId="0" sldId="280"/>
            <ac:spMk id="3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55:22.823" v="249" actId="1076"/>
          <ac:spMkLst>
            <pc:docMk/>
            <pc:sldMk cId="0" sldId="280"/>
            <ac:spMk id="9" creationId="{00000000-0000-0000-0000-000000000000}"/>
          </ac:spMkLst>
        </pc:spChg>
      </pc:sldChg>
      <pc:sldChg chg="delSp modSp mod">
        <pc:chgData name="Luiz Augusto Melo Pereira" userId="4bd5ce759a66f368" providerId="LiveId" clId="{B3C24C72-2F98-42F5-8D94-BDDCC90CD373}" dt="2025-01-27T18:56:06.980" v="267" actId="20577"/>
        <pc:sldMkLst>
          <pc:docMk/>
          <pc:sldMk cId="0" sldId="281"/>
        </pc:sldMkLst>
        <pc:spChg chg="del">
          <ac:chgData name="Luiz Augusto Melo Pereira" userId="4bd5ce759a66f368" providerId="LiveId" clId="{B3C24C72-2F98-42F5-8D94-BDDCC90CD373}" dt="2025-01-27T18:55:35.626" v="256" actId="478"/>
          <ac:spMkLst>
            <pc:docMk/>
            <pc:sldMk cId="0" sldId="281"/>
            <ac:spMk id="3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55:39.984" v="257" actId="1076"/>
          <ac:spMkLst>
            <pc:docMk/>
            <pc:sldMk cId="0" sldId="281"/>
            <ac:spMk id="4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5:56.316" v="263" actId="478"/>
          <ac:spMkLst>
            <pc:docMk/>
            <pc:sldMk cId="0" sldId="281"/>
            <ac:spMk id="25" creationId="{46B1DA41-824F-1C34-7AE6-2D4707E87BD4}"/>
          </ac:spMkLst>
        </pc:spChg>
        <pc:spChg chg="mod">
          <ac:chgData name="Luiz Augusto Melo Pereira" userId="4bd5ce759a66f368" providerId="LiveId" clId="{B3C24C72-2F98-42F5-8D94-BDDCC90CD373}" dt="2025-01-27T18:56:06.980" v="267" actId="20577"/>
          <ac:spMkLst>
            <pc:docMk/>
            <pc:sldMk cId="0" sldId="281"/>
            <ac:spMk id="26" creationId="{DE9772BA-3195-C981-CAAA-5E942F6F9B2A}"/>
          </ac:spMkLst>
        </pc:spChg>
      </pc:sldChg>
      <pc:sldChg chg="delSp modSp mod">
        <pc:chgData name="Luiz Augusto Melo Pereira" userId="4bd5ce759a66f368" providerId="LiveId" clId="{B3C24C72-2F98-42F5-8D94-BDDCC90CD373}" dt="2025-01-27T18:57:40.021" v="308" actId="1076"/>
        <pc:sldMkLst>
          <pc:docMk/>
          <pc:sldMk cId="0" sldId="283"/>
        </pc:sldMkLst>
        <pc:spChg chg="del">
          <ac:chgData name="Luiz Augusto Melo Pereira" userId="4bd5ce759a66f368" providerId="LiveId" clId="{B3C24C72-2F98-42F5-8D94-BDDCC90CD373}" dt="2025-01-27T18:56:43.358" v="282" actId="478"/>
          <ac:spMkLst>
            <pc:docMk/>
            <pc:sldMk cId="0" sldId="283"/>
            <ac:spMk id="3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57:12.317" v="299" actId="1076"/>
          <ac:spMkLst>
            <pc:docMk/>
            <pc:sldMk cId="0" sldId="283"/>
            <ac:spMk id="4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7:09.245" v="296" actId="478"/>
          <ac:spMkLst>
            <pc:docMk/>
            <pc:sldMk cId="0" sldId="283"/>
            <ac:spMk id="5" creationId="{00000000-0000-0000-0000-000000000000}"/>
          </ac:spMkLst>
        </pc:spChg>
        <pc:spChg chg="del mod">
          <ac:chgData name="Luiz Augusto Melo Pereira" userId="4bd5ce759a66f368" providerId="LiveId" clId="{B3C24C72-2F98-42F5-8D94-BDDCC90CD373}" dt="2025-01-27T18:57:09.245" v="298"/>
          <ac:spMkLst>
            <pc:docMk/>
            <pc:sldMk cId="0" sldId="283"/>
            <ac:spMk id="6" creationId="{00000000-0000-0000-0000-000000000000}"/>
          </ac:spMkLst>
        </pc:spChg>
        <pc:spChg chg="mod">
          <ac:chgData name="Luiz Augusto Melo Pereira" userId="4bd5ce759a66f368" providerId="LiveId" clId="{B3C24C72-2F98-42F5-8D94-BDDCC90CD373}" dt="2025-01-27T18:57:14.427" v="301" actId="1076"/>
          <ac:spMkLst>
            <pc:docMk/>
            <pc:sldMk cId="0" sldId="283"/>
            <ac:spMk id="7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7:37.641" v="307" actId="478"/>
          <ac:spMkLst>
            <pc:docMk/>
            <pc:sldMk cId="0" sldId="283"/>
            <ac:spMk id="19" creationId="{5EB3A34B-F8C2-C047-995B-B14CF78C6C09}"/>
          </ac:spMkLst>
        </pc:spChg>
        <pc:spChg chg="mod">
          <ac:chgData name="Luiz Augusto Melo Pereira" userId="4bd5ce759a66f368" providerId="LiveId" clId="{B3C24C72-2F98-42F5-8D94-BDDCC90CD373}" dt="2025-01-27T18:57:40.021" v="308" actId="1076"/>
          <ac:spMkLst>
            <pc:docMk/>
            <pc:sldMk cId="0" sldId="283"/>
            <ac:spMk id="20" creationId="{074824F4-15A8-9D53-126E-769C12DFD228}"/>
          </ac:spMkLst>
        </pc:spChg>
      </pc:sldChg>
      <pc:sldChg chg="modSp mod">
        <pc:chgData name="Luiz Augusto Melo Pereira" userId="4bd5ce759a66f368" providerId="LiveId" clId="{B3C24C72-2F98-42F5-8D94-BDDCC90CD373}" dt="2025-01-27T18:58:20.242" v="324" actId="1036"/>
        <pc:sldMkLst>
          <pc:docMk/>
          <pc:sldMk cId="0" sldId="284"/>
        </pc:sldMkLst>
        <pc:spChg chg="mod">
          <ac:chgData name="Luiz Augusto Melo Pereira" userId="4bd5ce759a66f368" providerId="LiveId" clId="{B3C24C72-2F98-42F5-8D94-BDDCC90CD373}" dt="2025-01-27T18:58:20.242" v="324" actId="1036"/>
          <ac:spMkLst>
            <pc:docMk/>
            <pc:sldMk cId="0" sldId="284"/>
            <ac:spMk id="5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58:24.325" v="326" actId="1076"/>
        <pc:sldMkLst>
          <pc:docMk/>
          <pc:sldMk cId="0" sldId="285"/>
        </pc:sldMkLst>
        <pc:spChg chg="mod">
          <ac:chgData name="Luiz Augusto Melo Pereira" userId="4bd5ce759a66f368" providerId="LiveId" clId="{B3C24C72-2F98-42F5-8D94-BDDCC90CD373}" dt="2025-01-27T18:58:24.325" v="326" actId="1076"/>
          <ac:spMkLst>
            <pc:docMk/>
            <pc:sldMk cId="0" sldId="285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58:29.012" v="328" actId="1076"/>
        <pc:sldMkLst>
          <pc:docMk/>
          <pc:sldMk cId="0" sldId="286"/>
        </pc:sldMkLst>
        <pc:spChg chg="mod">
          <ac:chgData name="Luiz Augusto Melo Pereira" userId="4bd5ce759a66f368" providerId="LiveId" clId="{B3C24C72-2F98-42F5-8D94-BDDCC90CD373}" dt="2025-01-27T18:58:29.012" v="328" actId="1076"/>
          <ac:spMkLst>
            <pc:docMk/>
            <pc:sldMk cId="0" sldId="286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B3C24C72-2F98-42F5-8D94-BDDCC90CD373}" dt="2025-01-27T18:58:31.994" v="330" actId="1076"/>
        <pc:sldMkLst>
          <pc:docMk/>
          <pc:sldMk cId="0" sldId="287"/>
        </pc:sldMkLst>
        <pc:spChg chg="mod">
          <ac:chgData name="Luiz Augusto Melo Pereira" userId="4bd5ce759a66f368" providerId="LiveId" clId="{B3C24C72-2F98-42F5-8D94-BDDCC90CD373}" dt="2025-01-27T18:58:31.994" v="330" actId="1076"/>
          <ac:spMkLst>
            <pc:docMk/>
            <pc:sldMk cId="0" sldId="287"/>
            <ac:spMk id="4" creationId="{00000000-0000-0000-0000-000000000000}"/>
          </ac:spMkLst>
        </pc:spChg>
      </pc:sldChg>
      <pc:sldChg chg="delSp modSp mod">
        <pc:chgData name="Luiz Augusto Melo Pereira" userId="4bd5ce759a66f368" providerId="LiveId" clId="{B3C24C72-2F98-42F5-8D94-BDDCC90CD373}" dt="2025-01-27T18:59:06.628" v="344" actId="1076"/>
        <pc:sldMkLst>
          <pc:docMk/>
          <pc:sldMk cId="0" sldId="288"/>
        </pc:sldMkLst>
        <pc:spChg chg="mod">
          <ac:chgData name="Luiz Augusto Melo Pereira" userId="4bd5ce759a66f368" providerId="LiveId" clId="{B3C24C72-2F98-42F5-8D94-BDDCC90CD373}" dt="2025-01-27T18:58:34.781" v="332" actId="1076"/>
          <ac:spMkLst>
            <pc:docMk/>
            <pc:sldMk cId="0" sldId="288"/>
            <ac:spMk id="3" creationId="{00000000-0000-0000-0000-000000000000}"/>
          </ac:spMkLst>
        </pc:spChg>
        <pc:spChg chg="del">
          <ac:chgData name="Luiz Augusto Melo Pereira" userId="4bd5ce759a66f368" providerId="LiveId" clId="{B3C24C72-2F98-42F5-8D94-BDDCC90CD373}" dt="2025-01-27T18:58:53.056" v="339" actId="478"/>
          <ac:spMkLst>
            <pc:docMk/>
            <pc:sldMk cId="0" sldId="288"/>
            <ac:spMk id="17" creationId="{F6B8B987-0050-283C-E646-5E7BAEA5BC7E}"/>
          </ac:spMkLst>
        </pc:spChg>
        <pc:spChg chg="mod">
          <ac:chgData name="Luiz Augusto Melo Pereira" userId="4bd5ce759a66f368" providerId="LiveId" clId="{B3C24C72-2F98-42F5-8D94-BDDCC90CD373}" dt="2025-01-27T18:59:06.628" v="344" actId="1076"/>
          <ac:spMkLst>
            <pc:docMk/>
            <pc:sldMk cId="0" sldId="288"/>
            <ac:spMk id="18" creationId="{1F22E74F-9D7B-7AFA-9374-420F7C8CD9C6}"/>
          </ac:spMkLst>
        </pc:spChg>
      </pc:sldChg>
      <pc:sldChg chg="modSp mod">
        <pc:chgData name="Luiz Augusto Melo Pereira" userId="4bd5ce759a66f368" providerId="LiveId" clId="{B3C24C72-2F98-42F5-8D94-BDDCC90CD373}" dt="2025-01-27T18:59:13.567" v="346" actId="1076"/>
        <pc:sldMkLst>
          <pc:docMk/>
          <pc:sldMk cId="0" sldId="289"/>
        </pc:sldMkLst>
        <pc:spChg chg="mod">
          <ac:chgData name="Luiz Augusto Melo Pereira" userId="4bd5ce759a66f368" providerId="LiveId" clId="{B3C24C72-2F98-42F5-8D94-BDDCC90CD373}" dt="2025-01-27T18:59:13.567" v="346" actId="1076"/>
          <ac:spMkLst>
            <pc:docMk/>
            <pc:sldMk cId="0" sldId="289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B3C24C72-2F98-42F5-8D94-BDDCC90CD373}" dt="2025-01-27T19:02:44.295" v="494" actId="552"/>
        <pc:sldMkLst>
          <pc:docMk/>
          <pc:sldMk cId="0" sldId="290"/>
        </pc:sldMkLst>
        <pc:spChg chg="del mod">
          <ac:chgData name="Luiz Augusto Melo Pereira" userId="4bd5ce759a66f368" providerId="LiveId" clId="{B3C24C72-2F98-42F5-8D94-BDDCC90CD373}" dt="2025-01-27T19:00:33.028" v="380" actId="478"/>
          <ac:spMkLst>
            <pc:docMk/>
            <pc:sldMk cId="0" sldId="290"/>
            <ac:spMk id="3" creationId="{00000000-0000-0000-0000-000000000000}"/>
          </ac:spMkLst>
        </pc:spChg>
        <pc:spChg chg="add del mod">
          <ac:chgData name="Luiz Augusto Melo Pereira" userId="4bd5ce759a66f368" providerId="LiveId" clId="{B3C24C72-2F98-42F5-8D94-BDDCC90CD373}" dt="2025-01-27T18:59:36.118" v="351" actId="478"/>
          <ac:spMkLst>
            <pc:docMk/>
            <pc:sldMk cId="0" sldId="290"/>
            <ac:spMk id="7" creationId="{B22B3624-7CE4-18DE-DB2E-DA85658AE31D}"/>
          </ac:spMkLst>
        </pc:spChg>
        <pc:spChg chg="add mod">
          <ac:chgData name="Luiz Augusto Melo Pereira" userId="4bd5ce759a66f368" providerId="LiveId" clId="{B3C24C72-2F98-42F5-8D94-BDDCC90CD373}" dt="2025-01-27T19:02:44.295" v="494" actId="552"/>
          <ac:spMkLst>
            <pc:docMk/>
            <pc:sldMk cId="0" sldId="290"/>
            <ac:spMk id="8" creationId="{D17767B6-458F-F357-4BCE-158FE368DE0B}"/>
          </ac:spMkLst>
        </pc:spChg>
        <pc:spChg chg="add mod">
          <ac:chgData name="Luiz Augusto Melo Pereira" userId="4bd5ce759a66f368" providerId="LiveId" clId="{B3C24C72-2F98-42F5-8D94-BDDCC90CD373}" dt="2025-01-27T19:02:44.295" v="494" actId="552"/>
          <ac:spMkLst>
            <pc:docMk/>
            <pc:sldMk cId="0" sldId="290"/>
            <ac:spMk id="9" creationId="{4BB0FF4A-EAC6-6BBB-E96B-37C7D2DE9F8B}"/>
          </ac:spMkLst>
        </pc:spChg>
        <pc:spChg chg="add mod">
          <ac:chgData name="Luiz Augusto Melo Pereira" userId="4bd5ce759a66f368" providerId="LiveId" clId="{B3C24C72-2F98-42F5-8D94-BDDCC90CD373}" dt="2025-01-27T19:02:44.295" v="494" actId="552"/>
          <ac:spMkLst>
            <pc:docMk/>
            <pc:sldMk cId="0" sldId="290"/>
            <ac:spMk id="10" creationId="{8B6FA728-FD86-E25C-F54C-7A64C731236B}"/>
          </ac:spMkLst>
        </pc:spChg>
        <pc:spChg chg="add del">
          <ac:chgData name="Luiz Augusto Melo Pereira" userId="4bd5ce759a66f368" providerId="LiveId" clId="{B3C24C72-2F98-42F5-8D94-BDDCC90CD373}" dt="2025-01-27T19:00:38.590" v="384" actId="22"/>
          <ac:spMkLst>
            <pc:docMk/>
            <pc:sldMk cId="0" sldId="290"/>
            <ac:spMk id="12" creationId="{DA831209-C300-3C53-8E14-A061F7854557}"/>
          </ac:spMkLst>
        </pc:spChg>
        <pc:spChg chg="add del mod">
          <ac:chgData name="Luiz Augusto Melo Pereira" userId="4bd5ce759a66f368" providerId="LiveId" clId="{B3C24C72-2F98-42F5-8D94-BDDCC90CD373}" dt="2025-01-27T19:01:15.773" v="432" actId="478"/>
          <ac:spMkLst>
            <pc:docMk/>
            <pc:sldMk cId="0" sldId="290"/>
            <ac:spMk id="14" creationId="{430E5B7B-CC52-9F92-B16A-03104535CE29}"/>
          </ac:spMkLst>
        </pc:spChg>
        <pc:spChg chg="add mod">
          <ac:chgData name="Luiz Augusto Melo Pereira" userId="4bd5ce759a66f368" providerId="LiveId" clId="{B3C24C72-2F98-42F5-8D94-BDDCC90CD373}" dt="2025-01-27T19:02:44.295" v="494" actId="552"/>
          <ac:spMkLst>
            <pc:docMk/>
            <pc:sldMk cId="0" sldId="290"/>
            <ac:spMk id="15" creationId="{387A6A9A-6F52-BC0A-71B7-D0EE5BFB64AD}"/>
          </ac:spMkLst>
        </pc:spChg>
      </pc:sldChg>
      <pc:sldChg chg="modSp mod">
        <pc:chgData name="Luiz Augusto Melo Pereira" userId="4bd5ce759a66f368" providerId="LiveId" clId="{B3C24C72-2F98-42F5-8D94-BDDCC90CD373}" dt="2025-01-27T19:03:33.910" v="496" actId="1076"/>
        <pc:sldMkLst>
          <pc:docMk/>
          <pc:sldMk cId="0" sldId="295"/>
        </pc:sldMkLst>
        <pc:spChg chg="mod">
          <ac:chgData name="Luiz Augusto Melo Pereira" userId="4bd5ce759a66f368" providerId="LiveId" clId="{B3C24C72-2F98-42F5-8D94-BDDCC90CD373}" dt="2025-01-27T19:03:33.910" v="496" actId="1076"/>
          <ac:spMkLst>
            <pc:docMk/>
            <pc:sldMk cId="0" sldId="295"/>
            <ac:spMk id="61" creationId="{D85F348F-861B-A899-96D7-0F52DC3034C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279019"/>
            <a:ext cx="10459720" cy="1027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8447"/>
            <a:ext cx="11020425" cy="4681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8.png"/><Relationship Id="rId21" Type="http://schemas.openxmlformats.org/officeDocument/2006/relationships/image" Target="../media/image33.png"/><Relationship Id="rId7" Type="http://schemas.openxmlformats.org/officeDocument/2006/relationships/image" Target="../media/image190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7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30.png"/><Relationship Id="rId5" Type="http://schemas.openxmlformats.org/officeDocument/2006/relationships/image" Target="../media/image19.png"/><Relationship Id="rId15" Type="http://schemas.openxmlformats.org/officeDocument/2006/relationships/image" Target="../media/image27.png"/><Relationship Id="rId10" Type="http://schemas.openxmlformats.org/officeDocument/2006/relationships/image" Target="../media/image23.png"/><Relationship Id="rId19" Type="http://schemas.openxmlformats.org/officeDocument/2006/relationships/image" Target="../media/image31.png"/><Relationship Id="rId4" Type="http://schemas.openxmlformats.org/officeDocument/2006/relationships/image" Target="../media/image180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5" Type="http://schemas.openxmlformats.org/officeDocument/2006/relationships/image" Target="../media/image430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0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0.png"/><Relationship Id="rId4" Type="http://schemas.openxmlformats.org/officeDocument/2006/relationships/image" Target="../media/image37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github/luiz10ml/tp555-ml/blob/main/exemplos/neural_networks/perceptron/perceptron.ipynb" TargetMode="External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iz10ml/tp555-ml/blob/main/listas/TP555%20-%20Lista%20de%20Exerc%C3%ADcios%20%2310.pdf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.jpg"/><Relationship Id="rId5" Type="http://schemas.openxmlformats.org/officeDocument/2006/relationships/image" Target="../media/image63.jpg"/><Relationship Id="rId4" Type="http://schemas.openxmlformats.org/officeDocument/2006/relationships/image" Target="../media/image62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png"/><Relationship Id="rId11" Type="http://schemas.openxmlformats.org/officeDocument/2006/relationships/image" Target="../media/image73.png"/><Relationship Id="rId5" Type="http://schemas.openxmlformats.org/officeDocument/2006/relationships/image" Target="../media/image68.png"/><Relationship Id="rId10" Type="http://schemas.openxmlformats.org/officeDocument/2006/relationships/image" Target="../media/image72.png"/><Relationship Id="rId4" Type="http://schemas.openxmlformats.org/officeDocument/2006/relationships/image" Target="../media/image67.png"/><Relationship Id="rId9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5736" y="1252854"/>
            <a:ext cx="8784590" cy="218122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608330" marR="605155" algn="ctr">
              <a:lnSpc>
                <a:spcPts val="5290"/>
              </a:lnSpc>
              <a:spcBef>
                <a:spcPts val="760"/>
              </a:spcBef>
            </a:pPr>
            <a:r>
              <a:rPr sz="4900" dirty="0"/>
              <a:t>TP555</a:t>
            </a:r>
            <a:r>
              <a:rPr sz="4900" spc="-125" dirty="0"/>
              <a:t> </a:t>
            </a:r>
            <a:r>
              <a:rPr sz="4900" dirty="0"/>
              <a:t>-</a:t>
            </a:r>
            <a:r>
              <a:rPr sz="4900" spc="-145" dirty="0"/>
              <a:t> </a:t>
            </a:r>
            <a:r>
              <a:rPr sz="4900" spc="-10" dirty="0"/>
              <a:t>Inteligência</a:t>
            </a:r>
            <a:r>
              <a:rPr sz="4900" spc="-80" dirty="0"/>
              <a:t> </a:t>
            </a:r>
            <a:r>
              <a:rPr sz="4900" dirty="0"/>
              <a:t>Artificial</a:t>
            </a:r>
            <a:r>
              <a:rPr sz="4900" spc="-110" dirty="0"/>
              <a:t> </a:t>
            </a:r>
            <a:r>
              <a:rPr sz="4900" spc="-50" dirty="0"/>
              <a:t>e </a:t>
            </a:r>
            <a:r>
              <a:rPr sz="4900" dirty="0"/>
              <a:t>Machine</a:t>
            </a:r>
            <a:r>
              <a:rPr sz="4900" spc="-150" dirty="0"/>
              <a:t> </a:t>
            </a:r>
            <a:r>
              <a:rPr sz="4900" spc="-10" dirty="0"/>
              <a:t>Learning:</a:t>
            </a:r>
            <a:endParaRPr sz="4900"/>
          </a:p>
          <a:p>
            <a:pPr algn="ctr">
              <a:lnSpc>
                <a:spcPts val="5725"/>
              </a:lnSpc>
            </a:pPr>
            <a:r>
              <a:rPr sz="5400" i="1" spc="-25" dirty="0">
                <a:latin typeface="Calibri Light"/>
                <a:cs typeface="Calibri Light"/>
              </a:rPr>
              <a:t>Redes</a:t>
            </a:r>
            <a:r>
              <a:rPr sz="5400" i="1" spc="-285" dirty="0">
                <a:latin typeface="Calibri Light"/>
                <a:cs typeface="Calibri Light"/>
              </a:rPr>
              <a:t> </a:t>
            </a:r>
            <a:r>
              <a:rPr sz="5400" i="1" spc="-10" dirty="0">
                <a:latin typeface="Calibri Light"/>
                <a:cs typeface="Calibri Light"/>
              </a:rPr>
              <a:t>Neurais</a:t>
            </a:r>
            <a:r>
              <a:rPr sz="5400" i="1" spc="-265" dirty="0">
                <a:latin typeface="Calibri Light"/>
                <a:cs typeface="Calibri Light"/>
              </a:rPr>
              <a:t> </a:t>
            </a:r>
            <a:r>
              <a:rPr sz="5400" i="1" spc="-10" dirty="0">
                <a:latin typeface="Calibri Light"/>
                <a:cs typeface="Calibri Light"/>
              </a:rPr>
              <a:t>Artificiais</a:t>
            </a:r>
            <a:r>
              <a:rPr sz="5400" i="1" spc="-265" dirty="0">
                <a:latin typeface="Calibri Light"/>
                <a:cs typeface="Calibri Light"/>
              </a:rPr>
              <a:t> </a:t>
            </a:r>
            <a:r>
              <a:rPr sz="5400" i="1" spc="-40" dirty="0">
                <a:latin typeface="Calibri Light"/>
                <a:cs typeface="Calibri Light"/>
              </a:rPr>
              <a:t>(Parte</a:t>
            </a:r>
            <a:r>
              <a:rPr sz="5400" i="1" spc="-265" dirty="0">
                <a:latin typeface="Calibri Light"/>
                <a:cs typeface="Calibri Light"/>
              </a:rPr>
              <a:t> </a:t>
            </a:r>
            <a:r>
              <a:rPr sz="5400" i="1" spc="-25" dirty="0">
                <a:latin typeface="Calibri Light"/>
                <a:cs typeface="Calibri Light"/>
              </a:rPr>
              <a:t>I)</a:t>
            </a:r>
            <a:endParaRPr sz="54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425" y="5557413"/>
            <a:ext cx="2178223" cy="6189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319" y="3442106"/>
            <a:ext cx="2261361" cy="2237105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2BFC9322-5CEA-9228-35C0-AE830BB4668D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latin typeface="Calibri"/>
                <a:cs typeface="Calibri"/>
                <a:hlinkClick r:id="rId4"/>
              </a:rPr>
              <a:t>luiz</a:t>
            </a:r>
            <a:r>
              <a:rPr lang="pt-BR" sz="1800" spc="-10" dirty="0">
                <a:latin typeface="Calibri"/>
                <a:cs typeface="Calibri"/>
                <a:hlinkClick r:id="rId4"/>
              </a:rPr>
              <a:t>.melo@inatel.br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1654BBD-3E8B-86F4-6D68-AD5D6BB5A890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latin typeface="Calibri"/>
                <a:cs typeface="Calibri"/>
                <a:hlinkClick r:id="rId5"/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804525" cy="390588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60833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desta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aula,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entenderemos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ideias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discutimos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até </a:t>
            </a:r>
            <a:r>
              <a:rPr sz="2800" dirty="0">
                <a:latin typeface="Calibri"/>
                <a:cs typeface="Calibri"/>
              </a:rPr>
              <a:t>agora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úteis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modelos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matemáticos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que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aproximam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atividade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aprendizagem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cérebro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ideias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discutimos,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ajudarão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entender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funcionamento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redes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neurais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artificiais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(RNAs).</a:t>
            </a:r>
            <a:endParaRPr sz="2800" dirty="0">
              <a:latin typeface="Calibri"/>
              <a:cs typeface="Calibri"/>
            </a:endParaRPr>
          </a:p>
          <a:p>
            <a:pPr marL="241300" marR="40386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Redes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neurais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artificiais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populares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efetivas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implementação</a:t>
            </a:r>
            <a:r>
              <a:rPr sz="28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sistemas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aprendizado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máquina</a:t>
            </a:r>
            <a:r>
              <a:rPr sz="2800" b="1" i="1" spc="-1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10" dirty="0">
                <a:latin typeface="Calibri"/>
                <a:cs typeface="Calibri"/>
              </a:rPr>
              <a:t>mereceriam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sí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só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disciplina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separado.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neste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tópico,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veremos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breve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geral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RNAs.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95" dirty="0"/>
              <a:t> </a:t>
            </a:r>
            <a:r>
              <a:rPr dirty="0"/>
              <a:t>neurais</a:t>
            </a:r>
            <a:r>
              <a:rPr spc="-105" dirty="0"/>
              <a:t> </a:t>
            </a:r>
            <a:r>
              <a:rPr spc="-10" dirty="0"/>
              <a:t>artificiais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6677" y="1793493"/>
            <a:ext cx="6369685" cy="250063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38735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dirty="0">
                <a:latin typeface="Calibri"/>
                <a:cs typeface="Calibri"/>
              </a:rPr>
              <a:t>Redes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neurais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artificiais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modelos computacionais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inspirados</a:t>
            </a:r>
            <a:r>
              <a:rPr sz="2800" b="1" i="1" spc="-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pelo </a:t>
            </a:r>
            <a:r>
              <a:rPr sz="2800" spc="-10" dirty="0">
                <a:latin typeface="Calibri"/>
                <a:cs typeface="Calibri"/>
              </a:rPr>
              <a:t>funcionamento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cérebro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animais.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Elas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capazes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tarefas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máquina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10" dirty="0">
                <a:latin typeface="Calibri"/>
                <a:cs typeface="Calibri"/>
              </a:rPr>
              <a:t>classificação)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eficácia.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40987" y="2308605"/>
            <a:ext cx="3310890" cy="3587750"/>
            <a:chOff x="1340987" y="2308605"/>
            <a:chExt cx="3310890" cy="35877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987" y="2939186"/>
              <a:ext cx="3310364" cy="295680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74010" y="2308605"/>
              <a:ext cx="1079500" cy="1649095"/>
            </a:xfrm>
            <a:custGeom>
              <a:avLst/>
              <a:gdLst/>
              <a:ahLst/>
              <a:cxnLst/>
              <a:rect l="l" t="t" r="r" b="b"/>
              <a:pathLst>
                <a:path w="1079500" h="1649095">
                  <a:moveTo>
                    <a:pt x="1079373" y="1648841"/>
                  </a:moveTo>
                  <a:lnTo>
                    <a:pt x="1076490" y="1595247"/>
                  </a:lnTo>
                  <a:lnTo>
                    <a:pt x="1074801" y="1563751"/>
                  </a:lnTo>
                  <a:lnTo>
                    <a:pt x="1044409" y="1581111"/>
                  </a:lnTo>
                  <a:lnTo>
                    <a:pt x="146304" y="7112"/>
                  </a:lnTo>
                  <a:lnTo>
                    <a:pt x="145288" y="7696"/>
                  </a:lnTo>
                  <a:lnTo>
                    <a:pt x="146685" y="1397"/>
                  </a:lnTo>
                  <a:lnTo>
                    <a:pt x="140462" y="0"/>
                  </a:lnTo>
                  <a:lnTo>
                    <a:pt x="34112" y="479958"/>
                  </a:lnTo>
                  <a:lnTo>
                    <a:pt x="0" y="472440"/>
                  </a:lnTo>
                  <a:lnTo>
                    <a:pt x="20701" y="554990"/>
                  </a:lnTo>
                  <a:lnTo>
                    <a:pt x="70396" y="493776"/>
                  </a:lnTo>
                  <a:lnTo>
                    <a:pt x="74422" y="488823"/>
                  </a:lnTo>
                  <a:lnTo>
                    <a:pt x="40347" y="481330"/>
                  </a:lnTo>
                  <a:lnTo>
                    <a:pt x="143586" y="15341"/>
                  </a:lnTo>
                  <a:lnTo>
                    <a:pt x="1038923" y="1584236"/>
                  </a:lnTo>
                  <a:lnTo>
                    <a:pt x="1008507" y="1601597"/>
                  </a:lnTo>
                  <a:lnTo>
                    <a:pt x="1079373" y="164884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38476" y="1958085"/>
            <a:ext cx="959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neurônios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6630" y="2931033"/>
            <a:ext cx="6451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pesos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sinápticos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44573" y="3363467"/>
            <a:ext cx="1514475" cy="1788160"/>
          </a:xfrm>
          <a:custGeom>
            <a:avLst/>
            <a:gdLst/>
            <a:ahLst/>
            <a:cxnLst/>
            <a:rect l="l" t="t" r="r" b="b"/>
            <a:pathLst>
              <a:path w="1514475" h="1788160">
                <a:moveTo>
                  <a:pt x="0" y="893953"/>
                </a:moveTo>
                <a:lnTo>
                  <a:pt x="517" y="816810"/>
                </a:lnTo>
                <a:lnTo>
                  <a:pt x="2041" y="741492"/>
                </a:lnTo>
                <a:lnTo>
                  <a:pt x="4530" y="668266"/>
                </a:lnTo>
                <a:lnTo>
                  <a:pt x="7941" y="597400"/>
                </a:lnTo>
                <a:lnTo>
                  <a:pt x="12231" y="529162"/>
                </a:lnTo>
                <a:lnTo>
                  <a:pt x="17359" y="463821"/>
                </a:lnTo>
                <a:lnTo>
                  <a:pt x="23282" y="401645"/>
                </a:lnTo>
                <a:lnTo>
                  <a:pt x="29958" y="342902"/>
                </a:lnTo>
                <a:lnTo>
                  <a:pt x="37344" y="287859"/>
                </a:lnTo>
                <a:lnTo>
                  <a:pt x="45398" y="236786"/>
                </a:lnTo>
                <a:lnTo>
                  <a:pt x="54079" y="189951"/>
                </a:lnTo>
                <a:lnTo>
                  <a:pt x="63342" y="147621"/>
                </a:lnTo>
                <a:lnTo>
                  <a:pt x="73147" y="110065"/>
                </a:lnTo>
                <a:lnTo>
                  <a:pt x="94211" y="50348"/>
                </a:lnTo>
                <a:lnTo>
                  <a:pt x="116931" y="12944"/>
                </a:lnTo>
                <a:lnTo>
                  <a:pt x="140969" y="0"/>
                </a:lnTo>
                <a:lnTo>
                  <a:pt x="153113" y="3280"/>
                </a:lnTo>
                <a:lnTo>
                  <a:pt x="187664" y="50348"/>
                </a:lnTo>
                <a:lnTo>
                  <a:pt x="208706" y="110065"/>
                </a:lnTo>
                <a:lnTo>
                  <a:pt x="218502" y="147621"/>
                </a:lnTo>
                <a:lnTo>
                  <a:pt x="227758" y="189951"/>
                </a:lnTo>
                <a:lnTo>
                  <a:pt x="236432" y="236786"/>
                </a:lnTo>
                <a:lnTo>
                  <a:pt x="244481" y="287859"/>
                </a:lnTo>
                <a:lnTo>
                  <a:pt x="251864" y="342902"/>
                </a:lnTo>
                <a:lnTo>
                  <a:pt x="258536" y="401645"/>
                </a:lnTo>
                <a:lnTo>
                  <a:pt x="264457" y="463821"/>
                </a:lnTo>
                <a:lnTo>
                  <a:pt x="269583" y="529162"/>
                </a:lnTo>
                <a:lnTo>
                  <a:pt x="273873" y="597400"/>
                </a:lnTo>
                <a:lnTo>
                  <a:pt x="277283" y="668266"/>
                </a:lnTo>
                <a:lnTo>
                  <a:pt x="279771" y="741492"/>
                </a:lnTo>
                <a:lnTo>
                  <a:pt x="281295" y="816810"/>
                </a:lnTo>
                <a:lnTo>
                  <a:pt x="281813" y="893953"/>
                </a:lnTo>
                <a:lnTo>
                  <a:pt x="281295" y="971076"/>
                </a:lnTo>
                <a:lnTo>
                  <a:pt x="279771" y="1046377"/>
                </a:lnTo>
                <a:lnTo>
                  <a:pt x="277283" y="1119588"/>
                </a:lnTo>
                <a:lnTo>
                  <a:pt x="273873" y="1190441"/>
                </a:lnTo>
                <a:lnTo>
                  <a:pt x="269583" y="1258667"/>
                </a:lnTo>
                <a:lnTo>
                  <a:pt x="264457" y="1323997"/>
                </a:lnTo>
                <a:lnTo>
                  <a:pt x="258536" y="1386165"/>
                </a:lnTo>
                <a:lnTo>
                  <a:pt x="251864" y="1444901"/>
                </a:lnTo>
                <a:lnTo>
                  <a:pt x="244481" y="1499937"/>
                </a:lnTo>
                <a:lnTo>
                  <a:pt x="236432" y="1551005"/>
                </a:lnTo>
                <a:lnTo>
                  <a:pt x="227758" y="1597836"/>
                </a:lnTo>
                <a:lnTo>
                  <a:pt x="218502" y="1640163"/>
                </a:lnTo>
                <a:lnTo>
                  <a:pt x="208706" y="1677717"/>
                </a:lnTo>
                <a:lnTo>
                  <a:pt x="187664" y="1737431"/>
                </a:lnTo>
                <a:lnTo>
                  <a:pt x="164972" y="1774834"/>
                </a:lnTo>
                <a:lnTo>
                  <a:pt x="140969" y="1787779"/>
                </a:lnTo>
                <a:lnTo>
                  <a:pt x="128807" y="1784498"/>
                </a:lnTo>
                <a:lnTo>
                  <a:pt x="94211" y="1737431"/>
                </a:lnTo>
                <a:lnTo>
                  <a:pt x="73147" y="1677717"/>
                </a:lnTo>
                <a:lnTo>
                  <a:pt x="63342" y="1640163"/>
                </a:lnTo>
                <a:lnTo>
                  <a:pt x="54079" y="1597836"/>
                </a:lnTo>
                <a:lnTo>
                  <a:pt x="45398" y="1551005"/>
                </a:lnTo>
                <a:lnTo>
                  <a:pt x="37344" y="1499937"/>
                </a:lnTo>
                <a:lnTo>
                  <a:pt x="29958" y="1444901"/>
                </a:lnTo>
                <a:lnTo>
                  <a:pt x="23282" y="1386165"/>
                </a:lnTo>
                <a:lnTo>
                  <a:pt x="17359" y="1323997"/>
                </a:lnTo>
                <a:lnTo>
                  <a:pt x="12231" y="1258667"/>
                </a:lnTo>
                <a:lnTo>
                  <a:pt x="7941" y="1190441"/>
                </a:lnTo>
                <a:lnTo>
                  <a:pt x="4530" y="1119588"/>
                </a:lnTo>
                <a:lnTo>
                  <a:pt x="2041" y="1046377"/>
                </a:lnTo>
                <a:lnTo>
                  <a:pt x="517" y="971076"/>
                </a:lnTo>
                <a:lnTo>
                  <a:pt x="0" y="893953"/>
                </a:lnTo>
                <a:close/>
              </a:path>
              <a:path w="1514475" h="1788160">
                <a:moveTo>
                  <a:pt x="1232662" y="893953"/>
                </a:moveTo>
                <a:lnTo>
                  <a:pt x="1233178" y="816810"/>
                </a:lnTo>
                <a:lnTo>
                  <a:pt x="1234699" y="741492"/>
                </a:lnTo>
                <a:lnTo>
                  <a:pt x="1237183" y="668266"/>
                </a:lnTo>
                <a:lnTo>
                  <a:pt x="1240588" y="597400"/>
                </a:lnTo>
                <a:lnTo>
                  <a:pt x="1244871" y="529162"/>
                </a:lnTo>
                <a:lnTo>
                  <a:pt x="1249991" y="463821"/>
                </a:lnTo>
                <a:lnTo>
                  <a:pt x="1255905" y="401645"/>
                </a:lnTo>
                <a:lnTo>
                  <a:pt x="1262571" y="342902"/>
                </a:lnTo>
                <a:lnTo>
                  <a:pt x="1269948" y="287859"/>
                </a:lnTo>
                <a:lnTo>
                  <a:pt x="1277992" y="236786"/>
                </a:lnTo>
                <a:lnTo>
                  <a:pt x="1286662" y="189951"/>
                </a:lnTo>
                <a:lnTo>
                  <a:pt x="1295916" y="147621"/>
                </a:lnTo>
                <a:lnTo>
                  <a:pt x="1305712" y="110065"/>
                </a:lnTo>
                <a:lnTo>
                  <a:pt x="1326760" y="50348"/>
                </a:lnTo>
                <a:lnTo>
                  <a:pt x="1349470" y="12944"/>
                </a:lnTo>
                <a:lnTo>
                  <a:pt x="1373504" y="0"/>
                </a:lnTo>
                <a:lnTo>
                  <a:pt x="1385667" y="3280"/>
                </a:lnTo>
                <a:lnTo>
                  <a:pt x="1420263" y="50348"/>
                </a:lnTo>
                <a:lnTo>
                  <a:pt x="1441327" y="110065"/>
                </a:lnTo>
                <a:lnTo>
                  <a:pt x="1451132" y="147621"/>
                </a:lnTo>
                <a:lnTo>
                  <a:pt x="1460395" y="189951"/>
                </a:lnTo>
                <a:lnTo>
                  <a:pt x="1469076" y="236786"/>
                </a:lnTo>
                <a:lnTo>
                  <a:pt x="1477130" y="287859"/>
                </a:lnTo>
                <a:lnTo>
                  <a:pt x="1484516" y="342902"/>
                </a:lnTo>
                <a:lnTo>
                  <a:pt x="1491192" y="401645"/>
                </a:lnTo>
                <a:lnTo>
                  <a:pt x="1497115" y="463821"/>
                </a:lnTo>
                <a:lnTo>
                  <a:pt x="1502243" y="529162"/>
                </a:lnTo>
                <a:lnTo>
                  <a:pt x="1506533" y="597400"/>
                </a:lnTo>
                <a:lnTo>
                  <a:pt x="1509944" y="668266"/>
                </a:lnTo>
                <a:lnTo>
                  <a:pt x="1512433" y="741492"/>
                </a:lnTo>
                <a:lnTo>
                  <a:pt x="1513957" y="816810"/>
                </a:lnTo>
                <a:lnTo>
                  <a:pt x="1514475" y="893953"/>
                </a:lnTo>
                <a:lnTo>
                  <a:pt x="1513957" y="971076"/>
                </a:lnTo>
                <a:lnTo>
                  <a:pt x="1512433" y="1046377"/>
                </a:lnTo>
                <a:lnTo>
                  <a:pt x="1509944" y="1119588"/>
                </a:lnTo>
                <a:lnTo>
                  <a:pt x="1506533" y="1190441"/>
                </a:lnTo>
                <a:lnTo>
                  <a:pt x="1502243" y="1258667"/>
                </a:lnTo>
                <a:lnTo>
                  <a:pt x="1497115" y="1323997"/>
                </a:lnTo>
                <a:lnTo>
                  <a:pt x="1491192" y="1386165"/>
                </a:lnTo>
                <a:lnTo>
                  <a:pt x="1484516" y="1444901"/>
                </a:lnTo>
                <a:lnTo>
                  <a:pt x="1477130" y="1499937"/>
                </a:lnTo>
                <a:lnTo>
                  <a:pt x="1469076" y="1551005"/>
                </a:lnTo>
                <a:lnTo>
                  <a:pt x="1460395" y="1597836"/>
                </a:lnTo>
                <a:lnTo>
                  <a:pt x="1451132" y="1640163"/>
                </a:lnTo>
                <a:lnTo>
                  <a:pt x="1441327" y="1677717"/>
                </a:lnTo>
                <a:lnTo>
                  <a:pt x="1420263" y="1737431"/>
                </a:lnTo>
                <a:lnTo>
                  <a:pt x="1397543" y="1774834"/>
                </a:lnTo>
                <a:lnTo>
                  <a:pt x="1373504" y="1787779"/>
                </a:lnTo>
                <a:lnTo>
                  <a:pt x="1361343" y="1784498"/>
                </a:lnTo>
                <a:lnTo>
                  <a:pt x="1326760" y="1737431"/>
                </a:lnTo>
                <a:lnTo>
                  <a:pt x="1305712" y="1677717"/>
                </a:lnTo>
                <a:lnTo>
                  <a:pt x="1295916" y="1640163"/>
                </a:lnTo>
                <a:lnTo>
                  <a:pt x="1286662" y="1597836"/>
                </a:lnTo>
                <a:lnTo>
                  <a:pt x="1277992" y="1551005"/>
                </a:lnTo>
                <a:lnTo>
                  <a:pt x="1269948" y="1499937"/>
                </a:lnTo>
                <a:lnTo>
                  <a:pt x="1262571" y="1444901"/>
                </a:lnTo>
                <a:lnTo>
                  <a:pt x="1255905" y="1386165"/>
                </a:lnTo>
                <a:lnTo>
                  <a:pt x="1249991" y="1323997"/>
                </a:lnTo>
                <a:lnTo>
                  <a:pt x="1244871" y="1258667"/>
                </a:lnTo>
                <a:lnTo>
                  <a:pt x="1240588" y="1190441"/>
                </a:lnTo>
                <a:lnTo>
                  <a:pt x="1237183" y="1119588"/>
                </a:lnTo>
                <a:lnTo>
                  <a:pt x="1234699" y="1046377"/>
                </a:lnTo>
                <a:lnTo>
                  <a:pt x="1233178" y="971076"/>
                </a:lnTo>
                <a:lnTo>
                  <a:pt x="1232662" y="89395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74263" y="5021071"/>
            <a:ext cx="643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081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pesos sinápticos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Redes</a:t>
            </a:r>
            <a:r>
              <a:rPr spc="-95" dirty="0"/>
              <a:t> </a:t>
            </a:r>
            <a:r>
              <a:rPr dirty="0"/>
              <a:t>neurais</a:t>
            </a:r>
            <a:r>
              <a:rPr spc="-105" dirty="0"/>
              <a:t> </a:t>
            </a:r>
            <a:r>
              <a:rPr spc="-10" dirty="0"/>
              <a:t>artificiais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74107" y="1793493"/>
            <a:ext cx="6701155" cy="326897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RNAs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geralmente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apresentadas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 </a:t>
            </a:r>
            <a:r>
              <a:rPr sz="2800" b="1" i="1" spc="-10" dirty="0">
                <a:latin typeface="Calibri"/>
                <a:cs typeface="Calibri"/>
              </a:rPr>
              <a:t>sistemas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nós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(unidades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ou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neurônios) </a:t>
            </a:r>
            <a:r>
              <a:rPr sz="2800" b="1" i="1" spc="-20" dirty="0">
                <a:latin typeface="Calibri"/>
                <a:cs typeface="Calibri"/>
              </a:rPr>
              <a:t>interconectados</a:t>
            </a:r>
            <a:r>
              <a:rPr sz="2800" spc="-2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geram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</a:t>
            </a:r>
            <a:r>
              <a:rPr sz="2800" dirty="0">
                <a:latin typeface="Calibri"/>
                <a:cs typeface="Calibri"/>
              </a:rPr>
              <a:t> saída,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simulando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comportamento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redes </a:t>
            </a:r>
            <a:r>
              <a:rPr sz="2800" b="1" i="1" dirty="0">
                <a:latin typeface="Calibri"/>
                <a:cs typeface="Calibri"/>
              </a:rPr>
              <a:t>neurais</a:t>
            </a:r>
            <a:r>
              <a:rPr sz="2800" b="1" i="1" spc="-12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biológicas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56565" indent="-228600" algn="just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Esta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primeira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deste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tópico,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foca</a:t>
            </a:r>
            <a:r>
              <a:rPr sz="2800" b="1" i="1" spc="-1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nos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elementos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básicos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construção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uma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rede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neural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nós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neurônios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40987" y="2308605"/>
            <a:ext cx="3310890" cy="3587750"/>
            <a:chOff x="1340987" y="2308605"/>
            <a:chExt cx="3310890" cy="35877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987" y="2939186"/>
              <a:ext cx="3310364" cy="295680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74010" y="2308605"/>
              <a:ext cx="1079500" cy="1649095"/>
            </a:xfrm>
            <a:custGeom>
              <a:avLst/>
              <a:gdLst/>
              <a:ahLst/>
              <a:cxnLst/>
              <a:rect l="l" t="t" r="r" b="b"/>
              <a:pathLst>
                <a:path w="1079500" h="1649095">
                  <a:moveTo>
                    <a:pt x="1079373" y="1648841"/>
                  </a:moveTo>
                  <a:lnTo>
                    <a:pt x="1076490" y="1595247"/>
                  </a:lnTo>
                  <a:lnTo>
                    <a:pt x="1074801" y="1563751"/>
                  </a:lnTo>
                  <a:lnTo>
                    <a:pt x="1044409" y="1581111"/>
                  </a:lnTo>
                  <a:lnTo>
                    <a:pt x="146304" y="7112"/>
                  </a:lnTo>
                  <a:lnTo>
                    <a:pt x="145288" y="7696"/>
                  </a:lnTo>
                  <a:lnTo>
                    <a:pt x="146685" y="1397"/>
                  </a:lnTo>
                  <a:lnTo>
                    <a:pt x="140462" y="0"/>
                  </a:lnTo>
                  <a:lnTo>
                    <a:pt x="34112" y="479958"/>
                  </a:lnTo>
                  <a:lnTo>
                    <a:pt x="0" y="472440"/>
                  </a:lnTo>
                  <a:lnTo>
                    <a:pt x="20701" y="554990"/>
                  </a:lnTo>
                  <a:lnTo>
                    <a:pt x="70396" y="493776"/>
                  </a:lnTo>
                  <a:lnTo>
                    <a:pt x="74422" y="488823"/>
                  </a:lnTo>
                  <a:lnTo>
                    <a:pt x="40347" y="481330"/>
                  </a:lnTo>
                  <a:lnTo>
                    <a:pt x="143586" y="15341"/>
                  </a:lnTo>
                  <a:lnTo>
                    <a:pt x="1038923" y="1584236"/>
                  </a:lnTo>
                  <a:lnTo>
                    <a:pt x="1008507" y="1601597"/>
                  </a:lnTo>
                  <a:lnTo>
                    <a:pt x="1079373" y="164884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38476" y="1958085"/>
            <a:ext cx="959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neurônios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6630" y="2931033"/>
            <a:ext cx="6451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pesos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sinápticos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44573" y="3363467"/>
            <a:ext cx="1514475" cy="1788160"/>
          </a:xfrm>
          <a:custGeom>
            <a:avLst/>
            <a:gdLst/>
            <a:ahLst/>
            <a:cxnLst/>
            <a:rect l="l" t="t" r="r" b="b"/>
            <a:pathLst>
              <a:path w="1514475" h="1788160">
                <a:moveTo>
                  <a:pt x="0" y="893953"/>
                </a:moveTo>
                <a:lnTo>
                  <a:pt x="517" y="816810"/>
                </a:lnTo>
                <a:lnTo>
                  <a:pt x="2041" y="741492"/>
                </a:lnTo>
                <a:lnTo>
                  <a:pt x="4530" y="668266"/>
                </a:lnTo>
                <a:lnTo>
                  <a:pt x="7941" y="597400"/>
                </a:lnTo>
                <a:lnTo>
                  <a:pt x="12231" y="529162"/>
                </a:lnTo>
                <a:lnTo>
                  <a:pt x="17359" y="463821"/>
                </a:lnTo>
                <a:lnTo>
                  <a:pt x="23282" y="401645"/>
                </a:lnTo>
                <a:lnTo>
                  <a:pt x="29958" y="342902"/>
                </a:lnTo>
                <a:lnTo>
                  <a:pt x="37344" y="287859"/>
                </a:lnTo>
                <a:lnTo>
                  <a:pt x="45398" y="236786"/>
                </a:lnTo>
                <a:lnTo>
                  <a:pt x="54079" y="189951"/>
                </a:lnTo>
                <a:lnTo>
                  <a:pt x="63342" y="147621"/>
                </a:lnTo>
                <a:lnTo>
                  <a:pt x="73147" y="110065"/>
                </a:lnTo>
                <a:lnTo>
                  <a:pt x="94211" y="50348"/>
                </a:lnTo>
                <a:lnTo>
                  <a:pt x="116931" y="12944"/>
                </a:lnTo>
                <a:lnTo>
                  <a:pt x="140969" y="0"/>
                </a:lnTo>
                <a:lnTo>
                  <a:pt x="153113" y="3280"/>
                </a:lnTo>
                <a:lnTo>
                  <a:pt x="187664" y="50348"/>
                </a:lnTo>
                <a:lnTo>
                  <a:pt x="208706" y="110065"/>
                </a:lnTo>
                <a:lnTo>
                  <a:pt x="218502" y="147621"/>
                </a:lnTo>
                <a:lnTo>
                  <a:pt x="227758" y="189951"/>
                </a:lnTo>
                <a:lnTo>
                  <a:pt x="236432" y="236786"/>
                </a:lnTo>
                <a:lnTo>
                  <a:pt x="244481" y="287859"/>
                </a:lnTo>
                <a:lnTo>
                  <a:pt x="251864" y="342902"/>
                </a:lnTo>
                <a:lnTo>
                  <a:pt x="258536" y="401645"/>
                </a:lnTo>
                <a:lnTo>
                  <a:pt x="264457" y="463821"/>
                </a:lnTo>
                <a:lnTo>
                  <a:pt x="269583" y="529162"/>
                </a:lnTo>
                <a:lnTo>
                  <a:pt x="273873" y="597400"/>
                </a:lnTo>
                <a:lnTo>
                  <a:pt x="277283" y="668266"/>
                </a:lnTo>
                <a:lnTo>
                  <a:pt x="279771" y="741492"/>
                </a:lnTo>
                <a:lnTo>
                  <a:pt x="281295" y="816810"/>
                </a:lnTo>
                <a:lnTo>
                  <a:pt x="281813" y="893953"/>
                </a:lnTo>
                <a:lnTo>
                  <a:pt x="281295" y="971076"/>
                </a:lnTo>
                <a:lnTo>
                  <a:pt x="279771" y="1046377"/>
                </a:lnTo>
                <a:lnTo>
                  <a:pt x="277283" y="1119588"/>
                </a:lnTo>
                <a:lnTo>
                  <a:pt x="273873" y="1190441"/>
                </a:lnTo>
                <a:lnTo>
                  <a:pt x="269583" y="1258667"/>
                </a:lnTo>
                <a:lnTo>
                  <a:pt x="264457" y="1323997"/>
                </a:lnTo>
                <a:lnTo>
                  <a:pt x="258536" y="1386165"/>
                </a:lnTo>
                <a:lnTo>
                  <a:pt x="251864" y="1444901"/>
                </a:lnTo>
                <a:lnTo>
                  <a:pt x="244481" y="1499937"/>
                </a:lnTo>
                <a:lnTo>
                  <a:pt x="236432" y="1551005"/>
                </a:lnTo>
                <a:lnTo>
                  <a:pt x="227758" y="1597836"/>
                </a:lnTo>
                <a:lnTo>
                  <a:pt x="218502" y="1640163"/>
                </a:lnTo>
                <a:lnTo>
                  <a:pt x="208706" y="1677717"/>
                </a:lnTo>
                <a:lnTo>
                  <a:pt x="187664" y="1737431"/>
                </a:lnTo>
                <a:lnTo>
                  <a:pt x="164972" y="1774834"/>
                </a:lnTo>
                <a:lnTo>
                  <a:pt x="140969" y="1787779"/>
                </a:lnTo>
                <a:lnTo>
                  <a:pt x="128807" y="1784498"/>
                </a:lnTo>
                <a:lnTo>
                  <a:pt x="94211" y="1737431"/>
                </a:lnTo>
                <a:lnTo>
                  <a:pt x="73147" y="1677717"/>
                </a:lnTo>
                <a:lnTo>
                  <a:pt x="63342" y="1640163"/>
                </a:lnTo>
                <a:lnTo>
                  <a:pt x="54079" y="1597836"/>
                </a:lnTo>
                <a:lnTo>
                  <a:pt x="45398" y="1551005"/>
                </a:lnTo>
                <a:lnTo>
                  <a:pt x="37344" y="1499937"/>
                </a:lnTo>
                <a:lnTo>
                  <a:pt x="29958" y="1444901"/>
                </a:lnTo>
                <a:lnTo>
                  <a:pt x="23282" y="1386165"/>
                </a:lnTo>
                <a:lnTo>
                  <a:pt x="17359" y="1323997"/>
                </a:lnTo>
                <a:lnTo>
                  <a:pt x="12231" y="1258667"/>
                </a:lnTo>
                <a:lnTo>
                  <a:pt x="7941" y="1190441"/>
                </a:lnTo>
                <a:lnTo>
                  <a:pt x="4530" y="1119588"/>
                </a:lnTo>
                <a:lnTo>
                  <a:pt x="2041" y="1046377"/>
                </a:lnTo>
                <a:lnTo>
                  <a:pt x="517" y="971076"/>
                </a:lnTo>
                <a:lnTo>
                  <a:pt x="0" y="893953"/>
                </a:lnTo>
                <a:close/>
              </a:path>
              <a:path w="1514475" h="1788160">
                <a:moveTo>
                  <a:pt x="1232662" y="893953"/>
                </a:moveTo>
                <a:lnTo>
                  <a:pt x="1233178" y="816810"/>
                </a:lnTo>
                <a:lnTo>
                  <a:pt x="1234699" y="741492"/>
                </a:lnTo>
                <a:lnTo>
                  <a:pt x="1237183" y="668266"/>
                </a:lnTo>
                <a:lnTo>
                  <a:pt x="1240588" y="597400"/>
                </a:lnTo>
                <a:lnTo>
                  <a:pt x="1244871" y="529162"/>
                </a:lnTo>
                <a:lnTo>
                  <a:pt x="1249991" y="463821"/>
                </a:lnTo>
                <a:lnTo>
                  <a:pt x="1255905" y="401645"/>
                </a:lnTo>
                <a:lnTo>
                  <a:pt x="1262571" y="342902"/>
                </a:lnTo>
                <a:lnTo>
                  <a:pt x="1269948" y="287859"/>
                </a:lnTo>
                <a:lnTo>
                  <a:pt x="1277992" y="236786"/>
                </a:lnTo>
                <a:lnTo>
                  <a:pt x="1286662" y="189951"/>
                </a:lnTo>
                <a:lnTo>
                  <a:pt x="1295916" y="147621"/>
                </a:lnTo>
                <a:lnTo>
                  <a:pt x="1305712" y="110065"/>
                </a:lnTo>
                <a:lnTo>
                  <a:pt x="1326760" y="50348"/>
                </a:lnTo>
                <a:lnTo>
                  <a:pt x="1349470" y="12944"/>
                </a:lnTo>
                <a:lnTo>
                  <a:pt x="1373504" y="0"/>
                </a:lnTo>
                <a:lnTo>
                  <a:pt x="1385667" y="3280"/>
                </a:lnTo>
                <a:lnTo>
                  <a:pt x="1420263" y="50348"/>
                </a:lnTo>
                <a:lnTo>
                  <a:pt x="1441327" y="110065"/>
                </a:lnTo>
                <a:lnTo>
                  <a:pt x="1451132" y="147621"/>
                </a:lnTo>
                <a:lnTo>
                  <a:pt x="1460395" y="189951"/>
                </a:lnTo>
                <a:lnTo>
                  <a:pt x="1469076" y="236786"/>
                </a:lnTo>
                <a:lnTo>
                  <a:pt x="1477130" y="287859"/>
                </a:lnTo>
                <a:lnTo>
                  <a:pt x="1484516" y="342902"/>
                </a:lnTo>
                <a:lnTo>
                  <a:pt x="1491192" y="401645"/>
                </a:lnTo>
                <a:lnTo>
                  <a:pt x="1497115" y="463821"/>
                </a:lnTo>
                <a:lnTo>
                  <a:pt x="1502243" y="529162"/>
                </a:lnTo>
                <a:lnTo>
                  <a:pt x="1506533" y="597400"/>
                </a:lnTo>
                <a:lnTo>
                  <a:pt x="1509944" y="668266"/>
                </a:lnTo>
                <a:lnTo>
                  <a:pt x="1512433" y="741492"/>
                </a:lnTo>
                <a:lnTo>
                  <a:pt x="1513957" y="816810"/>
                </a:lnTo>
                <a:lnTo>
                  <a:pt x="1514475" y="893953"/>
                </a:lnTo>
                <a:lnTo>
                  <a:pt x="1513957" y="971076"/>
                </a:lnTo>
                <a:lnTo>
                  <a:pt x="1512433" y="1046377"/>
                </a:lnTo>
                <a:lnTo>
                  <a:pt x="1509944" y="1119588"/>
                </a:lnTo>
                <a:lnTo>
                  <a:pt x="1506533" y="1190441"/>
                </a:lnTo>
                <a:lnTo>
                  <a:pt x="1502243" y="1258667"/>
                </a:lnTo>
                <a:lnTo>
                  <a:pt x="1497115" y="1323997"/>
                </a:lnTo>
                <a:lnTo>
                  <a:pt x="1491192" y="1386165"/>
                </a:lnTo>
                <a:lnTo>
                  <a:pt x="1484516" y="1444901"/>
                </a:lnTo>
                <a:lnTo>
                  <a:pt x="1477130" y="1499937"/>
                </a:lnTo>
                <a:lnTo>
                  <a:pt x="1469076" y="1551005"/>
                </a:lnTo>
                <a:lnTo>
                  <a:pt x="1460395" y="1597836"/>
                </a:lnTo>
                <a:lnTo>
                  <a:pt x="1451132" y="1640163"/>
                </a:lnTo>
                <a:lnTo>
                  <a:pt x="1441327" y="1677717"/>
                </a:lnTo>
                <a:lnTo>
                  <a:pt x="1420263" y="1737431"/>
                </a:lnTo>
                <a:lnTo>
                  <a:pt x="1397543" y="1774834"/>
                </a:lnTo>
                <a:lnTo>
                  <a:pt x="1373504" y="1787779"/>
                </a:lnTo>
                <a:lnTo>
                  <a:pt x="1361343" y="1784498"/>
                </a:lnTo>
                <a:lnTo>
                  <a:pt x="1326760" y="1737431"/>
                </a:lnTo>
                <a:lnTo>
                  <a:pt x="1305712" y="1677717"/>
                </a:lnTo>
                <a:lnTo>
                  <a:pt x="1295916" y="1640163"/>
                </a:lnTo>
                <a:lnTo>
                  <a:pt x="1286662" y="1597836"/>
                </a:lnTo>
                <a:lnTo>
                  <a:pt x="1277992" y="1551005"/>
                </a:lnTo>
                <a:lnTo>
                  <a:pt x="1269948" y="1499937"/>
                </a:lnTo>
                <a:lnTo>
                  <a:pt x="1262571" y="1444901"/>
                </a:lnTo>
                <a:lnTo>
                  <a:pt x="1255905" y="1386165"/>
                </a:lnTo>
                <a:lnTo>
                  <a:pt x="1249991" y="1323997"/>
                </a:lnTo>
                <a:lnTo>
                  <a:pt x="1244871" y="1258667"/>
                </a:lnTo>
                <a:lnTo>
                  <a:pt x="1240588" y="1190441"/>
                </a:lnTo>
                <a:lnTo>
                  <a:pt x="1237183" y="1119588"/>
                </a:lnTo>
                <a:lnTo>
                  <a:pt x="1234699" y="1046377"/>
                </a:lnTo>
                <a:lnTo>
                  <a:pt x="1233178" y="971076"/>
                </a:lnTo>
                <a:lnTo>
                  <a:pt x="1232662" y="89395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74263" y="5021071"/>
            <a:ext cx="643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081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pesos sinápticos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Algumas</a:t>
            </a:r>
            <a:r>
              <a:rPr spc="-40" dirty="0"/>
              <a:t> </a:t>
            </a:r>
            <a:r>
              <a:rPr dirty="0"/>
              <a:t>aplicações</a:t>
            </a:r>
            <a:r>
              <a:rPr spc="-40" dirty="0"/>
              <a:t> </a:t>
            </a:r>
            <a:r>
              <a:rPr spc="-10" dirty="0"/>
              <a:t>famosas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24660"/>
            <a:ext cx="7604125" cy="47224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RNAs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versáteis,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poderosas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escalonáveis, </a:t>
            </a:r>
            <a:r>
              <a:rPr sz="2800" spc="-25" dirty="0">
                <a:latin typeface="Calibri"/>
                <a:cs typeface="Calibri"/>
              </a:rPr>
              <a:t>tornando-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ideais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tarefas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10" dirty="0">
                <a:latin typeface="Calibri"/>
                <a:cs typeface="Calibri"/>
              </a:rPr>
              <a:t>altamente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complexas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aprendizado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máquina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53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Classificar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bilhões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imagens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Google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550"/>
              </a:lnSpc>
            </a:pPr>
            <a:r>
              <a:rPr sz="2400" dirty="0">
                <a:latin typeface="Calibri"/>
                <a:cs typeface="Calibri"/>
              </a:rPr>
              <a:t>Images,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Facebook,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etc.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fazem),</a:t>
            </a:r>
            <a:endParaRPr sz="2400" dirty="0">
              <a:latin typeface="Calibri"/>
              <a:cs typeface="Calibri"/>
            </a:endParaRPr>
          </a:p>
          <a:p>
            <a:pPr marL="698500" marR="782320" lvl="1" indent="-228600">
              <a:lnSpc>
                <a:spcPct val="80000"/>
              </a:lnSpc>
              <a:spcBef>
                <a:spcPts val="53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Serviços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reconhecimento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fala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Siri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da </a:t>
            </a:r>
            <a:r>
              <a:rPr sz="2400" dirty="0">
                <a:latin typeface="Calibri"/>
                <a:cs typeface="Calibri"/>
              </a:rPr>
              <a:t>Apple,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Alexa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Amazon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Google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Assistant),</a:t>
            </a:r>
            <a:endParaRPr sz="2400" dirty="0">
              <a:latin typeface="Calibri"/>
              <a:cs typeface="Calibri"/>
            </a:endParaRPr>
          </a:p>
          <a:p>
            <a:pPr marL="698500" marR="407670" lvl="1" indent="-228600">
              <a:lnSpc>
                <a:spcPct val="80000"/>
              </a:lnSpc>
              <a:spcBef>
                <a:spcPts val="50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Recomendar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vídeos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melhor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adequam</a:t>
            </a:r>
            <a:r>
              <a:rPr sz="2400" spc="-25" dirty="0">
                <a:latin typeface="Calibri"/>
                <a:cs typeface="Calibri"/>
              </a:rPr>
              <a:t> ao </a:t>
            </a:r>
            <a:r>
              <a:rPr sz="2400" spc="-10" dirty="0">
                <a:latin typeface="Calibri"/>
                <a:cs typeface="Calibri"/>
              </a:rPr>
              <a:t>comportamento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centenas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milhões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usuários </a:t>
            </a:r>
            <a:r>
              <a:rPr sz="2400" dirty="0">
                <a:latin typeface="Calibri"/>
                <a:cs typeface="Calibri"/>
              </a:rPr>
              <a:t>todos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YouTube,</a:t>
            </a:r>
            <a:r>
              <a:rPr sz="2400" spc="-10" dirty="0">
                <a:latin typeface="Calibri"/>
                <a:cs typeface="Calibri"/>
              </a:rPr>
              <a:t> Netflix),</a:t>
            </a:r>
            <a:endParaRPr sz="2400" dirty="0">
              <a:latin typeface="Calibri"/>
              <a:cs typeface="Calibri"/>
            </a:endParaRPr>
          </a:p>
          <a:p>
            <a:pPr marL="698500" marR="81280" lvl="1" indent="-228600">
              <a:lnSpc>
                <a:spcPts val="2300"/>
              </a:lnSpc>
              <a:spcBef>
                <a:spcPts val="49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Pilotar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veículo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pouca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nenhuma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intervenção humana,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20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Responder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perguntas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ChatGPT).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7981" y="747394"/>
            <a:ext cx="2466848" cy="9432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04325" y="1891792"/>
            <a:ext cx="2771775" cy="13616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2872" y="3539312"/>
            <a:ext cx="2446147" cy="5861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38616" y="5012677"/>
            <a:ext cx="3332606" cy="167449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05135" y="4274349"/>
            <a:ext cx="1829943" cy="562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Um</a:t>
            </a:r>
            <a:r>
              <a:rPr spc="-20" dirty="0"/>
              <a:t> </a:t>
            </a:r>
            <a:r>
              <a:rPr dirty="0"/>
              <a:t>pouco de</a:t>
            </a:r>
            <a:r>
              <a:rPr spc="-20" dirty="0"/>
              <a:t> contexto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459" y="2244470"/>
            <a:ext cx="5478170" cy="31509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75628" y="1453337"/>
            <a:ext cx="5710555" cy="43745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104775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neurônios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células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eucariontes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possuem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mecanismos eletroquímicos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característicos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 </a:t>
            </a:r>
            <a:r>
              <a:rPr sz="2800" spc="-10" dirty="0">
                <a:latin typeface="Calibri"/>
                <a:cs typeface="Calibri"/>
              </a:rPr>
              <a:t>transmissão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informações.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7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Células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eucariontes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possuem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membrana </a:t>
            </a:r>
            <a:r>
              <a:rPr sz="2400" spc="-20" dirty="0">
                <a:latin typeface="Calibri"/>
                <a:cs typeface="Calibri"/>
              </a:rPr>
              <a:t>celular,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citoplasma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núcleo.</a:t>
            </a:r>
            <a:endParaRPr sz="2400" dirty="0">
              <a:latin typeface="Calibri"/>
              <a:cs typeface="Calibri"/>
            </a:endParaRPr>
          </a:p>
          <a:p>
            <a:pPr marL="241300" marR="569595" indent="-228600">
              <a:lnSpc>
                <a:spcPct val="90000"/>
              </a:lnSpc>
              <a:spcBef>
                <a:spcPts val="9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Além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membrana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celular, citoplasma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núcleo,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neurônios apresentam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três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partes</a:t>
            </a:r>
            <a:endParaRPr sz="2800" dirty="0">
              <a:latin typeface="Calibri"/>
              <a:cs typeface="Calibri"/>
            </a:endParaRPr>
          </a:p>
          <a:p>
            <a:pPr marL="241300" marR="27305">
              <a:lnSpc>
                <a:spcPts val="3020"/>
              </a:lnSpc>
              <a:spcBef>
                <a:spcPts val="45"/>
              </a:spcBef>
            </a:pPr>
            <a:r>
              <a:rPr sz="2800" spc="-10" dirty="0">
                <a:latin typeface="Calibri"/>
                <a:cs typeface="Calibri"/>
              </a:rPr>
              <a:t>importantes: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dendritos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axônio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corpo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celular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(soma)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Um</a:t>
            </a:r>
            <a:r>
              <a:rPr spc="-20" dirty="0"/>
              <a:t> </a:t>
            </a:r>
            <a:r>
              <a:rPr dirty="0"/>
              <a:t>pouco de</a:t>
            </a:r>
            <a:r>
              <a:rPr spc="-20" dirty="0"/>
              <a:t> contexto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02273" y="1453337"/>
            <a:ext cx="5835650" cy="49326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dendritos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prolongamentos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spc="-10" dirty="0">
                <a:latin typeface="Calibri"/>
                <a:cs typeface="Calibri"/>
              </a:rPr>
              <a:t>neurônio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garantem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recepção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estímulos</a:t>
            </a:r>
            <a:r>
              <a:rPr sz="2800" b="1" i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neurônios, </a:t>
            </a:r>
            <a:r>
              <a:rPr sz="2800" dirty="0">
                <a:latin typeface="Calibri"/>
                <a:cs typeface="Calibri"/>
              </a:rPr>
              <a:t>levando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impulsos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nervosos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direção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corpo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celular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3335" indent="-228600">
              <a:lnSpc>
                <a:spcPct val="9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axônio</a:t>
            </a:r>
            <a:r>
              <a:rPr sz="2800" b="1" i="1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prolongamento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spc="-20" dirty="0">
                <a:latin typeface="Calibri"/>
                <a:cs typeface="Calibri"/>
              </a:rPr>
              <a:t>garante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envio</a:t>
            </a:r>
            <a:r>
              <a:rPr sz="2800" b="1" i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informação </a:t>
            </a:r>
            <a:r>
              <a:rPr sz="2800" spc="-10" dirty="0">
                <a:latin typeface="Calibri"/>
                <a:cs typeface="Calibri"/>
              </a:rPr>
              <a:t>(estímulos)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2800" b="1" i="1" spc="-9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outros</a:t>
            </a:r>
            <a:r>
              <a:rPr sz="2800" b="1" i="1" spc="-8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neurônios</a:t>
            </a:r>
            <a:r>
              <a:rPr sz="2800" b="1" i="1" spc="-8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através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terminais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659765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Cada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neurônio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possui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spc="-20" dirty="0">
                <a:latin typeface="Calibri"/>
                <a:cs typeface="Calibri"/>
              </a:rPr>
              <a:t>axônio,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geralmente,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mais </a:t>
            </a:r>
            <a:r>
              <a:rPr sz="2800" dirty="0">
                <a:latin typeface="Calibri"/>
                <a:cs typeface="Calibri"/>
              </a:rPr>
              <a:t>longo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dendritos.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634" y="2421127"/>
            <a:ext cx="5478170" cy="31509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Um</a:t>
            </a:r>
            <a:r>
              <a:rPr spc="-20" dirty="0"/>
              <a:t> </a:t>
            </a:r>
            <a:r>
              <a:rPr dirty="0"/>
              <a:t>pouco de</a:t>
            </a:r>
            <a:r>
              <a:rPr spc="-20" dirty="0"/>
              <a:t> contexto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4371" y="1171447"/>
            <a:ext cx="4685500" cy="26950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1453337"/>
            <a:ext cx="5852160" cy="403732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corpo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celular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(também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conhecido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soma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contém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núcleo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neurônio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responsável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integração</a:t>
            </a:r>
            <a:r>
              <a:rPr sz="2800" b="1" i="1" spc="-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estímulos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recebidos </a:t>
            </a:r>
            <a:r>
              <a:rPr sz="2800" dirty="0">
                <a:latin typeface="Calibri"/>
                <a:cs typeface="Calibri"/>
              </a:rPr>
              <a:t>pelo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neurônio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seus </a:t>
            </a:r>
            <a:r>
              <a:rPr sz="2800" spc="-10" dirty="0">
                <a:latin typeface="Calibri"/>
                <a:cs typeface="Calibri"/>
              </a:rPr>
              <a:t>dendritos.</a:t>
            </a:r>
            <a:endParaRPr sz="2800" dirty="0">
              <a:latin typeface="Calibri"/>
              <a:cs typeface="Calibri"/>
            </a:endParaRPr>
          </a:p>
          <a:p>
            <a:pPr marL="241300" marR="31115" indent="-228600">
              <a:lnSpc>
                <a:spcPct val="9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pontos</a:t>
            </a:r>
            <a:r>
              <a:rPr sz="2800" b="1" i="1" spc="-9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9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contato</a:t>
            </a:r>
            <a:r>
              <a:rPr sz="2800" b="1" i="1" spc="-10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dirty="0">
                <a:latin typeface="Calibri"/>
                <a:cs typeface="Calibri"/>
              </a:rPr>
              <a:t>dentritos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neurônio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dirty="0">
                <a:latin typeface="Calibri"/>
                <a:cs typeface="Calibri"/>
              </a:rPr>
              <a:t>terminais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axônio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neurônio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sinapses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0043" y="4339107"/>
            <a:ext cx="4005706" cy="23834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Um</a:t>
            </a:r>
            <a:r>
              <a:rPr spc="-20" dirty="0"/>
              <a:t> </a:t>
            </a:r>
            <a:r>
              <a:rPr dirty="0"/>
              <a:t>pouco de</a:t>
            </a:r>
            <a:r>
              <a:rPr spc="-20" dirty="0"/>
              <a:t> contexto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61619"/>
            <a:ext cx="5922010" cy="30118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410845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neurônios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comunicam </a:t>
            </a:r>
            <a:r>
              <a:rPr sz="2800" dirty="0">
                <a:latin typeface="Calibri"/>
                <a:cs typeface="Calibri"/>
              </a:rPr>
              <a:t>uns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das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sinapses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83515" indent="-228600">
              <a:lnSpc>
                <a:spcPts val="303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Sinapses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químicas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mais </a:t>
            </a:r>
            <a:r>
              <a:rPr sz="2800" dirty="0">
                <a:latin typeface="Calibri"/>
                <a:cs typeface="Calibri"/>
              </a:rPr>
              <a:t>comuns,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elétricas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pouco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comuns.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sinapse química.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9004" y="2096261"/>
            <a:ext cx="4005707" cy="23834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8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Um</a:t>
            </a:r>
            <a:r>
              <a:rPr spc="-20" dirty="0"/>
              <a:t> </a:t>
            </a:r>
            <a:r>
              <a:rPr dirty="0"/>
              <a:t>pouco de</a:t>
            </a:r>
            <a:r>
              <a:rPr spc="-20" dirty="0"/>
              <a:t> contexto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284" y="1918893"/>
            <a:ext cx="4527043" cy="42589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80075" y="1682623"/>
            <a:ext cx="6153785" cy="47618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lembrando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exceções,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podemos simplificar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funcionamento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neurônio </a:t>
            </a:r>
            <a:r>
              <a:rPr sz="2800" spc="-10" dirty="0">
                <a:latin typeface="Calibri"/>
                <a:cs typeface="Calibri"/>
              </a:rPr>
              <a:t>como:</a:t>
            </a:r>
            <a:endParaRPr sz="2800" dirty="0">
              <a:latin typeface="Calibri"/>
              <a:cs typeface="Calibri"/>
            </a:endParaRPr>
          </a:p>
          <a:p>
            <a:pPr marL="698500" marR="673735" lvl="1" indent="-229235">
              <a:lnSpc>
                <a:spcPts val="2590"/>
              </a:lnSpc>
              <a:spcBef>
                <a:spcPts val="54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neurônio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recebe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estímulos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elétricos, através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dendritos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689610" lvl="1" indent="-229235">
              <a:lnSpc>
                <a:spcPts val="259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Esses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estímulos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somados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corpo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celular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soma</a:t>
            </a:r>
            <a:r>
              <a:rPr sz="2400" spc="-10" dirty="0">
                <a:latin typeface="Calibri"/>
                <a:cs typeface="Calibri"/>
              </a:rPr>
              <a:t>).</a:t>
            </a:r>
            <a:endParaRPr sz="2400" dirty="0">
              <a:latin typeface="Calibri"/>
              <a:cs typeface="Calibri"/>
            </a:endParaRPr>
          </a:p>
          <a:p>
            <a:pPr marL="698500" marR="102870" lvl="1" indent="-229235">
              <a:lnSpc>
                <a:spcPct val="90000"/>
              </a:lnSpc>
              <a:spcBef>
                <a:spcPts val="45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estímulos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exceder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certo </a:t>
            </a:r>
            <a:r>
              <a:rPr sz="2400" b="1" i="1" dirty="0">
                <a:latin typeface="Calibri"/>
                <a:cs typeface="Calibri"/>
              </a:rPr>
              <a:t>limiar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ativação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neurônio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 </a:t>
            </a:r>
            <a:r>
              <a:rPr sz="2400" dirty="0">
                <a:latin typeface="Calibri"/>
                <a:cs typeface="Calibri"/>
              </a:rPr>
              <a:t>pulso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potencial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ação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enviado </a:t>
            </a:r>
            <a:r>
              <a:rPr sz="2400" dirty="0">
                <a:latin typeface="Calibri"/>
                <a:cs typeface="Calibri"/>
              </a:rPr>
              <a:t>pelos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terminais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axônio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outros neurônios.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8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Um</a:t>
            </a:r>
            <a:r>
              <a:rPr spc="-20" dirty="0"/>
              <a:t> </a:t>
            </a:r>
            <a:r>
              <a:rPr dirty="0"/>
              <a:t>pouco de</a:t>
            </a:r>
            <a:r>
              <a:rPr spc="-20" dirty="0"/>
              <a:t> contexto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59373" y="1611629"/>
            <a:ext cx="6062345" cy="4931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marR="548640" indent="-228600" algn="r">
              <a:lnSpc>
                <a:spcPts val="3190"/>
              </a:lnSpc>
              <a:spcBef>
                <a:spcPts val="95"/>
              </a:spcBef>
              <a:buFont typeface="Arial"/>
              <a:buChar char="•"/>
              <a:tabLst>
                <a:tab pos="228600" algn="l"/>
              </a:tabLst>
            </a:pP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neurônio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conectar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até</a:t>
            </a:r>
            <a:endParaRPr sz="2800" dirty="0">
              <a:latin typeface="Calibri"/>
              <a:cs typeface="Calibri"/>
            </a:endParaRPr>
          </a:p>
          <a:p>
            <a:pPr marR="555625" algn="r">
              <a:lnSpc>
                <a:spcPts val="3025"/>
              </a:lnSpc>
            </a:pPr>
            <a:r>
              <a:rPr sz="2800" dirty="0">
                <a:latin typeface="Calibri"/>
                <a:cs typeface="Calibri"/>
              </a:rPr>
              <a:t>20.000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neurônios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das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b="1" i="1" spc="-10" dirty="0">
                <a:latin typeface="Calibri"/>
                <a:cs typeface="Calibri"/>
              </a:rPr>
              <a:t>sinapses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sinais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passados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neurônio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 </a:t>
            </a:r>
            <a:r>
              <a:rPr sz="2800" b="1" i="1" dirty="0">
                <a:latin typeface="Calibri"/>
                <a:cs typeface="Calibri"/>
              </a:rPr>
              <a:t>neurônio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sinapses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(químicas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elétricas).</a:t>
            </a:r>
            <a:endParaRPr sz="2800" dirty="0">
              <a:latin typeface="Calibri"/>
              <a:cs typeface="Calibri"/>
            </a:endParaRPr>
          </a:p>
          <a:p>
            <a:pPr marL="241300" marR="168275" indent="-228600">
              <a:lnSpc>
                <a:spcPct val="900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curso,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neurônio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considerado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sistema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várias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entradas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uma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ou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saídas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comunicação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entre neurônios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feita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sinais elétricos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963" y="1912272"/>
            <a:ext cx="3900345" cy="232403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84497" y="4368038"/>
            <a:ext cx="4064635" cy="1710689"/>
            <a:chOff x="984497" y="4368038"/>
            <a:chExt cx="4064635" cy="171068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4497" y="4935664"/>
              <a:ext cx="4064424" cy="11430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94304" y="4374388"/>
              <a:ext cx="755015" cy="512445"/>
            </a:xfrm>
            <a:custGeom>
              <a:avLst/>
              <a:gdLst/>
              <a:ahLst/>
              <a:cxnLst/>
              <a:rect l="l" t="t" r="r" b="b"/>
              <a:pathLst>
                <a:path w="755014" h="512445">
                  <a:moveTo>
                    <a:pt x="566293" y="0"/>
                  </a:moveTo>
                  <a:lnTo>
                    <a:pt x="566293" y="256031"/>
                  </a:lnTo>
                  <a:lnTo>
                    <a:pt x="755015" y="256031"/>
                  </a:lnTo>
                  <a:lnTo>
                    <a:pt x="377570" y="512063"/>
                  </a:lnTo>
                  <a:lnTo>
                    <a:pt x="0" y="256031"/>
                  </a:lnTo>
                  <a:lnTo>
                    <a:pt x="188721" y="256031"/>
                  </a:lnTo>
                  <a:lnTo>
                    <a:pt x="188721" y="0"/>
                  </a:lnTo>
                  <a:lnTo>
                    <a:pt x="566293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60801" y="4349572"/>
            <a:ext cx="119062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Modelo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Matemático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</a:t>
            </a:r>
            <a:r>
              <a:rPr spc="-25" dirty="0"/>
              <a:t> </a:t>
            </a:r>
            <a:r>
              <a:rPr dirty="0"/>
              <a:t>modelo</a:t>
            </a:r>
            <a:r>
              <a:rPr spc="5" dirty="0"/>
              <a:t> </a:t>
            </a:r>
            <a:r>
              <a:rPr dirty="0"/>
              <a:t>de McCulloch</a:t>
            </a:r>
            <a:r>
              <a:rPr spc="-5" dirty="0"/>
              <a:t> </a:t>
            </a:r>
            <a:r>
              <a:rPr dirty="0"/>
              <a:t>e</a:t>
            </a:r>
            <a:r>
              <a:rPr spc="10" dirty="0"/>
              <a:t> </a:t>
            </a:r>
            <a:r>
              <a:rPr spc="-20" dirty="0"/>
              <a:t>Pitts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79975" y="1540002"/>
            <a:ext cx="6940550" cy="49320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43434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final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século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XIX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início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século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XX </a:t>
            </a:r>
            <a:r>
              <a:rPr sz="2800" spc="-20" dirty="0">
                <a:latin typeface="Calibri"/>
                <a:cs typeface="Calibri"/>
              </a:rPr>
              <a:t>foram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períodos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fundamentais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20" dirty="0">
                <a:latin typeface="Calibri"/>
                <a:cs typeface="Calibri"/>
              </a:rPr>
              <a:t>estabelecimento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conhecimento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atual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sistema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nervoso.</a:t>
            </a:r>
            <a:endParaRPr sz="2800" dirty="0">
              <a:latin typeface="Calibri"/>
              <a:cs typeface="Calibri"/>
            </a:endParaRPr>
          </a:p>
          <a:p>
            <a:pPr marL="241300" marR="15875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entendimento,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1943,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dois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neurocientistas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Warren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McCulloch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Walter </a:t>
            </a:r>
            <a:r>
              <a:rPr sz="2800" dirty="0">
                <a:latin typeface="Calibri"/>
                <a:cs typeface="Calibri"/>
              </a:rPr>
              <a:t>Pitts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artigo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científico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10" dirty="0">
                <a:latin typeface="Calibri"/>
                <a:cs typeface="Calibri"/>
              </a:rPr>
              <a:t>primeiro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computacional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um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neurônio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desse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foi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possível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estabelecer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conexão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funcionamento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spc="-10" dirty="0">
                <a:latin typeface="Calibri"/>
                <a:cs typeface="Calibri"/>
              </a:rPr>
              <a:t>neurônio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lógica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proposicional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859" y="2272792"/>
            <a:ext cx="3133979" cy="330720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25905" y="5635549"/>
            <a:ext cx="2043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Walter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Pitts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Warren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McCulloch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</a:t>
            </a:r>
            <a:r>
              <a:rPr spc="-25" dirty="0"/>
              <a:t> </a:t>
            </a:r>
            <a:r>
              <a:rPr dirty="0"/>
              <a:t>modelo</a:t>
            </a:r>
            <a:r>
              <a:rPr spc="5" dirty="0"/>
              <a:t> </a:t>
            </a:r>
            <a:r>
              <a:rPr dirty="0"/>
              <a:t>de McCulloch</a:t>
            </a:r>
            <a:r>
              <a:rPr spc="-5" dirty="0"/>
              <a:t> </a:t>
            </a:r>
            <a:r>
              <a:rPr dirty="0"/>
              <a:t>e</a:t>
            </a:r>
            <a:r>
              <a:rPr spc="10" dirty="0"/>
              <a:t> </a:t>
            </a:r>
            <a:r>
              <a:rPr spc="-20" dirty="0"/>
              <a:t>Pitts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06473"/>
            <a:ext cx="10836275" cy="5087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329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dirty="0">
                <a:latin typeface="Calibri"/>
                <a:cs typeface="Calibri"/>
              </a:rPr>
              <a:t>Lógica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proposicional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baseia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proposições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132080" lvl="1" indent="-228600">
              <a:lnSpc>
                <a:spcPts val="2310"/>
              </a:lnSpc>
              <a:spcBef>
                <a:spcPts val="52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Uma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proposição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sentença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declarativa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afirmação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uma </a:t>
            </a:r>
            <a:r>
              <a:rPr sz="2400" dirty="0">
                <a:latin typeface="Calibri"/>
                <a:cs typeface="Calibri"/>
              </a:rPr>
              <a:t>sentença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faz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afirmação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sobre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um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fato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podendo</a:t>
            </a:r>
            <a:r>
              <a:rPr sz="24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este</a:t>
            </a:r>
            <a:r>
              <a:rPr sz="2400" b="1" i="1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ser</a:t>
            </a:r>
            <a:r>
              <a:rPr sz="2400" b="1" i="1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verdadeiro</a:t>
            </a:r>
            <a:r>
              <a:rPr sz="24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EC7C30"/>
                </a:solidFill>
                <a:latin typeface="Calibri"/>
                <a:cs typeface="Calibri"/>
              </a:rPr>
              <a:t>ou </a:t>
            </a:r>
            <a:r>
              <a:rPr sz="2400" b="1" i="1" spc="-10" dirty="0">
                <a:solidFill>
                  <a:srgbClr val="EC7C30"/>
                </a:solidFill>
                <a:latin typeface="Calibri"/>
                <a:cs typeface="Calibri"/>
              </a:rPr>
              <a:t>falso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artigo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McCulloch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Pitts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forneceu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insights</a:t>
            </a:r>
            <a:r>
              <a:rPr sz="2800" i="1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fundamentais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lógica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proposicional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pode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ser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processada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por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um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neurônio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24460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Existe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correspondência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direta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lógica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proposicional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lógica Booleana.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560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Podemos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pensar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sentença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declarativa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expressão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595"/>
              </a:lnSpc>
            </a:pPr>
            <a:r>
              <a:rPr sz="2400" b="1" i="1" spc="-10" dirty="0">
                <a:latin typeface="Calibri"/>
                <a:cs typeface="Calibri"/>
              </a:rPr>
              <a:t>Booleana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40"/>
              </a:spcBef>
              <a:buFont typeface="Courier New"/>
              <a:buChar char="o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1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 =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1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10"/>
              </a:spcBef>
              <a:buFont typeface="Courier New"/>
              <a:buChar char="o"/>
              <a:tabLst>
                <a:tab pos="1156335" algn="l"/>
                <a:tab pos="1826895" algn="l"/>
              </a:tabLst>
            </a:pPr>
            <a:r>
              <a:rPr sz="2000" dirty="0">
                <a:latin typeface="Calibri"/>
                <a:cs typeface="Calibri"/>
              </a:rPr>
              <a:t>1 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0</a:t>
            </a:r>
            <a:r>
              <a:rPr sz="2000" dirty="0">
                <a:latin typeface="Calibri"/>
                <a:cs typeface="Calibri"/>
              </a:rPr>
              <a:t>	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0</a:t>
            </a:r>
            <a:endParaRPr sz="2000" dirty="0">
              <a:latin typeface="Calibri"/>
              <a:cs typeface="Calibri"/>
            </a:endParaRPr>
          </a:p>
          <a:p>
            <a:pPr marL="241300" marR="200025" indent="-228600">
              <a:lnSpc>
                <a:spcPts val="269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desta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correspondência,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relação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foi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direta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10" dirty="0">
                <a:latin typeface="Calibri"/>
                <a:cs typeface="Calibri"/>
              </a:rPr>
              <a:t>natural.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9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25" dirty="0"/>
              <a:t> </a:t>
            </a:r>
            <a:r>
              <a:rPr dirty="0"/>
              <a:t>modelo</a:t>
            </a:r>
            <a:r>
              <a:rPr spc="5" dirty="0"/>
              <a:t> </a:t>
            </a:r>
            <a:r>
              <a:rPr dirty="0"/>
              <a:t>de McCulloch</a:t>
            </a:r>
            <a:r>
              <a:rPr spc="-5" dirty="0"/>
              <a:t> </a:t>
            </a:r>
            <a:r>
              <a:rPr dirty="0"/>
              <a:t>e</a:t>
            </a:r>
            <a:r>
              <a:rPr spc="10" dirty="0"/>
              <a:t> </a:t>
            </a:r>
            <a:r>
              <a:rPr spc="-20" dirty="0"/>
              <a:t>Pitts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66979" y="1600200"/>
            <a:ext cx="6091555" cy="46742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28829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 matemático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neurônio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proposto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 </a:t>
            </a:r>
            <a:r>
              <a:rPr sz="2800" dirty="0">
                <a:latin typeface="Calibri"/>
                <a:cs typeface="Calibri"/>
              </a:rPr>
              <a:t>McCulloch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Pitts.</a:t>
            </a:r>
            <a:endParaRPr sz="2800" dirty="0">
              <a:latin typeface="Calibri"/>
              <a:cs typeface="Calibri"/>
            </a:endParaRPr>
          </a:p>
          <a:p>
            <a:pPr marL="241300" marR="28321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McCulloch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Pitts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(M-P).</a:t>
            </a:r>
            <a:endParaRPr sz="2800" dirty="0">
              <a:latin typeface="Calibri"/>
              <a:cs typeface="Calibri"/>
            </a:endParaRPr>
          </a:p>
          <a:p>
            <a:pPr marL="241300" marR="68580" indent="-228600">
              <a:lnSpc>
                <a:spcPct val="901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  <a:tab pos="2091689" algn="l"/>
                <a:tab pos="2444750" algn="l"/>
              </a:tabLst>
            </a:pPr>
            <a:r>
              <a:rPr sz="2800" dirty="0">
                <a:latin typeface="Calibri"/>
                <a:cs typeface="Calibri"/>
              </a:rPr>
              <a:t>Grosso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neurônio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ativado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(ou </a:t>
            </a:r>
            <a:r>
              <a:rPr sz="2800" spc="-10" dirty="0">
                <a:latin typeface="Calibri"/>
                <a:cs typeface="Calibri"/>
              </a:rPr>
              <a:t>disparado)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soma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suas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entradas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𝑔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excede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limiar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ativação</a:t>
            </a:r>
            <a:r>
              <a:rPr sz="2800" i="1" dirty="0">
                <a:latin typeface="Calibri"/>
                <a:cs typeface="Calibri"/>
              </a:rPr>
              <a:t>,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𝜃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ativação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𝑓(.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)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estabelece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algumas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premissas </a:t>
            </a:r>
            <a:r>
              <a:rPr sz="2800" spc="-20" dirty="0">
                <a:latin typeface="Calibri"/>
                <a:cs typeface="Calibri"/>
              </a:rPr>
              <a:t>apresentadas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seguir.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8EC93EDF-CFFA-ADCF-B0C0-DD86B3B7F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09800"/>
            <a:ext cx="4963737" cy="31658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9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Premissas</a:t>
            </a:r>
            <a:r>
              <a:rPr spc="-40" dirty="0"/>
              <a:t> </a:t>
            </a:r>
            <a:r>
              <a:rPr dirty="0"/>
              <a:t>do</a:t>
            </a:r>
            <a:r>
              <a:rPr spc="-30" dirty="0"/>
              <a:t> </a:t>
            </a:r>
            <a:r>
              <a:rPr dirty="0"/>
              <a:t>modelo</a:t>
            </a:r>
            <a:r>
              <a:rPr spc="-2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McCulloch</a:t>
            </a:r>
            <a:r>
              <a:rPr spc="-15" dirty="0"/>
              <a:t> </a:t>
            </a:r>
            <a:r>
              <a:rPr dirty="0"/>
              <a:t>e</a:t>
            </a:r>
            <a:r>
              <a:rPr spc="-30" dirty="0"/>
              <a:t> </a:t>
            </a:r>
            <a:r>
              <a:rPr spc="-10" dirty="0"/>
              <a:t>Pitts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4059" y="1489075"/>
            <a:ext cx="6271260" cy="1974214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54000" marR="252729" indent="-228600" algn="just">
              <a:lnSpc>
                <a:spcPct val="89800"/>
              </a:lnSpc>
              <a:spcBef>
                <a:spcPts val="420"/>
              </a:spcBef>
              <a:buFont typeface="Arial"/>
              <a:buChar char="•"/>
              <a:tabLst>
                <a:tab pos="254000" algn="l"/>
              </a:tabLst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valores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entradas,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65" dirty="0">
                <a:latin typeface="Cambria Math"/>
                <a:cs typeface="Cambria Math"/>
              </a:rPr>
              <a:t>𝑥</a:t>
            </a:r>
            <a:r>
              <a:rPr sz="2850" spc="97" baseline="-16081" dirty="0">
                <a:latin typeface="Cambria Math"/>
                <a:cs typeface="Cambria Math"/>
              </a:rPr>
              <a:t>𝑖</a:t>
            </a:r>
            <a:r>
              <a:rPr sz="2600" spc="65" dirty="0">
                <a:latin typeface="Cambria Math"/>
                <a:cs typeface="Cambria Math"/>
              </a:rPr>
              <a:t>,</a:t>
            </a:r>
            <a:r>
              <a:rPr sz="2600" spc="-14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∀𝑖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também </a:t>
            </a:r>
            <a:r>
              <a:rPr sz="2600" dirty="0">
                <a:latin typeface="Calibri"/>
                <a:cs typeface="Calibri"/>
              </a:rPr>
              <a:t>chamados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sinapses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sempre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valores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booleanos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i.e.,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45" dirty="0">
                <a:latin typeface="Calibri"/>
                <a:cs typeface="Calibri"/>
              </a:rPr>
              <a:t>‘0’,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‘1’.</a:t>
            </a:r>
            <a:endParaRPr sz="2600" dirty="0">
              <a:latin typeface="Calibri"/>
              <a:cs typeface="Calibri"/>
            </a:endParaRPr>
          </a:p>
          <a:p>
            <a:pPr marL="254000" marR="17780" indent="-228600" algn="just">
              <a:lnSpc>
                <a:spcPts val="2810"/>
              </a:lnSpc>
              <a:spcBef>
                <a:spcPts val="1035"/>
              </a:spcBef>
              <a:buFont typeface="Arial"/>
              <a:buChar char="•"/>
              <a:tabLst>
                <a:tab pos="254000" algn="l"/>
              </a:tabLst>
            </a:pPr>
            <a:r>
              <a:rPr sz="2600" dirty="0">
                <a:latin typeface="Calibri"/>
                <a:cs typeface="Calibri"/>
              </a:rPr>
              <a:t>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entradas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multiplicadas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com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magnitudes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unitárias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(+/-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1)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6F2F9F"/>
                </a:solidFill>
                <a:latin typeface="Calibri"/>
                <a:cs typeface="Calibri"/>
              </a:rPr>
              <a:t>somadas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56759" y="3525392"/>
            <a:ext cx="6681470" cy="31724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9525" indent="-228600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atividade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neurônio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tipo </a:t>
            </a:r>
            <a:r>
              <a:rPr sz="2600" dirty="0">
                <a:latin typeface="Calibri"/>
                <a:cs typeface="Calibri"/>
              </a:rPr>
              <a:t>“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tudo</a:t>
            </a:r>
            <a:r>
              <a:rPr sz="2600" b="1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ou</a:t>
            </a:r>
            <a:r>
              <a:rPr sz="2600" b="1" i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spc="-25" dirty="0">
                <a:solidFill>
                  <a:srgbClr val="006FC0"/>
                </a:solidFill>
                <a:latin typeface="Calibri"/>
                <a:cs typeface="Calibri"/>
              </a:rPr>
              <a:t>nada</a:t>
            </a:r>
            <a:r>
              <a:rPr sz="2600" spc="-25" dirty="0">
                <a:latin typeface="Calibri"/>
                <a:cs typeface="Calibri"/>
              </a:rPr>
              <a:t>”,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binário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(0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1).</a:t>
            </a:r>
            <a:endParaRPr sz="2600" dirty="0">
              <a:latin typeface="Calibri"/>
              <a:cs typeface="Calibri"/>
            </a:endParaRPr>
          </a:p>
          <a:p>
            <a:pPr marL="241300" marR="144780" indent="-228600">
              <a:lnSpc>
                <a:spcPct val="902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Portanto,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ativação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neurônio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é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 degrau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ponto</a:t>
            </a:r>
            <a:r>
              <a:rPr sz="2600" b="1" i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2600" b="1" i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EF"/>
                </a:solidFill>
                <a:latin typeface="Calibri"/>
                <a:cs typeface="Calibri"/>
              </a:rPr>
              <a:t>disparo </a:t>
            </a:r>
            <a:r>
              <a:rPr sz="2600" b="1" i="1" dirty="0">
                <a:solidFill>
                  <a:srgbClr val="00AFEF"/>
                </a:solidFill>
                <a:latin typeface="Calibri"/>
                <a:cs typeface="Calibri"/>
              </a:rPr>
              <a:t>variável</a:t>
            </a:r>
            <a:r>
              <a:rPr sz="2600" i="1" dirty="0">
                <a:latin typeface="Calibri"/>
                <a:cs typeface="Calibri"/>
              </a:rPr>
              <a:t>,</a:t>
            </a:r>
            <a:r>
              <a:rPr sz="2600" i="1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dependente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limiar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ativação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5" dirty="0">
                <a:latin typeface="Cambria Math"/>
                <a:cs typeface="Cambria Math"/>
              </a:rPr>
              <a:t>𝜃</a:t>
            </a:r>
            <a:r>
              <a:rPr sz="2600" b="1" i="1" spc="-2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65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certo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número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sinapses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excitado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965"/>
              </a:lnSpc>
            </a:pP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neurônio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“dispare”.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302" y="3066638"/>
            <a:ext cx="3823282" cy="175263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760979" y="3440938"/>
            <a:ext cx="1831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função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ativação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9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25" dirty="0"/>
              <a:t> </a:t>
            </a:r>
            <a:r>
              <a:rPr dirty="0"/>
              <a:t>modelo</a:t>
            </a:r>
            <a:r>
              <a:rPr spc="5" dirty="0"/>
              <a:t> </a:t>
            </a:r>
            <a:r>
              <a:rPr dirty="0"/>
              <a:t>de McCulloch</a:t>
            </a:r>
            <a:r>
              <a:rPr spc="-5" dirty="0"/>
              <a:t> </a:t>
            </a:r>
            <a:r>
              <a:rPr dirty="0"/>
              <a:t>e</a:t>
            </a:r>
            <a:r>
              <a:rPr spc="10" dirty="0"/>
              <a:t> </a:t>
            </a:r>
            <a:r>
              <a:rPr spc="-20" dirty="0"/>
              <a:t>Pitts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9245" y="1482979"/>
            <a:ext cx="6192520" cy="280846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Portanto,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neurônio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McCulloch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Pitts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classificador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linear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binário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com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i="1" dirty="0">
                <a:latin typeface="Calibri"/>
                <a:cs typeface="Calibri"/>
              </a:rPr>
              <a:t>limiar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decisão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10" dirty="0" err="1">
                <a:latin typeface="Calibri"/>
                <a:cs typeface="Calibri"/>
              </a:rPr>
              <a:t>rígido</a:t>
            </a:r>
            <a:r>
              <a:rPr sz="2400" b="1" i="1" spc="-10" dirty="0">
                <a:latin typeface="Calibri"/>
                <a:cs typeface="Calibri"/>
              </a:rPr>
              <a:t>,</a:t>
            </a:r>
            <a:endParaRPr lang="pt-BR" sz="2400" b="1" i="1" spc="-10" dirty="0">
              <a:latin typeface="Calibri"/>
              <a:cs typeface="Calibri"/>
            </a:endParaRPr>
          </a:p>
          <a:p>
            <a:pPr marL="698500" indent="-228600">
              <a:lnSpc>
                <a:spcPct val="100000"/>
              </a:lnSpc>
              <a:spcBef>
                <a:spcPts val="300"/>
              </a:spcBef>
              <a:buFont typeface="Wingdings"/>
              <a:buChar char=""/>
              <a:tabLst>
                <a:tab pos="698500" algn="l"/>
              </a:tabLst>
            </a:pPr>
            <a:r>
              <a:rPr lang="pt-BR" sz="2400" b="1" i="1" dirty="0">
                <a:latin typeface="Calibri"/>
                <a:cs typeface="Calibri"/>
              </a:rPr>
              <a:t>ponto</a:t>
            </a:r>
            <a:r>
              <a:rPr lang="pt-BR" sz="2400" b="1" i="1" spc="-30" dirty="0">
                <a:latin typeface="Calibri"/>
                <a:cs typeface="Calibri"/>
              </a:rPr>
              <a:t> </a:t>
            </a:r>
            <a:r>
              <a:rPr lang="pt-BR" sz="2400" b="1" i="1" dirty="0">
                <a:latin typeface="Calibri"/>
                <a:cs typeface="Calibri"/>
              </a:rPr>
              <a:t>de</a:t>
            </a:r>
            <a:r>
              <a:rPr lang="pt-BR" sz="2400" b="1" i="1" spc="-35" dirty="0">
                <a:latin typeface="Calibri"/>
                <a:cs typeface="Calibri"/>
              </a:rPr>
              <a:t> </a:t>
            </a:r>
            <a:r>
              <a:rPr lang="pt-BR" sz="2400" b="1" i="1" dirty="0">
                <a:latin typeface="Calibri"/>
                <a:cs typeface="Calibri"/>
              </a:rPr>
              <a:t>disparo</a:t>
            </a:r>
            <a:r>
              <a:rPr lang="pt-BR" sz="2400" b="1" i="1" spc="-35" dirty="0">
                <a:latin typeface="Calibri"/>
                <a:cs typeface="Calibri"/>
              </a:rPr>
              <a:t> </a:t>
            </a:r>
            <a:r>
              <a:rPr lang="pt-BR" sz="2400" b="1" i="1" spc="-10" dirty="0">
                <a:latin typeface="Calibri"/>
                <a:cs typeface="Calibri"/>
              </a:rPr>
              <a:t>variável,</a:t>
            </a:r>
            <a:endParaRPr lang="pt-BR" sz="2400" dirty="0">
              <a:latin typeface="Calibri"/>
              <a:cs typeface="Calibri"/>
            </a:endParaRPr>
          </a:p>
          <a:p>
            <a:pPr marL="698500" indent="-228600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698500" algn="l"/>
              </a:tabLst>
            </a:pPr>
            <a:r>
              <a:rPr lang="pt-BR" sz="2400" b="1" i="1" dirty="0">
                <a:latin typeface="Calibri"/>
                <a:cs typeface="Calibri"/>
              </a:rPr>
              <a:t>pesos</a:t>
            </a:r>
            <a:r>
              <a:rPr lang="pt-BR" sz="2400" b="1" i="1" spc="-45" dirty="0">
                <a:latin typeface="Calibri"/>
                <a:cs typeface="Calibri"/>
              </a:rPr>
              <a:t> </a:t>
            </a:r>
            <a:r>
              <a:rPr lang="pt-BR" sz="2400" b="1" i="1" dirty="0">
                <a:latin typeface="Calibri"/>
                <a:cs typeface="Calibri"/>
              </a:rPr>
              <a:t>com</a:t>
            </a:r>
            <a:r>
              <a:rPr lang="pt-BR" sz="2400" b="1" i="1" spc="-35" dirty="0">
                <a:latin typeface="Calibri"/>
                <a:cs typeface="Calibri"/>
              </a:rPr>
              <a:t> </a:t>
            </a:r>
            <a:r>
              <a:rPr lang="pt-BR" sz="2400" b="1" i="1" dirty="0">
                <a:latin typeface="Calibri"/>
                <a:cs typeface="Calibri"/>
              </a:rPr>
              <a:t>magnitudes</a:t>
            </a:r>
            <a:r>
              <a:rPr lang="pt-BR" sz="2400" b="1" i="1" spc="-50" dirty="0">
                <a:latin typeface="Calibri"/>
                <a:cs typeface="Calibri"/>
              </a:rPr>
              <a:t> </a:t>
            </a:r>
            <a:r>
              <a:rPr lang="pt-BR" sz="2400" b="1" i="1" dirty="0">
                <a:latin typeface="Calibri"/>
                <a:cs typeface="Calibri"/>
              </a:rPr>
              <a:t>unitárias</a:t>
            </a:r>
            <a:r>
              <a:rPr lang="pt-BR" sz="2400" b="1" i="1" spc="-25" dirty="0">
                <a:latin typeface="Calibri"/>
                <a:cs typeface="Calibri"/>
              </a:rPr>
              <a:t> </a:t>
            </a:r>
            <a:r>
              <a:rPr lang="pt-BR" sz="2400" spc="-50" dirty="0">
                <a:latin typeface="Calibri"/>
                <a:cs typeface="Calibri"/>
              </a:rPr>
              <a:t>e</a:t>
            </a:r>
            <a:endParaRPr lang="pt-BR" sz="2400" dirty="0">
              <a:latin typeface="Calibri"/>
              <a:cs typeface="Calibri"/>
            </a:endParaRPr>
          </a:p>
          <a:p>
            <a:pPr marL="698500" indent="-228600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8500" algn="l"/>
              </a:tabLst>
            </a:pPr>
            <a:r>
              <a:rPr lang="pt-BR" sz="2400" b="1" i="1" dirty="0">
                <a:latin typeface="Calibri"/>
                <a:cs typeface="Calibri"/>
              </a:rPr>
              <a:t>atributos</a:t>
            </a:r>
            <a:r>
              <a:rPr lang="pt-BR" sz="2400" b="1" i="1" spc="-60" dirty="0">
                <a:latin typeface="Calibri"/>
                <a:cs typeface="Calibri"/>
              </a:rPr>
              <a:t> </a:t>
            </a:r>
            <a:r>
              <a:rPr lang="pt-BR" sz="2400" b="1" i="1" spc="-10" dirty="0">
                <a:latin typeface="Calibri"/>
                <a:cs typeface="Calibri"/>
              </a:rPr>
              <a:t>booleanos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89245" y="4467513"/>
            <a:ext cx="6095365" cy="209954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69900" marR="5080" indent="-457200" algn="just">
              <a:lnSpc>
                <a:spcPts val="3020"/>
              </a:lnSpc>
              <a:spcBef>
                <a:spcPts val="10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800" spc="-10" dirty="0" err="1">
                <a:latin typeface="Calibri"/>
                <a:cs typeface="Calibri"/>
              </a:rPr>
              <a:t>Percebam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é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um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modelo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aprendizado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supervisionado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20650" indent="-228600" algn="just">
              <a:lnSpc>
                <a:spcPct val="90000"/>
              </a:lnSpc>
              <a:spcBef>
                <a:spcPts val="969"/>
              </a:spcBef>
              <a:buFont typeface="Wingdings"/>
              <a:buChar char="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Vamos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alguns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portas </a:t>
            </a:r>
            <a:r>
              <a:rPr sz="2800" dirty="0">
                <a:latin typeface="Calibri"/>
                <a:cs typeface="Calibri"/>
              </a:rPr>
              <a:t>lógicas,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vistos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 </a:t>
            </a:r>
            <a:r>
              <a:rPr sz="2800" spc="-10" dirty="0">
                <a:latin typeface="Calibri"/>
                <a:cs typeface="Calibri"/>
              </a:rPr>
              <a:t>problemas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binária.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047" y="2900395"/>
            <a:ext cx="3823282" cy="175262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94864" y="3274263"/>
            <a:ext cx="1829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função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ativação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portas</a:t>
            </a:r>
            <a:r>
              <a:rPr spc="-45" dirty="0"/>
              <a:t> </a:t>
            </a:r>
            <a:r>
              <a:rPr dirty="0"/>
              <a:t>lógicas</a:t>
            </a:r>
            <a:r>
              <a:rPr spc="-40" dirty="0"/>
              <a:t> </a:t>
            </a:r>
            <a:r>
              <a:rPr dirty="0"/>
              <a:t>com</a:t>
            </a:r>
            <a:r>
              <a:rPr spc="-35" dirty="0"/>
              <a:t> </a:t>
            </a:r>
            <a:r>
              <a:rPr dirty="0"/>
              <a:t>o</a:t>
            </a:r>
            <a:r>
              <a:rPr spc="-55" dirty="0"/>
              <a:t> </a:t>
            </a:r>
            <a:r>
              <a:rPr dirty="0"/>
              <a:t>modelo</a:t>
            </a:r>
            <a:r>
              <a:rPr spc="-35" dirty="0"/>
              <a:t> </a:t>
            </a:r>
            <a:r>
              <a:rPr spc="-25" dirty="0"/>
              <a:t>M-</a:t>
            </a:r>
            <a:r>
              <a:rPr spc="-50" dirty="0"/>
              <a:t>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object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5079229"/>
                  </p:ext>
                </p:extLst>
              </p:nvPr>
            </p:nvGraphicFramePr>
            <p:xfrm>
              <a:off x="1508315" y="1066800"/>
              <a:ext cx="2202179" cy="18732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05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5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054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05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2420">
                    <a:tc gridSpan="4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spc="-25" dirty="0">
                              <a:latin typeface="Calibri"/>
                              <a:cs typeface="Calibri"/>
                            </a:rPr>
                            <a:t>OR</a:t>
                          </a:r>
                          <a:endParaRPr sz="1800" dirty="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000000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191770" algn="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1</a:t>
                          </a:r>
                          <a:endParaRPr sz="1950" baseline="-14957" dirty="0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188595" algn="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2</a:t>
                          </a:r>
                          <a:endParaRPr sz="1950" baseline="-14957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43180" algn="ct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0" dirty="0">
                              <a:latin typeface="Cambria Math"/>
                              <a:cs typeface="Cambria Math"/>
                            </a:rPr>
                            <a:t>𝑔(𝒙)</a:t>
                          </a:r>
                          <a:endParaRPr sz="1800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35585" algn="r">
                            <a:lnSpc>
                              <a:spcPct val="100000"/>
                            </a:lnSpc>
                            <a:spcBef>
                              <a:spcPts val="45"/>
                            </a:spcBef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sz="1800" dirty="0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571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209550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9550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209550" algn="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</a:p>
                      </a:txBody>
                      <a:tcPr marL="0" marR="0" marT="381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9550" algn="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209550" algn="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</a:p>
                      </a:txBody>
                      <a:tcPr marL="0" marR="0" marT="381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209550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9550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2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object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5079229"/>
                  </p:ext>
                </p:extLst>
              </p:nvPr>
            </p:nvGraphicFramePr>
            <p:xfrm>
              <a:off x="1508315" y="1066800"/>
              <a:ext cx="2202179" cy="18732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05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5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054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05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2420">
                    <a:tc gridSpan="4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spc="-25" dirty="0">
                              <a:latin typeface="Calibri"/>
                              <a:cs typeface="Calibri"/>
                            </a:rPr>
                            <a:t>OR</a:t>
                          </a:r>
                          <a:endParaRPr sz="1800" dirty="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000000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191770" algn="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1</a:t>
                          </a:r>
                          <a:endParaRPr sz="1950" baseline="-14957" dirty="0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188595" algn="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2</a:t>
                          </a:r>
                          <a:endParaRPr sz="1950" baseline="-14957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43180" algn="ct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0" dirty="0">
                              <a:latin typeface="Cambria Math"/>
                              <a:cs typeface="Cambria Math"/>
                            </a:rPr>
                            <a:t>𝑔(𝒙)</a:t>
                          </a:r>
                          <a:endParaRPr sz="1800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0" marR="0" marT="571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303333" t="-121154" r="-2222" b="-42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209550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9550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209550" algn="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</a:p>
                      </a:txBody>
                      <a:tcPr marL="0" marR="0" marT="381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9550" algn="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209550" algn="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</a:p>
                      </a:txBody>
                      <a:tcPr marL="0" marR="0" marT="381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209550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9550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2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object 4"/>
          <p:cNvSpPr/>
          <p:nvPr/>
        </p:nvSpPr>
        <p:spPr>
          <a:xfrm>
            <a:off x="1040295" y="4825619"/>
            <a:ext cx="2520315" cy="1118235"/>
          </a:xfrm>
          <a:custGeom>
            <a:avLst/>
            <a:gdLst/>
            <a:ahLst/>
            <a:cxnLst/>
            <a:rect l="l" t="t" r="r" b="b"/>
            <a:pathLst>
              <a:path w="2520315" h="1118235">
                <a:moveTo>
                  <a:pt x="2520023" y="1079944"/>
                </a:moveTo>
                <a:lnTo>
                  <a:pt x="2507323" y="1073594"/>
                </a:lnTo>
                <a:lnTo>
                  <a:pt x="2443823" y="1041844"/>
                </a:lnTo>
                <a:lnTo>
                  <a:pt x="2443823" y="1073594"/>
                </a:lnTo>
                <a:lnTo>
                  <a:pt x="532853" y="1073594"/>
                </a:lnTo>
                <a:lnTo>
                  <a:pt x="532853" y="76200"/>
                </a:lnTo>
                <a:lnTo>
                  <a:pt x="564603" y="76200"/>
                </a:lnTo>
                <a:lnTo>
                  <a:pt x="558253" y="63500"/>
                </a:lnTo>
                <a:lnTo>
                  <a:pt x="526503" y="0"/>
                </a:lnTo>
                <a:lnTo>
                  <a:pt x="488403" y="76200"/>
                </a:lnTo>
                <a:lnTo>
                  <a:pt x="520153" y="76200"/>
                </a:lnTo>
                <a:lnTo>
                  <a:pt x="520153" y="1073594"/>
                </a:lnTo>
                <a:lnTo>
                  <a:pt x="0" y="1073594"/>
                </a:lnTo>
                <a:lnTo>
                  <a:pt x="0" y="1086294"/>
                </a:lnTo>
                <a:lnTo>
                  <a:pt x="2443823" y="1086294"/>
                </a:lnTo>
                <a:lnTo>
                  <a:pt x="2443823" y="1118044"/>
                </a:lnTo>
                <a:lnTo>
                  <a:pt x="2507323" y="1086294"/>
                </a:lnTo>
                <a:lnTo>
                  <a:pt x="2520023" y="10799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39595" y="5879084"/>
            <a:ext cx="3092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𝜃</a:t>
            </a:r>
            <a:r>
              <a:rPr sz="1400" spc="-25" dirty="0">
                <a:latin typeface="Calibri"/>
                <a:cs typeface="Calibri"/>
              </a:rPr>
              <a:t>=1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66799" y="5430520"/>
            <a:ext cx="1994027" cy="475615"/>
            <a:chOff x="1566799" y="5430520"/>
            <a:chExt cx="1994027" cy="475615"/>
          </a:xfrm>
        </p:grpSpPr>
        <p:sp>
          <p:nvSpPr>
            <p:cNvPr id="7" name="object 7"/>
            <p:cNvSpPr/>
            <p:nvPr/>
          </p:nvSpPr>
          <p:spPr>
            <a:xfrm>
              <a:off x="1977771" y="5430520"/>
              <a:ext cx="1583055" cy="475615"/>
            </a:xfrm>
            <a:custGeom>
              <a:avLst/>
              <a:gdLst/>
              <a:ahLst/>
              <a:cxnLst/>
              <a:rect l="l" t="t" r="r" b="b"/>
              <a:pathLst>
                <a:path w="1583054" h="475614">
                  <a:moveTo>
                    <a:pt x="0" y="0"/>
                  </a:moveTo>
                  <a:lnTo>
                    <a:pt x="0" y="475043"/>
                  </a:lnTo>
                </a:path>
                <a:path w="1583054" h="475614">
                  <a:moveTo>
                    <a:pt x="0" y="0"/>
                  </a:moveTo>
                  <a:lnTo>
                    <a:pt x="158254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66799" y="5430520"/>
              <a:ext cx="411480" cy="0"/>
            </a:xfrm>
            <a:custGeom>
              <a:avLst/>
              <a:gdLst/>
              <a:ahLst/>
              <a:cxnLst/>
              <a:rect l="l" t="t" r="r" b="b"/>
              <a:pathLst>
                <a:path w="411480">
                  <a:moveTo>
                    <a:pt x="410971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04950" y="5922061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90650" y="5300217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14"/>
              <p:cNvSpPr txBox="1"/>
              <p:nvPr/>
            </p:nvSpPr>
            <p:spPr>
              <a:xfrm>
                <a:off x="932156" y="3309628"/>
                <a:ext cx="3254375" cy="2098780"/>
              </a:xfrm>
              <a:prstGeom prst="rect">
                <a:avLst/>
              </a:prstGeom>
            </p:spPr>
            <p:txBody>
              <a:bodyPr vert="horz" wrap="square" lIns="0" tIns="10795" rIns="0" bIns="0" rtlCol="0">
                <a:spAutoFit/>
              </a:bodyPr>
              <a:lstStyle/>
              <a:p>
                <a:pPr marL="299085" marR="471805" indent="-287020">
                  <a:lnSpc>
                    <a:spcPct val="100600"/>
                  </a:lnSpc>
                  <a:spcBef>
                    <a:spcPts val="85"/>
                  </a:spcBef>
                  <a:buFont typeface="Arial"/>
                  <a:buChar char="•"/>
                  <a:tabLst>
                    <a:tab pos="299085" algn="l"/>
                    <a:tab pos="299720" algn="l"/>
                  </a:tabLst>
                </a:pPr>
                <a:r>
                  <a:rPr lang="pt-BR" sz="1800" dirty="0">
                    <a:latin typeface="Calibri"/>
                    <a:cs typeface="Calibri"/>
                  </a:rPr>
                  <a:t>Qual é</a:t>
                </a:r>
                <a:r>
                  <a:rPr lang="pt-BR" sz="1800" spc="-5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o</a:t>
                </a:r>
                <a:r>
                  <a:rPr lang="pt-BR" sz="1800" spc="5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valor</a:t>
                </a:r>
                <a:r>
                  <a:rPr lang="pt-BR" sz="1800" spc="-15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do</a:t>
                </a:r>
                <a:r>
                  <a:rPr lang="pt-BR" sz="1800" spc="15" dirty="0">
                    <a:latin typeface="Calibri"/>
                    <a:cs typeface="Calibri"/>
                  </a:rPr>
                  <a:t> </a:t>
                </a:r>
                <a:r>
                  <a:rPr lang="pt-BR" sz="1800" b="1" i="1" dirty="0">
                    <a:latin typeface="Calibri"/>
                    <a:cs typeface="Calibri"/>
                  </a:rPr>
                  <a:t>limiar</a:t>
                </a:r>
                <a:r>
                  <a:rPr lang="pt-BR" sz="1800" b="1" i="1" spc="-10" dirty="0">
                    <a:latin typeface="Calibri"/>
                    <a:cs typeface="Calibri"/>
                  </a:rPr>
                  <a:t> </a:t>
                </a:r>
                <a:r>
                  <a:rPr lang="pt-BR" sz="1800" b="1" i="1" spc="-25" dirty="0">
                    <a:latin typeface="Calibri"/>
                    <a:cs typeface="Calibri"/>
                  </a:rPr>
                  <a:t>de </a:t>
                </a:r>
                <a:r>
                  <a:rPr lang="pt-BR" sz="1800" b="1" i="1" dirty="0">
                    <a:latin typeface="Calibri"/>
                    <a:cs typeface="Calibri"/>
                  </a:rPr>
                  <a:t>ativação</a:t>
                </a:r>
                <a:r>
                  <a:rPr lang="pt-BR" sz="1800" dirty="0">
                    <a:latin typeface="Calibri"/>
                    <a:cs typeface="Calibri"/>
                  </a:rPr>
                  <a:t>,</a:t>
                </a:r>
                <a:r>
                  <a:rPr lang="pt-BR" sz="1800" spc="-25" dirty="0">
                    <a:latin typeface="Calibri"/>
                    <a:cs typeface="Calibri"/>
                  </a:rPr>
                  <a:t> </a:t>
                </a:r>
                <a:r>
                  <a:rPr lang="pt-BR" sz="1800" spc="-25" dirty="0">
                    <a:latin typeface="Cambria Math"/>
                    <a:cs typeface="Cambria Math"/>
                  </a:rPr>
                  <a:t>𝜃</a:t>
                </a:r>
                <a:r>
                  <a:rPr lang="pt-BR" sz="1800" spc="-25" dirty="0">
                    <a:latin typeface="Calibri"/>
                    <a:cs typeface="Calibri"/>
                  </a:rPr>
                  <a:t>?</a:t>
                </a:r>
                <a:endParaRPr lang="pt-BR" sz="1800" dirty="0">
                  <a:latin typeface="Calibri"/>
                  <a:cs typeface="Calibri"/>
                </a:endParaRPr>
              </a:p>
              <a:p>
                <a:pPr marL="299085" marR="5080" indent="-287020">
                  <a:lnSpc>
                    <a:spcPts val="2150"/>
                  </a:lnSpc>
                  <a:spcBef>
                    <a:spcPts val="80"/>
                  </a:spcBef>
                  <a:buFont typeface="Arial"/>
                  <a:buChar char="•"/>
                  <a:tabLst>
                    <a:tab pos="299085" algn="l"/>
                    <a:tab pos="299720" algn="l"/>
                  </a:tabLst>
                </a:pPr>
                <a:r>
                  <a:rPr lang="pt-BR" sz="1800" spc="-10" dirty="0">
                    <a:latin typeface="Calibri"/>
                    <a:cs typeface="Calibri"/>
                  </a:rPr>
                  <a:t>Analisando-</a:t>
                </a:r>
                <a:r>
                  <a:rPr lang="pt-BR" sz="1800" dirty="0">
                    <a:latin typeface="Calibri"/>
                    <a:cs typeface="Calibri"/>
                  </a:rPr>
                  <a:t>se</a:t>
                </a:r>
                <a:r>
                  <a:rPr lang="pt-BR" sz="1800" spc="25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mbria Math"/>
                    <a:cs typeface="Cambria Math"/>
                  </a:rPr>
                  <a:t>𝑔(𝒙)</a:t>
                </a:r>
                <a:r>
                  <a:rPr lang="pt-BR" sz="1800" dirty="0">
                    <a:latin typeface="Calibri"/>
                    <a:cs typeface="Calibri"/>
                  </a:rPr>
                  <a:t>,</a:t>
                </a:r>
                <a:r>
                  <a:rPr lang="pt-BR" sz="1800" spc="45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vemos</a:t>
                </a:r>
                <a:r>
                  <a:rPr lang="pt-BR" sz="1800" spc="35" dirty="0">
                    <a:latin typeface="Calibri"/>
                    <a:cs typeface="Calibri"/>
                  </a:rPr>
                  <a:t> </a:t>
                </a:r>
                <a:r>
                  <a:rPr lang="pt-BR" sz="1800" spc="-25" dirty="0">
                    <a:latin typeface="Calibri"/>
                    <a:cs typeface="Calibri"/>
                  </a:rPr>
                  <a:t>que </a:t>
                </a:r>
                <a:r>
                  <a:rPr lang="pt-BR" sz="1800" dirty="0">
                    <a:latin typeface="Calibri"/>
                    <a:cs typeface="Calibri"/>
                  </a:rPr>
                  <a:t>o</a:t>
                </a:r>
                <a:r>
                  <a:rPr lang="pt-BR" sz="1800" spc="-35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disparo</a:t>
                </a:r>
                <a:r>
                  <a:rPr lang="pt-BR" sz="1800" spc="-40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deve</a:t>
                </a:r>
                <a:r>
                  <a:rPr lang="pt-BR" sz="1800" spc="-35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ocorrer</a:t>
                </a:r>
                <a:r>
                  <a:rPr lang="pt-BR" sz="1800" spc="-25" dirty="0">
                    <a:latin typeface="Calibri"/>
                    <a:cs typeface="Calibri"/>
                  </a:rPr>
                  <a:t> </a:t>
                </a:r>
                <a:r>
                  <a:rPr lang="pt-BR" sz="1800" spc="-10" dirty="0">
                    <a:latin typeface="Calibri"/>
                    <a:cs typeface="Calibri"/>
                  </a:rPr>
                  <a:t>quando</a:t>
                </a:r>
                <a:endParaRPr lang="pt-BR" sz="1800" dirty="0">
                  <a:latin typeface="Calibri"/>
                  <a:cs typeface="Calibri"/>
                </a:endParaRPr>
              </a:p>
              <a:p>
                <a:pPr marL="299085">
                  <a:lnSpc>
                    <a:spcPts val="2100"/>
                  </a:lnSpc>
                </a:pPr>
                <a:r>
                  <a:rPr lang="pt-BR" sz="1800" dirty="0">
                    <a:latin typeface="Cambria Math"/>
                    <a:cs typeface="Cambria Math"/>
                  </a:rPr>
                  <a:t>𝑔(𝒙)</a:t>
                </a:r>
                <a:r>
                  <a:rPr lang="pt-BR" sz="1800" spc="95" dirty="0">
                    <a:latin typeface="Cambria Math"/>
                    <a:cs typeface="Cambria Math"/>
                  </a:rPr>
                  <a:t> </a:t>
                </a:r>
                <a:r>
                  <a:rPr lang="pt-BR" sz="1800" dirty="0">
                    <a:latin typeface="Cambria Math"/>
                    <a:cs typeface="Cambria Math"/>
                  </a:rPr>
                  <a:t>≥</a:t>
                </a:r>
                <a:r>
                  <a:rPr lang="pt-BR" sz="1800" spc="100" dirty="0">
                    <a:latin typeface="Cambria Math"/>
                    <a:cs typeface="Cambria Math"/>
                  </a:rPr>
                  <a:t> </a:t>
                </a:r>
                <a:r>
                  <a:rPr lang="pt-BR" sz="1800" dirty="0">
                    <a:latin typeface="Cambria Math"/>
                    <a:cs typeface="Cambria Math"/>
                  </a:rPr>
                  <a:t>1</a:t>
                </a:r>
                <a:r>
                  <a:rPr lang="pt-BR" sz="1800" dirty="0">
                    <a:latin typeface="Calibri"/>
                    <a:cs typeface="Calibri"/>
                  </a:rPr>
                  <a:t>, </a:t>
                </a:r>
                <a:r>
                  <a:rPr lang="pt-BR" sz="1800" spc="-10" dirty="0">
                    <a:latin typeface="Calibri"/>
                    <a:cs typeface="Calibri"/>
                  </a:rPr>
                  <a:t>portanto,</a:t>
                </a:r>
                <a:r>
                  <a:rPr lang="pt-BR" sz="1800" spc="10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mbria Math"/>
                    <a:cs typeface="Cambria Math"/>
                  </a:rPr>
                  <a:t>𝜃</a:t>
                </a:r>
                <a:r>
                  <a:rPr lang="pt-BR" sz="1800" spc="160" dirty="0">
                    <a:latin typeface="Cambria Math"/>
                    <a:cs typeface="Cambria Math"/>
                  </a:rPr>
                  <a:t> </a:t>
                </a:r>
                <a:r>
                  <a:rPr lang="pt-BR" sz="1800" dirty="0">
                    <a:latin typeface="Cambria Math"/>
                    <a:cs typeface="Cambria Math"/>
                  </a:rPr>
                  <a:t>=</a:t>
                </a:r>
                <a:r>
                  <a:rPr lang="pt-BR" sz="1800" spc="105" dirty="0">
                    <a:latin typeface="Cambria Math"/>
                    <a:cs typeface="Cambria Math"/>
                  </a:rPr>
                  <a:t> </a:t>
                </a:r>
                <a:r>
                  <a:rPr lang="pt-BR" sz="1800" spc="-25" dirty="0">
                    <a:latin typeface="Cambria Math"/>
                    <a:cs typeface="Cambria Math"/>
                  </a:rPr>
                  <a:t>1</a:t>
                </a:r>
                <a:r>
                  <a:rPr lang="pt-BR" sz="1800" spc="-25" dirty="0">
                    <a:latin typeface="Calibri"/>
                    <a:cs typeface="Calibri"/>
                  </a:rPr>
                  <a:t>.</a:t>
                </a:r>
                <a:endParaRPr lang="pt-BR" sz="1800" dirty="0">
                  <a:latin typeface="Calibri"/>
                  <a:cs typeface="Calibri"/>
                </a:endParaRPr>
              </a:p>
              <a:p>
                <a:pPr marL="771525">
                  <a:lnSpc>
                    <a:spcPct val="100000"/>
                  </a:lnSpc>
                  <a:spcBef>
                    <a:spcPts val="535"/>
                  </a:spcBef>
                </a:pP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pt-BR" sz="1800" i="1" spc="459" dirty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18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ar-AE" sz="1800" i="1" spc="37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ar-AE" sz="180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>
                    <a:latin typeface="Cambria Math"/>
                    <a:cs typeface="Cambria Math"/>
                  </a:rPr>
                  <a:t> </a:t>
                </a:r>
                <a:endParaRPr lang="ar-AE" sz="1800" dirty="0">
                  <a:latin typeface="Cambria Math"/>
                  <a:cs typeface="Cambria Math"/>
                </a:endParaRPr>
              </a:p>
              <a:p>
                <a:pPr marL="1545590">
                  <a:lnSpc>
                    <a:spcPct val="100000"/>
                  </a:lnSpc>
                  <a:spcBef>
                    <a:spcPts val="685"/>
                  </a:spcBef>
                </a:pPr>
                <a:r>
                  <a:rPr lang="pt-BR" sz="1400" b="1" i="1" dirty="0">
                    <a:latin typeface="Calibri"/>
                    <a:cs typeface="Calibri"/>
                  </a:rPr>
                  <a:t>função</a:t>
                </a:r>
                <a:r>
                  <a:rPr lang="pt-BR" sz="1400" b="1" i="1" spc="-50" dirty="0">
                    <a:latin typeface="Calibri"/>
                    <a:cs typeface="Calibri"/>
                  </a:rPr>
                  <a:t> </a:t>
                </a:r>
                <a:r>
                  <a:rPr lang="pt-BR" sz="1400" b="1" i="1" dirty="0">
                    <a:latin typeface="Calibri"/>
                    <a:cs typeface="Calibri"/>
                  </a:rPr>
                  <a:t>de</a:t>
                </a:r>
                <a:r>
                  <a:rPr lang="pt-BR" sz="1400" b="1" i="1" spc="-20" dirty="0">
                    <a:latin typeface="Calibri"/>
                    <a:cs typeface="Calibri"/>
                  </a:rPr>
                  <a:t> </a:t>
                </a:r>
                <a:r>
                  <a:rPr lang="pt-BR" sz="1400" b="1" i="1" spc="-10" dirty="0">
                    <a:latin typeface="Calibri"/>
                    <a:cs typeface="Calibri"/>
                  </a:rPr>
                  <a:t>ativação</a:t>
                </a:r>
                <a:endParaRPr sz="14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1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56" y="3309628"/>
                <a:ext cx="3254375" cy="2098780"/>
              </a:xfrm>
              <a:prstGeom prst="rect">
                <a:avLst/>
              </a:prstGeom>
              <a:blipFill>
                <a:blip r:embed="rId3"/>
                <a:stretch>
                  <a:fillRect l="-3745" t="-3488" r="-5056" b="-436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object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3906729"/>
                  </p:ext>
                </p:extLst>
              </p:nvPr>
            </p:nvGraphicFramePr>
            <p:xfrm>
              <a:off x="5111051" y="990600"/>
              <a:ext cx="2202179" cy="18732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05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5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054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05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2420">
                    <a:tc gridSpan="4"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spc="-25" dirty="0">
                              <a:latin typeface="Calibri"/>
                              <a:cs typeface="Calibri"/>
                            </a:rPr>
                            <a:t>AND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000000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191135" algn="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1</a:t>
                          </a:r>
                          <a:endParaRPr sz="1950" baseline="-14957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187960" algn="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2</a:t>
                          </a:r>
                          <a:endParaRPr sz="1950" baseline="-14957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42545" algn="ct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0" dirty="0">
                              <a:latin typeface="Cambria Math"/>
                              <a:cs typeface="Cambria Math"/>
                            </a:rPr>
                            <a:t>𝑔(𝒙)</a:t>
                          </a:r>
                          <a:endParaRPr sz="1800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34950" algn="r">
                            <a:lnSpc>
                              <a:spcPct val="100000"/>
                            </a:lnSpc>
                            <a:spcBef>
                              <a:spcPts val="45"/>
                            </a:spcBef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sz="1800" dirty="0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571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279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279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279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2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279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object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3906729"/>
                  </p:ext>
                </p:extLst>
              </p:nvPr>
            </p:nvGraphicFramePr>
            <p:xfrm>
              <a:off x="5111051" y="990600"/>
              <a:ext cx="2202179" cy="18732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05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5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054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05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2420">
                    <a:tc gridSpan="4"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spc="-25" dirty="0">
                              <a:latin typeface="Calibri"/>
                              <a:cs typeface="Calibri"/>
                            </a:rPr>
                            <a:t>AND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000000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191135" algn="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1</a:t>
                          </a:r>
                          <a:endParaRPr sz="1950" baseline="-14957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187960" algn="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2</a:t>
                          </a:r>
                          <a:endParaRPr sz="1950" baseline="-14957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42545" algn="ct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0" dirty="0">
                              <a:latin typeface="Cambria Math"/>
                              <a:cs typeface="Cambria Math"/>
                            </a:rPr>
                            <a:t>𝑔(𝒙)</a:t>
                          </a:r>
                          <a:endParaRPr sz="1800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0" marR="0" marT="571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  <a:blipFill>
                          <a:blip r:embed="rId4"/>
                          <a:stretch>
                            <a:fillRect l="-303333" t="-121154" r="-2222" b="-428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279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279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279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2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279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object 16"/>
          <p:cNvSpPr/>
          <p:nvPr/>
        </p:nvSpPr>
        <p:spPr>
          <a:xfrm>
            <a:off x="4751324" y="4874514"/>
            <a:ext cx="2520315" cy="1118235"/>
          </a:xfrm>
          <a:custGeom>
            <a:avLst/>
            <a:gdLst/>
            <a:ahLst/>
            <a:cxnLst/>
            <a:rect l="l" t="t" r="r" b="b"/>
            <a:pathLst>
              <a:path w="2520315" h="1118235">
                <a:moveTo>
                  <a:pt x="2520061" y="1079957"/>
                </a:moveTo>
                <a:lnTo>
                  <a:pt x="2507361" y="1073607"/>
                </a:lnTo>
                <a:lnTo>
                  <a:pt x="2443861" y="1041857"/>
                </a:lnTo>
                <a:lnTo>
                  <a:pt x="2443861" y="1073607"/>
                </a:lnTo>
                <a:lnTo>
                  <a:pt x="532892" y="1073607"/>
                </a:lnTo>
                <a:lnTo>
                  <a:pt x="532892" y="76200"/>
                </a:lnTo>
                <a:lnTo>
                  <a:pt x="564642" y="76200"/>
                </a:lnTo>
                <a:lnTo>
                  <a:pt x="558292" y="63500"/>
                </a:lnTo>
                <a:lnTo>
                  <a:pt x="526542" y="0"/>
                </a:lnTo>
                <a:lnTo>
                  <a:pt x="488442" y="76200"/>
                </a:lnTo>
                <a:lnTo>
                  <a:pt x="520192" y="76200"/>
                </a:lnTo>
                <a:lnTo>
                  <a:pt x="520192" y="1073607"/>
                </a:lnTo>
                <a:lnTo>
                  <a:pt x="0" y="1073607"/>
                </a:lnTo>
                <a:lnTo>
                  <a:pt x="0" y="1086307"/>
                </a:lnTo>
                <a:lnTo>
                  <a:pt x="2443861" y="1086307"/>
                </a:lnTo>
                <a:lnTo>
                  <a:pt x="2443861" y="1118057"/>
                </a:lnTo>
                <a:lnTo>
                  <a:pt x="2507361" y="1086307"/>
                </a:lnTo>
                <a:lnTo>
                  <a:pt x="2520061" y="1079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792470" y="5936691"/>
            <a:ext cx="3092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𝜃</a:t>
            </a:r>
            <a:r>
              <a:rPr sz="1400" spc="-25" dirty="0">
                <a:latin typeface="Calibri"/>
                <a:cs typeface="Calibri"/>
              </a:rPr>
              <a:t>=2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21756" y="5479415"/>
            <a:ext cx="1583055" cy="475615"/>
          </a:xfrm>
          <a:custGeom>
            <a:avLst/>
            <a:gdLst/>
            <a:ahLst/>
            <a:cxnLst/>
            <a:rect l="l" t="t" r="r" b="b"/>
            <a:pathLst>
              <a:path w="1583054" h="475614">
                <a:moveTo>
                  <a:pt x="0" y="0"/>
                </a:moveTo>
                <a:lnTo>
                  <a:pt x="0" y="475056"/>
                </a:lnTo>
              </a:path>
              <a:path w="1583054" h="475614">
                <a:moveTo>
                  <a:pt x="0" y="0"/>
                </a:moveTo>
                <a:lnTo>
                  <a:pt x="158254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216397" y="5971133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object 22"/>
              <p:cNvSpPr txBox="1"/>
              <p:nvPr/>
            </p:nvSpPr>
            <p:spPr>
              <a:xfrm>
                <a:off x="7339710" y="5757916"/>
                <a:ext cx="530226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𝑔</m:t>
                      </m:r>
                      <m:r>
                        <a:rPr lang="pt-BR" sz="1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22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710" y="5757916"/>
                <a:ext cx="530226" cy="289823"/>
              </a:xfrm>
              <a:prstGeom prst="rect">
                <a:avLst/>
              </a:prstGeom>
              <a:blipFill>
                <a:blip r:embed="rId5"/>
                <a:stretch>
                  <a:fillRect l="-10345" r="-13793" b="-361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bject 23"/>
          <p:cNvSpPr/>
          <p:nvPr/>
        </p:nvSpPr>
        <p:spPr>
          <a:xfrm>
            <a:off x="5277865" y="5479415"/>
            <a:ext cx="648335" cy="0"/>
          </a:xfrm>
          <a:custGeom>
            <a:avLst/>
            <a:gdLst/>
            <a:ahLst/>
            <a:cxnLst/>
            <a:rect l="l" t="t" r="r" b="b"/>
            <a:pathLst>
              <a:path w="648335">
                <a:moveTo>
                  <a:pt x="647954" y="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102097" y="5348985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25"/>
              <p:cNvSpPr txBox="1"/>
              <p:nvPr/>
            </p:nvSpPr>
            <p:spPr>
              <a:xfrm>
                <a:off x="4584952" y="3309628"/>
                <a:ext cx="3254375" cy="209801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99085" indent="-287020">
                  <a:lnSpc>
                    <a:spcPct val="100000"/>
                  </a:lnSpc>
                  <a:spcBef>
                    <a:spcPts val="100"/>
                  </a:spcBef>
                  <a:buFont typeface="Arial"/>
                  <a:buChar char="•"/>
                  <a:tabLst>
                    <a:tab pos="299085" algn="l"/>
                    <a:tab pos="299720" algn="l"/>
                  </a:tabLst>
                </a:pPr>
                <a:r>
                  <a:rPr sz="1800" dirty="0">
                    <a:latin typeface="Calibri"/>
                    <a:cs typeface="Calibri"/>
                  </a:rPr>
                  <a:t>Qual</a:t>
                </a:r>
                <a:r>
                  <a:rPr sz="1800" spc="-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é</a:t>
                </a:r>
                <a:r>
                  <a:rPr sz="1800" spc="-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o valor</a:t>
                </a:r>
                <a:r>
                  <a:rPr sz="1800" spc="-1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do</a:t>
                </a:r>
                <a:r>
                  <a:rPr sz="1800" spc="5" dirty="0">
                    <a:latin typeface="Calibri"/>
                    <a:cs typeface="Calibri"/>
                  </a:rPr>
                  <a:t> </a:t>
                </a:r>
                <a:r>
                  <a:rPr sz="1800" b="1" i="1" dirty="0">
                    <a:latin typeface="Calibri"/>
                    <a:cs typeface="Calibri"/>
                  </a:rPr>
                  <a:t>limiar</a:t>
                </a:r>
                <a:r>
                  <a:rPr sz="1800" b="1" i="1" spc="-15" dirty="0">
                    <a:latin typeface="Calibri"/>
                    <a:cs typeface="Calibri"/>
                  </a:rPr>
                  <a:t> </a:t>
                </a:r>
                <a:r>
                  <a:rPr sz="1800" b="1" i="1" spc="-25" dirty="0">
                    <a:latin typeface="Calibri"/>
                    <a:cs typeface="Calibri"/>
                  </a:rPr>
                  <a:t>de</a:t>
                </a:r>
                <a:endParaRPr sz="1800" dirty="0">
                  <a:latin typeface="Calibri"/>
                  <a:cs typeface="Calibri"/>
                </a:endParaRPr>
              </a:p>
              <a:p>
                <a:pPr marL="299085">
                  <a:lnSpc>
                    <a:spcPct val="100000"/>
                  </a:lnSpc>
                  <a:spcBef>
                    <a:spcPts val="15"/>
                  </a:spcBef>
                </a:pPr>
                <a:r>
                  <a:rPr sz="1800" b="1" i="1" dirty="0">
                    <a:latin typeface="Calibri"/>
                    <a:cs typeface="Calibri"/>
                  </a:rPr>
                  <a:t>ativação</a:t>
                </a:r>
                <a:r>
                  <a:rPr sz="1800" dirty="0">
                    <a:latin typeface="Calibri"/>
                    <a:cs typeface="Calibri"/>
                  </a:rPr>
                  <a:t>,</a:t>
                </a:r>
                <a:r>
                  <a:rPr sz="1800" spc="-25" dirty="0">
                    <a:latin typeface="Calibri"/>
                    <a:cs typeface="Calibri"/>
                  </a:rPr>
                  <a:t> </a:t>
                </a:r>
                <a:r>
                  <a:rPr sz="1800" spc="-25" dirty="0">
                    <a:latin typeface="Cambria Math"/>
                    <a:cs typeface="Cambria Math"/>
                  </a:rPr>
                  <a:t>𝜃</a:t>
                </a:r>
                <a:r>
                  <a:rPr sz="1800" spc="-25" dirty="0">
                    <a:latin typeface="Calibri"/>
                    <a:cs typeface="Calibri"/>
                  </a:rPr>
                  <a:t>?</a:t>
                </a:r>
                <a:endParaRPr sz="1800" dirty="0">
                  <a:latin typeface="Calibri"/>
                  <a:cs typeface="Calibri"/>
                </a:endParaRPr>
              </a:p>
              <a:p>
                <a:pPr marL="299085" marR="5080" indent="-287020">
                  <a:lnSpc>
                    <a:spcPts val="2150"/>
                  </a:lnSpc>
                  <a:spcBef>
                    <a:spcPts val="80"/>
                  </a:spcBef>
                  <a:buFont typeface="Arial"/>
                  <a:buChar char="•"/>
                  <a:tabLst>
                    <a:tab pos="299085" algn="l"/>
                    <a:tab pos="299720" algn="l"/>
                  </a:tabLst>
                </a:pPr>
                <a:r>
                  <a:rPr sz="1800" spc="-10" dirty="0">
                    <a:latin typeface="Calibri"/>
                    <a:cs typeface="Calibri"/>
                  </a:rPr>
                  <a:t>Analisando-</a:t>
                </a:r>
                <a:r>
                  <a:rPr sz="1800" dirty="0">
                    <a:latin typeface="Calibri"/>
                    <a:cs typeface="Calibri"/>
                  </a:rPr>
                  <a:t>se</a:t>
                </a:r>
                <a:r>
                  <a:rPr sz="1800" spc="2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mbria Math"/>
                    <a:cs typeface="Cambria Math"/>
                  </a:rPr>
                  <a:t>𝑔(𝒙)</a:t>
                </a:r>
                <a:r>
                  <a:rPr sz="1800" dirty="0">
                    <a:latin typeface="Calibri"/>
                    <a:cs typeface="Calibri"/>
                  </a:rPr>
                  <a:t>,</a:t>
                </a:r>
                <a:r>
                  <a:rPr sz="1800" spc="4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vemos</a:t>
                </a:r>
                <a:r>
                  <a:rPr sz="1800" spc="35" dirty="0">
                    <a:latin typeface="Calibri"/>
                    <a:cs typeface="Calibri"/>
                  </a:rPr>
                  <a:t> </a:t>
                </a:r>
                <a:r>
                  <a:rPr sz="1800" spc="-25" dirty="0">
                    <a:latin typeface="Calibri"/>
                    <a:cs typeface="Calibri"/>
                  </a:rPr>
                  <a:t>que </a:t>
                </a:r>
                <a:r>
                  <a:rPr sz="1800" dirty="0">
                    <a:latin typeface="Calibri"/>
                    <a:cs typeface="Calibri"/>
                  </a:rPr>
                  <a:t>o</a:t>
                </a:r>
                <a:r>
                  <a:rPr sz="1800" spc="-3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disparo</a:t>
                </a:r>
                <a:r>
                  <a:rPr sz="1800" spc="-40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deve</a:t>
                </a:r>
                <a:r>
                  <a:rPr sz="1800" spc="-3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ocorrer</a:t>
                </a:r>
                <a:r>
                  <a:rPr sz="1800" spc="-25" dirty="0">
                    <a:latin typeface="Calibri"/>
                    <a:cs typeface="Calibri"/>
                  </a:rPr>
                  <a:t> </a:t>
                </a:r>
                <a:r>
                  <a:rPr sz="1800" spc="-10" dirty="0">
                    <a:latin typeface="Calibri"/>
                    <a:cs typeface="Calibri"/>
                  </a:rPr>
                  <a:t>quando</a:t>
                </a:r>
                <a:endParaRPr sz="1800" dirty="0">
                  <a:latin typeface="Calibri"/>
                  <a:cs typeface="Calibri"/>
                </a:endParaRPr>
              </a:p>
              <a:p>
                <a:pPr marL="299085">
                  <a:lnSpc>
                    <a:spcPts val="2100"/>
                  </a:lnSpc>
                </a:pPr>
                <a:r>
                  <a:rPr sz="1800" dirty="0">
                    <a:latin typeface="Cambria Math"/>
                    <a:cs typeface="Cambria Math"/>
                  </a:rPr>
                  <a:t>𝑔(𝒙)</a:t>
                </a:r>
                <a:r>
                  <a:rPr sz="1800" spc="85" dirty="0">
                    <a:latin typeface="Cambria Math"/>
                    <a:cs typeface="Cambria Math"/>
                  </a:rPr>
                  <a:t> </a:t>
                </a:r>
                <a:r>
                  <a:rPr sz="1800" dirty="0">
                    <a:latin typeface="Cambria Math"/>
                    <a:cs typeface="Cambria Math"/>
                  </a:rPr>
                  <a:t>≥</a:t>
                </a:r>
                <a:r>
                  <a:rPr sz="1800" spc="90" dirty="0">
                    <a:latin typeface="Cambria Math"/>
                    <a:cs typeface="Cambria Math"/>
                  </a:rPr>
                  <a:t> </a:t>
                </a:r>
                <a:r>
                  <a:rPr sz="1800" dirty="0">
                    <a:latin typeface="Cambria Math"/>
                    <a:cs typeface="Cambria Math"/>
                  </a:rPr>
                  <a:t>2</a:t>
                </a:r>
                <a:r>
                  <a:rPr sz="1800" dirty="0">
                    <a:latin typeface="Calibri"/>
                    <a:cs typeface="Calibri"/>
                  </a:rPr>
                  <a:t>,</a:t>
                </a:r>
                <a:r>
                  <a:rPr sz="1800" spc="-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portanto, </a:t>
                </a:r>
                <a:r>
                  <a:rPr sz="1800" dirty="0">
                    <a:latin typeface="Cambria Math"/>
                    <a:cs typeface="Cambria Math"/>
                  </a:rPr>
                  <a:t>𝜃</a:t>
                </a:r>
                <a:r>
                  <a:rPr sz="1800" spc="145" dirty="0">
                    <a:latin typeface="Cambria Math"/>
                    <a:cs typeface="Cambria Math"/>
                  </a:rPr>
                  <a:t> </a:t>
                </a:r>
                <a:r>
                  <a:rPr sz="1800" dirty="0">
                    <a:latin typeface="Cambria Math"/>
                    <a:cs typeface="Cambria Math"/>
                  </a:rPr>
                  <a:t>=</a:t>
                </a:r>
                <a:r>
                  <a:rPr sz="1800" spc="95" dirty="0">
                    <a:latin typeface="Cambria Math"/>
                    <a:cs typeface="Cambria Math"/>
                  </a:rPr>
                  <a:t> </a:t>
                </a:r>
                <a:r>
                  <a:rPr sz="1800" spc="-25" dirty="0">
                    <a:latin typeface="Cambria Math"/>
                    <a:cs typeface="Cambria Math"/>
                  </a:rPr>
                  <a:t>2</a:t>
                </a:r>
                <a:r>
                  <a:rPr sz="1800" spc="-25" dirty="0">
                    <a:latin typeface="Calibri"/>
                    <a:cs typeface="Calibri"/>
                  </a:rPr>
                  <a:t>.</a:t>
                </a:r>
                <a:endParaRPr sz="1800" dirty="0">
                  <a:latin typeface="Calibri"/>
                  <a:cs typeface="Calibri"/>
                </a:endParaRPr>
              </a:p>
              <a:p>
                <a:pPr marL="791845">
                  <a:lnSpc>
                    <a:spcPct val="100000"/>
                  </a:lnSpc>
                  <a:spcBef>
                    <a:spcPts val="7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𝑓</m:t>
                      </m:r>
                      <m:d>
                        <m:dPr>
                          <m:ctrlPr>
                            <a:rPr lang="pt-BR" sz="1800" i="1" spc="459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180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ar-AE" sz="1800" i="1" spc="37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ar-AE" sz="1800" i="1" spc="-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  <a:p>
                <a:pPr marL="1558290">
                  <a:lnSpc>
                    <a:spcPct val="100000"/>
                  </a:lnSpc>
                  <a:spcBef>
                    <a:spcPts val="680"/>
                  </a:spcBef>
                </a:pPr>
                <a:r>
                  <a:rPr sz="1400" b="1" i="1" dirty="0">
                    <a:latin typeface="Calibri"/>
                    <a:cs typeface="Calibri"/>
                  </a:rPr>
                  <a:t>função</a:t>
                </a:r>
                <a:r>
                  <a:rPr sz="1400" b="1" i="1" spc="-50" dirty="0">
                    <a:latin typeface="Calibri"/>
                    <a:cs typeface="Calibri"/>
                  </a:rPr>
                  <a:t> </a:t>
                </a:r>
                <a:r>
                  <a:rPr sz="1400" b="1" i="1" dirty="0">
                    <a:latin typeface="Calibri"/>
                    <a:cs typeface="Calibri"/>
                  </a:rPr>
                  <a:t>de</a:t>
                </a:r>
                <a:r>
                  <a:rPr sz="1400" b="1" i="1" spc="-20" dirty="0">
                    <a:latin typeface="Calibri"/>
                    <a:cs typeface="Calibri"/>
                  </a:rPr>
                  <a:t> </a:t>
                </a:r>
                <a:r>
                  <a:rPr sz="1400" b="1" i="1" spc="-10" dirty="0">
                    <a:latin typeface="Calibri"/>
                    <a:cs typeface="Calibri"/>
                  </a:rPr>
                  <a:t>ativação</a:t>
                </a:r>
                <a:endParaRPr sz="14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2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952" y="3309628"/>
                <a:ext cx="3254375" cy="2098010"/>
              </a:xfrm>
              <a:prstGeom prst="rect">
                <a:avLst/>
              </a:prstGeom>
              <a:blipFill>
                <a:blip r:embed="rId6"/>
                <a:stretch>
                  <a:fillRect l="-3558" t="-3198" r="-5243" b="-11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 txBox="1"/>
          <p:nvPr/>
        </p:nvSpPr>
        <p:spPr>
          <a:xfrm>
            <a:off x="8404307" y="2471997"/>
            <a:ext cx="3737610" cy="194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185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37185" algn="l"/>
                <a:tab pos="337820" algn="l"/>
              </a:tabLst>
            </a:pPr>
            <a:r>
              <a:rPr sz="1800" dirty="0">
                <a:latin typeface="Calibri"/>
                <a:cs typeface="Calibri"/>
              </a:rPr>
              <a:t>Qual é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limiar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de</a:t>
            </a:r>
            <a:endParaRPr sz="1800" dirty="0">
              <a:latin typeface="Calibri"/>
              <a:cs typeface="Calibri"/>
            </a:endParaRPr>
          </a:p>
          <a:p>
            <a:pPr marL="337185">
              <a:lnSpc>
                <a:spcPct val="100000"/>
              </a:lnSpc>
              <a:spcBef>
                <a:spcPts val="10"/>
              </a:spcBef>
            </a:pPr>
            <a:r>
              <a:rPr sz="1800" b="1" i="1" dirty="0">
                <a:latin typeface="Calibri"/>
                <a:cs typeface="Calibri"/>
              </a:rPr>
              <a:t>ativação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𝜃</a:t>
            </a:r>
            <a:r>
              <a:rPr sz="1800" spc="-25" dirty="0">
                <a:latin typeface="Calibri"/>
                <a:cs typeface="Calibri"/>
              </a:rPr>
              <a:t>?</a:t>
            </a:r>
            <a:endParaRPr sz="1800" dirty="0">
              <a:latin typeface="Calibri"/>
              <a:cs typeface="Calibri"/>
            </a:endParaRPr>
          </a:p>
          <a:p>
            <a:pPr marL="337185" marR="55880" indent="-287020">
              <a:lnSpc>
                <a:spcPct val="99800"/>
              </a:lnSpc>
              <a:spcBef>
                <a:spcPts val="5"/>
              </a:spcBef>
              <a:buFont typeface="Arial"/>
              <a:buChar char="•"/>
              <a:tabLst>
                <a:tab pos="337185" algn="l"/>
                <a:tab pos="337820" algn="l"/>
              </a:tabLst>
            </a:pPr>
            <a:r>
              <a:rPr sz="1800" spc="-10" dirty="0">
                <a:latin typeface="Calibri"/>
                <a:cs typeface="Calibri"/>
              </a:rPr>
              <a:t>Analisando-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vemos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o </a:t>
            </a:r>
            <a:r>
              <a:rPr sz="1800" dirty="0">
                <a:latin typeface="Calibri"/>
                <a:cs typeface="Calibri"/>
              </a:rPr>
              <a:t>disparo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ocorrer, </a:t>
            </a:r>
            <a:r>
              <a:rPr sz="1800" dirty="0">
                <a:latin typeface="Calibri"/>
                <a:cs typeface="Calibri"/>
              </a:rPr>
              <a:t>seu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ser </a:t>
            </a:r>
            <a:r>
              <a:rPr sz="1800" b="1" i="1" dirty="0">
                <a:latin typeface="Calibri"/>
                <a:cs typeface="Calibri"/>
              </a:rPr>
              <a:t>negado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(i.e.,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multiplicado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-1),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e </a:t>
            </a:r>
            <a:r>
              <a:rPr sz="1800" dirty="0">
                <a:latin typeface="Calibri"/>
                <a:cs typeface="Calibri"/>
              </a:rPr>
              <a:t>assim,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disparo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ocorre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quando</a:t>
            </a:r>
            <a:endParaRPr sz="1800" dirty="0">
              <a:latin typeface="Calibri"/>
              <a:cs typeface="Calibri"/>
            </a:endParaRPr>
          </a:p>
          <a:p>
            <a:pPr marL="337185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Cambria Math"/>
                <a:cs typeface="Cambria Math"/>
              </a:rPr>
              <a:t>𝑔(𝒙)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≥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</a:t>
            </a:r>
            <a:r>
              <a:rPr sz="1800" dirty="0">
                <a:latin typeface="Calibri"/>
                <a:cs typeface="Calibri"/>
              </a:rPr>
              <a:t>, </a:t>
            </a:r>
            <a:r>
              <a:rPr sz="1800" spc="-10" dirty="0">
                <a:latin typeface="Calibri"/>
                <a:cs typeface="Calibri"/>
              </a:rPr>
              <a:t>portanto,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𝜃</a:t>
            </a:r>
            <a:r>
              <a:rPr sz="1800" spc="1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0</a:t>
            </a:r>
            <a:r>
              <a:rPr sz="1800" spc="-25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object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9767200"/>
                  </p:ext>
                </p:extLst>
              </p:nvPr>
            </p:nvGraphicFramePr>
            <p:xfrm>
              <a:off x="8962199" y="1066800"/>
              <a:ext cx="2148840" cy="124904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372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721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721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721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2420">
                    <a:tc gridSpan="4"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spc="-25" dirty="0">
                              <a:latin typeface="Calibri"/>
                              <a:cs typeface="Calibri"/>
                            </a:rPr>
                            <a:t>NOT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000000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182880" algn="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1</a:t>
                          </a:r>
                          <a:endParaRPr sz="1950" baseline="-14957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49530" algn="ctr">
                            <a:lnSpc>
                              <a:spcPct val="100000"/>
                            </a:lnSpc>
                            <a:spcBef>
                              <a:spcPts val="45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−𝑥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1</a:t>
                          </a:r>
                          <a:endParaRPr sz="1950" baseline="-14957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571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42545" algn="ct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0" dirty="0">
                              <a:latin typeface="Cambria Math"/>
                              <a:cs typeface="Cambria Math"/>
                            </a:rPr>
                            <a:t>𝑔(𝒙)</a:t>
                          </a:r>
                          <a:endParaRPr sz="1800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77800">
                            <a:lnSpc>
                              <a:spcPct val="100000"/>
                            </a:lnSpc>
                            <a:spcBef>
                              <a:spcPts val="45"/>
                            </a:spcBef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sz="1800" dirty="0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571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201930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11454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201930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-</a:t>
                          </a:r>
                          <a:r>
                            <a:rPr sz="1800" spc="-5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-</a:t>
                          </a:r>
                          <a:r>
                            <a:rPr sz="1800" spc="-5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11454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object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9767200"/>
                  </p:ext>
                </p:extLst>
              </p:nvPr>
            </p:nvGraphicFramePr>
            <p:xfrm>
              <a:off x="8962199" y="1066800"/>
              <a:ext cx="2148840" cy="124904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372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721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721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721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2420">
                    <a:tc gridSpan="4"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0"/>
                            </a:spcBef>
                          </a:pPr>
                          <a:r>
                            <a:rPr sz="1800" spc="-25" dirty="0">
                              <a:latin typeface="Calibri"/>
                              <a:cs typeface="Calibri"/>
                            </a:rPr>
                            <a:t>NOT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381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000000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182880" algn="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1</a:t>
                          </a:r>
                          <a:endParaRPr sz="1950" baseline="-14957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49530" algn="ctr">
                            <a:lnSpc>
                              <a:spcPct val="100000"/>
                            </a:lnSpc>
                            <a:spcBef>
                              <a:spcPts val="45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−𝑥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1</a:t>
                          </a:r>
                          <a:endParaRPr sz="1950" baseline="-14957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571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42545" algn="ctr">
                            <a:lnSpc>
                              <a:spcPct val="100000"/>
                            </a:lnSpc>
                            <a:spcBef>
                              <a:spcPts val="80"/>
                            </a:spcBef>
                          </a:pPr>
                          <a:r>
                            <a:rPr sz="1800" spc="-20" dirty="0">
                              <a:latin typeface="Cambria Math"/>
                              <a:cs typeface="Cambria Math"/>
                            </a:rPr>
                            <a:t>𝑔(𝒙)</a:t>
                          </a:r>
                          <a:endParaRPr sz="1800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16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0" marR="0" marT="571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  <a:blipFill>
                          <a:blip r:embed="rId7"/>
                          <a:stretch>
                            <a:fillRect l="-302273" t="-121154" r="-2273" b="-2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201930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11454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201930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-</a:t>
                          </a:r>
                          <a:r>
                            <a:rPr sz="1800" spc="-5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-</a:t>
                          </a:r>
                          <a:r>
                            <a:rPr sz="1800" spc="-5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11454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8" name="object 28"/>
          <p:cNvSpPr/>
          <p:nvPr/>
        </p:nvSpPr>
        <p:spPr>
          <a:xfrm>
            <a:off x="8554847" y="4885182"/>
            <a:ext cx="2520315" cy="1118235"/>
          </a:xfrm>
          <a:custGeom>
            <a:avLst/>
            <a:gdLst/>
            <a:ahLst/>
            <a:cxnLst/>
            <a:rect l="l" t="t" r="r" b="b"/>
            <a:pathLst>
              <a:path w="2520315" h="1118235">
                <a:moveTo>
                  <a:pt x="2520061" y="1080008"/>
                </a:moveTo>
                <a:lnTo>
                  <a:pt x="2507361" y="1073658"/>
                </a:lnTo>
                <a:lnTo>
                  <a:pt x="2443861" y="1041908"/>
                </a:lnTo>
                <a:lnTo>
                  <a:pt x="2443861" y="1073658"/>
                </a:lnTo>
                <a:lnTo>
                  <a:pt x="532892" y="1073658"/>
                </a:lnTo>
                <a:lnTo>
                  <a:pt x="532892" y="76200"/>
                </a:lnTo>
                <a:lnTo>
                  <a:pt x="564642" y="76200"/>
                </a:lnTo>
                <a:lnTo>
                  <a:pt x="558292" y="63500"/>
                </a:lnTo>
                <a:lnTo>
                  <a:pt x="526542" y="0"/>
                </a:lnTo>
                <a:lnTo>
                  <a:pt x="488442" y="76200"/>
                </a:lnTo>
                <a:lnTo>
                  <a:pt x="520192" y="76200"/>
                </a:lnTo>
                <a:lnTo>
                  <a:pt x="520192" y="1073658"/>
                </a:lnTo>
                <a:lnTo>
                  <a:pt x="0" y="1073658"/>
                </a:lnTo>
                <a:lnTo>
                  <a:pt x="0" y="1086358"/>
                </a:lnTo>
                <a:lnTo>
                  <a:pt x="2443861" y="1086358"/>
                </a:lnTo>
                <a:lnTo>
                  <a:pt x="2443861" y="1118108"/>
                </a:lnTo>
                <a:lnTo>
                  <a:pt x="2507361" y="1086358"/>
                </a:lnTo>
                <a:lnTo>
                  <a:pt x="2520061" y="1080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924290" y="5961684"/>
            <a:ext cx="3492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𝜃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082785" y="5490082"/>
            <a:ext cx="1979930" cy="0"/>
          </a:xfrm>
          <a:custGeom>
            <a:avLst/>
            <a:gdLst/>
            <a:ahLst/>
            <a:cxnLst/>
            <a:rect l="l" t="t" r="r" b="b"/>
            <a:pathLst>
              <a:path w="1979929">
                <a:moveTo>
                  <a:pt x="0" y="0"/>
                </a:moveTo>
                <a:lnTo>
                  <a:pt x="19799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0425810" y="6232498"/>
            <a:ext cx="1630045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80"/>
              </a:spcBef>
            </a:pPr>
            <a:r>
              <a:rPr sz="1100" b="1" dirty="0">
                <a:latin typeface="Calibri"/>
                <a:cs typeface="Calibri"/>
              </a:rPr>
              <a:t>OBS</a:t>
            </a:r>
            <a:r>
              <a:rPr sz="1100" dirty="0">
                <a:latin typeface="Calibri"/>
                <a:cs typeface="Calibri"/>
              </a:rPr>
              <a:t>.: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Entradas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inibitórias </a:t>
            </a:r>
            <a:r>
              <a:rPr sz="1100" dirty="0">
                <a:latin typeface="Calibri"/>
                <a:cs typeface="Calibri"/>
              </a:rPr>
              <a:t>são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entradas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têm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seus </a:t>
            </a:r>
            <a:r>
              <a:rPr sz="1100" dirty="0">
                <a:latin typeface="Calibri"/>
                <a:cs typeface="Calibri"/>
              </a:rPr>
              <a:t>valores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multiplicados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por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-</a:t>
            </a:r>
            <a:r>
              <a:rPr sz="1100" spc="-25" dirty="0">
                <a:latin typeface="Calibri"/>
                <a:cs typeface="Calibri"/>
              </a:rPr>
              <a:t>1.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906002" y="5360034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965563" y="5118353"/>
            <a:ext cx="14268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latin typeface="Calibri"/>
                <a:cs typeface="Calibri"/>
              </a:rPr>
              <a:t>função</a:t>
            </a:r>
            <a:r>
              <a:rPr sz="1400" b="1" i="1" spc="-5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de</a:t>
            </a:r>
            <a:r>
              <a:rPr sz="1400" b="1" i="1" spc="-20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Calibri"/>
                <a:cs typeface="Calibri"/>
              </a:rPr>
              <a:t>ativação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634610" y="6449059"/>
            <a:ext cx="69723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OBS</a:t>
            </a:r>
            <a:r>
              <a:rPr sz="1100" dirty="0">
                <a:latin typeface="Calibri"/>
                <a:cs typeface="Calibri"/>
              </a:rPr>
              <a:t>.: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pesos </a:t>
            </a:r>
            <a:r>
              <a:rPr sz="1100" dirty="0">
                <a:latin typeface="Calibri"/>
                <a:cs typeface="Calibri"/>
              </a:rPr>
              <a:t>iguais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+1.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42543" y="6460032"/>
            <a:ext cx="69786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OBS</a:t>
            </a:r>
            <a:r>
              <a:rPr sz="1100" dirty="0">
                <a:latin typeface="Calibri"/>
                <a:cs typeface="Calibri"/>
              </a:rPr>
              <a:t>.: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pesos </a:t>
            </a:r>
            <a:r>
              <a:rPr sz="1100" dirty="0">
                <a:latin typeface="Calibri"/>
                <a:cs typeface="Calibri"/>
              </a:rPr>
              <a:t>iguais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+1.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161285" y="6288747"/>
            <a:ext cx="965200" cy="393700"/>
            <a:chOff x="2161285" y="6288747"/>
            <a:chExt cx="965200" cy="393700"/>
          </a:xfrm>
        </p:grpSpPr>
        <p:sp>
          <p:nvSpPr>
            <p:cNvPr id="41" name="object 41"/>
            <p:cNvSpPr/>
            <p:nvPr/>
          </p:nvSpPr>
          <p:spPr>
            <a:xfrm>
              <a:off x="2167635" y="6295097"/>
              <a:ext cx="952500" cy="381000"/>
            </a:xfrm>
            <a:custGeom>
              <a:avLst/>
              <a:gdLst/>
              <a:ahLst/>
              <a:cxnLst/>
              <a:rect l="l" t="t" r="r" b="b"/>
              <a:pathLst>
                <a:path w="952500" h="381000">
                  <a:moveTo>
                    <a:pt x="0" y="190499"/>
                  </a:moveTo>
                  <a:lnTo>
                    <a:pt x="17012" y="139858"/>
                  </a:lnTo>
                  <a:lnTo>
                    <a:pt x="65019" y="94352"/>
                  </a:lnTo>
                  <a:lnTo>
                    <a:pt x="99226" y="74092"/>
                  </a:lnTo>
                  <a:lnTo>
                    <a:pt x="139477" y="55797"/>
                  </a:lnTo>
                  <a:lnTo>
                    <a:pt x="185206" y="39694"/>
                  </a:lnTo>
                  <a:lnTo>
                    <a:pt x="235843" y="26009"/>
                  </a:lnTo>
                  <a:lnTo>
                    <a:pt x="290822" y="14970"/>
                  </a:lnTo>
                  <a:lnTo>
                    <a:pt x="349573" y="6805"/>
                  </a:lnTo>
                  <a:lnTo>
                    <a:pt x="411529" y="1739"/>
                  </a:lnTo>
                  <a:lnTo>
                    <a:pt x="476122" y="0"/>
                  </a:lnTo>
                  <a:lnTo>
                    <a:pt x="540745" y="1739"/>
                  </a:lnTo>
                  <a:lnTo>
                    <a:pt x="602726" y="6805"/>
                  </a:lnTo>
                  <a:lnTo>
                    <a:pt x="661497" y="14970"/>
                  </a:lnTo>
                  <a:lnTo>
                    <a:pt x="716491" y="26009"/>
                  </a:lnTo>
                  <a:lnTo>
                    <a:pt x="767141" y="39694"/>
                  </a:lnTo>
                  <a:lnTo>
                    <a:pt x="812879" y="55797"/>
                  </a:lnTo>
                  <a:lnTo>
                    <a:pt x="853137" y="74092"/>
                  </a:lnTo>
                  <a:lnTo>
                    <a:pt x="887349" y="94352"/>
                  </a:lnTo>
                  <a:lnTo>
                    <a:pt x="935360" y="139858"/>
                  </a:lnTo>
                  <a:lnTo>
                    <a:pt x="952372" y="190499"/>
                  </a:lnTo>
                  <a:lnTo>
                    <a:pt x="948025" y="216348"/>
                  </a:lnTo>
                  <a:lnTo>
                    <a:pt x="914945" y="264649"/>
                  </a:lnTo>
                  <a:lnTo>
                    <a:pt x="853137" y="306907"/>
                  </a:lnTo>
                  <a:lnTo>
                    <a:pt x="812879" y="325202"/>
                  </a:lnTo>
                  <a:lnTo>
                    <a:pt x="767141" y="341305"/>
                  </a:lnTo>
                  <a:lnTo>
                    <a:pt x="716491" y="354990"/>
                  </a:lnTo>
                  <a:lnTo>
                    <a:pt x="661497" y="366029"/>
                  </a:lnTo>
                  <a:lnTo>
                    <a:pt x="602726" y="374194"/>
                  </a:lnTo>
                  <a:lnTo>
                    <a:pt x="540745" y="379260"/>
                  </a:lnTo>
                  <a:lnTo>
                    <a:pt x="476122" y="380999"/>
                  </a:lnTo>
                  <a:lnTo>
                    <a:pt x="411529" y="379260"/>
                  </a:lnTo>
                  <a:lnTo>
                    <a:pt x="349573" y="374194"/>
                  </a:lnTo>
                  <a:lnTo>
                    <a:pt x="290822" y="366029"/>
                  </a:lnTo>
                  <a:lnTo>
                    <a:pt x="235843" y="354990"/>
                  </a:lnTo>
                  <a:lnTo>
                    <a:pt x="185206" y="341305"/>
                  </a:lnTo>
                  <a:lnTo>
                    <a:pt x="139477" y="325202"/>
                  </a:lnTo>
                  <a:lnTo>
                    <a:pt x="99226" y="306907"/>
                  </a:lnTo>
                  <a:lnTo>
                    <a:pt x="65019" y="286647"/>
                  </a:lnTo>
                  <a:lnTo>
                    <a:pt x="17012" y="241141"/>
                  </a:lnTo>
                  <a:lnTo>
                    <a:pt x="0" y="19049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48762" y="6392887"/>
              <a:ext cx="281940" cy="212090"/>
            </a:xfrm>
            <a:custGeom>
              <a:avLst/>
              <a:gdLst/>
              <a:ahLst/>
              <a:cxnLst/>
              <a:rect l="l" t="t" r="r" b="b"/>
              <a:pathLst>
                <a:path w="281939" h="212090">
                  <a:moveTo>
                    <a:pt x="214249" y="0"/>
                  </a:moveTo>
                  <a:lnTo>
                    <a:pt x="211200" y="8597"/>
                  </a:lnTo>
                  <a:lnTo>
                    <a:pt x="223468" y="13915"/>
                  </a:lnTo>
                  <a:lnTo>
                    <a:pt x="233997" y="21277"/>
                  </a:lnTo>
                  <a:lnTo>
                    <a:pt x="255363" y="55406"/>
                  </a:lnTo>
                  <a:lnTo>
                    <a:pt x="262381" y="104813"/>
                  </a:lnTo>
                  <a:lnTo>
                    <a:pt x="261596" y="123484"/>
                  </a:lnTo>
                  <a:lnTo>
                    <a:pt x="249809" y="169214"/>
                  </a:lnTo>
                  <a:lnTo>
                    <a:pt x="223627" y="197805"/>
                  </a:lnTo>
                  <a:lnTo>
                    <a:pt x="211581" y="203149"/>
                  </a:lnTo>
                  <a:lnTo>
                    <a:pt x="214249" y="211747"/>
                  </a:lnTo>
                  <a:lnTo>
                    <a:pt x="254646" y="187703"/>
                  </a:lnTo>
                  <a:lnTo>
                    <a:pt x="277368" y="143335"/>
                  </a:lnTo>
                  <a:lnTo>
                    <a:pt x="281686" y="105930"/>
                  </a:lnTo>
                  <a:lnTo>
                    <a:pt x="280610" y="86513"/>
                  </a:lnTo>
                  <a:lnTo>
                    <a:pt x="264287" y="37109"/>
                  </a:lnTo>
                  <a:lnTo>
                    <a:pt x="229586" y="5541"/>
                  </a:lnTo>
                  <a:lnTo>
                    <a:pt x="214249" y="0"/>
                  </a:lnTo>
                  <a:close/>
                </a:path>
                <a:path w="281939" h="212090">
                  <a:moveTo>
                    <a:pt x="67437" y="0"/>
                  </a:moveTo>
                  <a:lnTo>
                    <a:pt x="27092" y="24095"/>
                  </a:lnTo>
                  <a:lnTo>
                    <a:pt x="4365" y="68572"/>
                  </a:lnTo>
                  <a:lnTo>
                    <a:pt x="0" y="105930"/>
                  </a:lnTo>
                  <a:lnTo>
                    <a:pt x="1075" y="125383"/>
                  </a:lnTo>
                  <a:lnTo>
                    <a:pt x="17399" y="174739"/>
                  </a:lnTo>
                  <a:lnTo>
                    <a:pt x="52081" y="206205"/>
                  </a:lnTo>
                  <a:lnTo>
                    <a:pt x="67437" y="211747"/>
                  </a:lnTo>
                  <a:lnTo>
                    <a:pt x="70231" y="203149"/>
                  </a:lnTo>
                  <a:lnTo>
                    <a:pt x="58130" y="197805"/>
                  </a:lnTo>
                  <a:lnTo>
                    <a:pt x="47720" y="190368"/>
                  </a:lnTo>
                  <a:lnTo>
                    <a:pt x="26376" y="155687"/>
                  </a:lnTo>
                  <a:lnTo>
                    <a:pt x="19304" y="104813"/>
                  </a:lnTo>
                  <a:lnTo>
                    <a:pt x="20089" y="86744"/>
                  </a:lnTo>
                  <a:lnTo>
                    <a:pt x="31876" y="42138"/>
                  </a:lnTo>
                  <a:lnTo>
                    <a:pt x="58291" y="13915"/>
                  </a:lnTo>
                  <a:lnTo>
                    <a:pt x="70485" y="8597"/>
                  </a:lnTo>
                  <a:lnTo>
                    <a:pt x="67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643758" y="6295097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099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275077" y="6372555"/>
            <a:ext cx="745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𝑔(𝒙)</a:t>
            </a:r>
            <a:r>
              <a:rPr sz="1200" spc="41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𝑓</a:t>
            </a:r>
            <a:r>
              <a:rPr sz="1200" spc="114" dirty="0">
                <a:latin typeface="Cambria Math"/>
                <a:cs typeface="Cambria Math"/>
              </a:rPr>
              <a:t> </a:t>
            </a:r>
            <a:r>
              <a:rPr sz="1200" spc="-25" dirty="0">
                <a:latin typeface="Cambria Math"/>
                <a:cs typeface="Cambria Math"/>
              </a:rPr>
              <a:t>≥</a:t>
            </a:r>
            <a:r>
              <a:rPr sz="1200" spc="-25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977135" y="6344018"/>
            <a:ext cx="1313180" cy="353060"/>
            <a:chOff x="1977135" y="6344018"/>
            <a:chExt cx="1313180" cy="353060"/>
          </a:xfrm>
        </p:grpSpPr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9881" y="6446151"/>
              <a:ext cx="170053" cy="7618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77135" y="6344018"/>
              <a:ext cx="223900" cy="7821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84374" y="6574027"/>
              <a:ext cx="216662" cy="122732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764792" y="6154013"/>
            <a:ext cx="483870" cy="668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aseline="-27777" dirty="0">
                <a:latin typeface="Cambria Math"/>
                <a:cs typeface="Cambria Math"/>
              </a:rPr>
              <a:t>𝑥</a:t>
            </a:r>
            <a:r>
              <a:rPr sz="1275" baseline="-55555" dirty="0">
                <a:latin typeface="Cambria Math"/>
                <a:cs typeface="Cambria Math"/>
              </a:rPr>
              <a:t>1</a:t>
            </a:r>
            <a:r>
              <a:rPr sz="1275" spc="254" baseline="-55555" dirty="0">
                <a:latin typeface="Cambria Math"/>
                <a:cs typeface="Cambria Math"/>
              </a:rPr>
              <a:t> </a:t>
            </a:r>
            <a:r>
              <a:rPr sz="1000" spc="-25" dirty="0">
                <a:latin typeface="Cambria Math"/>
                <a:cs typeface="Cambria Math"/>
              </a:rPr>
              <a:t>+1</a:t>
            </a:r>
            <a:endParaRPr sz="1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50">
              <a:latin typeface="Cambria Math"/>
              <a:cs typeface="Cambria Math"/>
            </a:endParaRPr>
          </a:p>
          <a:p>
            <a:pPr marL="48895">
              <a:lnSpc>
                <a:spcPct val="100000"/>
              </a:lnSpc>
            </a:pPr>
            <a:r>
              <a:rPr sz="1800" baseline="18518" dirty="0">
                <a:latin typeface="Cambria Math"/>
                <a:cs typeface="Cambria Math"/>
              </a:rPr>
              <a:t>𝑥</a:t>
            </a:r>
            <a:r>
              <a:rPr sz="1275" baseline="9803" dirty="0">
                <a:latin typeface="Cambria Math"/>
                <a:cs typeface="Cambria Math"/>
              </a:rPr>
              <a:t>2</a:t>
            </a:r>
            <a:r>
              <a:rPr sz="1275" spc="232" baseline="9803" dirty="0">
                <a:latin typeface="Cambria Math"/>
                <a:cs typeface="Cambria Math"/>
              </a:rPr>
              <a:t>  </a:t>
            </a:r>
            <a:r>
              <a:rPr sz="1000" spc="-25" dirty="0">
                <a:latin typeface="Cambria Math"/>
                <a:cs typeface="Cambria Math"/>
              </a:rPr>
              <a:t>+1</a:t>
            </a:r>
            <a:endParaRPr sz="100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50"/>
              <p:cNvSpPr txBox="1"/>
              <p:nvPr/>
            </p:nvSpPr>
            <p:spPr>
              <a:xfrm>
                <a:off x="3301746" y="6332931"/>
                <a:ext cx="107314" cy="1974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sz="12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50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746" y="6332931"/>
                <a:ext cx="107314" cy="197490"/>
              </a:xfrm>
              <a:prstGeom prst="rect">
                <a:avLst/>
              </a:prstGeom>
              <a:blipFill>
                <a:blip r:embed="rId11"/>
                <a:stretch>
                  <a:fillRect l="-41176" t="-15625" r="-88235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object 51"/>
          <p:cNvGrpSpPr/>
          <p:nvPr/>
        </p:nvGrpSpPr>
        <p:grpSpPr>
          <a:xfrm>
            <a:off x="5897879" y="6276162"/>
            <a:ext cx="965200" cy="393700"/>
            <a:chOff x="5897879" y="6276162"/>
            <a:chExt cx="965200" cy="393700"/>
          </a:xfrm>
        </p:grpSpPr>
        <p:sp>
          <p:nvSpPr>
            <p:cNvPr id="52" name="object 52"/>
            <p:cNvSpPr/>
            <p:nvPr/>
          </p:nvSpPr>
          <p:spPr>
            <a:xfrm>
              <a:off x="5904229" y="6282512"/>
              <a:ext cx="952500" cy="381000"/>
            </a:xfrm>
            <a:custGeom>
              <a:avLst/>
              <a:gdLst/>
              <a:ahLst/>
              <a:cxnLst/>
              <a:rect l="l" t="t" r="r" b="b"/>
              <a:pathLst>
                <a:path w="952500" h="381000">
                  <a:moveTo>
                    <a:pt x="0" y="190500"/>
                  </a:moveTo>
                  <a:lnTo>
                    <a:pt x="17003" y="139858"/>
                  </a:lnTo>
                  <a:lnTo>
                    <a:pt x="64991" y="94352"/>
                  </a:lnTo>
                  <a:lnTo>
                    <a:pt x="99187" y="74092"/>
                  </a:lnTo>
                  <a:lnTo>
                    <a:pt x="139430" y="55797"/>
                  </a:lnTo>
                  <a:lnTo>
                    <a:pt x="185152" y="39694"/>
                  </a:lnTo>
                  <a:lnTo>
                    <a:pt x="235787" y="26009"/>
                  </a:lnTo>
                  <a:lnTo>
                    <a:pt x="290768" y="14970"/>
                  </a:lnTo>
                  <a:lnTo>
                    <a:pt x="349529" y="6805"/>
                  </a:lnTo>
                  <a:lnTo>
                    <a:pt x="411503" y="1739"/>
                  </a:lnTo>
                  <a:lnTo>
                    <a:pt x="476123" y="0"/>
                  </a:lnTo>
                  <a:lnTo>
                    <a:pt x="540742" y="1739"/>
                  </a:lnTo>
                  <a:lnTo>
                    <a:pt x="602716" y="6805"/>
                  </a:lnTo>
                  <a:lnTo>
                    <a:pt x="661477" y="14970"/>
                  </a:lnTo>
                  <a:lnTo>
                    <a:pt x="716458" y="26009"/>
                  </a:lnTo>
                  <a:lnTo>
                    <a:pt x="767093" y="39694"/>
                  </a:lnTo>
                  <a:lnTo>
                    <a:pt x="812815" y="55797"/>
                  </a:lnTo>
                  <a:lnTo>
                    <a:pt x="853058" y="74092"/>
                  </a:lnTo>
                  <a:lnTo>
                    <a:pt x="887254" y="94352"/>
                  </a:lnTo>
                  <a:lnTo>
                    <a:pt x="935242" y="139858"/>
                  </a:lnTo>
                  <a:lnTo>
                    <a:pt x="952246" y="190500"/>
                  </a:lnTo>
                  <a:lnTo>
                    <a:pt x="947900" y="216348"/>
                  </a:lnTo>
                  <a:lnTo>
                    <a:pt x="914838" y="264649"/>
                  </a:lnTo>
                  <a:lnTo>
                    <a:pt x="853058" y="306907"/>
                  </a:lnTo>
                  <a:lnTo>
                    <a:pt x="812815" y="325202"/>
                  </a:lnTo>
                  <a:lnTo>
                    <a:pt x="767093" y="341305"/>
                  </a:lnTo>
                  <a:lnTo>
                    <a:pt x="716458" y="354990"/>
                  </a:lnTo>
                  <a:lnTo>
                    <a:pt x="661477" y="366029"/>
                  </a:lnTo>
                  <a:lnTo>
                    <a:pt x="602716" y="374194"/>
                  </a:lnTo>
                  <a:lnTo>
                    <a:pt x="540742" y="379260"/>
                  </a:lnTo>
                  <a:lnTo>
                    <a:pt x="476123" y="381000"/>
                  </a:lnTo>
                  <a:lnTo>
                    <a:pt x="411503" y="379260"/>
                  </a:lnTo>
                  <a:lnTo>
                    <a:pt x="349529" y="374194"/>
                  </a:lnTo>
                  <a:lnTo>
                    <a:pt x="290768" y="366029"/>
                  </a:lnTo>
                  <a:lnTo>
                    <a:pt x="235787" y="354990"/>
                  </a:lnTo>
                  <a:lnTo>
                    <a:pt x="185152" y="341305"/>
                  </a:lnTo>
                  <a:lnTo>
                    <a:pt x="139430" y="325202"/>
                  </a:lnTo>
                  <a:lnTo>
                    <a:pt x="99187" y="306907"/>
                  </a:lnTo>
                  <a:lnTo>
                    <a:pt x="64991" y="286647"/>
                  </a:lnTo>
                  <a:lnTo>
                    <a:pt x="17003" y="241141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285229" y="6380302"/>
              <a:ext cx="281940" cy="212090"/>
            </a:xfrm>
            <a:custGeom>
              <a:avLst/>
              <a:gdLst/>
              <a:ahLst/>
              <a:cxnLst/>
              <a:rect l="l" t="t" r="r" b="b"/>
              <a:pathLst>
                <a:path w="281940" h="212090">
                  <a:moveTo>
                    <a:pt x="214249" y="0"/>
                  </a:moveTo>
                  <a:lnTo>
                    <a:pt x="211200" y="8585"/>
                  </a:lnTo>
                  <a:lnTo>
                    <a:pt x="223486" y="13910"/>
                  </a:lnTo>
                  <a:lnTo>
                    <a:pt x="234045" y="21275"/>
                  </a:lnTo>
                  <a:lnTo>
                    <a:pt x="255436" y="55406"/>
                  </a:lnTo>
                  <a:lnTo>
                    <a:pt x="262509" y="104813"/>
                  </a:lnTo>
                  <a:lnTo>
                    <a:pt x="261723" y="123484"/>
                  </a:lnTo>
                  <a:lnTo>
                    <a:pt x="249936" y="169214"/>
                  </a:lnTo>
                  <a:lnTo>
                    <a:pt x="223629" y="197805"/>
                  </a:lnTo>
                  <a:lnTo>
                    <a:pt x="211582" y="203149"/>
                  </a:lnTo>
                  <a:lnTo>
                    <a:pt x="214249" y="211747"/>
                  </a:lnTo>
                  <a:lnTo>
                    <a:pt x="254718" y="187703"/>
                  </a:lnTo>
                  <a:lnTo>
                    <a:pt x="277447" y="143335"/>
                  </a:lnTo>
                  <a:lnTo>
                    <a:pt x="281813" y="105930"/>
                  </a:lnTo>
                  <a:lnTo>
                    <a:pt x="280717" y="86513"/>
                  </a:lnTo>
                  <a:lnTo>
                    <a:pt x="264287" y="37109"/>
                  </a:lnTo>
                  <a:lnTo>
                    <a:pt x="229604" y="5541"/>
                  </a:lnTo>
                  <a:lnTo>
                    <a:pt x="214249" y="0"/>
                  </a:lnTo>
                  <a:close/>
                </a:path>
                <a:path w="281940" h="212090">
                  <a:moveTo>
                    <a:pt x="67564" y="0"/>
                  </a:moveTo>
                  <a:lnTo>
                    <a:pt x="27166" y="24095"/>
                  </a:lnTo>
                  <a:lnTo>
                    <a:pt x="4381" y="68572"/>
                  </a:lnTo>
                  <a:lnTo>
                    <a:pt x="0" y="105930"/>
                  </a:lnTo>
                  <a:lnTo>
                    <a:pt x="1093" y="125383"/>
                  </a:lnTo>
                  <a:lnTo>
                    <a:pt x="17399" y="174739"/>
                  </a:lnTo>
                  <a:lnTo>
                    <a:pt x="52153" y="206205"/>
                  </a:lnTo>
                  <a:lnTo>
                    <a:pt x="67564" y="211747"/>
                  </a:lnTo>
                  <a:lnTo>
                    <a:pt x="70231" y="203149"/>
                  </a:lnTo>
                  <a:lnTo>
                    <a:pt x="58183" y="197805"/>
                  </a:lnTo>
                  <a:lnTo>
                    <a:pt x="47767" y="190368"/>
                  </a:lnTo>
                  <a:lnTo>
                    <a:pt x="26376" y="155687"/>
                  </a:lnTo>
                  <a:lnTo>
                    <a:pt x="19304" y="104813"/>
                  </a:lnTo>
                  <a:lnTo>
                    <a:pt x="20089" y="86744"/>
                  </a:lnTo>
                  <a:lnTo>
                    <a:pt x="31877" y="42138"/>
                  </a:lnTo>
                  <a:lnTo>
                    <a:pt x="58398" y="13910"/>
                  </a:lnTo>
                  <a:lnTo>
                    <a:pt x="70612" y="8585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380352" y="628251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012307" y="6359448"/>
            <a:ext cx="7740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𝑔(𝒙)</a:t>
            </a:r>
            <a:r>
              <a:rPr sz="1200" spc="24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𝑓</a:t>
            </a:r>
            <a:r>
              <a:rPr sz="1200" spc="11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≥</a:t>
            </a:r>
            <a:r>
              <a:rPr sz="1200" spc="80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2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713729" y="6331432"/>
            <a:ext cx="1313180" cy="353060"/>
            <a:chOff x="5713729" y="6331432"/>
            <a:chExt cx="1313180" cy="353060"/>
          </a:xfrm>
        </p:grpSpPr>
        <p:pic>
          <p:nvPicPr>
            <p:cNvPr id="57" name="object 5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56475" y="6433553"/>
              <a:ext cx="169925" cy="76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13729" y="6331432"/>
              <a:ext cx="223774" cy="78219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20841" y="6561442"/>
              <a:ext cx="216662" cy="122732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bject 60"/>
              <p:cNvSpPr txBox="1"/>
              <p:nvPr/>
            </p:nvSpPr>
            <p:spPr>
              <a:xfrm>
                <a:off x="7038593" y="6320434"/>
                <a:ext cx="107314" cy="1974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sz="12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60" name="object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593" y="6320434"/>
                <a:ext cx="107314" cy="197490"/>
              </a:xfrm>
              <a:prstGeom prst="rect">
                <a:avLst/>
              </a:prstGeom>
              <a:blipFill>
                <a:blip r:embed="rId11"/>
                <a:stretch>
                  <a:fillRect l="-41176" t="-15625" r="-88235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object 61"/>
          <p:cNvSpPr txBox="1"/>
          <p:nvPr/>
        </p:nvSpPr>
        <p:spPr>
          <a:xfrm>
            <a:off x="5512942" y="6550558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𝑥</a:t>
            </a:r>
            <a:r>
              <a:rPr sz="1275" spc="-37" baseline="-16339" dirty="0">
                <a:latin typeface="Cambria Math"/>
                <a:cs typeface="Cambria Math"/>
              </a:rPr>
              <a:t>2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501894" y="6157366"/>
            <a:ext cx="4457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aseline="-23148" dirty="0">
                <a:latin typeface="Cambria Math"/>
                <a:cs typeface="Cambria Math"/>
              </a:rPr>
              <a:t>𝑥</a:t>
            </a:r>
            <a:r>
              <a:rPr sz="1275" baseline="-49019" dirty="0">
                <a:latin typeface="Cambria Math"/>
                <a:cs typeface="Cambria Math"/>
              </a:rPr>
              <a:t>1</a:t>
            </a:r>
            <a:r>
              <a:rPr sz="1275" spc="434" baseline="-49019" dirty="0">
                <a:latin typeface="Cambria Math"/>
                <a:cs typeface="Cambria Math"/>
              </a:rPr>
              <a:t> </a:t>
            </a:r>
            <a:r>
              <a:rPr sz="1000" spc="-25" dirty="0">
                <a:latin typeface="Cambria Math"/>
                <a:cs typeface="Cambria Math"/>
              </a:rPr>
              <a:t>+1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791327" y="6610604"/>
            <a:ext cx="1917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Cambria Math"/>
                <a:cs typeface="Cambria Math"/>
              </a:rPr>
              <a:t>+1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681973" y="6368897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mbria Math"/>
                <a:cs typeface="Cambria Math"/>
              </a:rPr>
              <a:t>1</a:t>
            </a:r>
            <a:endParaRPr sz="850">
              <a:latin typeface="Cambria Math"/>
              <a:cs typeface="Cambria Math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8973566" y="6253188"/>
            <a:ext cx="965200" cy="393700"/>
            <a:chOff x="8973566" y="6253188"/>
            <a:chExt cx="965200" cy="393700"/>
          </a:xfrm>
        </p:grpSpPr>
        <p:sp>
          <p:nvSpPr>
            <p:cNvPr id="66" name="object 66"/>
            <p:cNvSpPr/>
            <p:nvPr/>
          </p:nvSpPr>
          <p:spPr>
            <a:xfrm>
              <a:off x="8979916" y="6259538"/>
              <a:ext cx="952500" cy="381000"/>
            </a:xfrm>
            <a:custGeom>
              <a:avLst/>
              <a:gdLst/>
              <a:ahLst/>
              <a:cxnLst/>
              <a:rect l="l" t="t" r="r" b="b"/>
              <a:pathLst>
                <a:path w="952500" h="381000">
                  <a:moveTo>
                    <a:pt x="0" y="190499"/>
                  </a:moveTo>
                  <a:lnTo>
                    <a:pt x="17003" y="139854"/>
                  </a:lnTo>
                  <a:lnTo>
                    <a:pt x="64991" y="94346"/>
                  </a:lnTo>
                  <a:lnTo>
                    <a:pt x="99187" y="74087"/>
                  </a:lnTo>
                  <a:lnTo>
                    <a:pt x="139430" y="55792"/>
                  </a:lnTo>
                  <a:lnTo>
                    <a:pt x="185152" y="39690"/>
                  </a:lnTo>
                  <a:lnTo>
                    <a:pt x="235787" y="26006"/>
                  </a:lnTo>
                  <a:lnTo>
                    <a:pt x="290768" y="14969"/>
                  </a:lnTo>
                  <a:lnTo>
                    <a:pt x="349529" y="6804"/>
                  </a:lnTo>
                  <a:lnTo>
                    <a:pt x="411503" y="1738"/>
                  </a:lnTo>
                  <a:lnTo>
                    <a:pt x="476123" y="0"/>
                  </a:lnTo>
                  <a:lnTo>
                    <a:pt x="540742" y="1738"/>
                  </a:lnTo>
                  <a:lnTo>
                    <a:pt x="602716" y="6804"/>
                  </a:lnTo>
                  <a:lnTo>
                    <a:pt x="661477" y="14969"/>
                  </a:lnTo>
                  <a:lnTo>
                    <a:pt x="716458" y="26006"/>
                  </a:lnTo>
                  <a:lnTo>
                    <a:pt x="767093" y="39690"/>
                  </a:lnTo>
                  <a:lnTo>
                    <a:pt x="812815" y="55792"/>
                  </a:lnTo>
                  <a:lnTo>
                    <a:pt x="853058" y="74087"/>
                  </a:lnTo>
                  <a:lnTo>
                    <a:pt x="887254" y="94346"/>
                  </a:lnTo>
                  <a:lnTo>
                    <a:pt x="935242" y="139854"/>
                  </a:lnTo>
                  <a:lnTo>
                    <a:pt x="952245" y="190499"/>
                  </a:lnTo>
                  <a:lnTo>
                    <a:pt x="947900" y="216348"/>
                  </a:lnTo>
                  <a:lnTo>
                    <a:pt x="914838" y="264649"/>
                  </a:lnTo>
                  <a:lnTo>
                    <a:pt x="853058" y="306907"/>
                  </a:lnTo>
                  <a:lnTo>
                    <a:pt x="812815" y="325202"/>
                  </a:lnTo>
                  <a:lnTo>
                    <a:pt x="767093" y="341305"/>
                  </a:lnTo>
                  <a:lnTo>
                    <a:pt x="716458" y="354990"/>
                  </a:lnTo>
                  <a:lnTo>
                    <a:pt x="661477" y="366029"/>
                  </a:lnTo>
                  <a:lnTo>
                    <a:pt x="602716" y="374194"/>
                  </a:lnTo>
                  <a:lnTo>
                    <a:pt x="540742" y="379260"/>
                  </a:lnTo>
                  <a:lnTo>
                    <a:pt x="476123" y="380999"/>
                  </a:lnTo>
                  <a:lnTo>
                    <a:pt x="411503" y="379260"/>
                  </a:lnTo>
                  <a:lnTo>
                    <a:pt x="349529" y="374194"/>
                  </a:lnTo>
                  <a:lnTo>
                    <a:pt x="290768" y="366029"/>
                  </a:lnTo>
                  <a:lnTo>
                    <a:pt x="235787" y="354990"/>
                  </a:lnTo>
                  <a:lnTo>
                    <a:pt x="185152" y="341305"/>
                  </a:lnTo>
                  <a:lnTo>
                    <a:pt x="139430" y="325202"/>
                  </a:lnTo>
                  <a:lnTo>
                    <a:pt x="99187" y="306907"/>
                  </a:lnTo>
                  <a:lnTo>
                    <a:pt x="64991" y="286647"/>
                  </a:lnTo>
                  <a:lnTo>
                    <a:pt x="17003" y="241141"/>
                  </a:lnTo>
                  <a:lnTo>
                    <a:pt x="0" y="19049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360916" y="6357315"/>
              <a:ext cx="281940" cy="212090"/>
            </a:xfrm>
            <a:custGeom>
              <a:avLst/>
              <a:gdLst/>
              <a:ahLst/>
              <a:cxnLst/>
              <a:rect l="l" t="t" r="r" b="b"/>
              <a:pathLst>
                <a:path w="281940" h="212090">
                  <a:moveTo>
                    <a:pt x="214249" y="0"/>
                  </a:moveTo>
                  <a:lnTo>
                    <a:pt x="211327" y="8597"/>
                  </a:lnTo>
                  <a:lnTo>
                    <a:pt x="223541" y="13917"/>
                  </a:lnTo>
                  <a:lnTo>
                    <a:pt x="234076" y="21282"/>
                  </a:lnTo>
                  <a:lnTo>
                    <a:pt x="255490" y="55414"/>
                  </a:lnTo>
                  <a:lnTo>
                    <a:pt x="262508" y="104813"/>
                  </a:lnTo>
                  <a:lnTo>
                    <a:pt x="261723" y="123489"/>
                  </a:lnTo>
                  <a:lnTo>
                    <a:pt x="249935" y="169227"/>
                  </a:lnTo>
                  <a:lnTo>
                    <a:pt x="223682" y="197807"/>
                  </a:lnTo>
                  <a:lnTo>
                    <a:pt x="211581" y="203149"/>
                  </a:lnTo>
                  <a:lnTo>
                    <a:pt x="214249" y="211747"/>
                  </a:lnTo>
                  <a:lnTo>
                    <a:pt x="254718" y="187715"/>
                  </a:lnTo>
                  <a:lnTo>
                    <a:pt x="277447" y="143336"/>
                  </a:lnTo>
                  <a:lnTo>
                    <a:pt x="281812" y="105930"/>
                  </a:lnTo>
                  <a:lnTo>
                    <a:pt x="280717" y="86521"/>
                  </a:lnTo>
                  <a:lnTo>
                    <a:pt x="264286" y="37122"/>
                  </a:lnTo>
                  <a:lnTo>
                    <a:pt x="229604" y="5548"/>
                  </a:lnTo>
                  <a:lnTo>
                    <a:pt x="214249" y="0"/>
                  </a:lnTo>
                  <a:close/>
                </a:path>
                <a:path w="281940" h="212090">
                  <a:moveTo>
                    <a:pt x="67563" y="0"/>
                  </a:moveTo>
                  <a:lnTo>
                    <a:pt x="27219" y="24108"/>
                  </a:lnTo>
                  <a:lnTo>
                    <a:pt x="4381" y="68583"/>
                  </a:lnTo>
                  <a:lnTo>
                    <a:pt x="0" y="105930"/>
                  </a:lnTo>
                  <a:lnTo>
                    <a:pt x="1093" y="125383"/>
                  </a:lnTo>
                  <a:lnTo>
                    <a:pt x="17399" y="174751"/>
                  </a:lnTo>
                  <a:lnTo>
                    <a:pt x="52153" y="206213"/>
                  </a:lnTo>
                  <a:lnTo>
                    <a:pt x="67563" y="211747"/>
                  </a:lnTo>
                  <a:lnTo>
                    <a:pt x="70230" y="203149"/>
                  </a:lnTo>
                  <a:lnTo>
                    <a:pt x="58183" y="197807"/>
                  </a:lnTo>
                  <a:lnTo>
                    <a:pt x="47767" y="190374"/>
                  </a:lnTo>
                  <a:lnTo>
                    <a:pt x="26376" y="155694"/>
                  </a:lnTo>
                  <a:lnTo>
                    <a:pt x="19303" y="104813"/>
                  </a:lnTo>
                  <a:lnTo>
                    <a:pt x="20089" y="86751"/>
                  </a:lnTo>
                  <a:lnTo>
                    <a:pt x="31876" y="42138"/>
                  </a:lnTo>
                  <a:lnTo>
                    <a:pt x="58398" y="13917"/>
                  </a:lnTo>
                  <a:lnTo>
                    <a:pt x="70611" y="8597"/>
                  </a:lnTo>
                  <a:lnTo>
                    <a:pt x="675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456039" y="6259538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099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088373" y="6346037"/>
            <a:ext cx="7854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aseline="2314" dirty="0">
                <a:latin typeface="Cambria Math"/>
                <a:cs typeface="Cambria Math"/>
              </a:rPr>
              <a:t>𝑔(𝒙)</a:t>
            </a:r>
            <a:r>
              <a:rPr sz="1800" spc="502" baseline="2314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𝑓</a:t>
            </a:r>
            <a:r>
              <a:rPr sz="1200" spc="11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≥</a:t>
            </a:r>
            <a:r>
              <a:rPr sz="1200" spc="80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0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8752967" y="6410578"/>
            <a:ext cx="1349375" cy="274955"/>
            <a:chOff x="8752967" y="6410578"/>
            <a:chExt cx="1349375" cy="274955"/>
          </a:xfrm>
        </p:grpSpPr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32162" y="6410578"/>
              <a:ext cx="170053" cy="76199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752967" y="6410997"/>
              <a:ext cx="226949" cy="76187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953119" y="6508381"/>
              <a:ext cx="136016" cy="17660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74"/>
              <p:cNvSpPr txBox="1"/>
              <p:nvPr/>
            </p:nvSpPr>
            <p:spPr>
              <a:xfrm>
                <a:off x="10114915" y="6296964"/>
                <a:ext cx="107314" cy="1974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sz="12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74" name="object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4915" y="6296964"/>
                <a:ext cx="107314" cy="197490"/>
              </a:xfrm>
              <a:prstGeom prst="rect">
                <a:avLst/>
              </a:prstGeom>
              <a:blipFill>
                <a:blip r:embed="rId18"/>
                <a:stretch>
                  <a:fillRect l="-38889" t="-12500" r="-83333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bject 75"/>
          <p:cNvSpPr txBox="1"/>
          <p:nvPr/>
        </p:nvSpPr>
        <p:spPr>
          <a:xfrm>
            <a:off x="9059036" y="6645656"/>
            <a:ext cx="101219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Entrada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inibitória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580373" y="6242405"/>
            <a:ext cx="3651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aseline="-20833" dirty="0">
                <a:latin typeface="Cambria Math"/>
                <a:cs typeface="Cambria Math"/>
              </a:rPr>
              <a:t>𝑥</a:t>
            </a:r>
            <a:r>
              <a:rPr sz="1800" spc="89" baseline="-20833" dirty="0">
                <a:latin typeface="Cambria Math"/>
                <a:cs typeface="Cambria Math"/>
              </a:rPr>
              <a:t> </a:t>
            </a:r>
            <a:r>
              <a:rPr sz="1000" spc="-25" dirty="0">
                <a:latin typeface="Cambria Math"/>
                <a:cs typeface="Cambria Math"/>
              </a:rPr>
              <a:t>−1</a:t>
            </a:r>
            <a:endParaRPr sz="1000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9E885AC8-59AC-A03D-D178-F83383930D3D}"/>
                  </a:ext>
                </a:extLst>
              </p:cNvPr>
              <p:cNvSpPr txBox="1"/>
              <p:nvPr/>
            </p:nvSpPr>
            <p:spPr>
              <a:xfrm>
                <a:off x="8375699" y="4708128"/>
                <a:ext cx="1759713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91845">
                  <a:lnSpc>
                    <a:spcPct val="100000"/>
                  </a:lnSpc>
                  <a:spcBef>
                    <a:spcPts val="7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𝑓</m:t>
                      </m:r>
                      <m:d>
                        <m:dPr>
                          <m:ctrlPr>
                            <a:rPr lang="ar-AE" sz="1800" i="1" spc="459" dirty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ar-AE" sz="180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ar-AE" sz="1800" i="1" spc="37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ar-AE" sz="1800" i="1" spc="-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9E885AC8-59AC-A03D-D178-F83383930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699" y="4708128"/>
                <a:ext cx="1759713" cy="404983"/>
              </a:xfrm>
              <a:prstGeom prst="rect">
                <a:avLst/>
              </a:prstGeom>
              <a:blipFill>
                <a:blip r:embed="rId19"/>
                <a:stretch>
                  <a:fillRect t="-4478" r="-6228" b="-164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B1AEB81E-7DF7-78C8-3FB2-F760966AA556}"/>
                  </a:ext>
                </a:extLst>
              </p:cNvPr>
              <p:cNvSpPr txBox="1"/>
              <p:nvPr/>
            </p:nvSpPr>
            <p:spPr>
              <a:xfrm>
                <a:off x="10690590" y="5718161"/>
                <a:ext cx="11924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47955" algn="ctr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𝑔</m:t>
                      </m:r>
                      <m:r>
                        <a:rPr lang="pt-BR" sz="1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lang="pt-BR"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B1AEB81E-7DF7-78C8-3FB2-F760966AA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0590" y="5718161"/>
                <a:ext cx="1192401" cy="369332"/>
              </a:xfrm>
              <a:prstGeom prst="rect">
                <a:avLst/>
              </a:prstGeom>
              <a:blipFill>
                <a:blip r:embed="rId20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CaixaDeTexto 80">
                <a:extLst>
                  <a:ext uri="{FF2B5EF4-FFF2-40B4-BE49-F238E27FC236}">
                    <a16:creationId xmlns:a16="http://schemas.microsoft.com/office/drawing/2014/main" id="{1DCF21CA-8495-FEDE-C4A9-C4125B19851E}"/>
                  </a:ext>
                </a:extLst>
              </p:cNvPr>
              <p:cNvSpPr txBox="1"/>
              <p:nvPr/>
            </p:nvSpPr>
            <p:spPr>
              <a:xfrm>
                <a:off x="3241677" y="5718161"/>
                <a:ext cx="11924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47955" algn="ctr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𝑔</m:t>
                      </m:r>
                      <m:r>
                        <a:rPr lang="pt-BR" sz="1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lang="pt-BR"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81" name="CaixaDeTexto 80">
                <a:extLst>
                  <a:ext uri="{FF2B5EF4-FFF2-40B4-BE49-F238E27FC236}">
                    <a16:creationId xmlns:a16="http://schemas.microsoft.com/office/drawing/2014/main" id="{1DCF21CA-8495-FEDE-C4A9-C4125B198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677" y="5718161"/>
                <a:ext cx="1192401" cy="369332"/>
              </a:xfrm>
              <a:prstGeom prst="rect">
                <a:avLst/>
              </a:prstGeom>
              <a:blipFill>
                <a:blip r:embed="rId21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portas</a:t>
            </a:r>
            <a:r>
              <a:rPr spc="-45" dirty="0"/>
              <a:t> </a:t>
            </a:r>
            <a:r>
              <a:rPr dirty="0"/>
              <a:t>lógicas</a:t>
            </a:r>
            <a:r>
              <a:rPr spc="-40" dirty="0"/>
              <a:t> </a:t>
            </a:r>
            <a:r>
              <a:rPr dirty="0"/>
              <a:t>com</a:t>
            </a:r>
            <a:r>
              <a:rPr spc="-35" dirty="0"/>
              <a:t> </a:t>
            </a:r>
            <a:r>
              <a:rPr dirty="0"/>
              <a:t>o</a:t>
            </a:r>
            <a:r>
              <a:rPr spc="-55" dirty="0"/>
              <a:t> </a:t>
            </a:r>
            <a:r>
              <a:rPr dirty="0"/>
              <a:t>modelo</a:t>
            </a:r>
            <a:r>
              <a:rPr spc="-35" dirty="0"/>
              <a:t> </a:t>
            </a:r>
            <a:r>
              <a:rPr spc="-25" dirty="0"/>
              <a:t>M-</a:t>
            </a:r>
            <a:r>
              <a:rPr spc="-50" dirty="0"/>
              <a:t>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object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85791"/>
                  </p:ext>
                </p:extLst>
              </p:nvPr>
            </p:nvGraphicFramePr>
            <p:xfrm>
              <a:off x="5264975" y="4290504"/>
              <a:ext cx="1651635" cy="187134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05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5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054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11785">
                    <a:tc gridSpan="3">
                      <a:txBody>
                        <a:bodyPr/>
                        <a:lstStyle/>
                        <a:p>
                          <a:pPr marL="635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spc="-25" dirty="0">
                              <a:latin typeface="Calibri"/>
                              <a:cs typeface="Calibri"/>
                            </a:rPr>
                            <a:t>XOR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000000"/>
                          </a:solidFill>
                          <a:prstDash val="solid"/>
                        </a:lnT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191135" algn="r">
                            <a:lnSpc>
                              <a:spcPct val="100000"/>
                            </a:lnSpc>
                            <a:spcBef>
                              <a:spcPts val="85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1</a:t>
                          </a:r>
                          <a:endParaRPr sz="1950" baseline="-14957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79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12700">
                          <a:solidFill>
                            <a:srgbClr val="000000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187960" algn="r">
                            <a:lnSpc>
                              <a:spcPct val="100000"/>
                            </a:lnSpc>
                            <a:spcBef>
                              <a:spcPts val="85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2</a:t>
                          </a:r>
                          <a:endParaRPr sz="1950" baseline="-14957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79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12700">
                          <a:solidFill>
                            <a:srgbClr val="000000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50800" algn="ctr">
                            <a:lnSpc>
                              <a:spcPct val="100000"/>
                            </a:lnSpc>
                            <a:spcBef>
                              <a:spcPts val="85"/>
                            </a:spcBef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sz="1800" dirty="0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79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12700">
                          <a:solidFill>
                            <a:srgbClr val="000000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12700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279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12700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12700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12700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12700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12700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</a:p>
                      </a:txBody>
                      <a:tcPr marL="0" marR="0" marT="508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object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85791"/>
                  </p:ext>
                </p:extLst>
              </p:nvPr>
            </p:nvGraphicFramePr>
            <p:xfrm>
              <a:off x="5264975" y="4290504"/>
              <a:ext cx="1651635" cy="187134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05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5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054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11785">
                    <a:tc gridSpan="3">
                      <a:txBody>
                        <a:bodyPr/>
                        <a:lstStyle/>
                        <a:p>
                          <a:pPr marL="635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spc="-25" dirty="0">
                              <a:latin typeface="Calibri"/>
                              <a:cs typeface="Calibri"/>
                            </a:rPr>
                            <a:t>XOR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000000"/>
                          </a:solidFill>
                          <a:prstDash val="solid"/>
                        </a:lnT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191135" algn="r">
                            <a:lnSpc>
                              <a:spcPct val="100000"/>
                            </a:lnSpc>
                            <a:spcBef>
                              <a:spcPts val="85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1</a:t>
                          </a:r>
                          <a:endParaRPr sz="1950" baseline="-14957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79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12700">
                          <a:solidFill>
                            <a:srgbClr val="000000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187960" algn="r">
                            <a:lnSpc>
                              <a:spcPct val="100000"/>
                            </a:lnSpc>
                            <a:spcBef>
                              <a:spcPts val="85"/>
                            </a:spcBef>
                          </a:pPr>
                          <a:r>
                            <a:rPr sz="1800" spc="-25" dirty="0">
                              <a:latin typeface="Cambria Math"/>
                              <a:cs typeface="Cambria Math"/>
                            </a:rPr>
                            <a:t>𝑥</a:t>
                          </a:r>
                          <a:r>
                            <a:rPr sz="1950" spc="-37" baseline="-14957" dirty="0">
                              <a:latin typeface="Cambria Math"/>
                              <a:cs typeface="Cambria Math"/>
                            </a:rPr>
                            <a:t>2</a:t>
                          </a:r>
                          <a:endParaRPr sz="1950" baseline="-14957">
                            <a:latin typeface="Cambria Math"/>
                            <a:cs typeface="Cambria Math"/>
                          </a:endParaRPr>
                        </a:p>
                      </a:txBody>
                      <a:tcPr marL="0" marR="0" marT="1079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12700">
                          <a:solidFill>
                            <a:srgbClr val="000000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0" marR="0" marT="1079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12700">
                          <a:solidFill>
                            <a:srgbClr val="000000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200000" t="-119231" r="-2198" b="-428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12700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279" algn="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12700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35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4445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12700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12700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12700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12700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CCCCCC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1785"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000000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208915" algn="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1</a:t>
                          </a:r>
                          <a:endParaRPr sz="1800">
                            <a:latin typeface="Calibri"/>
                            <a:cs typeface="Calibri"/>
                          </a:endParaRPr>
                        </a:p>
                      </a:txBody>
                      <a:tcPr marL="0" marR="0" marT="508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CCCCCC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  <a:spcBef>
                              <a:spcPts val="40"/>
                            </a:spcBef>
                          </a:pPr>
                          <a:r>
                            <a:rPr sz="1800" dirty="0">
                              <a:latin typeface="Calibri"/>
                              <a:cs typeface="Calibri"/>
                            </a:rPr>
                            <a:t>0</a:t>
                          </a:r>
                        </a:p>
                      </a:txBody>
                      <a:tcPr marL="0" marR="0" marT="5080" marB="0">
                        <a:lnL w="9525">
                          <a:solidFill>
                            <a:srgbClr val="CCCCCC"/>
                          </a:solidFill>
                          <a:prstDash val="solid"/>
                        </a:lnL>
                        <a:lnR w="9525">
                          <a:solidFill>
                            <a:srgbClr val="000000"/>
                          </a:solidFill>
                          <a:prstDash val="solid"/>
                        </a:lnR>
                        <a:lnT w="9525">
                          <a:solidFill>
                            <a:srgbClr val="CCCCCC"/>
                          </a:solidFill>
                          <a:prstDash val="solid"/>
                        </a:lnT>
                        <a:lnB w="9525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object 4"/>
          <p:cNvSpPr txBox="1"/>
          <p:nvPr/>
        </p:nvSpPr>
        <p:spPr>
          <a:xfrm>
            <a:off x="916939" y="1712965"/>
            <a:ext cx="10274935" cy="223266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casa: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Qual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limiar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ativação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𝜃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porta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lógica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XOR?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Dicas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80"/>
              </a:spcBef>
              <a:buFont typeface="Courier New"/>
              <a:buChar char="o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Desenhem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figura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pontos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diferentes representando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classes.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ts val="2280"/>
              </a:lnSpc>
              <a:spcBef>
                <a:spcPts val="260"/>
              </a:spcBef>
              <a:buFont typeface="Courier New"/>
              <a:buChar char="o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Esse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linearmente</a:t>
            </a:r>
            <a:r>
              <a:rPr sz="2000" spc="-10" dirty="0">
                <a:latin typeface="Calibri"/>
                <a:cs typeface="Calibri"/>
              </a:rPr>
              <a:t> separável,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seja,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hiperplano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consegue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separar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as</a:t>
            </a:r>
            <a:endParaRPr sz="2000" dirty="0">
              <a:latin typeface="Calibri"/>
              <a:cs typeface="Calibri"/>
            </a:endParaRPr>
          </a:p>
          <a:p>
            <a:pPr marL="1155700">
              <a:lnSpc>
                <a:spcPts val="2280"/>
              </a:lnSpc>
            </a:pPr>
            <a:r>
              <a:rPr sz="2000" spc="-10" dirty="0">
                <a:latin typeface="Calibri"/>
                <a:cs typeface="Calibri"/>
              </a:rPr>
              <a:t>classes?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Perceptron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6988"/>
            <a:ext cx="6678930" cy="46742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36195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1958,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Frank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Rosenblatt,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propôs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novo </a:t>
            </a:r>
            <a:r>
              <a:rPr sz="2800" b="1" i="1" dirty="0">
                <a:latin typeface="Calibri"/>
                <a:cs typeface="Calibri"/>
              </a:rPr>
              <a:t>modelo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computacional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geral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neurônio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McCulloch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Pitts.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19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foi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perceptron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lado.</a:t>
            </a:r>
            <a:endParaRPr sz="2800" dirty="0">
              <a:latin typeface="Calibri"/>
              <a:cs typeface="Calibri"/>
            </a:endParaRPr>
          </a:p>
          <a:p>
            <a:pPr marL="241300" marR="1780539" indent="-228600" algn="just">
              <a:lnSpc>
                <a:spcPct val="9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perceptron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aprendizado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supervisionado</a:t>
            </a:r>
            <a:r>
              <a:rPr sz="2800" b="1" i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classificadores</a:t>
            </a:r>
            <a:r>
              <a:rPr sz="2800" b="1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binários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Assim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M-</a:t>
            </a:r>
            <a:r>
              <a:rPr sz="2800" spc="-185" dirty="0">
                <a:latin typeface="Calibri"/>
                <a:cs typeface="Calibri"/>
              </a:rPr>
              <a:t>P,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definição,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perceptron</a:t>
            </a:r>
            <a:r>
              <a:rPr sz="2800" b="1" i="1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só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capaz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classificar </a:t>
            </a:r>
            <a:r>
              <a:rPr sz="2800" dirty="0">
                <a:latin typeface="Calibri"/>
                <a:cs typeface="Calibri"/>
              </a:rPr>
              <a:t>padrões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linearmente</a:t>
            </a:r>
            <a:r>
              <a:rPr sz="2800" b="1" i="1" spc="-10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separáveis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0593" y="366062"/>
            <a:ext cx="2223205" cy="29021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617456" y="3231845"/>
            <a:ext cx="141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Frank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Rosenblatt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1932" y="3961283"/>
            <a:ext cx="4158159" cy="16497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Perceptron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00138" y="1523746"/>
            <a:ext cx="4552315" cy="316484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409575" indent="-22923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Esse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novo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supera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algumas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limitações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M-P: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90100"/>
              </a:lnSpc>
              <a:spcBef>
                <a:spcPts val="49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Introdução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pesos</a:t>
            </a:r>
            <a:r>
              <a:rPr sz="24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EC7C30"/>
                </a:solidFill>
                <a:latin typeface="Calibri"/>
                <a:cs typeface="Calibri"/>
              </a:rPr>
              <a:t>sinápticos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com</a:t>
            </a:r>
            <a:r>
              <a:rPr sz="24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valores</a:t>
            </a:r>
            <a:r>
              <a:rPr sz="2400" b="1" i="1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reais</a:t>
            </a:r>
            <a:r>
              <a:rPr sz="2400" b="1" i="1" spc="-2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</a:t>
            </a:r>
            <a:r>
              <a:rPr sz="2400" dirty="0">
                <a:latin typeface="Calibri"/>
                <a:cs typeface="Calibri"/>
              </a:rPr>
              <a:t>entradas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sinapses</a:t>
            </a:r>
            <a:r>
              <a:rPr sz="2400" spc="-10" dirty="0">
                <a:latin typeface="Calibri"/>
                <a:cs typeface="Calibri"/>
              </a:rPr>
              <a:t>).</a:t>
            </a:r>
            <a:endParaRPr sz="2400" dirty="0">
              <a:latin typeface="Calibri"/>
              <a:cs typeface="Calibri"/>
            </a:endParaRPr>
          </a:p>
          <a:p>
            <a:pPr marL="1155700" marR="280670" lvl="2" indent="-228600">
              <a:lnSpc>
                <a:spcPts val="2160"/>
              </a:lnSpc>
              <a:spcBef>
                <a:spcPts val="555"/>
              </a:spcBef>
              <a:buFont typeface="Courier New"/>
              <a:buChar char="o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Pesos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dão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medida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de </a:t>
            </a:r>
            <a:r>
              <a:rPr sz="2000" dirty="0">
                <a:latin typeface="Calibri"/>
                <a:cs typeface="Calibri"/>
              </a:rPr>
              <a:t>importância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sinapses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(i.e., atributos).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7592" y="4686680"/>
            <a:ext cx="4321175" cy="13792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385"/>
              </a:spcBef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método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modelo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aprenda</a:t>
            </a:r>
            <a:r>
              <a:rPr sz="24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os</a:t>
            </a:r>
            <a:r>
              <a:rPr sz="2400" b="1" i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pesos</a:t>
            </a:r>
            <a:r>
              <a:rPr sz="24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2400" b="1" i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o</a:t>
            </a:r>
            <a:r>
              <a:rPr sz="2400" b="1" i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ponto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 de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ativação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 </a:t>
            </a:r>
            <a:r>
              <a:rPr sz="2400" dirty="0">
                <a:latin typeface="Calibri"/>
                <a:cs typeface="Calibri"/>
              </a:rPr>
              <a:t>peso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também.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8701" y="5311521"/>
            <a:ext cx="35979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Percebam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b="1" i="1" dirty="0">
                <a:latin typeface="Calibri"/>
                <a:cs typeface="Calibri"/>
              </a:rPr>
              <a:t>limiar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ativação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𝜃</a:t>
            </a:r>
            <a:r>
              <a:rPr sz="1800" spc="-25" dirty="0">
                <a:latin typeface="Calibri"/>
                <a:cs typeface="Calibri"/>
              </a:rPr>
              <a:t>, </a:t>
            </a:r>
            <a:r>
              <a:rPr sz="1800" dirty="0">
                <a:latin typeface="Calibri"/>
                <a:cs typeface="Calibri"/>
              </a:rPr>
              <a:t>agora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faz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entradas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é </a:t>
            </a:r>
            <a:r>
              <a:rPr sz="1800" dirty="0">
                <a:latin typeface="Calibri"/>
                <a:cs typeface="Calibri"/>
              </a:rPr>
              <a:t>chamado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peso</a:t>
            </a:r>
            <a:r>
              <a:rPr sz="1800" b="1" i="1" spc="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bias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95978" y="4689221"/>
            <a:ext cx="2550795" cy="1118235"/>
            <a:chOff x="3895978" y="4689221"/>
            <a:chExt cx="2550795" cy="1118235"/>
          </a:xfrm>
        </p:grpSpPr>
        <p:sp>
          <p:nvSpPr>
            <p:cNvPr id="13" name="object 13"/>
            <p:cNvSpPr/>
            <p:nvPr/>
          </p:nvSpPr>
          <p:spPr>
            <a:xfrm>
              <a:off x="3895979" y="4689221"/>
              <a:ext cx="2520315" cy="1118235"/>
            </a:xfrm>
            <a:custGeom>
              <a:avLst/>
              <a:gdLst/>
              <a:ahLst/>
              <a:cxnLst/>
              <a:rect l="l" t="t" r="r" b="b"/>
              <a:pathLst>
                <a:path w="2520315" h="1118235">
                  <a:moveTo>
                    <a:pt x="2520061" y="1079982"/>
                  </a:moveTo>
                  <a:lnTo>
                    <a:pt x="2507361" y="1073632"/>
                  </a:lnTo>
                  <a:lnTo>
                    <a:pt x="2443861" y="1041882"/>
                  </a:lnTo>
                  <a:lnTo>
                    <a:pt x="2443861" y="1073632"/>
                  </a:lnTo>
                  <a:lnTo>
                    <a:pt x="532892" y="1073632"/>
                  </a:lnTo>
                  <a:lnTo>
                    <a:pt x="532892" y="76200"/>
                  </a:lnTo>
                  <a:lnTo>
                    <a:pt x="564642" y="76200"/>
                  </a:lnTo>
                  <a:lnTo>
                    <a:pt x="558292" y="63500"/>
                  </a:lnTo>
                  <a:lnTo>
                    <a:pt x="526542" y="0"/>
                  </a:lnTo>
                  <a:lnTo>
                    <a:pt x="488442" y="76200"/>
                  </a:lnTo>
                  <a:lnTo>
                    <a:pt x="520192" y="76200"/>
                  </a:lnTo>
                  <a:lnTo>
                    <a:pt x="520192" y="1073632"/>
                  </a:lnTo>
                  <a:lnTo>
                    <a:pt x="0" y="1073632"/>
                  </a:lnTo>
                  <a:lnTo>
                    <a:pt x="0" y="1086332"/>
                  </a:lnTo>
                  <a:lnTo>
                    <a:pt x="2443861" y="1086332"/>
                  </a:lnTo>
                  <a:lnTo>
                    <a:pt x="2443861" y="1118082"/>
                  </a:lnTo>
                  <a:lnTo>
                    <a:pt x="2507361" y="1086332"/>
                  </a:lnTo>
                  <a:lnTo>
                    <a:pt x="2520061" y="10799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24044" y="5294122"/>
              <a:ext cx="2016125" cy="0"/>
            </a:xfrm>
            <a:custGeom>
              <a:avLst/>
              <a:gdLst/>
              <a:ahLst/>
              <a:cxnLst/>
              <a:rect l="l" t="t" r="r" b="b"/>
              <a:pathLst>
                <a:path w="2016125">
                  <a:moveTo>
                    <a:pt x="0" y="0"/>
                  </a:moveTo>
                  <a:lnTo>
                    <a:pt x="201599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361179" y="5785815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46626" y="5163388"/>
            <a:ext cx="1244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11546" y="4890896"/>
            <a:ext cx="1828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função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ativação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393" y="1663044"/>
            <a:ext cx="5084279" cy="20184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CD9DA64-BDF5-7C70-B390-E1F434C30D80}"/>
                  </a:ext>
                </a:extLst>
              </p:cNvPr>
              <p:cNvSpPr txBox="1"/>
              <p:nvPr/>
            </p:nvSpPr>
            <p:spPr>
              <a:xfrm>
                <a:off x="233542" y="4455877"/>
                <a:ext cx="3526991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CD9DA64-BDF5-7C70-B390-E1F434C30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42" y="4455877"/>
                <a:ext cx="3526991" cy="617861"/>
              </a:xfrm>
              <a:prstGeom prst="rect">
                <a:avLst/>
              </a:prstGeom>
              <a:blipFill>
                <a:blip r:embed="rId3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D3796374-31BF-8783-ACD5-56BEE5BAD5A8}"/>
                  </a:ext>
                </a:extLst>
              </p:cNvPr>
              <p:cNvSpPr txBox="1"/>
              <p:nvPr/>
            </p:nvSpPr>
            <p:spPr>
              <a:xfrm>
                <a:off x="4507928" y="4608482"/>
                <a:ext cx="871905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D3796374-31BF-8783-ACD5-56BEE5BAD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928" y="4608482"/>
                <a:ext cx="871905" cy="312650"/>
              </a:xfrm>
              <a:prstGeom prst="rect">
                <a:avLst/>
              </a:prstGeom>
              <a:blipFill>
                <a:blip r:embed="rId4"/>
                <a:stretch>
                  <a:fillRect l="-8333" b="-274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0C6A0CD-DDD2-C9AE-5B89-3F7E23CA288D}"/>
                  </a:ext>
                </a:extLst>
              </p:cNvPr>
              <p:cNvSpPr txBox="1"/>
              <p:nvPr/>
            </p:nvSpPr>
            <p:spPr>
              <a:xfrm>
                <a:off x="6462876" y="5597518"/>
                <a:ext cx="5319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0C6A0CD-DDD2-C9AE-5B89-3F7E23CA2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876" y="5597518"/>
                <a:ext cx="531940" cy="276999"/>
              </a:xfrm>
              <a:prstGeom prst="rect">
                <a:avLst/>
              </a:prstGeom>
              <a:blipFill>
                <a:blip r:embed="rId5"/>
                <a:stretch>
                  <a:fillRect l="-10345" r="-16092" b="-347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Perceptron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7741" y="1635038"/>
            <a:ext cx="6130925" cy="49339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77470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Além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disso,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entradas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mais </a:t>
            </a:r>
            <a:r>
              <a:rPr sz="2800" dirty="0">
                <a:latin typeface="Calibri"/>
                <a:cs typeface="Calibri"/>
              </a:rPr>
              <a:t>limitadas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valores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booleanos,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no </a:t>
            </a:r>
            <a:r>
              <a:rPr sz="2800" dirty="0">
                <a:latin typeface="Calibri"/>
                <a:cs typeface="Calibri"/>
              </a:rPr>
              <a:t>caso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M-</a:t>
            </a:r>
            <a:r>
              <a:rPr sz="2800" spc="-185" dirty="0">
                <a:latin typeface="Calibri"/>
                <a:cs typeface="Calibri"/>
              </a:rPr>
              <a:t>P,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suportando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entradas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valores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reais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torna </a:t>
            </a:r>
            <a:r>
              <a:rPr sz="2800" dirty="0">
                <a:latin typeface="Calibri"/>
                <a:cs typeface="Calibri"/>
              </a:rPr>
              <a:t>este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útil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generalizado.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Porém,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M-</a:t>
            </a:r>
            <a:r>
              <a:rPr sz="2800" spc="-175" dirty="0">
                <a:latin typeface="Calibri"/>
                <a:cs typeface="Calibri"/>
              </a:rPr>
              <a:t>P,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ativação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utilizada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pelo </a:t>
            </a:r>
            <a:r>
              <a:rPr sz="2800" b="1" i="1" dirty="0">
                <a:latin typeface="Calibri"/>
                <a:cs typeface="Calibri"/>
              </a:rPr>
              <a:t>perceptron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degrau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diferença</a:t>
            </a:r>
            <a:r>
              <a:rPr sz="28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aqui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ela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mais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depende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limiar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ativação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𝜃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8260" indent="-228600">
              <a:lnSpc>
                <a:spcPts val="3040"/>
              </a:lnSpc>
              <a:spcBef>
                <a:spcPts val="1030"/>
              </a:spcBef>
              <a:buFont typeface="Arial"/>
              <a:buChar char="•"/>
              <a:tabLst>
                <a:tab pos="241300" algn="l"/>
                <a:tab pos="2823210" algn="l"/>
                <a:tab pos="327406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transição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ativação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sempre </a:t>
            </a:r>
            <a:r>
              <a:rPr sz="2800" dirty="0">
                <a:latin typeface="Calibri"/>
                <a:cs typeface="Calibri"/>
              </a:rPr>
              <a:t>ocorre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quando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𝑔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=</a:t>
            </a:r>
            <a:r>
              <a:rPr sz="2800" spc="13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0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92414" y="3951478"/>
            <a:ext cx="35972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Percebam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b="1" i="1" dirty="0">
                <a:latin typeface="Calibri"/>
                <a:cs typeface="Calibri"/>
              </a:rPr>
              <a:t>limiar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ativação</a:t>
            </a:r>
            <a:r>
              <a:rPr sz="1800" dirty="0">
                <a:latin typeface="Calibri"/>
                <a:cs typeface="Calibri"/>
              </a:rPr>
              <a:t>, </a:t>
            </a:r>
            <a:r>
              <a:rPr sz="1800" spc="-25" dirty="0">
                <a:latin typeface="Cambria Math"/>
                <a:cs typeface="Cambria Math"/>
              </a:rPr>
              <a:t>𝜃</a:t>
            </a:r>
            <a:r>
              <a:rPr sz="1800" spc="-25" dirty="0">
                <a:latin typeface="Calibri"/>
                <a:cs typeface="Calibri"/>
              </a:rPr>
              <a:t>, </a:t>
            </a:r>
            <a:r>
              <a:rPr sz="1800" dirty="0">
                <a:latin typeface="Calibri"/>
                <a:cs typeface="Calibri"/>
              </a:rPr>
              <a:t>agora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faz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entradas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é </a:t>
            </a:r>
            <a:r>
              <a:rPr sz="1800" dirty="0">
                <a:latin typeface="Calibri"/>
                <a:cs typeface="Calibri"/>
              </a:rPr>
              <a:t>chamado de </a:t>
            </a:r>
            <a:r>
              <a:rPr sz="1800" b="1" i="1" spc="-10" dirty="0">
                <a:latin typeface="Calibri"/>
                <a:cs typeface="Calibri"/>
              </a:rPr>
              <a:t>bias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80068" y="5112258"/>
            <a:ext cx="2550795" cy="1118235"/>
            <a:chOff x="8680068" y="5112258"/>
            <a:chExt cx="2550795" cy="1118235"/>
          </a:xfrm>
        </p:grpSpPr>
        <p:sp>
          <p:nvSpPr>
            <p:cNvPr id="13" name="object 13"/>
            <p:cNvSpPr/>
            <p:nvPr/>
          </p:nvSpPr>
          <p:spPr>
            <a:xfrm>
              <a:off x="8680069" y="5112258"/>
              <a:ext cx="2520315" cy="1118235"/>
            </a:xfrm>
            <a:custGeom>
              <a:avLst/>
              <a:gdLst/>
              <a:ahLst/>
              <a:cxnLst/>
              <a:rect l="l" t="t" r="r" b="b"/>
              <a:pathLst>
                <a:path w="2520315" h="1118235">
                  <a:moveTo>
                    <a:pt x="2520061" y="1079982"/>
                  </a:moveTo>
                  <a:lnTo>
                    <a:pt x="2507361" y="1073632"/>
                  </a:lnTo>
                  <a:lnTo>
                    <a:pt x="2443861" y="1041882"/>
                  </a:lnTo>
                  <a:lnTo>
                    <a:pt x="2443861" y="1073632"/>
                  </a:lnTo>
                  <a:lnTo>
                    <a:pt x="532892" y="1073632"/>
                  </a:lnTo>
                  <a:lnTo>
                    <a:pt x="532892" y="76200"/>
                  </a:lnTo>
                  <a:lnTo>
                    <a:pt x="564642" y="76200"/>
                  </a:lnTo>
                  <a:lnTo>
                    <a:pt x="558292" y="63500"/>
                  </a:lnTo>
                  <a:lnTo>
                    <a:pt x="526542" y="0"/>
                  </a:lnTo>
                  <a:lnTo>
                    <a:pt x="488442" y="76200"/>
                  </a:lnTo>
                  <a:lnTo>
                    <a:pt x="520192" y="76200"/>
                  </a:lnTo>
                  <a:lnTo>
                    <a:pt x="520192" y="1073632"/>
                  </a:lnTo>
                  <a:lnTo>
                    <a:pt x="0" y="1073632"/>
                  </a:lnTo>
                  <a:lnTo>
                    <a:pt x="0" y="1086332"/>
                  </a:lnTo>
                  <a:lnTo>
                    <a:pt x="2443861" y="1086332"/>
                  </a:lnTo>
                  <a:lnTo>
                    <a:pt x="2443861" y="1118082"/>
                  </a:lnTo>
                  <a:lnTo>
                    <a:pt x="2507361" y="1086332"/>
                  </a:lnTo>
                  <a:lnTo>
                    <a:pt x="2520061" y="10799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08134" y="5717197"/>
              <a:ext cx="2016125" cy="0"/>
            </a:xfrm>
            <a:custGeom>
              <a:avLst/>
              <a:gdLst/>
              <a:ahLst/>
              <a:cxnLst/>
              <a:rect l="l" t="t" r="r" b="b"/>
              <a:pathLst>
                <a:path w="2016125">
                  <a:moveTo>
                    <a:pt x="0" y="0"/>
                  </a:moveTo>
                  <a:lnTo>
                    <a:pt x="201599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145651" y="6208877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31351" y="5587085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201402" y="5300294"/>
            <a:ext cx="1829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função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ativação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4105" y="955185"/>
            <a:ext cx="4161067" cy="16509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C04447F8-F112-6724-80E9-D9020A0DD099}"/>
                  </a:ext>
                </a:extLst>
              </p:cNvPr>
              <p:cNvSpPr txBox="1"/>
              <p:nvPr/>
            </p:nvSpPr>
            <p:spPr>
              <a:xfrm>
                <a:off x="8347609" y="2968804"/>
                <a:ext cx="3526991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C04447F8-F112-6724-80E9-D9020A0DD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609" y="2968804"/>
                <a:ext cx="3526991" cy="617861"/>
              </a:xfrm>
              <a:prstGeom prst="rect">
                <a:avLst/>
              </a:prstGeom>
              <a:blipFill>
                <a:blip r:embed="rId3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6376E229-4F95-03BD-D9ED-446005535CA1}"/>
                  </a:ext>
                </a:extLst>
              </p:cNvPr>
              <p:cNvSpPr txBox="1"/>
              <p:nvPr/>
            </p:nvSpPr>
            <p:spPr>
              <a:xfrm>
                <a:off x="9270111" y="4978867"/>
                <a:ext cx="871905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6376E229-4F95-03BD-D9ED-446005535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111" y="4978867"/>
                <a:ext cx="871905" cy="312650"/>
              </a:xfrm>
              <a:prstGeom prst="rect">
                <a:avLst/>
              </a:prstGeom>
              <a:blipFill>
                <a:blip r:embed="rId4"/>
                <a:stretch>
                  <a:fillRect l="-8392" b="-274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9C7A634-0D70-D32E-B1EC-D0AA1C071851}"/>
                  </a:ext>
                </a:extLst>
              </p:cNvPr>
              <p:cNvSpPr txBox="1"/>
              <p:nvPr/>
            </p:nvSpPr>
            <p:spPr>
              <a:xfrm>
                <a:off x="11224259" y="6003841"/>
                <a:ext cx="5319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9C7A634-0D70-D32E-B1EC-D0AA1C07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4259" y="6003841"/>
                <a:ext cx="531940" cy="276999"/>
              </a:xfrm>
              <a:prstGeom prst="rect">
                <a:avLst/>
              </a:prstGeom>
              <a:blipFill>
                <a:blip r:embed="rId5"/>
                <a:stretch>
                  <a:fillRect l="-10227" r="-14773" b="-37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Perceptron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975340" cy="18586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ativação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perceptron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causada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combinação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linear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estímulos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entrada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pesos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sinápticos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combinação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linear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exceder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limiar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ativação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𝜃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disparo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ocorre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Isso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expresso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ativação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tipo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degrau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491" y="3984936"/>
            <a:ext cx="5991824" cy="2379220"/>
          </a:xfrm>
          <a:prstGeom prst="rect">
            <a:avLst/>
          </a:prstGeom>
        </p:spPr>
      </p:pic>
      <p:grpSp>
        <p:nvGrpSpPr>
          <p:cNvPr id="8" name="object 12">
            <a:extLst>
              <a:ext uri="{FF2B5EF4-FFF2-40B4-BE49-F238E27FC236}">
                <a16:creationId xmlns:a16="http://schemas.microsoft.com/office/drawing/2014/main" id="{A498D5E1-4AB5-EB0D-AEAE-27038356C266}"/>
              </a:ext>
            </a:extLst>
          </p:cNvPr>
          <p:cNvGrpSpPr/>
          <p:nvPr/>
        </p:nvGrpSpPr>
        <p:grpSpPr>
          <a:xfrm>
            <a:off x="8034634" y="4800600"/>
            <a:ext cx="2550795" cy="1118235"/>
            <a:chOff x="8680068" y="5112258"/>
            <a:chExt cx="2550795" cy="1118235"/>
          </a:xfrm>
        </p:grpSpPr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D9017BAF-9795-F760-B04A-0033B67647DD}"/>
                </a:ext>
              </a:extLst>
            </p:cNvPr>
            <p:cNvSpPr/>
            <p:nvPr/>
          </p:nvSpPr>
          <p:spPr>
            <a:xfrm>
              <a:off x="8680069" y="5112258"/>
              <a:ext cx="2520315" cy="1118235"/>
            </a:xfrm>
            <a:custGeom>
              <a:avLst/>
              <a:gdLst/>
              <a:ahLst/>
              <a:cxnLst/>
              <a:rect l="l" t="t" r="r" b="b"/>
              <a:pathLst>
                <a:path w="2520315" h="1118235">
                  <a:moveTo>
                    <a:pt x="2520061" y="1079982"/>
                  </a:moveTo>
                  <a:lnTo>
                    <a:pt x="2507361" y="1073632"/>
                  </a:lnTo>
                  <a:lnTo>
                    <a:pt x="2443861" y="1041882"/>
                  </a:lnTo>
                  <a:lnTo>
                    <a:pt x="2443861" y="1073632"/>
                  </a:lnTo>
                  <a:lnTo>
                    <a:pt x="532892" y="1073632"/>
                  </a:lnTo>
                  <a:lnTo>
                    <a:pt x="532892" y="76200"/>
                  </a:lnTo>
                  <a:lnTo>
                    <a:pt x="564642" y="76200"/>
                  </a:lnTo>
                  <a:lnTo>
                    <a:pt x="558292" y="63500"/>
                  </a:lnTo>
                  <a:lnTo>
                    <a:pt x="526542" y="0"/>
                  </a:lnTo>
                  <a:lnTo>
                    <a:pt x="488442" y="76200"/>
                  </a:lnTo>
                  <a:lnTo>
                    <a:pt x="520192" y="76200"/>
                  </a:lnTo>
                  <a:lnTo>
                    <a:pt x="520192" y="1073632"/>
                  </a:lnTo>
                  <a:lnTo>
                    <a:pt x="0" y="1073632"/>
                  </a:lnTo>
                  <a:lnTo>
                    <a:pt x="0" y="1086332"/>
                  </a:lnTo>
                  <a:lnTo>
                    <a:pt x="2443861" y="1086332"/>
                  </a:lnTo>
                  <a:lnTo>
                    <a:pt x="2443861" y="1118082"/>
                  </a:lnTo>
                  <a:lnTo>
                    <a:pt x="2507361" y="1086332"/>
                  </a:lnTo>
                  <a:lnTo>
                    <a:pt x="2520061" y="10799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21F986CC-4FC3-3451-81C5-0872AC8BDCAE}"/>
                </a:ext>
              </a:extLst>
            </p:cNvPr>
            <p:cNvSpPr/>
            <p:nvPr/>
          </p:nvSpPr>
          <p:spPr>
            <a:xfrm>
              <a:off x="9208134" y="5717197"/>
              <a:ext cx="2016125" cy="0"/>
            </a:xfrm>
            <a:custGeom>
              <a:avLst/>
              <a:gdLst/>
              <a:ahLst/>
              <a:cxnLst/>
              <a:rect l="l" t="t" r="r" b="b"/>
              <a:pathLst>
                <a:path w="2016125">
                  <a:moveTo>
                    <a:pt x="0" y="0"/>
                  </a:moveTo>
                  <a:lnTo>
                    <a:pt x="201599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5">
            <a:extLst>
              <a:ext uri="{FF2B5EF4-FFF2-40B4-BE49-F238E27FC236}">
                <a16:creationId xmlns:a16="http://schemas.microsoft.com/office/drawing/2014/main" id="{E251580F-9BE0-96BC-08B4-73B6D67B62C6}"/>
              </a:ext>
            </a:extLst>
          </p:cNvPr>
          <p:cNvSpPr txBox="1"/>
          <p:nvPr/>
        </p:nvSpPr>
        <p:spPr>
          <a:xfrm>
            <a:off x="8500217" y="5897219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7" name="object 20">
            <a:extLst>
              <a:ext uri="{FF2B5EF4-FFF2-40B4-BE49-F238E27FC236}">
                <a16:creationId xmlns:a16="http://schemas.microsoft.com/office/drawing/2014/main" id="{9F1281DE-A322-5EA7-3258-2153D04A226D}"/>
              </a:ext>
            </a:extLst>
          </p:cNvPr>
          <p:cNvSpPr txBox="1"/>
          <p:nvPr/>
        </p:nvSpPr>
        <p:spPr>
          <a:xfrm>
            <a:off x="8385917" y="5275427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917F36F3-2148-0CE6-1B70-AC65C44F614D}"/>
                  </a:ext>
                </a:extLst>
              </p:cNvPr>
              <p:cNvSpPr txBox="1"/>
              <p:nvPr/>
            </p:nvSpPr>
            <p:spPr>
              <a:xfrm>
                <a:off x="8624677" y="4667209"/>
                <a:ext cx="1309718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917F36F3-2148-0CE6-1B70-AC65C44F6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677" y="4667209"/>
                <a:ext cx="1309718" cy="312650"/>
              </a:xfrm>
              <a:prstGeom prst="rect">
                <a:avLst/>
              </a:prstGeom>
              <a:blipFill>
                <a:blip r:embed="rId3"/>
                <a:stretch>
                  <a:fillRect l="-3721" t="-15686" b="-274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7E366451-8F19-A05D-0227-08FDFBA04F7F}"/>
                  </a:ext>
                </a:extLst>
              </p:cNvPr>
              <p:cNvSpPr txBox="1"/>
              <p:nvPr/>
            </p:nvSpPr>
            <p:spPr>
              <a:xfrm>
                <a:off x="10578825" y="5692183"/>
                <a:ext cx="5319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7E366451-8F19-A05D-0227-08FDFBA04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8825" y="5692183"/>
                <a:ext cx="531940" cy="276999"/>
              </a:xfrm>
              <a:prstGeom prst="rect">
                <a:avLst/>
              </a:prstGeom>
              <a:blipFill>
                <a:blip r:embed="rId4"/>
                <a:stretch>
                  <a:fillRect l="-10227" r="-14773" b="-37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Perceptron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494273"/>
            <a:ext cx="10262870" cy="173101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  <a:tab pos="1800225" algn="l"/>
                <a:tab pos="2251075" algn="l"/>
              </a:tabLst>
            </a:pPr>
            <a:r>
              <a:rPr sz="2800" dirty="0">
                <a:latin typeface="Calibri"/>
                <a:cs typeface="Calibri"/>
              </a:rPr>
              <a:t>Notem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ativação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𝑓(.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transição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1 </a:t>
            </a:r>
            <a:r>
              <a:rPr sz="2800" dirty="0" err="1">
                <a:latin typeface="Calibri"/>
                <a:cs typeface="Calibri"/>
              </a:rPr>
              <a:t>quando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𝑔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=</a:t>
            </a:r>
            <a:r>
              <a:rPr sz="2800" spc="10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0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limiar</a:t>
            </a:r>
            <a:r>
              <a:rPr sz="2800" b="1" i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ativação</a:t>
            </a:r>
            <a:r>
              <a:rPr sz="2800" b="1" i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não</a:t>
            </a:r>
            <a:r>
              <a:rPr sz="2800" b="1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é</a:t>
            </a:r>
            <a:r>
              <a:rPr sz="2800" b="1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variável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247650" indent="-228600">
              <a:lnSpc>
                <a:spcPts val="302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Mas</a:t>
            </a:r>
            <a:r>
              <a:rPr sz="2800" b="1" i="1" spc="-9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então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como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podemos</a:t>
            </a:r>
            <a:r>
              <a:rPr sz="2800" b="1" i="1" spc="-10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ter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limiares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ativação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diferentes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EC7C30"/>
                </a:solidFill>
                <a:latin typeface="Calibri"/>
                <a:cs typeface="Calibri"/>
              </a:rPr>
              <a:t>para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resolver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diferentes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tipos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problemas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classificação?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491" y="3984936"/>
            <a:ext cx="5991824" cy="2379220"/>
          </a:xfrm>
          <a:prstGeom prst="rect">
            <a:avLst/>
          </a:prstGeom>
        </p:spPr>
      </p:pic>
      <p:grpSp>
        <p:nvGrpSpPr>
          <p:cNvPr id="12" name="object 12">
            <a:extLst>
              <a:ext uri="{FF2B5EF4-FFF2-40B4-BE49-F238E27FC236}">
                <a16:creationId xmlns:a16="http://schemas.microsoft.com/office/drawing/2014/main" id="{86A9547E-D757-9655-0253-EA436DA9E218}"/>
              </a:ext>
            </a:extLst>
          </p:cNvPr>
          <p:cNvGrpSpPr/>
          <p:nvPr/>
        </p:nvGrpSpPr>
        <p:grpSpPr>
          <a:xfrm>
            <a:off x="8034634" y="4800600"/>
            <a:ext cx="2550795" cy="1118235"/>
            <a:chOff x="8680068" y="5112258"/>
            <a:chExt cx="2550795" cy="1118235"/>
          </a:xfrm>
        </p:grpSpPr>
        <p:sp>
          <p:nvSpPr>
            <p:cNvPr id="22" name="object 13">
              <a:extLst>
                <a:ext uri="{FF2B5EF4-FFF2-40B4-BE49-F238E27FC236}">
                  <a16:creationId xmlns:a16="http://schemas.microsoft.com/office/drawing/2014/main" id="{05BAE0D7-879F-EB91-6DFA-35C5A6699B91}"/>
                </a:ext>
              </a:extLst>
            </p:cNvPr>
            <p:cNvSpPr/>
            <p:nvPr/>
          </p:nvSpPr>
          <p:spPr>
            <a:xfrm>
              <a:off x="8680069" y="5112258"/>
              <a:ext cx="2520315" cy="1118235"/>
            </a:xfrm>
            <a:custGeom>
              <a:avLst/>
              <a:gdLst/>
              <a:ahLst/>
              <a:cxnLst/>
              <a:rect l="l" t="t" r="r" b="b"/>
              <a:pathLst>
                <a:path w="2520315" h="1118235">
                  <a:moveTo>
                    <a:pt x="2520061" y="1079982"/>
                  </a:moveTo>
                  <a:lnTo>
                    <a:pt x="2507361" y="1073632"/>
                  </a:lnTo>
                  <a:lnTo>
                    <a:pt x="2443861" y="1041882"/>
                  </a:lnTo>
                  <a:lnTo>
                    <a:pt x="2443861" y="1073632"/>
                  </a:lnTo>
                  <a:lnTo>
                    <a:pt x="532892" y="1073632"/>
                  </a:lnTo>
                  <a:lnTo>
                    <a:pt x="532892" y="76200"/>
                  </a:lnTo>
                  <a:lnTo>
                    <a:pt x="564642" y="76200"/>
                  </a:lnTo>
                  <a:lnTo>
                    <a:pt x="558292" y="63500"/>
                  </a:lnTo>
                  <a:lnTo>
                    <a:pt x="526542" y="0"/>
                  </a:lnTo>
                  <a:lnTo>
                    <a:pt x="488442" y="76200"/>
                  </a:lnTo>
                  <a:lnTo>
                    <a:pt x="520192" y="76200"/>
                  </a:lnTo>
                  <a:lnTo>
                    <a:pt x="520192" y="1073632"/>
                  </a:lnTo>
                  <a:lnTo>
                    <a:pt x="0" y="1073632"/>
                  </a:lnTo>
                  <a:lnTo>
                    <a:pt x="0" y="1086332"/>
                  </a:lnTo>
                  <a:lnTo>
                    <a:pt x="2443861" y="1086332"/>
                  </a:lnTo>
                  <a:lnTo>
                    <a:pt x="2443861" y="1118082"/>
                  </a:lnTo>
                  <a:lnTo>
                    <a:pt x="2507361" y="1086332"/>
                  </a:lnTo>
                  <a:lnTo>
                    <a:pt x="2520061" y="10799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4">
              <a:extLst>
                <a:ext uri="{FF2B5EF4-FFF2-40B4-BE49-F238E27FC236}">
                  <a16:creationId xmlns:a16="http://schemas.microsoft.com/office/drawing/2014/main" id="{924FD7E3-1FE8-B2CB-133E-CB5D396B8881}"/>
                </a:ext>
              </a:extLst>
            </p:cNvPr>
            <p:cNvSpPr/>
            <p:nvPr/>
          </p:nvSpPr>
          <p:spPr>
            <a:xfrm>
              <a:off x="9208134" y="5717197"/>
              <a:ext cx="2016125" cy="0"/>
            </a:xfrm>
            <a:custGeom>
              <a:avLst/>
              <a:gdLst/>
              <a:ahLst/>
              <a:cxnLst/>
              <a:rect l="l" t="t" r="r" b="b"/>
              <a:pathLst>
                <a:path w="2016125">
                  <a:moveTo>
                    <a:pt x="0" y="0"/>
                  </a:moveTo>
                  <a:lnTo>
                    <a:pt x="201599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5">
            <a:extLst>
              <a:ext uri="{FF2B5EF4-FFF2-40B4-BE49-F238E27FC236}">
                <a16:creationId xmlns:a16="http://schemas.microsoft.com/office/drawing/2014/main" id="{19425307-0EC2-5934-6443-85AC28CECB24}"/>
              </a:ext>
            </a:extLst>
          </p:cNvPr>
          <p:cNvSpPr txBox="1"/>
          <p:nvPr/>
        </p:nvSpPr>
        <p:spPr>
          <a:xfrm>
            <a:off x="8500217" y="5897219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E2902F81-49CD-7296-AB47-EC697E4B4A82}"/>
              </a:ext>
            </a:extLst>
          </p:cNvPr>
          <p:cNvSpPr txBox="1"/>
          <p:nvPr/>
        </p:nvSpPr>
        <p:spPr>
          <a:xfrm>
            <a:off x="8385917" y="5275427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60684E47-DD4D-8030-CE26-D4442849B19C}"/>
                  </a:ext>
                </a:extLst>
              </p:cNvPr>
              <p:cNvSpPr txBox="1"/>
              <p:nvPr/>
            </p:nvSpPr>
            <p:spPr>
              <a:xfrm>
                <a:off x="8624677" y="4667209"/>
                <a:ext cx="1309718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60684E47-DD4D-8030-CE26-D4442849B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677" y="4667209"/>
                <a:ext cx="1309718" cy="312650"/>
              </a:xfrm>
              <a:prstGeom prst="rect">
                <a:avLst/>
              </a:prstGeom>
              <a:blipFill>
                <a:blip r:embed="rId3"/>
                <a:stretch>
                  <a:fillRect l="-3721" t="-15686" b="-274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24219768-94C8-6773-D44C-D0D8193AAE81}"/>
                  </a:ext>
                </a:extLst>
              </p:cNvPr>
              <p:cNvSpPr txBox="1"/>
              <p:nvPr/>
            </p:nvSpPr>
            <p:spPr>
              <a:xfrm>
                <a:off x="10578825" y="5692183"/>
                <a:ext cx="5319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24219768-94C8-6773-D44C-D0D8193AA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8825" y="5692183"/>
                <a:ext cx="531940" cy="276999"/>
              </a:xfrm>
              <a:prstGeom prst="rect">
                <a:avLst/>
              </a:prstGeom>
              <a:blipFill>
                <a:blip r:embed="rId4"/>
                <a:stretch>
                  <a:fillRect l="-10227" r="-14773" b="-37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Perceptron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5476" y="1905000"/>
            <a:ext cx="11002645" cy="339534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79400" marR="107950" indent="-228600">
              <a:lnSpc>
                <a:spcPts val="3040"/>
              </a:lnSpc>
              <a:spcBef>
                <a:spcPts val="459"/>
              </a:spcBef>
              <a:buFont typeface="Arial"/>
              <a:buChar char="•"/>
              <a:tabLst>
                <a:tab pos="279400" algn="l"/>
                <a:tab pos="9784080" algn="l"/>
                <a:tab pos="10233660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perceptron,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limiar</a:t>
            </a:r>
            <a:r>
              <a:rPr sz="2800" b="1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ativação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é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controlado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pelo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valor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6FC0"/>
                </a:solidFill>
                <a:latin typeface="Calibri"/>
                <a:cs typeface="Calibri"/>
              </a:rPr>
              <a:t>do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peso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bias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𝑤</a:t>
            </a:r>
            <a:r>
              <a:rPr sz="3075" baseline="-16260" dirty="0">
                <a:latin typeface="Cambria Math"/>
                <a:cs typeface="Cambria Math"/>
              </a:rPr>
              <a:t>0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fazendo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transição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sempre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em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𝑔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=</a:t>
            </a:r>
            <a:r>
              <a:rPr sz="2800" spc="13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0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79400" marR="361950" indent="-228600">
              <a:lnSpc>
                <a:spcPts val="3020"/>
              </a:lnSpc>
              <a:spcBef>
                <a:spcPts val="994"/>
              </a:spcBef>
              <a:buFont typeface="Arial"/>
              <a:buChar char="•"/>
              <a:tabLst>
                <a:tab pos="279400" algn="l"/>
                <a:tab pos="8764270" algn="l"/>
                <a:tab pos="9116695" algn="l"/>
              </a:tabLst>
            </a:pPr>
            <a:r>
              <a:rPr sz="2800" dirty="0">
                <a:latin typeface="Calibri"/>
                <a:cs typeface="Calibri"/>
              </a:rPr>
              <a:t>Ao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incorporar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limiar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ativação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combinação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linear,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𝑔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" dirty="0">
                <a:latin typeface="Calibri"/>
                <a:cs typeface="Calibri"/>
              </a:rPr>
              <a:t> podemos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ativação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transição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fixa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zero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agora, </a:t>
            </a:r>
            <a:r>
              <a:rPr sz="2800" spc="-30" dirty="0">
                <a:latin typeface="Calibri"/>
                <a:cs typeface="Calibri"/>
              </a:rPr>
              <a:t>ajusta-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limiar</a:t>
            </a:r>
            <a:r>
              <a:rPr sz="2800" b="1" i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ativação</a:t>
            </a:r>
            <a:r>
              <a:rPr sz="2800" b="1" i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𝑤</a:t>
            </a:r>
            <a:r>
              <a:rPr sz="3075" spc="-37" baseline="-16260" dirty="0">
                <a:latin typeface="Cambria Math"/>
                <a:cs typeface="Cambria Math"/>
              </a:rPr>
              <a:t>0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79400" marR="43180" indent="-228600">
              <a:lnSpc>
                <a:spcPct val="89800"/>
              </a:lnSpc>
              <a:spcBef>
                <a:spcPts val="985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𝑤</a:t>
            </a:r>
            <a:r>
              <a:rPr sz="3075" baseline="-16260" dirty="0">
                <a:latin typeface="Cambria Math"/>
                <a:cs typeface="Cambria Math"/>
              </a:rPr>
              <a:t>0</a:t>
            </a:r>
            <a:r>
              <a:rPr sz="3075" spc="375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limiar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ativação,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𝜃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incorporado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dirty="0">
                <a:latin typeface="Calibri"/>
                <a:cs typeface="Calibri"/>
              </a:rPr>
              <a:t>seu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aprendido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durante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junto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outros pesos.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Perceptron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916939" y="1789823"/>
                <a:ext cx="9013825" cy="38408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41300" indent="-228600">
                  <a:lnSpc>
                    <a:spcPts val="2915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spc="-10" dirty="0">
                    <a:latin typeface="Calibri"/>
                    <a:cs typeface="Calibri"/>
                  </a:rPr>
                  <a:t>Para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tenhamos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saída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perceptron,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b="0" i="1" spc="-7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0" i="1" spc="-75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sz="2800" spc="-380" dirty="0">
                    <a:latin typeface="Calibri"/>
                    <a:cs typeface="Calibri"/>
                  </a:rPr>
                  <a:t>,</a:t>
                </a:r>
                <a:r>
                  <a:rPr lang="pt-BR" sz="2800" dirty="0">
                    <a:latin typeface="Calibri"/>
                    <a:cs typeface="Calibri"/>
                  </a:rPr>
                  <a:t> igual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1,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 err="1">
                    <a:latin typeface="Calibri"/>
                    <a:cs typeface="Calibri"/>
                  </a:rPr>
                  <a:t>então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1789823"/>
                <a:ext cx="9013825" cy="384080"/>
              </a:xfrm>
              <a:prstGeom prst="rect">
                <a:avLst/>
              </a:prstGeom>
              <a:blipFill>
                <a:blip r:embed="rId2"/>
                <a:stretch>
                  <a:fillRect l="-2096" t="-39683" r="-947" b="-5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4038600" y="2173903"/>
                <a:ext cx="4114800" cy="122373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  <a:tabLst>
                    <a:tab pos="3841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𝑔</m:t>
                      </m:r>
                      <m:d>
                        <m:dPr>
                          <m:ctrlPr>
                            <a:rPr lang="pt-BR" sz="2800" b="0" i="1" spc="-50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2800" i="1" spc="-50" dirty="0">
                              <a:latin typeface="Cambria Math" panose="02040503050406030204" pitchFamily="18" charset="0"/>
                              <a:cs typeface="Cambria Math"/>
                            </a:rPr>
                            <m:t>𝒙</m:t>
                          </m:r>
                        </m:e>
                      </m:d>
                      <m:r>
                        <a:rPr lang="pt-BR" sz="28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pt-BR" sz="2800" b="0" i="1" spc="-50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𝑤</m:t>
                          </m:r>
                        </m:e>
                        <m:sub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a:rPr lang="pt-BR" sz="28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</m:oMath>
                  </m:oMathPara>
                </a14:m>
                <a:endParaRPr sz="2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2173903"/>
                <a:ext cx="4114800" cy="12237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891539" y="3384626"/>
            <a:ext cx="7256145" cy="25975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indent="-228600">
              <a:lnSpc>
                <a:spcPts val="2920"/>
              </a:lnSpc>
              <a:spcBef>
                <a:spcPts val="9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reescrevendo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acima,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temos</a:t>
            </a:r>
            <a:endParaRPr sz="2800" dirty="0">
              <a:latin typeface="Calibri"/>
              <a:cs typeface="Calibri"/>
            </a:endParaRPr>
          </a:p>
          <a:p>
            <a:pPr marL="38100">
              <a:lnSpc>
                <a:spcPts val="3290"/>
              </a:lnSpc>
            </a:pPr>
            <a:endParaRPr lang="pt-BR" sz="2800" dirty="0">
              <a:latin typeface="Calibri"/>
              <a:cs typeface="Calibri"/>
            </a:endParaRPr>
          </a:p>
          <a:p>
            <a:pPr marL="38100">
              <a:lnSpc>
                <a:spcPts val="3290"/>
              </a:lnSpc>
            </a:pPr>
            <a:endParaRPr lang="pt-BR" sz="2800" dirty="0">
              <a:latin typeface="Calibri"/>
              <a:cs typeface="Calibri"/>
            </a:endParaRPr>
          </a:p>
          <a:p>
            <a:pPr marL="38100">
              <a:lnSpc>
                <a:spcPts val="3290"/>
              </a:lnSpc>
            </a:pPr>
            <a:endParaRPr lang="pt-BR" sz="2800" dirty="0">
              <a:latin typeface="Calibri"/>
              <a:cs typeface="Calibri"/>
            </a:endParaRPr>
          </a:p>
          <a:p>
            <a:pPr marL="38100">
              <a:lnSpc>
                <a:spcPts val="3290"/>
              </a:lnSpc>
            </a:pP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haja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ativação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perceptron.</a:t>
            </a:r>
            <a:endParaRPr sz="2800" dirty="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9"/>
              <p:cNvSpPr txBox="1"/>
              <p:nvPr/>
            </p:nvSpPr>
            <p:spPr>
              <a:xfrm>
                <a:off x="1348994" y="5923719"/>
                <a:ext cx="4594606" cy="40235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79400" indent="-228600">
                  <a:lnSpc>
                    <a:spcPct val="100000"/>
                  </a:lnSpc>
                  <a:spcBef>
                    <a:spcPts val="100"/>
                  </a:spcBef>
                  <a:buFont typeface="Wingdings"/>
                  <a:buChar char=""/>
                  <a:tabLst>
                    <a:tab pos="279400" algn="l"/>
                    <a:tab pos="1775460" algn="l"/>
                    <a:tab pos="2417445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Se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𝑤</m:t>
                        </m:r>
                      </m:e>
                      <m:sub>
                        <m: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  <m:r>
                      <a:rPr lang="pt-BR" sz="2400" b="0" i="1" spc="-25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400" b="0" i="1" spc="-25" smtClean="0">
                        <a:latin typeface="Cambria Math" panose="02040503050406030204" pitchFamily="18" charset="0"/>
                        <a:cs typeface="Calibri"/>
                      </a:rPr>
                      <m:t>1</m:t>
                    </m:r>
                    <m:r>
                      <a:rPr lang="pt-BR" sz="2400" b="0" i="1" spc="-25" smtClean="0">
                        <a:latin typeface="Cambria Math" panose="02040503050406030204" pitchFamily="18" charset="0"/>
                        <a:cs typeface="Calibri"/>
                      </a:rPr>
                      <m:t>,  </m:t>
                    </m:r>
                    <m:nary>
                      <m:naryPr>
                        <m:chr m:val="∑"/>
                        <m:limLoc m:val="subSup"/>
                        <m:ctrlP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  <m:sup>
                        <m: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pt-BR" sz="24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𝑤</m:t>
                            </m:r>
                          </m:e>
                          <m:sub>
                            <m:r>
                              <a:rPr lang="pt-BR" sz="24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pt-BR" sz="24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</m:sub>
                        </m:sSub>
                        <m: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   </m:t>
                        </m:r>
                        <m:r>
                          <a:rPr lang="pt-BR" sz="2400" b="0" i="1" spc="-25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≥−</m:t>
                        </m:r>
                        <m:r>
                          <a:rPr lang="pt-BR" sz="2400" b="0" i="1" spc="-25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1</m:t>
                        </m:r>
                      </m:e>
                    </m:nary>
                  </m:oMath>
                </a14:m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994" y="5923719"/>
                <a:ext cx="4594606" cy="402354"/>
              </a:xfrm>
              <a:prstGeom prst="rect">
                <a:avLst/>
              </a:prstGeom>
              <a:blipFill>
                <a:blip r:embed="rId4"/>
                <a:stretch>
                  <a:fillRect l="-2653" t="-16667" b="-439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1348994" y="6354370"/>
                <a:ext cx="4594606" cy="40235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79400" indent="-228600">
                  <a:lnSpc>
                    <a:spcPct val="100000"/>
                  </a:lnSpc>
                  <a:spcBef>
                    <a:spcPts val="100"/>
                  </a:spcBef>
                  <a:buFont typeface="Wingdings"/>
                  <a:buChar char=""/>
                  <a:tabLst>
                    <a:tab pos="279400" algn="l"/>
                    <a:tab pos="1775460" algn="l"/>
                    <a:tab pos="2417445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Se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ar-AE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𝑤</m:t>
                        </m:r>
                      </m:e>
                      <m:sub>
                        <m:r>
                          <a:rPr lang="ar-AE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  <m:r>
                      <a:rPr lang="ar-AE" sz="2400" b="0" i="1" spc="-25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400" b="0" i="1" spc="-25" smtClean="0">
                        <a:latin typeface="Cambria Math" panose="02040503050406030204" pitchFamily="18" charset="0"/>
                        <a:cs typeface="Calibri"/>
                      </a:rPr>
                      <m:t>−</m:t>
                    </m:r>
                    <m:r>
                      <a:rPr lang="ar-AE" sz="2400" b="0" i="1" spc="-25" smtClean="0">
                        <a:latin typeface="Cambria Math" panose="02040503050406030204" pitchFamily="18" charset="0"/>
                        <a:cs typeface="Calibri"/>
                      </a:rPr>
                      <m:t>1</m:t>
                    </m:r>
                    <m:r>
                      <a:rPr lang="ar-AE" sz="2400" b="0" i="1" spc="-25" smtClean="0">
                        <a:latin typeface="Cambria Math" panose="02040503050406030204" pitchFamily="18" charset="0"/>
                        <a:cs typeface="Calibri"/>
                      </a:rPr>
                      <m:t>,  </m:t>
                    </m:r>
                    <m:nary>
                      <m:naryPr>
                        <m:chr m:val="∑"/>
                        <m:limLoc m:val="subSup"/>
                        <m:ctrlPr>
                          <a:rPr lang="ar-AE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ar-AE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a:rPr lang="ar-AE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=</m:t>
                        </m:r>
                        <m:r>
                          <a:rPr lang="ar-AE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  <m:sup>
                        <m:r>
                          <a:rPr lang="ar-AE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ar-AE" sz="24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ar-AE" sz="24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𝑤</m:t>
                            </m:r>
                          </m:e>
                          <m:sub>
                            <m:r>
                              <a:rPr lang="ar-AE" sz="24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sz="24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ar-AE" sz="24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4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</m:sub>
                        </m:sSub>
                        <m:r>
                          <a:rPr lang="ar-AE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   </m:t>
                        </m:r>
                        <m:r>
                          <a:rPr lang="ar-AE" sz="2400" b="0" i="1" spc="-25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≥</m:t>
                        </m:r>
                        <m:r>
                          <a:rPr lang="ar-AE" sz="2400" b="0" i="1" spc="-25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1</m:t>
                        </m:r>
                      </m:e>
                    </m:nary>
                  </m:oMath>
                </a14:m>
                <a:endParaRPr lang="ar-AE"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994" y="6354370"/>
                <a:ext cx="4594606" cy="402354"/>
              </a:xfrm>
              <a:prstGeom prst="rect">
                <a:avLst/>
              </a:prstGeom>
              <a:blipFill>
                <a:blip r:embed="rId5"/>
                <a:stretch>
                  <a:fillRect l="-2653" t="-18182" b="-454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5">
                <a:extLst>
                  <a:ext uri="{FF2B5EF4-FFF2-40B4-BE49-F238E27FC236}">
                    <a16:creationId xmlns:a16="http://schemas.microsoft.com/office/drawing/2014/main" id="{AE284C44-5D2D-AE54-AC3C-8CFC0C8AA6A9}"/>
                  </a:ext>
                </a:extLst>
              </p:cNvPr>
              <p:cNvSpPr txBox="1"/>
              <p:nvPr/>
            </p:nvSpPr>
            <p:spPr>
              <a:xfrm>
                <a:off x="4038600" y="3776522"/>
                <a:ext cx="4114800" cy="122373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  <a:tabLst>
                    <a:tab pos="3841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≥−</m:t>
                          </m:r>
                          <m:sSub>
                            <m:sSubPr>
                              <m:ctrlPr>
                                <a:rPr lang="pt-BR" sz="2800" b="0" i="1" spc="-5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sz="2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3" name="object 5">
                <a:extLst>
                  <a:ext uri="{FF2B5EF4-FFF2-40B4-BE49-F238E27FC236}">
                    <a16:creationId xmlns:a16="http://schemas.microsoft.com/office/drawing/2014/main" id="{AE284C44-5D2D-AE54-AC3C-8CFC0C8AA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3776522"/>
                <a:ext cx="4114800" cy="12237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Perceptron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1539" y="1422266"/>
            <a:ext cx="10975340" cy="8350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  <a:tab pos="6071235" algn="l"/>
                <a:tab pos="6423025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vimos,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discriminante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𝑔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perceptron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hiperplano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1539" y="3139912"/>
            <a:ext cx="10999470" cy="181292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0"/>
              </a:spcBef>
            </a:pPr>
            <a:r>
              <a:rPr sz="2800" dirty="0">
                <a:latin typeface="Calibri"/>
                <a:cs typeface="Calibri"/>
              </a:rPr>
              <a:t>onde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0</a:t>
            </a:r>
            <a:r>
              <a:rPr sz="3075" spc="352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constante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igual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1.</a:t>
            </a:r>
            <a:endParaRPr sz="2800" dirty="0">
              <a:latin typeface="Calibri"/>
              <a:cs typeface="Calibri"/>
            </a:endParaRPr>
          </a:p>
          <a:p>
            <a:pPr marL="266700" marR="30480" indent="-228600">
              <a:lnSpc>
                <a:spcPts val="3020"/>
              </a:lnSpc>
              <a:spcBef>
                <a:spcPts val="103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já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sabemos,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tipo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dá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origem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classificador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binário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classes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são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separadas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superfície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separação</a:t>
            </a:r>
            <a:r>
              <a:rPr sz="2800" b="1" i="1" spc="-1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linear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1460" y="5003875"/>
            <a:ext cx="4105584" cy="16320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D182FB00-8538-5D75-763A-93CB4206EEA0}"/>
                  </a:ext>
                </a:extLst>
              </p:cNvPr>
              <p:cNvSpPr txBox="1"/>
              <p:nvPr/>
            </p:nvSpPr>
            <p:spPr>
              <a:xfrm>
                <a:off x="4089399" y="2057400"/>
                <a:ext cx="4114800" cy="122373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  <a:tabLst>
                    <a:tab pos="3841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𝑔</m:t>
                      </m:r>
                      <m:d>
                        <m:dPr>
                          <m:ctrlPr>
                            <a:rPr lang="pt-BR" sz="2800" b="0" i="1" spc="-50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2800" i="1" spc="-50" dirty="0">
                              <a:latin typeface="Cambria Math" panose="02040503050406030204" pitchFamily="18" charset="0"/>
                              <a:cs typeface="Cambria Math"/>
                            </a:rPr>
                            <m:t>𝒙</m:t>
                          </m:r>
                        </m:e>
                      </m:d>
                      <m:r>
                        <a:rPr lang="pt-BR" sz="28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sz="2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D182FB00-8538-5D75-763A-93CB4206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399" y="2057400"/>
                <a:ext cx="4114800" cy="12237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object 4">
            <a:extLst>
              <a:ext uri="{FF2B5EF4-FFF2-40B4-BE49-F238E27FC236}">
                <a16:creationId xmlns:a16="http://schemas.microsoft.com/office/drawing/2014/main" id="{D0402F82-C074-2519-7AC9-8AD859D95495}"/>
              </a:ext>
            </a:extLst>
          </p:cNvPr>
          <p:cNvGrpSpPr/>
          <p:nvPr/>
        </p:nvGrpSpPr>
        <p:grpSpPr>
          <a:xfrm>
            <a:off x="8898837" y="5389437"/>
            <a:ext cx="2550795" cy="1118235"/>
            <a:chOff x="7590408" y="4797805"/>
            <a:chExt cx="2550795" cy="111823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37D437FE-5DCE-D9E7-F9AC-517DBE8F72A3}"/>
                </a:ext>
              </a:extLst>
            </p:cNvPr>
            <p:cNvSpPr/>
            <p:nvPr/>
          </p:nvSpPr>
          <p:spPr>
            <a:xfrm>
              <a:off x="7590409" y="4797805"/>
              <a:ext cx="2520315" cy="1118235"/>
            </a:xfrm>
            <a:custGeom>
              <a:avLst/>
              <a:gdLst/>
              <a:ahLst/>
              <a:cxnLst/>
              <a:rect l="l" t="t" r="r" b="b"/>
              <a:pathLst>
                <a:path w="2520315" h="1118235">
                  <a:moveTo>
                    <a:pt x="2520061" y="1079969"/>
                  </a:moveTo>
                  <a:lnTo>
                    <a:pt x="2507361" y="1073619"/>
                  </a:lnTo>
                  <a:lnTo>
                    <a:pt x="2443861" y="1041869"/>
                  </a:lnTo>
                  <a:lnTo>
                    <a:pt x="2443861" y="1073619"/>
                  </a:lnTo>
                  <a:lnTo>
                    <a:pt x="532892" y="1073619"/>
                  </a:lnTo>
                  <a:lnTo>
                    <a:pt x="532892" y="76200"/>
                  </a:lnTo>
                  <a:lnTo>
                    <a:pt x="564642" y="76200"/>
                  </a:lnTo>
                  <a:lnTo>
                    <a:pt x="558292" y="63500"/>
                  </a:lnTo>
                  <a:lnTo>
                    <a:pt x="526542" y="0"/>
                  </a:lnTo>
                  <a:lnTo>
                    <a:pt x="488442" y="76200"/>
                  </a:lnTo>
                  <a:lnTo>
                    <a:pt x="520192" y="76200"/>
                  </a:lnTo>
                  <a:lnTo>
                    <a:pt x="520192" y="1073619"/>
                  </a:lnTo>
                  <a:lnTo>
                    <a:pt x="0" y="1073619"/>
                  </a:lnTo>
                  <a:lnTo>
                    <a:pt x="0" y="1086319"/>
                  </a:lnTo>
                  <a:lnTo>
                    <a:pt x="2443861" y="1086319"/>
                  </a:lnTo>
                  <a:lnTo>
                    <a:pt x="2443861" y="1118069"/>
                  </a:lnTo>
                  <a:lnTo>
                    <a:pt x="2507361" y="1086319"/>
                  </a:lnTo>
                  <a:lnTo>
                    <a:pt x="2520061" y="1079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CB1A699A-EE59-FED4-4DD8-045892347091}"/>
                </a:ext>
              </a:extLst>
            </p:cNvPr>
            <p:cNvSpPr/>
            <p:nvPr/>
          </p:nvSpPr>
          <p:spPr>
            <a:xfrm>
              <a:off x="8118474" y="5402706"/>
              <a:ext cx="2016125" cy="0"/>
            </a:xfrm>
            <a:custGeom>
              <a:avLst/>
              <a:gdLst/>
              <a:ahLst/>
              <a:cxnLst/>
              <a:rect l="l" t="t" r="r" b="b"/>
              <a:pathLst>
                <a:path w="2016125">
                  <a:moveTo>
                    <a:pt x="0" y="0"/>
                  </a:moveTo>
                  <a:lnTo>
                    <a:pt x="201599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7">
            <a:extLst>
              <a:ext uri="{FF2B5EF4-FFF2-40B4-BE49-F238E27FC236}">
                <a16:creationId xmlns:a16="http://schemas.microsoft.com/office/drawing/2014/main" id="{F1671472-DA68-9F21-819D-F8EA8CCA5C19}"/>
              </a:ext>
            </a:extLst>
          </p:cNvPr>
          <p:cNvSpPr txBox="1"/>
          <p:nvPr/>
        </p:nvSpPr>
        <p:spPr>
          <a:xfrm>
            <a:off x="9364420" y="6485955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10">
                <a:extLst>
                  <a:ext uri="{FF2B5EF4-FFF2-40B4-BE49-F238E27FC236}">
                    <a16:creationId xmlns:a16="http://schemas.microsoft.com/office/drawing/2014/main" id="{DE9772BA-3195-C981-CAAA-5E942F6F9B2A}"/>
                  </a:ext>
                </a:extLst>
              </p:cNvPr>
              <p:cNvSpPr txBox="1"/>
              <p:nvPr/>
            </p:nvSpPr>
            <p:spPr>
              <a:xfrm>
                <a:off x="11489050" y="6264859"/>
                <a:ext cx="596826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𝑔</m:t>
                      </m:r>
                      <m:r>
                        <a:rPr lang="pt-BR" sz="1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26" name="object 10">
                <a:extLst>
                  <a:ext uri="{FF2B5EF4-FFF2-40B4-BE49-F238E27FC236}">
                    <a16:creationId xmlns:a16="http://schemas.microsoft.com/office/drawing/2014/main" id="{DE9772BA-3195-C981-CAAA-5E942F6F9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9050" y="6264859"/>
                <a:ext cx="596826" cy="289823"/>
              </a:xfrm>
              <a:prstGeom prst="rect">
                <a:avLst/>
              </a:prstGeom>
              <a:blipFill>
                <a:blip r:embed="rId4"/>
                <a:stretch>
                  <a:fillRect l="-3061" r="-6122" b="-361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1">
                <a:extLst>
                  <a:ext uri="{FF2B5EF4-FFF2-40B4-BE49-F238E27FC236}">
                    <a16:creationId xmlns:a16="http://schemas.microsoft.com/office/drawing/2014/main" id="{A6605A0A-5C4D-8195-8586-21DF6EFF0EF4}"/>
                  </a:ext>
                </a:extLst>
              </p:cNvPr>
              <p:cNvSpPr txBox="1"/>
              <p:nvPr/>
            </p:nvSpPr>
            <p:spPr>
              <a:xfrm>
                <a:off x="9250120" y="5256417"/>
                <a:ext cx="2169033" cy="56682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0099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pt-BR" sz="2200" dirty="0">
                  <a:latin typeface="Cambria Math"/>
                  <a:cs typeface="Cambria Math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5"/>
                  </a:spcBef>
                </a:pPr>
                <a:endParaRPr sz="1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7" name="object 11">
                <a:extLst>
                  <a:ext uri="{FF2B5EF4-FFF2-40B4-BE49-F238E27FC236}">
                    <a16:creationId xmlns:a16="http://schemas.microsoft.com/office/drawing/2014/main" id="{A6605A0A-5C4D-8195-8586-21DF6EFF0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120" y="5256417"/>
                <a:ext cx="2169033" cy="566822"/>
              </a:xfrm>
              <a:prstGeom prst="rect">
                <a:avLst/>
              </a:prstGeom>
              <a:blipFill>
                <a:blip r:embed="rId5"/>
                <a:stretch>
                  <a:fillRect t="-53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1">
                <a:extLst>
                  <a:ext uri="{FF2B5EF4-FFF2-40B4-BE49-F238E27FC236}">
                    <a16:creationId xmlns:a16="http://schemas.microsoft.com/office/drawing/2014/main" id="{00CA2BF9-222A-FAF2-0182-8E1F7E67E4E7}"/>
                  </a:ext>
                </a:extLst>
              </p:cNvPr>
              <p:cNvSpPr txBox="1"/>
              <p:nvPr/>
            </p:nvSpPr>
            <p:spPr>
              <a:xfrm>
                <a:off x="8874963" y="5864815"/>
                <a:ext cx="820100" cy="25904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0099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sz="1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8" name="object 11">
                <a:extLst>
                  <a:ext uri="{FF2B5EF4-FFF2-40B4-BE49-F238E27FC236}">
                    <a16:creationId xmlns:a16="http://schemas.microsoft.com/office/drawing/2014/main" id="{00CA2BF9-222A-FAF2-0182-8E1F7E67E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963" y="5864815"/>
                <a:ext cx="820100" cy="259045"/>
              </a:xfrm>
              <a:prstGeom prst="rect">
                <a:avLst/>
              </a:prstGeom>
              <a:blipFill>
                <a:blip r:embed="rId6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1590" y="2738450"/>
            <a:ext cx="100101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i="1" dirty="0">
                <a:latin typeface="Calibri"/>
                <a:cs typeface="Calibri"/>
              </a:rPr>
              <a:t>Como</a:t>
            </a:r>
            <a:r>
              <a:rPr sz="6000" b="1" i="1" spc="-25" dirty="0">
                <a:latin typeface="Calibri"/>
                <a:cs typeface="Calibri"/>
              </a:rPr>
              <a:t> </a:t>
            </a:r>
            <a:r>
              <a:rPr sz="6000" b="1" i="1" dirty="0">
                <a:latin typeface="Calibri"/>
                <a:cs typeface="Calibri"/>
              </a:rPr>
              <a:t>os</a:t>
            </a:r>
            <a:r>
              <a:rPr sz="6000" b="1" i="1" spc="-10" dirty="0">
                <a:latin typeface="Calibri"/>
                <a:cs typeface="Calibri"/>
              </a:rPr>
              <a:t> </a:t>
            </a:r>
            <a:r>
              <a:rPr sz="6000" b="1" i="1" dirty="0">
                <a:latin typeface="Calibri"/>
                <a:cs typeface="Calibri"/>
              </a:rPr>
              <a:t>pesos</a:t>
            </a:r>
            <a:r>
              <a:rPr sz="6000" b="1" i="1" spc="-15" dirty="0">
                <a:latin typeface="Calibri"/>
                <a:cs typeface="Calibri"/>
              </a:rPr>
              <a:t> </a:t>
            </a:r>
            <a:r>
              <a:rPr sz="6000" b="1" i="1" dirty="0">
                <a:latin typeface="Calibri"/>
                <a:cs typeface="Calibri"/>
              </a:rPr>
              <a:t>são</a:t>
            </a:r>
            <a:r>
              <a:rPr sz="6000" b="1" i="1" spc="-10" dirty="0">
                <a:latin typeface="Calibri"/>
                <a:cs typeface="Calibri"/>
              </a:rPr>
              <a:t> aprendidos?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0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Regra</a:t>
            </a:r>
            <a:r>
              <a:rPr spc="-95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dirty="0"/>
              <a:t>aprendizado</a:t>
            </a:r>
            <a:r>
              <a:rPr spc="-85" dirty="0"/>
              <a:t> </a:t>
            </a:r>
            <a:r>
              <a:rPr dirty="0"/>
              <a:t>do</a:t>
            </a:r>
            <a:r>
              <a:rPr spc="-85" dirty="0"/>
              <a:t> </a:t>
            </a:r>
            <a:r>
              <a:rPr spc="-10" dirty="0"/>
              <a:t>perceptron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/>
              <p:cNvSpPr txBox="1"/>
              <p:nvPr/>
            </p:nvSpPr>
            <p:spPr>
              <a:xfrm>
                <a:off x="920687" y="1463913"/>
                <a:ext cx="10572115" cy="92942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41300" indent="-228600">
                  <a:spcBef>
                    <a:spcPts val="95"/>
                  </a:spcBef>
                  <a:buFont typeface="Arial"/>
                  <a:buChar char="•"/>
                  <a:tabLst>
                    <a:tab pos="241300" algn="l"/>
                    <a:tab pos="5519420" algn="l"/>
                    <a:tab pos="638937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Devido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ao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fato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função</a:t>
                </a:r>
                <a:r>
                  <a:rPr lang="pt-BR" sz="2800" b="1" i="1" spc="-9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degrau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pt-BR" sz="2800" i="1" spc="-50" dirty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2800" i="1" spc="-20" dirty="0" smtClean="0">
                            <a:latin typeface="Cambria Math" panose="02040503050406030204" pitchFamily="18" charset="0"/>
                            <a:cs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ar-AE" sz="2800" i="1" spc="-20" dirty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ar-AE" sz="2800" i="1" spc="-2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ar-AE" sz="2800" dirty="0">
                    <a:latin typeface="Calibri"/>
                    <a:cs typeface="Calibri"/>
                  </a:rPr>
                  <a:t> ,</a:t>
                </a:r>
                <a:r>
                  <a:rPr lang="ar-AE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ter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derivada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igual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zero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em </a:t>
                </a:r>
                <a:r>
                  <a:rPr lang="pt-BR" sz="2800" dirty="0">
                    <a:latin typeface="Calibri"/>
                    <a:cs typeface="Calibri"/>
                  </a:rPr>
                  <a:t>todos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pontos,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exceto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em</a:t>
                </a:r>
                <a:r>
                  <a:rPr lang="pt-BR" sz="2800" spc="-114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𝑔(𝒙)</a:t>
                </a:r>
                <a:r>
                  <a:rPr lang="pt-BR" sz="2800" dirty="0">
                    <a:latin typeface="Cambria Math"/>
                    <a:cs typeface="Cambria Math"/>
                  </a:rPr>
                  <a:t>=</a:t>
                </a:r>
                <a:r>
                  <a:rPr lang="pt-BR" sz="2800" spc="11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0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onde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ela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indefinida,</a:t>
                </a:r>
                <a:r>
                  <a:rPr lang="pt-BR" sz="2800" spc="-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nós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25" dirty="0">
                    <a:solidFill>
                      <a:srgbClr val="FF0000"/>
                    </a:solidFill>
                    <a:latin typeface="Calibri"/>
                    <a:cs typeface="Calibri"/>
                  </a:rPr>
                  <a:t>não</a:t>
                </a:r>
                <a:endParaRPr lang="pt-BR" sz="2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687" y="1463913"/>
                <a:ext cx="10572115" cy="929422"/>
              </a:xfrm>
              <a:prstGeom prst="rect">
                <a:avLst/>
              </a:prstGeom>
              <a:blipFill>
                <a:blip r:embed="rId2"/>
                <a:stretch>
                  <a:fillRect l="-1788" t="-6536" r="-2768" b="-228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916939" y="2478811"/>
            <a:ext cx="10636250" cy="19450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775"/>
              </a:spcBef>
            </a:pP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podemos</a:t>
            </a:r>
            <a:r>
              <a:rPr sz="2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utilizar</a:t>
            </a:r>
            <a:r>
              <a:rPr sz="2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800" b="1" i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gradiente</a:t>
            </a:r>
            <a:r>
              <a:rPr sz="2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descendente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Entretanto,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aprendemos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anteriormente,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regra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aprendizado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perceptron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treinar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simples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intuitiva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atualização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1254" y="4815011"/>
            <a:ext cx="4403564" cy="1744930"/>
          </a:xfrm>
          <a:prstGeom prst="rect">
            <a:avLst/>
          </a:prstGeom>
        </p:spPr>
      </p:pic>
      <p:grpSp>
        <p:nvGrpSpPr>
          <p:cNvPr id="15" name="object 4">
            <a:extLst>
              <a:ext uri="{FF2B5EF4-FFF2-40B4-BE49-F238E27FC236}">
                <a16:creationId xmlns:a16="http://schemas.microsoft.com/office/drawing/2014/main" id="{FCDD0205-B563-D2C4-0C9C-535967A4C754}"/>
              </a:ext>
            </a:extLst>
          </p:cNvPr>
          <p:cNvGrpSpPr/>
          <p:nvPr/>
        </p:nvGrpSpPr>
        <p:grpSpPr>
          <a:xfrm>
            <a:off x="7590408" y="4797805"/>
            <a:ext cx="2550795" cy="1118235"/>
            <a:chOff x="7590408" y="4797805"/>
            <a:chExt cx="2550795" cy="1118235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5A7A8EE-F5E4-CE9C-A094-F20AF24B2A82}"/>
                </a:ext>
              </a:extLst>
            </p:cNvPr>
            <p:cNvSpPr/>
            <p:nvPr/>
          </p:nvSpPr>
          <p:spPr>
            <a:xfrm>
              <a:off x="7590409" y="4797805"/>
              <a:ext cx="2520315" cy="1118235"/>
            </a:xfrm>
            <a:custGeom>
              <a:avLst/>
              <a:gdLst/>
              <a:ahLst/>
              <a:cxnLst/>
              <a:rect l="l" t="t" r="r" b="b"/>
              <a:pathLst>
                <a:path w="2520315" h="1118235">
                  <a:moveTo>
                    <a:pt x="2520061" y="1079969"/>
                  </a:moveTo>
                  <a:lnTo>
                    <a:pt x="2507361" y="1073619"/>
                  </a:lnTo>
                  <a:lnTo>
                    <a:pt x="2443861" y="1041869"/>
                  </a:lnTo>
                  <a:lnTo>
                    <a:pt x="2443861" y="1073619"/>
                  </a:lnTo>
                  <a:lnTo>
                    <a:pt x="532892" y="1073619"/>
                  </a:lnTo>
                  <a:lnTo>
                    <a:pt x="532892" y="76200"/>
                  </a:lnTo>
                  <a:lnTo>
                    <a:pt x="564642" y="76200"/>
                  </a:lnTo>
                  <a:lnTo>
                    <a:pt x="558292" y="63500"/>
                  </a:lnTo>
                  <a:lnTo>
                    <a:pt x="526542" y="0"/>
                  </a:lnTo>
                  <a:lnTo>
                    <a:pt x="488442" y="76200"/>
                  </a:lnTo>
                  <a:lnTo>
                    <a:pt x="520192" y="76200"/>
                  </a:lnTo>
                  <a:lnTo>
                    <a:pt x="520192" y="1073619"/>
                  </a:lnTo>
                  <a:lnTo>
                    <a:pt x="0" y="1073619"/>
                  </a:lnTo>
                  <a:lnTo>
                    <a:pt x="0" y="1086319"/>
                  </a:lnTo>
                  <a:lnTo>
                    <a:pt x="2443861" y="1086319"/>
                  </a:lnTo>
                  <a:lnTo>
                    <a:pt x="2443861" y="1118069"/>
                  </a:lnTo>
                  <a:lnTo>
                    <a:pt x="2507361" y="1086319"/>
                  </a:lnTo>
                  <a:lnTo>
                    <a:pt x="2520061" y="1079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5CF4A694-5272-CDBD-1A3B-E492A4B2F756}"/>
                </a:ext>
              </a:extLst>
            </p:cNvPr>
            <p:cNvSpPr/>
            <p:nvPr/>
          </p:nvSpPr>
          <p:spPr>
            <a:xfrm>
              <a:off x="8118474" y="5402706"/>
              <a:ext cx="2016125" cy="0"/>
            </a:xfrm>
            <a:custGeom>
              <a:avLst/>
              <a:gdLst/>
              <a:ahLst/>
              <a:cxnLst/>
              <a:rect l="l" t="t" r="r" b="b"/>
              <a:pathLst>
                <a:path w="2016125">
                  <a:moveTo>
                    <a:pt x="0" y="0"/>
                  </a:moveTo>
                  <a:lnTo>
                    <a:pt x="201599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7">
            <a:extLst>
              <a:ext uri="{FF2B5EF4-FFF2-40B4-BE49-F238E27FC236}">
                <a16:creationId xmlns:a16="http://schemas.microsoft.com/office/drawing/2014/main" id="{992E87ED-9E53-0B78-14DF-A00F9EBF0C1E}"/>
              </a:ext>
            </a:extLst>
          </p:cNvPr>
          <p:cNvSpPr txBox="1"/>
          <p:nvPr/>
        </p:nvSpPr>
        <p:spPr>
          <a:xfrm>
            <a:off x="8055991" y="5894323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0" name="object 10">
            <a:extLst>
              <a:ext uri="{FF2B5EF4-FFF2-40B4-BE49-F238E27FC236}">
                <a16:creationId xmlns:a16="http://schemas.microsoft.com/office/drawing/2014/main" id="{074824F4-15A8-9D53-126E-769C12DFD228}"/>
              </a:ext>
            </a:extLst>
          </p:cNvPr>
          <p:cNvSpPr txBox="1"/>
          <p:nvPr/>
        </p:nvSpPr>
        <p:spPr>
          <a:xfrm>
            <a:off x="10195178" y="5687476"/>
            <a:ext cx="7622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𝑔</a:t>
            </a:r>
            <a:r>
              <a:rPr lang="pt-BR" sz="1800" dirty="0">
                <a:latin typeface="Cambria Math"/>
                <a:cs typeface="Cambria Math"/>
              </a:rPr>
              <a:t>(</a:t>
            </a:r>
            <a:r>
              <a:rPr sz="1800" spc="-50" dirty="0">
                <a:latin typeface="Cambria Math"/>
                <a:cs typeface="Cambria Math"/>
              </a:rPr>
              <a:t>𝒙</a:t>
            </a:r>
            <a:r>
              <a:rPr lang="pt-BR" sz="1800" spc="-50" dirty="0">
                <a:latin typeface="Cambria Math"/>
                <a:cs typeface="Cambria Math"/>
              </a:rPr>
              <a:t>)</a:t>
            </a:r>
            <a:endParaRPr sz="1800" dirty="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1">
                <a:extLst>
                  <a:ext uri="{FF2B5EF4-FFF2-40B4-BE49-F238E27FC236}">
                    <a16:creationId xmlns:a16="http://schemas.microsoft.com/office/drawing/2014/main" id="{51B82C13-57CA-6A83-D5A8-EAA3C5EA2469}"/>
                  </a:ext>
                </a:extLst>
              </p:cNvPr>
              <p:cNvSpPr txBox="1"/>
              <p:nvPr/>
            </p:nvSpPr>
            <p:spPr>
              <a:xfrm>
                <a:off x="7941691" y="4664785"/>
                <a:ext cx="2169033" cy="56682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0099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pt-BR" sz="2200" dirty="0">
                  <a:latin typeface="Cambria Math"/>
                  <a:cs typeface="Cambria Math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5"/>
                  </a:spcBef>
                </a:pPr>
                <a:endParaRPr sz="1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1" name="object 11">
                <a:extLst>
                  <a:ext uri="{FF2B5EF4-FFF2-40B4-BE49-F238E27FC236}">
                    <a16:creationId xmlns:a16="http://schemas.microsoft.com/office/drawing/2014/main" id="{51B82C13-57CA-6A83-D5A8-EAA3C5EA2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691" y="4664785"/>
                <a:ext cx="2169033" cy="566822"/>
              </a:xfrm>
              <a:prstGeom prst="rect">
                <a:avLst/>
              </a:prstGeom>
              <a:blipFill>
                <a:blip r:embed="rId4"/>
                <a:stretch>
                  <a:fillRect t="-53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1">
                <a:extLst>
                  <a:ext uri="{FF2B5EF4-FFF2-40B4-BE49-F238E27FC236}">
                    <a16:creationId xmlns:a16="http://schemas.microsoft.com/office/drawing/2014/main" id="{6B36E232-1E89-FE7B-3109-5427575485B0}"/>
                  </a:ext>
                </a:extLst>
              </p:cNvPr>
              <p:cNvSpPr txBox="1"/>
              <p:nvPr/>
            </p:nvSpPr>
            <p:spPr>
              <a:xfrm>
                <a:off x="7566534" y="5273183"/>
                <a:ext cx="820100" cy="25904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0099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sz="1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2" name="object 11">
                <a:extLst>
                  <a:ext uri="{FF2B5EF4-FFF2-40B4-BE49-F238E27FC236}">
                    <a16:creationId xmlns:a16="http://schemas.microsoft.com/office/drawing/2014/main" id="{6B36E232-1E89-FE7B-3109-542757548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534" y="5273183"/>
                <a:ext cx="820100" cy="259045"/>
              </a:xfrm>
              <a:prstGeom prst="rect">
                <a:avLst/>
              </a:prstGeom>
              <a:blipFill>
                <a:blip r:embed="rId5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0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Regra</a:t>
            </a:r>
            <a:r>
              <a:rPr spc="-95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dirty="0"/>
              <a:t>aprendizado</a:t>
            </a:r>
            <a:r>
              <a:rPr spc="-85" dirty="0"/>
              <a:t> </a:t>
            </a:r>
            <a:r>
              <a:rPr dirty="0"/>
              <a:t>do</a:t>
            </a:r>
            <a:r>
              <a:rPr spc="-85" dirty="0"/>
              <a:t> </a:t>
            </a:r>
            <a:r>
              <a:rPr spc="-10" dirty="0"/>
              <a:t>perceptron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85788" y="1391252"/>
                <a:ext cx="11020425" cy="4704748"/>
              </a:xfrm>
              <a:prstGeom prst="rect">
                <a:avLst/>
              </a:prstGeom>
            </p:spPr>
            <p:txBody>
              <a:bodyPr vert="horz" wrap="square" lIns="0" tIns="55244" rIns="0" bIns="0" rtlCol="0">
                <a:spAutoFit/>
              </a:bodyPr>
              <a:lstStyle/>
              <a:p>
                <a:pPr marL="241300" marR="614680" indent="-228600">
                  <a:lnSpc>
                    <a:spcPct val="89800"/>
                  </a:lnSpc>
                  <a:spcBef>
                    <a:spcPts val="434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b="0" dirty="0">
                    <a:latin typeface="Calibri"/>
                    <a:cs typeface="Calibri"/>
                  </a:rPr>
                  <a:t>No</a:t>
                </a:r>
                <a:r>
                  <a:rPr lang="pt-BR" b="0" spc="-6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caso</a:t>
                </a:r>
                <a:r>
                  <a:rPr lang="pt-BR" b="0" spc="-6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do</a:t>
                </a:r>
                <a:r>
                  <a:rPr lang="pt-BR" b="0" spc="-50" dirty="0">
                    <a:latin typeface="Calibri"/>
                    <a:cs typeface="Calibri"/>
                  </a:rPr>
                  <a:t> </a:t>
                </a:r>
                <a:r>
                  <a:rPr lang="pt-BR" b="0" spc="-10" dirty="0">
                    <a:latin typeface="Calibri"/>
                    <a:cs typeface="Calibri"/>
                  </a:rPr>
                  <a:t>perceptron,</a:t>
                </a:r>
                <a:r>
                  <a:rPr lang="pt-BR" b="0" spc="-3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onde</a:t>
                </a:r>
                <a:r>
                  <a:rPr lang="pt-BR" b="0" spc="-8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mbria Math"/>
                    <a:cs typeface="Cambria Math"/>
                  </a:rPr>
                  <a:t>𝑔(𝒙)</a:t>
                </a:r>
                <a:r>
                  <a:rPr lang="pt-BR" b="0" dirty="0">
                    <a:latin typeface="Calibri"/>
                    <a:cs typeface="Calibri"/>
                  </a:rPr>
                  <a:t>,</a:t>
                </a:r>
                <a:r>
                  <a:rPr lang="pt-BR" b="0" spc="-7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por</a:t>
                </a:r>
                <a:r>
                  <a:rPr lang="pt-BR" b="0" spc="-65" dirty="0">
                    <a:latin typeface="Calibri"/>
                    <a:cs typeface="Calibri"/>
                  </a:rPr>
                  <a:t> </a:t>
                </a:r>
                <a:r>
                  <a:rPr lang="pt-BR" b="0" spc="-10" dirty="0">
                    <a:latin typeface="Calibri"/>
                    <a:cs typeface="Calibri"/>
                  </a:rPr>
                  <a:t>definição,</a:t>
                </a:r>
                <a:r>
                  <a:rPr lang="pt-BR" b="0" spc="-6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é</a:t>
                </a:r>
                <a:r>
                  <a:rPr lang="pt-BR" b="0" spc="-7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um</a:t>
                </a:r>
                <a:r>
                  <a:rPr lang="pt-BR" b="0" spc="-40" dirty="0">
                    <a:latin typeface="Calibri"/>
                    <a:cs typeface="Calibri"/>
                  </a:rPr>
                  <a:t> </a:t>
                </a:r>
                <a:r>
                  <a:rPr lang="pt-BR" i="1" dirty="0"/>
                  <a:t>hiperplano</a:t>
                </a:r>
                <a:r>
                  <a:rPr lang="pt-BR" b="0" dirty="0">
                    <a:latin typeface="Calibri"/>
                    <a:cs typeface="Calibri"/>
                  </a:rPr>
                  <a:t>,</a:t>
                </a:r>
                <a:r>
                  <a:rPr lang="pt-BR" b="0" spc="-60" dirty="0">
                    <a:latin typeface="Calibri"/>
                    <a:cs typeface="Calibri"/>
                  </a:rPr>
                  <a:t> </a:t>
                </a:r>
                <a:r>
                  <a:rPr lang="pt-BR" b="0" spc="-50" dirty="0">
                    <a:latin typeface="Calibri"/>
                    <a:cs typeface="Calibri"/>
                  </a:rPr>
                  <a:t>a </a:t>
                </a:r>
                <a:r>
                  <a:rPr lang="pt-BR" i="1" dirty="0">
                    <a:solidFill>
                      <a:srgbClr val="EC7C30"/>
                    </a:solidFill>
                  </a:rPr>
                  <a:t>regra</a:t>
                </a:r>
                <a:r>
                  <a:rPr lang="pt-BR" i="1" spc="-65" dirty="0">
                    <a:solidFill>
                      <a:srgbClr val="EC7C30"/>
                    </a:solidFill>
                  </a:rPr>
                  <a:t> </a:t>
                </a:r>
                <a:r>
                  <a:rPr lang="pt-BR" i="1" spc="-10" dirty="0">
                    <a:solidFill>
                      <a:srgbClr val="EC7C30"/>
                    </a:solidFill>
                  </a:rPr>
                  <a:t>converge</a:t>
                </a:r>
                <a:r>
                  <a:rPr lang="pt-BR" i="1" spc="-90" dirty="0">
                    <a:solidFill>
                      <a:srgbClr val="EC7C30"/>
                    </a:solidFill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para</a:t>
                </a:r>
                <a:r>
                  <a:rPr lang="pt-BR" b="0" spc="-6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uma</a:t>
                </a:r>
                <a:r>
                  <a:rPr lang="pt-BR" b="0" spc="-70" dirty="0">
                    <a:latin typeface="Calibri"/>
                    <a:cs typeface="Calibri"/>
                  </a:rPr>
                  <a:t> </a:t>
                </a:r>
                <a:r>
                  <a:rPr lang="pt-BR" i="1" dirty="0">
                    <a:solidFill>
                      <a:srgbClr val="00AF50"/>
                    </a:solidFill>
                  </a:rPr>
                  <a:t>solução</a:t>
                </a:r>
                <a:r>
                  <a:rPr lang="pt-BR" i="1" spc="-80" dirty="0">
                    <a:solidFill>
                      <a:srgbClr val="00AF50"/>
                    </a:solidFill>
                  </a:rPr>
                  <a:t> </a:t>
                </a:r>
                <a:r>
                  <a:rPr lang="pt-BR" i="1" spc="-10" dirty="0">
                    <a:solidFill>
                      <a:srgbClr val="00AF50"/>
                    </a:solidFill>
                  </a:rPr>
                  <a:t>perfeita</a:t>
                </a:r>
                <a:r>
                  <a:rPr lang="pt-BR" b="0" spc="-10" dirty="0">
                    <a:latin typeface="Calibri"/>
                    <a:cs typeface="Calibri"/>
                  </a:rPr>
                  <a:t>,</a:t>
                </a:r>
                <a:r>
                  <a:rPr lang="pt-BR" b="0" spc="-5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se</a:t>
                </a:r>
                <a:r>
                  <a:rPr lang="pt-BR" b="0" spc="-8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e</a:t>
                </a:r>
                <a:r>
                  <a:rPr lang="pt-BR" b="0" spc="-7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somente</a:t>
                </a:r>
                <a:r>
                  <a:rPr lang="pt-BR" b="0" spc="-6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se,</a:t>
                </a:r>
                <a:r>
                  <a:rPr lang="pt-BR" b="0" spc="-7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as</a:t>
                </a:r>
                <a:r>
                  <a:rPr lang="pt-BR" b="0" spc="-80" dirty="0">
                    <a:latin typeface="Calibri"/>
                    <a:cs typeface="Calibri"/>
                  </a:rPr>
                  <a:t> </a:t>
                </a:r>
                <a:r>
                  <a:rPr lang="pt-BR" b="0" spc="-10" dirty="0">
                    <a:latin typeface="Calibri"/>
                    <a:cs typeface="Calibri"/>
                  </a:rPr>
                  <a:t>classes forem</a:t>
                </a:r>
                <a:r>
                  <a:rPr lang="pt-BR" b="0" spc="-120" dirty="0">
                    <a:latin typeface="Calibri"/>
                    <a:cs typeface="Calibri"/>
                  </a:rPr>
                  <a:t> </a:t>
                </a:r>
                <a:r>
                  <a:rPr lang="pt-BR" i="1" spc="-10" dirty="0"/>
                  <a:t>linearmente</a:t>
                </a:r>
                <a:r>
                  <a:rPr lang="pt-BR" i="1" spc="-85" dirty="0"/>
                  <a:t> </a:t>
                </a:r>
                <a:r>
                  <a:rPr lang="pt-BR" i="1" spc="-10" dirty="0"/>
                  <a:t>separáveis</a:t>
                </a:r>
                <a:r>
                  <a:rPr lang="pt-BR" b="0" spc="-10" dirty="0">
                    <a:latin typeface="Calibri"/>
                    <a:cs typeface="Calibri"/>
                  </a:rPr>
                  <a:t>.</a:t>
                </a:r>
              </a:p>
              <a:p>
                <a:pPr marL="698500" lvl="1" indent="-229235">
                  <a:lnSpc>
                    <a:spcPct val="100000"/>
                  </a:lnSpc>
                  <a:spcBef>
                    <a:spcPts val="250"/>
                  </a:spcBef>
                  <a:buFont typeface="Wingdings"/>
                  <a:buChar char=""/>
                  <a:tabLst>
                    <a:tab pos="699135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Classes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suficientemente</a:t>
                </a:r>
                <a:r>
                  <a:rPr lang="pt-BR" sz="2400" b="1" i="1" spc="1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espaçadas</a:t>
                </a:r>
                <a:r>
                  <a:rPr lang="pt-BR" sz="24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podem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ser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separadas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por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hiperplano</a:t>
                </a:r>
                <a:r>
                  <a:rPr lang="pt-BR" sz="2400" spc="-10" dirty="0">
                    <a:latin typeface="Calibri"/>
                    <a:cs typeface="Calibri"/>
                  </a:rPr>
                  <a:t>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41300" indent="-228600">
                  <a:lnSpc>
                    <a:spcPts val="3200"/>
                  </a:lnSpc>
                  <a:spcBef>
                    <a:spcPts val="63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b="0" dirty="0">
                    <a:latin typeface="Calibri"/>
                    <a:cs typeface="Calibri"/>
                  </a:rPr>
                  <a:t>A</a:t>
                </a:r>
                <a:r>
                  <a:rPr lang="pt-BR" b="0" spc="-60" dirty="0">
                    <a:latin typeface="Calibri"/>
                    <a:cs typeface="Calibri"/>
                  </a:rPr>
                  <a:t> </a:t>
                </a:r>
                <a:r>
                  <a:rPr lang="pt-BR" i="1" dirty="0"/>
                  <a:t>equação</a:t>
                </a:r>
                <a:r>
                  <a:rPr lang="pt-BR" i="1" spc="-75" dirty="0"/>
                  <a:t> </a:t>
                </a:r>
                <a:r>
                  <a:rPr lang="pt-BR" i="1" dirty="0"/>
                  <a:t>de</a:t>
                </a:r>
                <a:r>
                  <a:rPr lang="pt-BR" i="1" spc="-80" dirty="0"/>
                  <a:t> </a:t>
                </a:r>
                <a:r>
                  <a:rPr lang="pt-BR" i="1" spc="-10" dirty="0"/>
                  <a:t>atualização</a:t>
                </a:r>
                <a:r>
                  <a:rPr lang="pt-BR" i="1" spc="-55" dirty="0"/>
                  <a:t> </a:t>
                </a:r>
                <a:r>
                  <a:rPr lang="pt-BR" i="1" dirty="0"/>
                  <a:t>dos</a:t>
                </a:r>
                <a:r>
                  <a:rPr lang="pt-BR" i="1" spc="-65" dirty="0"/>
                  <a:t> </a:t>
                </a:r>
                <a:r>
                  <a:rPr lang="pt-BR" i="1" dirty="0"/>
                  <a:t>pesos</a:t>
                </a:r>
                <a:r>
                  <a:rPr lang="pt-BR" i="1" spc="-70" dirty="0"/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é</a:t>
                </a:r>
                <a:r>
                  <a:rPr lang="pt-BR" b="0" spc="-7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definida</a:t>
                </a:r>
                <a:r>
                  <a:rPr lang="pt-BR" b="0" spc="-50" dirty="0">
                    <a:latin typeface="Calibri"/>
                    <a:cs typeface="Calibri"/>
                  </a:rPr>
                  <a:t> </a:t>
                </a:r>
                <a:r>
                  <a:rPr lang="pt-BR" b="0" spc="-20" dirty="0">
                    <a:latin typeface="Calibri"/>
                    <a:cs typeface="Calibri"/>
                  </a:rPr>
                  <a:t>como</a:t>
                </a:r>
              </a:p>
              <a:p>
                <a:pPr algn="ctr">
                  <a:lnSpc>
                    <a:spcPts val="3200"/>
                  </a:lnSpc>
                  <a:tabLst>
                    <a:tab pos="1852930" algn="l"/>
                    <a:tab pos="283146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dirty="0" smtClean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r>
                        <a:rPr lang="pt-BR" b="0" i="1" dirty="0">
                          <a:latin typeface="Cambria Math" panose="02040503050406030204" pitchFamily="18" charset="0"/>
                          <a:cs typeface="Cambria Math"/>
                        </a:rPr>
                        <m:t>←</m:t>
                      </m:r>
                      <m:r>
                        <a:rPr lang="pt-BR" b="0" i="1" dirty="0">
                          <a:latin typeface="Cambria Math" panose="02040503050406030204" pitchFamily="18" charset="0"/>
                          <a:cs typeface="Cambria Math"/>
                        </a:rPr>
                        <m:t>𝒘</m:t>
                      </m:r>
                      <m:r>
                        <a:rPr lang="pt-BR" b="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b="0" i="1" spc="-60" dirty="0">
                          <a:latin typeface="Cambria Math" panose="02040503050406030204" pitchFamily="18" charset="0"/>
                          <a:cs typeface="Cambria Math"/>
                        </a:rPr>
                        <m:t>𝛼</m:t>
                      </m:r>
                      <m:r>
                        <a:rPr lang="pt-BR" b="0" i="1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b="0" i="1" dirty="0">
                          <a:latin typeface="Cambria Math" panose="02040503050406030204" pitchFamily="18" charset="0"/>
                          <a:cs typeface="Cambria Math"/>
                        </a:rPr>
                        <m:t>𝑦</m:t>
                      </m:r>
                      <m:r>
                        <a:rPr lang="pt-BR" b="0" i="1" dirty="0" smtClean="0">
                          <a:latin typeface="Cambria Math" panose="02040503050406030204" pitchFamily="18" charset="0"/>
                          <a:cs typeface="Cambria Math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𝑦</m:t>
                          </m:r>
                        </m:e>
                      </m:acc>
                      <m:r>
                        <a:rPr lang="pt-BR" b="0" i="1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b="0" i="1" spc="-25" dirty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pt-BR" b="0" i="1" spc="-25" dirty="0">
                          <a:latin typeface="Cambria Math" panose="02040503050406030204" pitchFamily="18" charset="0"/>
                          <a:cs typeface="Cambria Math"/>
                        </a:rPr>
                        <m:t>,</m:t>
                      </m:r>
                    </m:oMath>
                  </m:oMathPara>
                </a14:m>
                <a:endParaRPr lang="pt-BR" b="0" spc="-25" dirty="0">
                  <a:latin typeface="Cambria Math"/>
                  <a:cs typeface="Cambria Math"/>
                </a:endParaRPr>
              </a:p>
              <a:p>
                <a:pPr marL="12700" marR="651510">
                  <a:lnSpc>
                    <a:spcPts val="3020"/>
                  </a:lnSpc>
                  <a:spcBef>
                    <a:spcPts val="1045"/>
                  </a:spcBef>
                  <a:tabLst>
                    <a:tab pos="6651625" algn="l"/>
                    <a:tab pos="7522209" algn="l"/>
                  </a:tabLst>
                </a:pPr>
                <a:r>
                  <a:rPr lang="pt-BR" b="0" dirty="0">
                    <a:latin typeface="Calibri"/>
                    <a:cs typeface="Calibri"/>
                  </a:rPr>
                  <a:t>onde</a:t>
                </a:r>
                <a:r>
                  <a:rPr lang="pt-BR" b="0" spc="-3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mbria Math"/>
                    <a:cs typeface="Cambria Math"/>
                  </a:rPr>
                  <a:t>𝒘</a:t>
                </a:r>
                <a:r>
                  <a:rPr lang="pt-BR" b="0" spc="-10" dirty="0">
                    <a:latin typeface="Cambria Math"/>
                    <a:cs typeface="Cambria Math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é</a:t>
                </a:r>
                <a:r>
                  <a:rPr lang="pt-BR" b="0" spc="-4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o</a:t>
                </a:r>
                <a:r>
                  <a:rPr lang="pt-BR" b="0" spc="-5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vetor</a:t>
                </a:r>
                <a:r>
                  <a:rPr lang="pt-BR" b="0" spc="-4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de</a:t>
                </a:r>
                <a:r>
                  <a:rPr lang="pt-BR" b="0" spc="-3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pesos,</a:t>
                </a:r>
                <a:r>
                  <a:rPr lang="pt-BR" b="0" spc="-1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mbria Math"/>
                    <a:cs typeface="Cambria Math"/>
                  </a:rPr>
                  <a:t>𝛼</a:t>
                </a:r>
                <a:r>
                  <a:rPr lang="pt-BR" b="0" spc="55" dirty="0">
                    <a:latin typeface="Cambria Math"/>
                    <a:cs typeface="Cambria Math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é</a:t>
                </a:r>
                <a:r>
                  <a:rPr lang="pt-BR" b="0" spc="-4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o</a:t>
                </a:r>
                <a:r>
                  <a:rPr lang="pt-BR" b="0" spc="-3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passo</a:t>
                </a:r>
                <a:r>
                  <a:rPr lang="pt-BR" b="0" spc="-3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de</a:t>
                </a:r>
                <a:r>
                  <a:rPr lang="pt-BR" b="0" spc="-35" dirty="0">
                    <a:latin typeface="Calibri"/>
                    <a:cs typeface="Calibri"/>
                  </a:rPr>
                  <a:t> </a:t>
                </a:r>
                <a:r>
                  <a:rPr lang="pt-BR" b="0" spc="-20" dirty="0">
                    <a:latin typeface="Calibri"/>
                    <a:cs typeface="Calibri"/>
                  </a:rPr>
                  <a:t>aprendizagem,</a:t>
                </a:r>
                <a:r>
                  <a:rPr lang="pt-BR" b="0" spc="-2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mbria Math"/>
                    <a:cs typeface="Cambria Math"/>
                  </a:rPr>
                  <a:t>𝑦</a:t>
                </a:r>
                <a:r>
                  <a:rPr lang="pt-BR" b="0" spc="25" dirty="0">
                    <a:latin typeface="Cambria Math"/>
                    <a:cs typeface="Cambria Math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é</a:t>
                </a:r>
                <a:r>
                  <a:rPr lang="pt-BR" b="0" spc="-4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o</a:t>
                </a:r>
                <a:r>
                  <a:rPr lang="pt-BR" b="0" spc="-4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valor</a:t>
                </a:r>
                <a:r>
                  <a:rPr lang="pt-BR" b="0" spc="-45" dirty="0">
                    <a:latin typeface="Calibri"/>
                    <a:cs typeface="Calibri"/>
                  </a:rPr>
                  <a:t> </a:t>
                </a:r>
                <a:r>
                  <a:rPr lang="pt-BR" b="0" spc="-25" dirty="0">
                    <a:latin typeface="Calibri"/>
                    <a:cs typeface="Calibri"/>
                  </a:rPr>
                  <a:t>de </a:t>
                </a:r>
                <a:r>
                  <a:rPr lang="pt-BR" b="0" dirty="0">
                    <a:latin typeface="Calibri"/>
                    <a:cs typeface="Calibri"/>
                  </a:rPr>
                  <a:t>saída</a:t>
                </a:r>
                <a:r>
                  <a:rPr lang="pt-BR" b="0" spc="-125" dirty="0">
                    <a:latin typeface="Calibri"/>
                    <a:cs typeface="Calibri"/>
                  </a:rPr>
                  <a:t> </a:t>
                </a:r>
                <a:r>
                  <a:rPr lang="pt-BR" b="0" spc="-10" dirty="0">
                    <a:latin typeface="Calibri"/>
                    <a:cs typeface="Calibri"/>
                  </a:rPr>
                  <a:t>esperado,</a:t>
                </a:r>
                <a:r>
                  <a:rPr lang="pt-BR" b="0" spc="-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b="0" i="1" spc="-3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b="0" i="1" spc="-35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r>
                      <a:rPr lang="pt-BR" b="0" i="1" dirty="0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r>
                  <a:rPr lang="pt-BR" b="0" dirty="0">
                    <a:latin typeface="Calibri"/>
                    <a:cs typeface="Calibri"/>
                  </a:rPr>
                  <a:t>é</a:t>
                </a:r>
                <a:r>
                  <a:rPr lang="pt-BR" b="0" spc="-6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a</a:t>
                </a:r>
                <a:r>
                  <a:rPr lang="pt-BR" b="0" spc="-5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saída</a:t>
                </a:r>
                <a:r>
                  <a:rPr lang="pt-BR" b="0" spc="-4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do</a:t>
                </a:r>
                <a:r>
                  <a:rPr lang="pt-BR" b="0" spc="-5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modelo,</a:t>
                </a:r>
                <a:r>
                  <a:rPr lang="pt-BR" b="0" spc="-5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i.e.,</a:t>
                </a:r>
                <a:r>
                  <a:rPr lang="pt-BR" b="0" spc="-85" dirty="0">
                    <a:latin typeface="Calibri"/>
                    <a:cs typeface="Calibri"/>
                  </a:rPr>
                  <a:t> </a:t>
                </a:r>
                <a:r>
                  <a:rPr lang="pt-BR" b="0" spc="-50" dirty="0">
                    <a:latin typeface="Cambria Math"/>
                    <a:cs typeface="Cambria Math"/>
                  </a:rPr>
                  <a:t>𝑓</a:t>
                </a:r>
                <a:r>
                  <a:rPr lang="pt-BR" b="0" dirty="0">
                    <a:latin typeface="Cambria Math"/>
                    <a:cs typeface="Cambria Math"/>
                  </a:rPr>
                  <a:t>(</a:t>
                </a:r>
                <a:r>
                  <a:rPr lang="pt-BR" b="0" spc="-20" dirty="0">
                    <a:latin typeface="Cambria Math"/>
                    <a:cs typeface="Cambria Math"/>
                  </a:rPr>
                  <a:t>𝑔(𝒙))</a:t>
                </a:r>
                <a:r>
                  <a:rPr lang="pt-BR" b="0" dirty="0">
                    <a:latin typeface="Calibri"/>
                    <a:cs typeface="Calibri"/>
                  </a:rPr>
                  <a:t>,</a:t>
                </a:r>
                <a:r>
                  <a:rPr lang="pt-BR" b="0" spc="-3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e</a:t>
                </a:r>
                <a:r>
                  <a:rPr lang="pt-BR" b="0" spc="-3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mbria Math"/>
                    <a:cs typeface="Cambria Math"/>
                  </a:rPr>
                  <a:t>𝒙</a:t>
                </a:r>
                <a:r>
                  <a:rPr lang="pt-BR" b="0" spc="-20" dirty="0">
                    <a:latin typeface="Cambria Math"/>
                    <a:cs typeface="Cambria Math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é</a:t>
                </a:r>
                <a:r>
                  <a:rPr lang="pt-BR" b="0" spc="-3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o</a:t>
                </a:r>
                <a:r>
                  <a:rPr lang="pt-BR" b="0" spc="-3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vetor</a:t>
                </a:r>
                <a:r>
                  <a:rPr lang="pt-BR" b="0" spc="-45" dirty="0">
                    <a:latin typeface="Calibri"/>
                    <a:cs typeface="Calibri"/>
                  </a:rPr>
                  <a:t> </a:t>
                </a:r>
                <a:r>
                  <a:rPr lang="pt-BR" b="0" spc="-25" dirty="0">
                    <a:latin typeface="Calibri"/>
                    <a:cs typeface="Calibri"/>
                  </a:rPr>
                  <a:t>de </a:t>
                </a:r>
                <a:r>
                  <a:rPr lang="pt-BR" b="0" spc="-10" dirty="0">
                    <a:latin typeface="Calibri"/>
                    <a:cs typeface="Calibri"/>
                  </a:rPr>
                  <a:t>atributos.</a:t>
                </a:r>
              </a:p>
              <a:p>
                <a:pPr marL="241300" marR="410845" indent="-228600">
                  <a:lnSpc>
                    <a:spcPts val="3020"/>
                  </a:lnSpc>
                  <a:spcBef>
                    <a:spcPts val="101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b="0" spc="-10" dirty="0">
                    <a:latin typeface="Calibri"/>
                    <a:cs typeface="Calibri"/>
                  </a:rPr>
                  <a:t>Percebam</a:t>
                </a:r>
                <a:r>
                  <a:rPr lang="pt-BR" b="0" spc="-5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que</a:t>
                </a:r>
                <a:r>
                  <a:rPr lang="pt-BR" b="0" spc="-4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a</a:t>
                </a:r>
                <a:r>
                  <a:rPr lang="pt-BR" b="0" spc="-7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equação</a:t>
                </a:r>
                <a:r>
                  <a:rPr lang="pt-BR" b="0" spc="-5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acima</a:t>
                </a:r>
                <a:r>
                  <a:rPr lang="pt-BR" b="0" spc="-6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é</a:t>
                </a:r>
                <a:r>
                  <a:rPr lang="pt-BR" b="0" spc="-6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idêntica</a:t>
                </a:r>
                <a:r>
                  <a:rPr lang="pt-BR" b="0" spc="-5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a</a:t>
                </a:r>
                <a:r>
                  <a:rPr lang="pt-BR" b="0" spc="-5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da</a:t>
                </a:r>
                <a:r>
                  <a:rPr lang="pt-BR" b="0" spc="-45" dirty="0">
                    <a:latin typeface="Calibri"/>
                    <a:cs typeface="Calibri"/>
                  </a:rPr>
                  <a:t> </a:t>
                </a:r>
                <a:r>
                  <a:rPr lang="pt-BR" b="0" spc="-10" dirty="0">
                    <a:latin typeface="Calibri"/>
                    <a:cs typeface="Calibri"/>
                  </a:rPr>
                  <a:t>atualização</a:t>
                </a:r>
                <a:r>
                  <a:rPr lang="pt-BR" b="0" spc="-8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do</a:t>
                </a:r>
                <a:r>
                  <a:rPr lang="pt-BR" b="0" spc="-50" dirty="0">
                    <a:latin typeface="Calibri"/>
                    <a:cs typeface="Calibri"/>
                  </a:rPr>
                  <a:t> </a:t>
                </a:r>
                <a:r>
                  <a:rPr lang="pt-BR" b="0" spc="-10" dirty="0">
                    <a:latin typeface="Calibri"/>
                    <a:cs typeface="Calibri"/>
                  </a:rPr>
                  <a:t>gradiente descendente</a:t>
                </a:r>
                <a:r>
                  <a:rPr lang="pt-BR" b="0" spc="-25" dirty="0">
                    <a:latin typeface="Calibri"/>
                    <a:cs typeface="Calibri"/>
                  </a:rPr>
                  <a:t> </a:t>
                </a:r>
                <a:r>
                  <a:rPr lang="pt-BR" b="0" spc="-20" dirty="0">
                    <a:latin typeface="Calibri"/>
                    <a:cs typeface="Calibri"/>
                  </a:rPr>
                  <a:t>estocástico,</a:t>
                </a:r>
                <a:r>
                  <a:rPr lang="pt-BR" b="0" spc="-3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mas</a:t>
                </a:r>
                <a:r>
                  <a:rPr lang="pt-BR" b="0" spc="-3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ela</a:t>
                </a:r>
                <a:r>
                  <a:rPr lang="pt-BR" b="0" spc="-55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só</a:t>
                </a:r>
                <a:r>
                  <a:rPr lang="pt-BR" b="0" spc="-4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tem</a:t>
                </a:r>
                <a:r>
                  <a:rPr lang="pt-BR" b="0" spc="-50" dirty="0">
                    <a:latin typeface="Calibri"/>
                    <a:cs typeface="Calibri"/>
                  </a:rPr>
                  <a:t> </a:t>
                </a:r>
                <a:r>
                  <a:rPr lang="pt-BR" b="0" dirty="0">
                    <a:latin typeface="Calibri"/>
                    <a:cs typeface="Calibri"/>
                  </a:rPr>
                  <a:t>3</a:t>
                </a:r>
                <a:r>
                  <a:rPr lang="pt-BR" b="0" spc="-45" dirty="0">
                    <a:latin typeface="Calibri"/>
                    <a:cs typeface="Calibri"/>
                  </a:rPr>
                  <a:t> </a:t>
                </a:r>
                <a:r>
                  <a:rPr lang="pt-BR" b="0" spc="-10" dirty="0">
                    <a:latin typeface="Calibri"/>
                    <a:cs typeface="Calibri"/>
                  </a:rPr>
                  <a:t>possibilidades.</a:t>
                </a:r>
                <a:endParaRPr b="0" spc="-1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5788" y="1391252"/>
                <a:ext cx="11020425" cy="4704748"/>
              </a:xfrm>
              <a:prstGeom prst="rect">
                <a:avLst/>
              </a:prstGeom>
              <a:blipFill>
                <a:blip r:embed="rId2"/>
                <a:stretch>
                  <a:fillRect l="-1825" t="-2332" r="-1272" b="-37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Perceptron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05400" y="1986597"/>
            <a:ext cx="6914515" cy="28848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percebemos,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perceptron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idêntico</a:t>
            </a:r>
            <a:r>
              <a:rPr sz="2800" b="1" i="1" spc="70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classificador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binário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limiar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decisão rígido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9652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  <a:tab pos="3056255" algn="l"/>
                <a:tab pos="3489325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definição,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perceptron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sempre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utiliza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superfícies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separação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lineares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seja, </a:t>
            </a:r>
            <a:r>
              <a:rPr sz="2800" dirty="0">
                <a:latin typeface="Calibri"/>
                <a:cs typeface="Calibri"/>
              </a:rPr>
              <a:t>sempre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teremos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𝑔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) </a:t>
            </a:r>
            <a:r>
              <a:rPr sz="2800" dirty="0" err="1">
                <a:latin typeface="Calibri"/>
                <a:cs typeface="Calibri"/>
              </a:rPr>
              <a:t>como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equação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hiperplano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3832" y="2344434"/>
            <a:ext cx="2898716" cy="27699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8272" y="5575553"/>
            <a:ext cx="219455" cy="16511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61922" y="5302758"/>
            <a:ext cx="2115185" cy="454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separação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duas </a:t>
            </a:r>
            <a:r>
              <a:rPr sz="1400" spc="-10" dirty="0">
                <a:latin typeface="Calibri"/>
                <a:cs typeface="Calibri"/>
              </a:rPr>
              <a:t>classes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400" spc="-10" dirty="0">
                <a:latin typeface="Calibri"/>
                <a:cs typeface="Calibri"/>
              </a:rPr>
              <a:t>ocorre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onde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𝑔</a:t>
            </a:r>
            <a:r>
              <a:rPr sz="1400" spc="29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𝒙</a:t>
            </a:r>
            <a:r>
              <a:rPr sz="1400" spc="165" dirty="0">
                <a:latin typeface="Cambria Math"/>
                <a:cs typeface="Cambria Math"/>
              </a:rPr>
              <a:t> 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85" dirty="0">
                <a:latin typeface="Cambria Math"/>
                <a:cs typeface="Cambria Math"/>
              </a:rPr>
              <a:t> </a:t>
            </a:r>
            <a:r>
              <a:rPr sz="1400" spc="-35" dirty="0">
                <a:latin typeface="Cambria Math"/>
                <a:cs typeface="Cambria Math"/>
              </a:rPr>
              <a:t>0</a:t>
            </a:r>
            <a:r>
              <a:rPr sz="1400" spc="-35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Perceptron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76800" y="1790849"/>
            <a:ext cx="6967855" cy="37814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Portanto,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teoricamente,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sem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transformação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único</a:t>
            </a:r>
            <a:r>
              <a:rPr sz="2800" b="1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perceptron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só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capaz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classificar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linearmente separáveis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separáveis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b="1" i="1" spc="-10" dirty="0">
                <a:latin typeface="Calibri"/>
                <a:cs typeface="Calibri"/>
              </a:rPr>
              <a:t>hiperplano</a:t>
            </a:r>
            <a:r>
              <a:rPr sz="2800" spc="-10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  <a:p>
            <a:pPr marL="241300" marR="857250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ilustra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caso </a:t>
            </a:r>
            <a:r>
              <a:rPr sz="2800" spc="-10" dirty="0">
                <a:latin typeface="Calibri"/>
                <a:cs typeface="Calibri"/>
              </a:rPr>
              <a:t>bidimensional.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2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ocorre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onde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200"/>
              </a:lnSpc>
              <a:tabLst>
                <a:tab pos="612775" algn="l"/>
                <a:tab pos="1063625" algn="l"/>
              </a:tabLst>
            </a:pPr>
            <a:r>
              <a:rPr sz="2800" spc="-50" dirty="0">
                <a:latin typeface="Cambria Math"/>
                <a:cs typeface="Cambria Math"/>
              </a:rPr>
              <a:t>𝑔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)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2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0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3832" y="2344434"/>
            <a:ext cx="2898716" cy="27699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8272" y="5575553"/>
            <a:ext cx="219455" cy="16511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61922" y="5302758"/>
            <a:ext cx="2115185" cy="454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separação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duas </a:t>
            </a:r>
            <a:r>
              <a:rPr sz="1400" spc="-10" dirty="0">
                <a:latin typeface="Calibri"/>
                <a:cs typeface="Calibri"/>
              </a:rPr>
              <a:t>classes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400" spc="-10" dirty="0">
                <a:latin typeface="Calibri"/>
                <a:cs typeface="Calibri"/>
              </a:rPr>
              <a:t>ocorre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onde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𝑔</a:t>
            </a:r>
            <a:r>
              <a:rPr sz="1400" spc="29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𝒙</a:t>
            </a:r>
            <a:r>
              <a:rPr sz="1400" spc="165" dirty="0">
                <a:latin typeface="Cambria Math"/>
                <a:cs typeface="Cambria Math"/>
              </a:rPr>
              <a:t> 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85" dirty="0">
                <a:latin typeface="Cambria Math"/>
                <a:cs typeface="Cambria Math"/>
              </a:rPr>
              <a:t> </a:t>
            </a:r>
            <a:r>
              <a:rPr sz="1400" spc="-35" dirty="0">
                <a:latin typeface="Cambria Math"/>
                <a:cs typeface="Cambria Math"/>
              </a:rPr>
              <a:t>0</a:t>
            </a:r>
            <a:r>
              <a:rPr sz="1400" spc="-35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Perceptron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64263" y="1684839"/>
            <a:ext cx="7246620" cy="365315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6286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Entretanto,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veremos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sequência,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combinar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os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resultados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vários perceptrons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superfícies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separação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separem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que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não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sejam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linearmente separáveis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necessidade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transformar </a:t>
            </a:r>
            <a:r>
              <a:rPr sz="2800" b="1" i="1" dirty="0">
                <a:latin typeface="Calibri"/>
                <a:cs typeface="Calibri"/>
              </a:rPr>
              <a:t>os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atributos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  <a:tab pos="2883535" algn="l"/>
                <a:tab pos="323596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precisamos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funções discriminantes,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𝑔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formatos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(e.g., polinômios)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hiperplano.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713" y="2391043"/>
            <a:ext cx="2898716" cy="27699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0114" y="5622163"/>
            <a:ext cx="219456" cy="16516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13763" y="5349366"/>
            <a:ext cx="2115185" cy="4546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7329" marR="5080" indent="-215265">
              <a:lnSpc>
                <a:spcPct val="100800"/>
              </a:lnSpc>
              <a:spcBef>
                <a:spcPts val="90"/>
              </a:spcBef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separação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duas </a:t>
            </a:r>
            <a:r>
              <a:rPr sz="1400" spc="-10" dirty="0">
                <a:latin typeface="Calibri"/>
                <a:cs typeface="Calibri"/>
              </a:rPr>
              <a:t>classes </a:t>
            </a:r>
            <a:r>
              <a:rPr sz="1400" dirty="0">
                <a:latin typeface="Calibri"/>
                <a:cs typeface="Calibri"/>
              </a:rPr>
              <a:t>ocorre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onde </a:t>
            </a:r>
            <a:r>
              <a:rPr sz="1400" dirty="0">
                <a:latin typeface="Cambria Math"/>
                <a:cs typeface="Cambria Math"/>
              </a:rPr>
              <a:t>𝑔</a:t>
            </a:r>
            <a:r>
              <a:rPr sz="1400" spc="29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𝒙</a:t>
            </a:r>
            <a:r>
              <a:rPr sz="1400" spc="160" dirty="0">
                <a:latin typeface="Cambria Math"/>
                <a:cs typeface="Cambria Math"/>
              </a:rPr>
              <a:t> 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75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0</a:t>
            </a:r>
            <a:r>
              <a:rPr sz="1400" spc="-25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Perceptron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6116" y="1793493"/>
            <a:ext cx="6818630" cy="45478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8064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Observem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contrário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regressor logístico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perceptron</a:t>
            </a:r>
            <a:r>
              <a:rPr sz="2800" b="1" i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não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produz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em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6FC0"/>
                </a:solidFill>
                <a:latin typeface="Calibri"/>
                <a:cs typeface="Calibri"/>
              </a:rPr>
              <a:t>sua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saída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probabilidade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da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classe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positiva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em </a:t>
            </a:r>
            <a:r>
              <a:rPr sz="2800" dirty="0">
                <a:latin typeface="Calibri"/>
                <a:cs typeface="Calibri"/>
              </a:rPr>
              <a:t>vez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disso,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faz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predições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rígidas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i.e.,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confiantes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19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razões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preferir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b="1" i="1" dirty="0">
                <a:latin typeface="Calibri"/>
                <a:cs typeface="Calibri"/>
              </a:rPr>
              <a:t>regressão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logística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invés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perceptron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Além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disso,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treinar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perceptrons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em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conjunto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rede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neural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necessário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funções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ativação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perceptrons </a:t>
            </a:r>
            <a:r>
              <a:rPr sz="2800" dirty="0">
                <a:latin typeface="Calibri"/>
                <a:cs typeface="Calibri"/>
              </a:rPr>
              <a:t>sejam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deriváveis.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7CE067D8-850A-2BBD-9B86-7C8F6DCA2A4A}"/>
              </a:ext>
            </a:extLst>
          </p:cNvPr>
          <p:cNvGrpSpPr/>
          <p:nvPr/>
        </p:nvGrpSpPr>
        <p:grpSpPr>
          <a:xfrm>
            <a:off x="1219200" y="3200400"/>
            <a:ext cx="2550795" cy="1118235"/>
            <a:chOff x="7590408" y="4797805"/>
            <a:chExt cx="2550795" cy="11182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6CCD8AC3-7267-A922-4E57-F404F6F4A4C7}"/>
                </a:ext>
              </a:extLst>
            </p:cNvPr>
            <p:cNvSpPr/>
            <p:nvPr/>
          </p:nvSpPr>
          <p:spPr>
            <a:xfrm>
              <a:off x="7590409" y="4797805"/>
              <a:ext cx="2520315" cy="1118235"/>
            </a:xfrm>
            <a:custGeom>
              <a:avLst/>
              <a:gdLst/>
              <a:ahLst/>
              <a:cxnLst/>
              <a:rect l="l" t="t" r="r" b="b"/>
              <a:pathLst>
                <a:path w="2520315" h="1118235">
                  <a:moveTo>
                    <a:pt x="2520061" y="1079969"/>
                  </a:moveTo>
                  <a:lnTo>
                    <a:pt x="2507361" y="1073619"/>
                  </a:lnTo>
                  <a:lnTo>
                    <a:pt x="2443861" y="1041869"/>
                  </a:lnTo>
                  <a:lnTo>
                    <a:pt x="2443861" y="1073619"/>
                  </a:lnTo>
                  <a:lnTo>
                    <a:pt x="532892" y="1073619"/>
                  </a:lnTo>
                  <a:lnTo>
                    <a:pt x="532892" y="76200"/>
                  </a:lnTo>
                  <a:lnTo>
                    <a:pt x="564642" y="76200"/>
                  </a:lnTo>
                  <a:lnTo>
                    <a:pt x="558292" y="63500"/>
                  </a:lnTo>
                  <a:lnTo>
                    <a:pt x="526542" y="0"/>
                  </a:lnTo>
                  <a:lnTo>
                    <a:pt x="488442" y="76200"/>
                  </a:lnTo>
                  <a:lnTo>
                    <a:pt x="520192" y="76200"/>
                  </a:lnTo>
                  <a:lnTo>
                    <a:pt x="520192" y="1073619"/>
                  </a:lnTo>
                  <a:lnTo>
                    <a:pt x="0" y="1073619"/>
                  </a:lnTo>
                  <a:lnTo>
                    <a:pt x="0" y="1086319"/>
                  </a:lnTo>
                  <a:lnTo>
                    <a:pt x="2443861" y="1086319"/>
                  </a:lnTo>
                  <a:lnTo>
                    <a:pt x="2443861" y="1118069"/>
                  </a:lnTo>
                  <a:lnTo>
                    <a:pt x="2507361" y="1086319"/>
                  </a:lnTo>
                  <a:lnTo>
                    <a:pt x="2520061" y="1079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6">
              <a:extLst>
                <a:ext uri="{FF2B5EF4-FFF2-40B4-BE49-F238E27FC236}">
                  <a16:creationId xmlns:a16="http://schemas.microsoft.com/office/drawing/2014/main" id="{074912CA-47DB-2D44-B97D-9133B9AA54D4}"/>
                </a:ext>
              </a:extLst>
            </p:cNvPr>
            <p:cNvSpPr/>
            <p:nvPr/>
          </p:nvSpPr>
          <p:spPr>
            <a:xfrm>
              <a:off x="8118474" y="5402706"/>
              <a:ext cx="2016125" cy="0"/>
            </a:xfrm>
            <a:custGeom>
              <a:avLst/>
              <a:gdLst/>
              <a:ahLst/>
              <a:cxnLst/>
              <a:rect l="l" t="t" r="r" b="b"/>
              <a:pathLst>
                <a:path w="2016125">
                  <a:moveTo>
                    <a:pt x="0" y="0"/>
                  </a:moveTo>
                  <a:lnTo>
                    <a:pt x="201599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37A43495-36F0-BC25-A52A-AE7A8B3F2DC7}"/>
              </a:ext>
            </a:extLst>
          </p:cNvPr>
          <p:cNvSpPr txBox="1"/>
          <p:nvPr/>
        </p:nvSpPr>
        <p:spPr>
          <a:xfrm>
            <a:off x="1684783" y="4296918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10">
                <a:extLst>
                  <a:ext uri="{FF2B5EF4-FFF2-40B4-BE49-F238E27FC236}">
                    <a16:creationId xmlns:a16="http://schemas.microsoft.com/office/drawing/2014/main" id="{1F22E74F-9D7B-7AFA-9374-420F7C8CD9C6}"/>
                  </a:ext>
                </a:extLst>
              </p:cNvPr>
              <p:cNvSpPr txBox="1"/>
              <p:nvPr/>
            </p:nvSpPr>
            <p:spPr>
              <a:xfrm>
                <a:off x="3763391" y="4076935"/>
                <a:ext cx="656463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𝑔</m:t>
                      </m:r>
                      <m:r>
                        <a:rPr lang="pt-BR" sz="1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8" name="object 10">
                <a:extLst>
                  <a:ext uri="{FF2B5EF4-FFF2-40B4-BE49-F238E27FC236}">
                    <a16:creationId xmlns:a16="http://schemas.microsoft.com/office/drawing/2014/main" id="{1F22E74F-9D7B-7AFA-9374-420F7C8CD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391" y="4076935"/>
                <a:ext cx="656463" cy="289823"/>
              </a:xfrm>
              <a:prstGeom prst="rect">
                <a:avLst/>
              </a:prstGeom>
              <a:blipFill>
                <a:blip r:embed="rId2"/>
                <a:stretch>
                  <a:fillRect r="-926" b="-361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1">
                <a:extLst>
                  <a:ext uri="{FF2B5EF4-FFF2-40B4-BE49-F238E27FC236}">
                    <a16:creationId xmlns:a16="http://schemas.microsoft.com/office/drawing/2014/main" id="{BFB1BC6F-7891-678D-3186-02DFF0144D82}"/>
                  </a:ext>
                </a:extLst>
              </p:cNvPr>
              <p:cNvSpPr txBox="1"/>
              <p:nvPr/>
            </p:nvSpPr>
            <p:spPr>
              <a:xfrm>
                <a:off x="1570483" y="3067380"/>
                <a:ext cx="2169033" cy="56682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0099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pt-BR" sz="2200" dirty="0">
                  <a:latin typeface="Cambria Math"/>
                  <a:cs typeface="Cambria Math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5"/>
                  </a:spcBef>
                </a:pPr>
                <a:endParaRPr sz="1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9" name="object 11">
                <a:extLst>
                  <a:ext uri="{FF2B5EF4-FFF2-40B4-BE49-F238E27FC236}">
                    <a16:creationId xmlns:a16="http://schemas.microsoft.com/office/drawing/2014/main" id="{BFB1BC6F-7891-678D-3186-02DFF0144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483" y="3067380"/>
                <a:ext cx="2169033" cy="566822"/>
              </a:xfrm>
              <a:prstGeom prst="rect">
                <a:avLst/>
              </a:prstGeom>
              <a:blipFill>
                <a:blip r:embed="rId3"/>
                <a:stretch>
                  <a:fillRect t="-53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1">
                <a:extLst>
                  <a:ext uri="{FF2B5EF4-FFF2-40B4-BE49-F238E27FC236}">
                    <a16:creationId xmlns:a16="http://schemas.microsoft.com/office/drawing/2014/main" id="{C11A7E39-A483-FF97-B6ED-7720A011E9CF}"/>
                  </a:ext>
                </a:extLst>
              </p:cNvPr>
              <p:cNvSpPr txBox="1"/>
              <p:nvPr/>
            </p:nvSpPr>
            <p:spPr>
              <a:xfrm>
                <a:off x="1195326" y="3675778"/>
                <a:ext cx="820100" cy="25904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0099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sz="1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0" name="object 11">
                <a:extLst>
                  <a:ext uri="{FF2B5EF4-FFF2-40B4-BE49-F238E27FC236}">
                    <a16:creationId xmlns:a16="http://schemas.microsoft.com/office/drawing/2014/main" id="{C11A7E39-A483-FF97-B6ED-7720A011E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326" y="3675778"/>
                <a:ext cx="820100" cy="259045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Exemplo:</a:t>
            </a:r>
            <a:r>
              <a:rPr spc="-130" dirty="0"/>
              <a:t> </a:t>
            </a:r>
            <a:r>
              <a:rPr spc="-10" dirty="0"/>
              <a:t>Perceptron</a:t>
            </a:r>
            <a:r>
              <a:rPr spc="-114" dirty="0"/>
              <a:t> </a:t>
            </a:r>
            <a:r>
              <a:rPr dirty="0"/>
              <a:t>com</a:t>
            </a:r>
            <a:r>
              <a:rPr spc="-135" dirty="0"/>
              <a:t> </a:t>
            </a:r>
            <a:r>
              <a:rPr spc="-10" dirty="0"/>
              <a:t>SciKit-Learn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819765" cy="173228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91821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linearmente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separáveis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lógicas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ser </a:t>
            </a:r>
            <a:r>
              <a:rPr sz="2800" dirty="0">
                <a:latin typeface="Calibri"/>
                <a:cs typeface="Calibri"/>
              </a:rPr>
              <a:t>separadas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único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perceptron.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abaixo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demonstram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reta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consegue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separar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lógicas.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45688" y="4233062"/>
            <a:ext cx="4025900" cy="2370455"/>
            <a:chOff x="2445688" y="4233062"/>
            <a:chExt cx="4025900" cy="23704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5688" y="4233062"/>
              <a:ext cx="2482751" cy="23701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6014" y="5175545"/>
              <a:ext cx="1525165" cy="416637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06629" y="4236174"/>
            <a:ext cx="2486645" cy="237586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354818" y="6606337"/>
            <a:ext cx="17418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5"/>
              </a:rPr>
              <a:t>Exemplo:</a:t>
            </a:r>
            <a:r>
              <a:rPr sz="1200" b="1" u="sng" spc="-35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200" b="1" u="sng" spc="-1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5"/>
              </a:rPr>
              <a:t>Perceptron.ipynb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Perceptron</a:t>
            </a:r>
            <a:r>
              <a:rPr spc="-85" dirty="0"/>
              <a:t> </a:t>
            </a:r>
            <a:r>
              <a:rPr dirty="0"/>
              <a:t>e</a:t>
            </a:r>
            <a:r>
              <a:rPr spc="-60" dirty="0"/>
              <a:t> </a:t>
            </a:r>
            <a:r>
              <a:rPr dirty="0"/>
              <a:t>o</a:t>
            </a:r>
            <a:r>
              <a:rPr spc="-35" dirty="0"/>
              <a:t> </a:t>
            </a:r>
            <a:r>
              <a:rPr dirty="0"/>
              <a:t>problema</a:t>
            </a:r>
            <a:r>
              <a:rPr spc="-55" dirty="0"/>
              <a:t> </a:t>
            </a:r>
            <a:r>
              <a:rPr dirty="0"/>
              <a:t>da</a:t>
            </a:r>
            <a:r>
              <a:rPr spc="-55" dirty="0"/>
              <a:t> </a:t>
            </a:r>
            <a:r>
              <a:rPr dirty="0"/>
              <a:t>lógica</a:t>
            </a:r>
            <a:r>
              <a:rPr spc="-30" dirty="0"/>
              <a:t> </a:t>
            </a:r>
            <a:r>
              <a:rPr spc="-25" dirty="0"/>
              <a:t>XOR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24465" y="2596638"/>
            <a:ext cx="3984625" cy="2329180"/>
            <a:chOff x="924465" y="2596638"/>
            <a:chExt cx="3984625" cy="2329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3788" y="3388299"/>
              <a:ext cx="1525165" cy="416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4465" y="2596638"/>
              <a:ext cx="2441965" cy="2329116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7767B6-458F-F357-4BCE-158FE368DE0B}"/>
              </a:ext>
            </a:extLst>
          </p:cNvPr>
          <p:cNvSpPr txBox="1"/>
          <p:nvPr/>
        </p:nvSpPr>
        <p:spPr>
          <a:xfrm>
            <a:off x="5373484" y="1295400"/>
            <a:ext cx="64375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0" spc="-10" dirty="0">
                <a:latin typeface="Calibri"/>
                <a:cs typeface="Calibri"/>
              </a:rPr>
              <a:t>Porém,</a:t>
            </a:r>
            <a:r>
              <a:rPr lang="pt-BR" sz="2800" b="0" spc="-65" dirty="0">
                <a:latin typeface="Calibri"/>
                <a:cs typeface="Calibri"/>
              </a:rPr>
              <a:t> </a:t>
            </a:r>
            <a:r>
              <a:rPr lang="pt-BR" sz="2800" b="0" dirty="0">
                <a:latin typeface="Calibri"/>
                <a:cs typeface="Calibri"/>
              </a:rPr>
              <a:t>a</a:t>
            </a:r>
            <a:r>
              <a:rPr lang="pt-BR" sz="2800" b="0" spc="-75" dirty="0">
                <a:latin typeface="Calibri"/>
                <a:cs typeface="Calibri"/>
              </a:rPr>
              <a:t> </a:t>
            </a:r>
            <a:r>
              <a:rPr lang="pt-BR" sz="2800" b="0" dirty="0">
                <a:latin typeface="Calibri"/>
                <a:cs typeface="Calibri"/>
              </a:rPr>
              <a:t>lógica</a:t>
            </a:r>
            <a:r>
              <a:rPr lang="pt-BR" sz="2800" b="0" spc="-75" dirty="0">
                <a:latin typeface="Calibri"/>
                <a:cs typeface="Calibri"/>
              </a:rPr>
              <a:t> </a:t>
            </a:r>
            <a:r>
              <a:rPr lang="pt-BR" sz="2800" b="0" dirty="0">
                <a:latin typeface="Calibri"/>
                <a:cs typeface="Calibri"/>
              </a:rPr>
              <a:t>XOR</a:t>
            </a:r>
            <a:r>
              <a:rPr lang="pt-BR" sz="2800" b="0" spc="-75" dirty="0">
                <a:latin typeface="Calibri"/>
                <a:cs typeface="Calibri"/>
              </a:rPr>
              <a:t> </a:t>
            </a:r>
            <a:r>
              <a:rPr lang="pt-BR" sz="2800" i="1" dirty="0">
                <a:solidFill>
                  <a:srgbClr val="00AF50"/>
                </a:solidFill>
              </a:rPr>
              <a:t>não</a:t>
            </a:r>
            <a:r>
              <a:rPr lang="pt-BR" sz="2800" i="1" spc="-70" dirty="0">
                <a:solidFill>
                  <a:srgbClr val="00AF50"/>
                </a:solidFill>
              </a:rPr>
              <a:t> </a:t>
            </a:r>
            <a:r>
              <a:rPr lang="pt-BR" sz="2800" i="1" dirty="0">
                <a:solidFill>
                  <a:srgbClr val="00AF50"/>
                </a:solidFill>
              </a:rPr>
              <a:t>é</a:t>
            </a:r>
            <a:r>
              <a:rPr lang="pt-BR" sz="2800" i="1" spc="-70" dirty="0">
                <a:solidFill>
                  <a:srgbClr val="00AF50"/>
                </a:solidFill>
              </a:rPr>
              <a:t> </a:t>
            </a:r>
            <a:r>
              <a:rPr lang="pt-BR" sz="2800" i="1" spc="-10" dirty="0">
                <a:solidFill>
                  <a:srgbClr val="00AF50"/>
                </a:solidFill>
              </a:rPr>
              <a:t>linearmente </a:t>
            </a:r>
            <a:r>
              <a:rPr lang="pt-BR" sz="2800" i="1" dirty="0">
                <a:solidFill>
                  <a:srgbClr val="00AF50"/>
                </a:solidFill>
              </a:rPr>
              <a:t>separável</a:t>
            </a:r>
            <a:r>
              <a:rPr lang="pt-BR" sz="2800" i="1" spc="-80" dirty="0">
                <a:solidFill>
                  <a:srgbClr val="00AF50"/>
                </a:solidFill>
              </a:rPr>
              <a:t> </a:t>
            </a:r>
            <a:r>
              <a:rPr lang="pt-BR" sz="2800" b="0" dirty="0">
                <a:latin typeface="Calibri"/>
                <a:cs typeface="Calibri"/>
              </a:rPr>
              <a:t>e</a:t>
            </a:r>
            <a:r>
              <a:rPr lang="pt-BR" sz="2800" b="0" spc="-95" dirty="0">
                <a:latin typeface="Calibri"/>
                <a:cs typeface="Calibri"/>
              </a:rPr>
              <a:t> </a:t>
            </a:r>
            <a:r>
              <a:rPr lang="pt-BR" sz="2800" b="0" dirty="0">
                <a:latin typeface="Calibri"/>
                <a:cs typeface="Calibri"/>
              </a:rPr>
              <a:t>necessita</a:t>
            </a:r>
            <a:r>
              <a:rPr lang="pt-BR" sz="2800" b="0" spc="-75" dirty="0">
                <a:latin typeface="Calibri"/>
                <a:cs typeface="Calibri"/>
              </a:rPr>
              <a:t> </a:t>
            </a:r>
            <a:r>
              <a:rPr lang="pt-BR" sz="2800" b="0" dirty="0">
                <a:latin typeface="Calibri"/>
                <a:cs typeface="Calibri"/>
              </a:rPr>
              <a:t>de</a:t>
            </a:r>
            <a:r>
              <a:rPr lang="pt-BR" sz="2800" b="0" spc="-90" dirty="0">
                <a:latin typeface="Calibri"/>
                <a:cs typeface="Calibri"/>
              </a:rPr>
              <a:t> </a:t>
            </a:r>
            <a:r>
              <a:rPr lang="pt-BR" sz="2800" b="0" dirty="0">
                <a:latin typeface="Calibri"/>
                <a:cs typeface="Calibri"/>
              </a:rPr>
              <a:t>uma</a:t>
            </a:r>
            <a:r>
              <a:rPr lang="pt-BR" sz="2800" b="0" spc="-80" dirty="0">
                <a:latin typeface="Calibri"/>
                <a:cs typeface="Calibri"/>
              </a:rPr>
              <a:t> </a:t>
            </a:r>
            <a:r>
              <a:rPr lang="pt-BR" sz="2800" i="1" dirty="0">
                <a:solidFill>
                  <a:srgbClr val="6F2F9F"/>
                </a:solidFill>
              </a:rPr>
              <a:t>superfície</a:t>
            </a:r>
            <a:r>
              <a:rPr lang="pt-BR" sz="2800" i="1" spc="-95" dirty="0">
                <a:solidFill>
                  <a:srgbClr val="6F2F9F"/>
                </a:solidFill>
              </a:rPr>
              <a:t> </a:t>
            </a:r>
            <a:r>
              <a:rPr lang="pt-BR" sz="2800" i="1" spc="-25" dirty="0">
                <a:solidFill>
                  <a:srgbClr val="6F2F9F"/>
                </a:solidFill>
              </a:rPr>
              <a:t>de </a:t>
            </a:r>
            <a:r>
              <a:rPr lang="pt-BR" sz="2800" i="1" spc="-10" dirty="0">
                <a:solidFill>
                  <a:srgbClr val="6F2F9F"/>
                </a:solidFill>
              </a:rPr>
              <a:t>separação</a:t>
            </a:r>
            <a:r>
              <a:rPr lang="pt-BR" sz="2800" i="1" spc="-75" dirty="0">
                <a:solidFill>
                  <a:srgbClr val="6F2F9F"/>
                </a:solidFill>
              </a:rPr>
              <a:t> </a:t>
            </a:r>
            <a:r>
              <a:rPr lang="pt-BR" sz="2800" i="1" spc="-20" dirty="0">
                <a:solidFill>
                  <a:srgbClr val="6F2F9F"/>
                </a:solidFill>
              </a:rPr>
              <a:t>não-</a:t>
            </a:r>
            <a:r>
              <a:rPr lang="pt-BR" sz="2800" i="1" spc="-10" dirty="0">
                <a:solidFill>
                  <a:srgbClr val="6F2F9F"/>
                </a:solidFill>
              </a:rPr>
              <a:t>linear</a:t>
            </a:r>
            <a:r>
              <a:rPr lang="pt-BR" sz="2800" b="0" spc="-10" dirty="0">
                <a:latin typeface="Calibri"/>
                <a:cs typeface="Calibri"/>
              </a:rPr>
              <a:t>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BB0FF4A-EAC6-6BBB-E96B-37C7D2DE9F8B}"/>
              </a:ext>
            </a:extLst>
          </p:cNvPr>
          <p:cNvSpPr txBox="1"/>
          <p:nvPr/>
        </p:nvSpPr>
        <p:spPr>
          <a:xfrm>
            <a:off x="5373484" y="2693247"/>
            <a:ext cx="64375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spc="-10" dirty="0">
                <a:latin typeface="Calibri"/>
                <a:cs typeface="Calibri"/>
              </a:rPr>
              <a:t>Vejam na figura ao lado que são necessárias </a:t>
            </a:r>
            <a:r>
              <a:rPr lang="pt-BR" sz="2800" i="1" dirty="0">
                <a:solidFill>
                  <a:srgbClr val="EC7C30"/>
                </a:solidFill>
              </a:rPr>
              <a:t>no</a:t>
            </a:r>
            <a:r>
              <a:rPr lang="pt-BR" sz="2800" i="1" spc="-90" dirty="0">
                <a:solidFill>
                  <a:srgbClr val="EC7C30"/>
                </a:solidFill>
              </a:rPr>
              <a:t> </a:t>
            </a:r>
            <a:r>
              <a:rPr lang="pt-BR" sz="2800" i="1" dirty="0">
                <a:solidFill>
                  <a:srgbClr val="EC7C30"/>
                </a:solidFill>
              </a:rPr>
              <a:t>mínimo</a:t>
            </a:r>
            <a:r>
              <a:rPr lang="pt-BR" sz="2800" i="1" spc="-75" dirty="0">
                <a:solidFill>
                  <a:srgbClr val="EC7C30"/>
                </a:solidFill>
              </a:rPr>
              <a:t> </a:t>
            </a:r>
            <a:r>
              <a:rPr lang="pt-BR" sz="2800" i="1" dirty="0">
                <a:solidFill>
                  <a:srgbClr val="6F2F9F"/>
                </a:solidFill>
              </a:rPr>
              <a:t>duas</a:t>
            </a:r>
            <a:r>
              <a:rPr lang="pt-BR" sz="2800" i="1" spc="-85" dirty="0">
                <a:solidFill>
                  <a:srgbClr val="6F2F9F"/>
                </a:solidFill>
              </a:rPr>
              <a:t> </a:t>
            </a:r>
            <a:r>
              <a:rPr lang="pt-BR" sz="2800" i="1" spc="-10" dirty="0">
                <a:solidFill>
                  <a:srgbClr val="6F2F9F"/>
                </a:solidFill>
              </a:rPr>
              <a:t>retas paralelas</a:t>
            </a:r>
            <a:r>
              <a:rPr lang="pt-BR" sz="2800" b="0" spc="-10" dirty="0">
                <a:latin typeface="Calibri"/>
                <a:cs typeface="Calibri"/>
              </a:rPr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6FA728-FD86-E25C-F54C-7A64C731236B}"/>
              </a:ext>
            </a:extLst>
          </p:cNvPr>
          <p:cNvSpPr txBox="1"/>
          <p:nvPr/>
        </p:nvSpPr>
        <p:spPr>
          <a:xfrm>
            <a:off x="5373484" y="4114800"/>
            <a:ext cx="64375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i="1" dirty="0">
                <a:solidFill>
                  <a:srgbClr val="00AFEF"/>
                </a:solidFill>
              </a:rPr>
              <a:t>A</a:t>
            </a:r>
            <a:r>
              <a:rPr lang="pt-BR" sz="2800" i="1" spc="-70" dirty="0">
                <a:solidFill>
                  <a:srgbClr val="00AFEF"/>
                </a:solidFill>
              </a:rPr>
              <a:t> </a:t>
            </a:r>
            <a:r>
              <a:rPr lang="pt-BR" sz="2800" i="1" spc="-10" dirty="0">
                <a:solidFill>
                  <a:srgbClr val="00AFEF"/>
                </a:solidFill>
              </a:rPr>
              <a:t>separação</a:t>
            </a:r>
            <a:r>
              <a:rPr lang="pt-BR" sz="2800" i="1" spc="-70" dirty="0">
                <a:solidFill>
                  <a:srgbClr val="00AFEF"/>
                </a:solidFill>
              </a:rPr>
              <a:t> </a:t>
            </a:r>
            <a:r>
              <a:rPr lang="pt-BR" sz="2800" i="1" dirty="0">
                <a:solidFill>
                  <a:srgbClr val="00AFEF"/>
                </a:solidFill>
              </a:rPr>
              <a:t>da</a:t>
            </a:r>
            <a:r>
              <a:rPr lang="pt-BR" sz="2800" i="1" spc="-80" dirty="0">
                <a:solidFill>
                  <a:srgbClr val="00AFEF"/>
                </a:solidFill>
              </a:rPr>
              <a:t> </a:t>
            </a:r>
            <a:r>
              <a:rPr lang="pt-BR" sz="2800" i="1" dirty="0">
                <a:solidFill>
                  <a:srgbClr val="00AFEF"/>
                </a:solidFill>
              </a:rPr>
              <a:t>lógica</a:t>
            </a:r>
            <a:r>
              <a:rPr lang="pt-BR" sz="2800" i="1" spc="-80" dirty="0">
                <a:solidFill>
                  <a:srgbClr val="00AFEF"/>
                </a:solidFill>
              </a:rPr>
              <a:t> </a:t>
            </a:r>
            <a:r>
              <a:rPr lang="pt-BR" sz="2800" i="1" dirty="0">
                <a:solidFill>
                  <a:srgbClr val="00AFEF"/>
                </a:solidFill>
              </a:rPr>
              <a:t>XOR</a:t>
            </a:r>
            <a:r>
              <a:rPr lang="pt-BR" sz="2800" i="1" spc="-60" dirty="0">
                <a:solidFill>
                  <a:srgbClr val="00AFEF"/>
                </a:solidFill>
              </a:rPr>
              <a:t> </a:t>
            </a:r>
            <a:r>
              <a:rPr lang="pt-BR" sz="2800" i="1" dirty="0">
                <a:solidFill>
                  <a:srgbClr val="00AFEF"/>
                </a:solidFill>
              </a:rPr>
              <a:t>pode</a:t>
            </a:r>
            <a:r>
              <a:rPr lang="pt-BR" sz="2800" i="1" spc="-65" dirty="0">
                <a:solidFill>
                  <a:srgbClr val="00AFEF"/>
                </a:solidFill>
              </a:rPr>
              <a:t> </a:t>
            </a:r>
            <a:r>
              <a:rPr lang="pt-BR" sz="2800" i="1" spc="-25" dirty="0">
                <a:solidFill>
                  <a:srgbClr val="00AFEF"/>
                </a:solidFill>
              </a:rPr>
              <a:t>ser </a:t>
            </a:r>
            <a:r>
              <a:rPr lang="pt-BR" sz="2800" i="1" dirty="0">
                <a:solidFill>
                  <a:srgbClr val="00AFEF"/>
                </a:solidFill>
              </a:rPr>
              <a:t>obtida</a:t>
            </a:r>
            <a:r>
              <a:rPr lang="pt-BR" sz="2800" i="1" spc="-40" dirty="0">
                <a:solidFill>
                  <a:srgbClr val="00AFEF"/>
                </a:solidFill>
              </a:rPr>
              <a:t> </a:t>
            </a:r>
            <a:r>
              <a:rPr lang="pt-BR" sz="2800" i="1" spc="-30" dirty="0">
                <a:solidFill>
                  <a:srgbClr val="EC7C30"/>
                </a:solidFill>
              </a:rPr>
              <a:t>combinando-</a:t>
            </a:r>
            <a:r>
              <a:rPr lang="pt-BR" sz="2800" i="1" dirty="0">
                <a:solidFill>
                  <a:srgbClr val="EC7C30"/>
                </a:solidFill>
              </a:rPr>
              <a:t>se</a:t>
            </a:r>
            <a:r>
              <a:rPr lang="pt-BR" sz="2800" i="1" spc="-10" dirty="0">
                <a:solidFill>
                  <a:srgbClr val="EC7C30"/>
                </a:solidFill>
              </a:rPr>
              <a:t> </a:t>
            </a:r>
            <a:r>
              <a:rPr lang="pt-BR" sz="2800" i="1" dirty="0">
                <a:solidFill>
                  <a:srgbClr val="00AFEF"/>
                </a:solidFill>
              </a:rPr>
              <a:t>o</a:t>
            </a:r>
            <a:r>
              <a:rPr lang="pt-BR" sz="2800" i="1" spc="-30" dirty="0">
                <a:solidFill>
                  <a:srgbClr val="00AFEF"/>
                </a:solidFill>
              </a:rPr>
              <a:t> </a:t>
            </a:r>
            <a:r>
              <a:rPr lang="pt-BR" sz="2800" i="1" spc="-10" dirty="0">
                <a:solidFill>
                  <a:srgbClr val="00AFEF"/>
                </a:solidFill>
              </a:rPr>
              <a:t>resultado</a:t>
            </a:r>
            <a:r>
              <a:rPr lang="pt-BR" sz="2800" i="1" spc="-20" dirty="0">
                <a:solidFill>
                  <a:srgbClr val="00AFEF"/>
                </a:solidFill>
              </a:rPr>
              <a:t> </a:t>
            </a:r>
            <a:r>
              <a:rPr lang="pt-BR" sz="2800" i="1" spc="-10" dirty="0">
                <a:solidFill>
                  <a:srgbClr val="00AFEF"/>
                </a:solidFill>
              </a:rPr>
              <a:t>alguns </a:t>
            </a:r>
            <a:r>
              <a:rPr lang="pt-BR" sz="2800" i="1" spc="-10" dirty="0" err="1">
                <a:solidFill>
                  <a:srgbClr val="00AFEF"/>
                </a:solidFill>
              </a:rPr>
              <a:t>perceptrons</a:t>
            </a:r>
            <a:r>
              <a:rPr lang="pt-BR" sz="2800" b="0" spc="-10" dirty="0">
                <a:latin typeface="Calibri"/>
                <a:cs typeface="Calibri"/>
              </a:rPr>
              <a:t>,</a:t>
            </a:r>
            <a:r>
              <a:rPr lang="pt-BR" sz="2800" b="0" spc="-35" dirty="0">
                <a:latin typeface="Calibri"/>
                <a:cs typeface="Calibri"/>
              </a:rPr>
              <a:t> </a:t>
            </a:r>
            <a:r>
              <a:rPr lang="pt-BR" sz="2800" b="0" dirty="0">
                <a:latin typeface="Calibri"/>
                <a:cs typeface="Calibri"/>
              </a:rPr>
              <a:t>o</a:t>
            </a:r>
            <a:r>
              <a:rPr lang="pt-BR" sz="2800" b="0" spc="-50" dirty="0">
                <a:latin typeface="Calibri"/>
                <a:cs typeface="Calibri"/>
              </a:rPr>
              <a:t> </a:t>
            </a:r>
            <a:r>
              <a:rPr lang="pt-BR" sz="2800" b="0" dirty="0">
                <a:latin typeface="Calibri"/>
                <a:cs typeface="Calibri"/>
              </a:rPr>
              <a:t>que</a:t>
            </a:r>
            <a:r>
              <a:rPr lang="pt-BR" sz="2800" b="0" spc="-35" dirty="0">
                <a:latin typeface="Calibri"/>
                <a:cs typeface="Calibri"/>
              </a:rPr>
              <a:t> </a:t>
            </a:r>
            <a:r>
              <a:rPr lang="pt-BR" sz="2800" b="0" spc="-20" dirty="0">
                <a:latin typeface="Calibri"/>
                <a:cs typeface="Calibri"/>
              </a:rPr>
              <a:t>resultará</a:t>
            </a:r>
            <a:r>
              <a:rPr lang="pt-BR" sz="2800" b="0" spc="-40" dirty="0">
                <a:latin typeface="Calibri"/>
                <a:cs typeface="Calibri"/>
              </a:rPr>
              <a:t> </a:t>
            </a:r>
            <a:r>
              <a:rPr lang="pt-BR" sz="2800" b="0" dirty="0">
                <a:latin typeface="Calibri"/>
                <a:cs typeface="Calibri"/>
              </a:rPr>
              <a:t>em</a:t>
            </a:r>
            <a:r>
              <a:rPr lang="pt-BR" sz="2800" b="0" spc="-55" dirty="0">
                <a:latin typeface="Calibri"/>
                <a:cs typeface="Calibri"/>
              </a:rPr>
              <a:t> </a:t>
            </a:r>
            <a:r>
              <a:rPr lang="pt-BR" sz="2800" b="0" spc="-25" dirty="0">
                <a:latin typeface="Calibri"/>
                <a:cs typeface="Calibri"/>
              </a:rPr>
              <a:t>uma </a:t>
            </a:r>
            <a:r>
              <a:rPr lang="pt-BR" sz="2800" b="0" dirty="0">
                <a:latin typeface="Calibri"/>
                <a:cs typeface="Calibri"/>
              </a:rPr>
              <a:t>superfície</a:t>
            </a:r>
            <a:r>
              <a:rPr lang="pt-BR" sz="2800" b="0" spc="-70" dirty="0">
                <a:latin typeface="Calibri"/>
                <a:cs typeface="Calibri"/>
              </a:rPr>
              <a:t> </a:t>
            </a:r>
            <a:r>
              <a:rPr lang="pt-BR" sz="2800" b="0" dirty="0">
                <a:latin typeface="Calibri"/>
                <a:cs typeface="Calibri"/>
              </a:rPr>
              <a:t>de</a:t>
            </a:r>
            <a:r>
              <a:rPr lang="pt-BR" sz="2800" b="0" spc="-80" dirty="0">
                <a:latin typeface="Calibri"/>
                <a:cs typeface="Calibri"/>
              </a:rPr>
              <a:t> </a:t>
            </a:r>
            <a:r>
              <a:rPr lang="pt-BR" sz="2800" b="0" spc="-10" dirty="0">
                <a:latin typeface="Calibri"/>
                <a:cs typeface="Calibri"/>
              </a:rPr>
              <a:t>separação</a:t>
            </a:r>
            <a:r>
              <a:rPr lang="pt-BR" sz="2800" b="0" spc="-80" dirty="0">
                <a:latin typeface="Calibri"/>
                <a:cs typeface="Calibri"/>
              </a:rPr>
              <a:t> </a:t>
            </a:r>
            <a:r>
              <a:rPr lang="pt-BR" sz="2800" b="0" dirty="0">
                <a:latin typeface="Calibri"/>
                <a:cs typeface="Calibri"/>
              </a:rPr>
              <a:t>não</a:t>
            </a:r>
            <a:r>
              <a:rPr lang="pt-BR" sz="2800" b="0" spc="-90" dirty="0">
                <a:latin typeface="Calibri"/>
                <a:cs typeface="Calibri"/>
              </a:rPr>
              <a:t> </a:t>
            </a:r>
            <a:r>
              <a:rPr lang="pt-BR" sz="2800" b="0" spc="-10" dirty="0">
                <a:latin typeface="Calibri"/>
                <a:cs typeface="Calibri"/>
              </a:rPr>
              <a:t>linear.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87A6A9A-6F52-BC0A-71B7-D0EE5BFB64AD}"/>
              </a:ext>
            </a:extLst>
          </p:cNvPr>
          <p:cNvSpPr txBox="1"/>
          <p:nvPr/>
        </p:nvSpPr>
        <p:spPr>
          <a:xfrm>
            <a:off x="5373484" y="6055761"/>
            <a:ext cx="643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Calibri"/>
                <a:cs typeface="Calibri"/>
              </a:rPr>
              <a:t>Qual o número mínimo de </a:t>
            </a:r>
            <a:r>
              <a:rPr lang="pt-BR" sz="2800" dirty="0" err="1">
                <a:latin typeface="Calibri"/>
                <a:cs typeface="Calibri"/>
              </a:rPr>
              <a:t>perceptrons</a:t>
            </a:r>
            <a:r>
              <a:rPr lang="pt-BR" sz="2800" dirty="0">
                <a:latin typeface="Calibri"/>
                <a:cs typeface="Calibri"/>
              </a:rPr>
              <a:t>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Avisos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701738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Vocês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fazer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exercícios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  <a:hlinkClick r:id="rId2"/>
              </a:rPr>
              <a:t>lista</a:t>
            </a:r>
            <a:r>
              <a:rPr sz="2800" spc="-114" dirty="0">
                <a:latin typeface="Calibri"/>
                <a:cs typeface="Calibri"/>
                <a:hlinkClick r:id="rId2"/>
              </a:rPr>
              <a:t> </a:t>
            </a:r>
            <a:r>
              <a:rPr sz="2800" spc="-20" dirty="0">
                <a:latin typeface="Calibri"/>
                <a:cs typeface="Calibri"/>
                <a:hlinkClick r:id="rId2"/>
              </a:rPr>
              <a:t>#10.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3267" y="2616530"/>
            <a:ext cx="34029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Obrigado!</a:t>
            </a:r>
            <a:endParaRPr sz="6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117" y="245618"/>
            <a:ext cx="3933825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9975" y="655701"/>
            <a:ext cx="2619375" cy="3800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20707" y="245618"/>
            <a:ext cx="2020061" cy="36943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5117" y="3851986"/>
            <a:ext cx="2466975" cy="27241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51953" y="4185361"/>
            <a:ext cx="1905000" cy="23907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5773" y="2616530"/>
            <a:ext cx="241744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Figuras</a:t>
            </a:r>
            <a:endParaRPr sz="66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/>
          <p:nvPr/>
        </p:nvSpPr>
        <p:spPr>
          <a:xfrm>
            <a:off x="7175372" y="6045200"/>
            <a:ext cx="2708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onde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𝜃</a:t>
            </a:r>
            <a:r>
              <a:rPr sz="1800" spc="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é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limiar 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decisão.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14754" y="4808473"/>
            <a:ext cx="2526665" cy="1118235"/>
            <a:chOff x="114754" y="4808473"/>
            <a:chExt cx="2526665" cy="1118235"/>
          </a:xfrm>
        </p:grpSpPr>
        <p:sp>
          <p:nvSpPr>
            <p:cNvPr id="27" name="object 27"/>
            <p:cNvSpPr/>
            <p:nvPr/>
          </p:nvSpPr>
          <p:spPr>
            <a:xfrm>
              <a:off x="114744" y="4808473"/>
              <a:ext cx="2520315" cy="1118235"/>
            </a:xfrm>
            <a:custGeom>
              <a:avLst/>
              <a:gdLst/>
              <a:ahLst/>
              <a:cxnLst/>
              <a:rect l="l" t="t" r="r" b="b"/>
              <a:pathLst>
                <a:path w="2520315" h="1118235">
                  <a:moveTo>
                    <a:pt x="2519997" y="1079969"/>
                  </a:moveTo>
                  <a:lnTo>
                    <a:pt x="2507297" y="1073619"/>
                  </a:lnTo>
                  <a:lnTo>
                    <a:pt x="2443797" y="1041869"/>
                  </a:lnTo>
                  <a:lnTo>
                    <a:pt x="2443797" y="1073619"/>
                  </a:lnTo>
                  <a:lnTo>
                    <a:pt x="532828" y="1073619"/>
                  </a:lnTo>
                  <a:lnTo>
                    <a:pt x="532828" y="76200"/>
                  </a:lnTo>
                  <a:lnTo>
                    <a:pt x="564591" y="76200"/>
                  </a:lnTo>
                  <a:lnTo>
                    <a:pt x="558241" y="63500"/>
                  </a:lnTo>
                  <a:lnTo>
                    <a:pt x="526491" y="0"/>
                  </a:lnTo>
                  <a:lnTo>
                    <a:pt x="488391" y="76200"/>
                  </a:lnTo>
                  <a:lnTo>
                    <a:pt x="520128" y="76200"/>
                  </a:lnTo>
                  <a:lnTo>
                    <a:pt x="520128" y="1073619"/>
                  </a:lnTo>
                  <a:lnTo>
                    <a:pt x="0" y="1073619"/>
                  </a:lnTo>
                  <a:lnTo>
                    <a:pt x="0" y="1086319"/>
                  </a:lnTo>
                  <a:lnTo>
                    <a:pt x="2443797" y="1086319"/>
                  </a:lnTo>
                  <a:lnTo>
                    <a:pt x="2443797" y="1118069"/>
                  </a:lnTo>
                  <a:lnTo>
                    <a:pt x="2507297" y="1086319"/>
                  </a:lnTo>
                  <a:lnTo>
                    <a:pt x="2519997" y="1079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52195" y="5413374"/>
              <a:ext cx="1583055" cy="475615"/>
            </a:xfrm>
            <a:custGeom>
              <a:avLst/>
              <a:gdLst/>
              <a:ahLst/>
              <a:cxnLst/>
              <a:rect l="l" t="t" r="r" b="b"/>
              <a:pathLst>
                <a:path w="1583055" h="475614">
                  <a:moveTo>
                    <a:pt x="0" y="0"/>
                  </a:moveTo>
                  <a:lnTo>
                    <a:pt x="0" y="475068"/>
                  </a:lnTo>
                </a:path>
                <a:path w="1583055" h="475614">
                  <a:moveTo>
                    <a:pt x="0" y="0"/>
                  </a:moveTo>
                  <a:lnTo>
                    <a:pt x="158254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79221" y="5904991"/>
            <a:ext cx="5340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0370" algn="l"/>
              </a:tabLst>
            </a:pPr>
            <a:r>
              <a:rPr sz="1400" spc="-50" dirty="0">
                <a:latin typeface="Cambria Math"/>
                <a:cs typeface="Cambria Math"/>
              </a:rPr>
              <a:t>0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-50" dirty="0">
                <a:latin typeface="Cambria Math"/>
                <a:cs typeface="Cambria Math"/>
              </a:rPr>
              <a:t>𝜃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41223" y="4717288"/>
            <a:ext cx="904240" cy="699770"/>
            <a:chOff x="641223" y="4717288"/>
            <a:chExt cx="904240" cy="699770"/>
          </a:xfrm>
        </p:grpSpPr>
        <p:sp>
          <p:nvSpPr>
            <p:cNvPr id="31" name="object 31"/>
            <p:cNvSpPr/>
            <p:nvPr/>
          </p:nvSpPr>
          <p:spPr>
            <a:xfrm>
              <a:off x="915822" y="4717287"/>
              <a:ext cx="629920" cy="276225"/>
            </a:xfrm>
            <a:custGeom>
              <a:avLst/>
              <a:gdLst/>
              <a:ahLst/>
              <a:cxnLst/>
              <a:rect l="l" t="t" r="r" b="b"/>
              <a:pathLst>
                <a:path w="629919" h="276225">
                  <a:moveTo>
                    <a:pt x="75349" y="9144"/>
                  </a:moveTo>
                  <a:lnTo>
                    <a:pt x="72555" y="0"/>
                  </a:lnTo>
                  <a:lnTo>
                    <a:pt x="56134" y="6413"/>
                  </a:lnTo>
                  <a:lnTo>
                    <a:pt x="41719" y="16471"/>
                  </a:lnTo>
                  <a:lnTo>
                    <a:pt x="18872" y="47498"/>
                  </a:lnTo>
                  <a:lnTo>
                    <a:pt x="4711" y="89319"/>
                  </a:lnTo>
                  <a:lnTo>
                    <a:pt x="0" y="138176"/>
                  </a:lnTo>
                  <a:lnTo>
                    <a:pt x="1168" y="163423"/>
                  </a:lnTo>
                  <a:lnTo>
                    <a:pt x="10617" y="208711"/>
                  </a:lnTo>
                  <a:lnTo>
                    <a:pt x="29298" y="246062"/>
                  </a:lnTo>
                  <a:lnTo>
                    <a:pt x="72555" y="276225"/>
                  </a:lnTo>
                  <a:lnTo>
                    <a:pt x="75349" y="267081"/>
                  </a:lnTo>
                  <a:lnTo>
                    <a:pt x="62661" y="260464"/>
                  </a:lnTo>
                  <a:lnTo>
                    <a:pt x="51612" y="250875"/>
                  </a:lnTo>
                  <a:lnTo>
                    <a:pt x="28359" y="204685"/>
                  </a:lnTo>
                  <a:lnTo>
                    <a:pt x="21412" y="162394"/>
                  </a:lnTo>
                  <a:lnTo>
                    <a:pt x="20548" y="138176"/>
                  </a:lnTo>
                  <a:lnTo>
                    <a:pt x="21412" y="113957"/>
                  </a:lnTo>
                  <a:lnTo>
                    <a:pt x="28359" y="71615"/>
                  </a:lnTo>
                  <a:lnTo>
                    <a:pt x="51612" y="25361"/>
                  </a:lnTo>
                  <a:lnTo>
                    <a:pt x="62661" y="15773"/>
                  </a:lnTo>
                  <a:lnTo>
                    <a:pt x="75349" y="9144"/>
                  </a:lnTo>
                  <a:close/>
                </a:path>
                <a:path w="629919" h="276225">
                  <a:moveTo>
                    <a:pt x="315912" y="41529"/>
                  </a:moveTo>
                  <a:lnTo>
                    <a:pt x="312902" y="33020"/>
                  </a:lnTo>
                  <a:lnTo>
                    <a:pt x="297548" y="38557"/>
                  </a:lnTo>
                  <a:lnTo>
                    <a:pt x="284086" y="46570"/>
                  </a:lnTo>
                  <a:lnTo>
                    <a:pt x="255193" y="85115"/>
                  </a:lnTo>
                  <a:lnTo>
                    <a:pt x="245364" y="138938"/>
                  </a:lnTo>
                  <a:lnTo>
                    <a:pt x="246443" y="158381"/>
                  </a:lnTo>
                  <a:lnTo>
                    <a:pt x="262788" y="207772"/>
                  </a:lnTo>
                  <a:lnTo>
                    <a:pt x="297497" y="239204"/>
                  </a:lnTo>
                  <a:lnTo>
                    <a:pt x="312902" y="244729"/>
                  </a:lnTo>
                  <a:lnTo>
                    <a:pt x="315582" y="236093"/>
                  </a:lnTo>
                  <a:lnTo>
                    <a:pt x="303504" y="230759"/>
                  </a:lnTo>
                  <a:lnTo>
                    <a:pt x="293090" y="223329"/>
                  </a:lnTo>
                  <a:lnTo>
                    <a:pt x="271741" y="188671"/>
                  </a:lnTo>
                  <a:lnTo>
                    <a:pt x="264680" y="137795"/>
                  </a:lnTo>
                  <a:lnTo>
                    <a:pt x="265455" y="119735"/>
                  </a:lnTo>
                  <a:lnTo>
                    <a:pt x="277241" y="75057"/>
                  </a:lnTo>
                  <a:lnTo>
                    <a:pt x="303695" y="46863"/>
                  </a:lnTo>
                  <a:lnTo>
                    <a:pt x="315912" y="41529"/>
                  </a:lnTo>
                  <a:close/>
                </a:path>
                <a:path w="629919" h="276225">
                  <a:moveTo>
                    <a:pt x="527151" y="138938"/>
                  </a:moveTo>
                  <a:lnTo>
                    <a:pt x="517283" y="85115"/>
                  </a:lnTo>
                  <a:lnTo>
                    <a:pt x="488416" y="46570"/>
                  </a:lnTo>
                  <a:lnTo>
                    <a:pt x="459587" y="33020"/>
                  </a:lnTo>
                  <a:lnTo>
                    <a:pt x="456539" y="41529"/>
                  </a:lnTo>
                  <a:lnTo>
                    <a:pt x="468820" y="46863"/>
                  </a:lnTo>
                  <a:lnTo>
                    <a:pt x="479374" y="54254"/>
                  </a:lnTo>
                  <a:lnTo>
                    <a:pt x="500773" y="88353"/>
                  </a:lnTo>
                  <a:lnTo>
                    <a:pt x="507847" y="137795"/>
                  </a:lnTo>
                  <a:lnTo>
                    <a:pt x="507060" y="156464"/>
                  </a:lnTo>
                  <a:lnTo>
                    <a:pt x="495274" y="202184"/>
                  </a:lnTo>
                  <a:lnTo>
                    <a:pt x="468960" y="230759"/>
                  </a:lnTo>
                  <a:lnTo>
                    <a:pt x="456920" y="236093"/>
                  </a:lnTo>
                  <a:lnTo>
                    <a:pt x="459587" y="244729"/>
                  </a:lnTo>
                  <a:lnTo>
                    <a:pt x="500049" y="220726"/>
                  </a:lnTo>
                  <a:lnTo>
                    <a:pt x="522782" y="176314"/>
                  </a:lnTo>
                  <a:lnTo>
                    <a:pt x="526046" y="158381"/>
                  </a:lnTo>
                  <a:lnTo>
                    <a:pt x="527151" y="138938"/>
                  </a:lnTo>
                  <a:close/>
                </a:path>
                <a:path w="629919" h="276225">
                  <a:moveTo>
                    <a:pt x="629386" y="138176"/>
                  </a:moveTo>
                  <a:lnTo>
                    <a:pt x="624700" y="89319"/>
                  </a:lnTo>
                  <a:lnTo>
                    <a:pt x="610590" y="47498"/>
                  </a:lnTo>
                  <a:lnTo>
                    <a:pt x="587730" y="16471"/>
                  </a:lnTo>
                  <a:lnTo>
                    <a:pt x="556869" y="0"/>
                  </a:lnTo>
                  <a:lnTo>
                    <a:pt x="554075" y="9144"/>
                  </a:lnTo>
                  <a:lnTo>
                    <a:pt x="566762" y="15773"/>
                  </a:lnTo>
                  <a:lnTo>
                    <a:pt x="577799" y="25361"/>
                  </a:lnTo>
                  <a:lnTo>
                    <a:pt x="601052" y="71615"/>
                  </a:lnTo>
                  <a:lnTo>
                    <a:pt x="608050" y="113957"/>
                  </a:lnTo>
                  <a:lnTo>
                    <a:pt x="608939" y="138176"/>
                  </a:lnTo>
                  <a:lnTo>
                    <a:pt x="608050" y="162394"/>
                  </a:lnTo>
                  <a:lnTo>
                    <a:pt x="601052" y="204685"/>
                  </a:lnTo>
                  <a:lnTo>
                    <a:pt x="577799" y="250875"/>
                  </a:lnTo>
                  <a:lnTo>
                    <a:pt x="554075" y="267081"/>
                  </a:lnTo>
                  <a:lnTo>
                    <a:pt x="556869" y="276225"/>
                  </a:lnTo>
                  <a:lnTo>
                    <a:pt x="600151" y="246062"/>
                  </a:lnTo>
                  <a:lnTo>
                    <a:pt x="618820" y="208711"/>
                  </a:lnTo>
                  <a:lnTo>
                    <a:pt x="628205" y="163423"/>
                  </a:lnTo>
                  <a:lnTo>
                    <a:pt x="629386" y="138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1223" y="5413375"/>
              <a:ext cx="411480" cy="0"/>
            </a:xfrm>
            <a:custGeom>
              <a:avLst/>
              <a:gdLst/>
              <a:ahLst/>
              <a:cxnLst/>
              <a:rect l="l" t="t" r="r" b="b"/>
              <a:pathLst>
                <a:path w="411480">
                  <a:moveTo>
                    <a:pt x="410971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64921" y="4680584"/>
            <a:ext cx="915669" cy="842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𝑓</a:t>
            </a:r>
            <a:r>
              <a:rPr sz="1800" spc="459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𝑔</a:t>
            </a:r>
            <a:r>
              <a:rPr sz="1800" spc="37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𝒙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835148" y="5786793"/>
            <a:ext cx="281940" cy="212090"/>
          </a:xfrm>
          <a:custGeom>
            <a:avLst/>
            <a:gdLst/>
            <a:ahLst/>
            <a:cxnLst/>
            <a:rect l="l" t="t" r="r" b="b"/>
            <a:pathLst>
              <a:path w="281939" h="212089">
                <a:moveTo>
                  <a:pt x="214249" y="0"/>
                </a:moveTo>
                <a:lnTo>
                  <a:pt x="211200" y="8597"/>
                </a:lnTo>
                <a:lnTo>
                  <a:pt x="223468" y="13915"/>
                </a:lnTo>
                <a:lnTo>
                  <a:pt x="233997" y="21277"/>
                </a:lnTo>
                <a:lnTo>
                  <a:pt x="255363" y="55406"/>
                </a:lnTo>
                <a:lnTo>
                  <a:pt x="262381" y="104813"/>
                </a:lnTo>
                <a:lnTo>
                  <a:pt x="261596" y="123489"/>
                </a:lnTo>
                <a:lnTo>
                  <a:pt x="249808" y="169214"/>
                </a:lnTo>
                <a:lnTo>
                  <a:pt x="223555" y="197805"/>
                </a:lnTo>
                <a:lnTo>
                  <a:pt x="211454" y="203149"/>
                </a:lnTo>
                <a:lnTo>
                  <a:pt x="214249" y="211747"/>
                </a:lnTo>
                <a:lnTo>
                  <a:pt x="254646" y="187704"/>
                </a:lnTo>
                <a:lnTo>
                  <a:pt x="277367" y="143335"/>
                </a:lnTo>
                <a:lnTo>
                  <a:pt x="281685" y="105930"/>
                </a:lnTo>
                <a:lnTo>
                  <a:pt x="280592" y="86519"/>
                </a:lnTo>
                <a:lnTo>
                  <a:pt x="264287" y="37109"/>
                </a:lnTo>
                <a:lnTo>
                  <a:pt x="229586" y="5541"/>
                </a:lnTo>
                <a:lnTo>
                  <a:pt x="214249" y="0"/>
                </a:lnTo>
                <a:close/>
              </a:path>
              <a:path w="281939" h="212089">
                <a:moveTo>
                  <a:pt x="67437" y="0"/>
                </a:moveTo>
                <a:lnTo>
                  <a:pt x="27092" y="24095"/>
                </a:lnTo>
                <a:lnTo>
                  <a:pt x="4318" y="68576"/>
                </a:lnTo>
                <a:lnTo>
                  <a:pt x="0" y="105930"/>
                </a:lnTo>
                <a:lnTo>
                  <a:pt x="1075" y="125383"/>
                </a:lnTo>
                <a:lnTo>
                  <a:pt x="17399" y="174739"/>
                </a:lnTo>
                <a:lnTo>
                  <a:pt x="52081" y="206211"/>
                </a:lnTo>
                <a:lnTo>
                  <a:pt x="67437" y="211747"/>
                </a:lnTo>
                <a:lnTo>
                  <a:pt x="70103" y="203149"/>
                </a:lnTo>
                <a:lnTo>
                  <a:pt x="58058" y="197805"/>
                </a:lnTo>
                <a:lnTo>
                  <a:pt x="47656" y="190368"/>
                </a:lnTo>
                <a:lnTo>
                  <a:pt x="26376" y="155689"/>
                </a:lnTo>
                <a:lnTo>
                  <a:pt x="19303" y="104813"/>
                </a:lnTo>
                <a:lnTo>
                  <a:pt x="20089" y="86744"/>
                </a:lnTo>
                <a:lnTo>
                  <a:pt x="31876" y="42138"/>
                </a:lnTo>
                <a:lnTo>
                  <a:pt x="58273" y="13915"/>
                </a:lnTo>
                <a:lnTo>
                  <a:pt x="70484" y="8597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657982" y="5717235"/>
            <a:ext cx="396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𝑔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𝒙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807450" y="1250950"/>
            <a:ext cx="762000" cy="393700"/>
            <a:chOff x="8807450" y="1250950"/>
            <a:chExt cx="762000" cy="393700"/>
          </a:xfrm>
        </p:grpSpPr>
        <p:sp>
          <p:nvSpPr>
            <p:cNvPr id="37" name="object 37"/>
            <p:cNvSpPr/>
            <p:nvPr/>
          </p:nvSpPr>
          <p:spPr>
            <a:xfrm>
              <a:off x="8813800" y="1257300"/>
              <a:ext cx="749300" cy="381000"/>
            </a:xfrm>
            <a:custGeom>
              <a:avLst/>
              <a:gdLst/>
              <a:ahLst/>
              <a:cxnLst/>
              <a:rect l="l" t="t" r="r" b="b"/>
              <a:pathLst>
                <a:path w="749300" h="381000">
                  <a:moveTo>
                    <a:pt x="0" y="190500"/>
                  </a:moveTo>
                  <a:lnTo>
                    <a:pt x="19102" y="130308"/>
                  </a:lnTo>
                  <a:lnTo>
                    <a:pt x="72294" y="78016"/>
                  </a:lnTo>
                  <a:lnTo>
                    <a:pt x="109743" y="55816"/>
                  </a:lnTo>
                  <a:lnTo>
                    <a:pt x="153399" y="36771"/>
                  </a:lnTo>
                  <a:lnTo>
                    <a:pt x="202490" y="21273"/>
                  </a:lnTo>
                  <a:lnTo>
                    <a:pt x="256243" y="9717"/>
                  </a:lnTo>
                  <a:lnTo>
                    <a:pt x="313887" y="2494"/>
                  </a:lnTo>
                  <a:lnTo>
                    <a:pt x="374650" y="0"/>
                  </a:lnTo>
                  <a:lnTo>
                    <a:pt x="435412" y="2494"/>
                  </a:lnTo>
                  <a:lnTo>
                    <a:pt x="493056" y="9717"/>
                  </a:lnTo>
                  <a:lnTo>
                    <a:pt x="546809" y="21273"/>
                  </a:lnTo>
                  <a:lnTo>
                    <a:pt x="595900" y="36771"/>
                  </a:lnTo>
                  <a:lnTo>
                    <a:pt x="639556" y="55816"/>
                  </a:lnTo>
                  <a:lnTo>
                    <a:pt x="677005" y="78016"/>
                  </a:lnTo>
                  <a:lnTo>
                    <a:pt x="707476" y="102978"/>
                  </a:lnTo>
                  <a:lnTo>
                    <a:pt x="744395" y="159613"/>
                  </a:lnTo>
                  <a:lnTo>
                    <a:pt x="749300" y="190500"/>
                  </a:lnTo>
                  <a:lnTo>
                    <a:pt x="744395" y="221386"/>
                  </a:lnTo>
                  <a:lnTo>
                    <a:pt x="707476" y="278021"/>
                  </a:lnTo>
                  <a:lnTo>
                    <a:pt x="677005" y="302983"/>
                  </a:lnTo>
                  <a:lnTo>
                    <a:pt x="639556" y="325183"/>
                  </a:lnTo>
                  <a:lnTo>
                    <a:pt x="595900" y="344228"/>
                  </a:lnTo>
                  <a:lnTo>
                    <a:pt x="546809" y="359726"/>
                  </a:lnTo>
                  <a:lnTo>
                    <a:pt x="493056" y="371282"/>
                  </a:lnTo>
                  <a:lnTo>
                    <a:pt x="435412" y="378505"/>
                  </a:lnTo>
                  <a:lnTo>
                    <a:pt x="374650" y="381000"/>
                  </a:lnTo>
                  <a:lnTo>
                    <a:pt x="313887" y="378505"/>
                  </a:lnTo>
                  <a:lnTo>
                    <a:pt x="256243" y="371282"/>
                  </a:lnTo>
                  <a:lnTo>
                    <a:pt x="202490" y="359726"/>
                  </a:lnTo>
                  <a:lnTo>
                    <a:pt x="153399" y="344228"/>
                  </a:lnTo>
                  <a:lnTo>
                    <a:pt x="109743" y="325183"/>
                  </a:lnTo>
                  <a:lnTo>
                    <a:pt x="72294" y="302983"/>
                  </a:lnTo>
                  <a:lnTo>
                    <a:pt x="41823" y="278021"/>
                  </a:lnTo>
                  <a:lnTo>
                    <a:pt x="4904" y="221386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093072" y="1355089"/>
              <a:ext cx="281940" cy="212090"/>
            </a:xfrm>
            <a:custGeom>
              <a:avLst/>
              <a:gdLst/>
              <a:ahLst/>
              <a:cxnLst/>
              <a:rect l="l" t="t" r="r" b="b"/>
              <a:pathLst>
                <a:path w="281940" h="212090">
                  <a:moveTo>
                    <a:pt x="214249" y="0"/>
                  </a:moveTo>
                  <a:lnTo>
                    <a:pt x="211200" y="8636"/>
                  </a:lnTo>
                  <a:lnTo>
                    <a:pt x="223468" y="13946"/>
                  </a:lnTo>
                  <a:lnTo>
                    <a:pt x="233997" y="21304"/>
                  </a:lnTo>
                  <a:lnTo>
                    <a:pt x="255363" y="55429"/>
                  </a:lnTo>
                  <a:lnTo>
                    <a:pt x="262381" y="104775"/>
                  </a:lnTo>
                  <a:lnTo>
                    <a:pt x="261596" y="123444"/>
                  </a:lnTo>
                  <a:lnTo>
                    <a:pt x="249808" y="169163"/>
                  </a:lnTo>
                  <a:lnTo>
                    <a:pt x="223627" y="197792"/>
                  </a:lnTo>
                  <a:lnTo>
                    <a:pt x="211581" y="203200"/>
                  </a:lnTo>
                  <a:lnTo>
                    <a:pt x="214249" y="211709"/>
                  </a:lnTo>
                  <a:lnTo>
                    <a:pt x="254646" y="187705"/>
                  </a:lnTo>
                  <a:lnTo>
                    <a:pt x="277368" y="143335"/>
                  </a:lnTo>
                  <a:lnTo>
                    <a:pt x="281685" y="105918"/>
                  </a:lnTo>
                  <a:lnTo>
                    <a:pt x="280610" y="86536"/>
                  </a:lnTo>
                  <a:lnTo>
                    <a:pt x="264286" y="37084"/>
                  </a:lnTo>
                  <a:lnTo>
                    <a:pt x="229586" y="5544"/>
                  </a:lnTo>
                  <a:lnTo>
                    <a:pt x="214249" y="0"/>
                  </a:lnTo>
                  <a:close/>
                </a:path>
                <a:path w="281940" h="212090">
                  <a:moveTo>
                    <a:pt x="67436" y="0"/>
                  </a:moveTo>
                  <a:lnTo>
                    <a:pt x="27092" y="24110"/>
                  </a:lnTo>
                  <a:lnTo>
                    <a:pt x="4365" y="68595"/>
                  </a:lnTo>
                  <a:lnTo>
                    <a:pt x="0" y="105918"/>
                  </a:lnTo>
                  <a:lnTo>
                    <a:pt x="1075" y="125370"/>
                  </a:lnTo>
                  <a:lnTo>
                    <a:pt x="17399" y="174751"/>
                  </a:lnTo>
                  <a:lnTo>
                    <a:pt x="52081" y="206184"/>
                  </a:lnTo>
                  <a:lnTo>
                    <a:pt x="67436" y="211709"/>
                  </a:lnTo>
                  <a:lnTo>
                    <a:pt x="70230" y="203200"/>
                  </a:lnTo>
                  <a:lnTo>
                    <a:pt x="58130" y="197792"/>
                  </a:lnTo>
                  <a:lnTo>
                    <a:pt x="47720" y="190325"/>
                  </a:lnTo>
                  <a:lnTo>
                    <a:pt x="26376" y="155638"/>
                  </a:lnTo>
                  <a:lnTo>
                    <a:pt x="19303" y="104775"/>
                  </a:lnTo>
                  <a:lnTo>
                    <a:pt x="20089" y="86723"/>
                  </a:lnTo>
                  <a:lnTo>
                    <a:pt x="31876" y="42163"/>
                  </a:lnTo>
                  <a:lnTo>
                    <a:pt x="58291" y="13946"/>
                  </a:lnTo>
                  <a:lnTo>
                    <a:pt x="70484" y="8636"/>
                  </a:lnTo>
                  <a:lnTo>
                    <a:pt x="674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188450" y="12573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940800" y="1333627"/>
            <a:ext cx="118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𝑔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318752" y="1333627"/>
            <a:ext cx="109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𝑓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623300" y="1306194"/>
            <a:ext cx="1113790" cy="353060"/>
            <a:chOff x="8623300" y="1306194"/>
            <a:chExt cx="1113790" cy="353060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63100" y="1408302"/>
              <a:ext cx="173863" cy="762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3300" y="1306194"/>
              <a:ext cx="223774" cy="7823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30538" y="1536191"/>
              <a:ext cx="216534" cy="12280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46"/>
              <p:cNvSpPr txBox="1"/>
              <p:nvPr/>
            </p:nvSpPr>
            <p:spPr>
              <a:xfrm>
                <a:off x="9741789" y="1302511"/>
                <a:ext cx="107314" cy="1974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sz="12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46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1789" y="1302511"/>
                <a:ext cx="107314" cy="197490"/>
              </a:xfrm>
              <a:prstGeom prst="rect">
                <a:avLst/>
              </a:prstGeom>
              <a:blipFill>
                <a:blip r:embed="rId5"/>
                <a:stretch>
                  <a:fillRect l="-38889" t="-15625" r="-83333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bject 47"/>
          <p:cNvSpPr txBox="1"/>
          <p:nvPr/>
        </p:nvSpPr>
        <p:spPr>
          <a:xfrm>
            <a:off x="8424418" y="1143127"/>
            <a:ext cx="217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𝑥</a:t>
            </a:r>
            <a:r>
              <a:rPr sz="1275" spc="-37" baseline="-16339" dirty="0">
                <a:latin typeface="Cambria Math"/>
                <a:cs typeface="Cambria Math"/>
              </a:rPr>
              <a:t>1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22893" y="1524127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𝑥</a:t>
            </a:r>
            <a:r>
              <a:rPr sz="1275" spc="-37" baseline="-16339" dirty="0">
                <a:latin typeface="Cambria Math"/>
                <a:cs typeface="Cambria Math"/>
              </a:rPr>
              <a:t>2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452482" y="3519678"/>
            <a:ext cx="217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𝑥</a:t>
            </a:r>
            <a:r>
              <a:rPr sz="1275" spc="-37" baseline="-16339" dirty="0">
                <a:latin typeface="Cambria Math"/>
                <a:cs typeface="Cambria Math"/>
              </a:rPr>
              <a:t>1</a:t>
            </a:r>
            <a:endParaRPr sz="1275" baseline="-16339">
              <a:latin typeface="Cambria Math"/>
              <a:cs typeface="Cambria Math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9624948" y="3475990"/>
            <a:ext cx="1349375" cy="432434"/>
            <a:chOff x="9624948" y="3475990"/>
            <a:chExt cx="1349375" cy="432434"/>
          </a:xfrm>
        </p:grpSpPr>
        <p:sp>
          <p:nvSpPr>
            <p:cNvPr id="51" name="object 51"/>
            <p:cNvSpPr/>
            <p:nvPr/>
          </p:nvSpPr>
          <p:spPr>
            <a:xfrm>
              <a:off x="9851897" y="3482340"/>
              <a:ext cx="952500" cy="381000"/>
            </a:xfrm>
            <a:custGeom>
              <a:avLst/>
              <a:gdLst/>
              <a:ahLst/>
              <a:cxnLst/>
              <a:rect l="l" t="t" r="r" b="b"/>
              <a:pathLst>
                <a:path w="952500" h="381000">
                  <a:moveTo>
                    <a:pt x="0" y="190500"/>
                  </a:moveTo>
                  <a:lnTo>
                    <a:pt x="17012" y="139876"/>
                  </a:lnTo>
                  <a:lnTo>
                    <a:pt x="65019" y="94375"/>
                  </a:lnTo>
                  <a:lnTo>
                    <a:pt x="99226" y="74114"/>
                  </a:lnTo>
                  <a:lnTo>
                    <a:pt x="139477" y="55816"/>
                  </a:lnTo>
                  <a:lnTo>
                    <a:pt x="185206" y="39709"/>
                  </a:lnTo>
                  <a:lnTo>
                    <a:pt x="235843" y="26020"/>
                  </a:lnTo>
                  <a:lnTo>
                    <a:pt x="290822" y="14978"/>
                  </a:lnTo>
                  <a:lnTo>
                    <a:pt x="349573" y="6808"/>
                  </a:lnTo>
                  <a:lnTo>
                    <a:pt x="411529" y="1740"/>
                  </a:lnTo>
                  <a:lnTo>
                    <a:pt x="476123" y="0"/>
                  </a:lnTo>
                  <a:lnTo>
                    <a:pt x="540745" y="1740"/>
                  </a:lnTo>
                  <a:lnTo>
                    <a:pt x="602726" y="6808"/>
                  </a:lnTo>
                  <a:lnTo>
                    <a:pt x="661497" y="14978"/>
                  </a:lnTo>
                  <a:lnTo>
                    <a:pt x="716491" y="26020"/>
                  </a:lnTo>
                  <a:lnTo>
                    <a:pt x="767141" y="39709"/>
                  </a:lnTo>
                  <a:lnTo>
                    <a:pt x="812879" y="55816"/>
                  </a:lnTo>
                  <a:lnTo>
                    <a:pt x="853137" y="74114"/>
                  </a:lnTo>
                  <a:lnTo>
                    <a:pt x="887348" y="94375"/>
                  </a:lnTo>
                  <a:lnTo>
                    <a:pt x="935360" y="139876"/>
                  </a:lnTo>
                  <a:lnTo>
                    <a:pt x="952373" y="190500"/>
                  </a:lnTo>
                  <a:lnTo>
                    <a:pt x="948025" y="216365"/>
                  </a:lnTo>
                  <a:lnTo>
                    <a:pt x="914945" y="264681"/>
                  </a:lnTo>
                  <a:lnTo>
                    <a:pt x="853137" y="306939"/>
                  </a:lnTo>
                  <a:lnTo>
                    <a:pt x="812879" y="325231"/>
                  </a:lnTo>
                  <a:lnTo>
                    <a:pt x="767141" y="341329"/>
                  </a:lnTo>
                  <a:lnTo>
                    <a:pt x="716491" y="355007"/>
                  </a:lnTo>
                  <a:lnTo>
                    <a:pt x="661497" y="366039"/>
                  </a:lnTo>
                  <a:lnTo>
                    <a:pt x="602726" y="374200"/>
                  </a:lnTo>
                  <a:lnTo>
                    <a:pt x="540745" y="379262"/>
                  </a:lnTo>
                  <a:lnTo>
                    <a:pt x="476123" y="381000"/>
                  </a:lnTo>
                  <a:lnTo>
                    <a:pt x="411529" y="379262"/>
                  </a:lnTo>
                  <a:lnTo>
                    <a:pt x="349573" y="374200"/>
                  </a:lnTo>
                  <a:lnTo>
                    <a:pt x="290822" y="366039"/>
                  </a:lnTo>
                  <a:lnTo>
                    <a:pt x="235843" y="355007"/>
                  </a:lnTo>
                  <a:lnTo>
                    <a:pt x="185206" y="341329"/>
                  </a:lnTo>
                  <a:lnTo>
                    <a:pt x="139477" y="325231"/>
                  </a:lnTo>
                  <a:lnTo>
                    <a:pt x="99226" y="306939"/>
                  </a:lnTo>
                  <a:lnTo>
                    <a:pt x="65019" y="286681"/>
                  </a:lnTo>
                  <a:lnTo>
                    <a:pt x="17012" y="241167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233024" y="3580130"/>
              <a:ext cx="281940" cy="212090"/>
            </a:xfrm>
            <a:custGeom>
              <a:avLst/>
              <a:gdLst/>
              <a:ahLst/>
              <a:cxnLst/>
              <a:rect l="l" t="t" r="r" b="b"/>
              <a:pathLst>
                <a:path w="281940" h="212089">
                  <a:moveTo>
                    <a:pt x="214249" y="0"/>
                  </a:moveTo>
                  <a:lnTo>
                    <a:pt x="211200" y="8636"/>
                  </a:lnTo>
                  <a:lnTo>
                    <a:pt x="223468" y="13946"/>
                  </a:lnTo>
                  <a:lnTo>
                    <a:pt x="233997" y="21304"/>
                  </a:lnTo>
                  <a:lnTo>
                    <a:pt x="255363" y="55449"/>
                  </a:lnTo>
                  <a:lnTo>
                    <a:pt x="262381" y="104902"/>
                  </a:lnTo>
                  <a:lnTo>
                    <a:pt x="261596" y="123571"/>
                  </a:lnTo>
                  <a:lnTo>
                    <a:pt x="249808" y="169291"/>
                  </a:lnTo>
                  <a:lnTo>
                    <a:pt x="223627" y="197866"/>
                  </a:lnTo>
                  <a:lnTo>
                    <a:pt x="211581" y="203200"/>
                  </a:lnTo>
                  <a:lnTo>
                    <a:pt x="214249" y="211836"/>
                  </a:lnTo>
                  <a:lnTo>
                    <a:pt x="254646" y="187725"/>
                  </a:lnTo>
                  <a:lnTo>
                    <a:pt x="277368" y="143398"/>
                  </a:lnTo>
                  <a:lnTo>
                    <a:pt x="281685" y="106045"/>
                  </a:lnTo>
                  <a:lnTo>
                    <a:pt x="280610" y="86592"/>
                  </a:lnTo>
                  <a:lnTo>
                    <a:pt x="264286" y="37211"/>
                  </a:lnTo>
                  <a:lnTo>
                    <a:pt x="229586" y="5599"/>
                  </a:lnTo>
                  <a:lnTo>
                    <a:pt x="214249" y="0"/>
                  </a:lnTo>
                  <a:close/>
                </a:path>
                <a:path w="281940" h="212089">
                  <a:moveTo>
                    <a:pt x="67436" y="0"/>
                  </a:moveTo>
                  <a:lnTo>
                    <a:pt x="27092" y="24181"/>
                  </a:lnTo>
                  <a:lnTo>
                    <a:pt x="4365" y="68627"/>
                  </a:lnTo>
                  <a:lnTo>
                    <a:pt x="0" y="106045"/>
                  </a:lnTo>
                  <a:lnTo>
                    <a:pt x="1075" y="125477"/>
                  </a:lnTo>
                  <a:lnTo>
                    <a:pt x="17399" y="174752"/>
                  </a:lnTo>
                  <a:lnTo>
                    <a:pt x="52081" y="206291"/>
                  </a:lnTo>
                  <a:lnTo>
                    <a:pt x="67436" y="211836"/>
                  </a:lnTo>
                  <a:lnTo>
                    <a:pt x="70230" y="203200"/>
                  </a:lnTo>
                  <a:lnTo>
                    <a:pt x="58130" y="197866"/>
                  </a:lnTo>
                  <a:lnTo>
                    <a:pt x="47720" y="190436"/>
                  </a:lnTo>
                  <a:lnTo>
                    <a:pt x="26376" y="155765"/>
                  </a:lnTo>
                  <a:lnTo>
                    <a:pt x="19303" y="104902"/>
                  </a:lnTo>
                  <a:lnTo>
                    <a:pt x="20089" y="86830"/>
                  </a:lnTo>
                  <a:lnTo>
                    <a:pt x="31876" y="42164"/>
                  </a:lnTo>
                  <a:lnTo>
                    <a:pt x="58291" y="13946"/>
                  </a:lnTo>
                  <a:lnTo>
                    <a:pt x="70484" y="8636"/>
                  </a:lnTo>
                  <a:lnTo>
                    <a:pt x="674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328020" y="348234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04143" y="3633470"/>
              <a:ext cx="170052" cy="76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24948" y="3630676"/>
              <a:ext cx="224790" cy="762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25100" y="3731260"/>
              <a:ext cx="136017" cy="176656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9875011" y="3568445"/>
            <a:ext cx="1096645" cy="53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00"/>
              </a:spcBef>
              <a:tabLst>
                <a:tab pos="506095" algn="l"/>
              </a:tabLst>
            </a:pPr>
            <a:r>
              <a:rPr sz="1800" spc="-75" baseline="2314" dirty="0">
                <a:latin typeface="Cambria Math"/>
                <a:cs typeface="Cambria Math"/>
              </a:rPr>
              <a:t>𝑔</a:t>
            </a:r>
            <a:r>
              <a:rPr sz="1800" baseline="2314" dirty="0">
                <a:latin typeface="Cambria Math"/>
                <a:cs typeface="Cambria Math"/>
              </a:rPr>
              <a:t>	</a:t>
            </a:r>
            <a:r>
              <a:rPr sz="1200" dirty="0">
                <a:latin typeface="Cambria Math"/>
                <a:cs typeface="Cambria Math"/>
              </a:rPr>
              <a:t>𝑓</a:t>
            </a:r>
            <a:r>
              <a:rPr sz="1200" spc="95" dirty="0">
                <a:latin typeface="Cambria Math"/>
                <a:cs typeface="Cambria Math"/>
              </a:rPr>
              <a:t> </a:t>
            </a:r>
            <a:r>
              <a:rPr sz="1200" spc="-25" dirty="0">
                <a:latin typeface="Cambria Math"/>
                <a:cs typeface="Cambria Math"/>
              </a:rPr>
              <a:t>≥</a:t>
            </a:r>
            <a:r>
              <a:rPr sz="1200" spc="-25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200" spc="-10" dirty="0">
                <a:latin typeface="Calibri"/>
                <a:cs typeface="Calibri"/>
              </a:rPr>
              <a:t>Entrada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inibitória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bject 58"/>
              <p:cNvSpPr txBox="1"/>
              <p:nvPr/>
            </p:nvSpPr>
            <p:spPr>
              <a:xfrm>
                <a:off x="10986896" y="3519678"/>
                <a:ext cx="107314" cy="1974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sz="12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58" name="object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896" y="3519678"/>
                <a:ext cx="107314" cy="197490"/>
              </a:xfrm>
              <a:prstGeom prst="rect">
                <a:avLst/>
              </a:prstGeom>
              <a:blipFill>
                <a:blip r:embed="rId9"/>
                <a:stretch>
                  <a:fillRect l="-38889" t="-12121" r="-83333" b="-212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" name="Imagem 59">
            <a:extLst>
              <a:ext uri="{FF2B5EF4-FFF2-40B4-BE49-F238E27FC236}">
                <a16:creationId xmlns:a16="http://schemas.microsoft.com/office/drawing/2014/main" id="{BC8D145A-F247-3EBA-1D5C-1F051A290F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7072" y="2245258"/>
            <a:ext cx="6325098" cy="229571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D85F348F-861B-A899-96D7-0F52DC3034CA}"/>
                  </a:ext>
                </a:extLst>
              </p:cNvPr>
              <p:cNvSpPr txBox="1"/>
              <p:nvPr/>
            </p:nvSpPr>
            <p:spPr>
              <a:xfrm>
                <a:off x="7177304" y="5151818"/>
                <a:ext cx="3535327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D85F348F-861B-A899-96D7-0F52DC303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304" y="5151818"/>
                <a:ext cx="3535327" cy="617861"/>
              </a:xfrm>
              <a:prstGeom prst="rect">
                <a:avLst/>
              </a:prstGeom>
              <a:blipFill>
                <a:blip r:embed="rId11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BF59CFEA-7A88-7E4D-C61D-1D1E3E76E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05914"/>
            <a:ext cx="4346377" cy="184806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E0685559-520B-89D4-8884-730A272EB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828800"/>
            <a:ext cx="6178668" cy="278631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object 28"/>
          <p:cNvGrpSpPr/>
          <p:nvPr/>
        </p:nvGrpSpPr>
        <p:grpSpPr>
          <a:xfrm>
            <a:off x="511822" y="5156834"/>
            <a:ext cx="2550795" cy="1118235"/>
            <a:chOff x="511822" y="5156834"/>
            <a:chExt cx="2550795" cy="1118235"/>
          </a:xfrm>
        </p:grpSpPr>
        <p:sp>
          <p:nvSpPr>
            <p:cNvPr id="29" name="object 29"/>
            <p:cNvSpPr/>
            <p:nvPr/>
          </p:nvSpPr>
          <p:spPr>
            <a:xfrm>
              <a:off x="511822" y="5156834"/>
              <a:ext cx="2520315" cy="1118235"/>
            </a:xfrm>
            <a:custGeom>
              <a:avLst/>
              <a:gdLst/>
              <a:ahLst/>
              <a:cxnLst/>
              <a:rect l="l" t="t" r="r" b="b"/>
              <a:pathLst>
                <a:path w="2520315" h="1118235">
                  <a:moveTo>
                    <a:pt x="2520048" y="1079944"/>
                  </a:moveTo>
                  <a:lnTo>
                    <a:pt x="2507348" y="1073594"/>
                  </a:lnTo>
                  <a:lnTo>
                    <a:pt x="2443848" y="1041844"/>
                  </a:lnTo>
                  <a:lnTo>
                    <a:pt x="2443848" y="1073594"/>
                  </a:lnTo>
                  <a:lnTo>
                    <a:pt x="532815" y="1073594"/>
                  </a:lnTo>
                  <a:lnTo>
                    <a:pt x="532815" y="76212"/>
                  </a:lnTo>
                  <a:lnTo>
                    <a:pt x="564565" y="76212"/>
                  </a:lnTo>
                  <a:lnTo>
                    <a:pt x="558215" y="63512"/>
                  </a:lnTo>
                  <a:lnTo>
                    <a:pt x="526465" y="0"/>
                  </a:lnTo>
                  <a:lnTo>
                    <a:pt x="488365" y="76212"/>
                  </a:lnTo>
                  <a:lnTo>
                    <a:pt x="520115" y="76212"/>
                  </a:lnTo>
                  <a:lnTo>
                    <a:pt x="520115" y="1073594"/>
                  </a:lnTo>
                  <a:lnTo>
                    <a:pt x="0" y="1073594"/>
                  </a:lnTo>
                  <a:lnTo>
                    <a:pt x="0" y="1086294"/>
                  </a:lnTo>
                  <a:lnTo>
                    <a:pt x="2443848" y="1086294"/>
                  </a:lnTo>
                  <a:lnTo>
                    <a:pt x="2443848" y="1118044"/>
                  </a:lnTo>
                  <a:lnTo>
                    <a:pt x="2507348" y="1086294"/>
                  </a:lnTo>
                  <a:lnTo>
                    <a:pt x="2520048" y="1079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39825" y="5761723"/>
              <a:ext cx="2016125" cy="0"/>
            </a:xfrm>
            <a:custGeom>
              <a:avLst/>
              <a:gdLst/>
              <a:ahLst/>
              <a:cxnLst/>
              <a:rect l="l" t="t" r="r" b="b"/>
              <a:pathLst>
                <a:path w="2016125">
                  <a:moveTo>
                    <a:pt x="0" y="0"/>
                  </a:moveTo>
                  <a:lnTo>
                    <a:pt x="201604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76375" y="6253378"/>
            <a:ext cx="124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312926" y="5065648"/>
            <a:ext cx="629920" cy="276225"/>
          </a:xfrm>
          <a:custGeom>
            <a:avLst/>
            <a:gdLst/>
            <a:ahLst/>
            <a:cxnLst/>
            <a:rect l="l" t="t" r="r" b="b"/>
            <a:pathLst>
              <a:path w="629919" h="276225">
                <a:moveTo>
                  <a:pt x="75311" y="9144"/>
                </a:moveTo>
                <a:lnTo>
                  <a:pt x="72517" y="0"/>
                </a:lnTo>
                <a:lnTo>
                  <a:pt x="56083" y="6413"/>
                </a:lnTo>
                <a:lnTo>
                  <a:pt x="41656" y="16471"/>
                </a:lnTo>
                <a:lnTo>
                  <a:pt x="18796" y="47498"/>
                </a:lnTo>
                <a:lnTo>
                  <a:pt x="4673" y="89306"/>
                </a:lnTo>
                <a:lnTo>
                  <a:pt x="0" y="138176"/>
                </a:lnTo>
                <a:lnTo>
                  <a:pt x="1168" y="163372"/>
                </a:lnTo>
                <a:lnTo>
                  <a:pt x="10553" y="208711"/>
                </a:lnTo>
                <a:lnTo>
                  <a:pt x="29222" y="246062"/>
                </a:lnTo>
                <a:lnTo>
                  <a:pt x="72517" y="276225"/>
                </a:lnTo>
                <a:lnTo>
                  <a:pt x="75311" y="267081"/>
                </a:lnTo>
                <a:lnTo>
                  <a:pt x="62611" y="260464"/>
                </a:lnTo>
                <a:lnTo>
                  <a:pt x="51574" y="250875"/>
                </a:lnTo>
                <a:lnTo>
                  <a:pt x="28321" y="204685"/>
                </a:lnTo>
                <a:lnTo>
                  <a:pt x="21323" y="162394"/>
                </a:lnTo>
                <a:lnTo>
                  <a:pt x="20447" y="138061"/>
                </a:lnTo>
                <a:lnTo>
                  <a:pt x="21323" y="113944"/>
                </a:lnTo>
                <a:lnTo>
                  <a:pt x="28321" y="71564"/>
                </a:lnTo>
                <a:lnTo>
                  <a:pt x="51574" y="25361"/>
                </a:lnTo>
                <a:lnTo>
                  <a:pt x="62611" y="15773"/>
                </a:lnTo>
                <a:lnTo>
                  <a:pt x="75311" y="9144"/>
                </a:lnTo>
                <a:close/>
              </a:path>
              <a:path w="629919" h="276225">
                <a:moveTo>
                  <a:pt x="315849" y="41529"/>
                </a:moveTo>
                <a:lnTo>
                  <a:pt x="312788" y="33020"/>
                </a:lnTo>
                <a:lnTo>
                  <a:pt x="297459" y="38557"/>
                </a:lnTo>
                <a:lnTo>
                  <a:pt x="284010" y="46570"/>
                </a:lnTo>
                <a:lnTo>
                  <a:pt x="255168" y="85064"/>
                </a:lnTo>
                <a:lnTo>
                  <a:pt x="245364" y="138938"/>
                </a:lnTo>
                <a:lnTo>
                  <a:pt x="246430" y="158381"/>
                </a:lnTo>
                <a:lnTo>
                  <a:pt x="262763" y="207645"/>
                </a:lnTo>
                <a:lnTo>
                  <a:pt x="297434" y="239204"/>
                </a:lnTo>
                <a:lnTo>
                  <a:pt x="312788" y="244729"/>
                </a:lnTo>
                <a:lnTo>
                  <a:pt x="315582" y="236093"/>
                </a:lnTo>
                <a:lnTo>
                  <a:pt x="303491" y="230759"/>
                </a:lnTo>
                <a:lnTo>
                  <a:pt x="293077" y="223329"/>
                </a:lnTo>
                <a:lnTo>
                  <a:pt x="271729" y="188658"/>
                </a:lnTo>
                <a:lnTo>
                  <a:pt x="264668" y="137795"/>
                </a:lnTo>
                <a:lnTo>
                  <a:pt x="265442" y="119735"/>
                </a:lnTo>
                <a:lnTo>
                  <a:pt x="277241" y="75057"/>
                </a:lnTo>
                <a:lnTo>
                  <a:pt x="303644" y="46850"/>
                </a:lnTo>
                <a:lnTo>
                  <a:pt x="315849" y="41529"/>
                </a:lnTo>
                <a:close/>
              </a:path>
              <a:path w="629919" h="276225">
                <a:moveTo>
                  <a:pt x="527050" y="138938"/>
                </a:moveTo>
                <a:lnTo>
                  <a:pt x="517296" y="85064"/>
                </a:lnTo>
                <a:lnTo>
                  <a:pt x="488391" y="46570"/>
                </a:lnTo>
                <a:lnTo>
                  <a:pt x="459613" y="33020"/>
                </a:lnTo>
                <a:lnTo>
                  <a:pt x="456565" y="41529"/>
                </a:lnTo>
                <a:lnTo>
                  <a:pt x="468820" y="46850"/>
                </a:lnTo>
                <a:lnTo>
                  <a:pt x="479361" y="54203"/>
                </a:lnTo>
                <a:lnTo>
                  <a:pt x="500773" y="88353"/>
                </a:lnTo>
                <a:lnTo>
                  <a:pt x="507746" y="137795"/>
                </a:lnTo>
                <a:lnTo>
                  <a:pt x="506958" y="156464"/>
                </a:lnTo>
                <a:lnTo>
                  <a:pt x="495173" y="202184"/>
                </a:lnTo>
                <a:lnTo>
                  <a:pt x="468985" y="230759"/>
                </a:lnTo>
                <a:lnTo>
                  <a:pt x="456946" y="236093"/>
                </a:lnTo>
                <a:lnTo>
                  <a:pt x="459613" y="244729"/>
                </a:lnTo>
                <a:lnTo>
                  <a:pt x="499999" y="220675"/>
                </a:lnTo>
                <a:lnTo>
                  <a:pt x="522732" y="176301"/>
                </a:lnTo>
                <a:lnTo>
                  <a:pt x="525970" y="158381"/>
                </a:lnTo>
                <a:lnTo>
                  <a:pt x="527050" y="138938"/>
                </a:lnTo>
                <a:close/>
              </a:path>
              <a:path w="629919" h="276225">
                <a:moveTo>
                  <a:pt x="629412" y="138061"/>
                </a:moveTo>
                <a:lnTo>
                  <a:pt x="624662" y="89306"/>
                </a:lnTo>
                <a:lnTo>
                  <a:pt x="610489" y="47498"/>
                </a:lnTo>
                <a:lnTo>
                  <a:pt x="587641" y="16471"/>
                </a:lnTo>
                <a:lnTo>
                  <a:pt x="556895" y="0"/>
                </a:lnTo>
                <a:lnTo>
                  <a:pt x="554101" y="9144"/>
                </a:lnTo>
                <a:lnTo>
                  <a:pt x="566737" y="15773"/>
                </a:lnTo>
                <a:lnTo>
                  <a:pt x="577786" y="25361"/>
                </a:lnTo>
                <a:lnTo>
                  <a:pt x="601065" y="71564"/>
                </a:lnTo>
                <a:lnTo>
                  <a:pt x="607974" y="113944"/>
                </a:lnTo>
                <a:lnTo>
                  <a:pt x="608838" y="138176"/>
                </a:lnTo>
                <a:lnTo>
                  <a:pt x="607974" y="162394"/>
                </a:lnTo>
                <a:lnTo>
                  <a:pt x="601065" y="204685"/>
                </a:lnTo>
                <a:lnTo>
                  <a:pt x="577786" y="250875"/>
                </a:lnTo>
                <a:lnTo>
                  <a:pt x="554101" y="267081"/>
                </a:lnTo>
                <a:lnTo>
                  <a:pt x="556895" y="276225"/>
                </a:lnTo>
                <a:lnTo>
                  <a:pt x="600049" y="246062"/>
                </a:lnTo>
                <a:lnTo>
                  <a:pt x="618744" y="208711"/>
                </a:lnTo>
                <a:lnTo>
                  <a:pt x="628218" y="163372"/>
                </a:lnTo>
                <a:lnTo>
                  <a:pt x="629412" y="1380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232150" y="6135141"/>
            <a:ext cx="281940" cy="212090"/>
          </a:xfrm>
          <a:custGeom>
            <a:avLst/>
            <a:gdLst/>
            <a:ahLst/>
            <a:cxnLst/>
            <a:rect l="l" t="t" r="r" b="b"/>
            <a:pathLst>
              <a:path w="281939" h="212089">
                <a:moveTo>
                  <a:pt x="214249" y="0"/>
                </a:moveTo>
                <a:lnTo>
                  <a:pt x="211200" y="8585"/>
                </a:lnTo>
                <a:lnTo>
                  <a:pt x="223486" y="13904"/>
                </a:lnTo>
                <a:lnTo>
                  <a:pt x="234045" y="21269"/>
                </a:lnTo>
                <a:lnTo>
                  <a:pt x="255436" y="55401"/>
                </a:lnTo>
                <a:lnTo>
                  <a:pt x="262509" y="104800"/>
                </a:lnTo>
                <a:lnTo>
                  <a:pt x="261723" y="123478"/>
                </a:lnTo>
                <a:lnTo>
                  <a:pt x="249936" y="169214"/>
                </a:lnTo>
                <a:lnTo>
                  <a:pt x="223629" y="197800"/>
                </a:lnTo>
                <a:lnTo>
                  <a:pt x="211582" y="203149"/>
                </a:lnTo>
                <a:lnTo>
                  <a:pt x="214249" y="211734"/>
                </a:lnTo>
                <a:lnTo>
                  <a:pt x="254718" y="187702"/>
                </a:lnTo>
                <a:lnTo>
                  <a:pt x="277447" y="143329"/>
                </a:lnTo>
                <a:lnTo>
                  <a:pt x="281813" y="105918"/>
                </a:lnTo>
                <a:lnTo>
                  <a:pt x="280717" y="86508"/>
                </a:lnTo>
                <a:lnTo>
                  <a:pt x="264287" y="37109"/>
                </a:lnTo>
                <a:lnTo>
                  <a:pt x="229604" y="5541"/>
                </a:lnTo>
                <a:lnTo>
                  <a:pt x="214249" y="0"/>
                </a:lnTo>
                <a:close/>
              </a:path>
              <a:path w="281939" h="212089">
                <a:moveTo>
                  <a:pt x="67563" y="0"/>
                </a:moveTo>
                <a:lnTo>
                  <a:pt x="27166" y="24095"/>
                </a:lnTo>
                <a:lnTo>
                  <a:pt x="4381" y="68570"/>
                </a:lnTo>
                <a:lnTo>
                  <a:pt x="0" y="105918"/>
                </a:lnTo>
                <a:lnTo>
                  <a:pt x="1093" y="125372"/>
                </a:lnTo>
                <a:lnTo>
                  <a:pt x="17399" y="174739"/>
                </a:lnTo>
                <a:lnTo>
                  <a:pt x="52153" y="206200"/>
                </a:lnTo>
                <a:lnTo>
                  <a:pt x="67563" y="211734"/>
                </a:lnTo>
                <a:lnTo>
                  <a:pt x="70230" y="203149"/>
                </a:lnTo>
                <a:lnTo>
                  <a:pt x="58183" y="197800"/>
                </a:lnTo>
                <a:lnTo>
                  <a:pt x="47767" y="190363"/>
                </a:lnTo>
                <a:lnTo>
                  <a:pt x="26376" y="155687"/>
                </a:lnTo>
                <a:lnTo>
                  <a:pt x="19303" y="104800"/>
                </a:lnTo>
                <a:lnTo>
                  <a:pt x="20089" y="86738"/>
                </a:lnTo>
                <a:lnTo>
                  <a:pt x="31876" y="42125"/>
                </a:lnTo>
                <a:lnTo>
                  <a:pt x="58344" y="13904"/>
                </a:lnTo>
                <a:lnTo>
                  <a:pt x="70612" y="858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055111" y="6065621"/>
            <a:ext cx="396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𝑔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𝒙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2075" y="5028946"/>
            <a:ext cx="915669" cy="842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𝑓</a:t>
            </a:r>
            <a:r>
              <a:rPr sz="1800" spc="459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𝑔</a:t>
            </a:r>
            <a:r>
              <a:rPr sz="1800" spc="37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𝒙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C11DCF3B-41A9-ACFF-3F0D-CC79337AF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05" y="1709497"/>
            <a:ext cx="7163396" cy="288614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3089" y="3110483"/>
            <a:ext cx="2844165" cy="2376170"/>
            <a:chOff x="2363089" y="3110483"/>
            <a:chExt cx="2844165" cy="2376170"/>
          </a:xfrm>
        </p:grpSpPr>
        <p:sp>
          <p:nvSpPr>
            <p:cNvPr id="3" name="object 3"/>
            <p:cNvSpPr/>
            <p:nvPr/>
          </p:nvSpPr>
          <p:spPr>
            <a:xfrm>
              <a:off x="2363089" y="3110483"/>
              <a:ext cx="2844165" cy="2376170"/>
            </a:xfrm>
            <a:custGeom>
              <a:avLst/>
              <a:gdLst/>
              <a:ahLst/>
              <a:cxnLst/>
              <a:rect l="l" t="t" r="r" b="b"/>
              <a:pathLst>
                <a:path w="2844165" h="2376170">
                  <a:moveTo>
                    <a:pt x="2843911" y="1662938"/>
                  </a:moveTo>
                  <a:lnTo>
                    <a:pt x="2837561" y="1659763"/>
                  </a:lnTo>
                  <a:lnTo>
                    <a:pt x="2767711" y="1624838"/>
                  </a:lnTo>
                  <a:lnTo>
                    <a:pt x="2767711" y="1659763"/>
                  </a:lnTo>
                  <a:lnTo>
                    <a:pt x="739775" y="1659763"/>
                  </a:lnTo>
                  <a:lnTo>
                    <a:pt x="739775" y="76200"/>
                  </a:lnTo>
                  <a:lnTo>
                    <a:pt x="774700" y="76200"/>
                  </a:lnTo>
                  <a:lnTo>
                    <a:pt x="768350" y="63500"/>
                  </a:lnTo>
                  <a:lnTo>
                    <a:pt x="736600" y="0"/>
                  </a:lnTo>
                  <a:lnTo>
                    <a:pt x="698500" y="76200"/>
                  </a:lnTo>
                  <a:lnTo>
                    <a:pt x="733425" y="76200"/>
                  </a:lnTo>
                  <a:lnTo>
                    <a:pt x="733425" y="1659763"/>
                  </a:lnTo>
                  <a:lnTo>
                    <a:pt x="0" y="1659763"/>
                  </a:lnTo>
                  <a:lnTo>
                    <a:pt x="0" y="1666113"/>
                  </a:lnTo>
                  <a:lnTo>
                    <a:pt x="733425" y="1666113"/>
                  </a:lnTo>
                  <a:lnTo>
                    <a:pt x="733425" y="2375916"/>
                  </a:lnTo>
                  <a:lnTo>
                    <a:pt x="739775" y="2375916"/>
                  </a:lnTo>
                  <a:lnTo>
                    <a:pt x="739775" y="1666113"/>
                  </a:lnTo>
                  <a:lnTo>
                    <a:pt x="2767711" y="1666113"/>
                  </a:lnTo>
                  <a:lnTo>
                    <a:pt x="2767711" y="1701038"/>
                  </a:lnTo>
                  <a:lnTo>
                    <a:pt x="2837561" y="1666113"/>
                  </a:lnTo>
                  <a:lnTo>
                    <a:pt x="2843911" y="1662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2846" y="4903977"/>
              <a:ext cx="453008" cy="45288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109" y="4331969"/>
              <a:ext cx="148209" cy="14808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9423" y="4072381"/>
              <a:ext cx="148208" cy="1482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16656" y="4288408"/>
              <a:ext cx="148208" cy="1482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09696" y="4504436"/>
              <a:ext cx="148208" cy="1482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5464" y="3797680"/>
              <a:ext cx="156718" cy="15671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68090" y="3535171"/>
              <a:ext cx="156718" cy="15671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2108" y="3747007"/>
              <a:ext cx="156717" cy="1567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2453" y="4068825"/>
              <a:ext cx="156718" cy="1567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68064" y="3496563"/>
              <a:ext cx="156590" cy="1567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85361" y="3787393"/>
              <a:ext cx="156717" cy="1567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15917" y="3599941"/>
              <a:ext cx="156718" cy="15671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44619" y="4026280"/>
              <a:ext cx="156717" cy="15671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715514" y="3502913"/>
              <a:ext cx="2021839" cy="1735455"/>
            </a:xfrm>
            <a:custGeom>
              <a:avLst/>
              <a:gdLst/>
              <a:ahLst/>
              <a:cxnLst/>
              <a:rect l="l" t="t" r="r" b="b"/>
              <a:pathLst>
                <a:path w="2021839" h="1735454">
                  <a:moveTo>
                    <a:pt x="0" y="0"/>
                  </a:moveTo>
                  <a:lnTo>
                    <a:pt x="2021586" y="1735455"/>
                  </a:lnTo>
                </a:path>
              </a:pathLst>
            </a:custGeom>
            <a:ln w="634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78175" y="2953003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61230" y="4391025"/>
            <a:ext cx="2128520" cy="115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35609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</a:pPr>
            <a:r>
              <a:rPr sz="2700" baseline="10802" dirty="0">
                <a:latin typeface="Cambria Math"/>
                <a:cs typeface="Cambria Math"/>
              </a:rPr>
              <a:t>𝑤</a:t>
            </a:r>
            <a:r>
              <a:rPr sz="1300" dirty="0">
                <a:latin typeface="Cambria Math"/>
                <a:cs typeface="Cambria Math"/>
              </a:rPr>
              <a:t>1𝑗</a:t>
            </a:r>
            <a:r>
              <a:rPr sz="2700" baseline="10802" dirty="0">
                <a:latin typeface="Cambria Math"/>
                <a:cs typeface="Cambria Math"/>
              </a:rPr>
              <a:t>𝑥</a:t>
            </a:r>
            <a:r>
              <a:rPr sz="1300" dirty="0">
                <a:latin typeface="Cambria Math"/>
                <a:cs typeface="Cambria Math"/>
              </a:rPr>
              <a:t>1</a:t>
            </a:r>
            <a:r>
              <a:rPr sz="1300" spc="220" dirty="0">
                <a:latin typeface="Cambria Math"/>
                <a:cs typeface="Cambria Math"/>
              </a:rPr>
              <a:t> </a:t>
            </a:r>
            <a:r>
              <a:rPr sz="2700" baseline="10802" dirty="0">
                <a:latin typeface="Cambria Math"/>
                <a:cs typeface="Cambria Math"/>
              </a:rPr>
              <a:t>+</a:t>
            </a:r>
            <a:r>
              <a:rPr sz="2700" spc="82" baseline="10802" dirty="0">
                <a:latin typeface="Cambria Math"/>
                <a:cs typeface="Cambria Math"/>
              </a:rPr>
              <a:t> 𝑤</a:t>
            </a:r>
            <a:r>
              <a:rPr sz="1300" spc="55" dirty="0">
                <a:latin typeface="Cambria Math"/>
                <a:cs typeface="Cambria Math"/>
              </a:rPr>
              <a:t>2𝑗</a:t>
            </a:r>
            <a:r>
              <a:rPr sz="2700" spc="82" baseline="10802" dirty="0">
                <a:latin typeface="Cambria Math"/>
                <a:cs typeface="Cambria Math"/>
              </a:rPr>
              <a:t>𝑥</a:t>
            </a:r>
            <a:r>
              <a:rPr sz="1300" spc="55" dirty="0">
                <a:latin typeface="Cambria Math"/>
                <a:cs typeface="Cambria Math"/>
              </a:rPr>
              <a:t>2</a:t>
            </a:r>
            <a:r>
              <a:rPr sz="1300" spc="220" dirty="0">
                <a:latin typeface="Cambria Math"/>
                <a:cs typeface="Cambria Math"/>
              </a:rPr>
              <a:t> </a:t>
            </a:r>
            <a:r>
              <a:rPr sz="2700" baseline="10802" dirty="0">
                <a:latin typeface="Cambria Math"/>
                <a:cs typeface="Cambria Math"/>
              </a:rPr>
              <a:t>+</a:t>
            </a:r>
            <a:r>
              <a:rPr sz="2700" spc="60" baseline="10802" dirty="0">
                <a:latin typeface="Cambria Math"/>
                <a:cs typeface="Cambria Math"/>
              </a:rPr>
              <a:t> </a:t>
            </a:r>
            <a:r>
              <a:rPr sz="2700" spc="-37" baseline="10802" dirty="0">
                <a:latin typeface="Cambria Math"/>
                <a:cs typeface="Cambria Math"/>
              </a:rPr>
              <a:t>𝑤</a:t>
            </a:r>
            <a:r>
              <a:rPr sz="1300" spc="-25" dirty="0">
                <a:latin typeface="Cambria Math"/>
                <a:cs typeface="Cambria Math"/>
              </a:rPr>
              <a:t>0𝑗</a:t>
            </a:r>
            <a:endParaRPr sz="1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75688" y="2697988"/>
            <a:ext cx="300990" cy="300990"/>
            <a:chOff x="2075688" y="2697988"/>
            <a:chExt cx="300990" cy="300990"/>
          </a:xfrm>
        </p:grpSpPr>
        <p:sp>
          <p:nvSpPr>
            <p:cNvPr id="3" name="object 3"/>
            <p:cNvSpPr/>
            <p:nvPr/>
          </p:nvSpPr>
          <p:spPr>
            <a:xfrm>
              <a:off x="2082038" y="270433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8" y="0"/>
                  </a:moveTo>
                  <a:lnTo>
                    <a:pt x="98462" y="7345"/>
                  </a:lnTo>
                  <a:lnTo>
                    <a:pt x="58923" y="27797"/>
                  </a:lnTo>
                  <a:lnTo>
                    <a:pt x="27761" y="58978"/>
                  </a:lnTo>
                  <a:lnTo>
                    <a:pt x="7333" y="98511"/>
                  </a:lnTo>
                  <a:lnTo>
                    <a:pt x="0" y="144017"/>
                  </a:lnTo>
                  <a:lnTo>
                    <a:pt x="7333" y="189524"/>
                  </a:lnTo>
                  <a:lnTo>
                    <a:pt x="27761" y="229057"/>
                  </a:lnTo>
                  <a:lnTo>
                    <a:pt x="58923" y="260238"/>
                  </a:lnTo>
                  <a:lnTo>
                    <a:pt x="98462" y="280690"/>
                  </a:lnTo>
                  <a:lnTo>
                    <a:pt x="144018" y="288036"/>
                  </a:lnTo>
                  <a:lnTo>
                    <a:pt x="189524" y="280690"/>
                  </a:lnTo>
                  <a:lnTo>
                    <a:pt x="229057" y="260238"/>
                  </a:lnTo>
                  <a:lnTo>
                    <a:pt x="260238" y="229057"/>
                  </a:lnTo>
                  <a:lnTo>
                    <a:pt x="280690" y="189524"/>
                  </a:lnTo>
                  <a:lnTo>
                    <a:pt x="288036" y="144017"/>
                  </a:lnTo>
                  <a:lnTo>
                    <a:pt x="280690" y="98511"/>
                  </a:lnTo>
                  <a:lnTo>
                    <a:pt x="260238" y="58978"/>
                  </a:lnTo>
                  <a:lnTo>
                    <a:pt x="229057" y="27797"/>
                  </a:lnTo>
                  <a:lnTo>
                    <a:pt x="189524" y="7345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82038" y="270433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7"/>
                  </a:moveTo>
                  <a:lnTo>
                    <a:pt x="7333" y="98511"/>
                  </a:lnTo>
                  <a:lnTo>
                    <a:pt x="27761" y="58978"/>
                  </a:lnTo>
                  <a:lnTo>
                    <a:pt x="58923" y="27797"/>
                  </a:lnTo>
                  <a:lnTo>
                    <a:pt x="98462" y="7345"/>
                  </a:lnTo>
                  <a:lnTo>
                    <a:pt x="144018" y="0"/>
                  </a:lnTo>
                  <a:lnTo>
                    <a:pt x="189524" y="7345"/>
                  </a:lnTo>
                  <a:lnTo>
                    <a:pt x="229057" y="27797"/>
                  </a:lnTo>
                  <a:lnTo>
                    <a:pt x="260238" y="58978"/>
                  </a:lnTo>
                  <a:lnTo>
                    <a:pt x="280690" y="98511"/>
                  </a:lnTo>
                  <a:lnTo>
                    <a:pt x="288036" y="144017"/>
                  </a:lnTo>
                  <a:lnTo>
                    <a:pt x="280690" y="189524"/>
                  </a:lnTo>
                  <a:lnTo>
                    <a:pt x="260238" y="229057"/>
                  </a:lnTo>
                  <a:lnTo>
                    <a:pt x="229057" y="260238"/>
                  </a:lnTo>
                  <a:lnTo>
                    <a:pt x="189524" y="280690"/>
                  </a:lnTo>
                  <a:lnTo>
                    <a:pt x="144018" y="288036"/>
                  </a:lnTo>
                  <a:lnTo>
                    <a:pt x="98462" y="280690"/>
                  </a:lnTo>
                  <a:lnTo>
                    <a:pt x="58923" y="260238"/>
                  </a:lnTo>
                  <a:lnTo>
                    <a:pt x="27761" y="229057"/>
                  </a:lnTo>
                  <a:lnTo>
                    <a:pt x="7333" y="189524"/>
                  </a:lnTo>
                  <a:lnTo>
                    <a:pt x="0" y="144017"/>
                  </a:lnTo>
                  <a:close/>
                </a:path>
              </a:pathLst>
            </a:custGeom>
            <a:ln w="127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255009" y="1834007"/>
            <a:ext cx="300990" cy="300990"/>
            <a:chOff x="3255009" y="1834007"/>
            <a:chExt cx="300990" cy="300990"/>
          </a:xfrm>
        </p:grpSpPr>
        <p:sp>
          <p:nvSpPr>
            <p:cNvPr id="6" name="object 6"/>
            <p:cNvSpPr/>
            <p:nvPr/>
          </p:nvSpPr>
          <p:spPr>
            <a:xfrm>
              <a:off x="3261359" y="184035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7" y="0"/>
                  </a:moveTo>
                  <a:lnTo>
                    <a:pt x="98511" y="7333"/>
                  </a:lnTo>
                  <a:lnTo>
                    <a:pt x="58978" y="27761"/>
                  </a:lnTo>
                  <a:lnTo>
                    <a:pt x="27797" y="58923"/>
                  </a:lnTo>
                  <a:lnTo>
                    <a:pt x="7345" y="98462"/>
                  </a:lnTo>
                  <a:lnTo>
                    <a:pt x="0" y="144017"/>
                  </a:lnTo>
                  <a:lnTo>
                    <a:pt x="7345" y="189511"/>
                  </a:lnTo>
                  <a:lnTo>
                    <a:pt x="27797" y="229012"/>
                  </a:lnTo>
                  <a:lnTo>
                    <a:pt x="58978" y="260155"/>
                  </a:lnTo>
                  <a:lnTo>
                    <a:pt x="98511" y="280576"/>
                  </a:lnTo>
                  <a:lnTo>
                    <a:pt x="144017" y="287908"/>
                  </a:lnTo>
                  <a:lnTo>
                    <a:pt x="189524" y="280576"/>
                  </a:lnTo>
                  <a:lnTo>
                    <a:pt x="229057" y="260155"/>
                  </a:lnTo>
                  <a:lnTo>
                    <a:pt x="260238" y="229012"/>
                  </a:lnTo>
                  <a:lnTo>
                    <a:pt x="280690" y="189511"/>
                  </a:lnTo>
                  <a:lnTo>
                    <a:pt x="288036" y="144017"/>
                  </a:lnTo>
                  <a:lnTo>
                    <a:pt x="280690" y="98462"/>
                  </a:lnTo>
                  <a:lnTo>
                    <a:pt x="260238" y="58923"/>
                  </a:lnTo>
                  <a:lnTo>
                    <a:pt x="229057" y="27761"/>
                  </a:lnTo>
                  <a:lnTo>
                    <a:pt x="189524" y="7333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61359" y="184035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7"/>
                  </a:moveTo>
                  <a:lnTo>
                    <a:pt x="7345" y="98462"/>
                  </a:lnTo>
                  <a:lnTo>
                    <a:pt x="27797" y="58923"/>
                  </a:lnTo>
                  <a:lnTo>
                    <a:pt x="58978" y="27761"/>
                  </a:lnTo>
                  <a:lnTo>
                    <a:pt x="98511" y="7333"/>
                  </a:lnTo>
                  <a:lnTo>
                    <a:pt x="144017" y="0"/>
                  </a:lnTo>
                  <a:lnTo>
                    <a:pt x="189524" y="7333"/>
                  </a:lnTo>
                  <a:lnTo>
                    <a:pt x="229057" y="27761"/>
                  </a:lnTo>
                  <a:lnTo>
                    <a:pt x="260238" y="58923"/>
                  </a:lnTo>
                  <a:lnTo>
                    <a:pt x="280690" y="98462"/>
                  </a:lnTo>
                  <a:lnTo>
                    <a:pt x="288036" y="144017"/>
                  </a:lnTo>
                  <a:lnTo>
                    <a:pt x="280690" y="189511"/>
                  </a:lnTo>
                  <a:lnTo>
                    <a:pt x="260238" y="229012"/>
                  </a:lnTo>
                  <a:lnTo>
                    <a:pt x="229057" y="260155"/>
                  </a:lnTo>
                  <a:lnTo>
                    <a:pt x="189524" y="280576"/>
                  </a:lnTo>
                  <a:lnTo>
                    <a:pt x="144017" y="287908"/>
                  </a:lnTo>
                  <a:lnTo>
                    <a:pt x="98511" y="280576"/>
                  </a:lnTo>
                  <a:lnTo>
                    <a:pt x="58978" y="260155"/>
                  </a:lnTo>
                  <a:lnTo>
                    <a:pt x="27797" y="229012"/>
                  </a:lnTo>
                  <a:lnTo>
                    <a:pt x="7345" y="189511"/>
                  </a:lnTo>
                  <a:lnTo>
                    <a:pt x="0" y="144017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255009" y="2409951"/>
            <a:ext cx="300990" cy="300990"/>
            <a:chOff x="3255009" y="2409951"/>
            <a:chExt cx="300990" cy="300990"/>
          </a:xfrm>
        </p:grpSpPr>
        <p:sp>
          <p:nvSpPr>
            <p:cNvPr id="9" name="object 9"/>
            <p:cNvSpPr/>
            <p:nvPr/>
          </p:nvSpPr>
          <p:spPr>
            <a:xfrm>
              <a:off x="3261359" y="241630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7" y="0"/>
                  </a:move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8"/>
                  </a:lnTo>
                  <a:lnTo>
                    <a:pt x="7345" y="189524"/>
                  </a:lnTo>
                  <a:lnTo>
                    <a:pt x="27797" y="229057"/>
                  </a:lnTo>
                  <a:lnTo>
                    <a:pt x="58978" y="260238"/>
                  </a:lnTo>
                  <a:lnTo>
                    <a:pt x="98511" y="280690"/>
                  </a:lnTo>
                  <a:lnTo>
                    <a:pt x="144017" y="288036"/>
                  </a:lnTo>
                  <a:lnTo>
                    <a:pt x="189524" y="280690"/>
                  </a:lnTo>
                  <a:lnTo>
                    <a:pt x="229057" y="260238"/>
                  </a:lnTo>
                  <a:lnTo>
                    <a:pt x="260238" y="229057"/>
                  </a:lnTo>
                  <a:lnTo>
                    <a:pt x="280690" y="189524"/>
                  </a:lnTo>
                  <a:lnTo>
                    <a:pt x="288036" y="144018"/>
                  </a:lnTo>
                  <a:lnTo>
                    <a:pt x="280690" y="98511"/>
                  </a:lnTo>
                  <a:lnTo>
                    <a:pt x="260238" y="58978"/>
                  </a:lnTo>
                  <a:lnTo>
                    <a:pt x="229057" y="27797"/>
                  </a:lnTo>
                  <a:lnTo>
                    <a:pt x="189524" y="7345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61359" y="241630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8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7" y="0"/>
                  </a:lnTo>
                  <a:lnTo>
                    <a:pt x="189524" y="7345"/>
                  </a:lnTo>
                  <a:lnTo>
                    <a:pt x="229057" y="27797"/>
                  </a:lnTo>
                  <a:lnTo>
                    <a:pt x="260238" y="58978"/>
                  </a:lnTo>
                  <a:lnTo>
                    <a:pt x="280690" y="98511"/>
                  </a:lnTo>
                  <a:lnTo>
                    <a:pt x="288036" y="144018"/>
                  </a:lnTo>
                  <a:lnTo>
                    <a:pt x="280690" y="189524"/>
                  </a:lnTo>
                  <a:lnTo>
                    <a:pt x="260238" y="229057"/>
                  </a:lnTo>
                  <a:lnTo>
                    <a:pt x="229057" y="260238"/>
                  </a:lnTo>
                  <a:lnTo>
                    <a:pt x="189524" y="280690"/>
                  </a:lnTo>
                  <a:lnTo>
                    <a:pt x="144017" y="288036"/>
                  </a:lnTo>
                  <a:lnTo>
                    <a:pt x="98511" y="280690"/>
                  </a:lnTo>
                  <a:lnTo>
                    <a:pt x="58978" y="260238"/>
                  </a:lnTo>
                  <a:lnTo>
                    <a:pt x="27797" y="229057"/>
                  </a:lnTo>
                  <a:lnTo>
                    <a:pt x="7345" y="189524"/>
                  </a:lnTo>
                  <a:lnTo>
                    <a:pt x="0" y="144018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255009" y="2986023"/>
            <a:ext cx="300990" cy="300990"/>
            <a:chOff x="3255009" y="2986023"/>
            <a:chExt cx="300990" cy="300990"/>
          </a:xfrm>
        </p:grpSpPr>
        <p:sp>
          <p:nvSpPr>
            <p:cNvPr id="12" name="object 12"/>
            <p:cNvSpPr/>
            <p:nvPr/>
          </p:nvSpPr>
          <p:spPr>
            <a:xfrm>
              <a:off x="3261359" y="299237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7" y="0"/>
                  </a:moveTo>
                  <a:lnTo>
                    <a:pt x="98511" y="7332"/>
                  </a:lnTo>
                  <a:lnTo>
                    <a:pt x="58978" y="27753"/>
                  </a:lnTo>
                  <a:lnTo>
                    <a:pt x="27797" y="58896"/>
                  </a:lnTo>
                  <a:lnTo>
                    <a:pt x="7345" y="98397"/>
                  </a:lnTo>
                  <a:lnTo>
                    <a:pt x="0" y="143890"/>
                  </a:lnTo>
                  <a:lnTo>
                    <a:pt x="7345" y="189446"/>
                  </a:lnTo>
                  <a:lnTo>
                    <a:pt x="27797" y="228985"/>
                  </a:lnTo>
                  <a:lnTo>
                    <a:pt x="58978" y="260147"/>
                  </a:lnTo>
                  <a:lnTo>
                    <a:pt x="98511" y="280575"/>
                  </a:lnTo>
                  <a:lnTo>
                    <a:pt x="144017" y="287909"/>
                  </a:lnTo>
                  <a:lnTo>
                    <a:pt x="189524" y="280575"/>
                  </a:lnTo>
                  <a:lnTo>
                    <a:pt x="229057" y="260147"/>
                  </a:lnTo>
                  <a:lnTo>
                    <a:pt x="260238" y="228985"/>
                  </a:lnTo>
                  <a:lnTo>
                    <a:pt x="280690" y="189446"/>
                  </a:lnTo>
                  <a:lnTo>
                    <a:pt x="288036" y="143890"/>
                  </a:lnTo>
                  <a:lnTo>
                    <a:pt x="280690" y="98397"/>
                  </a:lnTo>
                  <a:lnTo>
                    <a:pt x="260238" y="58896"/>
                  </a:lnTo>
                  <a:lnTo>
                    <a:pt x="229057" y="27753"/>
                  </a:lnTo>
                  <a:lnTo>
                    <a:pt x="189524" y="7332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61359" y="299237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3890"/>
                  </a:moveTo>
                  <a:lnTo>
                    <a:pt x="7345" y="98397"/>
                  </a:lnTo>
                  <a:lnTo>
                    <a:pt x="27797" y="58896"/>
                  </a:lnTo>
                  <a:lnTo>
                    <a:pt x="58978" y="27753"/>
                  </a:lnTo>
                  <a:lnTo>
                    <a:pt x="98511" y="7332"/>
                  </a:lnTo>
                  <a:lnTo>
                    <a:pt x="144017" y="0"/>
                  </a:lnTo>
                  <a:lnTo>
                    <a:pt x="189524" y="7332"/>
                  </a:lnTo>
                  <a:lnTo>
                    <a:pt x="229057" y="27753"/>
                  </a:lnTo>
                  <a:lnTo>
                    <a:pt x="260238" y="58896"/>
                  </a:lnTo>
                  <a:lnTo>
                    <a:pt x="280690" y="98397"/>
                  </a:lnTo>
                  <a:lnTo>
                    <a:pt x="288036" y="143890"/>
                  </a:lnTo>
                  <a:lnTo>
                    <a:pt x="280690" y="189446"/>
                  </a:lnTo>
                  <a:lnTo>
                    <a:pt x="260238" y="228985"/>
                  </a:lnTo>
                  <a:lnTo>
                    <a:pt x="229057" y="260147"/>
                  </a:lnTo>
                  <a:lnTo>
                    <a:pt x="189524" y="280575"/>
                  </a:lnTo>
                  <a:lnTo>
                    <a:pt x="144017" y="287909"/>
                  </a:lnTo>
                  <a:lnTo>
                    <a:pt x="98511" y="280575"/>
                  </a:lnTo>
                  <a:lnTo>
                    <a:pt x="58978" y="260147"/>
                  </a:lnTo>
                  <a:lnTo>
                    <a:pt x="27797" y="228985"/>
                  </a:lnTo>
                  <a:lnTo>
                    <a:pt x="7345" y="189446"/>
                  </a:lnTo>
                  <a:lnTo>
                    <a:pt x="0" y="143890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255009" y="3561969"/>
            <a:ext cx="300990" cy="300990"/>
            <a:chOff x="3255009" y="3561969"/>
            <a:chExt cx="300990" cy="300990"/>
          </a:xfrm>
        </p:grpSpPr>
        <p:sp>
          <p:nvSpPr>
            <p:cNvPr id="15" name="object 15"/>
            <p:cNvSpPr/>
            <p:nvPr/>
          </p:nvSpPr>
          <p:spPr>
            <a:xfrm>
              <a:off x="3261359" y="356831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7" y="0"/>
                  </a:moveTo>
                  <a:lnTo>
                    <a:pt x="98511" y="7345"/>
                  </a:lnTo>
                  <a:lnTo>
                    <a:pt x="58978" y="27797"/>
                  </a:lnTo>
                  <a:lnTo>
                    <a:pt x="27797" y="58978"/>
                  </a:lnTo>
                  <a:lnTo>
                    <a:pt x="7345" y="98511"/>
                  </a:lnTo>
                  <a:lnTo>
                    <a:pt x="0" y="144017"/>
                  </a:lnTo>
                  <a:lnTo>
                    <a:pt x="7345" y="189524"/>
                  </a:lnTo>
                  <a:lnTo>
                    <a:pt x="27797" y="229057"/>
                  </a:lnTo>
                  <a:lnTo>
                    <a:pt x="58978" y="260238"/>
                  </a:lnTo>
                  <a:lnTo>
                    <a:pt x="98511" y="280690"/>
                  </a:lnTo>
                  <a:lnTo>
                    <a:pt x="144017" y="288035"/>
                  </a:lnTo>
                  <a:lnTo>
                    <a:pt x="189524" y="280690"/>
                  </a:lnTo>
                  <a:lnTo>
                    <a:pt x="229057" y="260238"/>
                  </a:lnTo>
                  <a:lnTo>
                    <a:pt x="260238" y="229057"/>
                  </a:lnTo>
                  <a:lnTo>
                    <a:pt x="280690" y="189524"/>
                  </a:lnTo>
                  <a:lnTo>
                    <a:pt x="288036" y="144017"/>
                  </a:lnTo>
                  <a:lnTo>
                    <a:pt x="280690" y="98511"/>
                  </a:lnTo>
                  <a:lnTo>
                    <a:pt x="260238" y="58978"/>
                  </a:lnTo>
                  <a:lnTo>
                    <a:pt x="229057" y="27797"/>
                  </a:lnTo>
                  <a:lnTo>
                    <a:pt x="189524" y="7345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61359" y="356831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7"/>
                  </a:moveTo>
                  <a:lnTo>
                    <a:pt x="7345" y="98511"/>
                  </a:lnTo>
                  <a:lnTo>
                    <a:pt x="27797" y="58978"/>
                  </a:lnTo>
                  <a:lnTo>
                    <a:pt x="58978" y="27797"/>
                  </a:lnTo>
                  <a:lnTo>
                    <a:pt x="98511" y="7345"/>
                  </a:lnTo>
                  <a:lnTo>
                    <a:pt x="144017" y="0"/>
                  </a:lnTo>
                  <a:lnTo>
                    <a:pt x="189524" y="7345"/>
                  </a:lnTo>
                  <a:lnTo>
                    <a:pt x="229057" y="27797"/>
                  </a:lnTo>
                  <a:lnTo>
                    <a:pt x="260238" y="58978"/>
                  </a:lnTo>
                  <a:lnTo>
                    <a:pt x="280690" y="98511"/>
                  </a:lnTo>
                  <a:lnTo>
                    <a:pt x="288036" y="144017"/>
                  </a:lnTo>
                  <a:lnTo>
                    <a:pt x="280690" y="189524"/>
                  </a:lnTo>
                  <a:lnTo>
                    <a:pt x="260238" y="229057"/>
                  </a:lnTo>
                  <a:lnTo>
                    <a:pt x="229057" y="260238"/>
                  </a:lnTo>
                  <a:lnTo>
                    <a:pt x="189524" y="280690"/>
                  </a:lnTo>
                  <a:lnTo>
                    <a:pt x="144017" y="288035"/>
                  </a:lnTo>
                  <a:lnTo>
                    <a:pt x="98511" y="280690"/>
                  </a:lnTo>
                  <a:lnTo>
                    <a:pt x="58978" y="260238"/>
                  </a:lnTo>
                  <a:lnTo>
                    <a:pt x="27797" y="229057"/>
                  </a:lnTo>
                  <a:lnTo>
                    <a:pt x="7345" y="189524"/>
                  </a:lnTo>
                  <a:lnTo>
                    <a:pt x="0" y="144017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256026" y="4137914"/>
            <a:ext cx="300990" cy="300990"/>
            <a:chOff x="3256026" y="4137914"/>
            <a:chExt cx="300990" cy="300990"/>
          </a:xfrm>
        </p:grpSpPr>
        <p:sp>
          <p:nvSpPr>
            <p:cNvPr id="18" name="object 18"/>
            <p:cNvSpPr/>
            <p:nvPr/>
          </p:nvSpPr>
          <p:spPr>
            <a:xfrm>
              <a:off x="3262376" y="414426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8" y="0"/>
                  </a:moveTo>
                  <a:lnTo>
                    <a:pt x="98462" y="7345"/>
                  </a:lnTo>
                  <a:lnTo>
                    <a:pt x="58923" y="27797"/>
                  </a:lnTo>
                  <a:lnTo>
                    <a:pt x="27761" y="58978"/>
                  </a:lnTo>
                  <a:lnTo>
                    <a:pt x="7333" y="98511"/>
                  </a:lnTo>
                  <a:lnTo>
                    <a:pt x="0" y="144018"/>
                  </a:lnTo>
                  <a:lnTo>
                    <a:pt x="7333" y="189573"/>
                  </a:lnTo>
                  <a:lnTo>
                    <a:pt x="27761" y="229112"/>
                  </a:lnTo>
                  <a:lnTo>
                    <a:pt x="58923" y="260274"/>
                  </a:lnTo>
                  <a:lnTo>
                    <a:pt x="98462" y="280702"/>
                  </a:lnTo>
                  <a:lnTo>
                    <a:pt x="144018" y="288036"/>
                  </a:lnTo>
                  <a:lnTo>
                    <a:pt x="189511" y="280702"/>
                  </a:lnTo>
                  <a:lnTo>
                    <a:pt x="229012" y="260274"/>
                  </a:lnTo>
                  <a:lnTo>
                    <a:pt x="260155" y="229112"/>
                  </a:lnTo>
                  <a:lnTo>
                    <a:pt x="280576" y="189573"/>
                  </a:lnTo>
                  <a:lnTo>
                    <a:pt x="287909" y="144018"/>
                  </a:lnTo>
                  <a:lnTo>
                    <a:pt x="280576" y="98511"/>
                  </a:lnTo>
                  <a:lnTo>
                    <a:pt x="260155" y="58978"/>
                  </a:lnTo>
                  <a:lnTo>
                    <a:pt x="229012" y="27797"/>
                  </a:lnTo>
                  <a:lnTo>
                    <a:pt x="189511" y="7345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62376" y="414426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8"/>
                  </a:moveTo>
                  <a:lnTo>
                    <a:pt x="7333" y="98511"/>
                  </a:lnTo>
                  <a:lnTo>
                    <a:pt x="27761" y="58978"/>
                  </a:lnTo>
                  <a:lnTo>
                    <a:pt x="58923" y="27797"/>
                  </a:lnTo>
                  <a:lnTo>
                    <a:pt x="98462" y="7345"/>
                  </a:lnTo>
                  <a:lnTo>
                    <a:pt x="144018" y="0"/>
                  </a:lnTo>
                  <a:lnTo>
                    <a:pt x="189511" y="7345"/>
                  </a:lnTo>
                  <a:lnTo>
                    <a:pt x="229012" y="27797"/>
                  </a:lnTo>
                  <a:lnTo>
                    <a:pt x="260155" y="58978"/>
                  </a:lnTo>
                  <a:lnTo>
                    <a:pt x="280576" y="98511"/>
                  </a:lnTo>
                  <a:lnTo>
                    <a:pt x="287909" y="144018"/>
                  </a:lnTo>
                  <a:lnTo>
                    <a:pt x="280576" y="189573"/>
                  </a:lnTo>
                  <a:lnTo>
                    <a:pt x="260155" y="229112"/>
                  </a:lnTo>
                  <a:lnTo>
                    <a:pt x="229012" y="260274"/>
                  </a:lnTo>
                  <a:lnTo>
                    <a:pt x="189511" y="280702"/>
                  </a:lnTo>
                  <a:lnTo>
                    <a:pt x="144018" y="288036"/>
                  </a:lnTo>
                  <a:lnTo>
                    <a:pt x="98462" y="280702"/>
                  </a:lnTo>
                  <a:lnTo>
                    <a:pt x="58923" y="260274"/>
                  </a:lnTo>
                  <a:lnTo>
                    <a:pt x="27761" y="229112"/>
                  </a:lnTo>
                  <a:lnTo>
                    <a:pt x="7333" y="189573"/>
                  </a:lnTo>
                  <a:lnTo>
                    <a:pt x="0" y="144018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075688" y="3273933"/>
            <a:ext cx="300990" cy="300990"/>
            <a:chOff x="2075688" y="3273933"/>
            <a:chExt cx="300990" cy="300990"/>
          </a:xfrm>
        </p:grpSpPr>
        <p:sp>
          <p:nvSpPr>
            <p:cNvPr id="21" name="object 21"/>
            <p:cNvSpPr/>
            <p:nvPr/>
          </p:nvSpPr>
          <p:spPr>
            <a:xfrm>
              <a:off x="2082038" y="328028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8" y="0"/>
                  </a:moveTo>
                  <a:lnTo>
                    <a:pt x="98462" y="7345"/>
                  </a:lnTo>
                  <a:lnTo>
                    <a:pt x="58923" y="27797"/>
                  </a:lnTo>
                  <a:lnTo>
                    <a:pt x="27761" y="58978"/>
                  </a:lnTo>
                  <a:lnTo>
                    <a:pt x="7333" y="98511"/>
                  </a:lnTo>
                  <a:lnTo>
                    <a:pt x="0" y="144017"/>
                  </a:lnTo>
                  <a:lnTo>
                    <a:pt x="7333" y="189524"/>
                  </a:lnTo>
                  <a:lnTo>
                    <a:pt x="27761" y="229057"/>
                  </a:lnTo>
                  <a:lnTo>
                    <a:pt x="58923" y="260238"/>
                  </a:lnTo>
                  <a:lnTo>
                    <a:pt x="98462" y="280690"/>
                  </a:lnTo>
                  <a:lnTo>
                    <a:pt x="144018" y="288036"/>
                  </a:lnTo>
                  <a:lnTo>
                    <a:pt x="189524" y="280690"/>
                  </a:lnTo>
                  <a:lnTo>
                    <a:pt x="229057" y="260238"/>
                  </a:lnTo>
                  <a:lnTo>
                    <a:pt x="260238" y="229057"/>
                  </a:lnTo>
                  <a:lnTo>
                    <a:pt x="280690" y="189524"/>
                  </a:lnTo>
                  <a:lnTo>
                    <a:pt x="288036" y="144017"/>
                  </a:lnTo>
                  <a:lnTo>
                    <a:pt x="280690" y="98511"/>
                  </a:lnTo>
                  <a:lnTo>
                    <a:pt x="260238" y="58978"/>
                  </a:lnTo>
                  <a:lnTo>
                    <a:pt x="229057" y="27797"/>
                  </a:lnTo>
                  <a:lnTo>
                    <a:pt x="189524" y="7345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82038" y="328028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4017"/>
                  </a:moveTo>
                  <a:lnTo>
                    <a:pt x="7333" y="98511"/>
                  </a:lnTo>
                  <a:lnTo>
                    <a:pt x="27761" y="58978"/>
                  </a:lnTo>
                  <a:lnTo>
                    <a:pt x="58923" y="27797"/>
                  </a:lnTo>
                  <a:lnTo>
                    <a:pt x="98462" y="7345"/>
                  </a:lnTo>
                  <a:lnTo>
                    <a:pt x="144018" y="0"/>
                  </a:lnTo>
                  <a:lnTo>
                    <a:pt x="189524" y="7345"/>
                  </a:lnTo>
                  <a:lnTo>
                    <a:pt x="229057" y="27797"/>
                  </a:lnTo>
                  <a:lnTo>
                    <a:pt x="260238" y="58978"/>
                  </a:lnTo>
                  <a:lnTo>
                    <a:pt x="280690" y="98511"/>
                  </a:lnTo>
                  <a:lnTo>
                    <a:pt x="288036" y="144017"/>
                  </a:lnTo>
                  <a:lnTo>
                    <a:pt x="280690" y="189524"/>
                  </a:lnTo>
                  <a:lnTo>
                    <a:pt x="260238" y="229057"/>
                  </a:lnTo>
                  <a:lnTo>
                    <a:pt x="229057" y="260238"/>
                  </a:lnTo>
                  <a:lnTo>
                    <a:pt x="189524" y="280690"/>
                  </a:lnTo>
                  <a:lnTo>
                    <a:pt x="144018" y="288036"/>
                  </a:lnTo>
                  <a:lnTo>
                    <a:pt x="98462" y="280690"/>
                  </a:lnTo>
                  <a:lnTo>
                    <a:pt x="58923" y="260238"/>
                  </a:lnTo>
                  <a:lnTo>
                    <a:pt x="27761" y="229057"/>
                  </a:lnTo>
                  <a:lnTo>
                    <a:pt x="7333" y="189524"/>
                  </a:lnTo>
                  <a:lnTo>
                    <a:pt x="0" y="144017"/>
                  </a:lnTo>
                  <a:close/>
                </a:path>
              </a:pathLst>
            </a:custGeom>
            <a:ln w="127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2370073" y="1984375"/>
            <a:ext cx="892810" cy="2304415"/>
          </a:xfrm>
          <a:custGeom>
            <a:avLst/>
            <a:gdLst/>
            <a:ahLst/>
            <a:cxnLst/>
            <a:rect l="l" t="t" r="r" b="b"/>
            <a:pathLst>
              <a:path w="892810" h="2304415">
                <a:moveTo>
                  <a:pt x="0" y="863980"/>
                </a:moveTo>
                <a:lnTo>
                  <a:pt x="891286" y="0"/>
                </a:lnTo>
              </a:path>
              <a:path w="892810" h="2304415">
                <a:moveTo>
                  <a:pt x="0" y="863980"/>
                </a:moveTo>
                <a:lnTo>
                  <a:pt x="891286" y="575945"/>
                </a:lnTo>
              </a:path>
              <a:path w="892810" h="2304415">
                <a:moveTo>
                  <a:pt x="0" y="863980"/>
                </a:moveTo>
                <a:lnTo>
                  <a:pt x="891286" y="1151889"/>
                </a:lnTo>
              </a:path>
              <a:path w="892810" h="2304415">
                <a:moveTo>
                  <a:pt x="0" y="863980"/>
                </a:moveTo>
                <a:lnTo>
                  <a:pt x="891286" y="1727962"/>
                </a:lnTo>
              </a:path>
              <a:path w="892810" h="2304415">
                <a:moveTo>
                  <a:pt x="0" y="863980"/>
                </a:moveTo>
                <a:lnTo>
                  <a:pt x="892301" y="2303907"/>
                </a:lnTo>
              </a:path>
              <a:path w="892810" h="2304415">
                <a:moveTo>
                  <a:pt x="0" y="1439926"/>
                </a:moveTo>
                <a:lnTo>
                  <a:pt x="891286" y="0"/>
                </a:lnTo>
              </a:path>
              <a:path w="892810" h="2304415">
                <a:moveTo>
                  <a:pt x="0" y="1439926"/>
                </a:moveTo>
                <a:lnTo>
                  <a:pt x="891286" y="575945"/>
                </a:lnTo>
              </a:path>
              <a:path w="892810" h="2304415">
                <a:moveTo>
                  <a:pt x="0" y="1439926"/>
                </a:moveTo>
                <a:lnTo>
                  <a:pt x="891286" y="1151889"/>
                </a:lnTo>
              </a:path>
              <a:path w="892810" h="2304415">
                <a:moveTo>
                  <a:pt x="0" y="1439926"/>
                </a:moveTo>
                <a:lnTo>
                  <a:pt x="891286" y="1727962"/>
                </a:lnTo>
              </a:path>
              <a:path w="892810" h="2304415">
                <a:moveTo>
                  <a:pt x="0" y="1439926"/>
                </a:moveTo>
                <a:lnTo>
                  <a:pt x="892301" y="2303907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3546221" y="1981200"/>
            <a:ext cx="1534160" cy="2310765"/>
            <a:chOff x="3546221" y="1981200"/>
            <a:chExt cx="1534160" cy="2310765"/>
          </a:xfrm>
        </p:grpSpPr>
        <p:sp>
          <p:nvSpPr>
            <p:cNvPr id="25" name="object 25"/>
            <p:cNvSpPr/>
            <p:nvPr/>
          </p:nvSpPr>
          <p:spPr>
            <a:xfrm>
              <a:off x="4440682" y="29923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17" y="0"/>
                  </a:moveTo>
                  <a:lnTo>
                    <a:pt x="98511" y="7332"/>
                  </a:lnTo>
                  <a:lnTo>
                    <a:pt x="58978" y="27753"/>
                  </a:lnTo>
                  <a:lnTo>
                    <a:pt x="27797" y="58896"/>
                  </a:lnTo>
                  <a:lnTo>
                    <a:pt x="7345" y="98397"/>
                  </a:lnTo>
                  <a:lnTo>
                    <a:pt x="0" y="143890"/>
                  </a:lnTo>
                  <a:lnTo>
                    <a:pt x="7345" y="189446"/>
                  </a:lnTo>
                  <a:lnTo>
                    <a:pt x="27797" y="228985"/>
                  </a:lnTo>
                  <a:lnTo>
                    <a:pt x="58978" y="260147"/>
                  </a:lnTo>
                  <a:lnTo>
                    <a:pt x="98511" y="280575"/>
                  </a:lnTo>
                  <a:lnTo>
                    <a:pt x="144017" y="287909"/>
                  </a:lnTo>
                  <a:lnTo>
                    <a:pt x="189524" y="280575"/>
                  </a:lnTo>
                  <a:lnTo>
                    <a:pt x="229057" y="260147"/>
                  </a:lnTo>
                  <a:lnTo>
                    <a:pt x="260238" y="228985"/>
                  </a:lnTo>
                  <a:lnTo>
                    <a:pt x="280690" y="189446"/>
                  </a:lnTo>
                  <a:lnTo>
                    <a:pt x="288035" y="143890"/>
                  </a:lnTo>
                  <a:lnTo>
                    <a:pt x="280690" y="98397"/>
                  </a:lnTo>
                  <a:lnTo>
                    <a:pt x="260238" y="58896"/>
                  </a:lnTo>
                  <a:lnTo>
                    <a:pt x="229057" y="27753"/>
                  </a:lnTo>
                  <a:lnTo>
                    <a:pt x="189524" y="7332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40682" y="29923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143890"/>
                  </a:moveTo>
                  <a:lnTo>
                    <a:pt x="7345" y="98397"/>
                  </a:lnTo>
                  <a:lnTo>
                    <a:pt x="27797" y="58896"/>
                  </a:lnTo>
                  <a:lnTo>
                    <a:pt x="58978" y="27753"/>
                  </a:lnTo>
                  <a:lnTo>
                    <a:pt x="98511" y="7332"/>
                  </a:lnTo>
                  <a:lnTo>
                    <a:pt x="144017" y="0"/>
                  </a:lnTo>
                  <a:lnTo>
                    <a:pt x="189524" y="7332"/>
                  </a:lnTo>
                  <a:lnTo>
                    <a:pt x="229057" y="27753"/>
                  </a:lnTo>
                  <a:lnTo>
                    <a:pt x="260238" y="58896"/>
                  </a:lnTo>
                  <a:lnTo>
                    <a:pt x="280690" y="98397"/>
                  </a:lnTo>
                  <a:lnTo>
                    <a:pt x="288035" y="143890"/>
                  </a:lnTo>
                  <a:lnTo>
                    <a:pt x="280690" y="189446"/>
                  </a:lnTo>
                  <a:lnTo>
                    <a:pt x="260238" y="228985"/>
                  </a:lnTo>
                  <a:lnTo>
                    <a:pt x="229057" y="260147"/>
                  </a:lnTo>
                  <a:lnTo>
                    <a:pt x="189524" y="280575"/>
                  </a:lnTo>
                  <a:lnTo>
                    <a:pt x="144017" y="287909"/>
                  </a:lnTo>
                  <a:lnTo>
                    <a:pt x="98511" y="280575"/>
                  </a:lnTo>
                  <a:lnTo>
                    <a:pt x="58978" y="260147"/>
                  </a:lnTo>
                  <a:lnTo>
                    <a:pt x="27797" y="228985"/>
                  </a:lnTo>
                  <a:lnTo>
                    <a:pt x="7345" y="189446"/>
                  </a:lnTo>
                  <a:lnTo>
                    <a:pt x="0" y="143890"/>
                  </a:lnTo>
                  <a:close/>
                </a:path>
              </a:pathLst>
            </a:custGeom>
            <a:ln w="12699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49396" y="1984375"/>
              <a:ext cx="891540" cy="2304415"/>
            </a:xfrm>
            <a:custGeom>
              <a:avLst/>
              <a:gdLst/>
              <a:ahLst/>
              <a:cxnLst/>
              <a:rect l="l" t="t" r="r" b="b"/>
              <a:pathLst>
                <a:path w="891539" h="2304415">
                  <a:moveTo>
                    <a:pt x="0" y="0"/>
                  </a:moveTo>
                  <a:lnTo>
                    <a:pt x="891286" y="1151889"/>
                  </a:lnTo>
                </a:path>
                <a:path w="891539" h="2304415">
                  <a:moveTo>
                    <a:pt x="0" y="575945"/>
                  </a:moveTo>
                  <a:lnTo>
                    <a:pt x="891286" y="1151889"/>
                  </a:lnTo>
                </a:path>
                <a:path w="891539" h="2304415">
                  <a:moveTo>
                    <a:pt x="0" y="1151889"/>
                  </a:moveTo>
                  <a:lnTo>
                    <a:pt x="891286" y="1151889"/>
                  </a:lnTo>
                </a:path>
                <a:path w="891539" h="2304415">
                  <a:moveTo>
                    <a:pt x="0" y="1727962"/>
                  </a:moveTo>
                  <a:lnTo>
                    <a:pt x="891286" y="1151889"/>
                  </a:lnTo>
                </a:path>
                <a:path w="891539" h="2304415">
                  <a:moveTo>
                    <a:pt x="888" y="2303907"/>
                  </a:moveTo>
                  <a:lnTo>
                    <a:pt x="891286" y="1151889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28718" y="3098164"/>
              <a:ext cx="351790" cy="76200"/>
            </a:xfrm>
            <a:custGeom>
              <a:avLst/>
              <a:gdLst/>
              <a:ahLst/>
              <a:cxnLst/>
              <a:rect l="l" t="t" r="r" b="b"/>
              <a:pathLst>
                <a:path w="351789" h="76200">
                  <a:moveTo>
                    <a:pt x="275082" y="0"/>
                  </a:moveTo>
                  <a:lnTo>
                    <a:pt x="275082" y="76200"/>
                  </a:lnTo>
                  <a:lnTo>
                    <a:pt x="344932" y="41275"/>
                  </a:lnTo>
                  <a:lnTo>
                    <a:pt x="287782" y="41275"/>
                  </a:lnTo>
                  <a:lnTo>
                    <a:pt x="287782" y="34925"/>
                  </a:lnTo>
                  <a:lnTo>
                    <a:pt x="344932" y="34925"/>
                  </a:lnTo>
                  <a:lnTo>
                    <a:pt x="275082" y="0"/>
                  </a:lnTo>
                  <a:close/>
                </a:path>
                <a:path w="351789" h="76200">
                  <a:moveTo>
                    <a:pt x="275082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275082" y="41275"/>
                  </a:lnTo>
                  <a:lnTo>
                    <a:pt x="275082" y="34925"/>
                  </a:lnTo>
                  <a:close/>
                </a:path>
                <a:path w="351789" h="76200">
                  <a:moveTo>
                    <a:pt x="344932" y="34925"/>
                  </a:moveTo>
                  <a:lnTo>
                    <a:pt x="287782" y="34925"/>
                  </a:lnTo>
                  <a:lnTo>
                    <a:pt x="287782" y="41275"/>
                  </a:lnTo>
                  <a:lnTo>
                    <a:pt x="344932" y="41275"/>
                  </a:lnTo>
                  <a:lnTo>
                    <a:pt x="351282" y="38100"/>
                  </a:lnTo>
                  <a:lnTo>
                    <a:pt x="344932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129408" y="2706116"/>
            <a:ext cx="1943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Calibri"/>
                <a:cs typeface="Calibri"/>
              </a:rPr>
              <a:t>x1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77695" y="3212816"/>
            <a:ext cx="699770" cy="75184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1400" spc="-25" dirty="0">
                <a:latin typeface="Calibri"/>
                <a:cs typeface="Calibri"/>
              </a:rPr>
              <a:t>x2</a:t>
            </a:r>
            <a:endParaRPr sz="1400">
              <a:latin typeface="Calibri"/>
              <a:cs typeface="Calibri"/>
            </a:endParaRPr>
          </a:p>
          <a:p>
            <a:pPr marL="12700" marR="5080" indent="-3175" algn="ctr">
              <a:lnSpc>
                <a:spcPct val="100000"/>
              </a:lnSpc>
              <a:spcBef>
                <a:spcPts val="530"/>
              </a:spcBef>
            </a:pPr>
            <a:r>
              <a:rPr sz="1200" spc="-10" dirty="0">
                <a:latin typeface="Calibri"/>
                <a:cs typeface="Calibri"/>
              </a:rPr>
              <a:t>Camada</a:t>
            </a:r>
            <a:r>
              <a:rPr sz="1200" spc="5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 </a:t>
            </a:r>
            <a:r>
              <a:rPr sz="1200" spc="-10" dirty="0">
                <a:latin typeface="Calibri"/>
                <a:cs typeface="Calibri"/>
              </a:rPr>
              <a:t>Entrada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78607" y="4448047"/>
            <a:ext cx="652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223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Camada Escondida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08728" y="3305047"/>
            <a:ext cx="548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9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Camada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Saída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90540" y="2929509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17136" y="993521"/>
            <a:ext cx="2964815" cy="2965450"/>
            <a:chOff x="4017136" y="993521"/>
            <a:chExt cx="2964815" cy="2965450"/>
          </a:xfrm>
        </p:grpSpPr>
        <p:sp>
          <p:nvSpPr>
            <p:cNvPr id="3" name="object 3"/>
            <p:cNvSpPr/>
            <p:nvPr/>
          </p:nvSpPr>
          <p:spPr>
            <a:xfrm>
              <a:off x="4058539" y="993520"/>
              <a:ext cx="2922905" cy="2915285"/>
            </a:xfrm>
            <a:custGeom>
              <a:avLst/>
              <a:gdLst/>
              <a:ahLst/>
              <a:cxnLst/>
              <a:rect l="l" t="t" r="r" b="b"/>
              <a:pathLst>
                <a:path w="2922904" h="2915285">
                  <a:moveTo>
                    <a:pt x="2922905" y="2872359"/>
                  </a:moveTo>
                  <a:lnTo>
                    <a:pt x="2894406" y="2858135"/>
                  </a:lnTo>
                  <a:lnTo>
                    <a:pt x="2837180" y="2829560"/>
                  </a:lnTo>
                  <a:lnTo>
                    <a:pt x="2837180" y="2858135"/>
                  </a:lnTo>
                  <a:lnTo>
                    <a:pt x="57150" y="2858135"/>
                  </a:lnTo>
                  <a:lnTo>
                    <a:pt x="57150" y="85725"/>
                  </a:lnTo>
                  <a:lnTo>
                    <a:pt x="85725" y="85725"/>
                  </a:lnTo>
                  <a:lnTo>
                    <a:pt x="78549" y="71374"/>
                  </a:lnTo>
                  <a:lnTo>
                    <a:pt x="42926" y="0"/>
                  </a:lnTo>
                  <a:lnTo>
                    <a:pt x="0" y="85725"/>
                  </a:lnTo>
                  <a:lnTo>
                    <a:pt x="28575" y="85725"/>
                  </a:lnTo>
                  <a:lnTo>
                    <a:pt x="28575" y="2879979"/>
                  </a:lnTo>
                  <a:lnTo>
                    <a:pt x="42926" y="2879979"/>
                  </a:lnTo>
                  <a:lnTo>
                    <a:pt x="42926" y="2886710"/>
                  </a:lnTo>
                  <a:lnTo>
                    <a:pt x="2837180" y="2886710"/>
                  </a:lnTo>
                  <a:lnTo>
                    <a:pt x="2837180" y="2915285"/>
                  </a:lnTo>
                  <a:lnTo>
                    <a:pt x="2894241" y="2886710"/>
                  </a:lnTo>
                  <a:lnTo>
                    <a:pt x="2922905" y="28723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01464" y="1338199"/>
              <a:ext cx="2520315" cy="2520315"/>
            </a:xfrm>
            <a:custGeom>
              <a:avLst/>
              <a:gdLst/>
              <a:ahLst/>
              <a:cxnLst/>
              <a:rect l="l" t="t" r="r" b="b"/>
              <a:pathLst>
                <a:path w="2520315" h="2520315">
                  <a:moveTo>
                    <a:pt x="0" y="2520061"/>
                  </a:moveTo>
                  <a:lnTo>
                    <a:pt x="2520061" y="2520061"/>
                  </a:lnTo>
                  <a:lnTo>
                    <a:pt x="2520061" y="0"/>
                  </a:lnTo>
                  <a:lnTo>
                    <a:pt x="0" y="0"/>
                  </a:lnTo>
                  <a:lnTo>
                    <a:pt x="0" y="252006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29074" y="3782060"/>
              <a:ext cx="144780" cy="152400"/>
            </a:xfrm>
            <a:custGeom>
              <a:avLst/>
              <a:gdLst/>
              <a:ahLst/>
              <a:cxnLst/>
              <a:rect l="l" t="t" r="r" b="b"/>
              <a:pathLst>
                <a:path w="144779" h="152400">
                  <a:moveTo>
                    <a:pt x="144779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44779" y="152400"/>
                  </a:lnTo>
                  <a:lnTo>
                    <a:pt x="14477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29074" y="3782060"/>
              <a:ext cx="144780" cy="152400"/>
            </a:xfrm>
            <a:custGeom>
              <a:avLst/>
              <a:gdLst/>
              <a:ahLst/>
              <a:cxnLst/>
              <a:rect l="l" t="t" r="r" b="b"/>
              <a:pathLst>
                <a:path w="144779" h="152400">
                  <a:moveTo>
                    <a:pt x="0" y="152400"/>
                  </a:moveTo>
                  <a:lnTo>
                    <a:pt x="144779" y="152400"/>
                  </a:lnTo>
                  <a:lnTo>
                    <a:pt x="144779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9008" y="1269746"/>
              <a:ext cx="144780" cy="152400"/>
            </a:xfrm>
            <a:custGeom>
              <a:avLst/>
              <a:gdLst/>
              <a:ahLst/>
              <a:cxnLst/>
              <a:rect l="l" t="t" r="r" b="b"/>
              <a:pathLst>
                <a:path w="144779" h="152400">
                  <a:moveTo>
                    <a:pt x="144779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44779" y="152400"/>
                  </a:lnTo>
                  <a:lnTo>
                    <a:pt x="14477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49008" y="1269746"/>
              <a:ext cx="144780" cy="152400"/>
            </a:xfrm>
            <a:custGeom>
              <a:avLst/>
              <a:gdLst/>
              <a:ahLst/>
              <a:cxnLst/>
              <a:rect l="l" t="t" r="r" b="b"/>
              <a:pathLst>
                <a:path w="144779" h="152400">
                  <a:moveTo>
                    <a:pt x="0" y="152400"/>
                  </a:moveTo>
                  <a:lnTo>
                    <a:pt x="144779" y="152400"/>
                  </a:lnTo>
                  <a:lnTo>
                    <a:pt x="144779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7136" y="1249553"/>
              <a:ext cx="192659" cy="1926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5132" y="3765677"/>
              <a:ext cx="192659" cy="19278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061072" y="3691839"/>
            <a:ext cx="240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51421" y="397840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43298" y="395338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28415" y="647446"/>
            <a:ext cx="1958975" cy="83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92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XNOR</a:t>
            </a:r>
            <a:endParaRPr sz="1800">
              <a:latin typeface="Calibri"/>
              <a:cs typeface="Calibri"/>
            </a:endParaRPr>
          </a:p>
          <a:p>
            <a:pPr marL="364490">
              <a:lnSpc>
                <a:spcPts val="1920"/>
              </a:lnSpc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22344" y="4982464"/>
            <a:ext cx="157480" cy="165100"/>
            <a:chOff x="4022344" y="4982464"/>
            <a:chExt cx="157480" cy="165100"/>
          </a:xfrm>
        </p:grpSpPr>
        <p:sp>
          <p:nvSpPr>
            <p:cNvPr id="16" name="object 16"/>
            <p:cNvSpPr/>
            <p:nvPr/>
          </p:nvSpPr>
          <p:spPr>
            <a:xfrm>
              <a:off x="4028694" y="4988814"/>
              <a:ext cx="144780" cy="152400"/>
            </a:xfrm>
            <a:custGeom>
              <a:avLst/>
              <a:gdLst/>
              <a:ahLst/>
              <a:cxnLst/>
              <a:rect l="l" t="t" r="r" b="b"/>
              <a:pathLst>
                <a:path w="144779" h="152400">
                  <a:moveTo>
                    <a:pt x="144779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44779" y="152400"/>
                  </a:lnTo>
                  <a:lnTo>
                    <a:pt x="14477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28694" y="4988814"/>
              <a:ext cx="144780" cy="152400"/>
            </a:xfrm>
            <a:custGeom>
              <a:avLst/>
              <a:gdLst/>
              <a:ahLst/>
              <a:cxnLst/>
              <a:rect l="l" t="t" r="r" b="b"/>
              <a:pathLst>
                <a:path w="144779" h="152400">
                  <a:moveTo>
                    <a:pt x="0" y="152400"/>
                  </a:moveTo>
                  <a:lnTo>
                    <a:pt x="144779" y="152400"/>
                  </a:lnTo>
                  <a:lnTo>
                    <a:pt x="144779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8628" y="4544567"/>
            <a:ext cx="192659" cy="19265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356608" y="4325366"/>
            <a:ext cx="2170430" cy="87376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800" dirty="0">
                <a:latin typeface="Calibri"/>
                <a:cs typeface="Calibri"/>
              </a:rPr>
              <a:t>Classe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(nível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lógico </a:t>
            </a:r>
            <a:r>
              <a:rPr sz="1800" spc="-25" dirty="0">
                <a:latin typeface="Calibri"/>
                <a:cs typeface="Calibri"/>
              </a:rPr>
              <a:t>0)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latin typeface="Calibri"/>
                <a:cs typeface="Calibri"/>
              </a:rPr>
              <a:t>Classe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(nível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lógico </a:t>
            </a:r>
            <a:r>
              <a:rPr sz="1800" spc="-25" dirty="0">
                <a:latin typeface="Calibri"/>
                <a:cs typeface="Calibri"/>
              </a:rPr>
              <a:t>1)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3111</Words>
  <Application>Microsoft Office PowerPoint</Application>
  <PresentationFormat>Widescreen</PresentationFormat>
  <Paragraphs>389</Paragraphs>
  <Slides>46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TP555 - Inteligência Artificial e Machine Learning: Redes Neurais Artificiais (Parte I)</vt:lpstr>
      <vt:lpstr>Introdução</vt:lpstr>
      <vt:lpstr>Redes neurais artificiais</vt:lpstr>
      <vt:lpstr>Redes neurais artificiais</vt:lpstr>
      <vt:lpstr>Algumas aplicações famosas</vt:lpstr>
      <vt:lpstr>Um pouco de contexto</vt:lpstr>
      <vt:lpstr>Um pouco de contexto</vt:lpstr>
      <vt:lpstr>Um pouco de contexto</vt:lpstr>
      <vt:lpstr>Um pouco de contexto</vt:lpstr>
      <vt:lpstr>Um pouco de contexto</vt:lpstr>
      <vt:lpstr>Um pouco de contexto</vt:lpstr>
      <vt:lpstr>O modelo de McCulloch e Pitts</vt:lpstr>
      <vt:lpstr>O modelo de McCulloch e Pitts</vt:lpstr>
      <vt:lpstr>O modelo de McCulloch e Pitts</vt:lpstr>
      <vt:lpstr>Premissas do modelo de McCulloch e Pitts</vt:lpstr>
      <vt:lpstr>O modelo de McCulloch e Pitts</vt:lpstr>
      <vt:lpstr>Exemplos de portas lógicas com o modelo M-P</vt:lpstr>
      <vt:lpstr>Exemplos de portas lógicas com o modelo M-P</vt:lpstr>
      <vt:lpstr>Perceptron</vt:lpstr>
      <vt:lpstr>Perceptron</vt:lpstr>
      <vt:lpstr>Perceptron</vt:lpstr>
      <vt:lpstr>Perceptron</vt:lpstr>
      <vt:lpstr>Perceptron</vt:lpstr>
      <vt:lpstr>Perceptron</vt:lpstr>
      <vt:lpstr>Perceptron</vt:lpstr>
      <vt:lpstr>Perceptron</vt:lpstr>
      <vt:lpstr>Como os pesos são aprendidos?</vt:lpstr>
      <vt:lpstr>Regra de aprendizado do perceptron</vt:lpstr>
      <vt:lpstr>Regra de aprendizado do perceptron</vt:lpstr>
      <vt:lpstr>Perceptron</vt:lpstr>
      <vt:lpstr>Perceptron</vt:lpstr>
      <vt:lpstr>Perceptron</vt:lpstr>
      <vt:lpstr>Perceptron</vt:lpstr>
      <vt:lpstr>Exemplo: Perceptron com SciKit-Learn</vt:lpstr>
      <vt:lpstr>Perceptron e o problema da lógica XOR</vt:lpstr>
      <vt:lpstr>Avisos</vt:lpstr>
      <vt:lpstr>Obrigado!</vt:lpstr>
      <vt:lpstr>Apresentação do PowerPoint</vt:lpstr>
      <vt:lpstr>Figuras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Learning: Classificadores Lineares</dc:title>
  <dc:creator>Felipe Augusto Pereira de Figueiredo</dc:creator>
  <cp:lastModifiedBy>Luiz Augusto Melo Pereira</cp:lastModifiedBy>
  <cp:revision>1</cp:revision>
  <dcterms:created xsi:type="dcterms:W3CDTF">2025-01-25T01:02:21Z</dcterms:created>
  <dcterms:modified xsi:type="dcterms:W3CDTF">2025-01-27T19:03:42Z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2024-10-28T00:00:00Z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2025-01-25T00:00:00Z</vt:filetime>
  </property>
  <property fmtid="{D5CDD505-2E9C-101B-9397-08002B2CF9AE}" pid="5" name="Producer">
    <vt:lpwstr>Microsoft® PowerPoint® LTSC</vt:lpwstr>
  </property>
</Properties>
</file>