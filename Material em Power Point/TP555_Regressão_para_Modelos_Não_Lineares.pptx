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105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Augusto Melo Pereira" userId="4bd5ce759a66f368" providerId="LiveId" clId="{E8062ADE-A42D-4E2D-9C7E-CEB76EF190B8}"/>
    <pc:docChg chg="undo custSel modSld">
      <pc:chgData name="Luiz Augusto Melo Pereira" userId="4bd5ce759a66f368" providerId="LiveId" clId="{E8062ADE-A42D-4E2D-9C7E-CEB76EF190B8}" dt="2025-01-26T13:31:30.343" v="2111" actId="20577"/>
      <pc:docMkLst>
        <pc:docMk/>
      </pc:docMkLst>
      <pc:sldChg chg="addSp delSp modSp mod">
        <pc:chgData name="Luiz Augusto Melo Pereira" userId="4bd5ce759a66f368" providerId="LiveId" clId="{E8062ADE-A42D-4E2D-9C7E-CEB76EF190B8}" dt="2025-01-26T13:28:02.727" v="2051" actId="1037"/>
        <pc:sldMkLst>
          <pc:docMk/>
          <pc:sldMk cId="0" sldId="260"/>
        </pc:sldMkLst>
        <pc:spChg chg="add mod">
          <ac:chgData name="Luiz Augusto Melo Pereira" userId="4bd5ce759a66f368" providerId="LiveId" clId="{E8062ADE-A42D-4E2D-9C7E-CEB76EF190B8}" dt="2025-01-26T13:28:02.727" v="2051" actId="1037"/>
          <ac:spMkLst>
            <pc:docMk/>
            <pc:sldMk cId="0" sldId="260"/>
            <ac:spMk id="3" creationId="{336BAB59-9D71-E7D3-7BC7-5863D0D63EF5}"/>
          </ac:spMkLst>
        </pc:spChg>
        <pc:spChg chg="add mod">
          <ac:chgData name="Luiz Augusto Melo Pereira" userId="4bd5ce759a66f368" providerId="LiveId" clId="{E8062ADE-A42D-4E2D-9C7E-CEB76EF190B8}" dt="2025-01-25T22:14:50.587" v="113" actId="1076"/>
          <ac:spMkLst>
            <pc:docMk/>
            <pc:sldMk cId="0" sldId="260"/>
            <ac:spMk id="4" creationId="{B90C122B-F7E5-ABF9-F5AC-2D1F80061700}"/>
          </ac:spMkLst>
        </pc:spChg>
        <pc:spChg chg="add mod">
          <ac:chgData name="Luiz Augusto Melo Pereira" userId="4bd5ce759a66f368" providerId="LiveId" clId="{E8062ADE-A42D-4E2D-9C7E-CEB76EF190B8}" dt="2025-01-25T22:16:39.672" v="182" actId="1076"/>
          <ac:spMkLst>
            <pc:docMk/>
            <pc:sldMk cId="0" sldId="260"/>
            <ac:spMk id="5" creationId="{032E5CD7-CB2F-65FD-084D-F61712EE95BA}"/>
          </ac:spMkLst>
        </pc:spChg>
        <pc:spChg chg="add mod">
          <ac:chgData name="Luiz Augusto Melo Pereira" userId="4bd5ce759a66f368" providerId="LiveId" clId="{E8062ADE-A42D-4E2D-9C7E-CEB76EF190B8}" dt="2025-01-26T13:28:02.727" v="2051" actId="1037"/>
          <ac:spMkLst>
            <pc:docMk/>
            <pc:sldMk cId="0" sldId="260"/>
            <ac:spMk id="6" creationId="{C671E4B4-DEE2-F311-42B8-C7E4D226ED37}"/>
          </ac:spMkLst>
        </pc:spChg>
        <pc:spChg chg="add mod">
          <ac:chgData name="Luiz Augusto Melo Pereira" userId="4bd5ce759a66f368" providerId="LiveId" clId="{E8062ADE-A42D-4E2D-9C7E-CEB76EF190B8}" dt="2025-01-26T13:28:02.727" v="2051" actId="1037"/>
          <ac:spMkLst>
            <pc:docMk/>
            <pc:sldMk cId="0" sldId="260"/>
            <ac:spMk id="7" creationId="{A1973F11-2573-D8CA-B534-09ED2922BE65}"/>
          </ac:spMkLst>
        </pc:spChg>
        <pc:spChg chg="mod">
          <ac:chgData name="Luiz Augusto Melo Pereira" userId="4bd5ce759a66f368" providerId="LiveId" clId="{E8062ADE-A42D-4E2D-9C7E-CEB76EF190B8}" dt="2025-01-25T22:16:45.168" v="184" actId="1076"/>
          <ac:spMkLst>
            <pc:docMk/>
            <pc:sldMk cId="0" sldId="260"/>
            <ac:spMk id="8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16:18.082" v="173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16:19.751" v="174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16:14.494" v="172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16:23.519" v="176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16:22.016" v="175" actId="478"/>
          <ac:spMkLst>
            <pc:docMk/>
            <pc:sldMk cId="0" sldId="260"/>
            <ac:spMk id="13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5T22:16:12.310" v="171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27:47.891" v="1997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27:47.891" v="1997" actId="478"/>
          <ac:spMkLst>
            <pc:docMk/>
            <pc:sldMk cId="0" sldId="260"/>
            <ac:spMk id="16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27:47.891" v="1997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27:47.891" v="1997" actId="478"/>
          <ac:spMkLst>
            <pc:docMk/>
            <pc:sldMk cId="0" sldId="260"/>
            <ac:spMk id="18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6T13:27:43.713" v="1996" actId="47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27:47.891" v="1997" actId="478"/>
          <ac:spMkLst>
            <pc:docMk/>
            <pc:sldMk cId="0" sldId="260"/>
            <ac:spMk id="20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27:47.891" v="1997" actId="478"/>
          <ac:spMkLst>
            <pc:docMk/>
            <pc:sldMk cId="0" sldId="260"/>
            <ac:spMk id="21" creationId="{00000000-0000-0000-0000-000000000000}"/>
          </ac:spMkLst>
        </pc:spChg>
      </pc:sldChg>
      <pc:sldChg chg="addSp delSp modSp mod">
        <pc:chgData name="Luiz Augusto Melo Pereira" userId="4bd5ce759a66f368" providerId="LiveId" clId="{E8062ADE-A42D-4E2D-9C7E-CEB76EF190B8}" dt="2025-01-25T22:18:08.760" v="227"/>
        <pc:sldMkLst>
          <pc:docMk/>
          <pc:sldMk cId="0" sldId="261"/>
        </pc:sldMkLst>
        <pc:spChg chg="mod">
          <ac:chgData name="Luiz Augusto Melo Pereira" userId="4bd5ce759a66f368" providerId="LiveId" clId="{E8062ADE-A42D-4E2D-9C7E-CEB76EF190B8}" dt="2025-01-25T22:18:07.645" v="225" actId="1076"/>
          <ac:spMkLst>
            <pc:docMk/>
            <pc:sldMk cId="0" sldId="261"/>
            <ac:spMk id="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17:43.082" v="217" actId="478"/>
          <ac:spMkLst>
            <pc:docMk/>
            <pc:sldMk cId="0" sldId="261"/>
            <ac:spMk id="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17:53.299" v="222" actId="478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5T22:17:47.809" v="219" actId="478"/>
          <ac:spMkLst>
            <pc:docMk/>
            <pc:sldMk cId="0" sldId="261"/>
            <ac:spMk id="6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5T22:17:51.985" v="221" actId="478"/>
          <ac:spMkLst>
            <pc:docMk/>
            <pc:sldMk cId="0" sldId="261"/>
            <ac:spMk id="7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5T22:18:08.760" v="227"/>
          <ac:spMkLst>
            <pc:docMk/>
            <pc:sldMk cId="0" sldId="261"/>
            <ac:spMk id="8" creationId="{00000000-0000-0000-0000-000000000000}"/>
          </ac:spMkLst>
        </pc:spChg>
        <pc:spChg chg="add mod">
          <ac:chgData name="Luiz Augusto Melo Pereira" userId="4bd5ce759a66f368" providerId="LiveId" clId="{E8062ADE-A42D-4E2D-9C7E-CEB76EF190B8}" dt="2025-01-25T22:17:59.935" v="224" actId="1076"/>
          <ac:spMkLst>
            <pc:docMk/>
            <pc:sldMk cId="0" sldId="261"/>
            <ac:spMk id="10" creationId="{EAD34BAA-2E27-B7B9-5C8B-CB102A7CB3D0}"/>
          </ac:spMkLst>
        </pc:spChg>
      </pc:sldChg>
      <pc:sldChg chg="addSp delSp modSp mod">
        <pc:chgData name="Luiz Augusto Melo Pereira" userId="4bd5ce759a66f368" providerId="LiveId" clId="{E8062ADE-A42D-4E2D-9C7E-CEB76EF190B8}" dt="2025-01-25T22:21:27.138" v="334" actId="1035"/>
        <pc:sldMkLst>
          <pc:docMk/>
          <pc:sldMk cId="0" sldId="262"/>
        </pc:sldMkLst>
        <pc:spChg chg="del">
          <ac:chgData name="Luiz Augusto Melo Pereira" userId="4bd5ce759a66f368" providerId="LiveId" clId="{E8062ADE-A42D-4E2D-9C7E-CEB76EF190B8}" dt="2025-01-25T22:18:31.517" v="232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18:31.517" v="232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18:31.517" v="232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18:31.517" v="232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18:31.517" v="232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0:52.979" v="323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0:52.979" v="323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0:52.979" v="323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0:52.979" v="323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0:52.979" v="323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0:52.979" v="323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0:52.979" v="323" actId="478"/>
          <ac:spMkLst>
            <pc:docMk/>
            <pc:sldMk cId="0" sldId="262"/>
            <ac:spMk id="16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5T22:20:52.979" v="323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0:52.979" v="323" actId="4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0:52.979" v="323" actId="478"/>
          <ac:spMkLst>
            <pc:docMk/>
            <pc:sldMk cId="0" sldId="262"/>
            <ac:spMk id="19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0:52.979" v="323" actId="478"/>
          <ac:spMkLst>
            <pc:docMk/>
            <pc:sldMk cId="0" sldId="262"/>
            <ac:spMk id="20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0:52.979" v="323" actId="478"/>
          <ac:spMkLst>
            <pc:docMk/>
            <pc:sldMk cId="0" sldId="262"/>
            <ac:spMk id="21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5T22:21:04.104" v="328" actId="1036"/>
          <ac:spMkLst>
            <pc:docMk/>
            <pc:sldMk cId="0" sldId="262"/>
            <ac:spMk id="22" creationId="{00000000-0000-0000-0000-000000000000}"/>
          </ac:spMkLst>
        </pc:spChg>
        <pc:spChg chg="add mod">
          <ac:chgData name="Luiz Augusto Melo Pereira" userId="4bd5ce759a66f368" providerId="LiveId" clId="{E8062ADE-A42D-4E2D-9C7E-CEB76EF190B8}" dt="2025-01-25T22:18:37.625" v="233" actId="1076"/>
          <ac:spMkLst>
            <pc:docMk/>
            <pc:sldMk cId="0" sldId="262"/>
            <ac:spMk id="29" creationId="{98B5D353-F3AD-91AF-418F-4356D1EA531A}"/>
          </ac:spMkLst>
        </pc:spChg>
        <pc:spChg chg="add mod">
          <ac:chgData name="Luiz Augusto Melo Pereira" userId="4bd5ce759a66f368" providerId="LiveId" clId="{E8062ADE-A42D-4E2D-9C7E-CEB76EF190B8}" dt="2025-01-25T22:21:27.138" v="334" actId="1035"/>
          <ac:spMkLst>
            <pc:docMk/>
            <pc:sldMk cId="0" sldId="262"/>
            <ac:spMk id="30" creationId="{52FB9465-11E1-C7CE-8843-E46866E9B7A7}"/>
          </ac:spMkLst>
        </pc:spChg>
      </pc:sldChg>
      <pc:sldChg chg="delSp modSp mod">
        <pc:chgData name="Luiz Augusto Melo Pereira" userId="4bd5ce759a66f368" providerId="LiveId" clId="{E8062ADE-A42D-4E2D-9C7E-CEB76EF190B8}" dt="2025-01-26T13:28:21.239" v="2054" actId="1038"/>
        <pc:sldMkLst>
          <pc:docMk/>
          <pc:sldMk cId="0" sldId="264"/>
        </pc:sldMkLst>
        <pc:spChg chg="del">
          <ac:chgData name="Luiz Augusto Melo Pereira" userId="4bd5ce759a66f368" providerId="LiveId" clId="{E8062ADE-A42D-4E2D-9C7E-CEB76EF190B8}" dt="2025-01-25T22:22:01.162" v="341" actId="478"/>
          <ac:spMkLst>
            <pc:docMk/>
            <pc:sldMk cId="0" sldId="264"/>
            <ac:spMk id="3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5T22:22:37.008" v="354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6T13:28:21.239" v="2054" actId="1038"/>
          <ac:spMkLst>
            <pc:docMk/>
            <pc:sldMk cId="0" sldId="264"/>
            <ac:spMk id="5" creationId="{00000000-0000-0000-0000-000000000000}"/>
          </ac:spMkLst>
        </pc:spChg>
      </pc:sldChg>
      <pc:sldChg chg="addSp delSp modSp mod">
        <pc:chgData name="Luiz Augusto Melo Pereira" userId="4bd5ce759a66f368" providerId="LiveId" clId="{E8062ADE-A42D-4E2D-9C7E-CEB76EF190B8}" dt="2025-01-26T13:28:34.951" v="2059" actId="1035"/>
        <pc:sldMkLst>
          <pc:docMk/>
          <pc:sldMk cId="0" sldId="265"/>
        </pc:sldMkLst>
        <pc:spChg chg="add del">
          <ac:chgData name="Luiz Augusto Melo Pereira" userId="4bd5ce759a66f368" providerId="LiveId" clId="{E8062ADE-A42D-4E2D-9C7E-CEB76EF190B8}" dt="2025-01-25T22:25:57.327" v="406" actId="478"/>
          <ac:spMkLst>
            <pc:docMk/>
            <pc:sldMk cId="0" sldId="265"/>
            <ac:spMk id="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5:57.327" v="406" actId="478"/>
          <ac:spMkLst>
            <pc:docMk/>
            <pc:sldMk cId="0" sldId="265"/>
            <ac:spMk id="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5:57.327" v="406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5:57.327" v="406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5:57.327" v="406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5:57.327" v="406" actId="478"/>
          <ac:spMkLst>
            <pc:docMk/>
            <pc:sldMk cId="0" sldId="265"/>
            <ac:spMk id="8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6T13:28:34.951" v="2059" actId="1035"/>
          <ac:spMkLst>
            <pc:docMk/>
            <pc:sldMk cId="0" sldId="265"/>
            <ac:spMk id="9" creationId="{00000000-0000-0000-0000-000000000000}"/>
          </ac:spMkLst>
        </pc:spChg>
      </pc:sldChg>
      <pc:sldChg chg="addSp delSp modSp mod">
        <pc:chgData name="Luiz Augusto Melo Pereira" userId="4bd5ce759a66f368" providerId="LiveId" clId="{E8062ADE-A42D-4E2D-9C7E-CEB76EF190B8}" dt="2025-01-25T22:37:30.595" v="612" actId="12788"/>
        <pc:sldMkLst>
          <pc:docMk/>
          <pc:sldMk cId="0" sldId="266"/>
        </pc:sldMkLst>
        <pc:spChg chg="del">
          <ac:chgData name="Luiz Augusto Melo Pereira" userId="4bd5ce759a66f368" providerId="LiveId" clId="{E8062ADE-A42D-4E2D-9C7E-CEB76EF190B8}" dt="2025-01-25T22:29:59.336" v="458" actId="478"/>
          <ac:spMkLst>
            <pc:docMk/>
            <pc:sldMk cId="0" sldId="266"/>
            <ac:spMk id="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9:59.336" v="458" actId="478"/>
          <ac:spMkLst>
            <pc:docMk/>
            <pc:sldMk cId="0" sldId="266"/>
            <ac:spMk id="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9:59.336" v="458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9:59.336" v="458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37:17.215" v="610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37:17.215" v="610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37:17.215" v="610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37:17.215" v="610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37:17.215" v="610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37:17.215" v="610" actId="478"/>
          <ac:spMkLst>
            <pc:docMk/>
            <pc:sldMk cId="0" sldId="266"/>
            <ac:spMk id="12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37:17.215" v="610" actId="478"/>
          <ac:spMkLst>
            <pc:docMk/>
            <pc:sldMk cId="0" sldId="266"/>
            <ac:spMk id="1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29:59.336" v="458" actId="478"/>
          <ac:spMkLst>
            <pc:docMk/>
            <pc:sldMk cId="0" sldId="266"/>
            <ac:spMk id="15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5T22:37:11.346" v="609" actId="6549"/>
          <ac:spMkLst>
            <pc:docMk/>
            <pc:sldMk cId="0" sldId="266"/>
            <ac:spMk id="16" creationId="{00000000-0000-0000-0000-000000000000}"/>
          </ac:spMkLst>
        </pc:spChg>
        <pc:spChg chg="add del">
          <ac:chgData name="Luiz Augusto Melo Pereira" userId="4bd5ce759a66f368" providerId="LiveId" clId="{E8062ADE-A42D-4E2D-9C7E-CEB76EF190B8}" dt="2025-01-25T22:30:30.217" v="472" actId="22"/>
          <ac:spMkLst>
            <pc:docMk/>
            <pc:sldMk cId="0" sldId="266"/>
            <ac:spMk id="20" creationId="{121D2776-F08D-54C7-1838-6D9071C45EA9}"/>
          </ac:spMkLst>
        </pc:spChg>
        <pc:spChg chg="add del">
          <ac:chgData name="Luiz Augusto Melo Pereira" userId="4bd5ce759a66f368" providerId="LiveId" clId="{E8062ADE-A42D-4E2D-9C7E-CEB76EF190B8}" dt="2025-01-25T22:30:34.281" v="474" actId="22"/>
          <ac:spMkLst>
            <pc:docMk/>
            <pc:sldMk cId="0" sldId="266"/>
            <ac:spMk id="22" creationId="{47655FC1-F18E-69ED-80A2-63268740E3EC}"/>
          </ac:spMkLst>
        </pc:spChg>
        <pc:spChg chg="add mod">
          <ac:chgData name="Luiz Augusto Melo Pereira" userId="4bd5ce759a66f368" providerId="LiveId" clId="{E8062ADE-A42D-4E2D-9C7E-CEB76EF190B8}" dt="2025-01-25T22:30:54.926" v="483" actId="1076"/>
          <ac:spMkLst>
            <pc:docMk/>
            <pc:sldMk cId="0" sldId="266"/>
            <ac:spMk id="24" creationId="{703DBD4A-A72B-2DB3-3451-F39AF9BFA053}"/>
          </ac:spMkLst>
        </pc:spChg>
        <pc:spChg chg="add del mod">
          <ac:chgData name="Luiz Augusto Melo Pereira" userId="4bd5ce759a66f368" providerId="LiveId" clId="{E8062ADE-A42D-4E2D-9C7E-CEB76EF190B8}" dt="2025-01-25T22:31:15.858" v="487" actId="478"/>
          <ac:spMkLst>
            <pc:docMk/>
            <pc:sldMk cId="0" sldId="266"/>
            <ac:spMk id="25" creationId="{B19E7F1E-D527-C10F-6753-B36A5A3FC085}"/>
          </ac:spMkLst>
        </pc:spChg>
        <pc:spChg chg="add mod">
          <ac:chgData name="Luiz Augusto Melo Pereira" userId="4bd5ce759a66f368" providerId="LiveId" clId="{E8062ADE-A42D-4E2D-9C7E-CEB76EF190B8}" dt="2025-01-25T22:37:30.595" v="612" actId="12788"/>
          <ac:spMkLst>
            <pc:docMk/>
            <pc:sldMk cId="0" sldId="266"/>
            <ac:spMk id="26" creationId="{87A17C5D-61D0-1E56-8672-2D78A2BEAC15}"/>
          </ac:spMkLst>
        </pc:spChg>
        <pc:graphicFrameChg chg="del mod">
          <ac:chgData name="Luiz Augusto Melo Pereira" userId="4bd5ce759a66f368" providerId="LiveId" clId="{E8062ADE-A42D-4E2D-9C7E-CEB76EF190B8}" dt="2025-01-25T22:37:17.215" v="610" actId="478"/>
          <ac:graphicFrameMkLst>
            <pc:docMk/>
            <pc:sldMk cId="0" sldId="266"/>
            <ac:graphicFrameMk id="14" creationId="{00000000-0000-0000-0000-000000000000}"/>
          </ac:graphicFrameMkLst>
        </pc:graphicFrameChg>
      </pc:sldChg>
      <pc:sldChg chg="addSp delSp modSp mod">
        <pc:chgData name="Luiz Augusto Melo Pereira" userId="4bd5ce759a66f368" providerId="LiveId" clId="{E8062ADE-A42D-4E2D-9C7E-CEB76EF190B8}" dt="2025-01-25T22:42:31.020" v="763" actId="1076"/>
        <pc:sldMkLst>
          <pc:docMk/>
          <pc:sldMk cId="0" sldId="269"/>
        </pc:sldMkLst>
        <pc:spChg chg="del">
          <ac:chgData name="Luiz Augusto Melo Pereira" userId="4bd5ce759a66f368" providerId="LiveId" clId="{E8062ADE-A42D-4E2D-9C7E-CEB76EF190B8}" dt="2025-01-25T22:39:17.320" v="640" actId="478"/>
          <ac:spMkLst>
            <pc:docMk/>
            <pc:sldMk cId="0" sldId="269"/>
            <ac:spMk id="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39:17.320" v="640" actId="478"/>
          <ac:spMkLst>
            <pc:docMk/>
            <pc:sldMk cId="0" sldId="269"/>
            <ac:spMk id="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39:17.320" v="640" actId="478"/>
          <ac:spMkLst>
            <pc:docMk/>
            <pc:sldMk cId="0" sldId="269"/>
            <ac:spMk id="5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5T22:39:21.148" v="641" actId="1076"/>
          <ac:spMkLst>
            <pc:docMk/>
            <pc:sldMk cId="0" sldId="269"/>
            <ac:spMk id="6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42:14.026" v="760" actId="478"/>
          <ac:spMkLst>
            <pc:docMk/>
            <pc:sldMk cId="0" sldId="269"/>
            <ac:spMk id="7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5T22:42:26.341" v="762" actId="1076"/>
          <ac:spMkLst>
            <pc:docMk/>
            <pc:sldMk cId="0" sldId="269"/>
            <ac:spMk id="8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40:57.393" v="732" actId="478"/>
          <ac:spMkLst>
            <pc:docMk/>
            <pc:sldMk cId="0" sldId="269"/>
            <ac:spMk id="9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40:55.531" v="731" actId="478"/>
          <ac:spMkLst>
            <pc:docMk/>
            <pc:sldMk cId="0" sldId="269"/>
            <ac:spMk id="10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40:53.687" v="730" actId="478"/>
          <ac:spMkLst>
            <pc:docMk/>
            <pc:sldMk cId="0" sldId="269"/>
            <ac:spMk id="11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40:51.033" v="729" actId="478"/>
          <ac:spMkLst>
            <pc:docMk/>
            <pc:sldMk cId="0" sldId="269"/>
            <ac:spMk id="12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40:47.729" v="728" actId="478"/>
          <ac:spMkLst>
            <pc:docMk/>
            <pc:sldMk cId="0" sldId="269"/>
            <ac:spMk id="1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41:46.404" v="750" actId="478"/>
          <ac:spMkLst>
            <pc:docMk/>
            <pc:sldMk cId="0" sldId="269"/>
            <ac:spMk id="1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41:48.732" v="751" actId="478"/>
          <ac:spMkLst>
            <pc:docMk/>
            <pc:sldMk cId="0" sldId="269"/>
            <ac:spMk id="15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41:50.417" v="752" actId="478"/>
          <ac:spMkLst>
            <pc:docMk/>
            <pc:sldMk cId="0" sldId="269"/>
            <ac:spMk id="16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5T22:42:31.020" v="763" actId="1076"/>
          <ac:spMkLst>
            <pc:docMk/>
            <pc:sldMk cId="0" sldId="269"/>
            <ac:spMk id="17" creationId="{00000000-0000-0000-0000-000000000000}"/>
          </ac:spMkLst>
        </pc:spChg>
        <pc:spChg chg="add mod">
          <ac:chgData name="Luiz Augusto Melo Pereira" userId="4bd5ce759a66f368" providerId="LiveId" clId="{E8062ADE-A42D-4E2D-9C7E-CEB76EF190B8}" dt="2025-01-25T22:41:01.128" v="733" actId="1076"/>
          <ac:spMkLst>
            <pc:docMk/>
            <pc:sldMk cId="0" sldId="269"/>
            <ac:spMk id="24" creationId="{85016FD5-090B-0817-8993-6A7A4D4BE1CC}"/>
          </ac:spMkLst>
        </pc:spChg>
      </pc:sldChg>
      <pc:sldChg chg="modSp mod">
        <pc:chgData name="Luiz Augusto Melo Pereira" userId="4bd5ce759a66f368" providerId="LiveId" clId="{E8062ADE-A42D-4E2D-9C7E-CEB76EF190B8}" dt="2025-01-25T22:42:39.188" v="765" actId="1076"/>
        <pc:sldMkLst>
          <pc:docMk/>
          <pc:sldMk cId="0" sldId="271"/>
        </pc:sldMkLst>
        <pc:spChg chg="mod">
          <ac:chgData name="Luiz Augusto Melo Pereira" userId="4bd5ce759a66f368" providerId="LiveId" clId="{E8062ADE-A42D-4E2D-9C7E-CEB76EF190B8}" dt="2025-01-25T22:42:39.188" v="765" actId="1076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5T22:42:42.953" v="767" actId="1076"/>
        <pc:sldMkLst>
          <pc:docMk/>
          <pc:sldMk cId="0" sldId="272"/>
        </pc:sldMkLst>
        <pc:spChg chg="mod">
          <ac:chgData name="Luiz Augusto Melo Pereira" userId="4bd5ce759a66f368" providerId="LiveId" clId="{E8062ADE-A42D-4E2D-9C7E-CEB76EF190B8}" dt="2025-01-25T22:42:42.953" v="767" actId="1076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5T22:43:50.430" v="807" actId="1037"/>
        <pc:sldMkLst>
          <pc:docMk/>
          <pc:sldMk cId="0" sldId="273"/>
        </pc:sldMkLst>
        <pc:spChg chg="mod">
          <ac:chgData name="Luiz Augusto Melo Pereira" userId="4bd5ce759a66f368" providerId="LiveId" clId="{E8062ADE-A42D-4E2D-9C7E-CEB76EF190B8}" dt="2025-01-25T22:43:20.216" v="787" actId="1037"/>
          <ac:spMkLst>
            <pc:docMk/>
            <pc:sldMk cId="0" sldId="273"/>
            <ac:spMk id="2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5T22:43:50.430" v="807" actId="1037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5T22:44:04.154" v="808" actId="2710"/>
        <pc:sldMkLst>
          <pc:docMk/>
          <pc:sldMk cId="0" sldId="274"/>
        </pc:sldMkLst>
        <pc:spChg chg="mod">
          <ac:chgData name="Luiz Augusto Melo Pereira" userId="4bd5ce759a66f368" providerId="LiveId" clId="{E8062ADE-A42D-4E2D-9C7E-CEB76EF190B8}" dt="2025-01-25T22:44:04.154" v="808" actId="2710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5T22:44:15.280" v="810" actId="1076"/>
        <pc:sldMkLst>
          <pc:docMk/>
          <pc:sldMk cId="0" sldId="277"/>
        </pc:sldMkLst>
        <pc:spChg chg="mod">
          <ac:chgData name="Luiz Augusto Melo Pereira" userId="4bd5ce759a66f368" providerId="LiveId" clId="{E8062ADE-A42D-4E2D-9C7E-CEB76EF190B8}" dt="2025-01-25T22:44:15.280" v="810" actId="1076"/>
          <ac:spMkLst>
            <pc:docMk/>
            <pc:sldMk cId="0" sldId="27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5T22:44:19.247" v="812" actId="1076"/>
        <pc:sldMkLst>
          <pc:docMk/>
          <pc:sldMk cId="0" sldId="278"/>
        </pc:sldMkLst>
        <pc:spChg chg="mod">
          <ac:chgData name="Luiz Augusto Melo Pereira" userId="4bd5ce759a66f368" providerId="LiveId" clId="{E8062ADE-A42D-4E2D-9C7E-CEB76EF190B8}" dt="2025-01-25T22:44:19.247" v="812" actId="1076"/>
          <ac:spMkLst>
            <pc:docMk/>
            <pc:sldMk cId="0" sldId="27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5T22:44:24.313" v="814" actId="1076"/>
        <pc:sldMkLst>
          <pc:docMk/>
          <pc:sldMk cId="0" sldId="279"/>
        </pc:sldMkLst>
        <pc:spChg chg="mod">
          <ac:chgData name="Luiz Augusto Melo Pereira" userId="4bd5ce759a66f368" providerId="LiveId" clId="{E8062ADE-A42D-4E2D-9C7E-CEB76EF190B8}" dt="2025-01-25T22:44:24.313" v="814" actId="1076"/>
          <ac:spMkLst>
            <pc:docMk/>
            <pc:sldMk cId="0" sldId="27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5T22:44:27.998" v="816" actId="1076"/>
        <pc:sldMkLst>
          <pc:docMk/>
          <pc:sldMk cId="0" sldId="280"/>
        </pc:sldMkLst>
        <pc:spChg chg="mod">
          <ac:chgData name="Luiz Augusto Melo Pereira" userId="4bd5ce759a66f368" providerId="LiveId" clId="{E8062ADE-A42D-4E2D-9C7E-CEB76EF190B8}" dt="2025-01-25T22:44:27.998" v="816" actId="1076"/>
          <ac:spMkLst>
            <pc:docMk/>
            <pc:sldMk cId="0" sldId="280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5T22:44:32.517" v="818" actId="1076"/>
        <pc:sldMkLst>
          <pc:docMk/>
          <pc:sldMk cId="0" sldId="281"/>
        </pc:sldMkLst>
        <pc:spChg chg="mod">
          <ac:chgData name="Luiz Augusto Melo Pereira" userId="4bd5ce759a66f368" providerId="LiveId" clId="{E8062ADE-A42D-4E2D-9C7E-CEB76EF190B8}" dt="2025-01-25T22:44:32.517" v="818" actId="1076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5T22:44:39.011" v="820" actId="1076"/>
        <pc:sldMkLst>
          <pc:docMk/>
          <pc:sldMk cId="0" sldId="283"/>
        </pc:sldMkLst>
        <pc:spChg chg="mod">
          <ac:chgData name="Luiz Augusto Melo Pereira" userId="4bd5ce759a66f368" providerId="LiveId" clId="{E8062ADE-A42D-4E2D-9C7E-CEB76EF190B8}" dt="2025-01-25T22:44:39.011" v="820" actId="1076"/>
          <ac:spMkLst>
            <pc:docMk/>
            <pc:sldMk cId="0" sldId="283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5T22:44:43.355" v="822" actId="1076"/>
        <pc:sldMkLst>
          <pc:docMk/>
          <pc:sldMk cId="0" sldId="284"/>
        </pc:sldMkLst>
        <pc:spChg chg="mod">
          <ac:chgData name="Luiz Augusto Melo Pereira" userId="4bd5ce759a66f368" providerId="LiveId" clId="{E8062ADE-A42D-4E2D-9C7E-CEB76EF190B8}" dt="2025-01-25T22:44:43.355" v="822" actId="1076"/>
          <ac:spMkLst>
            <pc:docMk/>
            <pc:sldMk cId="0" sldId="284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5T22:44:52.416" v="824" actId="1076"/>
        <pc:sldMkLst>
          <pc:docMk/>
          <pc:sldMk cId="0" sldId="285"/>
        </pc:sldMkLst>
        <pc:spChg chg="mod">
          <ac:chgData name="Luiz Augusto Melo Pereira" userId="4bd5ce759a66f368" providerId="LiveId" clId="{E8062ADE-A42D-4E2D-9C7E-CEB76EF190B8}" dt="2025-01-25T22:44:52.416" v="824" actId="1076"/>
          <ac:spMkLst>
            <pc:docMk/>
            <pc:sldMk cId="0" sldId="28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5T22:45:21.499" v="826" actId="1076"/>
        <pc:sldMkLst>
          <pc:docMk/>
          <pc:sldMk cId="0" sldId="296"/>
        </pc:sldMkLst>
        <pc:spChg chg="mod">
          <ac:chgData name="Luiz Augusto Melo Pereira" userId="4bd5ce759a66f368" providerId="LiveId" clId="{E8062ADE-A42D-4E2D-9C7E-CEB76EF190B8}" dt="2025-01-25T22:45:21.499" v="826" actId="1076"/>
          <ac:spMkLst>
            <pc:docMk/>
            <pc:sldMk cId="0" sldId="296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5T22:45:33.030" v="828" actId="1076"/>
        <pc:sldMkLst>
          <pc:docMk/>
          <pc:sldMk cId="0" sldId="297"/>
        </pc:sldMkLst>
        <pc:spChg chg="mod">
          <ac:chgData name="Luiz Augusto Melo Pereira" userId="4bd5ce759a66f368" providerId="LiveId" clId="{E8062ADE-A42D-4E2D-9C7E-CEB76EF190B8}" dt="2025-01-25T22:45:33.030" v="828" actId="1076"/>
          <ac:spMkLst>
            <pc:docMk/>
            <pc:sldMk cId="0" sldId="29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5T22:45:38.223" v="830" actId="1076"/>
        <pc:sldMkLst>
          <pc:docMk/>
          <pc:sldMk cId="0" sldId="298"/>
        </pc:sldMkLst>
        <pc:spChg chg="mod">
          <ac:chgData name="Luiz Augusto Melo Pereira" userId="4bd5ce759a66f368" providerId="LiveId" clId="{E8062ADE-A42D-4E2D-9C7E-CEB76EF190B8}" dt="2025-01-25T22:45:38.223" v="830" actId="1076"/>
          <ac:spMkLst>
            <pc:docMk/>
            <pc:sldMk cId="0" sldId="298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E8062ADE-A42D-4E2D-9C7E-CEB76EF190B8}" dt="2025-01-25T22:47:20.487" v="880" actId="1076"/>
        <pc:sldMkLst>
          <pc:docMk/>
          <pc:sldMk cId="0" sldId="299"/>
        </pc:sldMkLst>
        <pc:spChg chg="mod">
          <ac:chgData name="Luiz Augusto Melo Pereira" userId="4bd5ce759a66f368" providerId="LiveId" clId="{E8062ADE-A42D-4E2D-9C7E-CEB76EF190B8}" dt="2025-01-25T22:45:42.529" v="832" actId="1076"/>
          <ac:spMkLst>
            <pc:docMk/>
            <pc:sldMk cId="0" sldId="299"/>
            <ac:spMk id="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47:08.653" v="876" actId="478"/>
          <ac:spMkLst>
            <pc:docMk/>
            <pc:sldMk cId="0" sldId="299"/>
            <ac:spMk id="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47:10.561" v="877" actId="478"/>
          <ac:spMkLst>
            <pc:docMk/>
            <pc:sldMk cId="0" sldId="299"/>
            <ac:spMk id="5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47:12.122" v="878" actId="478"/>
          <ac:spMkLst>
            <pc:docMk/>
            <pc:sldMk cId="0" sldId="299"/>
            <ac:spMk id="6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47:14.098" v="879" actId="478"/>
          <ac:spMkLst>
            <pc:docMk/>
            <pc:sldMk cId="0" sldId="299"/>
            <ac:spMk id="7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47:06.856" v="875" actId="478"/>
          <ac:spMkLst>
            <pc:docMk/>
            <pc:sldMk cId="0" sldId="299"/>
            <ac:spMk id="8" creationId="{00000000-0000-0000-0000-000000000000}"/>
          </ac:spMkLst>
        </pc:spChg>
        <pc:spChg chg="add mod">
          <ac:chgData name="Luiz Augusto Melo Pereira" userId="4bd5ce759a66f368" providerId="LiveId" clId="{E8062ADE-A42D-4E2D-9C7E-CEB76EF190B8}" dt="2025-01-25T22:47:20.487" v="880" actId="1076"/>
          <ac:spMkLst>
            <pc:docMk/>
            <pc:sldMk cId="0" sldId="299"/>
            <ac:spMk id="10" creationId="{0685971A-E144-C0E1-A2CC-9B61D2840953}"/>
          </ac:spMkLst>
        </pc:spChg>
      </pc:sldChg>
      <pc:sldChg chg="modSp mod">
        <pc:chgData name="Luiz Augusto Melo Pereira" userId="4bd5ce759a66f368" providerId="LiveId" clId="{E8062ADE-A42D-4E2D-9C7E-CEB76EF190B8}" dt="2025-01-25T22:47:36.019" v="882" actId="1076"/>
        <pc:sldMkLst>
          <pc:docMk/>
          <pc:sldMk cId="0" sldId="302"/>
        </pc:sldMkLst>
        <pc:spChg chg="mod">
          <ac:chgData name="Luiz Augusto Melo Pereira" userId="4bd5ce759a66f368" providerId="LiveId" clId="{E8062ADE-A42D-4E2D-9C7E-CEB76EF190B8}" dt="2025-01-25T22:47:36.019" v="882" actId="1076"/>
          <ac:spMkLst>
            <pc:docMk/>
            <pc:sldMk cId="0" sldId="302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5T22:47:39.712" v="884" actId="1076"/>
        <pc:sldMkLst>
          <pc:docMk/>
          <pc:sldMk cId="0" sldId="303"/>
        </pc:sldMkLst>
        <pc:spChg chg="mod">
          <ac:chgData name="Luiz Augusto Melo Pereira" userId="4bd5ce759a66f368" providerId="LiveId" clId="{E8062ADE-A42D-4E2D-9C7E-CEB76EF190B8}" dt="2025-01-25T22:47:39.712" v="884" actId="1076"/>
          <ac:spMkLst>
            <pc:docMk/>
            <pc:sldMk cId="0" sldId="303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6T13:30:57.834" v="2107" actId="2710"/>
        <pc:sldMkLst>
          <pc:docMk/>
          <pc:sldMk cId="0" sldId="304"/>
        </pc:sldMkLst>
        <pc:spChg chg="mod">
          <ac:chgData name="Luiz Augusto Melo Pereira" userId="4bd5ce759a66f368" providerId="LiveId" clId="{E8062ADE-A42D-4E2D-9C7E-CEB76EF190B8}" dt="2025-01-26T13:30:57.834" v="2107" actId="2710"/>
          <ac:spMkLst>
            <pc:docMk/>
            <pc:sldMk cId="0" sldId="304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E8062ADE-A42D-4E2D-9C7E-CEB76EF190B8}" dt="2025-01-26T13:31:06.529" v="2109" actId="6549"/>
        <pc:sldMkLst>
          <pc:docMk/>
          <pc:sldMk cId="0" sldId="305"/>
        </pc:sldMkLst>
        <pc:spChg chg="del mod">
          <ac:chgData name="Luiz Augusto Melo Pereira" userId="4bd5ce759a66f368" providerId="LiveId" clId="{E8062ADE-A42D-4E2D-9C7E-CEB76EF190B8}" dt="2025-01-25T22:49:52.913" v="937"/>
          <ac:spMkLst>
            <pc:docMk/>
            <pc:sldMk cId="0" sldId="305"/>
            <ac:spMk id="3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5T22:48:20.619" v="898" actId="478"/>
          <ac:spMkLst>
            <pc:docMk/>
            <pc:sldMk cId="0" sldId="305"/>
            <ac:spMk id="5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5T22:48:07.315" v="895"/>
          <ac:spMkLst>
            <pc:docMk/>
            <pc:sldMk cId="0" sldId="305"/>
            <ac:spMk id="18" creationId="{00000000-0000-0000-0000-000000000000}"/>
          </ac:spMkLst>
        </pc:spChg>
        <pc:spChg chg="add mod">
          <ac:chgData name="Luiz Augusto Melo Pereira" userId="4bd5ce759a66f368" providerId="LiveId" clId="{E8062ADE-A42D-4E2D-9C7E-CEB76EF190B8}" dt="2025-01-25T22:48:04.730" v="893"/>
          <ac:spMkLst>
            <pc:docMk/>
            <pc:sldMk cId="0" sldId="305"/>
            <ac:spMk id="22" creationId="{DB03AACC-9F44-ACD8-9986-407BF2B21EA7}"/>
          </ac:spMkLst>
        </pc:spChg>
        <pc:spChg chg="add mod">
          <ac:chgData name="Luiz Augusto Melo Pereira" userId="4bd5ce759a66f368" providerId="LiveId" clId="{E8062ADE-A42D-4E2D-9C7E-CEB76EF190B8}" dt="2025-01-26T13:31:06.529" v="2109" actId="6549"/>
          <ac:spMkLst>
            <pc:docMk/>
            <pc:sldMk cId="0" sldId="305"/>
            <ac:spMk id="23" creationId="{2A4B76C1-908C-F708-1267-E56DE309026D}"/>
          </ac:spMkLst>
        </pc:spChg>
      </pc:sldChg>
      <pc:sldChg chg="modSp mod">
        <pc:chgData name="Luiz Augusto Melo Pereira" userId="4bd5ce759a66f368" providerId="LiveId" clId="{E8062ADE-A42D-4E2D-9C7E-CEB76EF190B8}" dt="2025-01-25T22:50:22.134" v="950" actId="1035"/>
        <pc:sldMkLst>
          <pc:docMk/>
          <pc:sldMk cId="0" sldId="306"/>
        </pc:sldMkLst>
        <pc:spChg chg="mod">
          <ac:chgData name="Luiz Augusto Melo Pereira" userId="4bd5ce759a66f368" providerId="LiveId" clId="{E8062ADE-A42D-4E2D-9C7E-CEB76EF190B8}" dt="2025-01-25T22:50:19.259" v="949" actId="6549"/>
          <ac:spMkLst>
            <pc:docMk/>
            <pc:sldMk cId="0" sldId="306"/>
            <ac:spMk id="3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5T22:50:22.134" v="950" actId="1035"/>
          <ac:spMkLst>
            <pc:docMk/>
            <pc:sldMk cId="0" sldId="306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6T13:31:30.343" v="2111" actId="20577"/>
        <pc:sldMkLst>
          <pc:docMk/>
          <pc:sldMk cId="0" sldId="313"/>
        </pc:sldMkLst>
        <pc:spChg chg="mod">
          <ac:chgData name="Luiz Augusto Melo Pereira" userId="4bd5ce759a66f368" providerId="LiveId" clId="{E8062ADE-A42D-4E2D-9C7E-CEB76EF190B8}" dt="2025-01-26T13:31:30.343" v="2111" actId="20577"/>
          <ac:spMkLst>
            <pc:docMk/>
            <pc:sldMk cId="0" sldId="313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E8062ADE-A42D-4E2D-9C7E-CEB76EF190B8}" dt="2025-01-25T22:58:33.350" v="1131" actId="1076"/>
        <pc:sldMkLst>
          <pc:docMk/>
          <pc:sldMk cId="0" sldId="316"/>
        </pc:sldMkLst>
        <pc:spChg chg="mod">
          <ac:chgData name="Luiz Augusto Melo Pereira" userId="4bd5ce759a66f368" providerId="LiveId" clId="{E8062ADE-A42D-4E2D-9C7E-CEB76EF190B8}" dt="2025-01-25T22:51:13.687" v="957" actId="1036"/>
          <ac:spMkLst>
            <pc:docMk/>
            <pc:sldMk cId="0" sldId="316"/>
            <ac:spMk id="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53:39.133" v="1036" actId="478"/>
          <ac:spMkLst>
            <pc:docMk/>
            <pc:sldMk cId="0" sldId="316"/>
            <ac:spMk id="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53:39.133" v="1036" actId="478"/>
          <ac:spMkLst>
            <pc:docMk/>
            <pc:sldMk cId="0" sldId="316"/>
            <ac:spMk id="5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53:39.133" v="1036" actId="478"/>
          <ac:spMkLst>
            <pc:docMk/>
            <pc:sldMk cId="0" sldId="316"/>
            <ac:spMk id="6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53:39.133" v="1036" actId="478"/>
          <ac:spMkLst>
            <pc:docMk/>
            <pc:sldMk cId="0" sldId="316"/>
            <ac:spMk id="7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53:39.133" v="1036" actId="478"/>
          <ac:spMkLst>
            <pc:docMk/>
            <pc:sldMk cId="0" sldId="316"/>
            <ac:spMk id="8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53:39.133" v="1036" actId="478"/>
          <ac:spMkLst>
            <pc:docMk/>
            <pc:sldMk cId="0" sldId="316"/>
            <ac:spMk id="9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53:39.133" v="1036" actId="478"/>
          <ac:spMkLst>
            <pc:docMk/>
            <pc:sldMk cId="0" sldId="316"/>
            <ac:spMk id="10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5T22:57:27.724" v="1106" actId="1035"/>
          <ac:spMkLst>
            <pc:docMk/>
            <pc:sldMk cId="0" sldId="316"/>
            <ac:spMk id="11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57:06.800" v="1101" actId="478"/>
          <ac:spMkLst>
            <pc:docMk/>
            <pc:sldMk cId="0" sldId="316"/>
            <ac:spMk id="12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57:06.800" v="1101" actId="478"/>
          <ac:spMkLst>
            <pc:docMk/>
            <pc:sldMk cId="0" sldId="316"/>
            <ac:spMk id="1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57:06.800" v="1101" actId="478"/>
          <ac:spMkLst>
            <pc:docMk/>
            <pc:sldMk cId="0" sldId="316"/>
            <ac:spMk id="1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57:06.800" v="1101" actId="478"/>
          <ac:spMkLst>
            <pc:docMk/>
            <pc:sldMk cId="0" sldId="316"/>
            <ac:spMk id="15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57:06.800" v="1101" actId="478"/>
          <ac:spMkLst>
            <pc:docMk/>
            <pc:sldMk cId="0" sldId="316"/>
            <ac:spMk id="16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57:06.800" v="1101" actId="478"/>
          <ac:spMkLst>
            <pc:docMk/>
            <pc:sldMk cId="0" sldId="316"/>
            <ac:spMk id="17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57:06.800" v="1101" actId="478"/>
          <ac:spMkLst>
            <pc:docMk/>
            <pc:sldMk cId="0" sldId="316"/>
            <ac:spMk id="18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2:57:06.800" v="1101" actId="478"/>
          <ac:spMkLst>
            <pc:docMk/>
            <pc:sldMk cId="0" sldId="316"/>
            <ac:spMk id="19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5T22:58:20.129" v="1126" actId="478"/>
          <ac:spMkLst>
            <pc:docMk/>
            <pc:sldMk cId="0" sldId="316"/>
            <ac:spMk id="20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5T22:58:18.213" v="1125" actId="478"/>
          <ac:spMkLst>
            <pc:docMk/>
            <pc:sldMk cId="0" sldId="316"/>
            <ac:spMk id="21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5T22:58:24.578" v="1128" actId="478"/>
          <ac:spMkLst>
            <pc:docMk/>
            <pc:sldMk cId="0" sldId="316"/>
            <ac:spMk id="22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5T22:58:22.602" v="1127" actId="478"/>
          <ac:spMkLst>
            <pc:docMk/>
            <pc:sldMk cId="0" sldId="316"/>
            <ac:spMk id="23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5T22:58:16.173" v="1124" actId="478"/>
          <ac:spMkLst>
            <pc:docMk/>
            <pc:sldMk cId="0" sldId="316"/>
            <ac:spMk id="24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5T22:58:30.133" v="1129" actId="1076"/>
          <ac:spMkLst>
            <pc:docMk/>
            <pc:sldMk cId="0" sldId="316"/>
            <ac:spMk id="25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5T22:58:33.350" v="1131" actId="1076"/>
          <ac:spMkLst>
            <pc:docMk/>
            <pc:sldMk cId="0" sldId="316"/>
            <ac:spMk id="26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5T22:53:51.080" v="1040" actId="14100"/>
          <ac:spMkLst>
            <pc:docMk/>
            <pc:sldMk cId="0" sldId="316"/>
            <ac:spMk id="27" creationId="{00000000-0000-0000-0000-000000000000}"/>
          </ac:spMkLst>
        </pc:spChg>
        <pc:spChg chg="add mod">
          <ac:chgData name="Luiz Augusto Melo Pereira" userId="4bd5ce759a66f368" providerId="LiveId" clId="{E8062ADE-A42D-4E2D-9C7E-CEB76EF190B8}" dt="2025-01-25T22:53:46.201" v="1038" actId="12788"/>
          <ac:spMkLst>
            <pc:docMk/>
            <pc:sldMk cId="0" sldId="316"/>
            <ac:spMk id="28" creationId="{03783C26-BD69-A0EC-4C2E-A7D91A50ED46}"/>
          </ac:spMkLst>
        </pc:spChg>
      </pc:sldChg>
      <pc:sldChg chg="addSp delSp modSp mod">
        <pc:chgData name="Luiz Augusto Melo Pereira" userId="4bd5ce759a66f368" providerId="LiveId" clId="{E8062ADE-A42D-4E2D-9C7E-CEB76EF190B8}" dt="2025-01-25T23:01:29.854" v="1212" actId="1076"/>
        <pc:sldMkLst>
          <pc:docMk/>
          <pc:sldMk cId="0" sldId="317"/>
        </pc:sldMkLst>
        <pc:spChg chg="mod">
          <ac:chgData name="Luiz Augusto Melo Pereira" userId="4bd5ce759a66f368" providerId="LiveId" clId="{E8062ADE-A42D-4E2D-9C7E-CEB76EF190B8}" dt="2025-01-25T23:01:19.785" v="1205" actId="1035"/>
          <ac:spMkLst>
            <pc:docMk/>
            <pc:sldMk cId="0" sldId="317"/>
            <ac:spMk id="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0:47.702" v="1195" actId="478"/>
          <ac:spMkLst>
            <pc:docMk/>
            <pc:sldMk cId="0" sldId="317"/>
            <ac:spMk id="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0:58.461" v="1198" actId="478"/>
          <ac:spMkLst>
            <pc:docMk/>
            <pc:sldMk cId="0" sldId="317"/>
            <ac:spMk id="5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0:58.461" v="1198" actId="478"/>
          <ac:spMkLst>
            <pc:docMk/>
            <pc:sldMk cId="0" sldId="317"/>
            <ac:spMk id="6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0:54.416" v="1197" actId="478"/>
          <ac:spMkLst>
            <pc:docMk/>
            <pc:sldMk cId="0" sldId="317"/>
            <ac:spMk id="7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0:52.398" v="1196" actId="478"/>
          <ac:spMkLst>
            <pc:docMk/>
            <pc:sldMk cId="0" sldId="317"/>
            <ac:spMk id="8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5T23:00:43.892" v="1194"/>
          <ac:spMkLst>
            <pc:docMk/>
            <pc:sldMk cId="0" sldId="317"/>
            <ac:spMk id="9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0:58.461" v="1198" actId="478"/>
          <ac:spMkLst>
            <pc:docMk/>
            <pc:sldMk cId="0" sldId="317"/>
            <ac:spMk id="10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0:47.702" v="1195" actId="478"/>
          <ac:spMkLst>
            <pc:docMk/>
            <pc:sldMk cId="0" sldId="317"/>
            <ac:spMk id="11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0:47.702" v="1195" actId="478"/>
          <ac:spMkLst>
            <pc:docMk/>
            <pc:sldMk cId="0" sldId="317"/>
            <ac:spMk id="12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0:47.702" v="1195" actId="478"/>
          <ac:spMkLst>
            <pc:docMk/>
            <pc:sldMk cId="0" sldId="317"/>
            <ac:spMk id="1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0:47.702" v="1195" actId="478"/>
          <ac:spMkLst>
            <pc:docMk/>
            <pc:sldMk cId="0" sldId="317"/>
            <ac:spMk id="1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0:47.702" v="1195" actId="478"/>
          <ac:spMkLst>
            <pc:docMk/>
            <pc:sldMk cId="0" sldId="317"/>
            <ac:spMk id="15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5T23:00:47.702" v="1195" actId="478"/>
          <ac:spMkLst>
            <pc:docMk/>
            <pc:sldMk cId="0" sldId="317"/>
            <ac:spMk id="16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5T23:01:29.854" v="1212" actId="1076"/>
          <ac:spMkLst>
            <pc:docMk/>
            <pc:sldMk cId="0" sldId="317"/>
            <ac:spMk id="17" creationId="{00000000-0000-0000-0000-000000000000}"/>
          </ac:spMkLst>
        </pc:spChg>
        <pc:spChg chg="add mod">
          <ac:chgData name="Luiz Augusto Melo Pereira" userId="4bd5ce759a66f368" providerId="LiveId" clId="{E8062ADE-A42D-4E2D-9C7E-CEB76EF190B8}" dt="2025-01-25T23:01:23.351" v="1209" actId="1036"/>
          <ac:spMkLst>
            <pc:docMk/>
            <pc:sldMk cId="0" sldId="317"/>
            <ac:spMk id="18" creationId="{0F049F4C-E4AD-5194-31C9-078DFFB2C283}"/>
          </ac:spMkLst>
        </pc:spChg>
        <pc:spChg chg="add mod">
          <ac:chgData name="Luiz Augusto Melo Pereira" userId="4bd5ce759a66f368" providerId="LiveId" clId="{E8062ADE-A42D-4E2D-9C7E-CEB76EF190B8}" dt="2025-01-25T23:01:26.383" v="1210" actId="1035"/>
          <ac:spMkLst>
            <pc:docMk/>
            <pc:sldMk cId="0" sldId="317"/>
            <ac:spMk id="19" creationId="{378E09C8-EEB9-0CDD-BE97-5C8478CF363F}"/>
          </ac:spMkLst>
        </pc:spChg>
      </pc:sldChg>
      <pc:sldChg chg="addSp delSp modSp mod">
        <pc:chgData name="Luiz Augusto Melo Pereira" userId="4bd5ce759a66f368" providerId="LiveId" clId="{E8062ADE-A42D-4E2D-9C7E-CEB76EF190B8}" dt="2025-01-25T23:02:29.273" v="1231" actId="1035"/>
        <pc:sldMkLst>
          <pc:docMk/>
          <pc:sldMk cId="0" sldId="318"/>
        </pc:sldMkLst>
        <pc:spChg chg="mod">
          <ac:chgData name="Luiz Augusto Melo Pereira" userId="4bd5ce759a66f368" providerId="LiveId" clId="{E8062ADE-A42D-4E2D-9C7E-CEB76EF190B8}" dt="2025-01-25T23:02:23.961" v="1224" actId="1035"/>
          <ac:spMkLst>
            <pc:docMk/>
            <pc:sldMk cId="0" sldId="318"/>
            <ac:spMk id="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2:13.917" v="1221" actId="478"/>
          <ac:spMkLst>
            <pc:docMk/>
            <pc:sldMk cId="0" sldId="318"/>
            <ac:spMk id="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2:13.917" v="1221" actId="478"/>
          <ac:spMkLst>
            <pc:docMk/>
            <pc:sldMk cId="0" sldId="318"/>
            <ac:spMk id="5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2:13.917" v="1221" actId="478"/>
          <ac:spMkLst>
            <pc:docMk/>
            <pc:sldMk cId="0" sldId="318"/>
            <ac:spMk id="6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2:13.917" v="1221" actId="478"/>
          <ac:spMkLst>
            <pc:docMk/>
            <pc:sldMk cId="0" sldId="318"/>
            <ac:spMk id="7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2:13.917" v="1221" actId="478"/>
          <ac:spMkLst>
            <pc:docMk/>
            <pc:sldMk cId="0" sldId="318"/>
            <ac:spMk id="8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2:13.917" v="1221" actId="478"/>
          <ac:spMkLst>
            <pc:docMk/>
            <pc:sldMk cId="0" sldId="318"/>
            <ac:spMk id="9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2:13.917" v="1221" actId="478"/>
          <ac:spMkLst>
            <pc:docMk/>
            <pc:sldMk cId="0" sldId="318"/>
            <ac:spMk id="10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2:13.917" v="1221" actId="478"/>
          <ac:spMkLst>
            <pc:docMk/>
            <pc:sldMk cId="0" sldId="318"/>
            <ac:spMk id="11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2:13.917" v="1221" actId="478"/>
          <ac:spMkLst>
            <pc:docMk/>
            <pc:sldMk cId="0" sldId="318"/>
            <ac:spMk id="12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2:13.917" v="1221" actId="478"/>
          <ac:spMkLst>
            <pc:docMk/>
            <pc:sldMk cId="0" sldId="318"/>
            <ac:spMk id="1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2:13.917" v="1221" actId="478"/>
          <ac:spMkLst>
            <pc:docMk/>
            <pc:sldMk cId="0" sldId="318"/>
            <ac:spMk id="14" creationId="{00000000-0000-0000-0000-000000000000}"/>
          </ac:spMkLst>
        </pc:spChg>
        <pc:spChg chg="add mod">
          <ac:chgData name="Luiz Augusto Melo Pereira" userId="4bd5ce759a66f368" providerId="LiveId" clId="{E8062ADE-A42D-4E2D-9C7E-CEB76EF190B8}" dt="2025-01-25T23:02:29.273" v="1231" actId="1035"/>
          <ac:spMkLst>
            <pc:docMk/>
            <pc:sldMk cId="0" sldId="318"/>
            <ac:spMk id="18" creationId="{5DD9D99B-F375-5602-236A-8ED9B830A481}"/>
          </ac:spMkLst>
        </pc:spChg>
      </pc:sldChg>
      <pc:sldChg chg="addSp delSp modSp mod">
        <pc:chgData name="Luiz Augusto Melo Pereira" userId="4bd5ce759a66f368" providerId="LiveId" clId="{E8062ADE-A42D-4E2D-9C7E-CEB76EF190B8}" dt="2025-01-25T23:07:44.765" v="1356" actId="1076"/>
        <pc:sldMkLst>
          <pc:docMk/>
          <pc:sldMk cId="0" sldId="319"/>
        </pc:sldMkLst>
        <pc:spChg chg="mod">
          <ac:chgData name="Luiz Augusto Melo Pereira" userId="4bd5ce759a66f368" providerId="LiveId" clId="{E8062ADE-A42D-4E2D-9C7E-CEB76EF190B8}" dt="2025-01-25T23:07:35.866" v="1352" actId="1035"/>
          <ac:spMkLst>
            <pc:docMk/>
            <pc:sldMk cId="0" sldId="319"/>
            <ac:spMk id="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6:50.600" v="1335" actId="478"/>
          <ac:spMkLst>
            <pc:docMk/>
            <pc:sldMk cId="0" sldId="319"/>
            <ac:spMk id="4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5T23:07:02.910" v="1340" actId="1076"/>
          <ac:spMkLst>
            <pc:docMk/>
            <pc:sldMk cId="0" sldId="319"/>
            <ac:spMk id="5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6:47.928" v="1334" actId="478"/>
          <ac:spMkLst>
            <pc:docMk/>
            <pc:sldMk cId="0" sldId="319"/>
            <ac:spMk id="6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7:12.196" v="1342" actId="478"/>
          <ac:spMkLst>
            <pc:docMk/>
            <pc:sldMk cId="0" sldId="319"/>
            <ac:spMk id="7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7:06.843" v="1341" actId="478"/>
          <ac:spMkLst>
            <pc:docMk/>
            <pc:sldMk cId="0" sldId="319"/>
            <ac:spMk id="8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7:12.196" v="1342" actId="478"/>
          <ac:spMkLst>
            <pc:docMk/>
            <pc:sldMk cId="0" sldId="319"/>
            <ac:spMk id="9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7:12.196" v="1342" actId="478"/>
          <ac:spMkLst>
            <pc:docMk/>
            <pc:sldMk cId="0" sldId="319"/>
            <ac:spMk id="10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7:12.196" v="1342" actId="478"/>
          <ac:spMkLst>
            <pc:docMk/>
            <pc:sldMk cId="0" sldId="319"/>
            <ac:spMk id="11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5T23:07:12.196" v="1342" actId="478"/>
          <ac:spMkLst>
            <pc:docMk/>
            <pc:sldMk cId="0" sldId="319"/>
            <ac:spMk id="12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5T23:07:44.765" v="1356" actId="1076"/>
          <ac:spMkLst>
            <pc:docMk/>
            <pc:sldMk cId="0" sldId="319"/>
            <ac:spMk id="14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5T23:07:39.575" v="1354" actId="1038"/>
          <ac:spMkLst>
            <pc:docMk/>
            <pc:sldMk cId="0" sldId="319"/>
            <ac:spMk id="15" creationId="{00000000-0000-0000-0000-000000000000}"/>
          </ac:spMkLst>
        </pc:spChg>
        <pc:spChg chg="add mod">
          <ac:chgData name="Luiz Augusto Melo Pereira" userId="4bd5ce759a66f368" providerId="LiveId" clId="{E8062ADE-A42D-4E2D-9C7E-CEB76EF190B8}" dt="2025-01-25T23:07:33.034" v="1349" actId="1037"/>
          <ac:spMkLst>
            <pc:docMk/>
            <pc:sldMk cId="0" sldId="319"/>
            <ac:spMk id="18" creationId="{E9C4FF4B-D9F3-D097-8A95-116D38C93BA9}"/>
          </ac:spMkLst>
        </pc:spChg>
      </pc:sldChg>
      <pc:sldChg chg="addSp delSp modSp mod">
        <pc:chgData name="Luiz Augusto Melo Pereira" userId="4bd5ce759a66f368" providerId="LiveId" clId="{E8062ADE-A42D-4E2D-9C7E-CEB76EF190B8}" dt="2025-01-26T13:09:43.480" v="1521" actId="1036"/>
        <pc:sldMkLst>
          <pc:docMk/>
          <pc:sldMk cId="0" sldId="320"/>
        </pc:sldMkLst>
        <pc:spChg chg="mod">
          <ac:chgData name="Luiz Augusto Melo Pereira" userId="4bd5ce759a66f368" providerId="LiveId" clId="{E8062ADE-A42D-4E2D-9C7E-CEB76EF190B8}" dt="2025-01-26T13:08:04.558" v="1482" actId="1035"/>
          <ac:spMkLst>
            <pc:docMk/>
            <pc:sldMk cId="0" sldId="320"/>
            <ac:spMk id="2" creationId="{00000000-0000-0000-0000-000000000000}"/>
          </ac:spMkLst>
        </pc:spChg>
        <pc:spChg chg="add mod">
          <ac:chgData name="Luiz Augusto Melo Pereira" userId="4bd5ce759a66f368" providerId="LiveId" clId="{E8062ADE-A42D-4E2D-9C7E-CEB76EF190B8}" dt="2025-01-26T13:09:43.480" v="1521" actId="1036"/>
          <ac:spMkLst>
            <pc:docMk/>
            <pc:sldMk cId="0" sldId="320"/>
            <ac:spMk id="3" creationId="{01C62598-65E2-A3B6-F3D2-A5D0ED033B05}"/>
          </ac:spMkLst>
        </pc:spChg>
        <pc:spChg chg="mod">
          <ac:chgData name="Luiz Augusto Melo Pereira" userId="4bd5ce759a66f368" providerId="LiveId" clId="{E8062ADE-A42D-4E2D-9C7E-CEB76EF190B8}" dt="2025-01-26T13:09:23.990" v="1514" actId="1035"/>
          <ac:spMkLst>
            <pc:docMk/>
            <pc:sldMk cId="0" sldId="320"/>
            <ac:spMk id="57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6T13:09:29.202" v="1519" actId="1036"/>
          <ac:spMkLst>
            <pc:docMk/>
            <pc:sldMk cId="0" sldId="320"/>
            <ac:spMk id="58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07:01.311" v="1431" actId="478"/>
          <ac:spMkLst>
            <pc:docMk/>
            <pc:sldMk cId="0" sldId="320"/>
            <ac:spMk id="59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07:21.243" v="1446" actId="478"/>
          <ac:spMkLst>
            <pc:docMk/>
            <pc:sldMk cId="0" sldId="320"/>
            <ac:spMk id="60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07:01.311" v="1431" actId="478"/>
          <ac:spMkLst>
            <pc:docMk/>
            <pc:sldMk cId="0" sldId="320"/>
            <ac:spMk id="61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07:01.311" v="1431" actId="478"/>
          <ac:spMkLst>
            <pc:docMk/>
            <pc:sldMk cId="0" sldId="320"/>
            <ac:spMk id="62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07:01.311" v="1431" actId="478"/>
          <ac:spMkLst>
            <pc:docMk/>
            <pc:sldMk cId="0" sldId="320"/>
            <ac:spMk id="6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07:01.311" v="1431" actId="478"/>
          <ac:spMkLst>
            <pc:docMk/>
            <pc:sldMk cId="0" sldId="320"/>
            <ac:spMk id="6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07:04.489" v="1432" actId="478"/>
          <ac:spMkLst>
            <pc:docMk/>
            <pc:sldMk cId="0" sldId="320"/>
            <ac:spMk id="65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6T13:08:29.005" v="1503" actId="1035"/>
          <ac:spMkLst>
            <pc:docMk/>
            <pc:sldMk cId="0" sldId="320"/>
            <ac:spMk id="66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6T13:08:46.255" v="1512" actId="6549"/>
          <ac:spMkLst>
            <pc:docMk/>
            <pc:sldMk cId="0" sldId="320"/>
            <ac:spMk id="67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6T13:08:34.499" v="1507" actId="1035"/>
          <ac:spMkLst>
            <pc:docMk/>
            <pc:sldMk cId="0" sldId="320"/>
            <ac:spMk id="68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6T13:08:31.426" v="1505" actId="1035"/>
          <ac:spMkLst>
            <pc:docMk/>
            <pc:sldMk cId="0" sldId="320"/>
            <ac:spMk id="69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6T13:08:44.680" v="1511"/>
          <ac:spMkLst>
            <pc:docMk/>
            <pc:sldMk cId="0" sldId="320"/>
            <ac:spMk id="70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6T13:09:43.480" v="1521" actId="1036"/>
          <ac:spMkLst>
            <pc:docMk/>
            <pc:sldMk cId="0" sldId="320"/>
            <ac:spMk id="74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6T13:08:07.338" v="1485" actId="1035"/>
          <ac:spMkLst>
            <pc:docMk/>
            <pc:sldMk cId="0" sldId="320"/>
            <ac:spMk id="75" creationId="{AF439B12-3A65-1A25-3ED9-BF243B9351D3}"/>
          </ac:spMkLst>
        </pc:spChg>
        <pc:spChg chg="mod">
          <ac:chgData name="Luiz Augusto Melo Pereira" userId="4bd5ce759a66f368" providerId="LiveId" clId="{E8062ADE-A42D-4E2D-9C7E-CEB76EF190B8}" dt="2025-01-26T13:09:34.160" v="1520" actId="1035"/>
          <ac:spMkLst>
            <pc:docMk/>
            <pc:sldMk cId="0" sldId="320"/>
            <ac:spMk id="76" creationId="{AF2F7137-207E-0F68-7934-AB90195ECF1C}"/>
          </ac:spMkLst>
        </pc:spChg>
        <pc:spChg chg="mod">
          <ac:chgData name="Luiz Augusto Melo Pereira" userId="4bd5ce759a66f368" providerId="LiveId" clId="{E8062ADE-A42D-4E2D-9C7E-CEB76EF190B8}" dt="2025-01-26T13:08:13.396" v="1490" actId="1035"/>
          <ac:spMkLst>
            <pc:docMk/>
            <pc:sldMk cId="0" sldId="320"/>
            <ac:spMk id="77" creationId="{B834EDF2-2A15-A55C-44CE-0FEE73EDD21E}"/>
          </ac:spMkLst>
        </pc:spChg>
        <pc:spChg chg="mod">
          <ac:chgData name="Luiz Augusto Melo Pereira" userId="4bd5ce759a66f368" providerId="LiveId" clId="{E8062ADE-A42D-4E2D-9C7E-CEB76EF190B8}" dt="2025-01-26T13:08:16.447" v="1493" actId="1035"/>
          <ac:spMkLst>
            <pc:docMk/>
            <pc:sldMk cId="0" sldId="320"/>
            <ac:spMk id="78" creationId="{631DB0C1-AE63-9E6D-1475-0EF3B7F740C5}"/>
          </ac:spMkLst>
        </pc:spChg>
        <pc:spChg chg="mod">
          <ac:chgData name="Luiz Augusto Melo Pereira" userId="4bd5ce759a66f368" providerId="LiveId" clId="{E8062ADE-A42D-4E2D-9C7E-CEB76EF190B8}" dt="2025-01-26T13:08:20.336" v="1496" actId="1035"/>
          <ac:spMkLst>
            <pc:docMk/>
            <pc:sldMk cId="0" sldId="320"/>
            <ac:spMk id="79" creationId="{BB269B1A-7FFA-7DD9-5671-774935616C06}"/>
          </ac:spMkLst>
        </pc:spChg>
        <pc:grpChg chg="mod">
          <ac:chgData name="Luiz Augusto Melo Pereira" userId="4bd5ce759a66f368" providerId="LiveId" clId="{E8062ADE-A42D-4E2D-9C7E-CEB76EF190B8}" dt="2025-01-26T13:09:43.480" v="1521" actId="1036"/>
          <ac:grpSpMkLst>
            <pc:docMk/>
            <pc:sldMk cId="0" sldId="320"/>
            <ac:grpSpMk id="71" creationId="{00000000-0000-0000-0000-000000000000}"/>
          </ac:grpSpMkLst>
        </pc:grpChg>
      </pc:sldChg>
      <pc:sldChg chg="addSp delSp modSp mod">
        <pc:chgData name="Luiz Augusto Melo Pereira" userId="4bd5ce759a66f368" providerId="LiveId" clId="{E8062ADE-A42D-4E2D-9C7E-CEB76EF190B8}" dt="2025-01-26T13:12:37.880" v="1597" actId="6549"/>
        <pc:sldMkLst>
          <pc:docMk/>
          <pc:sldMk cId="0" sldId="323"/>
        </pc:sldMkLst>
        <pc:spChg chg="del">
          <ac:chgData name="Luiz Augusto Melo Pereira" userId="4bd5ce759a66f368" providerId="LiveId" clId="{E8062ADE-A42D-4E2D-9C7E-CEB76EF190B8}" dt="2025-01-26T13:12:23.710" v="1595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2:20.325" v="1594" actId="478"/>
          <ac:spMkLst>
            <pc:docMk/>
            <pc:sldMk cId="0" sldId="323"/>
            <ac:spMk id="5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6T13:12:18.424" v="1593" actId="478"/>
          <ac:spMkLst>
            <pc:docMk/>
            <pc:sldMk cId="0" sldId="323"/>
            <ac:spMk id="6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3T18:05:55.423" v="12" actId="478"/>
          <ac:spMkLst>
            <pc:docMk/>
            <pc:sldMk cId="0" sldId="323"/>
            <ac:spMk id="7" creationId="{00000000-0000-0000-0000-000000000000}"/>
          </ac:spMkLst>
        </pc:spChg>
        <pc:spChg chg="add mod">
          <ac:chgData name="Luiz Augusto Melo Pereira" userId="4bd5ce759a66f368" providerId="LiveId" clId="{E8062ADE-A42D-4E2D-9C7E-CEB76EF190B8}" dt="2025-01-26T13:12:28.781" v="1596" actId="1076"/>
          <ac:spMkLst>
            <pc:docMk/>
            <pc:sldMk cId="0" sldId="323"/>
            <ac:spMk id="7" creationId="{C225A4B1-EEEE-F1A0-1524-4C7C74302026}"/>
          </ac:spMkLst>
        </pc:spChg>
        <pc:spChg chg="del">
          <ac:chgData name="Luiz Augusto Melo Pereira" userId="4bd5ce759a66f368" providerId="LiveId" clId="{E8062ADE-A42D-4E2D-9C7E-CEB76EF190B8}" dt="2025-01-23T18:06:10.190" v="18" actId="478"/>
          <ac:spMkLst>
            <pc:docMk/>
            <pc:sldMk cId="0" sldId="323"/>
            <ac:spMk id="8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3T18:06:07.601" v="16" actId="478"/>
          <ac:spMkLst>
            <pc:docMk/>
            <pc:sldMk cId="0" sldId="323"/>
            <ac:spMk id="9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3T18:06:08.611" v="17" actId="478"/>
          <ac:spMkLst>
            <pc:docMk/>
            <pc:sldMk cId="0" sldId="323"/>
            <ac:spMk id="10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6T13:12:37.880" v="1597" actId="6549"/>
          <ac:spMkLst>
            <pc:docMk/>
            <pc:sldMk cId="0" sldId="323"/>
            <ac:spMk id="11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3T18:05:12.930" v="2" actId="478"/>
          <ac:spMkLst>
            <pc:docMk/>
            <pc:sldMk cId="0" sldId="323"/>
            <ac:spMk id="12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3T18:05:10.347" v="1" actId="478"/>
          <ac:spMkLst>
            <pc:docMk/>
            <pc:sldMk cId="0" sldId="323"/>
            <ac:spMk id="1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3T18:05:47.621" v="10" actId="478"/>
          <ac:spMkLst>
            <pc:docMk/>
            <pc:sldMk cId="0" sldId="323"/>
            <ac:spMk id="1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3T18:05:49.072" v="11" actId="478"/>
          <ac:spMkLst>
            <pc:docMk/>
            <pc:sldMk cId="0" sldId="323"/>
            <ac:spMk id="15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3T18:05:45.424" v="9" actId="478"/>
          <ac:spMkLst>
            <pc:docMk/>
            <pc:sldMk cId="0" sldId="323"/>
            <ac:spMk id="16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3T18:08:30.436" v="97" actId="1036"/>
          <ac:spMkLst>
            <pc:docMk/>
            <pc:sldMk cId="0" sldId="323"/>
            <ac:spMk id="17" creationId="{00000000-0000-0000-0000-000000000000}"/>
          </ac:spMkLst>
        </pc:spChg>
      </pc:sldChg>
      <pc:sldChg chg="addSp delSp modSp mod">
        <pc:chgData name="Luiz Augusto Melo Pereira" userId="4bd5ce759a66f368" providerId="LiveId" clId="{E8062ADE-A42D-4E2D-9C7E-CEB76EF190B8}" dt="2025-01-26T13:15:03.436" v="1674" actId="552"/>
        <pc:sldMkLst>
          <pc:docMk/>
          <pc:sldMk cId="0" sldId="324"/>
        </pc:sldMkLst>
        <pc:spChg chg="mod">
          <ac:chgData name="Luiz Augusto Melo Pereira" userId="4bd5ce759a66f368" providerId="LiveId" clId="{E8062ADE-A42D-4E2D-9C7E-CEB76EF190B8}" dt="2025-01-26T13:15:03.436" v="1674" actId="552"/>
          <ac:spMkLst>
            <pc:docMk/>
            <pc:sldMk cId="0" sldId="324"/>
            <ac:spMk id="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4:16.214" v="1645" actId="478"/>
          <ac:spMkLst>
            <pc:docMk/>
            <pc:sldMk cId="0" sldId="324"/>
            <ac:spMk id="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4:06.503" v="1642" actId="478"/>
          <ac:spMkLst>
            <pc:docMk/>
            <pc:sldMk cId="0" sldId="324"/>
            <ac:spMk id="5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4:05.268" v="1641" actId="478"/>
          <ac:spMkLst>
            <pc:docMk/>
            <pc:sldMk cId="0" sldId="324"/>
            <ac:spMk id="6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4:08.836" v="1643" actId="478"/>
          <ac:spMkLst>
            <pc:docMk/>
            <pc:sldMk cId="0" sldId="324"/>
            <ac:spMk id="7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4:10.522" v="1644" actId="478"/>
          <ac:spMkLst>
            <pc:docMk/>
            <pc:sldMk cId="0" sldId="324"/>
            <ac:spMk id="8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4:03.211" v="1638" actId="478"/>
          <ac:spMkLst>
            <pc:docMk/>
            <pc:sldMk cId="0" sldId="324"/>
            <ac:spMk id="9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6T13:14:03.213" v="1640"/>
          <ac:spMkLst>
            <pc:docMk/>
            <pc:sldMk cId="0" sldId="324"/>
            <ac:spMk id="10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4:25.172" v="1649" actId="478"/>
          <ac:spMkLst>
            <pc:docMk/>
            <pc:sldMk cId="0" sldId="324"/>
            <ac:spMk id="11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4:25.172" v="1649" actId="478"/>
          <ac:spMkLst>
            <pc:docMk/>
            <pc:sldMk cId="0" sldId="324"/>
            <ac:spMk id="12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4:25.172" v="1649" actId="478"/>
          <ac:spMkLst>
            <pc:docMk/>
            <pc:sldMk cId="0" sldId="324"/>
            <ac:spMk id="1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4:25.172" v="1649" actId="478"/>
          <ac:spMkLst>
            <pc:docMk/>
            <pc:sldMk cId="0" sldId="324"/>
            <ac:spMk id="14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6T13:15:03.436" v="1674" actId="552"/>
          <ac:spMkLst>
            <pc:docMk/>
            <pc:sldMk cId="0" sldId="324"/>
            <ac:spMk id="15" creationId="{00000000-0000-0000-0000-000000000000}"/>
          </ac:spMkLst>
        </pc:spChg>
        <pc:spChg chg="add mod">
          <ac:chgData name="Luiz Augusto Melo Pereira" userId="4bd5ce759a66f368" providerId="LiveId" clId="{E8062ADE-A42D-4E2D-9C7E-CEB76EF190B8}" dt="2025-01-26T13:14:56.558" v="1673" actId="1035"/>
          <ac:spMkLst>
            <pc:docMk/>
            <pc:sldMk cId="0" sldId="324"/>
            <ac:spMk id="17" creationId="{8D9B10D0-9D6E-91E8-C87E-112FEEC4B682}"/>
          </ac:spMkLst>
        </pc:spChg>
        <pc:spChg chg="add mod">
          <ac:chgData name="Luiz Augusto Melo Pereira" userId="4bd5ce759a66f368" providerId="LiveId" clId="{E8062ADE-A42D-4E2D-9C7E-CEB76EF190B8}" dt="2025-01-26T13:14:48.341" v="1669" actId="1036"/>
          <ac:spMkLst>
            <pc:docMk/>
            <pc:sldMk cId="0" sldId="324"/>
            <ac:spMk id="18" creationId="{A043E6AD-1AC6-6FFB-149A-1FC17DA0859B}"/>
          </ac:spMkLst>
        </pc:spChg>
      </pc:sldChg>
      <pc:sldChg chg="modSp mod">
        <pc:chgData name="Luiz Augusto Melo Pereira" userId="4bd5ce759a66f368" providerId="LiveId" clId="{E8062ADE-A42D-4E2D-9C7E-CEB76EF190B8}" dt="2025-01-26T13:15:19.762" v="1676" actId="1076"/>
        <pc:sldMkLst>
          <pc:docMk/>
          <pc:sldMk cId="0" sldId="326"/>
        </pc:sldMkLst>
        <pc:spChg chg="mod">
          <ac:chgData name="Luiz Augusto Melo Pereira" userId="4bd5ce759a66f368" providerId="LiveId" clId="{E8062ADE-A42D-4E2D-9C7E-CEB76EF190B8}" dt="2025-01-26T13:15:19.762" v="1676" actId="1076"/>
          <ac:spMkLst>
            <pc:docMk/>
            <pc:sldMk cId="0" sldId="326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E8062ADE-A42D-4E2D-9C7E-CEB76EF190B8}" dt="2025-01-26T13:18:35.478" v="1769" actId="1036"/>
        <pc:sldMkLst>
          <pc:docMk/>
          <pc:sldMk cId="0" sldId="327"/>
        </pc:sldMkLst>
        <pc:spChg chg="mod">
          <ac:chgData name="Luiz Augusto Melo Pereira" userId="4bd5ce759a66f368" providerId="LiveId" clId="{E8062ADE-A42D-4E2D-9C7E-CEB76EF190B8}" dt="2025-01-26T13:16:02.336" v="1701" actId="20577"/>
          <ac:spMkLst>
            <pc:docMk/>
            <pc:sldMk cId="0" sldId="327"/>
            <ac:spMk id="2" creationId="{00000000-0000-0000-0000-000000000000}"/>
          </ac:spMkLst>
        </pc:spChg>
        <pc:spChg chg="add mod">
          <ac:chgData name="Luiz Augusto Melo Pereira" userId="4bd5ce759a66f368" providerId="LiveId" clId="{E8062ADE-A42D-4E2D-9C7E-CEB76EF190B8}" dt="2025-01-26T13:18:35.478" v="1769" actId="1036"/>
          <ac:spMkLst>
            <pc:docMk/>
            <pc:sldMk cId="0" sldId="327"/>
            <ac:spMk id="3" creationId="{1774395C-FA4E-1CC5-A3D6-3D9147BF532A}"/>
          </ac:spMkLst>
        </pc:spChg>
        <pc:spChg chg="mod">
          <ac:chgData name="Luiz Augusto Melo Pereira" userId="4bd5ce759a66f368" providerId="LiveId" clId="{E8062ADE-A42D-4E2D-9C7E-CEB76EF190B8}" dt="2025-01-26T13:18:31.440" v="1765" actId="1035"/>
          <ac:spMkLst>
            <pc:docMk/>
            <pc:sldMk cId="0" sldId="327"/>
            <ac:spMk id="62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8:16.593" v="1761" actId="478"/>
          <ac:spMkLst>
            <pc:docMk/>
            <pc:sldMk cId="0" sldId="327"/>
            <ac:spMk id="63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8:09.412" v="1760" actId="478"/>
          <ac:spMkLst>
            <pc:docMk/>
            <pc:sldMk cId="0" sldId="327"/>
            <ac:spMk id="6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8:16.593" v="1761" actId="478"/>
          <ac:spMkLst>
            <pc:docMk/>
            <pc:sldMk cId="0" sldId="327"/>
            <ac:spMk id="65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8:16.593" v="1761" actId="478"/>
          <ac:spMkLst>
            <pc:docMk/>
            <pc:sldMk cId="0" sldId="327"/>
            <ac:spMk id="66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8:16.593" v="1761" actId="478"/>
          <ac:spMkLst>
            <pc:docMk/>
            <pc:sldMk cId="0" sldId="327"/>
            <ac:spMk id="67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8:16.593" v="1761" actId="478"/>
          <ac:spMkLst>
            <pc:docMk/>
            <pc:sldMk cId="0" sldId="327"/>
            <ac:spMk id="68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8:16.593" v="1761" actId="478"/>
          <ac:spMkLst>
            <pc:docMk/>
            <pc:sldMk cId="0" sldId="327"/>
            <ac:spMk id="69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8:16.593" v="1761" actId="478"/>
          <ac:spMkLst>
            <pc:docMk/>
            <pc:sldMk cId="0" sldId="327"/>
            <ac:spMk id="70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8:16.593" v="1761" actId="478"/>
          <ac:spMkLst>
            <pc:docMk/>
            <pc:sldMk cId="0" sldId="327"/>
            <ac:spMk id="71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8:16.593" v="1761" actId="478"/>
          <ac:spMkLst>
            <pc:docMk/>
            <pc:sldMk cId="0" sldId="327"/>
            <ac:spMk id="72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18:06.527" v="1759" actId="478"/>
          <ac:spMkLst>
            <pc:docMk/>
            <pc:sldMk cId="0" sldId="327"/>
            <ac:spMk id="73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6T13:18:27.562" v="1763" actId="1035"/>
          <ac:spMkLst>
            <pc:docMk/>
            <pc:sldMk cId="0" sldId="327"/>
            <ac:spMk id="74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6T13:18:51.525" v="1771" actId="1076"/>
        <pc:sldMkLst>
          <pc:docMk/>
          <pc:sldMk cId="0" sldId="329"/>
        </pc:sldMkLst>
        <pc:spChg chg="mod">
          <ac:chgData name="Luiz Augusto Melo Pereira" userId="4bd5ce759a66f368" providerId="LiveId" clId="{E8062ADE-A42D-4E2D-9C7E-CEB76EF190B8}" dt="2025-01-26T13:18:51.525" v="1771" actId="1076"/>
          <ac:spMkLst>
            <pc:docMk/>
            <pc:sldMk cId="0" sldId="32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6T13:18:55.709" v="1773" actId="1076"/>
        <pc:sldMkLst>
          <pc:docMk/>
          <pc:sldMk cId="0" sldId="330"/>
        </pc:sldMkLst>
        <pc:spChg chg="mod">
          <ac:chgData name="Luiz Augusto Melo Pereira" userId="4bd5ce759a66f368" providerId="LiveId" clId="{E8062ADE-A42D-4E2D-9C7E-CEB76EF190B8}" dt="2025-01-26T13:18:55.709" v="1773" actId="1076"/>
          <ac:spMkLst>
            <pc:docMk/>
            <pc:sldMk cId="0" sldId="330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6T13:18:59.481" v="1775" actId="1076"/>
        <pc:sldMkLst>
          <pc:docMk/>
          <pc:sldMk cId="0" sldId="331"/>
        </pc:sldMkLst>
        <pc:spChg chg="mod">
          <ac:chgData name="Luiz Augusto Melo Pereira" userId="4bd5ce759a66f368" providerId="LiveId" clId="{E8062ADE-A42D-4E2D-9C7E-CEB76EF190B8}" dt="2025-01-26T13:18:59.481" v="1775" actId="1076"/>
          <ac:spMkLst>
            <pc:docMk/>
            <pc:sldMk cId="0" sldId="331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6T13:19:04.225" v="1777" actId="1076"/>
        <pc:sldMkLst>
          <pc:docMk/>
          <pc:sldMk cId="0" sldId="332"/>
        </pc:sldMkLst>
        <pc:spChg chg="mod">
          <ac:chgData name="Luiz Augusto Melo Pereira" userId="4bd5ce759a66f368" providerId="LiveId" clId="{E8062ADE-A42D-4E2D-9C7E-CEB76EF190B8}" dt="2025-01-26T13:19:04.225" v="1777" actId="1076"/>
          <ac:spMkLst>
            <pc:docMk/>
            <pc:sldMk cId="0" sldId="332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E8062ADE-A42D-4E2D-9C7E-CEB76EF190B8}" dt="2025-01-26T13:22:39.211" v="1849" actId="1036"/>
        <pc:sldMkLst>
          <pc:docMk/>
          <pc:sldMk cId="0" sldId="333"/>
        </pc:sldMkLst>
        <pc:spChg chg="mod">
          <ac:chgData name="Luiz Augusto Melo Pereira" userId="4bd5ce759a66f368" providerId="LiveId" clId="{E8062ADE-A42D-4E2D-9C7E-CEB76EF190B8}" dt="2025-01-26T13:19:16.795" v="1784" actId="20577"/>
          <ac:spMkLst>
            <pc:docMk/>
            <pc:sldMk cId="0" sldId="333"/>
            <ac:spMk id="3" creationId="{00000000-0000-0000-0000-000000000000}"/>
          </ac:spMkLst>
        </pc:spChg>
        <pc:spChg chg="del mod">
          <ac:chgData name="Luiz Augusto Melo Pereira" userId="4bd5ce759a66f368" providerId="LiveId" clId="{E8062ADE-A42D-4E2D-9C7E-CEB76EF190B8}" dt="2025-01-26T13:19:26.912" v="1791"/>
          <ac:spMkLst>
            <pc:docMk/>
            <pc:sldMk cId="0" sldId="333"/>
            <ac:spMk id="4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21:56.583" v="1841" actId="478"/>
          <ac:spMkLst>
            <pc:docMk/>
            <pc:sldMk cId="0" sldId="333"/>
            <ac:spMk id="5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21:56.583" v="1841" actId="478"/>
          <ac:spMkLst>
            <pc:docMk/>
            <pc:sldMk cId="0" sldId="333"/>
            <ac:spMk id="6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21:56.583" v="1841" actId="478"/>
          <ac:spMkLst>
            <pc:docMk/>
            <pc:sldMk cId="0" sldId="333"/>
            <ac:spMk id="7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21:56.583" v="1841" actId="478"/>
          <ac:spMkLst>
            <pc:docMk/>
            <pc:sldMk cId="0" sldId="333"/>
            <ac:spMk id="8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21:56.583" v="1841" actId="478"/>
          <ac:spMkLst>
            <pc:docMk/>
            <pc:sldMk cId="0" sldId="333"/>
            <ac:spMk id="9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6T13:22:27.055" v="1847" actId="1036"/>
          <ac:spMkLst>
            <pc:docMk/>
            <pc:sldMk cId="0" sldId="333"/>
            <ac:spMk id="10" creationId="{00000000-0000-0000-0000-000000000000}"/>
          </ac:spMkLst>
        </pc:spChg>
        <pc:spChg chg="add mod">
          <ac:chgData name="Luiz Augusto Melo Pereira" userId="4bd5ce759a66f368" providerId="LiveId" clId="{E8062ADE-A42D-4E2D-9C7E-CEB76EF190B8}" dt="2025-01-26T13:22:29.602" v="1848" actId="1036"/>
          <ac:spMkLst>
            <pc:docMk/>
            <pc:sldMk cId="0" sldId="333"/>
            <ac:spMk id="13" creationId="{784A078A-9E53-BDBA-E04F-7F8589DC7363}"/>
          </ac:spMkLst>
        </pc:spChg>
        <pc:spChg chg="add mod">
          <ac:chgData name="Luiz Augusto Melo Pereira" userId="4bd5ce759a66f368" providerId="LiveId" clId="{E8062ADE-A42D-4E2D-9C7E-CEB76EF190B8}" dt="2025-01-26T13:22:39.211" v="1849" actId="1036"/>
          <ac:spMkLst>
            <pc:docMk/>
            <pc:sldMk cId="0" sldId="333"/>
            <ac:spMk id="15" creationId="{0C6C1327-CE19-57D6-BA7C-6EC395339466}"/>
          </ac:spMkLst>
        </pc:spChg>
      </pc:sldChg>
      <pc:sldChg chg="modSp mod">
        <pc:chgData name="Luiz Augusto Melo Pereira" userId="4bd5ce759a66f368" providerId="LiveId" clId="{E8062ADE-A42D-4E2D-9C7E-CEB76EF190B8}" dt="2025-01-26T13:22:44.582" v="1851" actId="1076"/>
        <pc:sldMkLst>
          <pc:docMk/>
          <pc:sldMk cId="0" sldId="334"/>
        </pc:sldMkLst>
        <pc:spChg chg="mod">
          <ac:chgData name="Luiz Augusto Melo Pereira" userId="4bd5ce759a66f368" providerId="LiveId" clId="{E8062ADE-A42D-4E2D-9C7E-CEB76EF190B8}" dt="2025-01-26T13:22:44.582" v="1851" actId="1076"/>
          <ac:spMkLst>
            <pc:docMk/>
            <pc:sldMk cId="0" sldId="334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6T13:22:47.990" v="1853" actId="1076"/>
        <pc:sldMkLst>
          <pc:docMk/>
          <pc:sldMk cId="0" sldId="335"/>
        </pc:sldMkLst>
        <pc:spChg chg="mod">
          <ac:chgData name="Luiz Augusto Melo Pereira" userId="4bd5ce759a66f368" providerId="LiveId" clId="{E8062ADE-A42D-4E2D-9C7E-CEB76EF190B8}" dt="2025-01-26T13:22:47.990" v="1853" actId="1076"/>
          <ac:spMkLst>
            <pc:docMk/>
            <pc:sldMk cId="0" sldId="33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E8062ADE-A42D-4E2D-9C7E-CEB76EF190B8}" dt="2025-01-26T13:22:52.267" v="1855" actId="1076"/>
        <pc:sldMkLst>
          <pc:docMk/>
          <pc:sldMk cId="0" sldId="336"/>
        </pc:sldMkLst>
        <pc:spChg chg="mod">
          <ac:chgData name="Luiz Augusto Melo Pereira" userId="4bd5ce759a66f368" providerId="LiveId" clId="{E8062ADE-A42D-4E2D-9C7E-CEB76EF190B8}" dt="2025-01-26T13:22:52.267" v="1855" actId="1076"/>
          <ac:spMkLst>
            <pc:docMk/>
            <pc:sldMk cId="0" sldId="336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E8062ADE-A42D-4E2D-9C7E-CEB76EF190B8}" dt="2025-01-26T13:25:19.241" v="1931" actId="1076"/>
        <pc:sldMkLst>
          <pc:docMk/>
          <pc:sldMk cId="0" sldId="337"/>
        </pc:sldMkLst>
        <pc:spChg chg="del">
          <ac:chgData name="Luiz Augusto Melo Pereira" userId="4bd5ce759a66f368" providerId="LiveId" clId="{E8062ADE-A42D-4E2D-9C7E-CEB76EF190B8}" dt="2025-01-26T13:24:56.201" v="1927" actId="478"/>
          <ac:spMkLst>
            <pc:docMk/>
            <pc:sldMk cId="0" sldId="337"/>
            <ac:spMk id="4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6T13:25:11.064" v="1930" actId="14100"/>
          <ac:spMkLst>
            <pc:docMk/>
            <pc:sldMk cId="0" sldId="337"/>
            <ac:spMk id="5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23:18.772" v="1865" actId="478"/>
          <ac:spMkLst>
            <pc:docMk/>
            <pc:sldMk cId="0" sldId="337"/>
            <ac:spMk id="6" creationId="{00000000-0000-0000-0000-000000000000}"/>
          </ac:spMkLst>
        </pc:spChg>
        <pc:spChg chg="del">
          <ac:chgData name="Luiz Augusto Melo Pereira" userId="4bd5ce759a66f368" providerId="LiveId" clId="{E8062ADE-A42D-4E2D-9C7E-CEB76EF190B8}" dt="2025-01-26T13:23:28.314" v="1870" actId="478"/>
          <ac:spMkLst>
            <pc:docMk/>
            <pc:sldMk cId="0" sldId="337"/>
            <ac:spMk id="7" creationId="{00000000-0000-0000-0000-000000000000}"/>
          </ac:spMkLst>
        </pc:spChg>
        <pc:spChg chg="mod">
          <ac:chgData name="Luiz Augusto Melo Pereira" userId="4bd5ce759a66f368" providerId="LiveId" clId="{E8062ADE-A42D-4E2D-9C7E-CEB76EF190B8}" dt="2025-01-26T13:23:35.556" v="1871" actId="1076"/>
          <ac:spMkLst>
            <pc:docMk/>
            <pc:sldMk cId="0" sldId="337"/>
            <ac:spMk id="8" creationId="{00000000-0000-0000-0000-000000000000}"/>
          </ac:spMkLst>
        </pc:spChg>
        <pc:spChg chg="add del mod">
          <ac:chgData name="Luiz Augusto Melo Pereira" userId="4bd5ce759a66f368" providerId="LiveId" clId="{E8062ADE-A42D-4E2D-9C7E-CEB76EF190B8}" dt="2025-01-26T13:24:47.241" v="1913" actId="1076"/>
          <ac:spMkLst>
            <pc:docMk/>
            <pc:sldMk cId="0" sldId="337"/>
            <ac:spMk id="9" creationId="{00000000-0000-0000-0000-000000000000}"/>
          </ac:spMkLst>
        </pc:spChg>
        <pc:spChg chg="add mod">
          <ac:chgData name="Luiz Augusto Melo Pereira" userId="4bd5ce759a66f368" providerId="LiveId" clId="{E8062ADE-A42D-4E2D-9C7E-CEB76EF190B8}" dt="2025-01-26T13:25:19.241" v="1931" actId="1076"/>
          <ac:spMkLst>
            <pc:docMk/>
            <pc:sldMk cId="0" sldId="337"/>
            <ac:spMk id="15" creationId="{0B8A6E51-E41A-0D7D-E5D7-95CFEB44CF8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2621B-8712-4412-9B03-04C97FD4E2BE}" type="datetimeFigureOut">
              <a:rPr lang="pt-BR" smtClean="0"/>
              <a:t>26/01/2025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AD0B9-AC1F-4BEE-8ED8-22F9BAE6B3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298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AD0B9-AC1F-4BEE-8ED8-22F9BAE6B3D6}" type="slidenum">
              <a:rPr lang="pt-BR" smtClean="0"/>
              <a:t>65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3142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38721" y="2263520"/>
            <a:ext cx="5318125" cy="430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7924"/>
            <a:ext cx="10358120" cy="1301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493"/>
            <a:ext cx="10694670" cy="4606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.figueiredo@inatel.br" TargetMode="External"/><Relationship Id="rId4" Type="http://schemas.openxmlformats.org/officeDocument/2006/relationships/hyperlink" Target="mailto:luiz.melo@inatel.b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colab.research.google.com/github/luiz10ml/tp555-ml/blob/main/exemplos/non-linear-regression/model_linearization.ipynb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0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non-linear-regression/polynomial_regression_example_with_outliers.ipynb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non-linear-regression/polynomial_features_from_scikit.ipynb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non-linear-regression/polynomial_regression.ipynb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non-linear-regression/training_error_versus_validation_error.ipynb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uiz10ml/tp555-ml/blob/main/exemplos/non-linear-regression/variancia_e_vies.ipynb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non-linear-regression/bias_variance_tradeoff.ipynb" TargetMode="External"/><Relationship Id="rId2" Type="http://schemas.openxmlformats.org/officeDocument/2006/relationships/hyperlink" Target="https://colab.research.google.com/github/luiz10ml/tp555-ml/blob/main/exemplos/non-linear-regression/polynomial_regression_mse_big_data_set.ipynb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colab.research.google.com/github/luiz10ml/tp555-ml/blob/main/exemplos/non-linear-regression/validacao_cruzada.ipynb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uiz10ml/tp555-ml/blob/main/slides/TP555_Curvas_de_Aprendizado.pdf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uiz10ml/tp555-ml/blob/main/exemplos/non-linear-regression/regularization/absolute_value_of_weights_when_model_overfits.ipynb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2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colab.research.google.com/github/luiz10ml/tp555-ml/blob/main/exemplos/non-linear-regression/regularization/example_ridge_regression.ipynb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hyperlink" Target="https://colab.research.google.com/github/luiz10ml/tp555-ml/blob/main/exemplos/non-linear-regression/regularization/example_lasso_regression.ipynb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71.png"/><Relationship Id="rId7" Type="http://schemas.openxmlformats.org/officeDocument/2006/relationships/image" Target="../media/image53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.png"/><Relationship Id="rId5" Type="http://schemas.openxmlformats.org/officeDocument/2006/relationships/image" Target="../media/image510.png"/><Relationship Id="rId4" Type="http://schemas.openxmlformats.org/officeDocument/2006/relationships/image" Target="../media/image500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github/luiz10ml/tp555-ml/blob/main/exemplos/non-linear-regression/regularization/example_elastic_net_regression.ipynb" TargetMode="Externa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hyperlink" Target="https://colab.research.google.com/github/luiz10ml/tp555-ml/blob/main/exemplos/non-linear-regression/regularization/exemplo_early_stopping.ipynb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g"/><Relationship Id="rId3" Type="http://schemas.openxmlformats.org/officeDocument/2006/relationships/image" Target="../media/image83.jpg"/><Relationship Id="rId7" Type="http://schemas.openxmlformats.org/officeDocument/2006/relationships/image" Target="../media/image87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6.jpg"/><Relationship Id="rId5" Type="http://schemas.openxmlformats.org/officeDocument/2006/relationships/image" Target="../media/image85.jpg"/><Relationship Id="rId4" Type="http://schemas.openxmlformats.org/officeDocument/2006/relationships/image" Target="../media/image84.jp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7229" y="398525"/>
            <a:ext cx="8021320" cy="218059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25425" marR="224790" algn="ctr">
              <a:lnSpc>
                <a:spcPts val="5290"/>
              </a:lnSpc>
              <a:spcBef>
                <a:spcPts val="760"/>
              </a:spcBef>
            </a:pPr>
            <a:r>
              <a:rPr sz="4900" dirty="0"/>
              <a:t>TP555</a:t>
            </a:r>
            <a:r>
              <a:rPr sz="4900" spc="-125" dirty="0"/>
              <a:t> </a:t>
            </a:r>
            <a:r>
              <a:rPr sz="4900" dirty="0"/>
              <a:t>-</a:t>
            </a:r>
            <a:r>
              <a:rPr sz="4900" spc="-145" dirty="0"/>
              <a:t> </a:t>
            </a:r>
            <a:r>
              <a:rPr sz="4900" spc="-10" dirty="0"/>
              <a:t>Inteligência</a:t>
            </a:r>
            <a:r>
              <a:rPr sz="4900" spc="-80" dirty="0"/>
              <a:t> </a:t>
            </a:r>
            <a:r>
              <a:rPr sz="4900" dirty="0"/>
              <a:t>Artificial</a:t>
            </a:r>
            <a:r>
              <a:rPr sz="4900" spc="-110" dirty="0"/>
              <a:t> </a:t>
            </a:r>
            <a:r>
              <a:rPr sz="4900" spc="-50" dirty="0"/>
              <a:t>e </a:t>
            </a:r>
            <a:r>
              <a:rPr sz="4900" dirty="0"/>
              <a:t>Machine</a:t>
            </a:r>
            <a:r>
              <a:rPr sz="4900" spc="-155" dirty="0"/>
              <a:t> </a:t>
            </a:r>
            <a:r>
              <a:rPr sz="4900" spc="-10" dirty="0"/>
              <a:t>Learning:</a:t>
            </a:r>
            <a:endParaRPr sz="4900"/>
          </a:p>
          <a:p>
            <a:pPr algn="ctr">
              <a:lnSpc>
                <a:spcPts val="5725"/>
              </a:lnSpc>
            </a:pPr>
            <a:r>
              <a:rPr sz="5400" i="1" spc="-35" dirty="0">
                <a:latin typeface="Calibri Light"/>
                <a:cs typeface="Calibri Light"/>
              </a:rPr>
              <a:t>Regressão</a:t>
            </a:r>
            <a:r>
              <a:rPr sz="5400" i="1" spc="-245" dirty="0">
                <a:latin typeface="Calibri Light"/>
                <a:cs typeface="Calibri Light"/>
              </a:rPr>
              <a:t> </a:t>
            </a:r>
            <a:r>
              <a:rPr sz="5400" i="1" dirty="0">
                <a:latin typeface="Calibri Light"/>
                <a:cs typeface="Calibri Light"/>
              </a:rPr>
              <a:t>com</a:t>
            </a:r>
            <a:r>
              <a:rPr sz="5400" i="1" spc="-265" dirty="0">
                <a:latin typeface="Calibri Light"/>
                <a:cs typeface="Calibri Light"/>
              </a:rPr>
              <a:t> </a:t>
            </a:r>
            <a:r>
              <a:rPr sz="5400" i="1" spc="-10" dirty="0">
                <a:latin typeface="Calibri Light"/>
                <a:cs typeface="Calibri Light"/>
              </a:rPr>
              <a:t>Modelos</a:t>
            </a:r>
            <a:r>
              <a:rPr sz="5400" i="1" spc="-245" dirty="0">
                <a:latin typeface="Calibri Light"/>
                <a:cs typeface="Calibri Light"/>
              </a:rPr>
              <a:t> </a:t>
            </a:r>
            <a:r>
              <a:rPr sz="5400" i="1" spc="-20" dirty="0">
                <a:latin typeface="Calibri Light"/>
                <a:cs typeface="Calibri Light"/>
              </a:rPr>
              <a:t>Não-</a:t>
            </a:r>
            <a:endParaRPr sz="5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9852" y="2471673"/>
            <a:ext cx="95383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i="1" spc="-10" dirty="0">
                <a:latin typeface="Calibri Light"/>
                <a:cs typeface="Calibri Light"/>
              </a:rPr>
              <a:t>Lineares</a:t>
            </a:r>
            <a:r>
              <a:rPr sz="5400" b="0" i="1" spc="-225" dirty="0">
                <a:latin typeface="Calibri Light"/>
                <a:cs typeface="Calibri Light"/>
              </a:rPr>
              <a:t> </a:t>
            </a:r>
            <a:r>
              <a:rPr sz="5400" b="0" i="1" dirty="0">
                <a:latin typeface="Calibri Light"/>
                <a:cs typeface="Calibri Light"/>
              </a:rPr>
              <a:t>com</a:t>
            </a:r>
            <a:r>
              <a:rPr sz="5400" b="0" i="1" spc="-260" dirty="0">
                <a:latin typeface="Calibri Light"/>
                <a:cs typeface="Calibri Light"/>
              </a:rPr>
              <a:t> </a:t>
            </a:r>
            <a:r>
              <a:rPr sz="5400" b="0" i="1" spc="-30" dirty="0">
                <a:latin typeface="Calibri Light"/>
                <a:cs typeface="Calibri Light"/>
              </a:rPr>
              <a:t>Relação</a:t>
            </a:r>
            <a:r>
              <a:rPr sz="5400" b="0" i="1" spc="-229" dirty="0">
                <a:latin typeface="Calibri Light"/>
                <a:cs typeface="Calibri Light"/>
              </a:rPr>
              <a:t> </a:t>
            </a:r>
            <a:r>
              <a:rPr sz="5400" b="0" i="1" dirty="0">
                <a:latin typeface="Calibri Light"/>
                <a:cs typeface="Calibri Light"/>
              </a:rPr>
              <a:t>aos</a:t>
            </a:r>
            <a:r>
              <a:rPr sz="5400" b="0" i="1" spc="-220" dirty="0">
                <a:latin typeface="Calibri Light"/>
                <a:cs typeface="Calibri Light"/>
              </a:rPr>
              <a:t> </a:t>
            </a:r>
            <a:r>
              <a:rPr sz="5400" b="0" i="1" spc="-50" dirty="0">
                <a:latin typeface="Calibri Light"/>
                <a:cs typeface="Calibri Light"/>
              </a:rPr>
              <a:t>Atributos</a:t>
            </a:r>
            <a:endParaRPr sz="5400">
              <a:latin typeface="Calibri Light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425" y="5557413"/>
            <a:ext cx="2178223" cy="6189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319" y="3396386"/>
            <a:ext cx="2165576" cy="2237104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7C16A080-A150-6B8E-B0C3-10DC083D9139}"/>
              </a:ext>
            </a:extLst>
          </p:cNvPr>
          <p:cNvSpPr txBox="1"/>
          <p:nvPr/>
        </p:nvSpPr>
        <p:spPr>
          <a:xfrm>
            <a:off x="4193222" y="6176369"/>
            <a:ext cx="3805554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2000" b="1" dirty="0">
                <a:latin typeface="Calibri"/>
                <a:cs typeface="Calibri"/>
              </a:rPr>
              <a:t>Prof. Dr. Luiz Augusto Melo Pereira</a:t>
            </a:r>
            <a:endParaRPr sz="20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"/>
              </a:spcBef>
            </a:pPr>
            <a:r>
              <a:rPr lang="pt-BR" spc="-10" dirty="0">
                <a:latin typeface="Calibri"/>
                <a:cs typeface="Calibri"/>
                <a:hlinkClick r:id="rId4"/>
              </a:rPr>
              <a:t>luiz</a:t>
            </a:r>
            <a:r>
              <a:rPr lang="pt-BR" sz="1800" spc="-10" dirty="0">
                <a:latin typeface="Calibri"/>
                <a:cs typeface="Calibri"/>
                <a:hlinkClick r:id="rId4"/>
              </a:rPr>
              <a:t>.melo@inatel.br</a:t>
            </a:r>
            <a:endParaRPr lang="pt-BR" sz="1800" dirty="0">
              <a:latin typeface="Calibri"/>
              <a:cs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CFB8200-C80B-EEF2-A5F9-0D4A018AB145}"/>
              </a:ext>
            </a:extLst>
          </p:cNvPr>
          <p:cNvSpPr txBox="1"/>
          <p:nvPr/>
        </p:nvSpPr>
        <p:spPr>
          <a:xfrm>
            <a:off x="7137790" y="3972006"/>
            <a:ext cx="512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"/>
                <a:cs typeface="Calibri"/>
              </a:rPr>
              <a:t>Esse material foi desenvolvido e gentilmente cedido </a:t>
            </a:r>
          </a:p>
          <a:p>
            <a:r>
              <a:rPr lang="pt-BR" dirty="0">
                <a:latin typeface="Calibri"/>
                <a:cs typeface="Calibri"/>
              </a:rPr>
              <a:t>pelo Prof. Dr. Felipe Augusto Pereira de Figueiredo, </a:t>
            </a:r>
          </a:p>
          <a:p>
            <a:r>
              <a:rPr lang="pt-BR" dirty="0">
                <a:latin typeface="Calibri"/>
                <a:cs typeface="Calibri"/>
              </a:rPr>
              <a:t>do Inatel.</a:t>
            </a:r>
            <a:r>
              <a:rPr lang="pt-BR" sz="1800" spc="-10" dirty="0">
                <a:latin typeface="Calibri"/>
                <a:cs typeface="Calibri"/>
              </a:rPr>
              <a:t>(</a:t>
            </a:r>
            <a:r>
              <a:rPr lang="pt-BR" sz="1800" spc="-10" dirty="0">
                <a:latin typeface="Calibri"/>
                <a:cs typeface="Calibri"/>
                <a:hlinkClick r:id="rId5"/>
              </a:rPr>
              <a:t>felipe.figueiredo@inatel.br</a:t>
            </a:r>
            <a:r>
              <a:rPr lang="pt-BR" sz="1800" spc="-10" dirty="0"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1037" y="990092"/>
            <a:ext cx="10927080" cy="283019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065" marR="5080" algn="ctr">
              <a:lnSpc>
                <a:spcPct val="90000"/>
              </a:lnSpc>
              <a:spcBef>
                <a:spcPts val="575"/>
              </a:spcBef>
            </a:pPr>
            <a:r>
              <a:rPr sz="4000" b="0" dirty="0">
                <a:latin typeface="Calibri"/>
                <a:cs typeface="Calibri"/>
              </a:rPr>
              <a:t>Até</a:t>
            </a:r>
            <a:r>
              <a:rPr sz="4000" b="0" spc="-19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agora,</a:t>
            </a:r>
            <a:r>
              <a:rPr sz="4000" b="0" spc="-17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usamos</a:t>
            </a:r>
            <a:r>
              <a:rPr sz="4000" b="0" spc="-180" dirty="0">
                <a:latin typeface="Calibri"/>
                <a:cs typeface="Calibri"/>
              </a:rPr>
              <a:t> </a:t>
            </a:r>
            <a:r>
              <a:rPr sz="4000" b="1" i="1" dirty="0">
                <a:solidFill>
                  <a:srgbClr val="00AF50"/>
                </a:solidFill>
                <a:latin typeface="Calibri"/>
                <a:cs typeface="Calibri"/>
              </a:rPr>
              <a:t>funções</a:t>
            </a:r>
            <a:r>
              <a:rPr sz="4000" b="1" i="1" spc="-1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4000" b="1" i="1" dirty="0">
                <a:solidFill>
                  <a:srgbClr val="00AF50"/>
                </a:solidFill>
                <a:latin typeface="Calibri"/>
                <a:cs typeface="Calibri"/>
              </a:rPr>
              <a:t>hipótese</a:t>
            </a:r>
            <a:r>
              <a:rPr sz="4000" b="1" i="1" spc="-1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40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sz="4000" b="1" i="1" spc="-1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4000" b="1" i="1" dirty="0">
                <a:solidFill>
                  <a:srgbClr val="00AF50"/>
                </a:solidFill>
                <a:latin typeface="Calibri"/>
                <a:cs typeface="Calibri"/>
              </a:rPr>
              <a:t>formato</a:t>
            </a:r>
            <a:r>
              <a:rPr sz="4000" b="1" i="1" spc="-1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40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4000" b="1" i="1" dirty="0">
                <a:solidFill>
                  <a:srgbClr val="00AF50"/>
                </a:solidFill>
                <a:latin typeface="Calibri"/>
                <a:cs typeface="Calibri"/>
              </a:rPr>
              <a:t>hiperplanos</a:t>
            </a:r>
            <a:r>
              <a:rPr sz="4000" b="0" dirty="0">
                <a:latin typeface="Calibri"/>
                <a:cs typeface="Calibri"/>
              </a:rPr>
              <a:t>,</a:t>
            </a:r>
            <a:r>
              <a:rPr sz="4000" b="0" spc="-114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e.g.,</a:t>
            </a:r>
            <a:r>
              <a:rPr sz="4000" b="0" spc="-12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retas</a:t>
            </a:r>
            <a:r>
              <a:rPr sz="4000" b="0" spc="-14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e</a:t>
            </a:r>
            <a:r>
              <a:rPr sz="4000" b="0" spc="-12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planos,</a:t>
            </a:r>
            <a:r>
              <a:rPr sz="4000" b="0" spc="-12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para</a:t>
            </a:r>
            <a:r>
              <a:rPr sz="4000" b="0" spc="-130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aproximar </a:t>
            </a:r>
            <a:r>
              <a:rPr sz="4000" b="1" i="1" spc="-10" dirty="0">
                <a:solidFill>
                  <a:srgbClr val="FF0000"/>
                </a:solidFill>
                <a:latin typeface="Calibri"/>
                <a:cs typeface="Calibri"/>
              </a:rPr>
              <a:t>mapeamentos</a:t>
            </a:r>
            <a:r>
              <a:rPr sz="4000" b="1" i="1" spc="-1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00" b="1" i="1" dirty="0">
                <a:solidFill>
                  <a:srgbClr val="FF0000"/>
                </a:solidFill>
                <a:latin typeface="Calibri"/>
                <a:cs typeface="Calibri"/>
              </a:rPr>
              <a:t>lineares</a:t>
            </a:r>
            <a:r>
              <a:rPr sz="4000" b="1" i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entre</a:t>
            </a:r>
            <a:r>
              <a:rPr sz="4000" b="0" spc="-12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os</a:t>
            </a:r>
            <a:r>
              <a:rPr sz="4000" b="0" spc="-110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atributos</a:t>
            </a:r>
            <a:r>
              <a:rPr sz="4000" b="0" spc="-10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e</a:t>
            </a:r>
            <a:r>
              <a:rPr sz="4000" b="0" spc="-13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o</a:t>
            </a:r>
            <a:r>
              <a:rPr sz="4000" b="0" spc="-10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valor </a:t>
            </a:r>
            <a:r>
              <a:rPr sz="4000" b="0" spc="-20" dirty="0">
                <a:latin typeface="Calibri"/>
                <a:cs typeface="Calibri"/>
              </a:rPr>
              <a:t>esperado,</a:t>
            </a:r>
            <a:r>
              <a:rPr sz="4000" b="0" spc="-8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mas</a:t>
            </a:r>
            <a:r>
              <a:rPr sz="4000" b="0" spc="-105" dirty="0">
                <a:latin typeface="Calibri"/>
                <a:cs typeface="Calibri"/>
              </a:rPr>
              <a:t> </a:t>
            </a:r>
            <a:r>
              <a:rPr sz="4000" b="1" i="1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40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000" b="1" i="1" dirty="0">
                <a:solidFill>
                  <a:srgbClr val="6F2F9F"/>
                </a:solidFill>
                <a:latin typeface="Calibri"/>
                <a:cs typeface="Calibri"/>
              </a:rPr>
              <a:t>se</a:t>
            </a:r>
            <a:r>
              <a:rPr sz="40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000" b="1" i="1" dirty="0">
                <a:solidFill>
                  <a:srgbClr val="6F2F9F"/>
                </a:solidFill>
                <a:latin typeface="Calibri"/>
                <a:cs typeface="Calibri"/>
              </a:rPr>
              <a:t>os</a:t>
            </a:r>
            <a:r>
              <a:rPr sz="40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000" b="1" i="1" spc="-20" dirty="0">
                <a:solidFill>
                  <a:srgbClr val="6F2F9F"/>
                </a:solidFill>
                <a:latin typeface="Calibri"/>
                <a:cs typeface="Calibri"/>
              </a:rPr>
              <a:t>mapeamentos</a:t>
            </a:r>
            <a:r>
              <a:rPr sz="40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000" b="1" i="1" dirty="0">
                <a:solidFill>
                  <a:srgbClr val="6F2F9F"/>
                </a:solidFill>
                <a:latin typeface="Calibri"/>
                <a:cs typeface="Calibri"/>
              </a:rPr>
              <a:t>forem</a:t>
            </a:r>
            <a:r>
              <a:rPr sz="40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000" b="1" i="1" spc="-25" dirty="0">
                <a:solidFill>
                  <a:srgbClr val="6F2F9F"/>
                </a:solidFill>
                <a:latin typeface="Calibri"/>
                <a:cs typeface="Calibri"/>
              </a:rPr>
              <a:t>não </a:t>
            </a:r>
            <a:r>
              <a:rPr sz="4000" b="1" i="1" spc="-10" dirty="0">
                <a:solidFill>
                  <a:srgbClr val="6F2F9F"/>
                </a:solidFill>
                <a:latin typeface="Calibri"/>
                <a:cs typeface="Calibri"/>
              </a:rPr>
              <a:t>lineares</a:t>
            </a:r>
            <a:r>
              <a:rPr sz="4000" b="0" spc="-10" dirty="0">
                <a:latin typeface="Calibri"/>
                <a:cs typeface="Calibri"/>
              </a:rPr>
              <a:t>?</a:t>
            </a:r>
            <a:endParaRPr sz="40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463" y="3967738"/>
            <a:ext cx="3570944" cy="25856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10498" y="3729526"/>
            <a:ext cx="3267866" cy="30411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749" y="2699080"/>
            <a:ext cx="1020445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92375" marR="5080" indent="-2480310">
              <a:lnSpc>
                <a:spcPts val="4320"/>
              </a:lnSpc>
              <a:spcBef>
                <a:spcPts val="640"/>
              </a:spcBef>
            </a:pPr>
            <a:r>
              <a:rPr sz="4000" b="0" dirty="0">
                <a:latin typeface="Calibri"/>
                <a:cs typeface="Calibri"/>
              </a:rPr>
              <a:t>O</a:t>
            </a:r>
            <a:r>
              <a:rPr sz="4000" b="0" spc="-13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que</a:t>
            </a:r>
            <a:r>
              <a:rPr sz="4000" b="0" spc="-12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podemos</a:t>
            </a:r>
            <a:r>
              <a:rPr sz="4000" b="0" spc="-130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fazer</a:t>
            </a:r>
            <a:r>
              <a:rPr sz="4000" b="0" spc="-15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quando</a:t>
            </a:r>
            <a:r>
              <a:rPr sz="4000" b="0" spc="-125" dirty="0">
                <a:latin typeface="Calibri"/>
                <a:cs typeface="Calibri"/>
              </a:rPr>
              <a:t> </a:t>
            </a:r>
            <a:r>
              <a:rPr sz="4000" b="1" i="1" dirty="0">
                <a:solidFill>
                  <a:srgbClr val="FF0000"/>
                </a:solidFill>
                <a:latin typeface="Calibri"/>
                <a:cs typeface="Calibri"/>
              </a:rPr>
              <a:t>hiperplanos</a:t>
            </a:r>
            <a:r>
              <a:rPr sz="4000" b="1" i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00" b="1" i="1" dirty="0">
                <a:solidFill>
                  <a:srgbClr val="6F2F9F"/>
                </a:solidFill>
                <a:latin typeface="Calibri"/>
                <a:cs typeface="Calibri"/>
              </a:rPr>
              <a:t>não</a:t>
            </a:r>
            <a:r>
              <a:rPr sz="4000" b="1" i="1" spc="-1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000" b="1" i="1" spc="-25" dirty="0">
                <a:solidFill>
                  <a:srgbClr val="6F2F9F"/>
                </a:solidFill>
                <a:latin typeface="Calibri"/>
                <a:cs typeface="Calibri"/>
              </a:rPr>
              <a:t>se </a:t>
            </a:r>
            <a:r>
              <a:rPr sz="4000" b="1" i="1" spc="-10" dirty="0">
                <a:solidFill>
                  <a:srgbClr val="6F2F9F"/>
                </a:solidFill>
                <a:latin typeface="Calibri"/>
                <a:cs typeface="Calibri"/>
              </a:rPr>
              <a:t>ajustam</a:t>
            </a:r>
            <a:r>
              <a:rPr sz="40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000" b="1" i="1" dirty="0">
                <a:solidFill>
                  <a:srgbClr val="6F2F9F"/>
                </a:solidFill>
                <a:latin typeface="Calibri"/>
                <a:cs typeface="Calibri"/>
              </a:rPr>
              <a:t>bem</a:t>
            </a:r>
            <a:r>
              <a:rPr sz="4000" b="1" i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000" b="1" i="1" dirty="0">
                <a:solidFill>
                  <a:srgbClr val="6F2F9F"/>
                </a:solidFill>
                <a:latin typeface="Calibri"/>
                <a:cs typeface="Calibri"/>
              </a:rPr>
              <a:t>aos</a:t>
            </a:r>
            <a:r>
              <a:rPr sz="40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000" b="1" i="1" spc="-10" dirty="0">
                <a:solidFill>
                  <a:srgbClr val="6F2F9F"/>
                </a:solidFill>
                <a:latin typeface="Calibri"/>
                <a:cs typeface="Calibri"/>
              </a:rPr>
              <a:t>dados</a:t>
            </a:r>
            <a:r>
              <a:rPr sz="4000" b="0" spc="-10" dirty="0">
                <a:latin typeface="Calibri"/>
                <a:cs typeface="Calibri"/>
              </a:rPr>
              <a:t>?</a:t>
            </a:r>
            <a:endParaRPr sz="4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Mapeamentos</a:t>
            </a:r>
            <a:r>
              <a:rPr spc="-70" dirty="0"/>
              <a:t> </a:t>
            </a:r>
            <a:r>
              <a:rPr dirty="0"/>
              <a:t>não</a:t>
            </a:r>
            <a:r>
              <a:rPr spc="-55" dirty="0"/>
              <a:t> </a:t>
            </a:r>
            <a:r>
              <a:rPr spc="-10" dirty="0"/>
              <a:t>lineares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4876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Observem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as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figuras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abaixo,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uma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i="1" dirty="0">
                <a:solidFill>
                  <a:srgbClr val="FF0000"/>
                </a:solidFill>
              </a:rPr>
              <a:t>reta</a:t>
            </a:r>
            <a:r>
              <a:rPr i="1" spc="-65" dirty="0">
                <a:solidFill>
                  <a:srgbClr val="FF0000"/>
                </a:solidFill>
              </a:rPr>
              <a:t> </a:t>
            </a:r>
            <a:r>
              <a:rPr b="0" spc="-20" dirty="0">
                <a:latin typeface="Calibri"/>
                <a:cs typeface="Calibri"/>
              </a:rPr>
              <a:t>claramente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i="1" dirty="0">
                <a:solidFill>
                  <a:srgbClr val="6F2F9F"/>
                </a:solidFill>
              </a:rPr>
              <a:t>não</a:t>
            </a:r>
            <a:r>
              <a:rPr i="1" spc="-90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seria</a:t>
            </a:r>
            <a:r>
              <a:rPr i="1" spc="-80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uma</a:t>
            </a:r>
            <a:r>
              <a:rPr i="1" spc="-80" dirty="0">
                <a:solidFill>
                  <a:srgbClr val="6F2F9F"/>
                </a:solidFill>
              </a:rPr>
              <a:t> </a:t>
            </a:r>
            <a:r>
              <a:rPr i="1" spc="-25" dirty="0">
                <a:solidFill>
                  <a:srgbClr val="6F2F9F"/>
                </a:solidFill>
              </a:rPr>
              <a:t>boa </a:t>
            </a:r>
            <a:r>
              <a:rPr i="1" dirty="0">
                <a:solidFill>
                  <a:srgbClr val="6F2F9F"/>
                </a:solidFill>
              </a:rPr>
              <a:t>escolha</a:t>
            </a:r>
            <a:r>
              <a:rPr i="1" spc="-100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para</a:t>
            </a:r>
            <a:r>
              <a:rPr i="1" spc="-95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aproximar</a:t>
            </a:r>
            <a:r>
              <a:rPr i="1" spc="-80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esses</a:t>
            </a:r>
            <a:r>
              <a:rPr i="1" spc="-100" dirty="0">
                <a:solidFill>
                  <a:srgbClr val="6F2F9F"/>
                </a:solidFill>
              </a:rPr>
              <a:t> </a:t>
            </a:r>
            <a:r>
              <a:rPr i="1" spc="-10" dirty="0">
                <a:solidFill>
                  <a:srgbClr val="6F2F9F"/>
                </a:solidFill>
              </a:rPr>
              <a:t>mapeamentos</a:t>
            </a:r>
            <a:r>
              <a:rPr i="1" spc="-80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não</a:t>
            </a:r>
            <a:r>
              <a:rPr i="1" spc="-95" dirty="0">
                <a:solidFill>
                  <a:srgbClr val="6F2F9F"/>
                </a:solidFill>
              </a:rPr>
              <a:t> </a:t>
            </a:r>
            <a:r>
              <a:rPr i="1" spc="-10" dirty="0">
                <a:solidFill>
                  <a:srgbClr val="6F2F9F"/>
                </a:solidFill>
              </a:rPr>
              <a:t>lineares</a:t>
            </a:r>
            <a:r>
              <a:rPr b="0" spc="-10" dirty="0">
                <a:latin typeface="Calibri"/>
                <a:cs typeface="Calibri"/>
              </a:rPr>
              <a:t>.</a:t>
            </a:r>
          </a:p>
          <a:p>
            <a:pPr marL="698500" lvl="1" indent="-229235">
              <a:lnSpc>
                <a:spcPts val="2735"/>
              </a:lnSpc>
              <a:spcBef>
                <a:spcPts val="19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Retas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capturariam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comportamento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das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funções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abaixo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têm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i="1" spc="-10" dirty="0">
                <a:solidFill>
                  <a:srgbClr val="EC7C30"/>
                </a:solidFill>
              </a:rPr>
              <a:t>complexidade</a:t>
            </a:r>
            <a:r>
              <a:rPr sz="2400" i="1" spc="-80" dirty="0">
                <a:solidFill>
                  <a:srgbClr val="EC7C30"/>
                </a:solidFill>
              </a:rPr>
              <a:t> </a:t>
            </a:r>
            <a:r>
              <a:rPr sz="2400" i="1" dirty="0">
                <a:solidFill>
                  <a:srgbClr val="EC7C30"/>
                </a:solidFill>
              </a:rPr>
              <a:t>ou</a:t>
            </a:r>
            <a:r>
              <a:rPr sz="2400" i="1" spc="-50" dirty="0">
                <a:solidFill>
                  <a:srgbClr val="EC7C30"/>
                </a:solidFill>
              </a:rPr>
              <a:t> </a:t>
            </a:r>
            <a:r>
              <a:rPr sz="2400" i="1" dirty="0">
                <a:solidFill>
                  <a:srgbClr val="EC7C30"/>
                </a:solidFill>
              </a:rPr>
              <a:t>flexibilidade</a:t>
            </a:r>
            <a:r>
              <a:rPr sz="2400" i="1" spc="-60" dirty="0">
                <a:solidFill>
                  <a:srgbClr val="EC7C30"/>
                </a:solidFill>
              </a:rPr>
              <a:t> </a:t>
            </a:r>
            <a:r>
              <a:rPr sz="2400" b="0" dirty="0">
                <a:latin typeface="Calibri"/>
                <a:cs typeface="Calibri"/>
              </a:rPr>
              <a:t>(i.e.,</a:t>
            </a:r>
            <a:r>
              <a:rPr sz="2400" b="0" spc="-45" dirty="0">
                <a:latin typeface="Calibri"/>
                <a:cs typeface="Calibri"/>
              </a:rPr>
              <a:t> </a:t>
            </a:r>
            <a:r>
              <a:rPr sz="2400" b="0" dirty="0">
                <a:latin typeface="Calibri"/>
                <a:cs typeface="Calibri"/>
              </a:rPr>
              <a:t>graus</a:t>
            </a:r>
            <a:r>
              <a:rPr sz="2400" b="0" spc="-50" dirty="0">
                <a:latin typeface="Calibri"/>
                <a:cs typeface="Calibri"/>
              </a:rPr>
              <a:t> </a:t>
            </a:r>
            <a:r>
              <a:rPr sz="2400" b="0" dirty="0">
                <a:latin typeface="Calibri"/>
                <a:cs typeface="Calibri"/>
              </a:rPr>
              <a:t>de</a:t>
            </a:r>
            <a:r>
              <a:rPr sz="2400" b="0" spc="-30" dirty="0">
                <a:latin typeface="Calibri"/>
                <a:cs typeface="Calibri"/>
              </a:rPr>
              <a:t> </a:t>
            </a:r>
            <a:r>
              <a:rPr sz="2400" b="0" dirty="0">
                <a:latin typeface="Calibri"/>
                <a:cs typeface="Calibri"/>
              </a:rPr>
              <a:t>liberdade)</a:t>
            </a:r>
            <a:r>
              <a:rPr sz="2400" b="0" spc="-45" dirty="0">
                <a:latin typeface="Calibri"/>
                <a:cs typeface="Calibri"/>
              </a:rPr>
              <a:t> </a:t>
            </a:r>
            <a:r>
              <a:rPr sz="2400" b="0" dirty="0">
                <a:latin typeface="Calibri"/>
                <a:cs typeface="Calibri"/>
              </a:rPr>
              <a:t>o</a:t>
            </a:r>
            <a:r>
              <a:rPr sz="2400" b="0" spc="-45" dirty="0">
                <a:latin typeface="Calibri"/>
                <a:cs typeface="Calibri"/>
              </a:rPr>
              <a:t> </a:t>
            </a:r>
            <a:r>
              <a:rPr sz="2400" b="0" dirty="0">
                <a:latin typeface="Calibri"/>
                <a:cs typeface="Calibri"/>
              </a:rPr>
              <a:t>suficiente</a:t>
            </a:r>
            <a:r>
              <a:rPr sz="2400" b="0" spc="-30" dirty="0">
                <a:latin typeface="Calibri"/>
                <a:cs typeface="Calibri"/>
              </a:rPr>
              <a:t> </a:t>
            </a:r>
            <a:r>
              <a:rPr sz="2400" b="0" dirty="0">
                <a:latin typeface="Calibri"/>
                <a:cs typeface="Calibri"/>
              </a:rPr>
              <a:t>para</a:t>
            </a:r>
            <a:r>
              <a:rPr sz="2400" b="0" spc="-45" dirty="0">
                <a:latin typeface="Calibri"/>
                <a:cs typeface="Calibri"/>
              </a:rPr>
              <a:t> </a:t>
            </a:r>
            <a:r>
              <a:rPr sz="2400" b="0" spc="-10" dirty="0">
                <a:latin typeface="Calibri"/>
                <a:cs typeface="Calibri"/>
              </a:rPr>
              <a:t>isso.</a:t>
            </a:r>
            <a:endParaRPr sz="2400" dirty="0">
              <a:latin typeface="Calibri"/>
              <a:cs typeface="Calibri"/>
            </a:endParaRPr>
          </a:p>
          <a:p>
            <a:pPr marL="241300" marR="969010" indent="-228600">
              <a:lnSpc>
                <a:spcPts val="303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b="0" spc="-20" dirty="0">
                <a:latin typeface="Calibri"/>
                <a:cs typeface="Calibri"/>
              </a:rPr>
              <a:t>Portanto,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qual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tipo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função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hipótese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seria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mais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apropriada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para </a:t>
            </a:r>
            <a:r>
              <a:rPr b="0" spc="-10" dirty="0">
                <a:latin typeface="Calibri"/>
                <a:cs typeface="Calibri"/>
              </a:rPr>
              <a:t>aproximar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esses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comportamentos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não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lineares?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1940" y="4391924"/>
            <a:ext cx="3155857" cy="23913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5687" y="4408596"/>
            <a:ext cx="3218390" cy="23696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6774" y="4391924"/>
            <a:ext cx="3173128" cy="23913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Extensão</a:t>
            </a:r>
            <a:r>
              <a:rPr spc="-55" dirty="0"/>
              <a:t> </a:t>
            </a:r>
            <a:r>
              <a:rPr dirty="0"/>
              <a:t>para</a:t>
            </a:r>
            <a:r>
              <a:rPr spc="-70" dirty="0"/>
              <a:t> </a:t>
            </a:r>
            <a:r>
              <a:rPr dirty="0"/>
              <a:t>modelos</a:t>
            </a:r>
            <a:r>
              <a:rPr spc="-30" dirty="0"/>
              <a:t> </a:t>
            </a:r>
            <a:r>
              <a:rPr spc="-10" dirty="0"/>
              <a:t>não-</a:t>
            </a:r>
            <a:r>
              <a:rPr dirty="0"/>
              <a:t>lineares</a:t>
            </a:r>
            <a:r>
              <a:rPr spc="-110" dirty="0"/>
              <a:t> </a:t>
            </a:r>
            <a:r>
              <a:rPr spc="-25" dirty="0"/>
              <a:t>com </a:t>
            </a:r>
            <a:r>
              <a:rPr dirty="0"/>
              <a:t>relação</a:t>
            </a:r>
            <a:r>
              <a:rPr spc="-55" dirty="0"/>
              <a:t> </a:t>
            </a:r>
            <a:r>
              <a:rPr dirty="0"/>
              <a:t>aos</a:t>
            </a:r>
            <a:r>
              <a:rPr spc="-15" dirty="0"/>
              <a:t> </a:t>
            </a:r>
            <a:r>
              <a:rPr spc="-10" dirty="0"/>
              <a:t>atributos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840739" y="1666833"/>
                <a:ext cx="11115675" cy="298338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66700" indent="-228600">
                  <a:lnSpc>
                    <a:spcPts val="3025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800" b="1" i="1" dirty="0">
                    <a:latin typeface="Calibri"/>
                    <a:cs typeface="Calibri"/>
                  </a:rPr>
                  <a:t>Modelos</a:t>
                </a:r>
                <a:r>
                  <a:rPr lang="pt-BR" sz="28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30" dirty="0">
                    <a:latin typeface="Calibri"/>
                    <a:cs typeface="Calibri"/>
                  </a:rPr>
                  <a:t>não-</a:t>
                </a:r>
                <a:r>
                  <a:rPr lang="pt-BR" sz="2800" b="1" i="1" dirty="0">
                    <a:latin typeface="Calibri"/>
                    <a:cs typeface="Calibri"/>
                  </a:rPr>
                  <a:t>lineares</a:t>
                </a:r>
                <a:r>
                  <a:rPr lang="pt-BR" sz="28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constroem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aproximação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por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meio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da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66700">
                  <a:lnSpc>
                    <a:spcPts val="3025"/>
                  </a:lnSpc>
                </a:pPr>
                <a:r>
                  <a:rPr lang="pt-BR" sz="2800" b="1" i="1" spc="-10" dirty="0">
                    <a:solidFill>
                      <a:srgbClr val="FF0000"/>
                    </a:solidFill>
                    <a:latin typeface="Calibri"/>
                    <a:cs typeface="Calibri"/>
                  </a:rPr>
                  <a:t>combinação</a:t>
                </a:r>
                <a:r>
                  <a:rPr lang="pt-BR" sz="2800" b="1" i="1" spc="-55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linear</a:t>
                </a:r>
                <a:r>
                  <a:rPr lang="pt-BR" sz="2800" b="1" i="1" spc="-65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6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30" dirty="0">
                    <a:solidFill>
                      <a:srgbClr val="6F2F9F"/>
                    </a:solidFill>
                    <a:latin typeface="Calibri"/>
                    <a:cs typeface="Calibri"/>
                  </a:rPr>
                  <a:t>funções-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base</a:t>
                </a:r>
                <a:r>
                  <a:rPr lang="pt-BR" sz="2800" b="1" i="1" spc="-5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20" dirty="0">
                    <a:solidFill>
                      <a:srgbClr val="6F2F9F"/>
                    </a:solidFill>
                    <a:latin typeface="Calibri"/>
                    <a:cs typeface="Calibri"/>
                  </a:rPr>
                  <a:t>não-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lineares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forma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330"/>
                  </a:spcBef>
                  <a:tabLst>
                    <a:tab pos="1447800" algn="l"/>
                    <a:tab pos="1799589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acc>
                      <m:accPr>
                        <m:chr m:val="̂"/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𝑎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𝑎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𝑏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+…+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𝑎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𝑀</m:t>
                        </m:r>
                      </m:sub>
                    </m:sSub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𝑏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</m:oMath>
                </a14:m>
                <a:endParaRPr lang="pt-BR" sz="2800" dirty="0">
                  <a:latin typeface="Calibri"/>
                  <a:cs typeface="Calibri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330"/>
                  </a:spcBef>
                  <a:tabLst>
                    <a:tab pos="1447800" algn="l"/>
                    <a:tab pos="1799589" algn="l"/>
                  </a:tabLst>
                </a:pPr>
                <a:r>
                  <a:rPr lang="pt-BR" sz="2800" dirty="0" err="1">
                    <a:latin typeface="Calibri"/>
                    <a:cs typeface="Calibri"/>
                  </a:rPr>
                  <a:t>onde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𝑏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𝑚</a:t>
                </a:r>
                <a:r>
                  <a:rPr lang="pt-BR" sz="3075" dirty="0">
                    <a:latin typeface="Cambria Math"/>
                    <a:cs typeface="Cambria Math"/>
                  </a:rPr>
                  <a:t>(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𝒙)</a:t>
                </a:r>
                <a:r>
                  <a:rPr lang="pt-BR" sz="2800" spc="-10" dirty="0">
                    <a:latin typeface="Cambria Math"/>
                    <a:cs typeface="Cambria Math"/>
                  </a:rPr>
                  <a:t>:</a:t>
                </a:r>
                <a:r>
                  <a:rPr lang="pt-BR" sz="2800" spc="-17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ℝ</a:t>
                </a:r>
                <a:r>
                  <a:rPr lang="pt-BR" sz="3075" baseline="27100" dirty="0">
                    <a:latin typeface="Cambria Math"/>
                    <a:cs typeface="Cambria Math"/>
                  </a:rPr>
                  <a:t>𝐾</a:t>
                </a:r>
                <a:r>
                  <a:rPr lang="pt-BR" sz="3075" spc="697" baseline="2710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→</a:t>
                </a:r>
                <a:r>
                  <a:rPr lang="pt-BR" sz="2800" spc="14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ℝ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1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denota</a:t>
                </a:r>
                <a:r>
                  <a:rPr lang="pt-BR" sz="2800" spc="-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1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𝑖</a:t>
                </a:r>
                <a:r>
                  <a:rPr lang="pt-BR" sz="2800" dirty="0">
                    <a:latin typeface="Calibri"/>
                    <a:cs typeface="Calibri"/>
                  </a:rPr>
                  <a:t>-ésima</a:t>
                </a:r>
                <a:r>
                  <a:rPr lang="pt-BR" sz="2800" spc="-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25" dirty="0">
                    <a:latin typeface="Calibri"/>
                    <a:cs typeface="Calibri"/>
                  </a:rPr>
                  <a:t>função-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base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66700" marR="17780" indent="-228600">
                  <a:lnSpc>
                    <a:spcPct val="80000"/>
                  </a:lnSpc>
                  <a:spcBef>
                    <a:spcPts val="994"/>
                  </a:spcBef>
                  <a:buFont typeface="Arial"/>
                  <a:buChar char="•"/>
                  <a:tabLst>
                    <a:tab pos="266700" algn="l"/>
                    <a:tab pos="5017135" algn="l"/>
                    <a:tab pos="5287010" algn="l"/>
                  </a:tabLst>
                </a:pPr>
                <a:r>
                  <a:rPr lang="pt-BR" sz="2800" spc="-20" dirty="0">
                    <a:latin typeface="Calibri"/>
                    <a:cs typeface="Calibri"/>
                  </a:rPr>
                  <a:t>Portanto,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por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ser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linear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relação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aos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pesos,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os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r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esultados</a:t>
                </a:r>
                <a:r>
                  <a:rPr lang="pt-BR" sz="2800" b="1" i="1" spc="-7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encontrados anteriormente</a:t>
                </a:r>
                <a:r>
                  <a:rPr lang="pt-BR" sz="2800" b="1" i="1" spc="-4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são</a:t>
                </a:r>
                <a:r>
                  <a:rPr lang="pt-BR" sz="28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facilmente</a:t>
                </a:r>
                <a:r>
                  <a:rPr lang="pt-BR" sz="2800" b="1" i="1" spc="-5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estendidos</a:t>
                </a:r>
                <a:r>
                  <a:rPr lang="pt-BR" sz="2800" b="1" i="1" spc="-5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para</a:t>
                </a:r>
                <a:r>
                  <a:rPr lang="pt-BR" sz="2800" b="1" i="1" spc="-7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o</a:t>
                </a:r>
                <a:r>
                  <a:rPr lang="pt-BR" sz="28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caso</a:t>
                </a:r>
                <a:r>
                  <a:rPr lang="pt-BR" sz="28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45" dirty="0">
                    <a:solidFill>
                      <a:srgbClr val="00AF50"/>
                    </a:solidFill>
                    <a:latin typeface="Calibri"/>
                    <a:cs typeface="Calibri"/>
                  </a:rPr>
                  <a:t>não-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linear</a:t>
                </a:r>
                <a:r>
                  <a:rPr lang="pt-BR" sz="2800" b="1" i="1" spc="-4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bastando redefinir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vetor</a:t>
                </a:r>
                <a:r>
                  <a:rPr lang="pt-BR" sz="2800" b="1" i="1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de</a:t>
                </a:r>
                <a:r>
                  <a:rPr lang="pt-BR" sz="2800" b="1" i="1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atributos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𝒙(𝑖)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como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vetor</a:t>
                </a:r>
                <a:r>
                  <a:rPr lang="pt-BR" sz="28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de</a:t>
                </a:r>
                <a:r>
                  <a:rPr lang="pt-BR" sz="28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25" dirty="0">
                    <a:latin typeface="Calibri"/>
                    <a:cs typeface="Calibri"/>
                  </a:rPr>
                  <a:t>funções-</a:t>
                </a:r>
                <a:r>
                  <a:rPr lang="pt-BR" sz="2800" b="1" i="1" spc="-20" dirty="0">
                    <a:latin typeface="Calibri"/>
                    <a:cs typeface="Calibri"/>
                  </a:rPr>
                  <a:t>base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39" y="1666833"/>
                <a:ext cx="11115675" cy="2983381"/>
              </a:xfrm>
              <a:prstGeom prst="rect">
                <a:avLst/>
              </a:prstGeom>
              <a:blipFill>
                <a:blip r:embed="rId2"/>
                <a:stretch>
                  <a:fillRect l="-1646" t="-4694" r="-1646" b="-46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B90C122B-F7E5-ABF9-F5AC-2D1F80061700}"/>
              </a:ext>
            </a:extLst>
          </p:cNvPr>
          <p:cNvSpPr txBox="1"/>
          <p:nvPr/>
        </p:nvSpPr>
        <p:spPr>
          <a:xfrm>
            <a:off x="716050" y="5081605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7500" indent="-228600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317500" algn="l"/>
              </a:tabLst>
            </a:pPr>
            <a:r>
              <a:rPr lang="pt-BR" sz="2800" spc="-10" dirty="0">
                <a:latin typeface="Calibri"/>
                <a:cs typeface="Calibri"/>
              </a:rPr>
              <a:t>Exemplos</a:t>
            </a:r>
            <a:r>
              <a:rPr lang="pt-BR" sz="2800" spc="-8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de</a:t>
            </a:r>
            <a:r>
              <a:rPr lang="pt-BR" sz="2800" spc="-7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funções</a:t>
            </a:r>
            <a:r>
              <a:rPr lang="pt-BR" sz="2800" spc="-6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base:</a:t>
            </a:r>
            <a:endParaRPr lang="pt-BR"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032E5CD7-CB2F-65FD-084D-F61712EE95BA}"/>
                  </a:ext>
                </a:extLst>
              </p:cNvPr>
              <p:cNvSpPr txBox="1"/>
              <p:nvPr/>
            </p:nvSpPr>
            <p:spPr>
              <a:xfrm>
                <a:off x="3847530" y="4584161"/>
                <a:ext cx="4496937" cy="497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032E5CD7-CB2F-65FD-084D-F61712EE9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530" y="4584161"/>
                <a:ext cx="4496937" cy="497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336BAB59-9D71-E7D3-7BC7-5863D0D63EF5}"/>
                  </a:ext>
                </a:extLst>
              </p:cNvPr>
              <p:cNvSpPr txBox="1"/>
              <p:nvPr/>
            </p:nvSpPr>
            <p:spPr>
              <a:xfrm>
                <a:off x="1371600" y="5562600"/>
                <a:ext cx="25281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sz="2400" dirty="0"/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336BAB59-9D71-E7D3-7BC7-5863D0D63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562600"/>
                <a:ext cx="2528193" cy="369332"/>
              </a:xfrm>
              <a:prstGeom prst="rect">
                <a:avLst/>
              </a:prstGeom>
              <a:blipFill>
                <a:blip r:embed="rId4"/>
                <a:stretch>
                  <a:fillRect l="-6747" t="-18333" b="-4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671E4B4-DEE2-F311-42B8-C7E4D226ED37}"/>
                  </a:ext>
                </a:extLst>
              </p:cNvPr>
              <p:cNvSpPr txBox="1"/>
              <p:nvPr/>
            </p:nvSpPr>
            <p:spPr>
              <a:xfrm>
                <a:off x="1371600" y="6010909"/>
                <a:ext cx="25980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sz="24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671E4B4-DEE2-F311-42B8-C7E4D226E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6010909"/>
                <a:ext cx="2598084" cy="369332"/>
              </a:xfrm>
              <a:prstGeom prst="rect">
                <a:avLst/>
              </a:prstGeom>
              <a:blipFill>
                <a:blip r:embed="rId5"/>
                <a:stretch>
                  <a:fillRect l="-6573" t="-16393" b="-4590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1973F11-2573-D8CA-B534-09ED2922BE65}"/>
                  </a:ext>
                </a:extLst>
              </p:cNvPr>
              <p:cNvSpPr txBox="1"/>
              <p:nvPr/>
            </p:nvSpPr>
            <p:spPr>
              <a:xfrm>
                <a:off x="1371600" y="6440016"/>
                <a:ext cx="1948482" cy="373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sz="2400" dirty="0"/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1973F11-2573-D8CA-B534-09ED2922B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6440016"/>
                <a:ext cx="1948482" cy="373628"/>
              </a:xfrm>
              <a:prstGeom prst="rect">
                <a:avLst/>
              </a:prstGeom>
              <a:blipFill>
                <a:blip r:embed="rId6"/>
                <a:stretch>
                  <a:fillRect l="-8750" t="-16129" b="-435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67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Linearização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889457" y="1734726"/>
                <a:ext cx="10786110" cy="3370579"/>
              </a:xfrm>
              <a:prstGeom prst="rect">
                <a:avLst/>
              </a:prstGeom>
            </p:spPr>
            <p:txBody>
              <a:bodyPr vert="horz" wrap="square" lIns="0" tIns="59690" rIns="0" bIns="0" rtlCol="0">
                <a:spAutoFit/>
              </a:bodyPr>
              <a:lstStyle/>
              <a:p>
                <a:pPr marL="266700" marR="317500" indent="-228600">
                  <a:lnSpc>
                    <a:spcPts val="3030"/>
                  </a:lnSpc>
                  <a:spcBef>
                    <a:spcPts val="470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sz="2800" dirty="0">
                    <a:latin typeface="Calibri"/>
                    <a:cs typeface="Calibri"/>
                  </a:rPr>
                  <a:t>Em</a:t>
                </a:r>
                <a:r>
                  <a:rPr sz="2800" spc="-9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geral,</a:t>
                </a:r>
                <a:r>
                  <a:rPr sz="2800" spc="-9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processos</a:t>
                </a:r>
                <a:r>
                  <a:rPr sz="2800" spc="-5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e</a:t>
                </a:r>
                <a:r>
                  <a:rPr sz="2800" spc="-9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modelos</a:t>
                </a:r>
                <a:r>
                  <a:rPr sz="2800" spc="-7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físicos</a:t>
                </a:r>
                <a:r>
                  <a:rPr sz="2800" spc="-120" dirty="0">
                    <a:latin typeface="Calibri"/>
                    <a:cs typeface="Calibri"/>
                  </a:rPr>
                  <a:t> </a:t>
                </a:r>
                <a:r>
                  <a:rPr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não</a:t>
                </a:r>
                <a:r>
                  <a:rPr sz="2800" b="1" i="1" spc="-9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são</a:t>
                </a:r>
                <a:r>
                  <a:rPr sz="2800" b="1" i="1" spc="-9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lineares</a:t>
                </a:r>
                <a:r>
                  <a:rPr sz="2800" b="1" i="1" spc="-6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(e</a:t>
                </a:r>
                <a:r>
                  <a:rPr sz="2800" spc="-9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desta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vez</a:t>
                </a:r>
                <a:r>
                  <a:rPr sz="2800" spc="-95" dirty="0">
                    <a:latin typeface="Calibri"/>
                    <a:cs typeface="Calibri"/>
                  </a:rPr>
                  <a:t> </a:t>
                </a:r>
                <a:r>
                  <a:rPr sz="2800" spc="-25" dirty="0">
                    <a:latin typeface="Calibri"/>
                    <a:cs typeface="Calibri"/>
                  </a:rPr>
                  <a:t>em </a:t>
                </a:r>
                <a:r>
                  <a:rPr sz="2800" dirty="0">
                    <a:latin typeface="Calibri"/>
                    <a:cs typeface="Calibri"/>
                  </a:rPr>
                  <a:t>relação</a:t>
                </a:r>
                <a:r>
                  <a:rPr sz="2800" spc="-8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aos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pesos</a:t>
                </a:r>
                <a:r>
                  <a:rPr sz="2800" spc="-5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também),</a:t>
                </a:r>
                <a:r>
                  <a:rPr sz="2800" spc="-5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o</a:t>
                </a:r>
                <a:r>
                  <a:rPr sz="2800" spc="-8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que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dificulta</a:t>
                </a:r>
                <a:r>
                  <a:rPr sz="2800" spc="-5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sua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interpretação.</a:t>
                </a:r>
                <a:endParaRPr sz="2800" dirty="0">
                  <a:latin typeface="Calibri"/>
                  <a:cs typeface="Calibri"/>
                </a:endParaRPr>
              </a:p>
              <a:p>
                <a:pPr marL="266700" marR="30480" indent="-228600">
                  <a:lnSpc>
                    <a:spcPts val="3020"/>
                  </a:lnSpc>
                  <a:spcBef>
                    <a:spcPts val="1005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sz="2800" dirty="0">
                    <a:latin typeface="Calibri"/>
                    <a:cs typeface="Calibri"/>
                  </a:rPr>
                  <a:t>Porém,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spc="-20" dirty="0">
                    <a:latin typeface="Calibri"/>
                    <a:cs typeface="Calibri"/>
                  </a:rPr>
                  <a:t>existem</a:t>
                </a:r>
                <a:r>
                  <a:rPr sz="2800" spc="-110" dirty="0">
                    <a:latin typeface="Calibri"/>
                    <a:cs typeface="Calibri"/>
                  </a:rPr>
                  <a:t> </a:t>
                </a:r>
                <a:r>
                  <a:rPr sz="2800" b="1" i="1" dirty="0">
                    <a:latin typeface="Calibri"/>
                    <a:cs typeface="Calibri"/>
                  </a:rPr>
                  <a:t>modelos</a:t>
                </a:r>
                <a:r>
                  <a:rPr sz="2800" b="1" i="1" spc="-85" dirty="0">
                    <a:latin typeface="Calibri"/>
                    <a:cs typeface="Calibri"/>
                  </a:rPr>
                  <a:t> </a:t>
                </a:r>
                <a:r>
                  <a:rPr sz="2800" b="1" i="1" spc="-25" dirty="0">
                    <a:latin typeface="Calibri"/>
                    <a:cs typeface="Calibri"/>
                  </a:rPr>
                  <a:t>não-</a:t>
                </a:r>
                <a:r>
                  <a:rPr sz="2800" b="1" i="1" dirty="0">
                    <a:latin typeface="Calibri"/>
                    <a:cs typeface="Calibri"/>
                  </a:rPr>
                  <a:t>lineares</a:t>
                </a:r>
                <a:r>
                  <a:rPr sz="2800" b="1" i="1" spc="-8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que</a:t>
                </a:r>
                <a:r>
                  <a:rPr sz="2800" spc="-8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são</a:t>
                </a:r>
                <a:r>
                  <a:rPr sz="2800" spc="-85" dirty="0">
                    <a:latin typeface="Calibri"/>
                    <a:cs typeface="Calibri"/>
                  </a:rPr>
                  <a:t> </a:t>
                </a:r>
                <a:r>
                  <a:rPr sz="2800" b="1" i="1" spc="-10" dirty="0">
                    <a:solidFill>
                      <a:srgbClr val="EC7C30"/>
                    </a:solidFill>
                    <a:latin typeface="Calibri"/>
                    <a:cs typeface="Calibri"/>
                  </a:rPr>
                  <a:t>intrinsecamente</a:t>
                </a:r>
                <a:r>
                  <a:rPr sz="2800" b="1" i="1" spc="-7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sz="2800" b="1" i="1" spc="-10" dirty="0">
                    <a:solidFill>
                      <a:srgbClr val="EC7C30"/>
                    </a:solidFill>
                    <a:latin typeface="Calibri"/>
                    <a:cs typeface="Calibri"/>
                  </a:rPr>
                  <a:t>lineares</a:t>
                </a:r>
                <a:r>
                  <a:rPr sz="2800" spc="-10" dirty="0">
                    <a:latin typeface="Calibri"/>
                    <a:cs typeface="Calibri"/>
                  </a:rPr>
                  <a:t>, </a:t>
                </a:r>
                <a:r>
                  <a:rPr sz="2800" dirty="0">
                    <a:latin typeface="Calibri"/>
                    <a:cs typeface="Calibri"/>
                  </a:rPr>
                  <a:t>pois</a:t>
                </a:r>
                <a:r>
                  <a:rPr sz="2800" spc="-6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podem</a:t>
                </a:r>
                <a:r>
                  <a:rPr sz="2800" spc="-5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ser</a:t>
                </a:r>
                <a:r>
                  <a:rPr sz="2800" spc="-8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tornados</a:t>
                </a:r>
                <a:r>
                  <a:rPr sz="2800" spc="-5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lineares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em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relação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aos</a:t>
                </a:r>
                <a:r>
                  <a:rPr sz="2800" spc="-6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pesos</a:t>
                </a:r>
                <a:r>
                  <a:rPr sz="2800" spc="-145" dirty="0">
                    <a:latin typeface="Calibri"/>
                    <a:cs typeface="Calibri"/>
                  </a:rPr>
                  <a:t> </a:t>
                </a:r>
                <a:r>
                  <a:rPr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através</a:t>
                </a:r>
                <a:r>
                  <a:rPr sz="28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sz="2800" b="1" i="1" spc="-8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sz="2800" b="1" i="1" spc="-25" dirty="0">
                    <a:solidFill>
                      <a:srgbClr val="00AF50"/>
                    </a:solidFill>
                    <a:latin typeface="Calibri"/>
                    <a:cs typeface="Calibri"/>
                  </a:rPr>
                  <a:t>uma </a:t>
                </a:r>
                <a:r>
                  <a:rPr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modificação</a:t>
                </a:r>
                <a:r>
                  <a:rPr sz="2800" spc="-10" dirty="0">
                    <a:latin typeface="Calibri"/>
                    <a:cs typeface="Calibri"/>
                  </a:rPr>
                  <a:t>.</a:t>
                </a:r>
                <a:endParaRPr sz="2800" dirty="0">
                  <a:latin typeface="Calibri"/>
                  <a:cs typeface="Calibri"/>
                </a:endParaRPr>
              </a:p>
              <a:p>
                <a:pPr marL="266700" marR="688975" indent="-228600">
                  <a:lnSpc>
                    <a:spcPts val="3020"/>
                  </a:lnSpc>
                  <a:spcBef>
                    <a:spcPts val="1015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sz="2800" dirty="0">
                    <a:latin typeface="Calibri"/>
                    <a:cs typeface="Calibri"/>
                  </a:rPr>
                  <a:t>Por</a:t>
                </a:r>
                <a:r>
                  <a:rPr sz="2800" spc="-70" dirty="0">
                    <a:latin typeface="Calibri"/>
                    <a:cs typeface="Calibri"/>
                  </a:rPr>
                  <a:t> </a:t>
                </a:r>
                <a:r>
                  <a:rPr sz="2800" spc="-20" dirty="0">
                    <a:latin typeface="Calibri"/>
                    <a:cs typeface="Calibri"/>
                  </a:rPr>
                  <a:t>exemplo,</a:t>
                </a:r>
                <a:r>
                  <a:rPr sz="2800" spc="-6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as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equações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abaixo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podem</a:t>
                </a:r>
                <a:r>
                  <a:rPr sz="2800" spc="-6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ser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spc="-20" dirty="0">
                    <a:latin typeface="Calibri"/>
                    <a:cs typeface="Calibri"/>
                  </a:rPr>
                  <a:t>transformadas</a:t>
                </a:r>
                <a:r>
                  <a:rPr sz="2800" spc="-6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em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spc="-25" dirty="0">
                    <a:latin typeface="Calibri"/>
                    <a:cs typeface="Calibri"/>
                  </a:rPr>
                  <a:t>uma </a:t>
                </a:r>
                <a:r>
                  <a:rPr sz="2800" spc="-10" dirty="0">
                    <a:latin typeface="Calibri"/>
                    <a:cs typeface="Calibri"/>
                  </a:rPr>
                  <a:t>combinação</a:t>
                </a:r>
                <a:r>
                  <a:rPr sz="2800" spc="-5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linear</a:t>
                </a:r>
                <a:r>
                  <a:rPr sz="2800" spc="-5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de</a:t>
                </a:r>
                <a:r>
                  <a:rPr sz="2800" spc="-6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funções</a:t>
                </a:r>
                <a:r>
                  <a:rPr sz="2800" spc="-4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base</a:t>
                </a:r>
                <a:r>
                  <a:rPr sz="2800" spc="-5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não</a:t>
                </a:r>
                <a:r>
                  <a:rPr sz="2800" spc="-70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lineares.</a:t>
                </a:r>
                <a:endParaRPr sz="2800" dirty="0">
                  <a:latin typeface="Calibri"/>
                  <a:cs typeface="Calibri"/>
                </a:endParaRPr>
              </a:p>
              <a:p>
                <a:pPr marL="337185" algn="ctr">
                  <a:lnSpc>
                    <a:spcPts val="2790"/>
                  </a:lnSpc>
                </a:pPr>
                <a14:m>
                  <m:oMath xmlns:m="http://schemas.openxmlformats.org/officeDocument/2006/math">
                    <m:r>
                      <a:rPr lang="pt-BR" sz="2600" i="1" dirty="0" smtClean="0">
                        <a:latin typeface="Cambria Math" panose="02040503050406030204" pitchFamily="18" charset="0"/>
                        <a:cs typeface="Cambria Math"/>
                      </a:rPr>
                      <m:t>𝑦</m:t>
                    </m:r>
                    <m:r>
                      <a:rPr lang="pt-BR" sz="2600" i="1" dirty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2600" i="1" spc="60" dirty="0">
                        <a:latin typeface="Cambria Math" panose="02040503050406030204" pitchFamily="18" charset="0"/>
                        <a:cs typeface="Cambria Math"/>
                      </a:rPr>
                      <m:t>𝑎</m:t>
                    </m:r>
                    <m:r>
                      <a:rPr lang="pt-BR" sz="2850" i="1" spc="89" baseline="-16081" dirty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  <m:r>
                      <a:rPr lang="pt-BR" sz="2600" i="1" spc="60" dirty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2850" i="1" spc="89" baseline="-16081" dirty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  <m:r>
                      <a:rPr lang="pt-BR" sz="2850" i="1" spc="89" baseline="27777" dirty="0">
                        <a:latin typeface="Cambria Math" panose="02040503050406030204" pitchFamily="18" charset="0"/>
                        <a:cs typeface="Cambria Math"/>
                      </a:rPr>
                      <m:t>𝑎</m:t>
                    </m:r>
                    <m:r>
                      <a:rPr lang="pt-BR" sz="2325" i="1" spc="89" baseline="19713" dirty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  <m:r>
                      <a:rPr lang="pt-BR" sz="2325" i="1" spc="-225" baseline="19713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2600" i="1" spc="110" dirty="0">
                        <a:latin typeface="Cambria Math" panose="02040503050406030204" pitchFamily="18" charset="0"/>
                        <a:cs typeface="Cambria Math"/>
                      </a:rPr>
                      <m:t>𝑒</m:t>
                    </m:r>
                    <m:r>
                      <a:rPr lang="pt-BR" sz="2850" i="1" spc="165" baseline="27777" dirty="0">
                        <a:latin typeface="Cambria Math" panose="02040503050406030204" pitchFamily="18" charset="0"/>
                        <a:cs typeface="Cambria Math"/>
                      </a:rPr>
                      <m:t>𝑎</m:t>
                    </m:r>
                    <m:r>
                      <a:rPr lang="pt-BR" sz="2325" i="1" spc="165" baseline="19713" dirty="0">
                        <a:latin typeface="Cambria Math" panose="02040503050406030204" pitchFamily="18" charset="0"/>
                        <a:cs typeface="Cambria Math"/>
                      </a:rPr>
                      <m:t>2</m:t>
                    </m:r>
                    <m:r>
                      <a:rPr lang="pt-BR" sz="2850" i="1" spc="165" baseline="27777" dirty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2325" i="1" spc="165" baseline="19713" dirty="0">
                        <a:latin typeface="Cambria Math" panose="02040503050406030204" pitchFamily="18" charset="0"/>
                        <a:cs typeface="Cambria Math"/>
                      </a:rPr>
                      <m:t>2</m:t>
                    </m:r>
                    <m:r>
                      <a:rPr lang="pt-BR" sz="2325" i="1" spc="-232" baseline="19713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</m:oMath>
                </a14:m>
                <a:r>
                  <a:rPr sz="2600" spc="-50" dirty="0">
                    <a:latin typeface="Cambria Math"/>
                    <a:cs typeface="Cambria Math"/>
                  </a:rPr>
                  <a:t>,</a:t>
                </a:r>
                <a:endParaRPr sz="26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457" y="1734726"/>
                <a:ext cx="10786110" cy="3370579"/>
              </a:xfrm>
              <a:prstGeom prst="rect">
                <a:avLst/>
              </a:prstGeom>
              <a:blipFill>
                <a:blip r:embed="rId2"/>
                <a:stretch>
                  <a:fillRect l="-1526" t="-2899" r="-1470" b="-48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bject 9"/>
          <p:cNvSpPr txBox="1"/>
          <p:nvPr/>
        </p:nvSpPr>
        <p:spPr>
          <a:xfrm>
            <a:off x="916939" y="6154318"/>
            <a:ext cx="9782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vantagem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fáceis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interpretar.</a:t>
            </a:r>
            <a:endParaRPr sz="2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AD34BAA-2E27-B7B9-5C8B-CB102A7CB3D0}"/>
                  </a:ext>
                </a:extLst>
              </p:cNvPr>
              <p:cNvSpPr txBox="1"/>
              <p:nvPr/>
            </p:nvSpPr>
            <p:spPr>
              <a:xfrm>
                <a:off x="5223612" y="5335684"/>
                <a:ext cx="1744773" cy="6929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AD34BAA-2E27-B7B9-5C8B-CB102A7CB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612" y="5335684"/>
                <a:ext cx="1744773" cy="6929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Exemplo:</a:t>
            </a:r>
            <a:r>
              <a:rPr spc="-140" dirty="0"/>
              <a:t> </a:t>
            </a:r>
            <a:r>
              <a:rPr spc="-10" dirty="0"/>
              <a:t>Linearização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1145" y="1796542"/>
            <a:ext cx="16236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equação,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1145" y="3026791"/>
            <a:ext cx="3507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pode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reescrita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51145" y="4514215"/>
            <a:ext cx="6463665" cy="21151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1567180">
              <a:lnSpc>
                <a:spcPts val="3020"/>
              </a:lnSpc>
              <a:spcBef>
                <a:spcPts val="480"/>
              </a:spcBef>
            </a:pPr>
            <a:r>
              <a:rPr sz="2800" dirty="0">
                <a:latin typeface="Calibri"/>
                <a:cs typeface="Calibri"/>
              </a:rPr>
              <a:t>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 transformados.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Depois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linearizado,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equação </a:t>
            </a:r>
            <a:r>
              <a:rPr sz="2800" dirty="0">
                <a:latin typeface="Calibri"/>
                <a:cs typeface="Calibri"/>
              </a:rPr>
              <a:t>normal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descendente.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739" y="6572504"/>
            <a:ext cx="26168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400" u="sng" spc="-6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model_linearization.ipynb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3630" y="4392937"/>
            <a:ext cx="3007213" cy="208060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5639" y="1638622"/>
            <a:ext cx="3024809" cy="2094113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2698114" y="3850640"/>
            <a:ext cx="645160" cy="453390"/>
            <a:chOff x="2698114" y="3850640"/>
            <a:chExt cx="645160" cy="453390"/>
          </a:xfrm>
        </p:grpSpPr>
        <p:sp>
          <p:nvSpPr>
            <p:cNvPr id="27" name="object 27"/>
            <p:cNvSpPr/>
            <p:nvPr/>
          </p:nvSpPr>
          <p:spPr>
            <a:xfrm>
              <a:off x="2704464" y="3856990"/>
              <a:ext cx="632460" cy="440690"/>
            </a:xfrm>
            <a:custGeom>
              <a:avLst/>
              <a:gdLst/>
              <a:ahLst/>
              <a:cxnLst/>
              <a:rect l="l" t="t" r="r" b="b"/>
              <a:pathLst>
                <a:path w="632460" h="440689">
                  <a:moveTo>
                    <a:pt x="474091" y="0"/>
                  </a:moveTo>
                  <a:lnTo>
                    <a:pt x="157987" y="0"/>
                  </a:lnTo>
                  <a:lnTo>
                    <a:pt x="157987" y="220091"/>
                  </a:lnTo>
                  <a:lnTo>
                    <a:pt x="0" y="220091"/>
                  </a:lnTo>
                  <a:lnTo>
                    <a:pt x="316103" y="440309"/>
                  </a:lnTo>
                  <a:lnTo>
                    <a:pt x="632079" y="220091"/>
                  </a:lnTo>
                  <a:lnTo>
                    <a:pt x="474091" y="220091"/>
                  </a:lnTo>
                  <a:lnTo>
                    <a:pt x="474091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04464" y="3856990"/>
              <a:ext cx="632460" cy="440690"/>
            </a:xfrm>
            <a:custGeom>
              <a:avLst/>
              <a:gdLst/>
              <a:ahLst/>
              <a:cxnLst/>
              <a:rect l="l" t="t" r="r" b="b"/>
              <a:pathLst>
                <a:path w="632460" h="440689">
                  <a:moveTo>
                    <a:pt x="474091" y="0"/>
                  </a:moveTo>
                  <a:lnTo>
                    <a:pt x="474091" y="220091"/>
                  </a:lnTo>
                  <a:lnTo>
                    <a:pt x="632079" y="220091"/>
                  </a:lnTo>
                  <a:lnTo>
                    <a:pt x="316103" y="440309"/>
                  </a:lnTo>
                  <a:lnTo>
                    <a:pt x="0" y="220091"/>
                  </a:lnTo>
                  <a:lnTo>
                    <a:pt x="157987" y="220091"/>
                  </a:lnTo>
                  <a:lnTo>
                    <a:pt x="157987" y="0"/>
                  </a:lnTo>
                  <a:lnTo>
                    <a:pt x="474091" y="0"/>
                  </a:lnTo>
                  <a:close/>
                </a:path>
              </a:pathLst>
            </a:custGeom>
            <a:ln w="12700">
              <a:solidFill>
                <a:srgbClr val="6330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98B5D353-F3AD-91AF-418F-4356D1EA531A}"/>
                  </a:ext>
                </a:extLst>
              </p:cNvPr>
              <p:cNvSpPr txBox="1"/>
              <p:nvPr/>
            </p:nvSpPr>
            <p:spPr>
              <a:xfrm>
                <a:off x="7339977" y="2166584"/>
                <a:ext cx="2039341" cy="808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98B5D353-F3AD-91AF-418F-4356D1EA5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977" y="2166584"/>
                <a:ext cx="2039341" cy="8084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52FB9465-11E1-C7CE-8843-E46866E9B7A7}"/>
                  </a:ext>
                </a:extLst>
              </p:cNvPr>
              <p:cNvSpPr txBox="1"/>
              <p:nvPr/>
            </p:nvSpPr>
            <p:spPr>
              <a:xfrm>
                <a:off x="5591773" y="3612738"/>
                <a:ext cx="5982407" cy="8830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52FB9465-11E1-C7CE-8843-E46866E9B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773" y="3612738"/>
                <a:ext cx="5982407" cy="8830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80" dirty="0"/>
              <a:t> </a:t>
            </a:r>
            <a:r>
              <a:rPr spc="-10" dirty="0"/>
              <a:t>polinomial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27065" y="1793493"/>
            <a:ext cx="6515100" cy="365315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34480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teorema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aproximação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Stone-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Weierstrass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diz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“qualquer</a:t>
            </a:r>
            <a:r>
              <a:rPr sz="2800" i="1" spc="-9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função contínua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no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intervalo</a:t>
            </a:r>
            <a:r>
              <a:rPr sz="2800" i="1" spc="-7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fechado</a:t>
            </a:r>
            <a:r>
              <a:rPr sz="2800" i="1" spc="-7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[a,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b]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spc="-20" dirty="0">
                <a:latin typeface="Calibri"/>
                <a:cs typeface="Calibri"/>
              </a:rPr>
              <a:t>pode </a:t>
            </a:r>
            <a:r>
              <a:rPr sz="2800" i="1" dirty="0">
                <a:latin typeface="Calibri"/>
                <a:cs typeface="Calibri"/>
              </a:rPr>
              <a:t>ser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spc="-20" dirty="0">
                <a:latin typeface="Calibri"/>
                <a:cs typeface="Calibri"/>
              </a:rPr>
              <a:t>uniformemente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aproximada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por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um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polinômio</a:t>
            </a:r>
            <a:r>
              <a:rPr sz="2800" i="1" spc="-10" dirty="0">
                <a:latin typeface="Calibri"/>
                <a:cs typeface="Calibri"/>
              </a:rPr>
              <a:t>”.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Portanto,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aproximar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qualquer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tipo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mapeamento</a:t>
            </a:r>
            <a:r>
              <a:rPr sz="2800" b="1" i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(linear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ou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não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linear)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polinômios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bastando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apenas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encontrar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grau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(ou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ordem)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ideal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288" y="2505372"/>
            <a:ext cx="4033664" cy="29698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80" dirty="0"/>
              <a:t> </a:t>
            </a:r>
            <a:r>
              <a:rPr spc="-10" dirty="0"/>
              <a:t>polinomial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753586" y="1828800"/>
                <a:ext cx="11470893" cy="3892412"/>
              </a:xfrm>
              <a:prstGeom prst="rect">
                <a:avLst/>
              </a:prstGeom>
            </p:spPr>
            <p:txBody>
              <a:bodyPr vert="horz" wrap="square" lIns="0" tIns="140970" rIns="0" bIns="0" rtlCol="0">
                <a:spAutoFit/>
              </a:bodyPr>
              <a:lstStyle/>
              <a:p>
                <a:pPr marL="292100" indent="-228600">
                  <a:lnSpc>
                    <a:spcPct val="100000"/>
                  </a:lnSpc>
                  <a:spcBef>
                    <a:spcPts val="1110"/>
                  </a:spcBef>
                  <a:buFont typeface="Arial"/>
                  <a:buChar char="•"/>
                  <a:tabLst>
                    <a:tab pos="292100" algn="l"/>
                  </a:tabLst>
                </a:pPr>
                <a:r>
                  <a:rPr lang="pt-BR" sz="2800" spc="-10" dirty="0">
                    <a:latin typeface="Calibri"/>
                    <a:cs typeface="Calibri"/>
                  </a:rPr>
                  <a:t>Exemplo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polinômio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grau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4*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três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atributos,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𝑥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1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𝑥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2</a:t>
                </a:r>
                <a:r>
                  <a:rPr lang="pt-BR" sz="3075" spc="352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𝑥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3</a:t>
                </a:r>
                <a:endParaRPr lang="pt-BR" sz="3075" baseline="-16260" dirty="0">
                  <a:latin typeface="Cambria Math"/>
                  <a:cs typeface="Cambria Math"/>
                </a:endParaRPr>
              </a:p>
              <a:p>
                <a:pPr marL="688340">
                  <a:lnSpc>
                    <a:spcPct val="100000"/>
                  </a:lnSpc>
                  <a:spcBef>
                    <a:spcPts val="1010"/>
                  </a:spcBef>
                  <a:tabLst>
                    <a:tab pos="1040130" algn="l"/>
                    <a:tab pos="259461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𝑦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,</m:t>
                      </m:r>
                      <m:r>
                        <a:rPr lang="pt-BR" sz="2800" i="1" spc="-85" dirty="0" smtClean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,</m:t>
                      </m:r>
                      <m:r>
                        <a:rPr lang="pt-BR" sz="2800" i="1" spc="-80" dirty="0" smtClean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80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spc="-37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3</m:t>
                      </m:r>
                      <m:r>
                        <a:rPr lang="pt-BR" sz="3075" b="0" i="1" spc="-37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3075" i="1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2800" i="1" spc="210" dirty="0" smtClean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0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3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3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5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3075" i="1" baseline="27100" dirty="0" smtClean="0">
                          <a:latin typeface="Cambria Math" panose="02040503050406030204" pitchFamily="18" charset="0"/>
                          <a:cs typeface="Cambria Math"/>
                        </a:rPr>
                        <m:t>3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800" i="1" spc="35" dirty="0" smtClean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spc="52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4</m:t>
                      </m:r>
                      <m:r>
                        <a:rPr lang="pt-BR" sz="2800" i="1" spc="35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spc="52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800" i="1" spc="35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spc="52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r>
                        <a:rPr lang="pt-BR" sz="2800" i="1" spc="35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spc="52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3</m:t>
                      </m:r>
                      <m:r>
                        <a:rPr lang="pt-BR" sz="3075" i="1" spc="52" baseline="27100" dirty="0" smtClean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</m:oMath>
                  </m:oMathPara>
                </a14:m>
                <a:endParaRPr lang="pt-BR" sz="3075" baseline="27100" dirty="0">
                  <a:latin typeface="Cambria Math"/>
                  <a:cs typeface="Cambria Math"/>
                </a:endParaRPr>
              </a:p>
              <a:p>
                <a:pPr marL="292100" marR="307975" indent="-228600">
                  <a:lnSpc>
                    <a:spcPts val="3020"/>
                  </a:lnSpc>
                  <a:spcBef>
                    <a:spcPts val="2555"/>
                  </a:spcBef>
                  <a:buFont typeface="Arial"/>
                  <a:buChar char="•"/>
                  <a:tabLst>
                    <a:tab pos="2921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 err="1">
                    <a:latin typeface="Calibri"/>
                    <a:cs typeface="Calibri"/>
                  </a:rPr>
                  <a:t>grau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 err="1">
                    <a:latin typeface="Calibri"/>
                    <a:cs typeface="Calibri"/>
                  </a:rPr>
                  <a:t>polinômio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 err="1">
                    <a:latin typeface="Calibri"/>
                    <a:cs typeface="Calibri"/>
                  </a:rPr>
                  <a:t>maior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valor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 err="1">
                    <a:latin typeface="Calibri"/>
                    <a:cs typeface="Calibri"/>
                  </a:rPr>
                  <a:t>resultante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soma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dos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 err="1">
                    <a:latin typeface="Calibri"/>
                    <a:cs typeface="Calibri"/>
                  </a:rPr>
                  <a:t>expoentes</a:t>
                </a:r>
                <a:r>
                  <a:rPr lang="pt-BR" sz="2800" spc="-1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dos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 err="1">
                    <a:latin typeface="Calibri"/>
                    <a:cs typeface="Calibri"/>
                  </a:rPr>
                  <a:t>atributos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 err="1">
                    <a:latin typeface="Calibri"/>
                    <a:cs typeface="Calibri"/>
                  </a:rPr>
                  <a:t>monômio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92100" marR="246379" indent="-228600">
                  <a:lnSpc>
                    <a:spcPts val="3020"/>
                  </a:lnSpc>
                  <a:spcBef>
                    <a:spcPts val="1019"/>
                  </a:spcBef>
                  <a:buFont typeface="Arial"/>
                  <a:buChar char="•"/>
                  <a:tabLst>
                    <a:tab pos="292100" algn="l"/>
                  </a:tabLst>
                </a:pPr>
                <a:r>
                  <a:rPr lang="pt-BR" sz="2800" spc="-10" dirty="0" err="1">
                    <a:latin typeface="Calibri"/>
                    <a:cs typeface="Calibri"/>
                  </a:rPr>
                  <a:t>Percebam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em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alguns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monômios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existe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15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6FC0"/>
                    </a:solidFill>
                    <a:latin typeface="Calibri"/>
                    <a:cs typeface="Calibri"/>
                  </a:rPr>
                  <a:t>combinação</a:t>
                </a:r>
                <a:r>
                  <a:rPr lang="pt-BR" sz="2800" b="1" i="1" spc="-85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dos</a:t>
                </a:r>
                <a:r>
                  <a:rPr lang="pt-BR" sz="2800" b="1" i="1" spc="-85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6FC0"/>
                    </a:solidFill>
                    <a:latin typeface="Calibri"/>
                    <a:cs typeface="Calibri"/>
                  </a:rPr>
                  <a:t>atributos </a:t>
                </a:r>
                <a:r>
                  <a:rPr lang="pt-BR" sz="2800" b="1" i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originais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114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formando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novos</a:t>
                </a:r>
                <a:r>
                  <a:rPr lang="pt-BR" sz="2800" spc="-11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atributos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(ou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funções</a:t>
                </a:r>
                <a:r>
                  <a:rPr lang="pt-BR" sz="2800" b="1" i="1" spc="-12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base</a:t>
                </a:r>
                <a:r>
                  <a:rPr lang="pt-BR" sz="2800" spc="-10" dirty="0">
                    <a:latin typeface="Calibri"/>
                    <a:cs typeface="Calibri"/>
                  </a:rPr>
                  <a:t>).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92100" marR="17780" indent="-228600">
                  <a:lnSpc>
                    <a:spcPts val="3030"/>
                  </a:lnSpc>
                  <a:spcBef>
                    <a:spcPts val="994"/>
                  </a:spcBef>
                  <a:buFont typeface="Arial"/>
                  <a:buChar char="•"/>
                  <a:tabLst>
                    <a:tab pos="2921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problema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polinômios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presença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14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outliers</a:t>
                </a:r>
                <a:r>
                  <a:rPr lang="pt-BR" sz="2800" b="1" i="1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nos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dados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de </a:t>
                </a:r>
                <a:r>
                  <a:rPr lang="pt-BR" sz="2800" spc="-10" dirty="0">
                    <a:latin typeface="Calibri"/>
                    <a:cs typeface="Calibri"/>
                  </a:rPr>
                  <a:t>treinamento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impacta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desempenho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modelo.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86" y="1828800"/>
                <a:ext cx="11470893" cy="3892412"/>
              </a:xfrm>
              <a:prstGeom prst="rect">
                <a:avLst/>
              </a:prstGeom>
              <a:blipFill>
                <a:blip r:embed="rId2"/>
                <a:stretch>
                  <a:fillRect l="-1223" b="-48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/>
          <p:nvPr/>
        </p:nvSpPr>
        <p:spPr>
          <a:xfrm>
            <a:off x="9968230" y="2466975"/>
            <a:ext cx="1233170" cy="428625"/>
          </a:xfrm>
          <a:custGeom>
            <a:avLst/>
            <a:gdLst/>
            <a:ahLst/>
            <a:cxnLst/>
            <a:rect l="l" t="t" r="r" b="b"/>
            <a:pathLst>
              <a:path w="1233170" h="428625">
                <a:moveTo>
                  <a:pt x="0" y="428625"/>
                </a:moveTo>
                <a:lnTo>
                  <a:pt x="1232903" y="428625"/>
                </a:lnTo>
                <a:lnTo>
                  <a:pt x="1232903" y="0"/>
                </a:lnTo>
                <a:lnTo>
                  <a:pt x="0" y="0"/>
                </a:lnTo>
                <a:lnTo>
                  <a:pt x="0" y="428625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16114" y="6584695"/>
            <a:ext cx="456438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Exemplo:</a:t>
            </a:r>
            <a:r>
              <a:rPr sz="1400" u="sng" spc="-7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polynomial_regression_example_with_outliers.ipynb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80" dirty="0"/>
              <a:t> </a:t>
            </a:r>
            <a:r>
              <a:rPr spc="-10" dirty="0"/>
              <a:t>polinomial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9"/>
              <p:cNvSpPr txBox="1"/>
              <p:nvPr/>
            </p:nvSpPr>
            <p:spPr>
              <a:xfrm>
                <a:off x="685800" y="1676400"/>
                <a:ext cx="11292524" cy="4642296"/>
              </a:xfrm>
              <a:prstGeom prst="rect">
                <a:avLst/>
              </a:prstGeom>
            </p:spPr>
            <p:txBody>
              <a:bodyPr vert="horz" wrap="square" lIns="0" tIns="59690" rIns="0" bIns="0" rtlCol="0">
                <a:spAutoFit/>
              </a:bodyPr>
              <a:lstStyle/>
              <a:p>
                <a:pPr marL="304800" marR="724535" indent="-228600">
                  <a:spcBef>
                    <a:spcPts val="470"/>
                  </a:spcBef>
                  <a:buFont typeface="Arial"/>
                  <a:buChar char="•"/>
                  <a:tabLst>
                    <a:tab pos="3048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Por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simplicidade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didática,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inicialmente,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nós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consideraremos</a:t>
                </a:r>
                <a:r>
                  <a:rPr lang="pt-BR" sz="2800" spc="-13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funções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hipóteses</a:t>
                </a:r>
                <a:r>
                  <a:rPr lang="pt-BR" sz="2800" b="1" i="1" spc="-7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polinomiais</a:t>
                </a:r>
                <a:r>
                  <a:rPr lang="pt-BR" sz="28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em</a:t>
                </a:r>
                <a:r>
                  <a:rPr lang="pt-BR" sz="2800" b="1" i="1" spc="-8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uma</a:t>
                </a:r>
                <a:r>
                  <a:rPr lang="pt-BR" sz="2800" b="1" i="1" spc="-7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variável</a:t>
                </a:r>
                <a:r>
                  <a:rPr lang="pt-BR" sz="2800" b="1" i="1" spc="-10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(i.e.,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um</a:t>
                </a:r>
                <a:r>
                  <a:rPr lang="pt-BR" sz="2800" b="1" i="1" spc="-7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atributo)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652145">
                  <a:spcBef>
                    <a:spcPts val="1510"/>
                  </a:spcBef>
                  <a:tabLst>
                    <a:tab pos="1002665" algn="l"/>
                    <a:tab pos="209677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h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20" dirty="0" smtClean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spc="-30" baseline="-1626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800" i="1" spc="-20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20" dirty="0">
                          <a:latin typeface="Cambria Math" panose="02040503050406030204" pitchFamily="18" charset="0"/>
                          <a:cs typeface="Cambria Math"/>
                        </a:rPr>
                        <m:t>𝑛</m:t>
                      </m:r>
                      <m:r>
                        <a:rPr lang="pt-BR" sz="2800" i="1" spc="-2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800" i="1" spc="-20" dirty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2800" i="1" spc="200" dirty="0" smtClean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baseline="-16260" dirty="0">
                          <a:latin typeface="Cambria Math" panose="02040503050406030204" pitchFamily="18" charset="0"/>
                          <a:cs typeface="Cambria Math"/>
                        </a:rPr>
                        <m:t>0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baseline="-1626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baseline="-1626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𝑛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)+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baseline="-16260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baseline="-1626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3075" i="1" baseline="27100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𝑛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)+ ⋯ +</m:t>
                      </m:r>
                      <m:r>
                        <a:rPr lang="pt-BR" sz="2800" i="1" spc="55" dirty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spc="82" baseline="-16260" dirty="0">
                          <a:latin typeface="Cambria Math" panose="02040503050406030204" pitchFamily="18" charset="0"/>
                          <a:cs typeface="Cambria Math"/>
                        </a:rPr>
                        <m:t>𝑀</m:t>
                      </m:r>
                      <m:r>
                        <a:rPr lang="pt-BR" sz="2800" i="1" spc="55" dirty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spc="82" baseline="-1626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3075" i="1" spc="82" baseline="27100" dirty="0">
                          <a:latin typeface="Cambria Math" panose="02040503050406030204" pitchFamily="18" charset="0"/>
                          <a:cs typeface="Cambria Math"/>
                        </a:rPr>
                        <m:t>𝑀</m:t>
                      </m:r>
                      <m:r>
                        <a:rPr lang="pt-BR" sz="2800" i="1" spc="55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55" dirty="0">
                          <a:latin typeface="Cambria Math" panose="02040503050406030204" pitchFamily="18" charset="0"/>
                          <a:cs typeface="Cambria Math"/>
                        </a:rPr>
                        <m:t>𝑛</m:t>
                      </m:r>
                      <m:r>
                        <a:rPr lang="pt-BR" sz="2800" i="1" spc="55" dirty="0">
                          <a:latin typeface="Cambria Math" panose="02040503050406030204" pitchFamily="18" charset="0"/>
                          <a:cs typeface="Cambria Math"/>
                        </a:rPr>
                        <m:t>) = </m:t>
                      </m:r>
                      <m:r>
                        <a:rPr lang="pt-BR" sz="2800" i="1" spc="-10" dirty="0">
                          <a:latin typeface="Cambria Math" panose="02040503050406030204" pitchFamily="18" charset="0"/>
                          <a:cs typeface="Cambria Math"/>
                        </a:rPr>
                        <m:t>𝒂</m:t>
                      </m:r>
                      <m:r>
                        <a:rPr lang="pt-BR" sz="3075" i="1" spc="-15" baseline="27100" dirty="0">
                          <a:latin typeface="Cambria Math" panose="02040503050406030204" pitchFamily="18" charset="0"/>
                          <a:cs typeface="Cambria Math"/>
                        </a:rPr>
                        <m:t>𝑇</m:t>
                      </m:r>
                      <m:r>
                        <a:rPr lang="pt-BR" sz="2800" i="1" spc="-10" dirty="0">
                          <a:latin typeface="Cambria Math" panose="02040503050406030204" pitchFamily="18" charset="0"/>
                          <a:cs typeface="Cambria Math"/>
                        </a:rPr>
                        <m:t>𝒙</m:t>
                      </m:r>
                      <m:r>
                        <a:rPr lang="pt-BR" sz="2800" i="1" spc="-10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10" dirty="0">
                          <a:latin typeface="Cambria Math" panose="02040503050406030204" pitchFamily="18" charset="0"/>
                          <a:cs typeface="Cambria Math"/>
                        </a:rPr>
                        <m:t>𝑛</m:t>
                      </m:r>
                      <m:r>
                        <a:rPr lang="pt-BR" sz="2800" i="1" spc="-10" dirty="0">
                          <a:latin typeface="Cambria Math" panose="02040503050406030204" pitchFamily="18" charset="0"/>
                          <a:cs typeface="Cambria Math"/>
                        </a:rPr>
                        <m:t>),</m:t>
                      </m:r>
                    </m:oMath>
                  </m:oMathPara>
                </a14:m>
                <a:endParaRPr lang="pt-BR" sz="2800" dirty="0">
                  <a:latin typeface="Cambria Math"/>
                  <a:cs typeface="Cambria Math"/>
                </a:endParaRPr>
              </a:p>
              <a:p>
                <a:pPr marL="76200">
                  <a:spcBef>
                    <a:spcPts val="650"/>
                  </a:spcBef>
                </a:pPr>
                <a:r>
                  <a:rPr lang="pt-BR" sz="2800" dirty="0">
                    <a:latin typeface="Calibri"/>
                    <a:cs typeface="Calibri"/>
                  </a:rPr>
                  <a:t>onde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𝑛</a:t>
                </a:r>
                <a:r>
                  <a:rPr lang="pt-BR" sz="2800" spc="15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=</a:t>
                </a:r>
                <a:r>
                  <a:rPr lang="pt-BR" sz="2800" spc="110" dirty="0">
                    <a:latin typeface="Cambria Math"/>
                    <a:cs typeface="Cambria Math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1</a:t>
                </a:r>
                <a:r>
                  <a:rPr lang="pt-BR" sz="2800" spc="-155" dirty="0">
                    <a:latin typeface="Cambria Math"/>
                    <a:cs typeface="Cambria Math"/>
                  </a:rPr>
                  <a:t> </a:t>
                </a:r>
                <a:r>
                  <a:rPr lang="pt-BR" sz="2800" spc="-30" dirty="0">
                    <a:latin typeface="Cambria Math"/>
                    <a:cs typeface="Cambria Math"/>
                  </a:rPr>
                  <a:t>…</a:t>
                </a:r>
                <a:r>
                  <a:rPr lang="pt-BR" sz="2800" spc="-16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𝑁</a:t>
                </a:r>
                <a:r>
                  <a:rPr lang="pt-BR" sz="2800" spc="5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número</a:t>
                </a:r>
                <a:r>
                  <a:rPr lang="pt-BR" sz="2800" spc="-1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amostra,</a:t>
                </a:r>
                <a:r>
                  <a:rPr lang="pt-BR" sz="2800" spc="-1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𝑀</a:t>
                </a:r>
                <a:r>
                  <a:rPr lang="pt-BR" sz="2800" spc="4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grau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polinômio,</a:t>
                </a:r>
                <a:r>
                  <a:rPr lang="pt-BR" sz="2800" spc="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𝒂</a:t>
                </a:r>
                <a:r>
                  <a:rPr lang="pt-BR" sz="2800" spc="95" dirty="0">
                    <a:latin typeface="Cambria Math"/>
                    <a:cs typeface="Cambria Math"/>
                  </a:rPr>
                  <a:t> </a:t>
                </a:r>
                <a:r>
                  <a:rPr lang="pt-BR" sz="2800" spc="-50" dirty="0">
                    <a:latin typeface="Cambria Math"/>
                    <a:cs typeface="Cambria Math"/>
                  </a:rPr>
                  <a:t>=</a:t>
                </a:r>
                <a:endParaRPr lang="pt-BR" sz="2800" dirty="0">
                  <a:latin typeface="Cambria Math"/>
                  <a:cs typeface="Cambria Math"/>
                </a:endParaRPr>
              </a:p>
              <a:p>
                <a:pPr marL="76200" marR="81280" indent="124460">
                  <a:spcBef>
                    <a:spcPts val="225"/>
                  </a:spcBef>
                  <a:tabLst>
                    <a:tab pos="720725" algn="l"/>
                    <a:tab pos="1231265" algn="l"/>
                    <a:tab pos="1732914" algn="l"/>
                    <a:tab pos="2136775" algn="l"/>
                    <a:tab pos="2709545" algn="l"/>
                    <a:tab pos="5970270" algn="l"/>
                    <a:tab pos="6475730" algn="l"/>
                    <a:tab pos="6966584" algn="l"/>
                    <a:tab pos="7480300" algn="l"/>
                    <a:tab pos="9036685" algn="l"/>
                  </a:tabLst>
                </a:pPr>
                <a:r>
                  <a:rPr lang="pt-BR" sz="2800" spc="-25" dirty="0">
                    <a:latin typeface="Cambria Math"/>
                    <a:cs typeface="Cambria Math"/>
                  </a:rPr>
                  <a:t>[𝑎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0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	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𝑎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1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	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𝑎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2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	</a:t>
                </a:r>
                <a:r>
                  <a:rPr lang="pt-BR" sz="2800" spc="-50" dirty="0">
                    <a:latin typeface="Cambria Math"/>
                    <a:cs typeface="Cambria Math"/>
                  </a:rPr>
                  <a:t>…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𝑎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𝑀</a:t>
                </a:r>
                <a:r>
                  <a:rPr lang="pt-BR" sz="3075" spc="-37" dirty="0">
                    <a:latin typeface="Cambria Math"/>
                    <a:cs typeface="Cambria Math"/>
                  </a:rPr>
                  <a:t>]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	</a:t>
                </a:r>
                <a:r>
                  <a:rPr lang="pt-BR" sz="3075" baseline="27100" dirty="0">
                    <a:latin typeface="Cambria Math"/>
                    <a:cs typeface="Cambria Math"/>
                  </a:rPr>
                  <a:t>𝑇</a:t>
                </a:r>
                <a:r>
                  <a:rPr lang="pt-BR" sz="3075" spc="75" baseline="27100" dirty="0">
                    <a:latin typeface="Cambria Math"/>
                    <a:cs typeface="Cambria Math"/>
                  </a:rPr>
                  <a:t>  </a:t>
                </a:r>
                <a:r>
                  <a:rPr lang="pt-BR" sz="2800" dirty="0">
                    <a:latin typeface="Cambria Math"/>
                    <a:cs typeface="Cambria Math"/>
                  </a:rPr>
                  <a:t>∈</a:t>
                </a:r>
                <a:r>
                  <a:rPr lang="pt-BR" sz="2800" spc="21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ℝ</a:t>
                </a:r>
                <a:r>
                  <a:rPr lang="pt-BR" sz="3075" baseline="27100" dirty="0">
                    <a:latin typeface="Cambria Math"/>
                    <a:cs typeface="Cambria Math"/>
                  </a:rPr>
                  <a:t>𝑀+1×1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4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)=[</m:t>
                    </m:r>
                    <m:r>
                      <a:rPr lang="pt-BR" sz="2800" i="1" spc="-25" dirty="0" smtClean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3075" i="1" spc="-37" baseline="-16260" dirty="0" smtClean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  <m:r>
                      <a:rPr lang="pt-BR" sz="3075" b="0" i="1" spc="-37" baseline="-16260" dirty="0" smtClean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3075" i="1" baseline="-16260" dirty="0" smtClean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  <m:r>
                      <a:rPr lang="pt-BR" sz="2800" i="1" spc="-25" dirty="0" smtClean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3075" i="1" spc="-37" baseline="-16260" dirty="0" smtClean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  <m:r>
                      <a:rPr lang="pt-BR" sz="3075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𝑛</m:t>
                    </m:r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3075" i="1" baseline="-16260" dirty="0" smtClean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  <m:r>
                      <a:rPr lang="pt-BR" sz="3075" i="1" baseline="27100" dirty="0" smtClean="0">
                        <a:latin typeface="Cambria Math" panose="02040503050406030204" pitchFamily="18" charset="0"/>
                        <a:cs typeface="Cambria Math"/>
                      </a:rPr>
                      <m:t>2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) …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3075" i="1" baseline="-16260" dirty="0" smtClean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  <m:r>
                      <a:rPr lang="pt-BR" sz="3075" i="1" baseline="27100" dirty="0" smtClean="0">
                        <a:latin typeface="Cambria Math" panose="02040503050406030204" pitchFamily="18" charset="0"/>
                        <a:cs typeface="Cambria Math"/>
                      </a:rPr>
                      <m:t>𝑀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)]</m:t>
                    </m:r>
                    <m:r>
                      <m:rPr>
                        <m:sty m:val="p"/>
                      </m:rPr>
                      <a:rPr lang="pt-BR" sz="3075" i="0" baseline="27100" dirty="0" smtClean="0">
                        <a:latin typeface="Cambria Math" panose="02040503050406030204" pitchFamily="18" charset="0"/>
                        <a:cs typeface="Cambria Math"/>
                      </a:rPr>
                      <m:t>T</m:t>
                    </m:r>
                  </m:oMath>
                </a14:m>
                <a:r>
                  <a:rPr lang="pt-BR" sz="3075" spc="135" baseline="27100" dirty="0">
                    <a:latin typeface="Cambria Math"/>
                    <a:cs typeface="Cambria Math"/>
                  </a:rPr>
                  <a:t>  </a:t>
                </a:r>
                <a:r>
                  <a:rPr lang="pt-BR" sz="2800" spc="-50" dirty="0">
                    <a:latin typeface="Cambria Math"/>
                    <a:cs typeface="Cambria Math"/>
                  </a:rPr>
                  <a:t>∈ </a:t>
                </a:r>
                <a:r>
                  <a:rPr lang="pt-BR" sz="2800" dirty="0">
                    <a:latin typeface="Cambria Math"/>
                    <a:cs typeface="Cambria Math"/>
                  </a:rPr>
                  <a:t>ℝ</a:t>
                </a:r>
                <a:r>
                  <a:rPr lang="pt-BR" sz="3075" baseline="27100" dirty="0">
                    <a:latin typeface="Cambria Math"/>
                    <a:cs typeface="Cambria Math"/>
                  </a:rPr>
                  <a:t>𝑀+1×1</a:t>
                </a:r>
                <a:r>
                  <a:rPr lang="pt-BR" sz="3075" spc="397" baseline="2710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𝑥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0</a:t>
                </a:r>
                <a:r>
                  <a:rPr lang="pt-BR" sz="3075" spc="600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=</a:t>
                </a:r>
                <a:r>
                  <a:rPr lang="pt-BR" sz="2800" spc="10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1</a:t>
                </a:r>
                <a:r>
                  <a:rPr lang="pt-BR" sz="2800" spc="-4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atributo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i="1" dirty="0">
                    <a:latin typeface="Calibri"/>
                    <a:cs typeface="Calibri"/>
                  </a:rPr>
                  <a:t>bias,</a:t>
                </a:r>
                <a:r>
                  <a:rPr lang="pt-BR" sz="2800" i="1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associado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ao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peso</a:t>
                </a:r>
                <a:r>
                  <a:rPr lang="pt-BR" sz="2800" spc="-1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i="1" dirty="0">
                    <a:latin typeface="Calibri"/>
                    <a:cs typeface="Calibri"/>
                  </a:rPr>
                  <a:t>bias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𝑎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0</a:t>
                </a:r>
                <a:r>
                  <a:rPr lang="pt-BR" sz="2800" spc="-25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304800" marR="233045" indent="-228600">
                  <a:spcBef>
                    <a:spcPts val="930"/>
                  </a:spcBef>
                  <a:buFont typeface="Arial"/>
                  <a:buChar char="•"/>
                  <a:tabLst>
                    <a:tab pos="304800" algn="l"/>
                  </a:tabLst>
                </a:pPr>
                <a:r>
                  <a:rPr lang="pt-BR" sz="2800" b="1" i="1" spc="-35" dirty="0" err="1">
                    <a:solidFill>
                      <a:srgbClr val="00AF50"/>
                    </a:solidFill>
                    <a:latin typeface="Calibri"/>
                    <a:cs typeface="Calibri"/>
                  </a:rPr>
                  <a:t>Todos</a:t>
                </a:r>
                <a:r>
                  <a:rPr lang="pt-BR" sz="2800" b="1" i="1" spc="-114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resultados</a:t>
                </a:r>
                <a:r>
                  <a:rPr lang="pt-BR" sz="2800" b="1" i="1" spc="-10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encontrados</a:t>
                </a:r>
                <a:r>
                  <a:rPr lang="pt-BR" sz="2800" b="1" i="1" spc="-11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20" dirty="0">
                    <a:solidFill>
                      <a:srgbClr val="00AF50"/>
                    </a:solidFill>
                    <a:latin typeface="Calibri"/>
                    <a:cs typeface="Calibri"/>
                  </a:rPr>
                  <a:t>anteriormente</a:t>
                </a:r>
                <a:r>
                  <a:rPr lang="pt-BR" sz="2800" b="1" i="1" spc="-13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(equação</a:t>
                </a:r>
                <a:r>
                  <a:rPr lang="pt-BR" sz="2800" spc="-114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normal,</a:t>
                </a:r>
                <a:r>
                  <a:rPr lang="pt-BR" sz="2800" spc="-11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vetor gradiente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para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implementação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algoritmo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gradiente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descendente, escalonamento)</a:t>
                </a:r>
                <a:r>
                  <a:rPr lang="pt-BR" sz="2800" spc="-11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são</a:t>
                </a:r>
                <a:r>
                  <a:rPr lang="pt-BR" sz="2800" b="1" i="1" spc="-10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6FC0"/>
                    </a:solidFill>
                    <a:latin typeface="Calibri"/>
                    <a:cs typeface="Calibri"/>
                  </a:rPr>
                  <a:t>diretamente</a:t>
                </a:r>
                <a:r>
                  <a:rPr lang="pt-BR" sz="2800" b="1" i="1" spc="-70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estendidos</a:t>
                </a:r>
                <a:r>
                  <a:rPr lang="pt-BR" sz="2800" b="1" i="1" spc="-9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para</a:t>
                </a:r>
                <a:r>
                  <a:rPr lang="pt-BR" sz="2800" b="1" i="1" spc="-12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funções</a:t>
                </a:r>
                <a:r>
                  <a:rPr lang="pt-BR" sz="2800" b="1" i="1" spc="-10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hipótese polinomiais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676400"/>
                <a:ext cx="11292524" cy="4642296"/>
              </a:xfrm>
              <a:prstGeom prst="rect">
                <a:avLst/>
              </a:prstGeom>
              <a:blipFill>
                <a:blip r:embed="rId2"/>
                <a:stretch>
                  <a:fillRect l="-1242" t="-919" b="-36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80" dirty="0"/>
              <a:t> </a:t>
            </a:r>
            <a:r>
              <a:rPr spc="-10" dirty="0"/>
              <a:t>polinomial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/>
              <p:cNvSpPr txBox="1"/>
              <p:nvPr/>
            </p:nvSpPr>
            <p:spPr>
              <a:xfrm>
                <a:off x="911941" y="1371600"/>
                <a:ext cx="10484485" cy="2650340"/>
              </a:xfrm>
              <a:prstGeom prst="rect">
                <a:avLst/>
              </a:prstGeom>
            </p:spPr>
            <p:txBody>
              <a:bodyPr vert="horz" wrap="square" lIns="0" tIns="55244" rIns="0" bIns="0" rtlCol="0">
                <a:spAutoFit/>
              </a:bodyPr>
              <a:lstStyle/>
              <a:p>
                <a:pPr marL="304800" marR="537210" indent="-228600">
                  <a:lnSpc>
                    <a:spcPct val="89900"/>
                  </a:lnSpc>
                  <a:spcBef>
                    <a:spcPts val="434"/>
                  </a:spcBef>
                  <a:buFont typeface="Arial"/>
                  <a:buChar char="•"/>
                  <a:tabLst>
                    <a:tab pos="3048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Só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precisamos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nos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lembrar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12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vetor</a:t>
                </a:r>
                <a:r>
                  <a:rPr lang="pt-BR" sz="2800" b="1" i="1" spc="-5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8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atributos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𝒙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libri"/>
                    <a:cs typeface="Calibri"/>
                  </a:rPr>
                  <a:t>e </a:t>
                </a:r>
                <a:r>
                  <a:rPr lang="pt-BR" sz="2800" spc="-20" dirty="0">
                    <a:latin typeface="Calibri"/>
                    <a:cs typeface="Calibri"/>
                  </a:rPr>
                  <a:t>consequentemente,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matriz</a:t>
                </a:r>
                <a:r>
                  <a:rPr lang="pt-BR" sz="2800" b="1" i="1" spc="-6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atributos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𝑿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são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6FC0"/>
                    </a:solidFill>
                    <a:latin typeface="Calibri"/>
                    <a:cs typeface="Calibri"/>
                  </a:rPr>
                  <a:t>compostos</a:t>
                </a:r>
                <a:r>
                  <a:rPr lang="pt-BR" sz="2800" b="1" i="1" spc="-65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6FC0"/>
                    </a:solidFill>
                    <a:latin typeface="Calibri"/>
                    <a:cs typeface="Calibri"/>
                  </a:rPr>
                  <a:t>pelas </a:t>
                </a:r>
                <a:r>
                  <a:rPr lang="pt-BR" sz="2800" b="1" i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funções</a:t>
                </a:r>
                <a:r>
                  <a:rPr lang="pt-BR" sz="2800" b="1" i="1" spc="-120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006FC0"/>
                    </a:solidFill>
                    <a:latin typeface="Calibri"/>
                    <a:cs typeface="Calibri"/>
                  </a:rPr>
                  <a:t>base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304800" indent="-228600">
                  <a:lnSpc>
                    <a:spcPts val="3204"/>
                  </a:lnSpc>
                  <a:spcBef>
                    <a:spcPts val="670"/>
                  </a:spcBef>
                  <a:buFont typeface="Arial"/>
                  <a:buChar char="•"/>
                  <a:tabLst>
                    <a:tab pos="3048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Por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exemplo,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para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seguinte</a:t>
                </a:r>
                <a:r>
                  <a:rPr lang="pt-BR" sz="2800" spc="-13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função</a:t>
                </a:r>
                <a:r>
                  <a:rPr lang="pt-BR" sz="2800" b="1" i="1" spc="-100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hipótese</a:t>
                </a:r>
                <a:r>
                  <a:rPr lang="pt-BR" sz="2800" b="1" i="1" spc="-9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EC7C30"/>
                    </a:solidFill>
                    <a:latin typeface="Calibri"/>
                    <a:cs typeface="Calibri"/>
                  </a:rPr>
                  <a:t>polinomial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699770" algn="ctr">
                  <a:lnSpc>
                    <a:spcPts val="3204"/>
                  </a:lnSpc>
                  <a:tabLst>
                    <a:tab pos="1050290" algn="l"/>
                    <a:tab pos="2146300" algn="l"/>
                    <a:tab pos="4142740" algn="l"/>
                    <a:tab pos="4580255" algn="l"/>
                    <a:tab pos="5944235" algn="l"/>
                    <a:tab pos="6381750" algn="l"/>
                    <a:tab pos="8623935" algn="l"/>
                    <a:tab pos="89820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h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20" dirty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spc="-30" baseline="-1626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800" i="1" spc="-20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20" dirty="0">
                          <a:latin typeface="Cambria Math" panose="02040503050406030204" pitchFamily="18" charset="0"/>
                          <a:cs typeface="Cambria Math"/>
                        </a:rPr>
                        <m:t>𝑛</m:t>
                      </m:r>
                      <m:r>
                        <a:rPr lang="pt-BR" sz="2800" i="1" spc="-20" dirty="0">
                          <a:latin typeface="Cambria Math" panose="02040503050406030204" pitchFamily="18" charset="0"/>
                          <a:cs typeface="Cambria Math"/>
                        </a:rPr>
                        <m:t>))=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baseline="-16260" dirty="0">
                          <a:latin typeface="Cambria Math" panose="02040503050406030204" pitchFamily="18" charset="0"/>
                          <a:cs typeface="Cambria Math"/>
                        </a:rPr>
                        <m:t>0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800" i="1" spc="-20" dirty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spc="-30" baseline="-1626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800" i="1" spc="-20" dirty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spc="-30" baseline="-1626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3075" b="0" i="1" spc="-30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𝑛</m:t>
                      </m:r>
                      <m:r>
                        <a:rPr lang="pt-BR" sz="28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800" i="1" spc="-10" dirty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spc="-15" baseline="-16260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r>
                        <a:rPr lang="pt-BR" sz="2800" i="1" spc="-10" dirty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spc="-15" baseline="-1626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3075" i="1" spc="-15" baseline="27100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r>
                        <a:rPr lang="pt-BR" sz="3075" b="0" i="1" spc="-15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𝑛</m:t>
                      </m:r>
                      <m:r>
                        <a:rPr lang="pt-BR" sz="28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800" i="1" spc="-25" dirty="0">
                          <a:latin typeface="Cambria Math" panose="02040503050406030204" pitchFamily="18" charset="0"/>
                          <a:cs typeface="Cambria Math"/>
                        </a:rPr>
                        <m:t>⋯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800" i="1" spc="35" dirty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spc="52" baseline="-16260" dirty="0">
                          <a:latin typeface="Cambria Math" panose="02040503050406030204" pitchFamily="18" charset="0"/>
                          <a:cs typeface="Cambria Math"/>
                        </a:rPr>
                        <m:t>𝑀</m:t>
                      </m:r>
                      <m:r>
                        <a:rPr lang="pt-BR" sz="2800" i="1" spc="35" dirty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spc="52" baseline="-1626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3075" i="1" spc="52" baseline="27100" dirty="0">
                          <a:latin typeface="Cambria Math" panose="02040503050406030204" pitchFamily="18" charset="0"/>
                          <a:cs typeface="Cambria Math"/>
                        </a:rPr>
                        <m:t>𝑀</m:t>
                      </m:r>
                      <m:r>
                        <a:rPr lang="pt-BR" sz="3075" i="1" baseline="27100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3075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𝑛</m:t>
                      </m:r>
                      <m:r>
                        <a:rPr lang="pt-BR" sz="28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,</m:t>
                      </m:r>
                    </m:oMath>
                  </m:oMathPara>
                </a14:m>
                <a:endParaRPr lang="pt-BR" sz="2800" dirty="0">
                  <a:latin typeface="Cambria Math"/>
                  <a:cs typeface="Cambria Math"/>
                </a:endParaRPr>
              </a:p>
              <a:p>
                <a:pPr marL="76200">
                  <a:lnSpc>
                    <a:spcPct val="100000"/>
                  </a:lnSpc>
                  <a:spcBef>
                    <a:spcPts val="650"/>
                  </a:spcBef>
                </a:pP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matriz</a:t>
                </a:r>
                <a:r>
                  <a:rPr lang="pt-BR" sz="28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8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atributos</a:t>
                </a:r>
                <a:r>
                  <a:rPr lang="pt-BR" sz="2800" b="1" i="1" spc="-7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polinomial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𝑿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fica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seguinte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forma</a:t>
                </a:r>
                <a:endParaRPr lang="pt-BR" sz="425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41" y="1371600"/>
                <a:ext cx="10484485" cy="2650340"/>
              </a:xfrm>
              <a:prstGeom prst="rect">
                <a:avLst/>
              </a:prstGeom>
              <a:blipFill>
                <a:blip r:embed="rId2"/>
                <a:stretch>
                  <a:fillRect l="-1338" t="-4138" b="-75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17"/>
          <p:cNvSpPr txBox="1"/>
          <p:nvPr/>
        </p:nvSpPr>
        <p:spPr>
          <a:xfrm>
            <a:off x="78739" y="6606337"/>
            <a:ext cx="73463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*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biblioteca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SciKit-</a:t>
            </a:r>
            <a:r>
              <a:rPr sz="1200" dirty="0">
                <a:latin typeface="Calibri"/>
                <a:cs typeface="Calibri"/>
              </a:rPr>
              <a:t>Learn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possui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uma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função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que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cria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essas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matrizes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automaticamente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 partir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atributos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originais.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61958" y="6563055"/>
            <a:ext cx="35604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Exemplo:</a:t>
            </a:r>
            <a:r>
              <a:rPr sz="1400" u="sng" spc="-7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polynomial_features_from_scikit.ipynb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03DBD4A-A72B-2DB3-3451-F39AF9BFA053}"/>
              </a:ext>
            </a:extLst>
          </p:cNvPr>
          <p:cNvSpPr txBox="1"/>
          <p:nvPr/>
        </p:nvSpPr>
        <p:spPr>
          <a:xfrm>
            <a:off x="911941" y="5890965"/>
            <a:ext cx="71446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>
              <a:lnSpc>
                <a:spcPct val="100000"/>
              </a:lnSpc>
            </a:pPr>
            <a:r>
              <a:rPr lang="pt-BR" sz="2800" dirty="0">
                <a:latin typeface="Calibri"/>
                <a:cs typeface="Calibri"/>
              </a:rPr>
              <a:t>onde</a:t>
            </a:r>
            <a:r>
              <a:rPr lang="pt-BR" sz="2800" spc="-9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cada</a:t>
            </a:r>
            <a:r>
              <a:rPr lang="pt-BR" sz="2800" spc="-7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coluna</a:t>
            </a:r>
            <a:r>
              <a:rPr lang="pt-BR" sz="2800" spc="-80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contém</a:t>
            </a:r>
            <a:r>
              <a:rPr lang="pt-BR" sz="2800" spc="-8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uma</a:t>
            </a:r>
            <a:r>
              <a:rPr lang="pt-BR" sz="2800" spc="-65" dirty="0"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4471C4"/>
                </a:solidFill>
                <a:latin typeface="Calibri"/>
                <a:cs typeface="Calibri"/>
              </a:rPr>
              <a:t>função</a:t>
            </a:r>
            <a:r>
              <a:rPr lang="pt-BR" sz="2800" b="1" i="1" spc="-9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base</a:t>
            </a:r>
            <a:r>
              <a:rPr lang="pt-BR" sz="2800" spc="-10" dirty="0">
                <a:latin typeface="Calibri"/>
                <a:cs typeface="Calibri"/>
              </a:rPr>
              <a:t>.</a:t>
            </a:r>
            <a:endParaRPr lang="pt-BR"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87A17C5D-61D0-1E56-8672-2D78A2BEAC15}"/>
                  </a:ext>
                </a:extLst>
              </p:cNvPr>
              <p:cNvSpPr txBox="1"/>
              <p:nvPr/>
            </p:nvSpPr>
            <p:spPr>
              <a:xfrm>
                <a:off x="1363326" y="4255834"/>
                <a:ext cx="9465348" cy="1369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  <m:e>
                                <m:sSubSup>
                                  <m:sSubSup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e>
                                <m:sSubSup>
                                  <m:sSubSup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87A17C5D-61D0-1E56-8672-2D78A2BEA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326" y="4255834"/>
                <a:ext cx="9465348" cy="13694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5917" y="2715894"/>
            <a:ext cx="943673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49250" marR="5080" indent="-337185">
              <a:lnSpc>
                <a:spcPts val="4320"/>
              </a:lnSpc>
              <a:spcBef>
                <a:spcPts val="640"/>
              </a:spcBef>
            </a:pPr>
            <a:r>
              <a:rPr sz="4000" b="0" spc="-10" dirty="0">
                <a:latin typeface="Calibri"/>
                <a:cs typeface="Calibri"/>
              </a:rPr>
              <a:t>Porém,</a:t>
            </a:r>
            <a:r>
              <a:rPr sz="4000" b="0" spc="-11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o</a:t>
            </a:r>
            <a:r>
              <a:rPr sz="4000" b="0" spc="-10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desafio</a:t>
            </a:r>
            <a:r>
              <a:rPr sz="4000" b="0" spc="-11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agora</a:t>
            </a:r>
            <a:r>
              <a:rPr sz="4000" b="0" spc="-11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é</a:t>
            </a:r>
            <a:r>
              <a:rPr sz="4000" b="0" spc="-105" dirty="0">
                <a:latin typeface="Calibri"/>
                <a:cs typeface="Calibri"/>
              </a:rPr>
              <a:t> </a:t>
            </a:r>
            <a:r>
              <a:rPr sz="4000" b="1" i="1" spc="-10" dirty="0">
                <a:solidFill>
                  <a:srgbClr val="006FC0"/>
                </a:solidFill>
                <a:latin typeface="Calibri"/>
                <a:cs typeface="Calibri"/>
              </a:rPr>
              <a:t>encontrar</a:t>
            </a:r>
            <a:r>
              <a:rPr sz="4000" b="1" i="1" spc="-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i="1" dirty="0">
                <a:solidFill>
                  <a:srgbClr val="006FC0"/>
                </a:solidFill>
                <a:latin typeface="Calibri"/>
                <a:cs typeface="Calibri"/>
              </a:rPr>
              <a:t>o</a:t>
            </a:r>
            <a:r>
              <a:rPr sz="4000" b="1" i="1" spc="-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i="1" dirty="0">
                <a:solidFill>
                  <a:srgbClr val="006FC0"/>
                </a:solidFill>
                <a:latin typeface="Calibri"/>
                <a:cs typeface="Calibri"/>
              </a:rPr>
              <a:t>grau</a:t>
            </a:r>
            <a:r>
              <a:rPr sz="4000" b="1" i="1" spc="-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i="1" spc="-25" dirty="0">
                <a:solidFill>
                  <a:srgbClr val="006FC0"/>
                </a:solidFill>
                <a:latin typeface="Calibri"/>
                <a:cs typeface="Calibri"/>
              </a:rPr>
              <a:t>do </a:t>
            </a:r>
            <a:r>
              <a:rPr sz="4000" b="1" i="1" dirty="0">
                <a:solidFill>
                  <a:srgbClr val="006FC0"/>
                </a:solidFill>
                <a:latin typeface="Calibri"/>
                <a:cs typeface="Calibri"/>
              </a:rPr>
              <a:t>polinômio</a:t>
            </a:r>
            <a:r>
              <a:rPr sz="4000" b="1" i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que</a:t>
            </a:r>
            <a:r>
              <a:rPr sz="4000" b="0" spc="-12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melhor</a:t>
            </a:r>
            <a:r>
              <a:rPr sz="4000" b="0" spc="-105" dirty="0">
                <a:latin typeface="Calibri"/>
                <a:cs typeface="Calibri"/>
              </a:rPr>
              <a:t> </a:t>
            </a:r>
            <a:r>
              <a:rPr sz="4000" b="0" spc="-20" dirty="0">
                <a:latin typeface="Calibri"/>
                <a:cs typeface="Calibri"/>
              </a:rPr>
              <a:t>aproxime</a:t>
            </a:r>
            <a:r>
              <a:rPr sz="4000" b="0" spc="-10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os</a:t>
            </a:r>
            <a:r>
              <a:rPr sz="4000" b="0" spc="-114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dados.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85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dirty="0"/>
              <a:t>regressão</a:t>
            </a:r>
            <a:r>
              <a:rPr spc="-95" dirty="0"/>
              <a:t> </a:t>
            </a:r>
            <a:r>
              <a:rPr dirty="0"/>
              <a:t>usando</a:t>
            </a:r>
            <a:r>
              <a:rPr spc="-70" dirty="0"/>
              <a:t> </a:t>
            </a:r>
            <a:r>
              <a:rPr spc="-10" dirty="0"/>
              <a:t>polinômio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9644" y="5136007"/>
            <a:ext cx="10793095" cy="8362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195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Usando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dados</a:t>
            </a:r>
            <a:r>
              <a:rPr sz="28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ruidosos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qual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ordem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um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polinômio</a:t>
            </a:r>
            <a:endParaRPr sz="2800" dirty="0">
              <a:latin typeface="Calibri"/>
              <a:cs typeface="Calibri"/>
            </a:endParaRPr>
          </a:p>
          <a:p>
            <a:pPr algn="ctr">
              <a:lnSpc>
                <a:spcPts val="3195"/>
              </a:lnSpc>
            </a:pP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aproxime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função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objetivo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melhor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possível?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4918" y="1913711"/>
            <a:ext cx="4410348" cy="30473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85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dirty="0"/>
              <a:t>regressão</a:t>
            </a:r>
            <a:r>
              <a:rPr spc="-95" dirty="0"/>
              <a:t> </a:t>
            </a:r>
            <a:r>
              <a:rPr dirty="0"/>
              <a:t>usando</a:t>
            </a:r>
            <a:r>
              <a:rPr spc="-70" dirty="0"/>
              <a:t> </a:t>
            </a:r>
            <a:r>
              <a:rPr spc="-10" dirty="0"/>
              <a:t>polinômio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5313686" y="1855372"/>
                <a:ext cx="6759679" cy="2037224"/>
              </a:xfrm>
              <a:prstGeom prst="rect">
                <a:avLst/>
              </a:prstGeom>
            </p:spPr>
            <p:txBody>
              <a:bodyPr vert="horz" wrap="square" lIns="0" tIns="54610" rIns="0" bIns="0" rtlCol="0">
                <a:spAutoFit/>
              </a:bodyPr>
              <a:lstStyle/>
              <a:p>
                <a:pPr marL="266700" marR="30480" indent="-228600">
                  <a:lnSpc>
                    <a:spcPct val="90000"/>
                  </a:lnSpc>
                  <a:spcBef>
                    <a:spcPts val="430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800" spc="-10" dirty="0">
                    <a:latin typeface="Calibri"/>
                    <a:cs typeface="Calibri"/>
                  </a:rPr>
                  <a:t>Para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exemplificar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essa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questão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busca </a:t>
                </a:r>
                <a:r>
                  <a:rPr lang="pt-BR" sz="2800" dirty="0">
                    <a:latin typeface="Calibri"/>
                    <a:cs typeface="Calibri"/>
                  </a:rPr>
                  <a:t>pela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ordem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polinômio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aproximador geramos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30</a:t>
                </a:r>
                <a:r>
                  <a:rPr lang="pt-BR" sz="2800" b="1" i="1" spc="-8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exemplos</a:t>
                </a:r>
                <a:r>
                  <a:rPr lang="pt-BR" sz="2800" b="1" i="1" spc="-8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seguinte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função </a:t>
                </a:r>
                <a:r>
                  <a:rPr lang="pt-BR" sz="2800" dirty="0">
                    <a:latin typeface="Calibri"/>
                    <a:cs typeface="Calibri"/>
                  </a:rPr>
                  <a:t>objetivo</a:t>
                </a:r>
                <a:r>
                  <a:rPr lang="pt-BR" sz="2800" spc="-114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(polinômio</a:t>
                </a:r>
                <a:r>
                  <a:rPr lang="pt-BR" sz="2800" spc="-10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114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ordem</a:t>
                </a:r>
                <a:r>
                  <a:rPr lang="pt-BR" sz="2800" spc="-114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2)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709930">
                  <a:lnSpc>
                    <a:spcPct val="100000"/>
                  </a:lnSpc>
                  <a:spcBef>
                    <a:spcPts val="950"/>
                  </a:spcBef>
                  <a:tabLst>
                    <a:tab pos="1074420" algn="l"/>
                    <a:tab pos="1565275" algn="l"/>
                    <a:tab pos="2182495" algn="l"/>
                    <a:tab pos="3656329" algn="l"/>
                    <a:tab pos="4093845" algn="l"/>
                    <a:tab pos="5561330" algn="l"/>
                    <a:tab pos="591947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𝑦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25" dirty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spc="-37" baseline="-1626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3075" i="1" baseline="-16260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3075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𝑛</m:t>
                      </m:r>
                      <m:r>
                        <a:rPr lang="pt-BR" sz="28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))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800" i="1" spc="-25" dirty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spc="-37" baseline="-1626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3075" i="1" baseline="-16260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3075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𝑛</m:t>
                      </m:r>
                      <m:r>
                        <a:rPr lang="pt-BR" sz="28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800" i="1" spc="-10" dirty="0">
                          <a:latin typeface="Cambria Math" panose="02040503050406030204" pitchFamily="18" charset="0"/>
                          <a:cs typeface="Cambria Math"/>
                        </a:rPr>
                        <m:t>0</m:t>
                      </m:r>
                      <m:r>
                        <a:rPr lang="pt-BR" sz="2800" i="1" spc="-10" dirty="0">
                          <a:latin typeface="Cambria Math" panose="02040503050406030204" pitchFamily="18" charset="0"/>
                          <a:cs typeface="Cambria Math"/>
                        </a:rPr>
                        <m:t>.</m:t>
                      </m:r>
                      <m:r>
                        <a:rPr lang="pt-BR" sz="2800" i="1" spc="-10" dirty="0">
                          <a:latin typeface="Cambria Math" panose="02040503050406030204" pitchFamily="18" charset="0"/>
                          <a:cs typeface="Cambria Math"/>
                        </a:rPr>
                        <m:t>5</m:t>
                      </m:r>
                      <m:r>
                        <a:rPr lang="pt-BR" sz="2800" i="1" spc="-10" dirty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spc="-15" baseline="-1626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3075" i="1" spc="-15" baseline="27100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r>
                        <a:rPr lang="pt-BR" sz="3075" i="1" baseline="27100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3075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𝑛</m:t>
                      </m:r>
                      <m:r>
                        <a:rPr lang="pt-BR" sz="28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libri"/>
                        </a:rPr>
                        <m:t>,</m:t>
                      </m:r>
                    </m:oMath>
                  </m:oMathPara>
                </a14:m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686" y="1855372"/>
                <a:ext cx="6759679" cy="2037224"/>
              </a:xfrm>
              <a:prstGeom prst="rect">
                <a:avLst/>
              </a:prstGeom>
              <a:blipFill>
                <a:blip r:embed="rId2"/>
                <a:stretch>
                  <a:fillRect l="-2435" t="-4478" r="-180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8"/>
          <p:cNvSpPr txBox="1"/>
          <p:nvPr/>
        </p:nvSpPr>
        <p:spPr>
          <a:xfrm>
            <a:off x="5478937" y="3917394"/>
            <a:ext cx="6759679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71565" algn="l"/>
              </a:tabLst>
            </a:pPr>
            <a:r>
              <a:rPr sz="2800" dirty="0">
                <a:latin typeface="Calibri"/>
                <a:cs typeface="Calibri"/>
              </a:rPr>
              <a:t>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adicionamos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ruído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Gaussiano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branco,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𝑤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𝑛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93927" y="5158867"/>
            <a:ext cx="617918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76200" marR="30480">
              <a:lnSpc>
                <a:spcPts val="3020"/>
              </a:lnSpc>
              <a:spcBef>
                <a:spcPts val="480"/>
              </a:spcBef>
              <a:tabLst>
                <a:tab pos="1384935" algn="l"/>
                <a:tab pos="1825625" algn="l"/>
                <a:tab pos="3746500" algn="l"/>
                <a:tab pos="4166870" algn="l"/>
                <a:tab pos="4624070" algn="l"/>
                <a:tab pos="5393690" algn="l"/>
                <a:tab pos="6067425" algn="l"/>
              </a:tabLst>
            </a:pPr>
            <a:r>
              <a:rPr sz="2800" dirty="0">
                <a:latin typeface="Calibri"/>
                <a:cs typeface="Calibri"/>
              </a:rPr>
              <a:t>onde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𝑥</a:t>
            </a:r>
            <a:r>
              <a:rPr sz="3075" spc="-37" baseline="-16260" dirty="0">
                <a:latin typeface="Cambria Math"/>
                <a:cs typeface="Cambria Math"/>
              </a:rPr>
              <a:t>1</a:t>
            </a:r>
            <a:r>
              <a:rPr lang="pt-BR" sz="3075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𝑛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linearmente </a:t>
            </a:r>
            <a:r>
              <a:rPr sz="2800" dirty="0">
                <a:latin typeface="Calibri"/>
                <a:cs typeface="Calibri"/>
              </a:rPr>
              <a:t>espaçados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3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𝑤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𝑛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∼</a:t>
            </a:r>
            <a:r>
              <a:rPr sz="2800" spc="15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𝑁</a:t>
            </a:r>
            <a:r>
              <a:rPr lang="pt-BR" sz="2800" spc="-50" dirty="0">
                <a:latin typeface="Cambria Math"/>
                <a:cs typeface="Cambria Math"/>
              </a:rPr>
              <a:t> (</a:t>
            </a:r>
            <a:r>
              <a:rPr sz="2800" spc="-20" dirty="0">
                <a:latin typeface="Cambria Math"/>
                <a:cs typeface="Cambria Math"/>
              </a:rPr>
              <a:t>0,</a:t>
            </a:r>
            <a:r>
              <a:rPr sz="2800" spc="-14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1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spc="-50" dirty="0">
                <a:latin typeface="Cambria Math"/>
                <a:cs typeface="Cambria Math"/>
              </a:rPr>
              <a:t>.</a:t>
            </a:r>
            <a:endParaRPr sz="2800" dirty="0">
              <a:latin typeface="Cambria Math"/>
              <a:cs typeface="Cambria Math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94761" y="2295270"/>
            <a:ext cx="4410710" cy="3347720"/>
            <a:chOff x="294761" y="2295270"/>
            <a:chExt cx="4410710" cy="334772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761" y="2595104"/>
              <a:ext cx="4410348" cy="304731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482596" y="2295270"/>
              <a:ext cx="643255" cy="1565275"/>
            </a:xfrm>
            <a:custGeom>
              <a:avLst/>
              <a:gdLst/>
              <a:ahLst/>
              <a:cxnLst/>
              <a:rect l="l" t="t" r="r" b="b"/>
              <a:pathLst>
                <a:path w="643255" h="1565275">
                  <a:moveTo>
                    <a:pt x="589709" y="1490918"/>
                  </a:moveTo>
                  <a:lnTo>
                    <a:pt x="563118" y="1501520"/>
                  </a:lnTo>
                  <a:lnTo>
                    <a:pt x="634619" y="1565274"/>
                  </a:lnTo>
                  <a:lnTo>
                    <a:pt x="639817" y="1504187"/>
                  </a:lnTo>
                  <a:lnTo>
                    <a:pt x="594995" y="1504187"/>
                  </a:lnTo>
                  <a:lnTo>
                    <a:pt x="589709" y="1490918"/>
                  </a:lnTo>
                  <a:close/>
                </a:path>
                <a:path w="643255" h="1565275">
                  <a:moveTo>
                    <a:pt x="616237" y="1480340"/>
                  </a:moveTo>
                  <a:lnTo>
                    <a:pt x="589709" y="1490918"/>
                  </a:lnTo>
                  <a:lnTo>
                    <a:pt x="594995" y="1504187"/>
                  </a:lnTo>
                  <a:lnTo>
                    <a:pt x="621538" y="1493646"/>
                  </a:lnTo>
                  <a:lnTo>
                    <a:pt x="616237" y="1480340"/>
                  </a:lnTo>
                  <a:close/>
                </a:path>
                <a:path w="643255" h="1565275">
                  <a:moveTo>
                    <a:pt x="642747" y="1469770"/>
                  </a:moveTo>
                  <a:lnTo>
                    <a:pt x="616237" y="1480340"/>
                  </a:lnTo>
                  <a:lnTo>
                    <a:pt x="621538" y="1493646"/>
                  </a:lnTo>
                  <a:lnTo>
                    <a:pt x="594995" y="1504187"/>
                  </a:lnTo>
                  <a:lnTo>
                    <a:pt x="639817" y="1504187"/>
                  </a:lnTo>
                  <a:lnTo>
                    <a:pt x="642747" y="1469770"/>
                  </a:lnTo>
                  <a:close/>
                </a:path>
                <a:path w="643255" h="1565275">
                  <a:moveTo>
                    <a:pt x="26543" y="0"/>
                  </a:moveTo>
                  <a:lnTo>
                    <a:pt x="0" y="10540"/>
                  </a:lnTo>
                  <a:lnTo>
                    <a:pt x="589709" y="1490918"/>
                  </a:lnTo>
                  <a:lnTo>
                    <a:pt x="616237" y="1480340"/>
                  </a:lnTo>
                  <a:lnTo>
                    <a:pt x="265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27989" y="1949577"/>
            <a:ext cx="3806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Função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objetivo: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polinômio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ordem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2.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2373" y="5661152"/>
            <a:ext cx="397954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partir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dados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ruidosos,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queremos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encontrar</a:t>
            </a:r>
            <a:r>
              <a:rPr sz="1400" spc="-25" dirty="0">
                <a:latin typeface="Calibri"/>
                <a:cs typeface="Calibri"/>
              </a:rPr>
              <a:t> um </a:t>
            </a:r>
            <a:r>
              <a:rPr sz="1400" dirty="0">
                <a:latin typeface="Calibri"/>
                <a:cs typeface="Calibri"/>
              </a:rPr>
              <a:t>polinômio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(pesos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ordem)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melhor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aproxime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da </a:t>
            </a:r>
            <a:r>
              <a:rPr sz="1400" dirty="0">
                <a:latin typeface="Calibri"/>
                <a:cs typeface="Calibri"/>
              </a:rPr>
              <a:t>função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objetivo.</a:t>
            </a:r>
            <a:endParaRPr sz="14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85016FD5-090B-0817-8993-6A7A4D4BE1CC}"/>
                  </a:ext>
                </a:extLst>
              </p:cNvPr>
              <p:cNvSpPr txBox="1"/>
              <p:nvPr/>
            </p:nvSpPr>
            <p:spPr>
              <a:xfrm>
                <a:off x="5092803" y="4471289"/>
                <a:ext cx="6559216" cy="5936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09930">
                  <a:lnSpc>
                    <a:spcPct val="100000"/>
                  </a:lnSpc>
                  <a:spcBef>
                    <a:spcPts val="950"/>
                  </a:spcBef>
                  <a:tabLst>
                    <a:tab pos="1074420" algn="l"/>
                    <a:tab pos="1565275" algn="l"/>
                    <a:tab pos="2182495" algn="l"/>
                    <a:tab pos="3656329" algn="l"/>
                    <a:tab pos="4093845" algn="l"/>
                    <a:tab pos="5561330" algn="l"/>
                    <a:tab pos="591947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800" b="0" i="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noisy</m:t>
                          </m:r>
                        </m:sub>
                      </m:sSub>
                      <m:d>
                        <m:d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𝑦</m:t>
                      </m:r>
                      <m:d>
                        <m:d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𝑤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𝑛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,</m:t>
                      </m:r>
                    </m:oMath>
                  </m:oMathPara>
                </a14:m>
                <a:endParaRPr lang="pt-BR"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85016FD5-090B-0817-8993-6A7A4D4BE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803" y="4471289"/>
                <a:ext cx="6559216" cy="5936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85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dirty="0"/>
              <a:t>regressão</a:t>
            </a:r>
            <a:r>
              <a:rPr spc="-95" dirty="0"/>
              <a:t> </a:t>
            </a:r>
            <a:r>
              <a:rPr dirty="0"/>
              <a:t>usando</a:t>
            </a:r>
            <a:r>
              <a:rPr spc="-70" dirty="0"/>
              <a:t> </a:t>
            </a:r>
            <a:r>
              <a:rPr spc="-10" dirty="0"/>
              <a:t>polinômio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71515" y="1793493"/>
            <a:ext cx="5981700" cy="28848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36703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Vamos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hipótese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polinomial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aproximar</a:t>
            </a:r>
            <a:r>
              <a:rPr sz="2800" b="1" i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800" b="1" i="1" spc="-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função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objetivo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partir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dos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dados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ruidosos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Porém,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surge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dúvida,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se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não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soubéssemos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ordem</a:t>
            </a:r>
            <a:r>
              <a:rPr sz="28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por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trás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do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modelo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gerador,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qual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grau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deveríamos utilizar</a:t>
            </a:r>
            <a:r>
              <a:rPr sz="2800" spc="-10" dirty="0">
                <a:latin typeface="Calibri"/>
                <a:cs typeface="Calibri"/>
              </a:rPr>
              <a:t>?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4761" y="2295270"/>
            <a:ext cx="4410710" cy="3347720"/>
            <a:chOff x="294761" y="2295270"/>
            <a:chExt cx="4410710" cy="33477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761" y="2595104"/>
              <a:ext cx="4410348" cy="30473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482596" y="2295270"/>
              <a:ext cx="643255" cy="1565275"/>
            </a:xfrm>
            <a:custGeom>
              <a:avLst/>
              <a:gdLst/>
              <a:ahLst/>
              <a:cxnLst/>
              <a:rect l="l" t="t" r="r" b="b"/>
              <a:pathLst>
                <a:path w="643255" h="1565275">
                  <a:moveTo>
                    <a:pt x="589709" y="1490918"/>
                  </a:moveTo>
                  <a:lnTo>
                    <a:pt x="563118" y="1501520"/>
                  </a:lnTo>
                  <a:lnTo>
                    <a:pt x="634619" y="1565274"/>
                  </a:lnTo>
                  <a:lnTo>
                    <a:pt x="639817" y="1504187"/>
                  </a:lnTo>
                  <a:lnTo>
                    <a:pt x="594995" y="1504187"/>
                  </a:lnTo>
                  <a:lnTo>
                    <a:pt x="589709" y="1490918"/>
                  </a:lnTo>
                  <a:close/>
                </a:path>
                <a:path w="643255" h="1565275">
                  <a:moveTo>
                    <a:pt x="616237" y="1480340"/>
                  </a:moveTo>
                  <a:lnTo>
                    <a:pt x="589709" y="1490918"/>
                  </a:lnTo>
                  <a:lnTo>
                    <a:pt x="594995" y="1504187"/>
                  </a:lnTo>
                  <a:lnTo>
                    <a:pt x="621538" y="1493646"/>
                  </a:lnTo>
                  <a:lnTo>
                    <a:pt x="616237" y="1480340"/>
                  </a:lnTo>
                  <a:close/>
                </a:path>
                <a:path w="643255" h="1565275">
                  <a:moveTo>
                    <a:pt x="642747" y="1469770"/>
                  </a:moveTo>
                  <a:lnTo>
                    <a:pt x="616237" y="1480340"/>
                  </a:lnTo>
                  <a:lnTo>
                    <a:pt x="621538" y="1493646"/>
                  </a:lnTo>
                  <a:lnTo>
                    <a:pt x="594995" y="1504187"/>
                  </a:lnTo>
                  <a:lnTo>
                    <a:pt x="639817" y="1504187"/>
                  </a:lnTo>
                  <a:lnTo>
                    <a:pt x="642747" y="1469770"/>
                  </a:lnTo>
                  <a:close/>
                </a:path>
                <a:path w="643255" h="1565275">
                  <a:moveTo>
                    <a:pt x="26543" y="0"/>
                  </a:moveTo>
                  <a:lnTo>
                    <a:pt x="0" y="10540"/>
                  </a:lnTo>
                  <a:lnTo>
                    <a:pt x="589709" y="1490918"/>
                  </a:lnTo>
                  <a:lnTo>
                    <a:pt x="616237" y="1480340"/>
                  </a:lnTo>
                  <a:lnTo>
                    <a:pt x="265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7989" y="1949577"/>
            <a:ext cx="3806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Função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objetivo: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polinômio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ordem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2.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373" y="5661152"/>
            <a:ext cx="397954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partir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dados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ruidosos,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queremos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encontrar</a:t>
            </a:r>
            <a:r>
              <a:rPr sz="1400" spc="-25" dirty="0">
                <a:latin typeface="Calibri"/>
                <a:cs typeface="Calibri"/>
              </a:rPr>
              <a:t> um </a:t>
            </a:r>
            <a:r>
              <a:rPr sz="1400" dirty="0">
                <a:latin typeface="Calibri"/>
                <a:cs typeface="Calibri"/>
              </a:rPr>
              <a:t>polinômio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(pesos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ordem)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melhor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aproxime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da </a:t>
            </a:r>
            <a:r>
              <a:rPr sz="1400" dirty="0">
                <a:latin typeface="Calibri"/>
                <a:cs typeface="Calibri"/>
              </a:rPr>
              <a:t>função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objetivo.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79940" y="6606337"/>
            <a:ext cx="24212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Exemplo:</a:t>
            </a:r>
            <a:r>
              <a:rPr sz="1200" u="sng" spc="-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polynomial_regression.ipynb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80" dirty="0"/>
              <a:t> </a:t>
            </a:r>
            <a:r>
              <a:rPr dirty="0"/>
              <a:t>polinomial:</a:t>
            </a:r>
            <a:r>
              <a:rPr spc="-60" dirty="0"/>
              <a:t> </a:t>
            </a:r>
            <a:r>
              <a:rPr dirty="0"/>
              <a:t>Qual</a:t>
            </a:r>
            <a:r>
              <a:rPr spc="-60" dirty="0"/>
              <a:t> </a:t>
            </a:r>
            <a:r>
              <a:rPr dirty="0"/>
              <a:t>ordem</a:t>
            </a:r>
            <a:r>
              <a:rPr spc="-75" dirty="0"/>
              <a:t> </a:t>
            </a:r>
            <a:r>
              <a:rPr spc="-10" dirty="0"/>
              <a:t>usar?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5328" y="1793493"/>
            <a:ext cx="6289040" cy="45478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Polinômio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ordem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reta)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tem </a:t>
            </a:r>
            <a:r>
              <a:rPr sz="2800" spc="-10" dirty="0">
                <a:latin typeface="Calibri"/>
                <a:cs typeface="Calibri"/>
              </a:rPr>
              <a:t>flexibilidade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suficiente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aproximar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spc="-20" dirty="0">
                <a:latin typeface="Calibri"/>
                <a:cs typeface="Calibri"/>
              </a:rPr>
              <a:t>comportamento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trás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amostras </a:t>
            </a:r>
            <a:r>
              <a:rPr sz="2800" dirty="0">
                <a:latin typeface="Calibri"/>
                <a:cs typeface="Calibri"/>
              </a:rPr>
              <a:t>ruidosas,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objetivo.</a:t>
            </a:r>
            <a:endParaRPr sz="2800" dirty="0">
              <a:latin typeface="Calibri"/>
              <a:cs typeface="Calibri"/>
            </a:endParaRPr>
          </a:p>
          <a:p>
            <a:pPr marL="241300" marR="160655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(MSE)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dos </a:t>
            </a:r>
            <a:r>
              <a:rPr sz="2800" spc="-10" dirty="0">
                <a:latin typeface="Calibri"/>
                <a:cs typeface="Calibri"/>
              </a:rPr>
              <a:t>conjuntos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validação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vistos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durante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spc="-10" dirty="0">
                <a:latin typeface="Calibri"/>
                <a:cs typeface="Calibri"/>
              </a:rPr>
              <a:t>treinamento).</a:t>
            </a:r>
            <a:endParaRPr sz="2800" dirty="0">
              <a:latin typeface="Calibri"/>
              <a:cs typeface="Calibri"/>
            </a:endParaRPr>
          </a:p>
          <a:p>
            <a:pPr marL="241300" marR="811530" indent="-228600" algn="just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Efeito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conhecido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subajuste</a:t>
            </a:r>
            <a:r>
              <a:rPr sz="2800" b="1" i="1" spc="-1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ou </a:t>
            </a:r>
            <a:r>
              <a:rPr sz="2800" b="1" i="1" spc="-10" dirty="0">
                <a:latin typeface="Calibri"/>
                <a:cs typeface="Calibri"/>
              </a:rPr>
              <a:t>underfitting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flexibilidade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grau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generalização</a:t>
            </a:r>
            <a:r>
              <a:rPr sz="2800" b="1" i="1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baixos.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4801" y="2855301"/>
            <a:ext cx="3942079" cy="2741295"/>
            <a:chOff x="334801" y="2855301"/>
            <a:chExt cx="3942079" cy="27412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801" y="2855301"/>
              <a:ext cx="2722592" cy="27409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43377" y="3757041"/>
              <a:ext cx="1633220" cy="218440"/>
            </a:xfrm>
            <a:custGeom>
              <a:avLst/>
              <a:gdLst/>
              <a:ahLst/>
              <a:cxnLst/>
              <a:rect l="l" t="t" r="r" b="b"/>
              <a:pathLst>
                <a:path w="1633220" h="218439">
                  <a:moveTo>
                    <a:pt x="80899" y="133222"/>
                  </a:moveTo>
                  <a:lnTo>
                    <a:pt x="0" y="184784"/>
                  </a:lnTo>
                  <a:lnTo>
                    <a:pt x="89789" y="218439"/>
                  </a:lnTo>
                  <a:lnTo>
                    <a:pt x="86980" y="191515"/>
                  </a:lnTo>
                  <a:lnTo>
                    <a:pt x="72517" y="191515"/>
                  </a:lnTo>
                  <a:lnTo>
                    <a:pt x="69596" y="163067"/>
                  </a:lnTo>
                  <a:lnTo>
                    <a:pt x="83857" y="161577"/>
                  </a:lnTo>
                  <a:lnTo>
                    <a:pt x="80899" y="133222"/>
                  </a:lnTo>
                  <a:close/>
                </a:path>
                <a:path w="1633220" h="218439">
                  <a:moveTo>
                    <a:pt x="83857" y="161577"/>
                  </a:moveTo>
                  <a:lnTo>
                    <a:pt x="69596" y="163067"/>
                  </a:lnTo>
                  <a:lnTo>
                    <a:pt x="72517" y="191515"/>
                  </a:lnTo>
                  <a:lnTo>
                    <a:pt x="86824" y="190019"/>
                  </a:lnTo>
                  <a:lnTo>
                    <a:pt x="83857" y="161577"/>
                  </a:lnTo>
                  <a:close/>
                </a:path>
                <a:path w="1633220" h="218439">
                  <a:moveTo>
                    <a:pt x="86824" y="190019"/>
                  </a:moveTo>
                  <a:lnTo>
                    <a:pt x="72517" y="191515"/>
                  </a:lnTo>
                  <a:lnTo>
                    <a:pt x="86980" y="191515"/>
                  </a:lnTo>
                  <a:lnTo>
                    <a:pt x="86824" y="190019"/>
                  </a:lnTo>
                  <a:close/>
                </a:path>
                <a:path w="1633220" h="218439">
                  <a:moveTo>
                    <a:pt x="1629918" y="0"/>
                  </a:moveTo>
                  <a:lnTo>
                    <a:pt x="83857" y="161577"/>
                  </a:lnTo>
                  <a:lnTo>
                    <a:pt x="86824" y="190019"/>
                  </a:lnTo>
                  <a:lnTo>
                    <a:pt x="1632966" y="28320"/>
                  </a:lnTo>
                  <a:lnTo>
                    <a:pt x="162991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167888" y="2838704"/>
            <a:ext cx="2214880" cy="879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Reta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não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flexível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suficiente </a:t>
            </a:r>
            <a:r>
              <a:rPr sz="1400" dirty="0">
                <a:latin typeface="Calibri"/>
                <a:cs typeface="Calibri"/>
              </a:rPr>
              <a:t>para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contorcer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aproximar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comportamento</a:t>
            </a:r>
            <a:r>
              <a:rPr sz="1400" dirty="0">
                <a:latin typeface="Calibri"/>
                <a:cs typeface="Calibri"/>
              </a:rPr>
              <a:t> da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função objetivo.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6109" y="2584449"/>
            <a:ext cx="18999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Polinômio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1.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901" y="4287773"/>
            <a:ext cx="1653539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Flexibilidade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 </a:t>
            </a:r>
            <a:r>
              <a:rPr sz="1600" b="1" spc="-20" dirty="0">
                <a:latin typeface="Calibri"/>
                <a:cs typeface="Calibri"/>
              </a:rPr>
              <a:t>grau </a:t>
            </a:r>
            <a:r>
              <a:rPr sz="1600" b="1" dirty="0">
                <a:latin typeface="Calibri"/>
                <a:cs typeface="Calibri"/>
              </a:rPr>
              <a:t>de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generalização </a:t>
            </a:r>
            <a:r>
              <a:rPr sz="1600" dirty="0">
                <a:latin typeface="Calibri"/>
                <a:cs typeface="Calibri"/>
              </a:rPr>
              <a:t>muito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baixos.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80" dirty="0"/>
              <a:t> </a:t>
            </a:r>
            <a:r>
              <a:rPr dirty="0"/>
              <a:t>polinomial:</a:t>
            </a:r>
            <a:r>
              <a:rPr spc="-60" dirty="0"/>
              <a:t> </a:t>
            </a:r>
            <a:r>
              <a:rPr dirty="0"/>
              <a:t>Qual</a:t>
            </a:r>
            <a:r>
              <a:rPr spc="-60" dirty="0"/>
              <a:t> </a:t>
            </a:r>
            <a:r>
              <a:rPr dirty="0"/>
              <a:t>ordem</a:t>
            </a:r>
            <a:r>
              <a:rPr spc="-75" dirty="0"/>
              <a:t> </a:t>
            </a:r>
            <a:r>
              <a:rPr spc="-10" dirty="0"/>
              <a:t>usar?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15836" y="1793493"/>
            <a:ext cx="5598795" cy="44799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665" marR="116839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Porém,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esperado,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polinômio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ordem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produz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melhor </a:t>
            </a:r>
            <a:r>
              <a:rPr sz="2800" spc="-20" dirty="0">
                <a:latin typeface="Calibri"/>
                <a:cs typeface="Calibri"/>
              </a:rPr>
              <a:t>aproximação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objetivo, </a:t>
            </a:r>
            <a:r>
              <a:rPr sz="2800" dirty="0">
                <a:latin typeface="Calibri"/>
                <a:cs typeface="Calibri"/>
              </a:rPr>
              <a:t>errando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pouco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dos </a:t>
            </a:r>
            <a:r>
              <a:rPr sz="2800" spc="-10" dirty="0">
                <a:latin typeface="Calibri"/>
                <a:cs typeface="Calibri"/>
              </a:rPr>
              <a:t>conjuntos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treinamento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spc="-10" dirty="0">
                <a:latin typeface="Calibri"/>
                <a:cs typeface="Calibri"/>
              </a:rPr>
              <a:t>validação.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9235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Esse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encontra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compromisso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flexibilidade</a:t>
            </a:r>
            <a:r>
              <a:rPr sz="2400" b="1" i="1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i="1" spc="-20" dirty="0">
                <a:latin typeface="Calibri"/>
                <a:cs typeface="Calibri"/>
              </a:rPr>
              <a:t>grau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generalização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207645" lvl="1" indent="-229235">
              <a:lnSpc>
                <a:spcPts val="259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Essa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aproximação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será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melhor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quanto </a:t>
            </a:r>
            <a:r>
              <a:rPr sz="2400" dirty="0">
                <a:latin typeface="Calibri"/>
                <a:cs typeface="Calibri"/>
              </a:rPr>
              <a:t>maior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treinamento </a:t>
            </a:r>
            <a:r>
              <a:rPr sz="2400" dirty="0">
                <a:latin typeface="Calibri"/>
                <a:cs typeface="Calibri"/>
              </a:rPr>
              <a:t>e/ou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ruído.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5554" y="2642702"/>
            <a:ext cx="2661547" cy="26795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22297" y="2682367"/>
            <a:ext cx="132588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Ordem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ótima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pois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 mesma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do </a:t>
            </a:r>
            <a:r>
              <a:rPr sz="1400" dirty="0">
                <a:latin typeface="Calibri"/>
                <a:cs typeface="Calibri"/>
              </a:rPr>
              <a:t>modelo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gerador.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81808" y="3385692"/>
            <a:ext cx="2846070" cy="720090"/>
          </a:xfrm>
          <a:custGeom>
            <a:avLst/>
            <a:gdLst/>
            <a:ahLst/>
            <a:cxnLst/>
            <a:rect l="l" t="t" r="r" b="b"/>
            <a:pathLst>
              <a:path w="2846070" h="720089">
                <a:moveTo>
                  <a:pt x="2759029" y="692204"/>
                </a:moveTo>
                <a:lnTo>
                  <a:pt x="2752344" y="719963"/>
                </a:lnTo>
                <a:lnTo>
                  <a:pt x="2845816" y="698373"/>
                </a:lnTo>
                <a:lnTo>
                  <a:pt x="2842493" y="695579"/>
                </a:lnTo>
                <a:lnTo>
                  <a:pt x="2773045" y="695579"/>
                </a:lnTo>
                <a:lnTo>
                  <a:pt x="2759029" y="692204"/>
                </a:lnTo>
                <a:close/>
              </a:path>
              <a:path w="2846070" h="720089">
                <a:moveTo>
                  <a:pt x="2765723" y="664412"/>
                </a:moveTo>
                <a:lnTo>
                  <a:pt x="2759029" y="692204"/>
                </a:lnTo>
                <a:lnTo>
                  <a:pt x="2773045" y="695579"/>
                </a:lnTo>
                <a:lnTo>
                  <a:pt x="2779649" y="667766"/>
                </a:lnTo>
                <a:lnTo>
                  <a:pt x="2765723" y="664412"/>
                </a:lnTo>
                <a:close/>
              </a:path>
              <a:path w="2846070" h="720089">
                <a:moveTo>
                  <a:pt x="2772410" y="636651"/>
                </a:moveTo>
                <a:lnTo>
                  <a:pt x="2765723" y="664412"/>
                </a:lnTo>
                <a:lnTo>
                  <a:pt x="2779649" y="667766"/>
                </a:lnTo>
                <a:lnTo>
                  <a:pt x="2773045" y="695579"/>
                </a:lnTo>
                <a:lnTo>
                  <a:pt x="2842493" y="695579"/>
                </a:lnTo>
                <a:lnTo>
                  <a:pt x="2772410" y="636651"/>
                </a:lnTo>
                <a:close/>
              </a:path>
              <a:path w="2846070" h="720089">
                <a:moveTo>
                  <a:pt x="6604" y="0"/>
                </a:moveTo>
                <a:lnTo>
                  <a:pt x="0" y="27812"/>
                </a:lnTo>
                <a:lnTo>
                  <a:pt x="2759029" y="692204"/>
                </a:lnTo>
                <a:lnTo>
                  <a:pt x="2765723" y="664412"/>
                </a:lnTo>
                <a:lnTo>
                  <a:pt x="660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25036" y="2304364"/>
            <a:ext cx="190118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Polinômio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2.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722" y="4059173"/>
            <a:ext cx="294513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3175"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Encontra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relação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compromisso </a:t>
            </a:r>
            <a:r>
              <a:rPr sz="1600" dirty="0">
                <a:latin typeface="Calibri"/>
                <a:cs typeface="Calibri"/>
              </a:rPr>
              <a:t>entre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flexibilidade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generalização</a:t>
            </a:r>
            <a:r>
              <a:rPr sz="1600" spc="-10" dirty="0">
                <a:latin typeface="Calibri"/>
                <a:cs typeface="Calibri"/>
              </a:rPr>
              <a:t>: </a:t>
            </a:r>
            <a:r>
              <a:rPr sz="1600" b="1" spc="-10" dirty="0">
                <a:latin typeface="Calibri"/>
                <a:cs typeface="Calibri"/>
              </a:rPr>
              <a:t>flexibilidade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grau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de </a:t>
            </a:r>
            <a:r>
              <a:rPr sz="1600" b="1" spc="-10" dirty="0">
                <a:latin typeface="Calibri"/>
                <a:cs typeface="Calibri"/>
              </a:rPr>
              <a:t>generalização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00AF50"/>
                </a:solidFill>
                <a:latin typeface="Calibri"/>
                <a:cs typeface="Calibri"/>
              </a:rPr>
              <a:t>equilíbrio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76200"/>
            <a:ext cx="90798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80" dirty="0"/>
              <a:t> </a:t>
            </a:r>
            <a:r>
              <a:rPr dirty="0"/>
              <a:t>polinomial:</a:t>
            </a:r>
            <a:r>
              <a:rPr spc="-60" dirty="0"/>
              <a:t> </a:t>
            </a:r>
            <a:r>
              <a:rPr dirty="0"/>
              <a:t>Qual</a:t>
            </a:r>
            <a:r>
              <a:rPr spc="-60" dirty="0"/>
              <a:t> </a:t>
            </a:r>
            <a:r>
              <a:rPr dirty="0"/>
              <a:t>ordem</a:t>
            </a:r>
            <a:r>
              <a:rPr spc="-75" dirty="0"/>
              <a:t> </a:t>
            </a:r>
            <a:r>
              <a:rPr spc="-10" dirty="0"/>
              <a:t>usar?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81600" y="615133"/>
            <a:ext cx="7097776" cy="6247864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358140" indent="-229235" algn="l">
              <a:spcBef>
                <a:spcPts val="104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Polinômios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ordem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2 </a:t>
            </a:r>
            <a:r>
              <a:rPr sz="2600" dirty="0">
                <a:latin typeface="Calibri"/>
                <a:cs typeface="Calibri"/>
              </a:rPr>
              <a:t>tendem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produzir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aproximações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perfeitas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disponíveis,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i.e.,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modelo </a:t>
            </a:r>
            <a:r>
              <a:rPr sz="2600" dirty="0">
                <a:latin typeface="Calibri"/>
                <a:cs typeface="Calibri"/>
              </a:rPr>
              <a:t>acaba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memorizando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spc="-10" dirty="0">
                <a:latin typeface="Calibri"/>
                <a:cs typeface="Calibri"/>
              </a:rPr>
              <a:t>treinamento.</a:t>
            </a:r>
            <a:endParaRPr sz="2600" dirty="0">
              <a:latin typeface="Calibri"/>
              <a:cs typeface="Calibri"/>
            </a:endParaRPr>
          </a:p>
          <a:p>
            <a:pPr marL="241300" marR="807720" indent="-229235" algn="l"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amostras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sz="2600" dirty="0" err="1">
                <a:latin typeface="Calibri"/>
                <a:cs typeface="Calibri"/>
              </a:rPr>
              <a:t>treinamento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muito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baixo.</a:t>
            </a:r>
            <a:endParaRPr sz="2600" dirty="0">
              <a:latin typeface="Calibri"/>
              <a:cs typeface="Calibri"/>
            </a:endParaRPr>
          </a:p>
          <a:p>
            <a:pPr marL="241300" marR="1064260" indent="-229235" algn="l"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Porém,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essa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aproximação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distancia bastante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gerador.</a:t>
            </a:r>
            <a:endParaRPr sz="2600" dirty="0">
              <a:latin typeface="Calibri"/>
              <a:cs typeface="Calibri"/>
            </a:endParaRPr>
          </a:p>
          <a:p>
            <a:pPr marL="241300" marR="215265" indent="-229235" algn="l">
              <a:spcBef>
                <a:spcPts val="1005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10" dirty="0">
                <a:latin typeface="Calibri"/>
                <a:cs typeface="Calibri"/>
              </a:rPr>
              <a:t>Portanto,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esses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apresentarão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erros </a:t>
            </a:r>
            <a:r>
              <a:rPr sz="2600" b="1" i="1" dirty="0">
                <a:latin typeface="Calibri"/>
                <a:cs typeface="Calibri"/>
              </a:rPr>
              <a:t>significativamente</a:t>
            </a:r>
            <a:r>
              <a:rPr sz="2600" b="1" i="1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maiores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forem apresentados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 exemplos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validação.</a:t>
            </a:r>
            <a:endParaRPr sz="2600" dirty="0">
              <a:latin typeface="Calibri"/>
              <a:cs typeface="Calibri"/>
            </a:endParaRPr>
          </a:p>
          <a:p>
            <a:pPr marL="241300" marR="5080" indent="-229235" algn="l"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10" dirty="0">
                <a:latin typeface="Calibri"/>
                <a:cs typeface="Calibri"/>
              </a:rPr>
              <a:t>Efeito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conhecido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sobreajuste</a:t>
            </a:r>
            <a:r>
              <a:rPr sz="2600" b="1" i="1" spc="-8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ou </a:t>
            </a:r>
            <a:r>
              <a:rPr sz="2600" b="1" i="1" dirty="0">
                <a:latin typeface="Calibri"/>
                <a:cs typeface="Calibri"/>
              </a:rPr>
              <a:t>overfitting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flexibilidade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muito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alta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grau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 </a:t>
            </a:r>
            <a:r>
              <a:rPr sz="2600" b="1" i="1" dirty="0">
                <a:latin typeface="Calibri"/>
                <a:cs typeface="Calibri"/>
              </a:rPr>
              <a:t>generalização</a:t>
            </a:r>
            <a:r>
              <a:rPr sz="2600" b="1" i="1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muito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baixo.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2082" y="1801226"/>
            <a:ext cx="2343244" cy="236534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5500" y="4435892"/>
            <a:ext cx="2356631" cy="237632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90798" y="1488135"/>
            <a:ext cx="20034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Polinômio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20.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0879" y="4124071"/>
            <a:ext cx="20021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Polinômio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30.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99207" y="4927219"/>
            <a:ext cx="12109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O modelo</a:t>
            </a:r>
            <a:r>
              <a:rPr sz="12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aprende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até</a:t>
            </a:r>
            <a:r>
              <a:rPr sz="1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ruído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presente</a:t>
            </a:r>
            <a:r>
              <a:rPr sz="12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F0000"/>
                </a:solidFill>
                <a:latin typeface="Calibri"/>
                <a:cs typeface="Calibri"/>
              </a:rPr>
              <a:t>nos 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dados!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112" y="1780975"/>
            <a:ext cx="2340499" cy="236162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7314" y="1447292"/>
            <a:ext cx="20021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Polinômio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10.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Resumo</a:t>
            </a:r>
            <a:r>
              <a:rPr spc="-80" dirty="0"/>
              <a:t> </a:t>
            </a:r>
            <a:r>
              <a:rPr dirty="0"/>
              <a:t>sobre</a:t>
            </a:r>
            <a:r>
              <a:rPr spc="-80" dirty="0"/>
              <a:t> </a:t>
            </a:r>
            <a:r>
              <a:rPr dirty="0"/>
              <a:t>subajuste</a:t>
            </a:r>
            <a:r>
              <a:rPr spc="-80" dirty="0"/>
              <a:t> </a:t>
            </a:r>
            <a:r>
              <a:rPr dirty="0"/>
              <a:t>e</a:t>
            </a:r>
            <a:r>
              <a:rPr spc="-65" dirty="0"/>
              <a:t> </a:t>
            </a:r>
            <a:r>
              <a:rPr spc="-10" dirty="0"/>
              <a:t>sobreajuste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904220" cy="366125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Subajuste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situação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falha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aproximar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mapeamento </a:t>
            </a:r>
            <a:r>
              <a:rPr sz="2800" b="1" i="1" dirty="0">
                <a:latin typeface="Calibri"/>
                <a:cs typeface="Calibri"/>
              </a:rPr>
              <a:t>verdadeiro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devido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à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falta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flexibilidade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(ou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capacidade)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1508125" lvl="1" indent="-228600">
              <a:spcBef>
                <a:spcPts val="52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Ocorre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devido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graus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liberdade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suficientes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aproximação.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spcBef>
                <a:spcPts val="18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produz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erros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significativos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tanto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quando</a:t>
            </a:r>
            <a:r>
              <a:rPr sz="24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apresentado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ao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próprio</a:t>
            </a:r>
            <a:endParaRPr sz="2400" dirty="0">
              <a:latin typeface="Calibri"/>
              <a:cs typeface="Calibri"/>
            </a:endParaRPr>
          </a:p>
          <a:p>
            <a:pPr marL="698500"/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conjunto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quanto</a:t>
            </a:r>
            <a:r>
              <a:rPr sz="24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dados</a:t>
            </a:r>
            <a:r>
              <a:rPr sz="24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inéditos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587375" lvl="1" indent="-228600" algn="just">
              <a:spcBef>
                <a:spcPts val="53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está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subajustando,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mesmo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aumente </a:t>
            </a:r>
            <a:r>
              <a:rPr sz="2400" dirty="0">
                <a:latin typeface="Calibri"/>
                <a:cs typeface="Calibri"/>
              </a:rPr>
              <a:t>indefinidamente,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situação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vai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desaparecer,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necessário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aumentar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50" dirty="0">
                <a:latin typeface="Calibri"/>
                <a:cs typeface="Calibri"/>
              </a:rPr>
              <a:t>a </a:t>
            </a:r>
            <a:r>
              <a:rPr sz="2400" b="1" i="1" dirty="0">
                <a:latin typeface="Calibri"/>
                <a:cs typeface="Calibri"/>
              </a:rPr>
              <a:t>flexibilidade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do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modelo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regressão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polinomial,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ordem.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Resumo</a:t>
            </a:r>
            <a:r>
              <a:rPr spc="-80" dirty="0"/>
              <a:t> </a:t>
            </a:r>
            <a:r>
              <a:rPr dirty="0"/>
              <a:t>sobre</a:t>
            </a:r>
            <a:r>
              <a:rPr spc="-80" dirty="0"/>
              <a:t> </a:t>
            </a:r>
            <a:r>
              <a:rPr dirty="0"/>
              <a:t>subajuste</a:t>
            </a:r>
            <a:r>
              <a:rPr spc="-80" dirty="0"/>
              <a:t> </a:t>
            </a:r>
            <a:r>
              <a:rPr dirty="0"/>
              <a:t>e</a:t>
            </a:r>
            <a:r>
              <a:rPr spc="-65" dirty="0"/>
              <a:t> </a:t>
            </a:r>
            <a:r>
              <a:rPr spc="-10" dirty="0"/>
              <a:t>sobreajuste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984865" cy="48520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18859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Sobreajuste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situação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ajusta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exemplos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aprende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até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ruído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presente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mesmos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(baixo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  <a:p>
            <a:pPr marL="241300" marR="11303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Porém,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produz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significativos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dados </a:t>
            </a:r>
            <a:r>
              <a:rPr sz="2800" dirty="0">
                <a:latin typeface="Calibri"/>
                <a:cs typeface="Calibri"/>
              </a:rPr>
              <a:t>inéditos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(alto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validação</a:t>
            </a:r>
            <a:r>
              <a:rPr sz="2800" spc="-10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19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Ocorre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devido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flexibilidade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modelo.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 algn="just">
              <a:lnSpc>
                <a:spcPct val="90100"/>
              </a:lnSpc>
              <a:spcBef>
                <a:spcPts val="50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está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sobreajustando,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necessário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diminuir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sua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flexibilidade</a:t>
            </a:r>
            <a:r>
              <a:rPr sz="24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ou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aumentar</a:t>
            </a:r>
            <a:r>
              <a:rPr sz="24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conjunto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até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validação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fique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próximo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do </a:t>
            </a:r>
            <a:r>
              <a:rPr sz="2400" dirty="0">
                <a:latin typeface="Calibri"/>
                <a:cs typeface="Calibri"/>
              </a:rPr>
              <a:t>erro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treinamento.</a:t>
            </a:r>
            <a:endParaRPr sz="2400" dirty="0">
              <a:latin typeface="Calibri"/>
              <a:cs typeface="Calibri"/>
            </a:endParaRPr>
          </a:p>
          <a:p>
            <a:pPr marL="241300" marR="205104" indent="-228600" algn="just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Nosso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objetivo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relação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compromisso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flexibilidade</a:t>
            </a:r>
            <a:r>
              <a:rPr sz="2800" b="1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capacidade</a:t>
            </a:r>
            <a:r>
              <a:rPr sz="2800" b="1" i="1" spc="-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generalização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Flexibilidade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suficiente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capturar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comportamento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geral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generalizar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bem.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Observações</a:t>
            </a:r>
            <a:r>
              <a:rPr spc="-75" dirty="0"/>
              <a:t> </a:t>
            </a:r>
            <a:r>
              <a:rPr dirty="0"/>
              <a:t>quanto</a:t>
            </a:r>
            <a:r>
              <a:rPr spc="-80" dirty="0"/>
              <a:t> </a:t>
            </a:r>
            <a:r>
              <a:rPr dirty="0"/>
              <a:t>à</a:t>
            </a:r>
            <a:r>
              <a:rPr spc="-65" dirty="0"/>
              <a:t> </a:t>
            </a:r>
            <a:r>
              <a:rPr dirty="0"/>
              <a:t>regressão</a:t>
            </a:r>
            <a:r>
              <a:rPr spc="-100" dirty="0"/>
              <a:t> </a:t>
            </a:r>
            <a:r>
              <a:rPr spc="-10" dirty="0"/>
              <a:t>polinomial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22950" y="1793493"/>
            <a:ext cx="6040120" cy="403732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8191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objetivo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alta</a:t>
            </a:r>
            <a:r>
              <a:rPr sz="2800" b="1" i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capacidade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generalização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partir</a:t>
            </a:r>
            <a:r>
              <a:rPr sz="2800" b="1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do</a:t>
            </a:r>
            <a:r>
              <a:rPr sz="2800" b="1" i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conjunto</a:t>
            </a:r>
            <a:r>
              <a:rPr sz="2800" b="1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FF000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treinamento</a:t>
            </a:r>
            <a:r>
              <a:rPr sz="2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dado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Porém,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polinômios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ordem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inferior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ao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da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função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objetivo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não </a:t>
            </a:r>
            <a:r>
              <a:rPr sz="2800" b="1" i="1" spc="-10" dirty="0">
                <a:latin typeface="Calibri"/>
                <a:cs typeface="Calibri"/>
              </a:rPr>
              <a:t>conseguem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aproximar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mapeamento verdadeiro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não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têm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complexidade</a:t>
            </a:r>
            <a:r>
              <a:rPr sz="2800" b="1" i="1" spc="-10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o</a:t>
            </a:r>
            <a:r>
              <a:rPr sz="2800" b="1" i="1" spc="-12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suficiente</a:t>
            </a:r>
            <a:r>
              <a:rPr sz="2800" b="1" i="1" spc="-10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</a:t>
            </a:r>
            <a:r>
              <a:rPr sz="2800" spc="7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capturar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curvatura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função.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5113" y="2887087"/>
            <a:ext cx="2324559" cy="2344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73044" y="2549779"/>
            <a:ext cx="19513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Polinômio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30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6078" y="2875666"/>
            <a:ext cx="2371616" cy="23840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47471" y="2541777"/>
            <a:ext cx="18491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Polinômio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Observações</a:t>
            </a:r>
            <a:r>
              <a:rPr spc="-75" dirty="0"/>
              <a:t> </a:t>
            </a:r>
            <a:r>
              <a:rPr dirty="0"/>
              <a:t>quanto</a:t>
            </a:r>
            <a:r>
              <a:rPr spc="-80" dirty="0"/>
              <a:t> </a:t>
            </a:r>
            <a:r>
              <a:rPr dirty="0"/>
              <a:t>à</a:t>
            </a:r>
            <a:r>
              <a:rPr spc="-65" dirty="0"/>
              <a:t> </a:t>
            </a:r>
            <a:r>
              <a:rPr dirty="0"/>
              <a:t>regressão</a:t>
            </a:r>
            <a:r>
              <a:rPr spc="-100" dirty="0"/>
              <a:t> </a:t>
            </a:r>
            <a:r>
              <a:rPr spc="-10" dirty="0"/>
              <a:t>polinomial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5555996" y="1759966"/>
                <a:ext cx="6313805" cy="4716163"/>
              </a:xfrm>
              <a:prstGeom prst="rect">
                <a:avLst/>
              </a:prstGeom>
            </p:spPr>
            <p:txBody>
              <a:bodyPr vert="horz" wrap="square" lIns="0" tIns="97155" rIns="0" bIns="0" rtlCol="0">
                <a:spAutoFit/>
              </a:bodyPr>
              <a:lstStyle/>
              <a:p>
                <a:pPr marL="241300" marR="233045" indent="-228600">
                  <a:lnSpc>
                    <a:spcPct val="80000"/>
                  </a:lnSpc>
                  <a:spcBef>
                    <a:spcPts val="76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Notamos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também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possível encontrar</a:t>
                </a:r>
                <a:r>
                  <a:rPr lang="pt-BR" sz="2800" b="1" i="1" spc="-9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uma</a:t>
                </a:r>
                <a:r>
                  <a:rPr lang="pt-BR" sz="2800" b="1" i="1" spc="-9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aproximação</a:t>
                </a:r>
                <a:r>
                  <a:rPr lang="pt-BR" sz="2800" b="1" i="1" spc="-9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ótima</a:t>
                </a:r>
                <a:r>
                  <a:rPr lang="pt-BR" sz="2800" b="1" i="1" spc="-90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25" dirty="0">
                    <a:solidFill>
                      <a:srgbClr val="6F2F9F"/>
                    </a:solidFill>
                    <a:latin typeface="Calibri"/>
                    <a:cs typeface="Calibri"/>
                  </a:rPr>
                  <a:t>com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relação</a:t>
                </a:r>
                <a:r>
                  <a:rPr lang="pt-BR" sz="2800" b="1" i="1" spc="-8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aos</a:t>
                </a:r>
                <a:r>
                  <a:rPr lang="pt-BR" sz="2800" b="1" i="1" spc="-9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exemplos</a:t>
                </a:r>
                <a:r>
                  <a:rPr lang="pt-BR" sz="2800" b="1" i="1" spc="-7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9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treinamento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1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produz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mapeamento,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b="0" i="1" spc="-5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800" b="0" i="1" spc="-50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  <a:cs typeface="Calibri"/>
                      </a:rPr>
                      <m:t>𝒙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pt-BR" sz="2800" spc="-90" dirty="0">
                    <a:latin typeface="Calibri"/>
                    <a:cs typeface="Calibri"/>
                  </a:rPr>
                  <a:t>,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10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difere</a:t>
                </a:r>
                <a:r>
                  <a:rPr lang="pt-BR" sz="2800" b="1" i="1" spc="-80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EC7C30"/>
                    </a:solidFill>
                    <a:latin typeface="Calibri"/>
                    <a:cs typeface="Calibri"/>
                  </a:rPr>
                  <a:t>significativamente</a:t>
                </a:r>
                <a:r>
                  <a:rPr lang="pt-BR" sz="2800" b="1" i="1" spc="-7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25" dirty="0">
                    <a:solidFill>
                      <a:srgbClr val="EC7C30"/>
                    </a:solidFill>
                    <a:latin typeface="Calibri"/>
                    <a:cs typeface="Calibri"/>
                  </a:rPr>
                  <a:t>do </a:t>
                </a:r>
                <a:r>
                  <a:rPr lang="pt-BR" sz="2800" b="1" i="1" spc="-10" dirty="0">
                    <a:solidFill>
                      <a:srgbClr val="EC7C30"/>
                    </a:solidFill>
                    <a:latin typeface="Calibri"/>
                    <a:cs typeface="Calibri"/>
                  </a:rPr>
                  <a:t>mapeamento</a:t>
                </a:r>
                <a:r>
                  <a:rPr lang="pt-BR" sz="2800" b="1" i="1" spc="-14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EC7C30"/>
                    </a:solidFill>
                    <a:latin typeface="Calibri"/>
                    <a:cs typeface="Calibri"/>
                  </a:rPr>
                  <a:t>verdadeiro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41300" marR="5080" indent="-228600">
                  <a:lnSpc>
                    <a:spcPct val="80000"/>
                  </a:lnSpc>
                  <a:spcBef>
                    <a:spcPts val="100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spc="-25" dirty="0">
                    <a:latin typeface="Calibri"/>
                    <a:cs typeface="Calibri"/>
                  </a:rPr>
                  <a:t>Portanto,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precisamos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encontrar </a:t>
                </a:r>
                <a:r>
                  <a:rPr lang="pt-BR" sz="2800" b="1" i="1" spc="-10" dirty="0">
                    <a:solidFill>
                      <a:srgbClr val="EC7C30"/>
                    </a:solidFill>
                    <a:latin typeface="Calibri"/>
                    <a:cs typeface="Calibri"/>
                  </a:rPr>
                  <a:t>estratégias</a:t>
                </a:r>
                <a:r>
                  <a:rPr lang="pt-BR" sz="2800" b="1" i="1" spc="-4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nos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auxiliem</a:t>
                </a:r>
                <a:r>
                  <a:rPr lang="pt-BR" sz="2800" b="1" i="1" spc="-5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</a:t>
                </a:r>
                <a:r>
                  <a:rPr lang="pt-BR" sz="2800" b="1" i="1" spc="-7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identificar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modelo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apresenta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bom </a:t>
                </a:r>
                <a:r>
                  <a:rPr lang="pt-BR" sz="2800" b="1" i="1" dirty="0">
                    <a:solidFill>
                      <a:srgbClr val="4471C4"/>
                    </a:solidFill>
                    <a:latin typeface="Calibri"/>
                    <a:cs typeface="Calibri"/>
                  </a:rPr>
                  <a:t>balanço</a:t>
                </a:r>
                <a:r>
                  <a:rPr lang="pt-BR" sz="2800" b="1" i="1" spc="-85" dirty="0">
                    <a:solidFill>
                      <a:srgbClr val="4471C4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4471C4"/>
                    </a:solidFill>
                    <a:latin typeface="Calibri"/>
                    <a:cs typeface="Calibri"/>
                  </a:rPr>
                  <a:t>entre</a:t>
                </a:r>
                <a:r>
                  <a:rPr lang="pt-BR" sz="2800" b="1" i="1" spc="-75" dirty="0">
                    <a:solidFill>
                      <a:srgbClr val="4471C4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4471C4"/>
                    </a:solidFill>
                    <a:latin typeface="Calibri"/>
                    <a:cs typeface="Calibri"/>
                  </a:rPr>
                  <a:t>flexibilidade</a:t>
                </a:r>
                <a:r>
                  <a:rPr lang="pt-BR" sz="2800" b="1" i="1" spc="-60" dirty="0">
                    <a:solidFill>
                      <a:srgbClr val="4471C4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4471C4"/>
                    </a:solidFill>
                    <a:latin typeface="Calibri"/>
                    <a:cs typeface="Calibri"/>
                  </a:rPr>
                  <a:t>e</a:t>
                </a:r>
                <a:r>
                  <a:rPr lang="pt-BR" sz="2800" b="1" i="1" spc="-85" dirty="0">
                    <a:solidFill>
                      <a:srgbClr val="4471C4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4471C4"/>
                    </a:solidFill>
                    <a:latin typeface="Calibri"/>
                    <a:cs typeface="Calibri"/>
                  </a:rPr>
                  <a:t>capacidade </a:t>
                </a:r>
                <a:r>
                  <a:rPr lang="pt-BR" sz="2800" b="1" i="1" dirty="0">
                    <a:solidFill>
                      <a:srgbClr val="4471C4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75" dirty="0">
                    <a:solidFill>
                      <a:srgbClr val="4471C4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4471C4"/>
                    </a:solidFill>
                    <a:latin typeface="Calibri"/>
                    <a:cs typeface="Calibri"/>
                  </a:rPr>
                  <a:t>generalização</a:t>
                </a:r>
                <a:r>
                  <a:rPr lang="pt-BR" sz="2800" spc="-10" dirty="0">
                    <a:latin typeface="Calibri"/>
                    <a:cs typeface="Calibri"/>
                  </a:rPr>
                  <a:t>,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distanciando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de </a:t>
                </a:r>
                <a:r>
                  <a:rPr lang="pt-BR" sz="2800" dirty="0">
                    <a:latin typeface="Calibri"/>
                    <a:cs typeface="Calibri"/>
                  </a:rPr>
                  <a:t>modelos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FF0000"/>
                    </a:solidFill>
                    <a:latin typeface="Calibri"/>
                    <a:cs typeface="Calibri"/>
                  </a:rPr>
                  <a:t>subajustam</a:t>
                </a:r>
                <a:r>
                  <a:rPr lang="pt-BR" sz="2800" b="1" i="1" spc="-95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ou </a:t>
                </a:r>
                <a:r>
                  <a:rPr lang="pt-BR" sz="2800" b="1" i="1" spc="-10" dirty="0">
                    <a:solidFill>
                      <a:srgbClr val="FF0000"/>
                    </a:solidFill>
                    <a:latin typeface="Calibri"/>
                    <a:cs typeface="Calibri"/>
                  </a:rPr>
                  <a:t>sobreajustam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996" y="1759966"/>
                <a:ext cx="6313805" cy="4716163"/>
              </a:xfrm>
              <a:prstGeom prst="rect">
                <a:avLst/>
              </a:prstGeom>
              <a:blipFill>
                <a:blip r:embed="rId2"/>
                <a:stretch>
                  <a:fillRect l="-2992" t="-1811" r="-3764" b="-3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23052" y="2887087"/>
            <a:ext cx="2324559" cy="2344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30982" y="2549779"/>
            <a:ext cx="19513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Polinômio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30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001" y="2875666"/>
            <a:ext cx="2371615" cy="23840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05459" y="2541777"/>
            <a:ext cx="18491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Polinômio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Observações</a:t>
            </a:r>
            <a:r>
              <a:rPr spc="-75" dirty="0"/>
              <a:t> </a:t>
            </a:r>
            <a:r>
              <a:rPr dirty="0"/>
              <a:t>quanto</a:t>
            </a:r>
            <a:r>
              <a:rPr spc="-80" dirty="0"/>
              <a:t> </a:t>
            </a:r>
            <a:r>
              <a:rPr dirty="0"/>
              <a:t>à</a:t>
            </a:r>
            <a:r>
              <a:rPr spc="-65" dirty="0"/>
              <a:t> </a:t>
            </a:r>
            <a:r>
              <a:rPr dirty="0"/>
              <a:t>regressão</a:t>
            </a:r>
            <a:r>
              <a:rPr spc="-100" dirty="0"/>
              <a:t> </a:t>
            </a:r>
            <a:r>
              <a:rPr spc="-10" dirty="0"/>
              <a:t>polinomial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231755" cy="4134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estratégia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bastante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selecionar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b="1" i="1" dirty="0">
                <a:latin typeface="Calibri"/>
                <a:cs typeface="Calibri"/>
              </a:rPr>
              <a:t>comparar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treinamento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validação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98475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geralmente,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dividimos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conjunto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total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amostras</a:t>
            </a:r>
            <a:r>
              <a:rPr sz="2800" b="1" i="1" spc="-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em </a:t>
            </a:r>
            <a:r>
              <a:rPr sz="2800" spc="-10" dirty="0">
                <a:latin typeface="Calibri"/>
                <a:cs typeface="Calibri"/>
              </a:rPr>
              <a:t>conjuntos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9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spc="-10" dirty="0">
                <a:latin typeface="Calibri"/>
                <a:cs typeface="Calibri"/>
              </a:rPr>
              <a:t>Treinamento</a:t>
            </a:r>
            <a:r>
              <a:rPr sz="2400" spc="-10" dirty="0">
                <a:latin typeface="Calibri"/>
                <a:cs typeface="Calibri"/>
              </a:rPr>
              <a:t>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usado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treinar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modelo.</a:t>
            </a:r>
            <a:endParaRPr sz="2400" dirty="0">
              <a:latin typeface="Calibri"/>
              <a:cs typeface="Calibri"/>
            </a:endParaRPr>
          </a:p>
          <a:p>
            <a:pPr marL="698500" marR="119380" lvl="1" indent="-228600">
              <a:lnSpc>
                <a:spcPts val="2590"/>
              </a:lnSpc>
              <a:spcBef>
                <a:spcPts val="55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spc="-10" dirty="0">
                <a:latin typeface="Calibri"/>
                <a:cs typeface="Calibri"/>
              </a:rPr>
              <a:t>Validação</a:t>
            </a:r>
            <a:r>
              <a:rPr sz="2400" spc="-10" dirty="0">
                <a:latin typeface="Calibri"/>
                <a:cs typeface="Calibri"/>
              </a:rPr>
              <a:t>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ajustar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hiperparâmetros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passo</a:t>
            </a:r>
            <a:r>
              <a:rPr sz="2400" spc="-25" dirty="0">
                <a:latin typeface="Calibri"/>
                <a:cs typeface="Calibri"/>
              </a:rPr>
              <a:t> de </a:t>
            </a:r>
            <a:r>
              <a:rPr sz="2400" dirty="0">
                <a:latin typeface="Calibri"/>
                <a:cs typeface="Calibri"/>
              </a:rPr>
              <a:t>aprendizagem,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ordem).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8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spc="-30" dirty="0">
                <a:latin typeface="Calibri"/>
                <a:cs typeface="Calibri"/>
              </a:rPr>
              <a:t>Teste</a:t>
            </a:r>
            <a:r>
              <a:rPr sz="2400" spc="-30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avaliar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capacidade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generalização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modelo.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OBS.: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amostras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diferentes,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devem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ser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representativos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fenômeno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sendo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modelado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Erro</a:t>
            </a:r>
            <a:r>
              <a:rPr spc="-90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dirty="0"/>
              <a:t>treinamento</a:t>
            </a:r>
            <a:r>
              <a:rPr spc="-85" dirty="0"/>
              <a:t> </a:t>
            </a:r>
            <a:r>
              <a:rPr dirty="0"/>
              <a:t>versus</a:t>
            </a:r>
            <a:r>
              <a:rPr spc="-85" dirty="0"/>
              <a:t> </a:t>
            </a:r>
            <a:r>
              <a:rPr dirty="0"/>
              <a:t>erro</a:t>
            </a:r>
            <a:r>
              <a:rPr spc="-85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spc="-10" dirty="0"/>
              <a:t>validação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8951" y="1793493"/>
            <a:ext cx="6775450" cy="37795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165100" indent="-229235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vimos,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treinamento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diminui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aumento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ordem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polinômio, </a:t>
            </a:r>
            <a:r>
              <a:rPr sz="2800" dirty="0">
                <a:latin typeface="Calibri"/>
                <a:cs typeface="Calibri"/>
              </a:rPr>
              <a:t>porém,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significa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estamos </a:t>
            </a:r>
            <a:r>
              <a:rPr sz="2800" dirty="0">
                <a:latin typeface="Calibri"/>
                <a:cs typeface="Calibri"/>
              </a:rPr>
              <a:t>obtendo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melhor.</a:t>
            </a:r>
            <a:endParaRPr sz="2800" dirty="0">
              <a:latin typeface="Calibri"/>
              <a:cs typeface="Calibri"/>
            </a:endParaRPr>
          </a:p>
          <a:p>
            <a:pPr marL="241300" marR="118110" indent="-229235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complexos,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pequeno,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necessariamente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generalizam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melhor.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30"/>
              </a:lnSpc>
              <a:spcBef>
                <a:spcPts val="98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Esses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tendem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erro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2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validação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015" y="2226714"/>
            <a:ext cx="3547856" cy="32958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185531" y="6572504"/>
            <a:ext cx="39744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Exemplo:</a:t>
            </a:r>
            <a:r>
              <a:rPr sz="1400" u="sng" spc="-7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training_error_versus_validation_error.ipynb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Erro</a:t>
            </a:r>
            <a:r>
              <a:rPr spc="-90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dirty="0"/>
              <a:t>treinamento</a:t>
            </a:r>
            <a:r>
              <a:rPr spc="-85" dirty="0"/>
              <a:t> </a:t>
            </a:r>
            <a:r>
              <a:rPr dirty="0"/>
              <a:t>versus</a:t>
            </a:r>
            <a:r>
              <a:rPr spc="-85" dirty="0"/>
              <a:t> </a:t>
            </a:r>
            <a:r>
              <a:rPr dirty="0"/>
              <a:t>erro</a:t>
            </a:r>
            <a:r>
              <a:rPr spc="-85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spc="-10" dirty="0"/>
              <a:t>validação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27065" y="1793493"/>
            <a:ext cx="6527165" cy="41636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21082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Já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baixa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complexidade apresentam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alto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validação.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lado,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modelos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ideais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mapeiam valores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vistos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durante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próximos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esperados, </a:t>
            </a:r>
            <a:r>
              <a:rPr sz="2800" dirty="0">
                <a:latin typeface="Calibri"/>
                <a:cs typeface="Calibri"/>
              </a:rPr>
              <a:t>i.e.,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generalizam.</a:t>
            </a:r>
            <a:endParaRPr sz="2800" dirty="0">
              <a:latin typeface="Calibri"/>
              <a:cs typeface="Calibri"/>
            </a:endParaRPr>
          </a:p>
          <a:p>
            <a:pPr marL="241300" marR="344805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Portanto,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generalizam</a:t>
            </a:r>
            <a:r>
              <a:rPr sz="2800" b="1" i="1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4471C4"/>
                </a:solidFill>
                <a:latin typeface="Calibri"/>
                <a:cs typeface="Calibri"/>
              </a:rPr>
              <a:t>bem </a:t>
            </a:r>
            <a:r>
              <a:rPr sz="2800" spc="-10" dirty="0">
                <a:latin typeface="Calibri"/>
                <a:cs typeface="Calibri"/>
              </a:rPr>
              <a:t>apresentam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validação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treinamento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pequenos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próximos.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015" y="2360292"/>
            <a:ext cx="3547856" cy="329588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Flexibilidade</a:t>
            </a:r>
            <a:r>
              <a:rPr spc="-80" dirty="0"/>
              <a:t> </a:t>
            </a:r>
            <a:r>
              <a:rPr dirty="0"/>
              <a:t>e</a:t>
            </a:r>
            <a:r>
              <a:rPr spc="-60" dirty="0"/>
              <a:t> </a:t>
            </a:r>
            <a:r>
              <a:rPr dirty="0"/>
              <a:t>generalização</a:t>
            </a:r>
            <a:r>
              <a:rPr spc="-45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dirty="0"/>
              <a:t>um</a:t>
            </a:r>
            <a:r>
              <a:rPr spc="-65" dirty="0"/>
              <a:t> </a:t>
            </a:r>
            <a:r>
              <a:rPr spc="-10" dirty="0"/>
              <a:t>modelo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96459" y="1642110"/>
            <a:ext cx="7075170" cy="489648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300355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flexibilidade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(ou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complexidade)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diz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respeito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capacidade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aprender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regularidades</a:t>
            </a:r>
            <a:r>
              <a:rPr sz="28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ou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características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dados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conjunto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ts val="2825"/>
              </a:lnSpc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Medida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através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erro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treinamento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248920" indent="-228600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grau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generalização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diz </a:t>
            </a:r>
            <a:r>
              <a:rPr sz="2800" spc="-10" dirty="0">
                <a:latin typeface="Calibri"/>
                <a:cs typeface="Calibri"/>
              </a:rPr>
              <a:t>respeito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qualidade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aproximação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gerada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por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ele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quando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exposto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dados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vistos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durante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seu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439"/>
              </a:spcBef>
              <a:buFont typeface="Wingdings"/>
              <a:buChar char=""/>
              <a:tabLst>
                <a:tab pos="812165" algn="l"/>
                <a:tab pos="812800" algn="l"/>
              </a:tabLst>
            </a:pPr>
            <a:r>
              <a:rPr sz="2400" dirty="0">
                <a:latin typeface="Calibri"/>
                <a:cs typeface="Calibri"/>
              </a:rPr>
              <a:t>Medido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através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erro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validação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690"/>
              </a:lnSpc>
              <a:spcBef>
                <a:spcPts val="9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modelo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ideal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aquele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relação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compromisso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flexibilidade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capacidade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generalização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8309" y="2400815"/>
            <a:ext cx="3631565" cy="2639060"/>
            <a:chOff x="598309" y="2400815"/>
            <a:chExt cx="3631565" cy="26390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309" y="2400815"/>
              <a:ext cx="3631361" cy="254087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16608" y="3945382"/>
              <a:ext cx="276860" cy="266065"/>
            </a:xfrm>
            <a:custGeom>
              <a:avLst/>
              <a:gdLst/>
              <a:ahLst/>
              <a:cxnLst/>
              <a:rect l="l" t="t" r="r" b="b"/>
              <a:pathLst>
                <a:path w="276859" h="266064">
                  <a:moveTo>
                    <a:pt x="0" y="132969"/>
                  </a:moveTo>
                  <a:lnTo>
                    <a:pt x="7043" y="90952"/>
                  </a:lnTo>
                  <a:lnTo>
                    <a:pt x="26663" y="54452"/>
                  </a:lnTo>
                  <a:lnTo>
                    <a:pt x="56592" y="25664"/>
                  </a:lnTo>
                  <a:lnTo>
                    <a:pt x="94561" y="6781"/>
                  </a:lnTo>
                  <a:lnTo>
                    <a:pt x="138303" y="0"/>
                  </a:lnTo>
                  <a:lnTo>
                    <a:pt x="181982" y="6781"/>
                  </a:lnTo>
                  <a:lnTo>
                    <a:pt x="219914" y="25664"/>
                  </a:lnTo>
                  <a:lnTo>
                    <a:pt x="249823" y="54452"/>
                  </a:lnTo>
                  <a:lnTo>
                    <a:pt x="269436" y="90952"/>
                  </a:lnTo>
                  <a:lnTo>
                    <a:pt x="276478" y="132969"/>
                  </a:lnTo>
                  <a:lnTo>
                    <a:pt x="269436" y="174972"/>
                  </a:lnTo>
                  <a:lnTo>
                    <a:pt x="249823" y="211440"/>
                  </a:lnTo>
                  <a:lnTo>
                    <a:pt x="219914" y="240191"/>
                  </a:lnTo>
                  <a:lnTo>
                    <a:pt x="181982" y="259042"/>
                  </a:lnTo>
                  <a:lnTo>
                    <a:pt x="138303" y="265811"/>
                  </a:lnTo>
                  <a:lnTo>
                    <a:pt x="94561" y="259042"/>
                  </a:lnTo>
                  <a:lnTo>
                    <a:pt x="56592" y="240191"/>
                  </a:lnTo>
                  <a:lnTo>
                    <a:pt x="26663" y="211440"/>
                  </a:lnTo>
                  <a:lnTo>
                    <a:pt x="7043" y="174972"/>
                  </a:lnTo>
                  <a:lnTo>
                    <a:pt x="0" y="132969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13561" y="4236211"/>
              <a:ext cx="166370" cy="803910"/>
            </a:xfrm>
            <a:custGeom>
              <a:avLst/>
              <a:gdLst/>
              <a:ahLst/>
              <a:cxnLst/>
              <a:rect l="l" t="t" r="r" b="b"/>
              <a:pathLst>
                <a:path w="166369" h="803910">
                  <a:moveTo>
                    <a:pt x="125222" y="74520"/>
                  </a:moveTo>
                  <a:lnTo>
                    <a:pt x="0" y="802386"/>
                  </a:lnTo>
                  <a:lnTo>
                    <a:pt x="6222" y="803529"/>
                  </a:lnTo>
                  <a:lnTo>
                    <a:pt x="131457" y="75596"/>
                  </a:lnTo>
                  <a:lnTo>
                    <a:pt x="125222" y="74520"/>
                  </a:lnTo>
                  <a:close/>
                </a:path>
                <a:path w="166369" h="803910">
                  <a:moveTo>
                    <a:pt x="159982" y="61975"/>
                  </a:moveTo>
                  <a:lnTo>
                    <a:pt x="127380" y="61975"/>
                  </a:lnTo>
                  <a:lnTo>
                    <a:pt x="133603" y="63118"/>
                  </a:lnTo>
                  <a:lnTo>
                    <a:pt x="131457" y="75596"/>
                  </a:lnTo>
                  <a:lnTo>
                    <a:pt x="165861" y="81533"/>
                  </a:lnTo>
                  <a:lnTo>
                    <a:pt x="159982" y="61975"/>
                  </a:lnTo>
                  <a:close/>
                </a:path>
                <a:path w="166369" h="803910">
                  <a:moveTo>
                    <a:pt x="127380" y="61975"/>
                  </a:moveTo>
                  <a:lnTo>
                    <a:pt x="125222" y="74520"/>
                  </a:lnTo>
                  <a:lnTo>
                    <a:pt x="131457" y="75596"/>
                  </a:lnTo>
                  <a:lnTo>
                    <a:pt x="133603" y="63118"/>
                  </a:lnTo>
                  <a:lnTo>
                    <a:pt x="127380" y="61975"/>
                  </a:lnTo>
                  <a:close/>
                </a:path>
                <a:path w="166369" h="803910">
                  <a:moveTo>
                    <a:pt x="141350" y="0"/>
                  </a:moveTo>
                  <a:lnTo>
                    <a:pt x="90804" y="68580"/>
                  </a:lnTo>
                  <a:lnTo>
                    <a:pt x="125222" y="74520"/>
                  </a:lnTo>
                  <a:lnTo>
                    <a:pt x="127380" y="61975"/>
                  </a:lnTo>
                  <a:lnTo>
                    <a:pt x="159982" y="61975"/>
                  </a:lnTo>
                  <a:lnTo>
                    <a:pt x="1413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56919" y="5012182"/>
            <a:ext cx="334517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5080" indent="-82550">
              <a:lnSpc>
                <a:spcPct val="100000"/>
              </a:lnSpc>
              <a:spcBef>
                <a:spcPts val="100"/>
              </a:spcBef>
            </a:pPr>
            <a:r>
              <a:rPr sz="1400" b="1" i="1" dirty="0">
                <a:latin typeface="Calibri"/>
                <a:cs typeface="Calibri"/>
              </a:rPr>
              <a:t>Modelo</a:t>
            </a:r>
            <a:r>
              <a:rPr sz="1400" b="1" i="1" spc="-2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ótimo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relação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compromisso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entre </a:t>
            </a:r>
            <a:r>
              <a:rPr sz="1400" dirty="0">
                <a:latin typeface="Calibri"/>
                <a:cs typeface="Calibri"/>
              </a:rPr>
              <a:t>flexibilidade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capacidade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generalização.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Para</a:t>
            </a:r>
            <a:r>
              <a:rPr spc="-195" dirty="0"/>
              <a:t> </a:t>
            </a:r>
            <a:r>
              <a:rPr spc="-20" dirty="0"/>
              <a:t>casa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46882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Façam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exercício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#3.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Erros</a:t>
            </a:r>
            <a:r>
              <a:rPr spc="-90" dirty="0"/>
              <a:t> </a:t>
            </a:r>
            <a:r>
              <a:rPr dirty="0"/>
              <a:t>envolvidos</a:t>
            </a:r>
            <a:r>
              <a:rPr spc="-55" dirty="0"/>
              <a:t> </a:t>
            </a:r>
            <a:r>
              <a:rPr dirty="0"/>
              <a:t>no</a:t>
            </a:r>
            <a:r>
              <a:rPr spc="-60" dirty="0"/>
              <a:t> </a:t>
            </a:r>
            <a:r>
              <a:rPr dirty="0"/>
              <a:t>processo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10" dirty="0"/>
              <a:t>aproximação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830"/>
            <a:ext cx="10441305" cy="3361054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aproximação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predição)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envolve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tipos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erros: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spc="-10" dirty="0">
                <a:solidFill>
                  <a:srgbClr val="6F2F9F"/>
                </a:solidFill>
                <a:latin typeface="Calibri"/>
                <a:cs typeface="Calibri"/>
              </a:rPr>
              <a:t>Redutível</a:t>
            </a:r>
            <a:r>
              <a:rPr sz="2400" spc="-10" dirty="0">
                <a:latin typeface="Calibri"/>
                <a:cs typeface="Calibri"/>
              </a:rPr>
              <a:t>;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spc="-10" dirty="0">
                <a:solidFill>
                  <a:srgbClr val="6F2F9F"/>
                </a:solidFill>
                <a:latin typeface="Calibri"/>
                <a:cs typeface="Calibri"/>
              </a:rPr>
              <a:t>Irredutível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redutível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dividido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Variância;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Viés;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Computação;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Amostragem.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Erros</a:t>
            </a:r>
            <a:r>
              <a:rPr spc="-90" dirty="0"/>
              <a:t> </a:t>
            </a:r>
            <a:r>
              <a:rPr dirty="0"/>
              <a:t>envolvidos</a:t>
            </a:r>
            <a:r>
              <a:rPr spc="-55" dirty="0"/>
              <a:t> </a:t>
            </a:r>
            <a:r>
              <a:rPr dirty="0"/>
              <a:t>no</a:t>
            </a:r>
            <a:r>
              <a:rPr spc="-60" dirty="0"/>
              <a:t> </a:t>
            </a:r>
            <a:r>
              <a:rPr dirty="0"/>
              <a:t>processo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10" dirty="0"/>
              <a:t>aproximação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dirty="0">
                <a:latin typeface="Calibri"/>
                <a:cs typeface="Calibri"/>
              </a:rPr>
              <a:t>Erro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i="1" dirty="0"/>
              <a:t>variância</a:t>
            </a:r>
            <a:r>
              <a:rPr i="1" spc="-50" dirty="0"/>
              <a:t> </a:t>
            </a:r>
            <a:r>
              <a:rPr dirty="0">
                <a:latin typeface="Calibri"/>
                <a:cs typeface="Calibri"/>
              </a:rPr>
              <a:t>(ou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estimação)</a:t>
            </a:r>
            <a:r>
              <a:rPr b="0" spc="-10" dirty="0">
                <a:latin typeface="Calibri"/>
                <a:cs typeface="Calibri"/>
              </a:rPr>
              <a:t>: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é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erro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devido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à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i="1" spc="-10" dirty="0">
                <a:solidFill>
                  <a:srgbClr val="6F2F9F"/>
                </a:solidFill>
              </a:rPr>
              <a:t>sensibilidade </a:t>
            </a:r>
            <a:r>
              <a:rPr i="1" spc="-20" dirty="0">
                <a:solidFill>
                  <a:srgbClr val="6F2F9F"/>
                </a:solidFill>
              </a:rPr>
              <a:t>excessiva</a:t>
            </a:r>
            <a:r>
              <a:rPr i="1" spc="-50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do</a:t>
            </a:r>
            <a:r>
              <a:rPr i="1" spc="-50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modelo</a:t>
            </a:r>
            <a:r>
              <a:rPr i="1" spc="-45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a</a:t>
            </a:r>
            <a:r>
              <a:rPr i="1" spc="-55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variações</a:t>
            </a:r>
            <a:r>
              <a:rPr i="1" spc="-50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nos</a:t>
            </a:r>
            <a:r>
              <a:rPr i="1" spc="-65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dados</a:t>
            </a:r>
            <a:r>
              <a:rPr i="1" spc="-55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de</a:t>
            </a:r>
            <a:r>
              <a:rPr i="1" spc="-50" dirty="0">
                <a:solidFill>
                  <a:srgbClr val="6F2F9F"/>
                </a:solidFill>
              </a:rPr>
              <a:t> </a:t>
            </a:r>
            <a:r>
              <a:rPr i="1" spc="-20" dirty="0">
                <a:solidFill>
                  <a:srgbClr val="6F2F9F"/>
                </a:solidFill>
              </a:rPr>
              <a:t>treinamento</a:t>
            </a:r>
            <a:r>
              <a:rPr b="0" spc="-20" dirty="0">
                <a:latin typeface="Calibri"/>
                <a:cs typeface="Calibri"/>
              </a:rPr>
              <a:t>,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ou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seja, </a:t>
            </a:r>
            <a:r>
              <a:rPr b="0" dirty="0">
                <a:latin typeface="Calibri"/>
                <a:cs typeface="Calibri"/>
              </a:rPr>
              <a:t>esse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erro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i="1" dirty="0"/>
              <a:t>mede</a:t>
            </a:r>
            <a:r>
              <a:rPr i="1" spc="-50" dirty="0"/>
              <a:t> </a:t>
            </a:r>
            <a:r>
              <a:rPr i="1" dirty="0"/>
              <a:t>o</a:t>
            </a:r>
            <a:r>
              <a:rPr i="1" spc="-60" dirty="0"/>
              <a:t> </a:t>
            </a:r>
            <a:r>
              <a:rPr i="1" dirty="0"/>
              <a:t>quanto</a:t>
            </a:r>
            <a:r>
              <a:rPr i="1" spc="-70" dirty="0"/>
              <a:t> </a:t>
            </a:r>
            <a:r>
              <a:rPr i="1" dirty="0"/>
              <a:t>o</a:t>
            </a:r>
            <a:r>
              <a:rPr i="1" spc="-65" dirty="0"/>
              <a:t> </a:t>
            </a:r>
            <a:r>
              <a:rPr i="1" dirty="0"/>
              <a:t>modelo</a:t>
            </a:r>
            <a:r>
              <a:rPr i="1" spc="-55" dirty="0"/>
              <a:t> </a:t>
            </a:r>
            <a:r>
              <a:rPr i="1" dirty="0"/>
              <a:t>varia</a:t>
            </a:r>
            <a:r>
              <a:rPr i="1" spc="-65" dirty="0"/>
              <a:t> </a:t>
            </a:r>
            <a:r>
              <a:rPr i="1" dirty="0"/>
              <a:t>com</a:t>
            </a:r>
            <a:r>
              <a:rPr i="1" spc="-60" dirty="0"/>
              <a:t> </a:t>
            </a:r>
            <a:r>
              <a:rPr i="1" dirty="0"/>
              <a:t>os</a:t>
            </a:r>
            <a:r>
              <a:rPr i="1" spc="-65" dirty="0"/>
              <a:t> </a:t>
            </a:r>
            <a:r>
              <a:rPr i="1" dirty="0"/>
              <a:t>dados</a:t>
            </a:r>
            <a:r>
              <a:rPr i="1" spc="-70" dirty="0"/>
              <a:t> </a:t>
            </a:r>
            <a:r>
              <a:rPr i="1" dirty="0"/>
              <a:t>de</a:t>
            </a:r>
            <a:r>
              <a:rPr i="1" spc="-70" dirty="0"/>
              <a:t> </a:t>
            </a:r>
            <a:r>
              <a:rPr i="1" spc="-10" dirty="0"/>
              <a:t>treinamento</a:t>
            </a:r>
            <a:r>
              <a:rPr b="0" spc="-10" dirty="0">
                <a:latin typeface="Calibri"/>
                <a:cs typeface="Calibri"/>
              </a:rPr>
              <a:t>.</a:t>
            </a: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600" dirty="0">
                <a:latin typeface="Calibri"/>
                <a:cs typeface="Calibri"/>
              </a:rPr>
              <a:t>Depende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nível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complexidade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modelo.</a:t>
            </a:r>
            <a:endParaRPr sz="2600" dirty="0">
              <a:latin typeface="Calibri"/>
              <a:cs typeface="Calibri"/>
            </a:endParaRPr>
          </a:p>
          <a:p>
            <a:pPr marL="698500" marR="187960" lvl="1" indent="-228600">
              <a:lnSpc>
                <a:spcPts val="2810"/>
              </a:lnSpc>
              <a:spcBef>
                <a:spcPts val="530"/>
              </a:spcBef>
              <a:buFont typeface="Wingdings"/>
              <a:buChar char=""/>
              <a:tabLst>
                <a:tab pos="699135" algn="l"/>
              </a:tabLst>
            </a:pPr>
            <a:r>
              <a:rPr sz="2600" dirty="0">
                <a:latin typeface="Calibri"/>
                <a:cs typeface="Calibri"/>
              </a:rPr>
              <a:t>Um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grau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complexidade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(e.g.,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polinômio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grau)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relação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quantidade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amostras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apresenta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spc="-20" dirty="0">
                <a:latin typeface="Calibri"/>
                <a:cs typeface="Calibri"/>
              </a:rPr>
              <a:t>alta </a:t>
            </a:r>
            <a:r>
              <a:rPr sz="2600" b="1" i="1" dirty="0">
                <a:latin typeface="Calibri"/>
                <a:cs typeface="Calibri"/>
              </a:rPr>
              <a:t>variância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portanto,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sobreajusta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marR="193040" lvl="1" indent="-228600">
              <a:lnSpc>
                <a:spcPct val="90000"/>
              </a:lnSpc>
              <a:spcBef>
                <a:spcPts val="459"/>
              </a:spcBef>
              <a:buFont typeface="Wingdings"/>
              <a:buChar char=""/>
              <a:tabLst>
                <a:tab pos="699135" algn="l"/>
              </a:tabLst>
            </a:pPr>
            <a:r>
              <a:rPr sz="2600" dirty="0">
                <a:latin typeface="Calibri"/>
                <a:cs typeface="Calibri"/>
              </a:rPr>
              <a:t>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outras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palavras,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alta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variância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faz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aprenda</a:t>
            </a:r>
            <a:r>
              <a:rPr sz="2600" b="1" i="1" spc="-50" dirty="0">
                <a:latin typeface="Calibri"/>
                <a:cs typeface="Calibri"/>
              </a:rPr>
              <a:t> o </a:t>
            </a:r>
            <a:r>
              <a:rPr sz="2600" b="1" i="1" dirty="0">
                <a:latin typeface="Calibri"/>
                <a:cs typeface="Calibri"/>
              </a:rPr>
              <a:t>ruído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presente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treinamento,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resultando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baixo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 </a:t>
            </a:r>
            <a:r>
              <a:rPr sz="2600" b="1" i="1" dirty="0">
                <a:latin typeface="Calibri"/>
                <a:cs typeface="Calibri"/>
              </a:rPr>
              <a:t>treinamento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alto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validação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Erros</a:t>
            </a:r>
            <a:r>
              <a:rPr spc="-90" dirty="0"/>
              <a:t> </a:t>
            </a:r>
            <a:r>
              <a:rPr dirty="0"/>
              <a:t>envolvidos</a:t>
            </a:r>
            <a:r>
              <a:rPr spc="-55" dirty="0"/>
              <a:t> </a:t>
            </a:r>
            <a:r>
              <a:rPr dirty="0"/>
              <a:t>no</a:t>
            </a:r>
            <a:r>
              <a:rPr spc="-60" dirty="0"/>
              <a:t> </a:t>
            </a:r>
            <a:r>
              <a:rPr dirty="0"/>
              <a:t>processo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10" dirty="0"/>
              <a:t>aproximação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1101070" cy="50184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238125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Erro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viés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(em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inglês,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bias)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erro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devido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suposições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erradas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feitas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sobre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os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dados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sobre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gerador.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320"/>
              </a:spcBef>
              <a:buFont typeface="Wingdings"/>
              <a:buChar char=""/>
              <a:tabLst>
                <a:tab pos="699135" algn="l"/>
              </a:tabLst>
            </a:pPr>
            <a:r>
              <a:rPr sz="2600" spc="-25" dirty="0">
                <a:latin typeface="Calibri"/>
                <a:cs typeface="Calibri"/>
              </a:rPr>
              <a:t>Também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conhecido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representação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aproximação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699135" algn="l"/>
              </a:tabLst>
            </a:pPr>
            <a:r>
              <a:rPr sz="2600" dirty="0">
                <a:latin typeface="Calibri"/>
                <a:cs typeface="Calibri"/>
              </a:rPr>
              <a:t>Depende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nível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complexidade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modelo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aproximação.</a:t>
            </a:r>
            <a:endParaRPr sz="2600" dirty="0">
              <a:latin typeface="Calibri"/>
              <a:cs typeface="Calibri"/>
            </a:endParaRPr>
          </a:p>
          <a:p>
            <a:pPr marL="1155700" lvl="2" indent="-229235">
              <a:lnSpc>
                <a:spcPts val="2510"/>
              </a:lnSpc>
              <a:spcBef>
                <a:spcPts val="270"/>
              </a:spcBef>
              <a:buFont typeface="Courier New"/>
              <a:buChar char="o"/>
              <a:tabLst>
                <a:tab pos="1156335" algn="l"/>
              </a:tabLst>
            </a:pPr>
            <a:r>
              <a:rPr sz="2200" dirty="0">
                <a:latin typeface="Calibri"/>
                <a:cs typeface="Calibri"/>
              </a:rPr>
              <a:t>Um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baixa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complexidade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provavelmente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não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irá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capturar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o</a:t>
            </a:r>
            <a:endParaRPr sz="2200" dirty="0">
              <a:latin typeface="Calibri"/>
              <a:cs typeface="Calibri"/>
            </a:endParaRPr>
          </a:p>
          <a:p>
            <a:pPr marL="1155700">
              <a:lnSpc>
                <a:spcPts val="2510"/>
              </a:lnSpc>
            </a:pPr>
            <a:r>
              <a:rPr sz="2200" spc="-10" dirty="0">
                <a:latin typeface="Calibri"/>
                <a:cs typeface="Calibri"/>
              </a:rPr>
              <a:t>comportamento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gerador.</a:t>
            </a:r>
            <a:endParaRPr sz="2200" dirty="0">
              <a:latin typeface="Calibri"/>
              <a:cs typeface="Calibri"/>
            </a:endParaRPr>
          </a:p>
          <a:p>
            <a:pPr marL="698500" marR="542925" lvl="1" indent="-228600">
              <a:lnSpc>
                <a:spcPts val="2810"/>
              </a:lnSpc>
              <a:spcBef>
                <a:spcPts val="515"/>
              </a:spcBef>
              <a:buFont typeface="Wingdings"/>
              <a:buChar char=""/>
              <a:tabLst>
                <a:tab pos="699135" algn="l"/>
              </a:tabLst>
            </a:pPr>
            <a:r>
              <a:rPr sz="2600" dirty="0">
                <a:latin typeface="Calibri"/>
                <a:cs typeface="Calibri"/>
              </a:rPr>
              <a:t>Modelos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alto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viés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tendem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subajustar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treinamento, </a:t>
            </a:r>
            <a:r>
              <a:rPr sz="2600" dirty="0">
                <a:latin typeface="Calibri"/>
                <a:cs typeface="Calibri"/>
              </a:rPr>
              <a:t>perdendo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relações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importantes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valores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esperados.</a:t>
            </a:r>
            <a:endParaRPr sz="2600" dirty="0">
              <a:latin typeface="Calibri"/>
              <a:cs typeface="Calibri"/>
            </a:endParaRPr>
          </a:p>
          <a:p>
            <a:pPr marL="698500" marR="1018540" lvl="1" indent="-228600">
              <a:lnSpc>
                <a:spcPts val="2810"/>
              </a:lnSpc>
              <a:spcBef>
                <a:spcPts val="490"/>
              </a:spcBef>
              <a:buFont typeface="Wingdings"/>
              <a:buChar char=""/>
              <a:tabLst>
                <a:tab pos="699135" algn="l"/>
              </a:tabLst>
            </a:pPr>
            <a:r>
              <a:rPr sz="2600" dirty="0">
                <a:latin typeface="Calibri"/>
                <a:cs typeface="Calibri"/>
              </a:rPr>
              <a:t>Ou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alto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valor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viés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leva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altos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tanto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treinamento </a:t>
            </a:r>
            <a:r>
              <a:rPr sz="2600" b="1" i="1" dirty="0">
                <a:latin typeface="Calibri"/>
                <a:cs typeface="Calibri"/>
              </a:rPr>
              <a:t>quanto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validação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marR="989330" lvl="1" indent="-228600">
              <a:lnSpc>
                <a:spcPts val="3020"/>
              </a:lnSpc>
              <a:spcBef>
                <a:spcPts val="484"/>
              </a:spcBef>
              <a:buFont typeface="Wingdings"/>
              <a:buChar char=""/>
              <a:tabLst>
                <a:tab pos="699135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palavras,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modelo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é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muito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simples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relação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variáveis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saída.</a:t>
            </a:r>
            <a:endParaRPr sz="28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345"/>
              </a:spcBef>
            </a:pP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400" u="sng" spc="-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variancia_e_vies.ipynb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Erros</a:t>
            </a:r>
            <a:r>
              <a:rPr spc="-90" dirty="0"/>
              <a:t> </a:t>
            </a:r>
            <a:r>
              <a:rPr dirty="0"/>
              <a:t>envolvidos</a:t>
            </a:r>
            <a:r>
              <a:rPr spc="-55" dirty="0"/>
              <a:t> </a:t>
            </a:r>
            <a:r>
              <a:rPr dirty="0"/>
              <a:t>no</a:t>
            </a:r>
            <a:r>
              <a:rPr spc="-60" dirty="0"/>
              <a:t> </a:t>
            </a:r>
            <a:r>
              <a:rPr dirty="0"/>
              <a:t>processo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10" dirty="0"/>
              <a:t>aproximação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655935" cy="404685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126364" indent="-228600" algn="just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Erro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computação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decorrente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nem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sempre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EC7C30"/>
                </a:solidFill>
                <a:latin typeface="Calibri"/>
                <a:cs typeface="Calibri"/>
              </a:rPr>
              <a:t>é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possível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explorar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devidamente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o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espaço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9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hipóteses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165"/>
              </a:spcBef>
              <a:buFont typeface="Wingdings"/>
              <a:buChar char=""/>
              <a:tabLst>
                <a:tab pos="699135" algn="l"/>
              </a:tabLst>
            </a:pPr>
            <a:r>
              <a:rPr sz="2600" spc="-25" dirty="0">
                <a:latin typeface="Calibri"/>
                <a:cs typeface="Calibri"/>
              </a:rPr>
              <a:t>Também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conhecido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erro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de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otimização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marR="5080" lvl="1" indent="-228600" algn="just">
              <a:lnSpc>
                <a:spcPct val="90000"/>
              </a:lnSpc>
              <a:spcBef>
                <a:spcPts val="490"/>
              </a:spcBef>
              <a:buFont typeface="Wingdings"/>
              <a:buChar char=""/>
              <a:tabLst>
                <a:tab pos="699135" algn="l"/>
              </a:tabLst>
            </a:pP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Motivos</a:t>
            </a:r>
            <a:r>
              <a:rPr sz="2600" b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possíveis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mínimos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locais,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limitação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recursos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computacionais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busca/treinamento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representação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numérica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precisão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finita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int8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arredondamento).</a:t>
            </a:r>
            <a:endParaRPr sz="2600" dirty="0">
              <a:latin typeface="Calibri"/>
              <a:cs typeface="Calibri"/>
            </a:endParaRPr>
          </a:p>
          <a:p>
            <a:pPr marL="1155700" lvl="2" indent="-229235" algn="just">
              <a:lnSpc>
                <a:spcPct val="100000"/>
              </a:lnSpc>
              <a:spcBef>
                <a:spcPts val="270"/>
              </a:spcBef>
              <a:buFont typeface="Courier New"/>
              <a:buChar char="o"/>
              <a:tabLst>
                <a:tab pos="1156335" algn="l"/>
              </a:tabLst>
            </a:pPr>
            <a:r>
              <a:rPr sz="2200" dirty="0">
                <a:latin typeface="Calibri"/>
                <a:cs typeface="Calibri"/>
              </a:rPr>
              <a:t>Por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arredondamento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acumular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longo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tempo.</a:t>
            </a:r>
            <a:endParaRPr sz="2200" dirty="0">
              <a:latin typeface="Calibri"/>
              <a:cs typeface="Calibri"/>
            </a:endParaRPr>
          </a:p>
          <a:p>
            <a:pPr marL="241300" marR="216535" indent="-228600" algn="just">
              <a:lnSpc>
                <a:spcPts val="303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Erro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amostragem</a:t>
            </a:r>
            <a:r>
              <a:rPr sz="2800" spc="-20" dirty="0">
                <a:latin typeface="Calibri"/>
                <a:cs typeface="Calibri"/>
              </a:rPr>
              <a:t>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ocorre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conjunto</a:t>
            </a:r>
            <a:r>
              <a:rPr sz="28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treinamento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não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é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representativo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da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população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interesse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18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Leva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não</a:t>
            </a:r>
            <a:r>
              <a:rPr sz="2400" b="1" i="1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generaliza</a:t>
            </a:r>
            <a:r>
              <a:rPr sz="24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spc="-20" dirty="0">
                <a:solidFill>
                  <a:srgbClr val="EC7C30"/>
                </a:solidFill>
                <a:latin typeface="Calibri"/>
                <a:cs typeface="Calibri"/>
              </a:rPr>
              <a:t>bem</a:t>
            </a:r>
            <a:r>
              <a:rPr sz="2400" spc="-2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Erros</a:t>
            </a:r>
            <a:r>
              <a:rPr spc="-90" dirty="0"/>
              <a:t> </a:t>
            </a:r>
            <a:r>
              <a:rPr dirty="0"/>
              <a:t>envolvidos</a:t>
            </a:r>
            <a:r>
              <a:rPr spc="-55" dirty="0"/>
              <a:t> </a:t>
            </a:r>
            <a:r>
              <a:rPr dirty="0"/>
              <a:t>no</a:t>
            </a:r>
            <a:r>
              <a:rPr spc="-60" dirty="0"/>
              <a:t> </a:t>
            </a:r>
            <a:r>
              <a:rPr dirty="0"/>
              <a:t>processo</a:t>
            </a:r>
            <a:r>
              <a:rPr spc="-7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spc="-10" dirty="0"/>
              <a:t>aproximação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4612"/>
            <a:ext cx="10095230" cy="28143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Erro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irredutível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ruído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contido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dados.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600" spc="-25" dirty="0">
                <a:latin typeface="Calibri"/>
                <a:cs typeface="Calibri"/>
              </a:rPr>
              <a:t>Também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conhecido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Bayes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810"/>
              </a:lnSpc>
              <a:spcBef>
                <a:spcPts val="535"/>
              </a:spcBef>
              <a:buFont typeface="Wingdings"/>
              <a:buChar char=""/>
              <a:tabLst>
                <a:tab pos="699135" algn="l"/>
              </a:tabLst>
            </a:pP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próprio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nome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diz,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EC7C30"/>
                </a:solidFill>
                <a:latin typeface="Calibri"/>
                <a:cs typeface="Calibri"/>
              </a:rPr>
              <a:t>não</a:t>
            </a:r>
            <a:r>
              <a:rPr sz="2600" b="1" i="1" spc="-1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EC7C30"/>
                </a:solidFill>
                <a:latin typeface="Calibri"/>
                <a:cs typeface="Calibri"/>
              </a:rPr>
              <a:t>pode</a:t>
            </a:r>
            <a:r>
              <a:rPr sz="2600" b="1" i="1" spc="-2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EC7C30"/>
                </a:solidFill>
                <a:latin typeface="Calibri"/>
                <a:cs typeface="Calibri"/>
              </a:rPr>
              <a:t>ser</a:t>
            </a:r>
            <a:r>
              <a:rPr sz="2600" b="1" i="1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EC7C30"/>
                </a:solidFill>
                <a:latin typeface="Calibri"/>
                <a:cs typeface="Calibri"/>
              </a:rPr>
              <a:t>reduzido</a:t>
            </a:r>
            <a:r>
              <a:rPr sz="2600" b="1" i="1" spc="-1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mesmo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ideais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compromisso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variância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viés).</a:t>
            </a:r>
            <a:endParaRPr sz="2600" dirty="0">
              <a:latin typeface="Calibri"/>
              <a:cs typeface="Calibri"/>
            </a:endParaRPr>
          </a:p>
          <a:p>
            <a:pPr marL="698500" marR="197485" lvl="1" indent="-228600">
              <a:lnSpc>
                <a:spcPts val="2810"/>
              </a:lnSpc>
              <a:spcBef>
                <a:spcPts val="500"/>
              </a:spcBef>
              <a:buFont typeface="Wingdings"/>
              <a:buChar char=""/>
              <a:tabLst>
                <a:tab pos="699135" algn="l"/>
              </a:tabLst>
            </a:pPr>
            <a:r>
              <a:rPr sz="2600" dirty="0">
                <a:latin typeface="Calibri"/>
                <a:cs typeface="Calibri"/>
              </a:rPr>
              <a:t>Por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melhor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modelo,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geralmente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terão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certa </a:t>
            </a:r>
            <a:r>
              <a:rPr sz="2600" dirty="0">
                <a:latin typeface="Calibri"/>
                <a:cs typeface="Calibri"/>
              </a:rPr>
              <a:t>quantidade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ruído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removida.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50909" y="6357010"/>
            <a:ext cx="352488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polynomial_regression_mse_big_data_set.ipynb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bias_variance_tradeoff.ipynb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0517" y="2395473"/>
            <a:ext cx="8488680" cy="167195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757805" marR="5080" indent="-2745105">
              <a:lnSpc>
                <a:spcPts val="5760"/>
              </a:lnSpc>
              <a:spcBef>
                <a:spcPts val="1490"/>
              </a:spcBef>
            </a:pPr>
            <a:r>
              <a:rPr sz="6000" b="0" i="1" dirty="0">
                <a:latin typeface="Calibri"/>
                <a:cs typeface="Calibri"/>
              </a:rPr>
              <a:t>Como</a:t>
            </a:r>
            <a:r>
              <a:rPr sz="6000" b="0" i="1" spc="-45" dirty="0">
                <a:latin typeface="Calibri"/>
                <a:cs typeface="Calibri"/>
              </a:rPr>
              <a:t> </a:t>
            </a:r>
            <a:r>
              <a:rPr sz="6000" b="0" i="1" dirty="0">
                <a:latin typeface="Calibri"/>
                <a:cs typeface="Calibri"/>
              </a:rPr>
              <a:t>escolhemos</a:t>
            </a:r>
            <a:r>
              <a:rPr sz="6000" b="0" i="1" spc="-35" dirty="0">
                <a:latin typeface="Calibri"/>
                <a:cs typeface="Calibri"/>
              </a:rPr>
              <a:t> </a:t>
            </a:r>
            <a:r>
              <a:rPr sz="6000" b="0" i="1" dirty="0">
                <a:latin typeface="Calibri"/>
                <a:cs typeface="Calibri"/>
              </a:rPr>
              <a:t>a</a:t>
            </a:r>
            <a:r>
              <a:rPr sz="6000" b="0" i="1" spc="-30" dirty="0">
                <a:latin typeface="Calibri"/>
                <a:cs typeface="Calibri"/>
              </a:rPr>
              <a:t> </a:t>
            </a:r>
            <a:r>
              <a:rPr sz="6000" b="0" i="1" spc="-10" dirty="0">
                <a:latin typeface="Calibri"/>
                <a:cs typeface="Calibri"/>
              </a:rPr>
              <a:t>melhor hipótese?</a:t>
            </a:r>
            <a:endParaRPr sz="6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Validação</a:t>
            </a:r>
            <a:r>
              <a:rPr spc="-240" dirty="0"/>
              <a:t> </a:t>
            </a:r>
            <a:r>
              <a:rPr spc="-10" dirty="0"/>
              <a:t>cruzada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974070" cy="41636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83756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A</a:t>
            </a:r>
            <a:r>
              <a:rPr sz="2800" spc="-8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validação</a:t>
            </a:r>
            <a:r>
              <a:rPr sz="2800" spc="-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cruzada</a:t>
            </a:r>
            <a:r>
              <a:rPr sz="2800" spc="-5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é</a:t>
            </a:r>
            <a:r>
              <a:rPr sz="2800" spc="-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uma</a:t>
            </a:r>
            <a:r>
              <a:rPr sz="2800" spc="-6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técnica</a:t>
            </a:r>
            <a:r>
              <a:rPr sz="2800" spc="-8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utilizada</a:t>
            </a:r>
            <a:r>
              <a:rPr sz="2800" spc="-5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E0E0E"/>
                </a:solidFill>
                <a:latin typeface="Calibri"/>
                <a:cs typeface="Calibri"/>
              </a:rPr>
              <a:t>para</a:t>
            </a:r>
            <a:r>
              <a:rPr sz="2800" spc="-14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avaliar quantitativamente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desempenho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de</a:t>
            </a:r>
            <a:r>
              <a:rPr sz="2800" spc="-6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um</a:t>
            </a:r>
            <a:r>
              <a:rPr sz="2800" spc="-4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modelo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e</a:t>
            </a:r>
            <a:r>
              <a:rPr sz="2800" spc="-6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garantir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ele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generalize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bem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dados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inéditos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,</a:t>
            </a:r>
            <a:r>
              <a:rPr sz="2800" spc="-8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evitando</a:t>
            </a:r>
            <a:r>
              <a:rPr sz="2800" spc="-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assim</a:t>
            </a:r>
            <a:r>
              <a:rPr sz="2800" spc="-8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problemas</a:t>
            </a:r>
            <a:r>
              <a:rPr sz="2800" spc="-6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E0E0E"/>
                </a:solidFill>
                <a:latin typeface="Calibri"/>
                <a:cs typeface="Calibri"/>
              </a:rPr>
              <a:t>de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subajuste</a:t>
            </a:r>
            <a:r>
              <a:rPr sz="280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ou</a:t>
            </a:r>
            <a:r>
              <a:rPr sz="2800" spc="-9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sobreajuste.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O</a:t>
            </a:r>
            <a:r>
              <a:rPr sz="2800" spc="-8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processo</a:t>
            </a:r>
            <a:r>
              <a:rPr sz="2800" spc="-4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de</a:t>
            </a:r>
            <a:r>
              <a:rPr sz="2800" spc="-8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validação</a:t>
            </a:r>
            <a:r>
              <a:rPr sz="2800" spc="-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cruzada</a:t>
            </a:r>
            <a:r>
              <a:rPr sz="2800" spc="-6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E0E0E"/>
                </a:solidFill>
                <a:latin typeface="Calibri"/>
                <a:cs typeface="Calibri"/>
              </a:rPr>
              <a:t>envolve</a:t>
            </a:r>
            <a:r>
              <a:rPr sz="2800" spc="-13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dividir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conjunto</a:t>
            </a:r>
            <a:r>
              <a:rPr sz="2800" b="1" i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total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dados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em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subconjuntos</a:t>
            </a:r>
            <a:r>
              <a:rPr sz="28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e</a:t>
            </a:r>
            <a:r>
              <a:rPr sz="2800" spc="-8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realizar</a:t>
            </a:r>
            <a:r>
              <a:rPr sz="2800" spc="-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rodadas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treinamento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validação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E0E0E"/>
                </a:solidFill>
                <a:latin typeface="Calibri"/>
                <a:cs typeface="Calibri"/>
              </a:rPr>
              <a:t>do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modelo</a:t>
            </a:r>
            <a:r>
              <a:rPr sz="2800" spc="-9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com</a:t>
            </a:r>
            <a:r>
              <a:rPr sz="2800" spc="-10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diferentes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combinações</a:t>
            </a:r>
            <a:r>
              <a:rPr sz="28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desses</a:t>
            </a:r>
            <a:r>
              <a:rPr sz="28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subconjuntos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24130" indent="-228600">
              <a:lnSpc>
                <a:spcPct val="9000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A</a:t>
            </a:r>
            <a:r>
              <a:rPr sz="2800" spc="-8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validação</a:t>
            </a:r>
            <a:r>
              <a:rPr sz="2800" spc="-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cruzada</a:t>
            </a:r>
            <a:r>
              <a:rPr sz="280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é</a:t>
            </a:r>
            <a:r>
              <a:rPr sz="2800" spc="-8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uma</a:t>
            </a:r>
            <a:r>
              <a:rPr sz="2800" spc="-6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E0E0E"/>
                </a:solidFill>
                <a:latin typeface="Calibri"/>
                <a:cs typeface="Calibri"/>
              </a:rPr>
              <a:t>ferramenta</a:t>
            </a:r>
            <a:r>
              <a:rPr sz="2800" spc="-8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importante</a:t>
            </a:r>
            <a:r>
              <a:rPr sz="2800" spc="-6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E0E0E"/>
                </a:solidFill>
                <a:latin typeface="Calibri"/>
                <a:cs typeface="Calibri"/>
              </a:rPr>
              <a:t>para</a:t>
            </a:r>
            <a:r>
              <a:rPr sz="2800" spc="-14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comparar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006FC0"/>
                </a:solidFill>
                <a:latin typeface="Calibri"/>
                <a:cs typeface="Calibri"/>
              </a:rPr>
              <a:t>e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selecionar</a:t>
            </a:r>
            <a:r>
              <a:rPr sz="2800" b="1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modelos</a:t>
            </a:r>
            <a:r>
              <a:rPr sz="2800" b="1" i="1" spc="-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e</a:t>
            </a:r>
            <a:r>
              <a:rPr sz="2800" spc="-9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para</a:t>
            </a:r>
            <a:r>
              <a:rPr sz="2800" spc="-8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ajustar</a:t>
            </a:r>
            <a:r>
              <a:rPr sz="2800" b="1" i="1" spc="-1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hiperparâmetros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como,</a:t>
            </a:r>
            <a:r>
              <a:rPr sz="2800" spc="-8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por</a:t>
            </a:r>
            <a:r>
              <a:rPr sz="2800" spc="-9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E0E0E"/>
                </a:solidFill>
                <a:latin typeface="Calibri"/>
                <a:cs typeface="Calibri"/>
              </a:rPr>
              <a:t>exemplo,</a:t>
            </a:r>
            <a:r>
              <a:rPr sz="2800" spc="-8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0E0E0E"/>
                </a:solidFill>
                <a:latin typeface="Calibri"/>
                <a:cs typeface="Calibri"/>
              </a:rPr>
              <a:t>o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passo</a:t>
            </a:r>
            <a:r>
              <a:rPr sz="2800" b="1" i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aprendizagem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,</a:t>
            </a:r>
            <a:r>
              <a:rPr sz="2800" spc="-6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o</a:t>
            </a:r>
            <a:r>
              <a:rPr sz="280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grau</a:t>
            </a:r>
            <a:r>
              <a:rPr sz="2800" b="1" i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do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polinômio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da</a:t>
            </a:r>
            <a:r>
              <a:rPr sz="2800" spc="-6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função</a:t>
            </a:r>
            <a:r>
              <a:rPr sz="2800" spc="-6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hipótese,</a:t>
            </a:r>
            <a:r>
              <a:rPr sz="2800" spc="-6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E0E0E"/>
                </a:solidFill>
                <a:latin typeface="Calibri"/>
                <a:cs typeface="Calibri"/>
              </a:rPr>
              <a:t>etc.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Validação</a:t>
            </a:r>
            <a:r>
              <a:rPr spc="-240" dirty="0"/>
              <a:t> </a:t>
            </a:r>
            <a:r>
              <a:rPr spc="-10" dirty="0"/>
              <a:t>cruzada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968990" cy="4860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objetivo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validação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cruzada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ponto</a:t>
            </a:r>
            <a:r>
              <a:rPr sz="2800" b="1" i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equilíbrio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flexibilidade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capacidade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generalização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modelo.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modelo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equilibrado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34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Flexível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suficiente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ajustar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comportamento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geral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dados.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Capaz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predizer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próximas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esperadas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usados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durante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seu</a:t>
            </a:r>
            <a:r>
              <a:rPr sz="2400" spc="-10" dirty="0">
                <a:latin typeface="Calibri"/>
                <a:cs typeface="Calibri"/>
              </a:rPr>
              <a:t> treinamento.</a:t>
            </a:r>
            <a:endParaRPr sz="2400" dirty="0">
              <a:latin typeface="Calibri"/>
              <a:cs typeface="Calibri"/>
            </a:endParaRPr>
          </a:p>
          <a:p>
            <a:pPr marL="241300" marR="38735" indent="-228600" algn="just">
              <a:lnSpc>
                <a:spcPct val="9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flexibilidade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estimada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capacidade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generalização</a:t>
            </a:r>
            <a:r>
              <a:rPr sz="28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estimada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validação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teste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753745" lvl="1" indent="-228600" algn="just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Erro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treinamento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usados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treinamento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do </a:t>
            </a:r>
            <a:r>
              <a:rPr sz="2400" spc="-10" dirty="0">
                <a:latin typeface="Calibri"/>
                <a:cs typeface="Calibri"/>
              </a:rPr>
              <a:t>modelo.</a:t>
            </a:r>
            <a:endParaRPr sz="2400" dirty="0">
              <a:latin typeface="Calibri"/>
              <a:cs typeface="Calibri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18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Erro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validação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inéditos.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Validação</a:t>
            </a:r>
            <a:r>
              <a:rPr spc="-240" dirty="0"/>
              <a:t> </a:t>
            </a:r>
            <a:r>
              <a:rPr spc="-10" dirty="0"/>
              <a:t>cruzada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942320" cy="384365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9461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queremos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validação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cruzada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encontrar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grau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ideal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hipótese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polinomial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comportamento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destes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dois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erros </a:t>
            </a:r>
            <a:r>
              <a:rPr sz="2800" dirty="0">
                <a:latin typeface="Calibri"/>
                <a:cs typeface="Calibri"/>
              </a:rPr>
              <a:t>vai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ajudar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verificar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quais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graus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fazem</a:t>
            </a:r>
            <a:r>
              <a:rPr sz="2800" b="1" i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o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modelo</a:t>
            </a:r>
            <a:r>
              <a:rPr sz="2800" b="1" i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se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ajustar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demais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ou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insuficientemente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estratégias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validação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cruzada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utilizadas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veremos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seguir </a:t>
            </a:r>
            <a:r>
              <a:rPr sz="2800" spc="-20" dirty="0">
                <a:latin typeface="Calibri"/>
                <a:cs typeface="Calibri"/>
              </a:rPr>
              <a:t>são: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699135" algn="l"/>
              </a:tabLst>
            </a:pPr>
            <a:r>
              <a:rPr sz="2800" i="1" spc="-10" dirty="0">
                <a:latin typeface="Calibri"/>
                <a:cs typeface="Calibri"/>
              </a:rPr>
              <a:t>Holdout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80"/>
              </a:spcBef>
              <a:buFont typeface="Wingdings"/>
              <a:buChar char=""/>
              <a:tabLst>
                <a:tab pos="699135" algn="l"/>
              </a:tabLst>
            </a:pPr>
            <a:r>
              <a:rPr sz="2800" dirty="0">
                <a:latin typeface="Cambria Math"/>
                <a:cs typeface="Cambria Math"/>
              </a:rPr>
              <a:t>𝑘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i="1" spc="-20" dirty="0">
                <a:latin typeface="Calibri"/>
                <a:cs typeface="Calibri"/>
              </a:rPr>
              <a:t>fold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60"/>
              </a:spcBef>
              <a:buFont typeface="Wingdings"/>
              <a:buChar char=""/>
              <a:tabLst>
                <a:tab pos="699135" algn="l"/>
              </a:tabLst>
            </a:pPr>
            <a:r>
              <a:rPr sz="2800" i="1" spc="-25" dirty="0">
                <a:latin typeface="Calibri"/>
                <a:cs typeface="Calibri"/>
              </a:rPr>
              <a:t>Leave-</a:t>
            </a:r>
            <a:r>
              <a:rPr sz="2800" i="1" spc="-20" dirty="0">
                <a:latin typeface="Calibri"/>
                <a:cs typeface="Calibri"/>
              </a:rPr>
              <a:t>p-</a:t>
            </a:r>
            <a:r>
              <a:rPr sz="2800" i="1" spc="-25" dirty="0">
                <a:latin typeface="Calibri"/>
                <a:cs typeface="Calibri"/>
              </a:rPr>
              <a:t>out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Holdout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67043" y="1793493"/>
            <a:ext cx="5258435" cy="365315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estratégia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validação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cruzada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mais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simples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rápida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ela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divide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total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dados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apenas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dois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subconjuntos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validação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teste)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modelo.</a:t>
            </a:r>
            <a:endParaRPr sz="2800" dirty="0">
              <a:latin typeface="Calibri"/>
              <a:cs typeface="Calibri"/>
            </a:endParaRPr>
          </a:p>
          <a:p>
            <a:pPr marL="241300" marR="478155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Consequentemente,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realiza-</a:t>
            </a:r>
            <a:r>
              <a:rPr sz="2800" spc="-25" dirty="0">
                <a:latin typeface="Calibri"/>
                <a:cs typeface="Calibri"/>
              </a:rPr>
              <a:t>se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apenas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um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uma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validação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772" y="2871063"/>
            <a:ext cx="5095727" cy="156833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Holdout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8056" y="1793493"/>
            <a:ext cx="5120005" cy="326897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431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geral,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opcional,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total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embaralhado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forma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aleatória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antes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divisão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Normalmente,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divide-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total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70</a:t>
            </a:r>
            <a:r>
              <a:rPr sz="2800" spc="-50" dirty="0">
                <a:latin typeface="Calibri"/>
                <a:cs typeface="Calibri"/>
              </a:rPr>
              <a:t> a </a:t>
            </a:r>
            <a:r>
              <a:rPr sz="2800" dirty="0">
                <a:latin typeface="Calibri"/>
                <a:cs typeface="Calibri"/>
              </a:rPr>
              <a:t>80%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30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20%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validação.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905" y="2737078"/>
            <a:ext cx="5095715" cy="156833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Holdout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13019" y="1793493"/>
            <a:ext cx="6371590" cy="36607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13716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solidFill>
                  <a:srgbClr val="0E0E0E"/>
                </a:solidFill>
                <a:latin typeface="Calibri"/>
                <a:cs typeface="Calibri"/>
              </a:rPr>
              <a:t>Entretanto,</a:t>
            </a:r>
            <a:r>
              <a:rPr sz="2800" spc="-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o</a:t>
            </a:r>
            <a:r>
              <a:rPr sz="2800" spc="-6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modelo</a:t>
            </a:r>
            <a:r>
              <a:rPr sz="2800" spc="-6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treinado</a:t>
            </a:r>
            <a:r>
              <a:rPr sz="2800" spc="-6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e</a:t>
            </a:r>
            <a:r>
              <a:rPr sz="2800" spc="-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validado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com</a:t>
            </a:r>
            <a:r>
              <a:rPr sz="2800" spc="-8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esta</a:t>
            </a:r>
            <a:r>
              <a:rPr sz="2800" spc="-9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E0E0E"/>
                </a:solidFill>
                <a:latin typeface="Calibri"/>
                <a:cs typeface="Calibri"/>
              </a:rPr>
              <a:t>estratégia</a:t>
            </a:r>
            <a:r>
              <a:rPr sz="2800" spc="-9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pode</a:t>
            </a:r>
            <a:r>
              <a:rPr sz="280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apresentar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desempenho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ruim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divisão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dos</a:t>
            </a:r>
            <a:r>
              <a:rPr sz="2800" spc="-6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dados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for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representativa</a:t>
            </a:r>
            <a:r>
              <a:rPr sz="2800" b="1" i="1" spc="-3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padrão presente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nos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dados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solidFill>
                  <a:srgbClr val="0E0E0E"/>
                </a:solidFill>
                <a:latin typeface="Calibri"/>
                <a:cs typeface="Calibri"/>
              </a:rPr>
              <a:t>Problema</a:t>
            </a:r>
            <a:r>
              <a:rPr sz="2400" spc="-4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E0E0E"/>
                </a:solidFill>
                <a:latin typeface="Calibri"/>
                <a:cs typeface="Calibri"/>
              </a:rPr>
              <a:t>conhecido</a:t>
            </a:r>
            <a:r>
              <a:rPr sz="2400" spc="-3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E0E0E"/>
                </a:solidFill>
                <a:latin typeface="Calibri"/>
                <a:cs typeface="Calibri"/>
              </a:rPr>
              <a:t>como</a:t>
            </a:r>
            <a:r>
              <a:rPr sz="2400" spc="-4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viés</a:t>
            </a:r>
            <a:r>
              <a:rPr sz="24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4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libri"/>
                <a:cs typeface="Calibri"/>
              </a:rPr>
              <a:t>seleção</a:t>
            </a:r>
            <a:r>
              <a:rPr sz="2400" spc="-10" dirty="0">
                <a:solidFill>
                  <a:srgbClr val="0E0E0E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desempenho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muito </a:t>
            </a:r>
            <a:r>
              <a:rPr sz="2800" spc="-25" dirty="0">
                <a:latin typeface="Calibri"/>
                <a:cs typeface="Calibri"/>
              </a:rPr>
              <a:t>diferente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dependendo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dos </a:t>
            </a:r>
            <a:r>
              <a:rPr sz="2800" spc="-10" dirty="0">
                <a:latin typeface="Calibri"/>
                <a:cs typeface="Calibri"/>
              </a:rPr>
              <a:t>dados.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4555" y="2269628"/>
            <a:ext cx="4455160" cy="3410585"/>
            <a:chOff x="514555" y="2269628"/>
            <a:chExt cx="4455160" cy="34105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555" y="2269628"/>
              <a:ext cx="4454770" cy="341025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987799" y="2331592"/>
              <a:ext cx="854075" cy="1784985"/>
            </a:xfrm>
            <a:custGeom>
              <a:avLst/>
              <a:gdLst/>
              <a:ahLst/>
              <a:cxnLst/>
              <a:rect l="l" t="t" r="r" b="b"/>
              <a:pathLst>
                <a:path w="854075" h="1784985">
                  <a:moveTo>
                    <a:pt x="0" y="1784730"/>
                  </a:moveTo>
                  <a:lnTo>
                    <a:pt x="853452" y="1784730"/>
                  </a:lnTo>
                  <a:lnTo>
                    <a:pt x="853452" y="0"/>
                  </a:lnTo>
                  <a:lnTo>
                    <a:pt x="0" y="0"/>
                  </a:lnTo>
                  <a:lnTo>
                    <a:pt x="0" y="1784730"/>
                  </a:lnTo>
                  <a:close/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44752" y="3164204"/>
            <a:ext cx="2880360" cy="208597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937260">
              <a:lnSpc>
                <a:spcPct val="100000"/>
              </a:lnSpc>
              <a:spcBef>
                <a:spcPts val="465"/>
              </a:spcBef>
            </a:pPr>
            <a:r>
              <a:rPr sz="1400" b="1" spc="-10" dirty="0">
                <a:latin typeface="Calibri"/>
                <a:cs typeface="Calibri"/>
              </a:rPr>
              <a:t>Treinamento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41140" y="4138040"/>
            <a:ext cx="7397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Validação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Holdout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02884" y="1793493"/>
            <a:ext cx="5646420" cy="28848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13906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Além</a:t>
            </a:r>
            <a:r>
              <a:rPr sz="2800" spc="-9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disso,</a:t>
            </a:r>
            <a:r>
              <a:rPr sz="280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apenas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uma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rodada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treinamento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validação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pode</a:t>
            </a:r>
            <a:r>
              <a:rPr sz="280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não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fornecer</a:t>
            </a:r>
            <a:r>
              <a:rPr sz="2800" b="1" i="1" spc="-11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uma</a:t>
            </a:r>
            <a:r>
              <a:rPr sz="2800" spc="-114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estimativa</a:t>
            </a:r>
            <a:r>
              <a:rPr sz="2800" b="1" i="1" spc="-10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1F5F"/>
                </a:solidFill>
                <a:latin typeface="Calibri"/>
                <a:cs typeface="Calibri"/>
              </a:rPr>
              <a:t>robusta</a:t>
            </a:r>
            <a:r>
              <a:rPr sz="2800" b="1" i="1" spc="-1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1F5F"/>
                </a:solidFill>
                <a:latin typeface="Calibri"/>
                <a:cs typeface="Calibri"/>
              </a:rPr>
              <a:t>do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desempenho</a:t>
            </a:r>
            <a:r>
              <a:rPr sz="2800" b="1" i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do</a:t>
            </a:r>
            <a:r>
              <a:rPr sz="2800" spc="-9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modelo.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Em</a:t>
            </a:r>
            <a:r>
              <a:rPr sz="2800" spc="-8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geral,</a:t>
            </a:r>
            <a:r>
              <a:rPr sz="280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E0E0E"/>
                </a:solidFill>
                <a:latin typeface="Calibri"/>
                <a:cs typeface="Calibri"/>
              </a:rPr>
              <a:t>usa-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se</a:t>
            </a:r>
            <a:r>
              <a:rPr sz="2800" spc="-5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o</a:t>
            </a:r>
            <a:r>
              <a:rPr sz="280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E0E0E"/>
                </a:solidFill>
                <a:latin typeface="Calibri"/>
                <a:cs typeface="Calibri"/>
              </a:rPr>
              <a:t>holdout</a:t>
            </a:r>
            <a:r>
              <a:rPr sz="2800" i="1" spc="-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quando</a:t>
            </a:r>
            <a:r>
              <a:rPr sz="2800" spc="-3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0E0E0E"/>
                </a:solidFill>
                <a:latin typeface="Calibri"/>
                <a:cs typeface="Calibri"/>
              </a:rPr>
              <a:t>o </a:t>
            </a:r>
            <a:r>
              <a:rPr sz="2800" b="1" i="1" spc="-10" dirty="0">
                <a:solidFill>
                  <a:srgbClr val="001F5F"/>
                </a:solidFill>
                <a:latin typeface="Calibri"/>
                <a:cs typeface="Calibri"/>
              </a:rPr>
              <a:t>conjunto</a:t>
            </a:r>
            <a:r>
              <a:rPr sz="2800" b="1" i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dados</a:t>
            </a:r>
            <a:r>
              <a:rPr sz="2800" b="1" i="1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é</a:t>
            </a:r>
            <a:r>
              <a:rPr sz="2800" b="1" i="1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muito</a:t>
            </a:r>
            <a:r>
              <a:rPr sz="2800" b="1" i="1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grande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,</a:t>
            </a:r>
            <a:r>
              <a:rPr sz="2800" spc="-6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0E0E0E"/>
                </a:solidFill>
                <a:latin typeface="Calibri"/>
                <a:cs typeface="Calibri"/>
              </a:rPr>
              <a:t>o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que</a:t>
            </a:r>
            <a:r>
              <a:rPr sz="2800" spc="-9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minimiza</a:t>
            </a:r>
            <a:r>
              <a:rPr sz="2800" b="1" i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estes</a:t>
            </a:r>
            <a:r>
              <a:rPr sz="2800" b="1" i="1" spc="-9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1F5F"/>
                </a:solidFill>
                <a:latin typeface="Calibri"/>
                <a:cs typeface="Calibri"/>
              </a:rPr>
              <a:t>problemas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3884" y="2359938"/>
            <a:ext cx="4455160" cy="3410585"/>
            <a:chOff x="683884" y="2359938"/>
            <a:chExt cx="4455160" cy="34105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884" y="2359938"/>
              <a:ext cx="4454770" cy="341025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57218" y="2421890"/>
              <a:ext cx="854075" cy="1784985"/>
            </a:xfrm>
            <a:custGeom>
              <a:avLst/>
              <a:gdLst/>
              <a:ahLst/>
              <a:cxnLst/>
              <a:rect l="l" t="t" r="r" b="b"/>
              <a:pathLst>
                <a:path w="854075" h="1784985">
                  <a:moveTo>
                    <a:pt x="0" y="1784731"/>
                  </a:moveTo>
                  <a:lnTo>
                    <a:pt x="853452" y="1784731"/>
                  </a:lnTo>
                  <a:lnTo>
                    <a:pt x="853452" y="0"/>
                  </a:lnTo>
                  <a:lnTo>
                    <a:pt x="0" y="0"/>
                  </a:lnTo>
                  <a:lnTo>
                    <a:pt x="0" y="1784731"/>
                  </a:lnTo>
                  <a:close/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14081" y="3254502"/>
            <a:ext cx="2880360" cy="2085975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937260">
              <a:lnSpc>
                <a:spcPct val="100000"/>
              </a:lnSpc>
              <a:spcBef>
                <a:spcPts val="465"/>
              </a:spcBef>
            </a:pPr>
            <a:r>
              <a:rPr sz="1400" b="1" spc="-10" dirty="0">
                <a:latin typeface="Calibri"/>
                <a:cs typeface="Calibri"/>
              </a:rPr>
              <a:t>Treinamento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0558" y="4228591"/>
            <a:ext cx="7397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Validação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6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55" dirty="0">
                <a:solidFill>
                  <a:srgbClr val="0E0E0E"/>
                </a:solidFill>
                <a:latin typeface="Cambria Math"/>
                <a:cs typeface="Cambria Math"/>
              </a:rPr>
              <a:t>𝑘</a:t>
            </a:r>
            <a:r>
              <a:rPr spc="55" dirty="0"/>
              <a:t>-</a:t>
            </a:r>
            <a:r>
              <a:rPr spc="-20" dirty="0"/>
              <a:t>fold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34202" y="1759966"/>
            <a:ext cx="6021070" cy="458914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5080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estratégia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elaborada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holdout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96850" indent="-228600">
              <a:lnSpc>
                <a:spcPct val="8000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A</a:t>
            </a:r>
            <a:r>
              <a:rPr sz="2800" spc="-5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E0E0E"/>
                </a:solidFill>
                <a:latin typeface="Calibri"/>
                <a:cs typeface="Calibri"/>
              </a:rPr>
              <a:t>estratégia</a:t>
            </a:r>
            <a:r>
              <a:rPr sz="2800" spc="-8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consiste</a:t>
            </a:r>
            <a:r>
              <a:rPr sz="2800" spc="-3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em</a:t>
            </a:r>
            <a:r>
              <a:rPr sz="2800" spc="-6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embaralhar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(opcional)</a:t>
            </a:r>
            <a:r>
              <a:rPr sz="2800" spc="-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e</a:t>
            </a:r>
            <a:r>
              <a:rPr sz="280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dividir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conjunto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total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dados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em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mbria Math"/>
                <a:cs typeface="Cambria Math"/>
              </a:rPr>
              <a:t>𝒌</a:t>
            </a:r>
            <a:r>
              <a:rPr sz="2800" spc="-40" dirty="0">
                <a:solidFill>
                  <a:srgbClr val="0E0E0E"/>
                </a:solidFill>
                <a:latin typeface="Cambria Math"/>
                <a:cs typeface="Cambria Math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partes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(ou</a:t>
            </a:r>
            <a:r>
              <a:rPr sz="2800" spc="-5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E0E0E"/>
                </a:solidFill>
                <a:latin typeface="Calibri"/>
                <a:cs typeface="Calibri"/>
              </a:rPr>
              <a:t>folds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)</a:t>
            </a:r>
            <a:r>
              <a:rPr sz="280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iguais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84785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O</a:t>
            </a:r>
            <a:r>
              <a:rPr sz="2800" spc="-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modelo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é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treinado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mbria Math"/>
                <a:cs typeface="Cambria Math"/>
              </a:rPr>
              <a:t>𝒌</a:t>
            </a:r>
            <a:r>
              <a:rPr sz="2800" spc="-50" dirty="0">
                <a:solidFill>
                  <a:srgbClr val="0E0E0E"/>
                </a:solidFill>
                <a:latin typeface="Cambria Math"/>
                <a:cs typeface="Cambria Math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vezes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,</a:t>
            </a:r>
            <a:r>
              <a:rPr sz="2800" spc="-6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cada</a:t>
            </a:r>
            <a:r>
              <a:rPr sz="2800" spc="-6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E0E0E"/>
                </a:solidFill>
                <a:latin typeface="Calibri"/>
                <a:cs typeface="Calibri"/>
              </a:rPr>
              <a:t>vez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usando</a:t>
            </a:r>
            <a:r>
              <a:rPr sz="2800" spc="-6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E0E0E"/>
                </a:solidFill>
                <a:latin typeface="Cambria Math"/>
                <a:cs typeface="Cambria Math"/>
              </a:rPr>
              <a:t>𝒌</a:t>
            </a:r>
            <a:r>
              <a:rPr sz="2800" b="1" i="1" spc="-20" dirty="0">
                <a:solidFill>
                  <a:srgbClr val="0E0E0E"/>
                </a:solidFill>
                <a:latin typeface="Calibri"/>
                <a:cs typeface="Calibri"/>
              </a:rPr>
              <a:t>-</a:t>
            </a:r>
            <a:r>
              <a:rPr sz="2800" b="1" i="1" dirty="0">
                <a:solidFill>
                  <a:srgbClr val="0E0E0E"/>
                </a:solidFill>
                <a:latin typeface="Calibri"/>
                <a:cs typeface="Calibri"/>
              </a:rPr>
              <a:t>1</a:t>
            </a:r>
            <a:r>
              <a:rPr sz="2800" b="1" i="1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partes</a:t>
            </a:r>
            <a:r>
              <a:rPr sz="2800" spc="-8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como</a:t>
            </a:r>
            <a:r>
              <a:rPr sz="2800" spc="-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conjunto</a:t>
            </a:r>
            <a:r>
              <a:rPr sz="280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E0E0E"/>
                </a:solidFill>
                <a:latin typeface="Calibri"/>
                <a:cs typeface="Calibri"/>
              </a:rPr>
              <a:t>de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treinamento</a:t>
            </a:r>
            <a:r>
              <a:rPr sz="280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e</a:t>
            </a:r>
            <a:r>
              <a:rPr sz="2800" spc="-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a</a:t>
            </a:r>
            <a:r>
              <a:rPr sz="2800" spc="-8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parte</a:t>
            </a:r>
            <a:r>
              <a:rPr sz="2800" spc="-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E0E0E"/>
                </a:solidFill>
                <a:latin typeface="Calibri"/>
                <a:cs typeface="Calibri"/>
              </a:rPr>
              <a:t>restante</a:t>
            </a:r>
            <a:r>
              <a:rPr sz="280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E0E0E"/>
                </a:solidFill>
                <a:latin typeface="Calibri"/>
                <a:cs typeface="Calibri"/>
              </a:rPr>
              <a:t>como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conjunto</a:t>
            </a:r>
            <a:r>
              <a:rPr sz="2800" spc="-5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de</a:t>
            </a:r>
            <a:r>
              <a:rPr sz="2800" spc="-8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validação.</a:t>
            </a:r>
            <a:endParaRPr sz="2800" dirty="0">
              <a:latin typeface="Calibri"/>
              <a:cs typeface="Calibri"/>
            </a:endParaRPr>
          </a:p>
          <a:p>
            <a:pPr marL="241300" marR="201295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O</a:t>
            </a:r>
            <a:r>
              <a:rPr sz="2800" spc="-8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EQM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com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o</a:t>
            </a:r>
            <a:r>
              <a:rPr sz="2800" b="1" i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conjunto</a:t>
            </a:r>
            <a:r>
              <a:rPr sz="2800" b="1" i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validação</a:t>
            </a:r>
            <a:r>
              <a:rPr sz="2800" b="1" i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0E0E0E"/>
                </a:solidFill>
                <a:latin typeface="Calibri"/>
                <a:cs typeface="Calibri"/>
              </a:rPr>
              <a:t>é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calculado</a:t>
            </a:r>
            <a:r>
              <a:rPr sz="2800" spc="-5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ao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final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6FC0"/>
                </a:solidFill>
                <a:latin typeface="Calibri"/>
                <a:cs typeface="Calibri"/>
              </a:rPr>
              <a:t>cada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treinamento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973" y="1960880"/>
            <a:ext cx="86804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mbria Math"/>
                <a:cs typeface="Cambria Math"/>
              </a:rPr>
              <a:t>𝒌</a:t>
            </a:r>
            <a:r>
              <a:rPr sz="3200" spc="20" dirty="0">
                <a:latin typeface="Cambria Math"/>
                <a:cs typeface="Cambria Math"/>
              </a:rPr>
              <a:t> </a:t>
            </a:r>
            <a:r>
              <a:rPr sz="3200" b="1" dirty="0">
                <a:latin typeface="Calibri"/>
                <a:cs typeface="Calibri"/>
              </a:rPr>
              <a:t>= </a:t>
            </a:r>
            <a:r>
              <a:rPr sz="3200" b="1" spc="-50" dirty="0">
                <a:latin typeface="Calibri"/>
                <a:cs typeface="Calibri"/>
              </a:rPr>
              <a:t>5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574" y="2636875"/>
            <a:ext cx="5563076" cy="322002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6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55" dirty="0">
                <a:solidFill>
                  <a:srgbClr val="0E0E0E"/>
                </a:solidFill>
                <a:latin typeface="Cambria Math"/>
                <a:cs typeface="Cambria Math"/>
              </a:rPr>
              <a:t>𝑘</a:t>
            </a:r>
            <a:r>
              <a:rPr spc="55" dirty="0"/>
              <a:t>-</a:t>
            </a:r>
            <a:r>
              <a:rPr spc="-20" dirty="0"/>
              <a:t>fold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5628" y="1796542"/>
            <a:ext cx="5751195" cy="377697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23495" indent="-228600">
              <a:lnSpc>
                <a:spcPct val="898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Ao</a:t>
            </a:r>
            <a:r>
              <a:rPr sz="280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final</a:t>
            </a:r>
            <a:r>
              <a:rPr sz="2800" spc="-5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dos</a:t>
            </a:r>
            <a:r>
              <a:rPr sz="2800" spc="-3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mbria Math"/>
                <a:cs typeface="Cambria Math"/>
              </a:rPr>
              <a:t>𝒌</a:t>
            </a:r>
            <a:r>
              <a:rPr sz="2800" spc="-45" dirty="0">
                <a:solidFill>
                  <a:srgbClr val="0E0E0E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treinamentos,</a:t>
            </a:r>
            <a:r>
              <a:rPr sz="2800" spc="-4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calcula-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se</a:t>
            </a:r>
            <a:r>
              <a:rPr sz="2800" spc="-5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a</a:t>
            </a:r>
            <a:r>
              <a:rPr sz="2800" spc="-4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média</a:t>
            </a:r>
            <a:r>
              <a:rPr sz="2800" b="1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e</a:t>
            </a:r>
            <a:r>
              <a:rPr sz="2800" spc="-5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o</a:t>
            </a:r>
            <a:r>
              <a:rPr sz="2800" spc="-4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desvio</a:t>
            </a:r>
            <a:r>
              <a:rPr sz="2800" b="1" i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padrão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dos</a:t>
            </a:r>
            <a:r>
              <a:rPr sz="2800" spc="-4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0E0E0E"/>
                </a:solidFill>
                <a:latin typeface="Cambria Math"/>
                <a:cs typeface="Cambria Math"/>
              </a:rPr>
              <a:t>𝒌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EQMs</a:t>
            </a:r>
            <a:r>
              <a:rPr sz="280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de</a:t>
            </a:r>
            <a:r>
              <a:rPr sz="2800" spc="-9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validação</a:t>
            </a:r>
            <a:r>
              <a:rPr sz="2800" spc="-9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para</a:t>
            </a:r>
            <a:r>
              <a:rPr sz="2800" spc="-9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fornecer</a:t>
            </a:r>
            <a:r>
              <a:rPr sz="2800" spc="-8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E0E0E"/>
                </a:solidFill>
                <a:latin typeface="Calibri"/>
                <a:cs typeface="Calibri"/>
              </a:rPr>
              <a:t>uma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avaliação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geral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desempenho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do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modelo.</a:t>
            </a:r>
            <a:endParaRPr sz="2800" dirty="0">
              <a:latin typeface="Calibri"/>
              <a:cs typeface="Calibri"/>
            </a:endParaRPr>
          </a:p>
          <a:p>
            <a:pPr marL="241300" indent="-228600" algn="just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geral,</a:t>
            </a:r>
            <a:r>
              <a:rPr sz="2800" spc="-30" dirty="0">
                <a:latin typeface="Calibri"/>
                <a:cs typeface="Calibri"/>
              </a:rPr>
              <a:t> utiliza-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mbria Math"/>
                <a:cs typeface="Cambria Math"/>
              </a:rPr>
              <a:t>𝒌</a:t>
            </a:r>
            <a:r>
              <a:rPr sz="2800" spc="-10" dirty="0">
                <a:solidFill>
                  <a:srgbClr val="0E0E0E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10.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897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Porém,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mbria Math"/>
                <a:cs typeface="Cambria Math"/>
              </a:rPr>
              <a:t>𝒌</a:t>
            </a:r>
            <a:r>
              <a:rPr sz="2800" spc="-65" dirty="0">
                <a:solidFill>
                  <a:srgbClr val="0E0E0E"/>
                </a:solidFill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deve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escolhido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folds</a:t>
            </a:r>
            <a:r>
              <a:rPr sz="2800" i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representativos</a:t>
            </a:r>
            <a:r>
              <a:rPr sz="28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do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padrão</a:t>
            </a:r>
            <a:r>
              <a:rPr sz="2800" b="1" i="1" spc="-10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presente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nos</a:t>
            </a:r>
            <a:r>
              <a:rPr sz="2800" b="1" i="1" spc="-10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dados</a:t>
            </a:r>
            <a:r>
              <a:rPr sz="2800" b="1" i="1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574" y="2636875"/>
            <a:ext cx="5563076" cy="32200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88973" y="1960880"/>
            <a:ext cx="86804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mbria Math"/>
                <a:cs typeface="Cambria Math"/>
              </a:rPr>
              <a:t>𝒌</a:t>
            </a:r>
            <a:r>
              <a:rPr sz="3200" spc="20" dirty="0">
                <a:latin typeface="Cambria Math"/>
                <a:cs typeface="Cambria Math"/>
              </a:rPr>
              <a:t> </a:t>
            </a:r>
            <a:r>
              <a:rPr sz="3200" b="1" dirty="0">
                <a:latin typeface="Calibri"/>
                <a:cs typeface="Calibri"/>
              </a:rPr>
              <a:t>= </a:t>
            </a:r>
            <a:r>
              <a:rPr sz="3200" b="1" spc="-50" dirty="0">
                <a:latin typeface="Calibri"/>
                <a:cs typeface="Calibri"/>
              </a:rPr>
              <a:t>5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6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55" dirty="0">
                <a:solidFill>
                  <a:srgbClr val="0E0E0E"/>
                </a:solidFill>
                <a:latin typeface="Cambria Math"/>
                <a:cs typeface="Cambria Math"/>
              </a:rPr>
              <a:t>𝑘</a:t>
            </a:r>
            <a:r>
              <a:rPr spc="55" dirty="0"/>
              <a:t>-</a:t>
            </a:r>
            <a:r>
              <a:rPr spc="-20" dirty="0"/>
              <a:t>fold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0129"/>
            <a:ext cx="10621645" cy="393192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mbria Math"/>
                <a:cs typeface="Cambria Math"/>
              </a:rPr>
              <a:t>𝑘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i="1" dirty="0">
                <a:latin typeface="Calibri"/>
                <a:cs typeface="Calibri"/>
              </a:rPr>
              <a:t>fold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estratégia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validação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cruzada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</a:t>
            </a:r>
            <a:endParaRPr sz="2800" dirty="0">
              <a:latin typeface="Calibri"/>
              <a:cs typeface="Calibri"/>
            </a:endParaRPr>
          </a:p>
          <a:p>
            <a:pPr marL="698500" marR="111760" lvl="1" indent="-228600">
              <a:lnSpc>
                <a:spcPts val="2600"/>
              </a:lnSpc>
              <a:spcBef>
                <a:spcPts val="55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fornecer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indicações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claras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sobre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desempenho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devido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média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E0E0E"/>
                </a:solidFill>
                <a:latin typeface="Cambria Math"/>
                <a:cs typeface="Cambria Math"/>
              </a:rPr>
              <a:t>𝒌</a:t>
            </a:r>
            <a:r>
              <a:rPr sz="2400" spc="-20" dirty="0">
                <a:solidFill>
                  <a:srgbClr val="0E0E0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valores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EQM.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600"/>
              </a:lnSpc>
              <a:spcBef>
                <a:spcPts val="484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minimizar</a:t>
            </a:r>
            <a:r>
              <a:rPr sz="24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possíveis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efeitos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provocados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pelo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viés</a:t>
            </a:r>
            <a:r>
              <a:rPr sz="24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4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seleção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é </a:t>
            </a:r>
            <a:r>
              <a:rPr sz="2400" dirty="0">
                <a:latin typeface="Calibri"/>
                <a:cs typeface="Calibri"/>
              </a:rPr>
              <a:t>treinado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validado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E0E0E"/>
                </a:solidFill>
                <a:latin typeface="Cambria Math"/>
                <a:cs typeface="Cambria Math"/>
              </a:rPr>
              <a:t>𝒌</a:t>
            </a:r>
            <a:r>
              <a:rPr sz="2400" spc="-30" dirty="0">
                <a:solidFill>
                  <a:srgbClr val="0E0E0E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E0E0E"/>
                </a:solidFill>
                <a:latin typeface="Calibri"/>
                <a:cs typeface="Calibri"/>
              </a:rPr>
              <a:t>vezes,</a:t>
            </a:r>
            <a:r>
              <a:rPr sz="2400" spc="-4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vez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diferente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dados.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35"/>
              </a:spcBef>
              <a:buFont typeface="Courier New"/>
              <a:buChar char="o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Isso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faz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avaliação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torne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menos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sensível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divisão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dados.</a:t>
            </a:r>
            <a:endParaRPr sz="2000" dirty="0">
              <a:latin typeface="Calibri"/>
              <a:cs typeface="Calibri"/>
            </a:endParaRPr>
          </a:p>
          <a:p>
            <a:pPr marL="241300" marR="22860" indent="-228600">
              <a:lnSpc>
                <a:spcPct val="9000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Entretanto,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holdout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mbria Math"/>
                <a:cs typeface="Cambria Math"/>
              </a:rPr>
              <a:t>𝑘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i="1" dirty="0">
                <a:latin typeface="Calibri"/>
                <a:cs typeface="Calibri"/>
              </a:rPr>
              <a:t>fold</a:t>
            </a:r>
            <a:r>
              <a:rPr sz="2800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tempo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validação </a:t>
            </a:r>
            <a:r>
              <a:rPr sz="2800" dirty="0">
                <a:latin typeface="Calibri"/>
                <a:cs typeface="Calibri"/>
              </a:rPr>
              <a:t>maior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(cerca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mbria Math"/>
                <a:cs typeface="Cambria Math"/>
              </a:rPr>
              <a:t>𝒌</a:t>
            </a:r>
            <a:r>
              <a:rPr sz="2800" spc="-45" dirty="0">
                <a:solidFill>
                  <a:srgbClr val="0E0E0E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vezes)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deve-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mbria Math"/>
                <a:cs typeface="Cambria Math"/>
              </a:rPr>
              <a:t>𝒌</a:t>
            </a:r>
            <a:r>
              <a:rPr sz="2800" spc="-50" dirty="0">
                <a:solidFill>
                  <a:srgbClr val="0E0E0E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spc="-10" dirty="0">
                <a:latin typeface="Calibri"/>
                <a:cs typeface="Calibri"/>
              </a:rPr>
              <a:t>validações,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enquanto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holdout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realiza-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validação.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Leave-</a:t>
            </a:r>
            <a:r>
              <a:rPr i="1" spc="-10" dirty="0">
                <a:latin typeface="Calibri Light"/>
                <a:cs typeface="Calibri Light"/>
              </a:rPr>
              <a:t>p</a:t>
            </a:r>
            <a:r>
              <a:rPr spc="-10" dirty="0"/>
              <a:t>-</a:t>
            </a:r>
            <a:r>
              <a:rPr spc="-25" dirty="0"/>
              <a:t>out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914380" cy="17322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spc="-20" dirty="0">
                <a:latin typeface="Calibri"/>
                <a:cs typeface="Calibri"/>
              </a:rPr>
              <a:t>Valida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usando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todas</a:t>
            </a:r>
            <a:r>
              <a:rPr sz="2800" b="1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2800" b="1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combinações</a:t>
            </a:r>
            <a:r>
              <a:rPr sz="2800" b="1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possíveis</a:t>
            </a:r>
            <a:r>
              <a:rPr sz="28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exemplos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conjunto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validação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N-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restantes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treinamento.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conjunto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𝑁</a:t>
            </a:r>
            <a:r>
              <a:rPr sz="2800" spc="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amostras,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estratégia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produz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4200525"/>
            <a:ext cx="10226675" cy="25692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dirty="0">
                <a:latin typeface="Calibri"/>
                <a:cs typeface="Calibri"/>
              </a:rPr>
              <a:t>pares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validação,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complexidade computacional</a:t>
            </a:r>
            <a:r>
              <a:rPr sz="2800" b="1" i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desta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estratégia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aumenta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drasticamente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28600" marR="6298565" indent="-228600" algn="r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28600" algn="l"/>
                <a:tab pos="2488565" algn="l"/>
              </a:tabLst>
            </a:pPr>
            <a:r>
              <a:rPr sz="2800" spc="-10" dirty="0">
                <a:latin typeface="Calibri"/>
                <a:cs typeface="Calibri"/>
              </a:rPr>
              <a:t>Exemplos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dirty="0">
                <a:latin typeface="Cambria Math"/>
                <a:cs typeface="Cambria Math"/>
              </a:rPr>
              <a:t>𝑁</a:t>
            </a:r>
            <a:r>
              <a:rPr sz="2800" spc="204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40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100</a:t>
            </a:r>
            <a:r>
              <a:rPr sz="2800" spc="-2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228600" marR="6250940" lvl="1" indent="-228600" algn="r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228600" algn="l"/>
              </a:tabLst>
            </a:pPr>
            <a:r>
              <a:rPr sz="2500" dirty="0">
                <a:latin typeface="Calibri"/>
                <a:cs typeface="Calibri"/>
              </a:rPr>
              <a:t>p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=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1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-</a:t>
            </a:r>
            <a:r>
              <a:rPr sz="2500" dirty="0">
                <a:latin typeface="Calibri"/>
                <a:cs typeface="Calibri"/>
              </a:rPr>
              <a:t>&gt;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100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combinações</a:t>
            </a:r>
            <a:endParaRPr sz="25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699135" algn="l"/>
              </a:tabLst>
            </a:pPr>
            <a:r>
              <a:rPr sz="2500" dirty="0">
                <a:latin typeface="Calibri"/>
                <a:cs typeface="Calibri"/>
              </a:rPr>
              <a:t>p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=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2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-</a:t>
            </a:r>
            <a:r>
              <a:rPr sz="2500" dirty="0">
                <a:latin typeface="Calibri"/>
                <a:cs typeface="Calibri"/>
              </a:rPr>
              <a:t>&gt;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4.950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combinações</a:t>
            </a:r>
            <a:endParaRPr sz="25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sz="2500" dirty="0">
                <a:latin typeface="Calibri"/>
                <a:cs typeface="Calibri"/>
              </a:rPr>
              <a:t>p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=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5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-</a:t>
            </a:r>
            <a:r>
              <a:rPr sz="2500" dirty="0">
                <a:latin typeface="Calibri"/>
                <a:cs typeface="Calibri"/>
              </a:rPr>
              <a:t>&gt;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75.287.520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combinações</a:t>
            </a:r>
            <a:endParaRPr sz="25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0685971A-E144-C0E1-A2CC-9B61D2840953}"/>
                  </a:ext>
                </a:extLst>
              </p:cNvPr>
              <p:cNvSpPr txBox="1"/>
              <p:nvPr/>
            </p:nvSpPr>
            <p:spPr>
              <a:xfrm>
                <a:off x="5024327" y="3525773"/>
                <a:ext cx="2143344" cy="6280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eqAr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0685971A-E144-C0E1-A2CC-9B61D2840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327" y="3525773"/>
                <a:ext cx="2143344" cy="6280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Leave-</a:t>
            </a:r>
            <a:r>
              <a:rPr i="1" spc="-10" dirty="0">
                <a:latin typeface="Calibri Light"/>
                <a:cs typeface="Calibri Light"/>
              </a:rPr>
              <a:t>p</a:t>
            </a:r>
            <a:r>
              <a:rPr spc="-10" dirty="0"/>
              <a:t>-</a:t>
            </a:r>
            <a:r>
              <a:rPr spc="-25" dirty="0"/>
              <a:t>out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838815" cy="406336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6705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Fornece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estimativas</a:t>
            </a:r>
            <a:r>
              <a:rPr sz="28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erro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desvio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padrão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mais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precisas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 </a:t>
            </a:r>
            <a:r>
              <a:rPr sz="2800" spc="-10" dirty="0">
                <a:latin typeface="Calibri"/>
                <a:cs typeface="Calibri"/>
              </a:rPr>
              <a:t>abordagens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anteriores,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tem-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etapas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treinamento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e </a:t>
            </a:r>
            <a:r>
              <a:rPr sz="2800" b="1" i="1" spc="-10" dirty="0">
                <a:latin typeface="Calibri"/>
                <a:cs typeface="Calibri"/>
              </a:rPr>
              <a:t>validação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Desvantagem</a:t>
            </a:r>
            <a:endParaRPr sz="2800" dirty="0">
              <a:latin typeface="Calibri"/>
              <a:cs typeface="Calibri"/>
            </a:endParaRPr>
          </a:p>
          <a:p>
            <a:pPr marL="698500" marR="92075" lvl="1" indent="-228600">
              <a:lnSpc>
                <a:spcPct val="90000"/>
              </a:lnSpc>
              <a:spcBef>
                <a:spcPts val="5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É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estratégia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exaustiva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treina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valida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todas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as </a:t>
            </a:r>
            <a:r>
              <a:rPr sz="2400" b="1" i="1" dirty="0">
                <a:latin typeface="Calibri"/>
                <a:cs typeface="Calibri"/>
              </a:rPr>
              <a:t>combinações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possíveis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amostras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grande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moderadamente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grande,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tornar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inviável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computacionalmente.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Fold,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k=N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folds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igual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total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exemplos),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Fold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torna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equivalente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estratégia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spc="-35" dirty="0">
                <a:latin typeface="Calibri"/>
                <a:cs typeface="Calibri"/>
              </a:rPr>
              <a:t>leave-</a:t>
            </a:r>
            <a:r>
              <a:rPr sz="2800" b="1" spc="-20" dirty="0">
                <a:latin typeface="Calibri"/>
                <a:cs typeface="Calibri"/>
              </a:rPr>
              <a:t>one- </a:t>
            </a:r>
            <a:r>
              <a:rPr sz="2800" b="1" dirty="0">
                <a:latin typeface="Calibri"/>
                <a:cs typeface="Calibri"/>
              </a:rPr>
              <a:t>out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25" dirty="0">
                <a:latin typeface="Calibri"/>
                <a:cs typeface="Calibri"/>
              </a:rPr>
              <a:t> 1.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Qual</a:t>
            </a:r>
            <a:r>
              <a:rPr spc="-75" dirty="0"/>
              <a:t> </a:t>
            </a:r>
            <a:r>
              <a:rPr spc="-10" dirty="0"/>
              <a:t>estratégia</a:t>
            </a:r>
            <a:r>
              <a:rPr spc="-80" dirty="0"/>
              <a:t> </a:t>
            </a:r>
            <a:r>
              <a:rPr spc="-10" dirty="0"/>
              <a:t>utilizar?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948035" cy="470408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112395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leave-</a:t>
            </a:r>
            <a:r>
              <a:rPr sz="2800" b="1" i="1" spc="-20" dirty="0">
                <a:latin typeface="Calibri"/>
                <a:cs typeface="Calibri"/>
              </a:rPr>
              <a:t>p-</a:t>
            </a:r>
            <a:r>
              <a:rPr sz="2800" b="1" i="1" dirty="0">
                <a:latin typeface="Calibri"/>
                <a:cs typeface="Calibri"/>
              </a:rPr>
              <a:t>out</a:t>
            </a:r>
            <a:r>
              <a:rPr sz="2800" b="1" i="1" spc="-1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dá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indicações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mais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claras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ordem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usar,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pois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usa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um </a:t>
            </a:r>
            <a:r>
              <a:rPr sz="2800" b="1" i="1" dirty="0">
                <a:latin typeface="Calibri"/>
                <a:cs typeface="Calibri"/>
              </a:rPr>
              <a:t>maior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número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pares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treinamento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validação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aumentando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confiabilidade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média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desvio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padrão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EQM.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780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Porém,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bastante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custosa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tempo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necessário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executá-</a:t>
            </a:r>
            <a:r>
              <a:rPr sz="2400" spc="-25" dirty="0">
                <a:latin typeface="Calibri"/>
                <a:cs typeface="Calibri"/>
              </a:rPr>
              <a:t>lo.</a:t>
            </a:r>
            <a:endParaRPr sz="2400" dirty="0">
              <a:latin typeface="Calibri"/>
              <a:cs typeface="Calibri"/>
            </a:endParaRPr>
          </a:p>
          <a:p>
            <a:pPr marL="698500" marR="924560" lvl="1" indent="-228600">
              <a:lnSpc>
                <a:spcPts val="2300"/>
              </a:lnSpc>
              <a:spcBef>
                <a:spcPts val="52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Portanto,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deve-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utilizá-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bases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relativamente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pequenas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pequenos </a:t>
            </a:r>
            <a:r>
              <a:rPr sz="2400" b="1" i="1" dirty="0">
                <a:latin typeface="Calibri"/>
                <a:cs typeface="Calibri"/>
              </a:rPr>
              <a:t>valores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para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parâmetro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p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156210" indent="-228600">
              <a:lnSpc>
                <a:spcPts val="269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maiores,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k-</a:t>
            </a:r>
            <a:r>
              <a:rPr sz="2800" b="1" i="1" dirty="0">
                <a:latin typeface="Calibri"/>
                <a:cs typeface="Calibri"/>
              </a:rPr>
              <a:t>fold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melhor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eficiente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holdout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custosa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leave-</a:t>
            </a:r>
            <a:r>
              <a:rPr sz="2800" b="1" i="1" spc="-20" dirty="0">
                <a:latin typeface="Calibri"/>
                <a:cs typeface="Calibri"/>
              </a:rPr>
              <a:t>p-out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69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holdout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dá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indicações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sobre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ordem utilizar.</a:t>
            </a:r>
            <a:endParaRPr sz="2800" dirty="0">
              <a:latin typeface="Calibri"/>
              <a:cs typeface="Calibri"/>
            </a:endParaRPr>
          </a:p>
          <a:p>
            <a:pPr marL="698500" marR="170180" lvl="1" indent="-228600" algn="just">
              <a:lnSpc>
                <a:spcPts val="2300"/>
              </a:lnSpc>
              <a:spcBef>
                <a:spcPts val="52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probabilidade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treinamento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validação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obtidos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holdout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representativos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inversamente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proporcional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tamanho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conjunto original.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Validação</a:t>
            </a:r>
            <a:r>
              <a:rPr spc="-95" dirty="0"/>
              <a:t> </a:t>
            </a:r>
            <a:r>
              <a:rPr dirty="0"/>
              <a:t>cruzada</a:t>
            </a:r>
            <a:r>
              <a:rPr spc="-120" dirty="0"/>
              <a:t> </a:t>
            </a:r>
            <a:r>
              <a:rPr dirty="0"/>
              <a:t>para</a:t>
            </a:r>
            <a:r>
              <a:rPr spc="-114" dirty="0"/>
              <a:t> </a:t>
            </a:r>
            <a:r>
              <a:rPr dirty="0"/>
              <a:t>encontrar</a:t>
            </a:r>
            <a:r>
              <a:rPr spc="-114" dirty="0"/>
              <a:t> </a:t>
            </a:r>
            <a:r>
              <a:rPr dirty="0"/>
              <a:t>o</a:t>
            </a:r>
            <a:r>
              <a:rPr spc="-120" dirty="0"/>
              <a:t> </a:t>
            </a:r>
            <a:r>
              <a:rPr dirty="0"/>
              <a:t>grau</a:t>
            </a:r>
            <a:r>
              <a:rPr spc="-114" dirty="0"/>
              <a:t> </a:t>
            </a:r>
            <a:r>
              <a:rPr spc="-25" dirty="0"/>
              <a:t>do </a:t>
            </a:r>
            <a:r>
              <a:rPr dirty="0"/>
              <a:t>polinômio</a:t>
            </a:r>
            <a:r>
              <a:rPr spc="-5" dirty="0"/>
              <a:t> </a:t>
            </a:r>
            <a:r>
              <a:rPr spc="-10" dirty="0"/>
              <a:t>aproximador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83073" y="1759966"/>
            <a:ext cx="7313930" cy="5106654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54000" marR="51689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540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exemplificar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estratégias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validação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cruzada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grau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ideal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polinômio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aproximador,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seguinte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observável</a:t>
            </a:r>
            <a:endParaRPr sz="2800" dirty="0">
              <a:latin typeface="Calibri"/>
              <a:cs typeface="Calibri"/>
            </a:endParaRPr>
          </a:p>
          <a:p>
            <a:pPr marR="94615" algn="ctr">
              <a:lnSpc>
                <a:spcPts val="3060"/>
              </a:lnSpc>
            </a:pPr>
            <a:r>
              <a:rPr sz="2800" spc="60" dirty="0">
                <a:latin typeface="Cambria Math"/>
                <a:cs typeface="Cambria Math"/>
              </a:rPr>
              <a:t>𝑦</a:t>
            </a:r>
            <a:r>
              <a:rPr sz="3075" spc="89" baseline="-16260" dirty="0">
                <a:latin typeface="Cambria Math"/>
                <a:cs typeface="Cambria Math"/>
              </a:rPr>
              <a:t>𝑛𝑜𝑖𝑠𝑦</a:t>
            </a:r>
            <a:r>
              <a:rPr sz="3075" spc="719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spc="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𝑤,</a:t>
            </a:r>
            <a:endParaRPr sz="2800" dirty="0">
              <a:latin typeface="Cambria Math"/>
              <a:cs typeface="Cambria Math"/>
            </a:endParaRPr>
          </a:p>
          <a:p>
            <a:pPr marL="25400" marR="380365">
              <a:lnSpc>
                <a:spcPct val="80000"/>
              </a:lnSpc>
              <a:spcBef>
                <a:spcPts val="1205"/>
              </a:spcBef>
            </a:pPr>
            <a:r>
              <a:rPr sz="2800" dirty="0">
                <a:latin typeface="Calibri"/>
                <a:cs typeface="Calibri"/>
              </a:rPr>
              <a:t>onde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objetivo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𝑤</a:t>
            </a:r>
            <a:r>
              <a:rPr sz="2800" spc="4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ruído,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qual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amostras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retiradas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distribuição </a:t>
            </a:r>
            <a:r>
              <a:rPr sz="2800" dirty="0">
                <a:latin typeface="Calibri"/>
                <a:cs typeface="Calibri"/>
              </a:rPr>
              <a:t>Gaussiana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média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zero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variância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unitária.</a:t>
            </a:r>
            <a:endParaRPr sz="2800" dirty="0">
              <a:latin typeface="Calibri"/>
              <a:cs typeface="Calibri"/>
            </a:endParaRPr>
          </a:p>
          <a:p>
            <a:pPr marL="254000" marR="410845" indent="-228600">
              <a:lnSpc>
                <a:spcPts val="2690"/>
              </a:lnSpc>
              <a:spcBef>
                <a:spcPts val="985"/>
              </a:spcBef>
              <a:buFont typeface="Arial"/>
              <a:buChar char="•"/>
              <a:tabLst>
                <a:tab pos="2540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objetivo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polinômio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segundo </a:t>
            </a:r>
            <a:r>
              <a:rPr sz="2800" dirty="0">
                <a:latin typeface="Calibri"/>
                <a:cs typeface="Calibri"/>
              </a:rPr>
              <a:t>grau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definido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</a:t>
            </a:r>
            <a:endParaRPr sz="2800" dirty="0">
              <a:latin typeface="Calibri"/>
              <a:cs typeface="Calibri"/>
            </a:endParaRPr>
          </a:p>
          <a:p>
            <a:pPr marR="94615" algn="ctr">
              <a:lnSpc>
                <a:spcPts val="3000"/>
              </a:lnSpc>
            </a:pP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spc="18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2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2800" spc="7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</a:t>
            </a:r>
            <a:r>
              <a:rPr sz="2800" spc="-10" dirty="0">
                <a:latin typeface="Cambria Math"/>
                <a:cs typeface="Cambria Math"/>
              </a:rPr>
              <a:t> 0.5𝑥</a:t>
            </a:r>
            <a:r>
              <a:rPr sz="3075" spc="-15" baseline="27100" dirty="0">
                <a:latin typeface="Cambria Math"/>
                <a:cs typeface="Cambria Math"/>
              </a:rPr>
              <a:t>2</a:t>
            </a:r>
            <a:r>
              <a:rPr sz="2800" spc="-10" dirty="0">
                <a:latin typeface="Cambria Math"/>
                <a:cs typeface="Cambria Math"/>
              </a:rPr>
              <a:t>,</a:t>
            </a:r>
            <a:endParaRPr sz="2800" dirty="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370"/>
              </a:spcBef>
            </a:pPr>
            <a:r>
              <a:rPr sz="2800" dirty="0">
                <a:latin typeface="Calibri"/>
                <a:cs typeface="Calibri"/>
              </a:rPr>
              <a:t>onde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2800" spc="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3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3.</a:t>
            </a:r>
            <a:endParaRPr sz="2800" dirty="0">
              <a:latin typeface="Calibri"/>
              <a:cs typeface="Calibri"/>
            </a:endParaRPr>
          </a:p>
          <a:p>
            <a:pPr marL="4809490">
              <a:lnSpc>
                <a:spcPct val="100000"/>
              </a:lnSpc>
              <a:spcBef>
                <a:spcPts val="1055"/>
              </a:spcBef>
            </a:pP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400" u="sng" spc="-6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validacao_cruzada.ipynb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623" y="2312771"/>
            <a:ext cx="4246093" cy="321745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Usando</a:t>
            </a:r>
            <a:r>
              <a:rPr spc="-80" dirty="0"/>
              <a:t> </a:t>
            </a:r>
            <a:r>
              <a:rPr i="1" dirty="0">
                <a:latin typeface="Calibri Light"/>
                <a:cs typeface="Calibri Light"/>
              </a:rPr>
              <a:t>holdout</a:t>
            </a:r>
            <a:r>
              <a:rPr i="1" spc="-85" dirty="0">
                <a:latin typeface="Calibri Light"/>
                <a:cs typeface="Calibri Light"/>
              </a:rPr>
              <a:t> </a:t>
            </a:r>
            <a:r>
              <a:rPr dirty="0"/>
              <a:t>para</a:t>
            </a:r>
            <a:r>
              <a:rPr spc="-75" dirty="0"/>
              <a:t> </a:t>
            </a:r>
            <a:r>
              <a:rPr dirty="0"/>
              <a:t>encontrar</a:t>
            </a:r>
            <a:r>
              <a:rPr spc="-60" dirty="0"/>
              <a:t> </a:t>
            </a:r>
            <a:r>
              <a:rPr dirty="0"/>
              <a:t>o</a:t>
            </a:r>
            <a:r>
              <a:rPr spc="-65" dirty="0"/>
              <a:t> </a:t>
            </a:r>
            <a:r>
              <a:rPr dirty="0"/>
              <a:t>grau</a:t>
            </a:r>
            <a:r>
              <a:rPr spc="-75" dirty="0"/>
              <a:t> </a:t>
            </a:r>
            <a:r>
              <a:rPr spc="-25" dirty="0"/>
              <a:t>do </a:t>
            </a:r>
            <a:r>
              <a:rPr dirty="0"/>
              <a:t>polinômio</a:t>
            </a:r>
            <a:r>
              <a:rPr spc="-5" dirty="0"/>
              <a:t> </a:t>
            </a:r>
            <a:r>
              <a:rPr spc="-10" dirty="0"/>
              <a:t>aproximador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22009" y="1766062"/>
            <a:ext cx="5702300" cy="492315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295275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Divisão: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70%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30%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spc="-10" dirty="0">
                <a:latin typeface="Calibri"/>
                <a:cs typeface="Calibri"/>
              </a:rPr>
              <a:t>validação.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81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30" dirty="0">
                <a:latin typeface="Calibri"/>
                <a:cs typeface="Calibri"/>
              </a:rPr>
              <a:t>Tempo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médio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validação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cruzada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810"/>
              </a:lnSpc>
            </a:pPr>
            <a:r>
              <a:rPr sz="2600" i="1" dirty="0">
                <a:latin typeface="Calibri"/>
                <a:cs typeface="Calibri"/>
              </a:rPr>
              <a:t>holdout</a:t>
            </a:r>
            <a:r>
              <a:rPr sz="2600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100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≈ </a:t>
            </a:r>
            <a:r>
              <a:rPr sz="2600" dirty="0">
                <a:latin typeface="Calibri"/>
                <a:cs typeface="Calibri"/>
              </a:rPr>
              <a:t>150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[ms].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Erro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diminui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conforme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dirty="0">
                <a:latin typeface="Calibri"/>
                <a:cs typeface="Calibri"/>
              </a:rPr>
              <a:t>grau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polinômio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aumenta.</a:t>
            </a:r>
            <a:endParaRPr sz="2600" dirty="0">
              <a:latin typeface="Calibri"/>
              <a:cs typeface="Calibri"/>
            </a:endParaRPr>
          </a:p>
          <a:p>
            <a:pPr marL="241300" marR="220979" indent="-228600">
              <a:lnSpc>
                <a:spcPts val="250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Erro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validação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aumenta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conforme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dirty="0">
                <a:latin typeface="Calibri"/>
                <a:cs typeface="Calibri"/>
              </a:rPr>
              <a:t>grau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polinômio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aumenta.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Qual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grau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escolher?</a:t>
            </a:r>
            <a:endParaRPr sz="2600" dirty="0">
              <a:latin typeface="Calibri"/>
              <a:cs typeface="Calibri"/>
            </a:endParaRPr>
          </a:p>
          <a:p>
            <a:pPr marL="697865" marR="266065" lvl="1" indent="-228600">
              <a:lnSpc>
                <a:spcPct val="80000"/>
              </a:lnSpc>
              <a:spcBef>
                <a:spcPts val="525"/>
              </a:spcBef>
              <a:buFont typeface="Wingdings"/>
              <a:buChar char=""/>
              <a:tabLst>
                <a:tab pos="698500" algn="l"/>
              </a:tabLst>
            </a:pPr>
            <a:r>
              <a:rPr sz="2200" spc="-20" dirty="0">
                <a:latin typeface="Calibri"/>
                <a:cs typeface="Calibri"/>
              </a:rPr>
              <a:t>Valor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qual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Calibri"/>
                <a:cs typeface="Calibri"/>
              </a:rPr>
              <a:t>ambos</a:t>
            </a:r>
            <a:r>
              <a:rPr sz="22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Calibri"/>
                <a:cs typeface="Calibri"/>
              </a:rPr>
              <a:t>os</a:t>
            </a:r>
            <a:r>
              <a:rPr sz="22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Calibri"/>
                <a:cs typeface="Calibri"/>
              </a:rPr>
              <a:t>erros</a:t>
            </a:r>
            <a:r>
              <a:rPr sz="2200" b="1" i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6FC0"/>
                </a:solidFill>
                <a:latin typeface="Calibri"/>
                <a:cs typeface="Calibri"/>
              </a:rPr>
              <a:t>sejam </a:t>
            </a:r>
            <a:r>
              <a:rPr sz="2200" b="1" i="1" dirty="0">
                <a:solidFill>
                  <a:srgbClr val="006FC0"/>
                </a:solidFill>
                <a:latin typeface="Calibri"/>
                <a:cs typeface="Calibri"/>
              </a:rPr>
              <a:t>mínimos</a:t>
            </a:r>
            <a:r>
              <a:rPr sz="2200" b="1" i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(balanço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flexibilidade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e </a:t>
            </a:r>
            <a:r>
              <a:rPr sz="2200" spc="-10" dirty="0">
                <a:latin typeface="Calibri"/>
                <a:cs typeface="Calibri"/>
              </a:rPr>
              <a:t>capacidade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generalização)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tenha </a:t>
            </a:r>
            <a:r>
              <a:rPr sz="2200" b="1" i="1" dirty="0">
                <a:solidFill>
                  <a:srgbClr val="006FC0"/>
                </a:solidFill>
                <a:latin typeface="Calibri"/>
                <a:cs typeface="Calibri"/>
              </a:rPr>
              <a:t>menor</a:t>
            </a:r>
            <a:r>
              <a:rPr sz="2200" b="1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6FC0"/>
                </a:solidFill>
                <a:latin typeface="Calibri"/>
                <a:cs typeface="Calibri"/>
              </a:rPr>
              <a:t>complexidade</a:t>
            </a:r>
            <a:r>
              <a:rPr sz="2200" b="1" i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6FC0"/>
                </a:solidFill>
                <a:latin typeface="Calibri"/>
                <a:cs typeface="Calibri"/>
              </a:rPr>
              <a:t>computacional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963" y="2553156"/>
            <a:ext cx="4315971" cy="336880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2125" y="5710224"/>
            <a:ext cx="8318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região</a:t>
            </a:r>
            <a:r>
              <a:rPr sz="1600" b="1" spc="-75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de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subajuste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1662" y="2535173"/>
            <a:ext cx="4717415" cy="3166110"/>
            <a:chOff x="601662" y="2535173"/>
            <a:chExt cx="4717415" cy="3166110"/>
          </a:xfrm>
        </p:grpSpPr>
        <p:sp>
          <p:nvSpPr>
            <p:cNvPr id="7" name="object 7"/>
            <p:cNvSpPr/>
            <p:nvPr/>
          </p:nvSpPr>
          <p:spPr>
            <a:xfrm>
              <a:off x="3824604" y="2535173"/>
              <a:ext cx="288290" cy="1214120"/>
            </a:xfrm>
            <a:custGeom>
              <a:avLst/>
              <a:gdLst/>
              <a:ahLst/>
              <a:cxnLst/>
              <a:rect l="l" t="t" r="r" b="b"/>
              <a:pathLst>
                <a:path w="288289" h="1214120">
                  <a:moveTo>
                    <a:pt x="0" y="1121156"/>
                  </a:moveTo>
                  <a:lnTo>
                    <a:pt x="24765" y="1213739"/>
                  </a:lnTo>
                  <a:lnTo>
                    <a:pt x="77459" y="1146683"/>
                  </a:lnTo>
                  <a:lnTo>
                    <a:pt x="53086" y="1146683"/>
                  </a:lnTo>
                  <a:lnTo>
                    <a:pt x="25146" y="1140968"/>
                  </a:lnTo>
                  <a:lnTo>
                    <a:pt x="28037" y="1126924"/>
                  </a:lnTo>
                  <a:lnTo>
                    <a:pt x="0" y="1121156"/>
                  </a:lnTo>
                  <a:close/>
                </a:path>
                <a:path w="288289" h="1214120">
                  <a:moveTo>
                    <a:pt x="28037" y="1126924"/>
                  </a:moveTo>
                  <a:lnTo>
                    <a:pt x="25146" y="1140968"/>
                  </a:lnTo>
                  <a:lnTo>
                    <a:pt x="53086" y="1146683"/>
                  </a:lnTo>
                  <a:lnTo>
                    <a:pt x="55971" y="1132672"/>
                  </a:lnTo>
                  <a:lnTo>
                    <a:pt x="28037" y="1126924"/>
                  </a:lnTo>
                  <a:close/>
                </a:path>
                <a:path w="288289" h="1214120">
                  <a:moveTo>
                    <a:pt x="55971" y="1132672"/>
                  </a:moveTo>
                  <a:lnTo>
                    <a:pt x="53086" y="1146683"/>
                  </a:lnTo>
                  <a:lnTo>
                    <a:pt x="77459" y="1146683"/>
                  </a:lnTo>
                  <a:lnTo>
                    <a:pt x="83947" y="1138427"/>
                  </a:lnTo>
                  <a:lnTo>
                    <a:pt x="55971" y="1132672"/>
                  </a:lnTo>
                  <a:close/>
                </a:path>
                <a:path w="288289" h="1214120">
                  <a:moveTo>
                    <a:pt x="260096" y="0"/>
                  </a:moveTo>
                  <a:lnTo>
                    <a:pt x="28037" y="1126924"/>
                  </a:lnTo>
                  <a:lnTo>
                    <a:pt x="55971" y="1132672"/>
                  </a:lnTo>
                  <a:lnTo>
                    <a:pt x="288036" y="5841"/>
                  </a:lnTo>
                  <a:lnTo>
                    <a:pt x="260096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57552" y="2575813"/>
              <a:ext cx="281940" cy="1275080"/>
            </a:xfrm>
            <a:custGeom>
              <a:avLst/>
              <a:gdLst/>
              <a:ahLst/>
              <a:cxnLst/>
              <a:rect l="l" t="t" r="r" b="b"/>
              <a:pathLst>
                <a:path w="281939" h="1275079">
                  <a:moveTo>
                    <a:pt x="225314" y="1193288"/>
                  </a:moveTo>
                  <a:lnTo>
                    <a:pt x="197231" y="1198626"/>
                  </a:lnTo>
                  <a:lnTo>
                    <a:pt x="255270" y="1274826"/>
                  </a:lnTo>
                  <a:lnTo>
                    <a:pt x="274441" y="1207262"/>
                  </a:lnTo>
                  <a:lnTo>
                    <a:pt x="227965" y="1207262"/>
                  </a:lnTo>
                  <a:lnTo>
                    <a:pt x="225314" y="1193288"/>
                  </a:lnTo>
                  <a:close/>
                </a:path>
                <a:path w="281939" h="1275079">
                  <a:moveTo>
                    <a:pt x="253360" y="1187958"/>
                  </a:moveTo>
                  <a:lnTo>
                    <a:pt x="225314" y="1193288"/>
                  </a:lnTo>
                  <a:lnTo>
                    <a:pt x="227965" y="1207262"/>
                  </a:lnTo>
                  <a:lnTo>
                    <a:pt x="256032" y="1202055"/>
                  </a:lnTo>
                  <a:lnTo>
                    <a:pt x="253360" y="1187958"/>
                  </a:lnTo>
                  <a:close/>
                </a:path>
                <a:path w="281939" h="1275079">
                  <a:moveTo>
                    <a:pt x="281432" y="1182624"/>
                  </a:moveTo>
                  <a:lnTo>
                    <a:pt x="253360" y="1187958"/>
                  </a:lnTo>
                  <a:lnTo>
                    <a:pt x="256032" y="1202055"/>
                  </a:lnTo>
                  <a:lnTo>
                    <a:pt x="227965" y="1207262"/>
                  </a:lnTo>
                  <a:lnTo>
                    <a:pt x="274441" y="1207262"/>
                  </a:lnTo>
                  <a:lnTo>
                    <a:pt x="281432" y="1182624"/>
                  </a:lnTo>
                  <a:close/>
                </a:path>
                <a:path w="281939" h="1275079">
                  <a:moveTo>
                    <a:pt x="28194" y="0"/>
                  </a:moveTo>
                  <a:lnTo>
                    <a:pt x="0" y="5334"/>
                  </a:lnTo>
                  <a:lnTo>
                    <a:pt x="225314" y="1193288"/>
                  </a:lnTo>
                  <a:lnTo>
                    <a:pt x="253360" y="1187958"/>
                  </a:lnTo>
                  <a:lnTo>
                    <a:pt x="28194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1662" y="5289169"/>
              <a:ext cx="779145" cy="412115"/>
            </a:xfrm>
            <a:custGeom>
              <a:avLst/>
              <a:gdLst/>
              <a:ahLst/>
              <a:cxnLst/>
              <a:rect l="l" t="t" r="r" b="b"/>
              <a:pathLst>
                <a:path w="779144" h="412114">
                  <a:moveTo>
                    <a:pt x="695930" y="26611"/>
                  </a:moveTo>
                  <a:lnTo>
                    <a:pt x="0" y="386257"/>
                  </a:lnTo>
                  <a:lnTo>
                    <a:pt x="13119" y="411645"/>
                  </a:lnTo>
                  <a:lnTo>
                    <a:pt x="709088" y="52036"/>
                  </a:lnTo>
                  <a:lnTo>
                    <a:pt x="695930" y="26611"/>
                  </a:lnTo>
                  <a:close/>
                </a:path>
                <a:path w="779144" h="412114">
                  <a:moveTo>
                    <a:pt x="764038" y="20065"/>
                  </a:moveTo>
                  <a:lnTo>
                    <a:pt x="708596" y="20065"/>
                  </a:lnTo>
                  <a:lnTo>
                    <a:pt x="721804" y="45465"/>
                  </a:lnTo>
                  <a:lnTo>
                    <a:pt x="709088" y="52036"/>
                  </a:lnTo>
                  <a:lnTo>
                    <a:pt x="722185" y="77342"/>
                  </a:lnTo>
                  <a:lnTo>
                    <a:pt x="764038" y="20065"/>
                  </a:lnTo>
                  <a:close/>
                </a:path>
                <a:path w="779144" h="412114">
                  <a:moveTo>
                    <a:pt x="708596" y="20065"/>
                  </a:moveTo>
                  <a:lnTo>
                    <a:pt x="695930" y="26611"/>
                  </a:lnTo>
                  <a:lnTo>
                    <a:pt x="709088" y="52036"/>
                  </a:lnTo>
                  <a:lnTo>
                    <a:pt x="721804" y="45465"/>
                  </a:lnTo>
                  <a:lnTo>
                    <a:pt x="708596" y="20065"/>
                  </a:lnTo>
                  <a:close/>
                </a:path>
                <a:path w="779144" h="412114">
                  <a:moveTo>
                    <a:pt x="778700" y="0"/>
                  </a:moveTo>
                  <a:lnTo>
                    <a:pt x="682815" y="1269"/>
                  </a:lnTo>
                  <a:lnTo>
                    <a:pt x="695930" y="26611"/>
                  </a:lnTo>
                  <a:lnTo>
                    <a:pt x="708596" y="20065"/>
                  </a:lnTo>
                  <a:lnTo>
                    <a:pt x="764038" y="20065"/>
                  </a:lnTo>
                  <a:lnTo>
                    <a:pt x="7787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89251" y="2782569"/>
              <a:ext cx="2920365" cy="2700020"/>
            </a:xfrm>
            <a:custGeom>
              <a:avLst/>
              <a:gdLst/>
              <a:ahLst/>
              <a:cxnLst/>
              <a:rect l="l" t="t" r="r" b="b"/>
              <a:pathLst>
                <a:path w="2920365" h="2700020">
                  <a:moveTo>
                    <a:pt x="0" y="1946020"/>
                  </a:moveTo>
                  <a:lnTo>
                    <a:pt x="0" y="2699639"/>
                  </a:lnTo>
                  <a:lnTo>
                    <a:pt x="2900172" y="2680461"/>
                  </a:lnTo>
                  <a:lnTo>
                    <a:pt x="2920111" y="0"/>
                  </a:lnTo>
                  <a:lnTo>
                    <a:pt x="0" y="1946020"/>
                  </a:lnTo>
                  <a:close/>
                </a:path>
              </a:pathLst>
            </a:custGeom>
            <a:ln w="1905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09191" y="4627740"/>
              <a:ext cx="115570" cy="670560"/>
            </a:xfrm>
            <a:custGeom>
              <a:avLst/>
              <a:gdLst/>
              <a:ahLst/>
              <a:cxnLst/>
              <a:rect l="l" t="t" r="r" b="b"/>
              <a:pathLst>
                <a:path w="115569" h="670560">
                  <a:moveTo>
                    <a:pt x="0" y="670064"/>
                  </a:moveTo>
                  <a:lnTo>
                    <a:pt x="115324" y="670064"/>
                  </a:lnTo>
                  <a:lnTo>
                    <a:pt x="115324" y="0"/>
                  </a:lnTo>
                  <a:lnTo>
                    <a:pt x="0" y="0"/>
                  </a:lnTo>
                  <a:lnTo>
                    <a:pt x="0" y="670064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53336" y="4780140"/>
              <a:ext cx="786765" cy="670560"/>
            </a:xfrm>
            <a:custGeom>
              <a:avLst/>
              <a:gdLst/>
              <a:ahLst/>
              <a:cxnLst/>
              <a:rect l="l" t="t" r="r" b="b"/>
              <a:pathLst>
                <a:path w="786764" h="670560">
                  <a:moveTo>
                    <a:pt x="0" y="670064"/>
                  </a:moveTo>
                  <a:lnTo>
                    <a:pt x="786599" y="670064"/>
                  </a:lnTo>
                  <a:lnTo>
                    <a:pt x="786599" y="0"/>
                  </a:lnTo>
                  <a:lnTo>
                    <a:pt x="0" y="0"/>
                  </a:lnTo>
                  <a:lnTo>
                    <a:pt x="0" y="670064"/>
                  </a:lnTo>
                  <a:close/>
                </a:path>
              </a:pathLst>
            </a:custGeom>
            <a:ln w="1905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596132" y="1974595"/>
            <a:ext cx="10052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região</a:t>
            </a:r>
            <a:r>
              <a:rPr sz="1600" b="1" spc="-75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de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sobreajuste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7672" y="2015108"/>
            <a:ext cx="21863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Ponto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equilíbrio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ótimo</a:t>
            </a:r>
            <a:endParaRPr sz="160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(mudança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tendência)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14525" y="6144259"/>
            <a:ext cx="8496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Região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de</a:t>
            </a:r>
            <a:endParaRPr sz="1600">
              <a:latin typeface="Calibri"/>
              <a:cs typeface="Calibri"/>
            </a:endParaRPr>
          </a:p>
          <a:p>
            <a:pPr marL="19685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Calibri"/>
                <a:cs typeface="Calibri"/>
              </a:rPr>
              <a:t>equilíbrio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00095" y="6202400"/>
            <a:ext cx="129539" cy="416559"/>
          </a:xfrm>
          <a:custGeom>
            <a:avLst/>
            <a:gdLst/>
            <a:ahLst/>
            <a:cxnLst/>
            <a:rect l="l" t="t" r="r" b="b"/>
            <a:pathLst>
              <a:path w="129539" h="416559">
                <a:moveTo>
                  <a:pt x="0" y="416458"/>
                </a:moveTo>
                <a:lnTo>
                  <a:pt x="25229" y="415611"/>
                </a:lnTo>
                <a:lnTo>
                  <a:pt x="45815" y="413300"/>
                </a:lnTo>
                <a:lnTo>
                  <a:pt x="59686" y="409873"/>
                </a:lnTo>
                <a:lnTo>
                  <a:pt x="64770" y="405676"/>
                </a:lnTo>
                <a:lnTo>
                  <a:pt x="64770" y="219011"/>
                </a:lnTo>
                <a:lnTo>
                  <a:pt x="69851" y="214813"/>
                </a:lnTo>
                <a:lnTo>
                  <a:pt x="83708" y="211386"/>
                </a:lnTo>
                <a:lnTo>
                  <a:pt x="104257" y="209076"/>
                </a:lnTo>
                <a:lnTo>
                  <a:pt x="129412" y="208229"/>
                </a:lnTo>
                <a:lnTo>
                  <a:pt x="104257" y="207382"/>
                </a:lnTo>
                <a:lnTo>
                  <a:pt x="83708" y="205071"/>
                </a:lnTo>
                <a:lnTo>
                  <a:pt x="69851" y="201644"/>
                </a:lnTo>
                <a:lnTo>
                  <a:pt x="64770" y="197446"/>
                </a:lnTo>
                <a:lnTo>
                  <a:pt x="64770" y="10782"/>
                </a:lnTo>
                <a:lnTo>
                  <a:pt x="59686" y="6584"/>
                </a:lnTo>
                <a:lnTo>
                  <a:pt x="45815" y="3157"/>
                </a:lnTo>
                <a:lnTo>
                  <a:pt x="25229" y="847"/>
                </a:lnTo>
                <a:lnTo>
                  <a:pt x="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043228" y="3841115"/>
            <a:ext cx="1259840" cy="2364740"/>
            <a:chOff x="1043228" y="3841115"/>
            <a:chExt cx="1259840" cy="2364740"/>
          </a:xfrm>
        </p:grpSpPr>
        <p:sp>
          <p:nvSpPr>
            <p:cNvPr id="18" name="object 18"/>
            <p:cNvSpPr/>
            <p:nvPr/>
          </p:nvSpPr>
          <p:spPr>
            <a:xfrm>
              <a:off x="1933955" y="5443728"/>
              <a:ext cx="368935" cy="706120"/>
            </a:xfrm>
            <a:custGeom>
              <a:avLst/>
              <a:gdLst/>
              <a:ahLst/>
              <a:cxnLst/>
              <a:rect l="l" t="t" r="r" b="b"/>
              <a:pathLst>
                <a:path w="368935" h="706120">
                  <a:moveTo>
                    <a:pt x="317248" y="635803"/>
                  </a:moveTo>
                  <a:lnTo>
                    <a:pt x="291845" y="648754"/>
                  </a:lnTo>
                  <a:lnTo>
                    <a:pt x="368935" y="705688"/>
                  </a:lnTo>
                  <a:lnTo>
                    <a:pt x="368480" y="648512"/>
                  </a:lnTo>
                  <a:lnTo>
                    <a:pt x="323723" y="648512"/>
                  </a:lnTo>
                  <a:lnTo>
                    <a:pt x="317248" y="635803"/>
                  </a:lnTo>
                  <a:close/>
                </a:path>
                <a:path w="368935" h="706120">
                  <a:moveTo>
                    <a:pt x="342754" y="622799"/>
                  </a:moveTo>
                  <a:lnTo>
                    <a:pt x="317248" y="635803"/>
                  </a:lnTo>
                  <a:lnTo>
                    <a:pt x="323723" y="648512"/>
                  </a:lnTo>
                  <a:lnTo>
                    <a:pt x="349250" y="635546"/>
                  </a:lnTo>
                  <a:lnTo>
                    <a:pt x="342754" y="622799"/>
                  </a:lnTo>
                  <a:close/>
                </a:path>
                <a:path w="368935" h="706120">
                  <a:moveTo>
                    <a:pt x="368173" y="609841"/>
                  </a:moveTo>
                  <a:lnTo>
                    <a:pt x="342754" y="622799"/>
                  </a:lnTo>
                  <a:lnTo>
                    <a:pt x="349250" y="635546"/>
                  </a:lnTo>
                  <a:lnTo>
                    <a:pt x="323723" y="648512"/>
                  </a:lnTo>
                  <a:lnTo>
                    <a:pt x="368480" y="648512"/>
                  </a:lnTo>
                  <a:lnTo>
                    <a:pt x="368173" y="609841"/>
                  </a:lnTo>
                  <a:close/>
                </a:path>
                <a:path w="368935" h="706120">
                  <a:moveTo>
                    <a:pt x="25400" y="0"/>
                  </a:moveTo>
                  <a:lnTo>
                    <a:pt x="0" y="13081"/>
                  </a:lnTo>
                  <a:lnTo>
                    <a:pt x="317248" y="635803"/>
                  </a:lnTo>
                  <a:lnTo>
                    <a:pt x="342754" y="622799"/>
                  </a:lnTo>
                  <a:lnTo>
                    <a:pt x="2540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347" y="3841115"/>
              <a:ext cx="235076" cy="23507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600326" y="4061714"/>
              <a:ext cx="426084" cy="1096645"/>
            </a:xfrm>
            <a:custGeom>
              <a:avLst/>
              <a:gdLst/>
              <a:ahLst/>
              <a:cxnLst/>
              <a:rect l="l" t="t" r="r" b="b"/>
              <a:pathLst>
                <a:path w="426085" h="1096645">
                  <a:moveTo>
                    <a:pt x="0" y="1000887"/>
                  </a:moveTo>
                  <a:lnTo>
                    <a:pt x="10540" y="1096137"/>
                  </a:lnTo>
                  <a:lnTo>
                    <a:pt x="76608" y="1034034"/>
                  </a:lnTo>
                  <a:lnTo>
                    <a:pt x="48640" y="1034034"/>
                  </a:lnTo>
                  <a:lnTo>
                    <a:pt x="21843" y="1024128"/>
                  </a:lnTo>
                  <a:lnTo>
                    <a:pt x="26775" y="1010742"/>
                  </a:lnTo>
                  <a:lnTo>
                    <a:pt x="0" y="1000887"/>
                  </a:lnTo>
                  <a:close/>
                </a:path>
                <a:path w="426085" h="1096645">
                  <a:moveTo>
                    <a:pt x="26775" y="1010742"/>
                  </a:moveTo>
                  <a:lnTo>
                    <a:pt x="21843" y="1024128"/>
                  </a:lnTo>
                  <a:lnTo>
                    <a:pt x="48640" y="1034034"/>
                  </a:lnTo>
                  <a:lnTo>
                    <a:pt x="53586" y="1020611"/>
                  </a:lnTo>
                  <a:lnTo>
                    <a:pt x="26775" y="1010742"/>
                  </a:lnTo>
                  <a:close/>
                </a:path>
                <a:path w="426085" h="1096645">
                  <a:moveTo>
                    <a:pt x="53586" y="1020611"/>
                  </a:moveTo>
                  <a:lnTo>
                    <a:pt x="48640" y="1034034"/>
                  </a:lnTo>
                  <a:lnTo>
                    <a:pt x="76608" y="1034034"/>
                  </a:lnTo>
                  <a:lnTo>
                    <a:pt x="80390" y="1030478"/>
                  </a:lnTo>
                  <a:lnTo>
                    <a:pt x="53586" y="1020611"/>
                  </a:lnTo>
                  <a:close/>
                </a:path>
                <a:path w="426085" h="1096645">
                  <a:moveTo>
                    <a:pt x="399160" y="0"/>
                  </a:moveTo>
                  <a:lnTo>
                    <a:pt x="26775" y="1010742"/>
                  </a:lnTo>
                  <a:lnTo>
                    <a:pt x="53586" y="1020611"/>
                  </a:lnTo>
                  <a:lnTo>
                    <a:pt x="425958" y="9906"/>
                  </a:lnTo>
                  <a:lnTo>
                    <a:pt x="39916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46403" y="5785942"/>
              <a:ext cx="129539" cy="416559"/>
            </a:xfrm>
            <a:custGeom>
              <a:avLst/>
              <a:gdLst/>
              <a:ahLst/>
              <a:cxnLst/>
              <a:rect l="l" t="t" r="r" b="b"/>
              <a:pathLst>
                <a:path w="129540" h="416560">
                  <a:moveTo>
                    <a:pt x="0" y="416458"/>
                  </a:moveTo>
                  <a:lnTo>
                    <a:pt x="25187" y="415611"/>
                  </a:lnTo>
                  <a:lnTo>
                    <a:pt x="45754" y="413300"/>
                  </a:lnTo>
                  <a:lnTo>
                    <a:pt x="59621" y="409873"/>
                  </a:lnTo>
                  <a:lnTo>
                    <a:pt x="64706" y="405676"/>
                  </a:lnTo>
                  <a:lnTo>
                    <a:pt x="64706" y="219011"/>
                  </a:lnTo>
                  <a:lnTo>
                    <a:pt x="69789" y="214813"/>
                  </a:lnTo>
                  <a:lnTo>
                    <a:pt x="83651" y="211386"/>
                  </a:lnTo>
                  <a:lnTo>
                    <a:pt x="104215" y="209076"/>
                  </a:lnTo>
                  <a:lnTo>
                    <a:pt x="129400" y="208229"/>
                  </a:lnTo>
                  <a:lnTo>
                    <a:pt x="104215" y="207382"/>
                  </a:lnTo>
                  <a:lnTo>
                    <a:pt x="83651" y="205071"/>
                  </a:lnTo>
                  <a:lnTo>
                    <a:pt x="69789" y="201644"/>
                  </a:lnTo>
                  <a:lnTo>
                    <a:pt x="64706" y="197446"/>
                  </a:lnTo>
                  <a:lnTo>
                    <a:pt x="64706" y="10782"/>
                  </a:lnTo>
                  <a:lnTo>
                    <a:pt x="59621" y="6584"/>
                  </a:lnTo>
                  <a:lnTo>
                    <a:pt x="45754" y="3157"/>
                  </a:lnTo>
                  <a:lnTo>
                    <a:pt x="25187" y="847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002407" y="6137554"/>
            <a:ext cx="6318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 marR="5080" indent="-2032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Ambos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os </a:t>
            </a:r>
            <a:r>
              <a:rPr sz="1200" dirty="0">
                <a:latin typeface="Calibri"/>
                <a:cs typeface="Calibri"/>
              </a:rPr>
              <a:t>erros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são </a:t>
            </a:r>
            <a:r>
              <a:rPr sz="1200" spc="-10" dirty="0">
                <a:latin typeface="Calibri"/>
                <a:cs typeface="Calibri"/>
              </a:rPr>
              <a:t>mínimos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645659" y="2037714"/>
            <a:ext cx="129539" cy="416559"/>
          </a:xfrm>
          <a:custGeom>
            <a:avLst/>
            <a:gdLst/>
            <a:ahLst/>
            <a:cxnLst/>
            <a:rect l="l" t="t" r="r" b="b"/>
            <a:pathLst>
              <a:path w="129539" h="416560">
                <a:moveTo>
                  <a:pt x="0" y="416433"/>
                </a:moveTo>
                <a:lnTo>
                  <a:pt x="25229" y="415585"/>
                </a:lnTo>
                <a:lnTo>
                  <a:pt x="45815" y="413273"/>
                </a:lnTo>
                <a:lnTo>
                  <a:pt x="59686" y="409842"/>
                </a:lnTo>
                <a:lnTo>
                  <a:pt x="64769" y="405638"/>
                </a:lnTo>
                <a:lnTo>
                  <a:pt x="64769" y="219075"/>
                </a:lnTo>
                <a:lnTo>
                  <a:pt x="69851" y="214870"/>
                </a:lnTo>
                <a:lnTo>
                  <a:pt x="83708" y="211439"/>
                </a:lnTo>
                <a:lnTo>
                  <a:pt x="104257" y="209127"/>
                </a:lnTo>
                <a:lnTo>
                  <a:pt x="129412" y="208280"/>
                </a:lnTo>
                <a:lnTo>
                  <a:pt x="104257" y="207432"/>
                </a:lnTo>
                <a:lnTo>
                  <a:pt x="83708" y="205120"/>
                </a:lnTo>
                <a:lnTo>
                  <a:pt x="69851" y="201689"/>
                </a:lnTo>
                <a:lnTo>
                  <a:pt x="64769" y="197485"/>
                </a:lnTo>
                <a:lnTo>
                  <a:pt x="64769" y="10795"/>
                </a:lnTo>
                <a:lnTo>
                  <a:pt x="59686" y="6590"/>
                </a:lnTo>
                <a:lnTo>
                  <a:pt x="45815" y="3159"/>
                </a:lnTo>
                <a:lnTo>
                  <a:pt x="25229" y="847"/>
                </a:lnTo>
                <a:lnTo>
                  <a:pt x="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782692" y="2039492"/>
            <a:ext cx="604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081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Erros divergem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93088" y="5713272"/>
            <a:ext cx="5740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9055" algn="just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Ambos </a:t>
            </a:r>
            <a:r>
              <a:rPr sz="1200" dirty="0">
                <a:latin typeface="Calibri"/>
                <a:cs typeface="Calibri"/>
              </a:rPr>
              <a:t>os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erros </a:t>
            </a:r>
            <a:r>
              <a:rPr sz="1200" dirty="0">
                <a:latin typeface="Calibri"/>
                <a:cs typeface="Calibri"/>
              </a:rPr>
              <a:t>são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altos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 marR="5080">
              <a:lnSpc>
                <a:spcPts val="4740"/>
              </a:lnSpc>
              <a:spcBef>
                <a:spcPts val="715"/>
              </a:spcBef>
            </a:pPr>
            <a:r>
              <a:rPr dirty="0"/>
              <a:t>Usando</a:t>
            </a:r>
            <a:r>
              <a:rPr spc="-100" dirty="0"/>
              <a:t> </a:t>
            </a:r>
            <a:r>
              <a:rPr b="0" spc="55" dirty="0">
                <a:solidFill>
                  <a:srgbClr val="0E0E0E"/>
                </a:solidFill>
                <a:latin typeface="Cambria Math"/>
                <a:cs typeface="Cambria Math"/>
              </a:rPr>
              <a:t>𝑘</a:t>
            </a:r>
            <a:r>
              <a:rPr spc="55" dirty="0"/>
              <a:t>-</a:t>
            </a:r>
            <a:r>
              <a:rPr dirty="0"/>
              <a:t>fold</a:t>
            </a:r>
            <a:r>
              <a:rPr spc="-75" dirty="0"/>
              <a:t> </a:t>
            </a:r>
            <a:r>
              <a:rPr dirty="0"/>
              <a:t>para</a:t>
            </a:r>
            <a:r>
              <a:rPr spc="-80" dirty="0"/>
              <a:t> </a:t>
            </a:r>
            <a:r>
              <a:rPr dirty="0"/>
              <a:t>encontrar</a:t>
            </a:r>
            <a:r>
              <a:rPr spc="-80" dirty="0"/>
              <a:t> </a:t>
            </a:r>
            <a:r>
              <a:rPr dirty="0"/>
              <a:t>o</a:t>
            </a:r>
            <a:r>
              <a:rPr spc="-80" dirty="0"/>
              <a:t> </a:t>
            </a:r>
            <a:r>
              <a:rPr dirty="0"/>
              <a:t>grau</a:t>
            </a:r>
            <a:r>
              <a:rPr spc="-80" dirty="0"/>
              <a:t> </a:t>
            </a:r>
            <a:r>
              <a:rPr spc="-25" dirty="0"/>
              <a:t>do </a:t>
            </a:r>
            <a:r>
              <a:rPr dirty="0"/>
              <a:t>polinômio</a:t>
            </a:r>
            <a:r>
              <a:rPr spc="-5" dirty="0"/>
              <a:t> </a:t>
            </a:r>
            <a:r>
              <a:rPr spc="-10" dirty="0"/>
              <a:t>aproximador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38721" y="1708226"/>
            <a:ext cx="5419725" cy="485775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341630" indent="-228600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0E0E0E"/>
                </a:solidFill>
                <a:latin typeface="Cambria Math"/>
                <a:cs typeface="Cambria Math"/>
              </a:rPr>
              <a:t>𝒌</a:t>
            </a:r>
            <a:r>
              <a:rPr sz="2600" spc="-25" dirty="0">
                <a:solidFill>
                  <a:srgbClr val="0E0E0E"/>
                </a:solidFill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10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folds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10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treinamentos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9 </a:t>
            </a:r>
            <a:r>
              <a:rPr sz="2600" i="1" dirty="0">
                <a:latin typeface="Calibri"/>
                <a:cs typeface="Calibri"/>
              </a:rPr>
              <a:t>folds</a:t>
            </a:r>
            <a:r>
              <a:rPr sz="2600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para </a:t>
            </a:r>
            <a:r>
              <a:rPr sz="2600" spc="-10" dirty="0">
                <a:latin typeface="Calibri"/>
                <a:cs typeface="Calibri"/>
              </a:rPr>
              <a:t>validação.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gráficos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mostram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média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dirty="0">
                <a:latin typeface="Calibri"/>
                <a:cs typeface="Calibri"/>
              </a:rPr>
              <a:t>desvio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padrão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validação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10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etapas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para </a:t>
            </a:r>
            <a:r>
              <a:rPr sz="2600" dirty="0">
                <a:latin typeface="Calibri"/>
                <a:cs typeface="Calibri"/>
              </a:rPr>
              <a:t>cada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grau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avaliado.</a:t>
            </a:r>
            <a:endParaRPr sz="2600" dirty="0">
              <a:latin typeface="Calibri"/>
              <a:cs typeface="Calibri"/>
            </a:endParaRPr>
          </a:p>
          <a:p>
            <a:pPr marL="241300" marR="183515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média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desvio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padrão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EQM </a:t>
            </a:r>
            <a:r>
              <a:rPr sz="2600" dirty="0">
                <a:latin typeface="Calibri"/>
                <a:cs typeface="Calibri"/>
              </a:rPr>
              <a:t>diminuem,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passando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ponto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equilíbrio,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depois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aumentam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50" dirty="0">
                <a:latin typeface="Calibri"/>
                <a:cs typeface="Calibri"/>
              </a:rPr>
              <a:t> o </a:t>
            </a:r>
            <a:r>
              <a:rPr sz="2600" dirty="0">
                <a:latin typeface="Calibri"/>
                <a:cs typeface="Calibri"/>
              </a:rPr>
              <a:t>grau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polinômio.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Qual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grau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escolher?</a:t>
            </a:r>
            <a:endParaRPr sz="2600" dirty="0">
              <a:latin typeface="Calibri"/>
              <a:cs typeface="Calibri"/>
            </a:endParaRPr>
          </a:p>
          <a:p>
            <a:pPr marL="698500" marR="314325" lvl="1" indent="-228600">
              <a:lnSpc>
                <a:spcPct val="70000"/>
              </a:lnSpc>
              <a:spcBef>
                <a:spcPts val="645"/>
              </a:spcBef>
              <a:buFont typeface="Wingdings"/>
              <a:buChar char=""/>
              <a:tabLst>
                <a:tab pos="698500" algn="l"/>
              </a:tabLst>
            </a:pPr>
            <a:r>
              <a:rPr sz="2200" spc="-20" dirty="0">
                <a:latin typeface="Calibri"/>
                <a:cs typeface="Calibri"/>
              </a:rPr>
              <a:t>Valor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Calibri"/>
                <a:cs typeface="Calibri"/>
              </a:rPr>
              <a:t>ambos,</a:t>
            </a:r>
            <a:r>
              <a:rPr sz="22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média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desvio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padrão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EQM</a:t>
            </a:r>
            <a:r>
              <a:rPr sz="2200" b="1" i="1" dirty="0">
                <a:solidFill>
                  <a:srgbClr val="006FC0"/>
                </a:solidFill>
                <a:latin typeface="Calibri"/>
                <a:cs typeface="Calibri"/>
              </a:rPr>
              <a:t>,</a:t>
            </a:r>
            <a:r>
              <a:rPr sz="22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Calibri"/>
                <a:cs typeface="Calibri"/>
              </a:rPr>
              <a:t>sejam</a:t>
            </a:r>
            <a:r>
              <a:rPr sz="22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Calibri"/>
                <a:cs typeface="Calibri"/>
              </a:rPr>
              <a:t>mínimos</a:t>
            </a:r>
            <a:r>
              <a:rPr sz="22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que </a:t>
            </a:r>
            <a:r>
              <a:rPr sz="2200" dirty="0">
                <a:latin typeface="Calibri"/>
                <a:cs typeface="Calibri"/>
              </a:rPr>
              <a:t>tenha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Calibri"/>
                <a:cs typeface="Calibri"/>
              </a:rPr>
              <a:t>menor</a:t>
            </a:r>
            <a:r>
              <a:rPr sz="2200" b="1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6FC0"/>
                </a:solidFill>
                <a:latin typeface="Calibri"/>
                <a:cs typeface="Calibri"/>
              </a:rPr>
              <a:t>complexidade computacional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1148" y="2566289"/>
            <a:ext cx="6299200" cy="2864485"/>
            <a:chOff x="111148" y="2566289"/>
            <a:chExt cx="6299200" cy="28644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148" y="2860853"/>
              <a:ext cx="6259144" cy="23239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06013" y="2566289"/>
              <a:ext cx="2376170" cy="736600"/>
            </a:xfrm>
            <a:custGeom>
              <a:avLst/>
              <a:gdLst/>
              <a:ahLst/>
              <a:cxnLst/>
              <a:rect l="l" t="t" r="r" b="b"/>
              <a:pathLst>
                <a:path w="2376170" h="736600">
                  <a:moveTo>
                    <a:pt x="2289446" y="709025"/>
                  </a:moveTo>
                  <a:lnTo>
                    <a:pt x="2281301" y="736473"/>
                  </a:lnTo>
                  <a:lnTo>
                    <a:pt x="2375662" y="719836"/>
                  </a:lnTo>
                  <a:lnTo>
                    <a:pt x="2368474" y="713105"/>
                  </a:lnTo>
                  <a:lnTo>
                    <a:pt x="2303145" y="713105"/>
                  </a:lnTo>
                  <a:lnTo>
                    <a:pt x="2289446" y="709025"/>
                  </a:lnTo>
                  <a:close/>
                </a:path>
                <a:path w="2376170" h="736600">
                  <a:moveTo>
                    <a:pt x="2297551" y="681713"/>
                  </a:moveTo>
                  <a:lnTo>
                    <a:pt x="2289446" y="709025"/>
                  </a:lnTo>
                  <a:lnTo>
                    <a:pt x="2303145" y="713105"/>
                  </a:lnTo>
                  <a:lnTo>
                    <a:pt x="2311273" y="685800"/>
                  </a:lnTo>
                  <a:lnTo>
                    <a:pt x="2297551" y="681713"/>
                  </a:lnTo>
                  <a:close/>
                </a:path>
                <a:path w="2376170" h="736600">
                  <a:moveTo>
                    <a:pt x="2305685" y="654303"/>
                  </a:moveTo>
                  <a:lnTo>
                    <a:pt x="2297551" y="681713"/>
                  </a:lnTo>
                  <a:lnTo>
                    <a:pt x="2311273" y="685800"/>
                  </a:lnTo>
                  <a:lnTo>
                    <a:pt x="2303145" y="713105"/>
                  </a:lnTo>
                  <a:lnTo>
                    <a:pt x="2368474" y="713105"/>
                  </a:lnTo>
                  <a:lnTo>
                    <a:pt x="2305685" y="654303"/>
                  </a:lnTo>
                  <a:close/>
                </a:path>
                <a:path w="2376170" h="736600">
                  <a:moveTo>
                    <a:pt x="8254" y="0"/>
                  </a:moveTo>
                  <a:lnTo>
                    <a:pt x="0" y="27305"/>
                  </a:lnTo>
                  <a:lnTo>
                    <a:pt x="2289446" y="709025"/>
                  </a:lnTo>
                  <a:lnTo>
                    <a:pt x="2297551" y="681713"/>
                  </a:lnTo>
                  <a:lnTo>
                    <a:pt x="8254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6262" y="2979420"/>
              <a:ext cx="5824855" cy="1887855"/>
            </a:xfrm>
            <a:custGeom>
              <a:avLst/>
              <a:gdLst/>
              <a:ahLst/>
              <a:cxnLst/>
              <a:rect l="l" t="t" r="r" b="b"/>
              <a:pathLst>
                <a:path w="5824855" h="1887854">
                  <a:moveTo>
                    <a:pt x="0" y="1362582"/>
                  </a:moveTo>
                  <a:lnTo>
                    <a:pt x="0" y="1887346"/>
                  </a:lnTo>
                  <a:lnTo>
                    <a:pt x="2583497" y="1874011"/>
                  </a:lnTo>
                  <a:lnTo>
                    <a:pt x="2601277" y="7619"/>
                  </a:lnTo>
                  <a:lnTo>
                    <a:pt x="0" y="1362582"/>
                  </a:lnTo>
                  <a:close/>
                </a:path>
                <a:path w="5824855" h="1887854">
                  <a:moveTo>
                    <a:pt x="3223323" y="1354962"/>
                  </a:moveTo>
                  <a:lnTo>
                    <a:pt x="3223323" y="1879727"/>
                  </a:lnTo>
                  <a:lnTo>
                    <a:pt x="5806757" y="1866391"/>
                  </a:lnTo>
                  <a:lnTo>
                    <a:pt x="5824537" y="0"/>
                  </a:lnTo>
                  <a:lnTo>
                    <a:pt x="3223323" y="1354962"/>
                  </a:lnTo>
                  <a:close/>
                </a:path>
              </a:pathLst>
            </a:custGeom>
            <a:ln w="1905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2201" y="2571750"/>
              <a:ext cx="290195" cy="407670"/>
            </a:xfrm>
            <a:custGeom>
              <a:avLst/>
              <a:gdLst/>
              <a:ahLst/>
              <a:cxnLst/>
              <a:rect l="l" t="t" r="r" b="b"/>
              <a:pathLst>
                <a:path w="290195" h="407669">
                  <a:moveTo>
                    <a:pt x="13843" y="312800"/>
                  </a:moveTo>
                  <a:lnTo>
                    <a:pt x="0" y="407670"/>
                  </a:lnTo>
                  <a:lnTo>
                    <a:pt x="84200" y="361823"/>
                  </a:lnTo>
                  <a:lnTo>
                    <a:pt x="77456" y="357124"/>
                  </a:lnTo>
                  <a:lnTo>
                    <a:pt x="52578" y="357124"/>
                  </a:lnTo>
                  <a:lnTo>
                    <a:pt x="29082" y="340867"/>
                  </a:lnTo>
                  <a:lnTo>
                    <a:pt x="37258" y="329115"/>
                  </a:lnTo>
                  <a:lnTo>
                    <a:pt x="13843" y="312800"/>
                  </a:lnTo>
                  <a:close/>
                </a:path>
                <a:path w="290195" h="407669">
                  <a:moveTo>
                    <a:pt x="37258" y="329115"/>
                  </a:moveTo>
                  <a:lnTo>
                    <a:pt x="29082" y="340867"/>
                  </a:lnTo>
                  <a:lnTo>
                    <a:pt x="52578" y="357124"/>
                  </a:lnTo>
                  <a:lnTo>
                    <a:pt x="60701" y="345449"/>
                  </a:lnTo>
                  <a:lnTo>
                    <a:pt x="37258" y="329115"/>
                  </a:lnTo>
                  <a:close/>
                </a:path>
                <a:path w="290195" h="407669">
                  <a:moveTo>
                    <a:pt x="60701" y="345449"/>
                  </a:moveTo>
                  <a:lnTo>
                    <a:pt x="52578" y="357124"/>
                  </a:lnTo>
                  <a:lnTo>
                    <a:pt x="77456" y="357124"/>
                  </a:lnTo>
                  <a:lnTo>
                    <a:pt x="60701" y="345449"/>
                  </a:lnTo>
                  <a:close/>
                </a:path>
                <a:path w="290195" h="407669">
                  <a:moveTo>
                    <a:pt x="266191" y="0"/>
                  </a:moveTo>
                  <a:lnTo>
                    <a:pt x="37258" y="329115"/>
                  </a:lnTo>
                  <a:lnTo>
                    <a:pt x="60701" y="345449"/>
                  </a:lnTo>
                  <a:lnTo>
                    <a:pt x="289687" y="16383"/>
                  </a:lnTo>
                  <a:lnTo>
                    <a:pt x="266191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9640" y="4866767"/>
              <a:ext cx="598170" cy="563880"/>
            </a:xfrm>
            <a:custGeom>
              <a:avLst/>
              <a:gdLst/>
              <a:ahLst/>
              <a:cxnLst/>
              <a:rect l="l" t="t" r="r" b="b"/>
              <a:pathLst>
                <a:path w="598169" h="563879">
                  <a:moveTo>
                    <a:pt x="72247" y="48306"/>
                  </a:moveTo>
                  <a:lnTo>
                    <a:pt x="52644" y="69113"/>
                  </a:lnTo>
                  <a:lnTo>
                    <a:pt x="578053" y="563625"/>
                  </a:lnTo>
                  <a:lnTo>
                    <a:pt x="597636" y="542924"/>
                  </a:lnTo>
                  <a:lnTo>
                    <a:pt x="72247" y="48306"/>
                  </a:lnTo>
                  <a:close/>
                </a:path>
                <a:path w="598169" h="563879">
                  <a:moveTo>
                    <a:pt x="0" y="0"/>
                  </a:moveTo>
                  <a:lnTo>
                    <a:pt x="33045" y="89915"/>
                  </a:lnTo>
                  <a:lnTo>
                    <a:pt x="52644" y="69113"/>
                  </a:lnTo>
                  <a:lnTo>
                    <a:pt x="42227" y="59308"/>
                  </a:lnTo>
                  <a:lnTo>
                    <a:pt x="61810" y="38480"/>
                  </a:lnTo>
                  <a:lnTo>
                    <a:pt x="81505" y="38480"/>
                  </a:lnTo>
                  <a:lnTo>
                    <a:pt x="91795" y="27558"/>
                  </a:lnTo>
                  <a:lnTo>
                    <a:pt x="0" y="0"/>
                  </a:lnTo>
                  <a:close/>
                </a:path>
                <a:path w="598169" h="563879">
                  <a:moveTo>
                    <a:pt x="61810" y="38480"/>
                  </a:moveTo>
                  <a:lnTo>
                    <a:pt x="42227" y="59308"/>
                  </a:lnTo>
                  <a:lnTo>
                    <a:pt x="52644" y="69113"/>
                  </a:lnTo>
                  <a:lnTo>
                    <a:pt x="72247" y="48306"/>
                  </a:lnTo>
                  <a:lnTo>
                    <a:pt x="61810" y="38480"/>
                  </a:lnTo>
                  <a:close/>
                </a:path>
                <a:path w="598169" h="563879">
                  <a:moveTo>
                    <a:pt x="81505" y="38480"/>
                  </a:moveTo>
                  <a:lnTo>
                    <a:pt x="61810" y="38480"/>
                  </a:lnTo>
                  <a:lnTo>
                    <a:pt x="72247" y="48306"/>
                  </a:lnTo>
                  <a:lnTo>
                    <a:pt x="81505" y="3848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4175" y="4356138"/>
              <a:ext cx="91440" cy="511175"/>
            </a:xfrm>
            <a:custGeom>
              <a:avLst/>
              <a:gdLst/>
              <a:ahLst/>
              <a:cxnLst/>
              <a:rect l="l" t="t" r="r" b="b"/>
              <a:pathLst>
                <a:path w="91440" h="511175">
                  <a:moveTo>
                    <a:pt x="0" y="510628"/>
                  </a:moveTo>
                  <a:lnTo>
                    <a:pt x="90935" y="510628"/>
                  </a:lnTo>
                  <a:lnTo>
                    <a:pt x="90935" y="0"/>
                  </a:lnTo>
                  <a:lnTo>
                    <a:pt x="0" y="0"/>
                  </a:lnTo>
                  <a:lnTo>
                    <a:pt x="0" y="510628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8164" y="2599309"/>
              <a:ext cx="721360" cy="1126490"/>
            </a:xfrm>
            <a:custGeom>
              <a:avLst/>
              <a:gdLst/>
              <a:ahLst/>
              <a:cxnLst/>
              <a:rect l="l" t="t" r="r" b="b"/>
              <a:pathLst>
                <a:path w="721360" h="1126489">
                  <a:moveTo>
                    <a:pt x="9677" y="1030732"/>
                  </a:moveTo>
                  <a:lnTo>
                    <a:pt x="0" y="1126108"/>
                  </a:lnTo>
                  <a:lnTo>
                    <a:pt x="82092" y="1076705"/>
                  </a:lnTo>
                  <a:lnTo>
                    <a:pt x="76891" y="1073403"/>
                  </a:lnTo>
                  <a:lnTo>
                    <a:pt x="50304" y="1073403"/>
                  </a:lnTo>
                  <a:lnTo>
                    <a:pt x="26174" y="1058164"/>
                  </a:lnTo>
                  <a:lnTo>
                    <a:pt x="33838" y="1046071"/>
                  </a:lnTo>
                  <a:lnTo>
                    <a:pt x="9677" y="1030732"/>
                  </a:lnTo>
                  <a:close/>
                </a:path>
                <a:path w="721360" h="1126489">
                  <a:moveTo>
                    <a:pt x="33838" y="1046071"/>
                  </a:moveTo>
                  <a:lnTo>
                    <a:pt x="26174" y="1058164"/>
                  </a:lnTo>
                  <a:lnTo>
                    <a:pt x="50304" y="1073403"/>
                  </a:lnTo>
                  <a:lnTo>
                    <a:pt x="57932" y="1061367"/>
                  </a:lnTo>
                  <a:lnTo>
                    <a:pt x="33838" y="1046071"/>
                  </a:lnTo>
                  <a:close/>
                </a:path>
                <a:path w="721360" h="1126489">
                  <a:moveTo>
                    <a:pt x="57932" y="1061367"/>
                  </a:moveTo>
                  <a:lnTo>
                    <a:pt x="50304" y="1073403"/>
                  </a:lnTo>
                  <a:lnTo>
                    <a:pt x="76891" y="1073403"/>
                  </a:lnTo>
                  <a:lnTo>
                    <a:pt x="57932" y="1061367"/>
                  </a:lnTo>
                  <a:close/>
                </a:path>
                <a:path w="721360" h="1126489">
                  <a:moveTo>
                    <a:pt x="696785" y="0"/>
                  </a:moveTo>
                  <a:lnTo>
                    <a:pt x="33838" y="1046071"/>
                  </a:lnTo>
                  <a:lnTo>
                    <a:pt x="57932" y="1061367"/>
                  </a:lnTo>
                  <a:lnTo>
                    <a:pt x="720915" y="15239"/>
                  </a:lnTo>
                  <a:lnTo>
                    <a:pt x="696785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728" y="3694811"/>
              <a:ext cx="163055" cy="16306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6824" y="3844925"/>
              <a:ext cx="274320" cy="977265"/>
            </a:xfrm>
            <a:custGeom>
              <a:avLst/>
              <a:gdLst/>
              <a:ahLst/>
              <a:cxnLst/>
              <a:rect l="l" t="t" r="r" b="b"/>
              <a:pathLst>
                <a:path w="274320" h="977264">
                  <a:moveTo>
                    <a:pt x="0" y="883666"/>
                  </a:moveTo>
                  <a:lnTo>
                    <a:pt x="21158" y="977138"/>
                  </a:lnTo>
                  <a:lnTo>
                    <a:pt x="77309" y="911098"/>
                  </a:lnTo>
                  <a:lnTo>
                    <a:pt x="52082" y="911098"/>
                  </a:lnTo>
                  <a:lnTo>
                    <a:pt x="24333" y="904367"/>
                  </a:lnTo>
                  <a:lnTo>
                    <a:pt x="27745" y="890480"/>
                  </a:lnTo>
                  <a:lnTo>
                    <a:pt x="0" y="883666"/>
                  </a:lnTo>
                  <a:close/>
                </a:path>
                <a:path w="274320" h="977264">
                  <a:moveTo>
                    <a:pt x="27745" y="890480"/>
                  </a:moveTo>
                  <a:lnTo>
                    <a:pt x="24333" y="904367"/>
                  </a:lnTo>
                  <a:lnTo>
                    <a:pt x="52082" y="911098"/>
                  </a:lnTo>
                  <a:lnTo>
                    <a:pt x="55475" y="897291"/>
                  </a:lnTo>
                  <a:lnTo>
                    <a:pt x="27745" y="890480"/>
                  </a:lnTo>
                  <a:close/>
                </a:path>
                <a:path w="274320" h="977264">
                  <a:moveTo>
                    <a:pt x="55475" y="897291"/>
                  </a:moveTo>
                  <a:lnTo>
                    <a:pt x="52082" y="911098"/>
                  </a:lnTo>
                  <a:lnTo>
                    <a:pt x="77309" y="911098"/>
                  </a:lnTo>
                  <a:lnTo>
                    <a:pt x="83248" y="904113"/>
                  </a:lnTo>
                  <a:lnTo>
                    <a:pt x="55475" y="897291"/>
                  </a:lnTo>
                  <a:close/>
                </a:path>
                <a:path w="274320" h="977264">
                  <a:moveTo>
                    <a:pt x="246557" y="0"/>
                  </a:moveTo>
                  <a:lnTo>
                    <a:pt x="27745" y="890480"/>
                  </a:lnTo>
                  <a:lnTo>
                    <a:pt x="55475" y="897291"/>
                  </a:lnTo>
                  <a:lnTo>
                    <a:pt x="274307" y="6857"/>
                  </a:lnTo>
                  <a:lnTo>
                    <a:pt x="246557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43095" y="3718179"/>
              <a:ext cx="162940" cy="1630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510919" y="2593974"/>
              <a:ext cx="2527935" cy="2227580"/>
            </a:xfrm>
            <a:custGeom>
              <a:avLst/>
              <a:gdLst/>
              <a:ahLst/>
              <a:cxnLst/>
              <a:rect l="l" t="t" r="r" b="b"/>
              <a:pathLst>
                <a:path w="2527935" h="2227579">
                  <a:moveTo>
                    <a:pt x="2462784" y="1154811"/>
                  </a:moveTo>
                  <a:lnTo>
                    <a:pt x="2449144" y="1137666"/>
                  </a:lnTo>
                  <a:lnTo>
                    <a:pt x="2403094" y="1079754"/>
                  </a:lnTo>
                  <a:lnTo>
                    <a:pt x="2390991" y="1105725"/>
                  </a:lnTo>
                  <a:lnTo>
                    <a:pt x="12065" y="0"/>
                  </a:lnTo>
                  <a:lnTo>
                    <a:pt x="0" y="25908"/>
                  </a:lnTo>
                  <a:lnTo>
                    <a:pt x="2378926" y="1131633"/>
                  </a:lnTo>
                  <a:lnTo>
                    <a:pt x="2366899" y="1157478"/>
                  </a:lnTo>
                  <a:lnTo>
                    <a:pt x="2462784" y="1154811"/>
                  </a:lnTo>
                  <a:close/>
                </a:path>
                <a:path w="2527935" h="2227579">
                  <a:moveTo>
                    <a:pt x="2527427" y="1290447"/>
                  </a:moveTo>
                  <a:lnTo>
                    <a:pt x="2499868" y="1282573"/>
                  </a:lnTo>
                  <a:lnTo>
                    <a:pt x="2251976" y="2141004"/>
                  </a:lnTo>
                  <a:lnTo>
                    <a:pt x="2224532" y="2133092"/>
                  </a:lnTo>
                  <a:lnTo>
                    <a:pt x="2241931" y="2227326"/>
                  </a:lnTo>
                  <a:lnTo>
                    <a:pt x="2301557" y="2162683"/>
                  </a:lnTo>
                  <a:lnTo>
                    <a:pt x="2306955" y="2156841"/>
                  </a:lnTo>
                  <a:lnTo>
                    <a:pt x="2279434" y="2148916"/>
                  </a:lnTo>
                  <a:lnTo>
                    <a:pt x="2527427" y="1290447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07538" y="2016074"/>
            <a:ext cx="10052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região</a:t>
            </a:r>
            <a:r>
              <a:rPr sz="1600" b="1" spc="-80" dirty="0">
                <a:latin typeface="Calibri"/>
                <a:cs typeface="Calibri"/>
              </a:rPr>
              <a:t> </a:t>
            </a:r>
            <a:r>
              <a:rPr sz="1600" b="1" spc="-35" dirty="0">
                <a:latin typeface="Calibri"/>
                <a:cs typeface="Calibri"/>
              </a:rPr>
              <a:t>de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Calibri"/>
                <a:cs typeface="Calibri"/>
              </a:rPr>
              <a:t>sobreajuste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1472" y="5442305"/>
            <a:ext cx="8318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16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região</a:t>
            </a:r>
            <a:r>
              <a:rPr sz="1600" b="1" spc="-75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de </a:t>
            </a:r>
            <a:r>
              <a:rPr sz="1600" b="1" spc="-20" dirty="0">
                <a:latin typeface="Calibri"/>
                <a:cs typeface="Calibri"/>
              </a:rPr>
              <a:t>subajuste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2859" y="2043429"/>
            <a:ext cx="21863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Ponto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equilíbrio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ótimo</a:t>
            </a:r>
            <a:endParaRPr sz="160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(mudança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tendência)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952621" y="2083689"/>
            <a:ext cx="129539" cy="416559"/>
          </a:xfrm>
          <a:custGeom>
            <a:avLst/>
            <a:gdLst/>
            <a:ahLst/>
            <a:cxnLst/>
            <a:rect l="l" t="t" r="r" b="b"/>
            <a:pathLst>
              <a:path w="129539" h="416560">
                <a:moveTo>
                  <a:pt x="0" y="416433"/>
                </a:moveTo>
                <a:lnTo>
                  <a:pt x="25155" y="415587"/>
                </a:lnTo>
                <a:lnTo>
                  <a:pt x="45704" y="413289"/>
                </a:lnTo>
                <a:lnTo>
                  <a:pt x="59561" y="409896"/>
                </a:lnTo>
                <a:lnTo>
                  <a:pt x="64642" y="405764"/>
                </a:lnTo>
                <a:lnTo>
                  <a:pt x="64642" y="219075"/>
                </a:lnTo>
                <a:lnTo>
                  <a:pt x="69726" y="214870"/>
                </a:lnTo>
                <a:lnTo>
                  <a:pt x="83597" y="211439"/>
                </a:lnTo>
                <a:lnTo>
                  <a:pt x="104183" y="209127"/>
                </a:lnTo>
                <a:lnTo>
                  <a:pt x="129412" y="208280"/>
                </a:lnTo>
                <a:lnTo>
                  <a:pt x="104183" y="207432"/>
                </a:lnTo>
                <a:lnTo>
                  <a:pt x="83597" y="205120"/>
                </a:lnTo>
                <a:lnTo>
                  <a:pt x="69726" y="201689"/>
                </a:lnTo>
                <a:lnTo>
                  <a:pt x="64642" y="197485"/>
                </a:lnTo>
                <a:lnTo>
                  <a:pt x="64642" y="10795"/>
                </a:lnTo>
                <a:lnTo>
                  <a:pt x="59561" y="6590"/>
                </a:lnTo>
                <a:lnTo>
                  <a:pt x="45704" y="3159"/>
                </a:lnTo>
                <a:lnTo>
                  <a:pt x="25155" y="847"/>
                </a:lnTo>
                <a:lnTo>
                  <a:pt x="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088129" y="2085594"/>
            <a:ext cx="1195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28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Erro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10" dirty="0">
                <a:latin typeface="Calibri"/>
                <a:cs typeface="Calibri"/>
              </a:rPr>
              <a:t> desvio </a:t>
            </a:r>
            <a:r>
              <a:rPr sz="1200" dirty="0">
                <a:latin typeface="Calibri"/>
                <a:cs typeface="Calibri"/>
              </a:rPr>
              <a:t>padrão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muito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altos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70660" y="5507990"/>
            <a:ext cx="129539" cy="416559"/>
          </a:xfrm>
          <a:custGeom>
            <a:avLst/>
            <a:gdLst/>
            <a:ahLst/>
            <a:cxnLst/>
            <a:rect l="l" t="t" r="r" b="b"/>
            <a:pathLst>
              <a:path w="129540" h="416560">
                <a:moveTo>
                  <a:pt x="0" y="416458"/>
                </a:moveTo>
                <a:lnTo>
                  <a:pt x="25229" y="415609"/>
                </a:lnTo>
                <a:lnTo>
                  <a:pt x="45815" y="413294"/>
                </a:lnTo>
                <a:lnTo>
                  <a:pt x="59686" y="409862"/>
                </a:lnTo>
                <a:lnTo>
                  <a:pt x="64770" y="405663"/>
                </a:lnTo>
                <a:lnTo>
                  <a:pt x="64770" y="219011"/>
                </a:lnTo>
                <a:lnTo>
                  <a:pt x="69851" y="214811"/>
                </a:lnTo>
                <a:lnTo>
                  <a:pt x="83708" y="211380"/>
                </a:lnTo>
                <a:lnTo>
                  <a:pt x="104257" y="209065"/>
                </a:lnTo>
                <a:lnTo>
                  <a:pt x="129412" y="208216"/>
                </a:lnTo>
                <a:lnTo>
                  <a:pt x="104257" y="207369"/>
                </a:lnTo>
                <a:lnTo>
                  <a:pt x="83708" y="205058"/>
                </a:lnTo>
                <a:lnTo>
                  <a:pt x="69851" y="201631"/>
                </a:lnTo>
                <a:lnTo>
                  <a:pt x="64770" y="197434"/>
                </a:lnTo>
                <a:lnTo>
                  <a:pt x="64770" y="10795"/>
                </a:lnTo>
                <a:lnTo>
                  <a:pt x="59686" y="6590"/>
                </a:lnTo>
                <a:lnTo>
                  <a:pt x="45815" y="3159"/>
                </a:lnTo>
                <a:lnTo>
                  <a:pt x="25229" y="847"/>
                </a:lnTo>
                <a:lnTo>
                  <a:pt x="0" y="0"/>
                </a:lnTo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648205" y="5510580"/>
            <a:ext cx="828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 marR="5080" indent="-1841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Erro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10" dirty="0">
                <a:latin typeface="Calibri"/>
                <a:cs typeface="Calibri"/>
              </a:rPr>
              <a:t> desvio </a:t>
            </a:r>
            <a:r>
              <a:rPr sz="1200" dirty="0">
                <a:latin typeface="Calibri"/>
                <a:cs typeface="Calibri"/>
              </a:rPr>
              <a:t>padrão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altos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739" y="6574028"/>
            <a:ext cx="66389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*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Tempo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médio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validação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cruzada </a:t>
            </a:r>
            <a:r>
              <a:rPr sz="1400" dirty="0">
                <a:latin typeface="Cambria Math"/>
                <a:cs typeface="Cambria Math"/>
              </a:rPr>
              <a:t>𝑘</a:t>
            </a:r>
            <a:r>
              <a:rPr sz="1400" dirty="0">
                <a:latin typeface="Calibri"/>
                <a:cs typeface="Calibri"/>
              </a:rPr>
              <a:t>-</a:t>
            </a:r>
            <a:r>
              <a:rPr sz="1400" i="1" dirty="0">
                <a:latin typeface="Calibri"/>
                <a:cs typeface="Calibri"/>
              </a:rPr>
              <a:t>fold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100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𝑘</a:t>
            </a:r>
            <a:r>
              <a:rPr sz="1400" spc="35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10</a:t>
            </a:r>
            <a:r>
              <a:rPr sz="1400" spc="-10" dirty="0">
                <a:latin typeface="Calibri"/>
                <a:cs typeface="Calibri"/>
              </a:rPr>
              <a:t> exemplos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≈</a:t>
            </a:r>
            <a:r>
              <a:rPr sz="1400" spc="-20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1.5</a:t>
            </a:r>
            <a:r>
              <a:rPr sz="1400" spc="-20" dirty="0">
                <a:latin typeface="Calibri"/>
                <a:cs typeface="Calibri"/>
              </a:rPr>
              <a:t> [s].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 marR="5080">
              <a:lnSpc>
                <a:spcPts val="4740"/>
              </a:lnSpc>
              <a:spcBef>
                <a:spcPts val="715"/>
              </a:spcBef>
            </a:pPr>
            <a:r>
              <a:rPr dirty="0"/>
              <a:t>Usando</a:t>
            </a:r>
            <a:r>
              <a:rPr spc="-100" dirty="0"/>
              <a:t> </a:t>
            </a:r>
            <a:r>
              <a:rPr b="0" spc="55" dirty="0">
                <a:solidFill>
                  <a:srgbClr val="0E0E0E"/>
                </a:solidFill>
                <a:latin typeface="Cambria Math"/>
                <a:cs typeface="Cambria Math"/>
              </a:rPr>
              <a:t>𝑘</a:t>
            </a:r>
            <a:r>
              <a:rPr spc="55" dirty="0"/>
              <a:t>-</a:t>
            </a:r>
            <a:r>
              <a:rPr dirty="0"/>
              <a:t>fold</a:t>
            </a:r>
            <a:r>
              <a:rPr spc="-75" dirty="0"/>
              <a:t> </a:t>
            </a:r>
            <a:r>
              <a:rPr dirty="0"/>
              <a:t>para</a:t>
            </a:r>
            <a:r>
              <a:rPr spc="-80" dirty="0"/>
              <a:t> </a:t>
            </a:r>
            <a:r>
              <a:rPr dirty="0"/>
              <a:t>encontrar</a:t>
            </a:r>
            <a:r>
              <a:rPr spc="-80" dirty="0"/>
              <a:t> </a:t>
            </a:r>
            <a:r>
              <a:rPr dirty="0"/>
              <a:t>o</a:t>
            </a:r>
            <a:r>
              <a:rPr spc="-80" dirty="0"/>
              <a:t> </a:t>
            </a:r>
            <a:r>
              <a:rPr dirty="0"/>
              <a:t>grau</a:t>
            </a:r>
            <a:r>
              <a:rPr spc="-80" dirty="0"/>
              <a:t> </a:t>
            </a:r>
            <a:r>
              <a:rPr spc="-25" dirty="0"/>
              <a:t>do </a:t>
            </a:r>
            <a:r>
              <a:rPr dirty="0"/>
              <a:t>polinômio</a:t>
            </a:r>
            <a:r>
              <a:rPr spc="-5" dirty="0"/>
              <a:t> </a:t>
            </a:r>
            <a:r>
              <a:rPr spc="-10" dirty="0"/>
              <a:t>aproximador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1647" y="3990594"/>
            <a:ext cx="5295900" cy="276860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Modelos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Calibri"/>
                <a:cs typeface="Calibri"/>
              </a:rPr>
              <a:t>muito</a:t>
            </a:r>
            <a:r>
              <a:rPr sz="26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6F2F9F"/>
                </a:solidFill>
                <a:latin typeface="Calibri"/>
                <a:cs typeface="Calibri"/>
              </a:rPr>
              <a:t>flexíveis</a:t>
            </a:r>
            <a:r>
              <a:rPr sz="26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(mais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que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necessário)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apresentam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desvios </a:t>
            </a:r>
            <a:r>
              <a:rPr sz="2600" dirty="0">
                <a:latin typeface="Calibri"/>
                <a:cs typeface="Calibri"/>
              </a:rPr>
              <a:t>padrão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muito </a:t>
            </a:r>
            <a:r>
              <a:rPr sz="2600" dirty="0">
                <a:latin typeface="Calibri"/>
                <a:cs typeface="Calibri"/>
              </a:rPr>
              <a:t>baixo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validação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muito </a:t>
            </a:r>
            <a:r>
              <a:rPr sz="2600" dirty="0">
                <a:latin typeface="Calibri"/>
                <a:cs typeface="Calibri"/>
              </a:rPr>
              <a:t>alto,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indicando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6F2F9F"/>
                </a:solidFill>
                <a:latin typeface="Calibri"/>
                <a:cs typeface="Calibri"/>
              </a:rPr>
              <a:t>sobreajuste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32385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Modelos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pouco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flexíveis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(menos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do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necessário)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têm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ambos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os </a:t>
            </a:r>
            <a:r>
              <a:rPr sz="2600" dirty="0">
                <a:latin typeface="Calibri"/>
                <a:cs typeface="Calibri"/>
              </a:rPr>
              <a:t>desvios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padrão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altos, </a:t>
            </a:r>
            <a:r>
              <a:rPr sz="2600" dirty="0">
                <a:latin typeface="Calibri"/>
                <a:cs typeface="Calibri"/>
              </a:rPr>
              <a:t>indicando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6F2F9F"/>
                </a:solidFill>
                <a:latin typeface="Calibri"/>
                <a:cs typeface="Calibri"/>
              </a:rPr>
              <a:t>subajuste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1148" y="2566289"/>
            <a:ext cx="6299200" cy="2864485"/>
            <a:chOff x="111148" y="2566289"/>
            <a:chExt cx="6299200" cy="28644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148" y="2860853"/>
              <a:ext cx="6259144" cy="232391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06013" y="2566289"/>
              <a:ext cx="2376170" cy="736600"/>
            </a:xfrm>
            <a:custGeom>
              <a:avLst/>
              <a:gdLst/>
              <a:ahLst/>
              <a:cxnLst/>
              <a:rect l="l" t="t" r="r" b="b"/>
              <a:pathLst>
                <a:path w="2376170" h="736600">
                  <a:moveTo>
                    <a:pt x="2289446" y="709025"/>
                  </a:moveTo>
                  <a:lnTo>
                    <a:pt x="2281301" y="736473"/>
                  </a:lnTo>
                  <a:lnTo>
                    <a:pt x="2375662" y="719836"/>
                  </a:lnTo>
                  <a:lnTo>
                    <a:pt x="2368474" y="713105"/>
                  </a:lnTo>
                  <a:lnTo>
                    <a:pt x="2303145" y="713105"/>
                  </a:lnTo>
                  <a:lnTo>
                    <a:pt x="2289446" y="709025"/>
                  </a:lnTo>
                  <a:close/>
                </a:path>
                <a:path w="2376170" h="736600">
                  <a:moveTo>
                    <a:pt x="2297551" y="681713"/>
                  </a:moveTo>
                  <a:lnTo>
                    <a:pt x="2289446" y="709025"/>
                  </a:lnTo>
                  <a:lnTo>
                    <a:pt x="2303145" y="713105"/>
                  </a:lnTo>
                  <a:lnTo>
                    <a:pt x="2311273" y="685800"/>
                  </a:lnTo>
                  <a:lnTo>
                    <a:pt x="2297551" y="681713"/>
                  </a:lnTo>
                  <a:close/>
                </a:path>
                <a:path w="2376170" h="736600">
                  <a:moveTo>
                    <a:pt x="2305685" y="654303"/>
                  </a:moveTo>
                  <a:lnTo>
                    <a:pt x="2297551" y="681713"/>
                  </a:lnTo>
                  <a:lnTo>
                    <a:pt x="2311273" y="685800"/>
                  </a:lnTo>
                  <a:lnTo>
                    <a:pt x="2303145" y="713105"/>
                  </a:lnTo>
                  <a:lnTo>
                    <a:pt x="2368474" y="713105"/>
                  </a:lnTo>
                  <a:lnTo>
                    <a:pt x="2305685" y="654303"/>
                  </a:lnTo>
                  <a:close/>
                </a:path>
                <a:path w="2376170" h="736600">
                  <a:moveTo>
                    <a:pt x="8254" y="0"/>
                  </a:moveTo>
                  <a:lnTo>
                    <a:pt x="0" y="27305"/>
                  </a:lnTo>
                  <a:lnTo>
                    <a:pt x="2289446" y="709025"/>
                  </a:lnTo>
                  <a:lnTo>
                    <a:pt x="2297551" y="681713"/>
                  </a:lnTo>
                  <a:lnTo>
                    <a:pt x="8254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6262" y="2979420"/>
              <a:ext cx="5824855" cy="1887855"/>
            </a:xfrm>
            <a:custGeom>
              <a:avLst/>
              <a:gdLst/>
              <a:ahLst/>
              <a:cxnLst/>
              <a:rect l="l" t="t" r="r" b="b"/>
              <a:pathLst>
                <a:path w="5824855" h="1887854">
                  <a:moveTo>
                    <a:pt x="0" y="1362582"/>
                  </a:moveTo>
                  <a:lnTo>
                    <a:pt x="0" y="1887346"/>
                  </a:lnTo>
                  <a:lnTo>
                    <a:pt x="2583497" y="1874011"/>
                  </a:lnTo>
                  <a:lnTo>
                    <a:pt x="2601277" y="7619"/>
                  </a:lnTo>
                  <a:lnTo>
                    <a:pt x="0" y="1362582"/>
                  </a:lnTo>
                  <a:close/>
                </a:path>
                <a:path w="5824855" h="1887854">
                  <a:moveTo>
                    <a:pt x="3223323" y="1354962"/>
                  </a:moveTo>
                  <a:lnTo>
                    <a:pt x="3223323" y="1879727"/>
                  </a:lnTo>
                  <a:lnTo>
                    <a:pt x="5806757" y="1866391"/>
                  </a:lnTo>
                  <a:lnTo>
                    <a:pt x="5824537" y="0"/>
                  </a:lnTo>
                  <a:lnTo>
                    <a:pt x="3223323" y="1354962"/>
                  </a:lnTo>
                  <a:close/>
                </a:path>
              </a:pathLst>
            </a:custGeom>
            <a:ln w="1905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32201" y="2571750"/>
              <a:ext cx="290195" cy="407670"/>
            </a:xfrm>
            <a:custGeom>
              <a:avLst/>
              <a:gdLst/>
              <a:ahLst/>
              <a:cxnLst/>
              <a:rect l="l" t="t" r="r" b="b"/>
              <a:pathLst>
                <a:path w="290195" h="407669">
                  <a:moveTo>
                    <a:pt x="13843" y="312800"/>
                  </a:moveTo>
                  <a:lnTo>
                    <a:pt x="0" y="407670"/>
                  </a:lnTo>
                  <a:lnTo>
                    <a:pt x="84200" y="361823"/>
                  </a:lnTo>
                  <a:lnTo>
                    <a:pt x="77456" y="357124"/>
                  </a:lnTo>
                  <a:lnTo>
                    <a:pt x="52578" y="357124"/>
                  </a:lnTo>
                  <a:lnTo>
                    <a:pt x="29082" y="340867"/>
                  </a:lnTo>
                  <a:lnTo>
                    <a:pt x="37258" y="329115"/>
                  </a:lnTo>
                  <a:lnTo>
                    <a:pt x="13843" y="312800"/>
                  </a:lnTo>
                  <a:close/>
                </a:path>
                <a:path w="290195" h="407669">
                  <a:moveTo>
                    <a:pt x="37258" y="329115"/>
                  </a:moveTo>
                  <a:lnTo>
                    <a:pt x="29082" y="340867"/>
                  </a:lnTo>
                  <a:lnTo>
                    <a:pt x="52578" y="357124"/>
                  </a:lnTo>
                  <a:lnTo>
                    <a:pt x="60701" y="345449"/>
                  </a:lnTo>
                  <a:lnTo>
                    <a:pt x="37258" y="329115"/>
                  </a:lnTo>
                  <a:close/>
                </a:path>
                <a:path w="290195" h="407669">
                  <a:moveTo>
                    <a:pt x="60701" y="345449"/>
                  </a:moveTo>
                  <a:lnTo>
                    <a:pt x="52578" y="357124"/>
                  </a:lnTo>
                  <a:lnTo>
                    <a:pt x="77456" y="357124"/>
                  </a:lnTo>
                  <a:lnTo>
                    <a:pt x="60701" y="345449"/>
                  </a:lnTo>
                  <a:close/>
                </a:path>
                <a:path w="290195" h="407669">
                  <a:moveTo>
                    <a:pt x="266191" y="0"/>
                  </a:moveTo>
                  <a:lnTo>
                    <a:pt x="37258" y="329115"/>
                  </a:lnTo>
                  <a:lnTo>
                    <a:pt x="60701" y="345449"/>
                  </a:lnTo>
                  <a:lnTo>
                    <a:pt x="289687" y="16383"/>
                  </a:lnTo>
                  <a:lnTo>
                    <a:pt x="266191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9640" y="4866767"/>
              <a:ext cx="598170" cy="563880"/>
            </a:xfrm>
            <a:custGeom>
              <a:avLst/>
              <a:gdLst/>
              <a:ahLst/>
              <a:cxnLst/>
              <a:rect l="l" t="t" r="r" b="b"/>
              <a:pathLst>
                <a:path w="598169" h="563879">
                  <a:moveTo>
                    <a:pt x="72247" y="48306"/>
                  </a:moveTo>
                  <a:lnTo>
                    <a:pt x="52644" y="69113"/>
                  </a:lnTo>
                  <a:lnTo>
                    <a:pt x="578053" y="563625"/>
                  </a:lnTo>
                  <a:lnTo>
                    <a:pt x="597636" y="542924"/>
                  </a:lnTo>
                  <a:lnTo>
                    <a:pt x="72247" y="48306"/>
                  </a:lnTo>
                  <a:close/>
                </a:path>
                <a:path w="598169" h="563879">
                  <a:moveTo>
                    <a:pt x="0" y="0"/>
                  </a:moveTo>
                  <a:lnTo>
                    <a:pt x="33045" y="89915"/>
                  </a:lnTo>
                  <a:lnTo>
                    <a:pt x="52644" y="69113"/>
                  </a:lnTo>
                  <a:lnTo>
                    <a:pt x="42227" y="59308"/>
                  </a:lnTo>
                  <a:lnTo>
                    <a:pt x="61810" y="38480"/>
                  </a:lnTo>
                  <a:lnTo>
                    <a:pt x="81505" y="38480"/>
                  </a:lnTo>
                  <a:lnTo>
                    <a:pt x="91795" y="27558"/>
                  </a:lnTo>
                  <a:lnTo>
                    <a:pt x="0" y="0"/>
                  </a:lnTo>
                  <a:close/>
                </a:path>
                <a:path w="598169" h="563879">
                  <a:moveTo>
                    <a:pt x="61810" y="38480"/>
                  </a:moveTo>
                  <a:lnTo>
                    <a:pt x="42227" y="59308"/>
                  </a:lnTo>
                  <a:lnTo>
                    <a:pt x="52644" y="69113"/>
                  </a:lnTo>
                  <a:lnTo>
                    <a:pt x="72247" y="48306"/>
                  </a:lnTo>
                  <a:lnTo>
                    <a:pt x="61810" y="38480"/>
                  </a:lnTo>
                  <a:close/>
                </a:path>
                <a:path w="598169" h="563879">
                  <a:moveTo>
                    <a:pt x="81505" y="38480"/>
                  </a:moveTo>
                  <a:lnTo>
                    <a:pt x="61810" y="38480"/>
                  </a:lnTo>
                  <a:lnTo>
                    <a:pt x="72247" y="48306"/>
                  </a:lnTo>
                  <a:lnTo>
                    <a:pt x="81505" y="3848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4175" y="4356138"/>
              <a:ext cx="91440" cy="511175"/>
            </a:xfrm>
            <a:custGeom>
              <a:avLst/>
              <a:gdLst/>
              <a:ahLst/>
              <a:cxnLst/>
              <a:rect l="l" t="t" r="r" b="b"/>
              <a:pathLst>
                <a:path w="91440" h="511175">
                  <a:moveTo>
                    <a:pt x="0" y="510628"/>
                  </a:moveTo>
                  <a:lnTo>
                    <a:pt x="90935" y="510628"/>
                  </a:lnTo>
                  <a:lnTo>
                    <a:pt x="90935" y="0"/>
                  </a:lnTo>
                  <a:lnTo>
                    <a:pt x="0" y="0"/>
                  </a:lnTo>
                  <a:lnTo>
                    <a:pt x="0" y="510628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8164" y="2599309"/>
              <a:ext cx="721360" cy="1126490"/>
            </a:xfrm>
            <a:custGeom>
              <a:avLst/>
              <a:gdLst/>
              <a:ahLst/>
              <a:cxnLst/>
              <a:rect l="l" t="t" r="r" b="b"/>
              <a:pathLst>
                <a:path w="721360" h="1126489">
                  <a:moveTo>
                    <a:pt x="9677" y="1030732"/>
                  </a:moveTo>
                  <a:lnTo>
                    <a:pt x="0" y="1126108"/>
                  </a:lnTo>
                  <a:lnTo>
                    <a:pt x="82092" y="1076705"/>
                  </a:lnTo>
                  <a:lnTo>
                    <a:pt x="76891" y="1073403"/>
                  </a:lnTo>
                  <a:lnTo>
                    <a:pt x="50304" y="1073403"/>
                  </a:lnTo>
                  <a:lnTo>
                    <a:pt x="26174" y="1058164"/>
                  </a:lnTo>
                  <a:lnTo>
                    <a:pt x="33838" y="1046071"/>
                  </a:lnTo>
                  <a:lnTo>
                    <a:pt x="9677" y="1030732"/>
                  </a:lnTo>
                  <a:close/>
                </a:path>
                <a:path w="721360" h="1126489">
                  <a:moveTo>
                    <a:pt x="33838" y="1046071"/>
                  </a:moveTo>
                  <a:lnTo>
                    <a:pt x="26174" y="1058164"/>
                  </a:lnTo>
                  <a:lnTo>
                    <a:pt x="50304" y="1073403"/>
                  </a:lnTo>
                  <a:lnTo>
                    <a:pt x="57932" y="1061367"/>
                  </a:lnTo>
                  <a:lnTo>
                    <a:pt x="33838" y="1046071"/>
                  </a:lnTo>
                  <a:close/>
                </a:path>
                <a:path w="721360" h="1126489">
                  <a:moveTo>
                    <a:pt x="57932" y="1061367"/>
                  </a:moveTo>
                  <a:lnTo>
                    <a:pt x="50304" y="1073403"/>
                  </a:lnTo>
                  <a:lnTo>
                    <a:pt x="76891" y="1073403"/>
                  </a:lnTo>
                  <a:lnTo>
                    <a:pt x="57932" y="1061367"/>
                  </a:lnTo>
                  <a:close/>
                </a:path>
                <a:path w="721360" h="1126489">
                  <a:moveTo>
                    <a:pt x="696785" y="0"/>
                  </a:moveTo>
                  <a:lnTo>
                    <a:pt x="33838" y="1046071"/>
                  </a:lnTo>
                  <a:lnTo>
                    <a:pt x="57932" y="1061367"/>
                  </a:lnTo>
                  <a:lnTo>
                    <a:pt x="720915" y="15239"/>
                  </a:lnTo>
                  <a:lnTo>
                    <a:pt x="696785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728" y="3694811"/>
              <a:ext cx="163055" cy="1630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96824" y="3844925"/>
              <a:ext cx="274320" cy="977265"/>
            </a:xfrm>
            <a:custGeom>
              <a:avLst/>
              <a:gdLst/>
              <a:ahLst/>
              <a:cxnLst/>
              <a:rect l="l" t="t" r="r" b="b"/>
              <a:pathLst>
                <a:path w="274320" h="977264">
                  <a:moveTo>
                    <a:pt x="0" y="883666"/>
                  </a:moveTo>
                  <a:lnTo>
                    <a:pt x="21158" y="977138"/>
                  </a:lnTo>
                  <a:lnTo>
                    <a:pt x="77309" y="911098"/>
                  </a:lnTo>
                  <a:lnTo>
                    <a:pt x="52082" y="911098"/>
                  </a:lnTo>
                  <a:lnTo>
                    <a:pt x="24333" y="904367"/>
                  </a:lnTo>
                  <a:lnTo>
                    <a:pt x="27745" y="890480"/>
                  </a:lnTo>
                  <a:lnTo>
                    <a:pt x="0" y="883666"/>
                  </a:lnTo>
                  <a:close/>
                </a:path>
                <a:path w="274320" h="977264">
                  <a:moveTo>
                    <a:pt x="27745" y="890480"/>
                  </a:moveTo>
                  <a:lnTo>
                    <a:pt x="24333" y="904367"/>
                  </a:lnTo>
                  <a:lnTo>
                    <a:pt x="52082" y="911098"/>
                  </a:lnTo>
                  <a:lnTo>
                    <a:pt x="55475" y="897291"/>
                  </a:lnTo>
                  <a:lnTo>
                    <a:pt x="27745" y="890480"/>
                  </a:lnTo>
                  <a:close/>
                </a:path>
                <a:path w="274320" h="977264">
                  <a:moveTo>
                    <a:pt x="55475" y="897291"/>
                  </a:moveTo>
                  <a:lnTo>
                    <a:pt x="52082" y="911098"/>
                  </a:lnTo>
                  <a:lnTo>
                    <a:pt x="77309" y="911098"/>
                  </a:lnTo>
                  <a:lnTo>
                    <a:pt x="83248" y="904113"/>
                  </a:lnTo>
                  <a:lnTo>
                    <a:pt x="55475" y="897291"/>
                  </a:lnTo>
                  <a:close/>
                </a:path>
                <a:path w="274320" h="977264">
                  <a:moveTo>
                    <a:pt x="246557" y="0"/>
                  </a:moveTo>
                  <a:lnTo>
                    <a:pt x="27745" y="890480"/>
                  </a:lnTo>
                  <a:lnTo>
                    <a:pt x="55475" y="897291"/>
                  </a:lnTo>
                  <a:lnTo>
                    <a:pt x="274307" y="6857"/>
                  </a:lnTo>
                  <a:lnTo>
                    <a:pt x="246557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43095" y="3718179"/>
              <a:ext cx="162940" cy="16306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10919" y="2593974"/>
              <a:ext cx="2527935" cy="2227580"/>
            </a:xfrm>
            <a:custGeom>
              <a:avLst/>
              <a:gdLst/>
              <a:ahLst/>
              <a:cxnLst/>
              <a:rect l="l" t="t" r="r" b="b"/>
              <a:pathLst>
                <a:path w="2527935" h="2227579">
                  <a:moveTo>
                    <a:pt x="2462784" y="1154811"/>
                  </a:moveTo>
                  <a:lnTo>
                    <a:pt x="2449144" y="1137666"/>
                  </a:lnTo>
                  <a:lnTo>
                    <a:pt x="2403094" y="1079754"/>
                  </a:lnTo>
                  <a:lnTo>
                    <a:pt x="2390991" y="1105725"/>
                  </a:lnTo>
                  <a:lnTo>
                    <a:pt x="12065" y="0"/>
                  </a:lnTo>
                  <a:lnTo>
                    <a:pt x="0" y="25908"/>
                  </a:lnTo>
                  <a:lnTo>
                    <a:pt x="2378926" y="1131633"/>
                  </a:lnTo>
                  <a:lnTo>
                    <a:pt x="2366899" y="1157478"/>
                  </a:lnTo>
                  <a:lnTo>
                    <a:pt x="2462784" y="1154811"/>
                  </a:lnTo>
                  <a:close/>
                </a:path>
                <a:path w="2527935" h="2227579">
                  <a:moveTo>
                    <a:pt x="2527427" y="1290447"/>
                  </a:moveTo>
                  <a:lnTo>
                    <a:pt x="2499868" y="1282573"/>
                  </a:lnTo>
                  <a:lnTo>
                    <a:pt x="2251976" y="2141004"/>
                  </a:lnTo>
                  <a:lnTo>
                    <a:pt x="2224532" y="2133092"/>
                  </a:lnTo>
                  <a:lnTo>
                    <a:pt x="2241931" y="2227326"/>
                  </a:lnTo>
                  <a:lnTo>
                    <a:pt x="2301557" y="2162683"/>
                  </a:lnTo>
                  <a:lnTo>
                    <a:pt x="2306955" y="2156841"/>
                  </a:lnTo>
                  <a:lnTo>
                    <a:pt x="2279434" y="2148916"/>
                  </a:lnTo>
                  <a:lnTo>
                    <a:pt x="2527427" y="1290447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1472" y="5442305"/>
            <a:ext cx="8318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16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região</a:t>
            </a:r>
            <a:r>
              <a:rPr sz="1600" b="1" spc="-75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de </a:t>
            </a:r>
            <a:r>
              <a:rPr sz="1600" b="1" spc="-20" dirty="0">
                <a:latin typeface="Calibri"/>
                <a:cs typeface="Calibri"/>
              </a:rPr>
              <a:t>subajuste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2859" y="2043429"/>
            <a:ext cx="21863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Ponto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equilíbrio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ótimo</a:t>
            </a:r>
            <a:endParaRPr sz="160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(mudança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tendência)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B03AACC-9F44-ACD8-9986-407BF2B21EA7}"/>
              </a:ext>
            </a:extLst>
          </p:cNvPr>
          <p:cNvSpPr txBox="1"/>
          <p:nvPr/>
        </p:nvSpPr>
        <p:spPr>
          <a:xfrm>
            <a:off x="2849007" y="2027731"/>
            <a:ext cx="1418193" cy="51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1570"/>
              </a:lnSpc>
            </a:pPr>
            <a:r>
              <a:rPr lang="pt-BR" sz="1800" b="1" dirty="0">
                <a:latin typeface="Calibri"/>
                <a:cs typeface="Calibri"/>
              </a:rPr>
              <a:t>região</a:t>
            </a:r>
            <a:r>
              <a:rPr lang="pt-BR" sz="1800" b="1" spc="-80" dirty="0">
                <a:latin typeface="Calibri"/>
                <a:cs typeface="Calibri"/>
              </a:rPr>
              <a:t> </a:t>
            </a:r>
            <a:r>
              <a:rPr lang="pt-BR" sz="1800" b="1" spc="-35" dirty="0">
                <a:latin typeface="Calibri"/>
                <a:cs typeface="Calibri"/>
              </a:rPr>
              <a:t>de </a:t>
            </a:r>
            <a:r>
              <a:rPr lang="pt-BR" sz="1800" b="1" spc="-10" dirty="0" err="1">
                <a:latin typeface="Calibri"/>
                <a:cs typeface="Calibri"/>
              </a:rPr>
              <a:t>sobreajuste</a:t>
            </a:r>
            <a:endParaRPr lang="pt-BR" sz="1800" dirty="0">
              <a:latin typeface="Calibri"/>
              <a:cs typeface="Calibri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A4B76C1-908C-F708-1267-E56DE309026D}"/>
              </a:ext>
            </a:extLst>
          </p:cNvPr>
          <p:cNvSpPr txBox="1"/>
          <p:nvPr/>
        </p:nvSpPr>
        <p:spPr>
          <a:xfrm>
            <a:off x="6495911" y="1841842"/>
            <a:ext cx="5467371" cy="2108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900" marR="5080" indent="-457200">
              <a:lnSpc>
                <a:spcPct val="70000"/>
              </a:lnSpc>
              <a:spcBef>
                <a:spcPts val="1040"/>
              </a:spcBef>
              <a:buFont typeface="Arial" panose="020B0604020202020204" pitchFamily="34" charset="0"/>
              <a:buChar char="•"/>
            </a:pPr>
            <a:r>
              <a:rPr lang="pt-BR" sz="2600" dirty="0">
                <a:latin typeface="Calibri"/>
                <a:cs typeface="Calibri"/>
              </a:rPr>
              <a:t>Conforme</a:t>
            </a:r>
            <a:r>
              <a:rPr lang="pt-BR" sz="1800" spc="-6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 modelo se </a:t>
            </a:r>
            <a:r>
              <a:rPr lang="pt-BR" sz="2600" dirty="0" err="1">
                <a:latin typeface="Calibri"/>
                <a:cs typeface="Calibri"/>
              </a:rPr>
              <a:t>sobreajusta</a:t>
            </a:r>
            <a:r>
              <a:rPr lang="pt-BR" sz="2600" dirty="0">
                <a:latin typeface="Calibri"/>
                <a:cs typeface="Calibri"/>
              </a:rPr>
              <a:t> aos</a:t>
            </a:r>
            <a:r>
              <a:rPr lang="pt-BR" sz="2600" spc="-2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dados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spc="-10" dirty="0">
                <a:latin typeface="Calibri"/>
                <a:cs typeface="Calibri"/>
              </a:rPr>
              <a:t>treinamento,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</a:t>
            </a:r>
            <a:r>
              <a:rPr lang="pt-BR" sz="2600" spc="5" dirty="0">
                <a:latin typeface="Calibri"/>
                <a:cs typeface="Calibri"/>
              </a:rPr>
              <a:t> </a:t>
            </a:r>
            <a:r>
              <a:rPr lang="pt-BR" sz="2600" b="1" i="1" spc="-10" dirty="0">
                <a:latin typeface="Calibri"/>
                <a:cs typeface="Calibri"/>
              </a:rPr>
              <a:t>desvio </a:t>
            </a:r>
            <a:r>
              <a:rPr lang="pt-BR" sz="2600" b="1" i="1" dirty="0">
                <a:latin typeface="Calibri"/>
                <a:cs typeface="Calibri"/>
              </a:rPr>
              <a:t>padrão</a:t>
            </a:r>
            <a:r>
              <a:rPr lang="pt-BR" sz="2600" b="1" i="1" spc="-3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do</a:t>
            </a:r>
            <a:r>
              <a:rPr lang="pt-BR" sz="2600" b="1" i="1" spc="-1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erro</a:t>
            </a:r>
            <a:r>
              <a:rPr lang="pt-BR" sz="2600" b="1" i="1" spc="-2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1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validação</a:t>
            </a:r>
            <a:r>
              <a:rPr lang="pt-BR" sz="2600" b="1" i="1" spc="-5" dirty="0">
                <a:latin typeface="Calibri"/>
                <a:cs typeface="Calibri"/>
              </a:rPr>
              <a:t> </a:t>
            </a:r>
            <a:r>
              <a:rPr lang="pt-BR" sz="2600" b="1" i="1" spc="-10" dirty="0">
                <a:latin typeface="Calibri"/>
                <a:cs typeface="Calibri"/>
              </a:rPr>
              <a:t>aumenta </a:t>
            </a:r>
            <a:r>
              <a:rPr lang="pt-BR" sz="2600" b="1" i="1" dirty="0">
                <a:latin typeface="Calibri"/>
                <a:cs typeface="Calibri"/>
              </a:rPr>
              <a:t>devido</a:t>
            </a:r>
            <a:r>
              <a:rPr lang="pt-BR" sz="2600" b="1" i="1" spc="-4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à</a:t>
            </a:r>
            <a:r>
              <a:rPr lang="pt-BR" sz="2600" b="1" i="1" spc="-1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redução</a:t>
            </a:r>
            <a:r>
              <a:rPr lang="pt-BR" sz="2600" b="1" i="1" spc="-1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2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sua</a:t>
            </a:r>
            <a:r>
              <a:rPr lang="pt-BR" sz="2600" b="1" i="1" spc="-15" dirty="0">
                <a:latin typeface="Calibri"/>
                <a:cs typeface="Calibri"/>
              </a:rPr>
              <a:t> </a:t>
            </a:r>
            <a:r>
              <a:rPr lang="pt-BR" sz="2600" b="1" i="1" spc="-10" dirty="0">
                <a:latin typeface="Calibri"/>
                <a:cs typeface="Calibri"/>
              </a:rPr>
              <a:t>capacidade </a:t>
            </a:r>
            <a:r>
              <a:rPr lang="pt-BR" sz="2600" b="1" i="1" dirty="0">
                <a:latin typeface="Calibri"/>
                <a:cs typeface="Calibri"/>
              </a:rPr>
              <a:t>de</a:t>
            </a:r>
            <a:r>
              <a:rPr lang="pt-BR" sz="2600" b="1" i="1" spc="-5" dirty="0">
                <a:latin typeface="Calibri"/>
                <a:cs typeface="Calibri"/>
              </a:rPr>
              <a:t> </a:t>
            </a:r>
            <a:r>
              <a:rPr lang="pt-BR" sz="2600" b="1" i="1" spc="-10" dirty="0">
                <a:latin typeface="Calibri"/>
                <a:cs typeface="Calibri"/>
              </a:rPr>
              <a:t>generalização.</a:t>
            </a:r>
          </a:p>
          <a:p>
            <a:pPr marL="469900" marR="5080" lvl="8" indent="-457200">
              <a:lnSpc>
                <a:spcPct val="70000"/>
              </a:lnSpc>
              <a:spcBef>
                <a:spcPts val="1040"/>
              </a:spcBef>
              <a:buFont typeface="Arial" panose="020B0604020202020204" pitchFamily="34" charset="0"/>
              <a:buChar char="•"/>
            </a:pPr>
            <a:r>
              <a:rPr lang="pt-BR" sz="2200" dirty="0">
                <a:latin typeface="Calibri"/>
                <a:cs typeface="Calibri"/>
              </a:rPr>
              <a:t>Ou</a:t>
            </a:r>
            <a:r>
              <a:rPr lang="pt-BR" sz="2200" spc="-45" dirty="0">
                <a:latin typeface="Calibri"/>
                <a:cs typeface="Calibri"/>
              </a:rPr>
              <a:t> </a:t>
            </a:r>
            <a:r>
              <a:rPr lang="pt-BR" sz="2200" dirty="0">
                <a:latin typeface="Calibri"/>
                <a:cs typeface="Calibri"/>
              </a:rPr>
              <a:t>seja,</a:t>
            </a:r>
            <a:r>
              <a:rPr lang="pt-BR" sz="2200" spc="-35" dirty="0">
                <a:latin typeface="Calibri"/>
                <a:cs typeface="Calibri"/>
              </a:rPr>
              <a:t> </a:t>
            </a:r>
            <a:r>
              <a:rPr lang="pt-BR" sz="2200" dirty="0">
                <a:latin typeface="Calibri"/>
                <a:cs typeface="Calibri"/>
              </a:rPr>
              <a:t>o</a:t>
            </a:r>
            <a:r>
              <a:rPr lang="pt-BR" sz="2200" spc="-40" dirty="0">
                <a:latin typeface="Calibri"/>
                <a:cs typeface="Calibri"/>
              </a:rPr>
              <a:t> </a:t>
            </a:r>
            <a:r>
              <a:rPr lang="pt-BR" sz="2200" dirty="0">
                <a:latin typeface="Calibri"/>
                <a:cs typeface="Calibri"/>
              </a:rPr>
              <a:t>modelo</a:t>
            </a:r>
            <a:r>
              <a:rPr lang="pt-BR" sz="2200" spc="-25" dirty="0">
                <a:latin typeface="Calibri"/>
                <a:cs typeface="Calibri"/>
              </a:rPr>
              <a:t> </a:t>
            </a:r>
            <a:r>
              <a:rPr lang="pt-BR" sz="2200" spc="-10" dirty="0">
                <a:latin typeface="Calibri"/>
                <a:cs typeface="Calibri"/>
              </a:rPr>
              <a:t>aprendido</a:t>
            </a:r>
            <a:r>
              <a:rPr lang="pt-BR" sz="2200" spc="-55" dirty="0">
                <a:latin typeface="Calibri"/>
                <a:cs typeface="Calibri"/>
              </a:rPr>
              <a:t> </a:t>
            </a:r>
            <a:r>
              <a:rPr lang="pt-BR" sz="2200" dirty="0">
                <a:latin typeface="Calibri"/>
                <a:cs typeface="Calibri"/>
              </a:rPr>
              <a:t>se</a:t>
            </a:r>
            <a:r>
              <a:rPr lang="pt-BR" sz="2200" spc="-35" dirty="0">
                <a:latin typeface="Calibri"/>
                <a:cs typeface="Calibri"/>
              </a:rPr>
              <a:t> </a:t>
            </a:r>
            <a:r>
              <a:rPr lang="pt-BR" sz="2200" spc="-10" dirty="0">
                <a:latin typeface="Calibri"/>
                <a:cs typeface="Calibri"/>
              </a:rPr>
              <a:t>distancia </a:t>
            </a:r>
            <a:r>
              <a:rPr lang="pt-BR" sz="2200" dirty="0">
                <a:latin typeface="Calibri"/>
                <a:cs typeface="Calibri"/>
              </a:rPr>
              <a:t>muito</a:t>
            </a:r>
            <a:r>
              <a:rPr lang="pt-BR" sz="2200" spc="-75" dirty="0">
                <a:latin typeface="Calibri"/>
                <a:cs typeface="Calibri"/>
              </a:rPr>
              <a:t> </a:t>
            </a:r>
            <a:r>
              <a:rPr lang="pt-BR" sz="2200" dirty="0">
                <a:latin typeface="Calibri"/>
                <a:cs typeface="Calibri"/>
              </a:rPr>
              <a:t>do</a:t>
            </a:r>
            <a:r>
              <a:rPr lang="pt-BR" sz="2200" spc="-95" dirty="0">
                <a:latin typeface="Calibri"/>
                <a:cs typeface="Calibri"/>
              </a:rPr>
              <a:t> </a:t>
            </a:r>
            <a:r>
              <a:rPr lang="pt-BR" sz="2200" spc="-10" dirty="0">
                <a:latin typeface="Calibri"/>
                <a:cs typeface="Calibri"/>
              </a:rPr>
              <a:t>comportamento</a:t>
            </a:r>
            <a:r>
              <a:rPr lang="pt-BR" sz="2200" spc="-65" dirty="0">
                <a:latin typeface="Calibri"/>
                <a:cs typeface="Calibri"/>
              </a:rPr>
              <a:t> </a:t>
            </a:r>
            <a:r>
              <a:rPr lang="pt-BR" sz="2200" dirty="0">
                <a:latin typeface="Calibri"/>
                <a:cs typeface="Calibri"/>
              </a:rPr>
              <a:t>geral</a:t>
            </a:r>
            <a:r>
              <a:rPr lang="pt-BR" sz="2200" spc="-85" dirty="0">
                <a:latin typeface="Calibri"/>
                <a:cs typeface="Calibri"/>
              </a:rPr>
              <a:t> </a:t>
            </a:r>
            <a:r>
              <a:rPr lang="pt-BR" sz="2200" spc="-25" dirty="0">
                <a:latin typeface="Calibri"/>
                <a:cs typeface="Calibri"/>
              </a:rPr>
              <a:t>dos </a:t>
            </a:r>
            <a:r>
              <a:rPr lang="pt-BR" sz="2200" spc="-10" dirty="0">
                <a:latin typeface="Calibri"/>
                <a:cs typeface="Calibri"/>
              </a:rPr>
              <a:t>dados.</a:t>
            </a:r>
            <a:endParaRPr lang="pt-BR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 marR="5080">
              <a:lnSpc>
                <a:spcPts val="4740"/>
              </a:lnSpc>
              <a:spcBef>
                <a:spcPts val="715"/>
              </a:spcBef>
            </a:pPr>
            <a:r>
              <a:rPr dirty="0"/>
              <a:t>Usando</a:t>
            </a:r>
            <a:r>
              <a:rPr spc="-55" dirty="0"/>
              <a:t> </a:t>
            </a:r>
            <a:r>
              <a:rPr spc="-35" dirty="0"/>
              <a:t>leave-</a:t>
            </a:r>
            <a:r>
              <a:rPr b="0" dirty="0">
                <a:latin typeface="Cambria Math"/>
                <a:cs typeface="Cambria Math"/>
              </a:rPr>
              <a:t>𝑝</a:t>
            </a:r>
            <a:r>
              <a:rPr dirty="0"/>
              <a:t>-out</a:t>
            </a:r>
            <a:r>
              <a:rPr spc="-15" dirty="0"/>
              <a:t> </a:t>
            </a:r>
            <a:r>
              <a:rPr dirty="0"/>
              <a:t>para</a:t>
            </a:r>
            <a:r>
              <a:rPr spc="-50" dirty="0"/>
              <a:t> </a:t>
            </a:r>
            <a:r>
              <a:rPr dirty="0"/>
              <a:t>encontrar</a:t>
            </a:r>
            <a:r>
              <a:rPr spc="-45" dirty="0"/>
              <a:t> </a:t>
            </a:r>
            <a:r>
              <a:rPr dirty="0"/>
              <a:t>o</a:t>
            </a:r>
            <a:r>
              <a:rPr spc="-50" dirty="0"/>
              <a:t> </a:t>
            </a:r>
            <a:r>
              <a:rPr dirty="0"/>
              <a:t>grau</a:t>
            </a:r>
            <a:r>
              <a:rPr spc="-65" dirty="0"/>
              <a:t> </a:t>
            </a:r>
            <a:r>
              <a:rPr spc="-25" dirty="0"/>
              <a:t>do </a:t>
            </a:r>
            <a:r>
              <a:rPr dirty="0"/>
              <a:t>polinômio</a:t>
            </a:r>
            <a:r>
              <a:rPr spc="-5" dirty="0"/>
              <a:t> </a:t>
            </a:r>
            <a:r>
              <a:rPr spc="-10" dirty="0"/>
              <a:t>aproximador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38721" y="1708226"/>
            <a:ext cx="5102860" cy="991553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8600">
              <a:lnSpc>
                <a:spcPct val="701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Com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𝑝</a:t>
            </a:r>
            <a:r>
              <a:rPr sz="2600" spc="2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temos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4950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combinações </a:t>
            </a:r>
            <a:r>
              <a:rPr sz="2600" dirty="0">
                <a:latin typeface="Calibri"/>
                <a:cs typeface="Calibri"/>
              </a:rPr>
              <a:t>possíveis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98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 err="1">
                <a:latin typeface="Calibri"/>
                <a:cs typeface="Calibri"/>
              </a:rPr>
              <a:t>exemplos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para</a:t>
            </a:r>
            <a:r>
              <a:rPr lang="pt-BR" sz="2600" spc="-2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treinamento</a:t>
            </a:r>
            <a:r>
              <a:rPr lang="pt-BR" sz="2600" spc="-7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2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para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spc="-10" dirty="0">
                <a:latin typeface="Calibri"/>
                <a:cs typeface="Calibri"/>
              </a:rPr>
              <a:t>validação.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38721" y="2819400"/>
            <a:ext cx="5318125" cy="3820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 err="1">
                <a:latin typeface="Calibri"/>
                <a:cs typeface="Calibri"/>
              </a:rPr>
              <a:t>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gráficos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mostram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média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dirty="0">
                <a:latin typeface="Calibri"/>
                <a:cs typeface="Calibri"/>
              </a:rPr>
              <a:t>desvio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padrão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validação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4950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etapas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e </a:t>
            </a:r>
            <a:r>
              <a:rPr sz="2600" dirty="0">
                <a:latin typeface="Calibri"/>
                <a:cs typeface="Calibri"/>
              </a:rPr>
              <a:t>validação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cada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grau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avaliado.</a:t>
            </a:r>
            <a:endParaRPr sz="2600" dirty="0">
              <a:latin typeface="Calibri"/>
              <a:cs typeface="Calibri"/>
            </a:endParaRPr>
          </a:p>
          <a:p>
            <a:pPr marL="241300" marR="812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média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desvio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padrão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EQM </a:t>
            </a:r>
            <a:r>
              <a:rPr sz="2600" dirty="0">
                <a:latin typeface="Calibri"/>
                <a:cs typeface="Calibri"/>
              </a:rPr>
              <a:t>diminuem,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passando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ponto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equilíbrio,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depois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aumentam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50" dirty="0">
                <a:latin typeface="Calibri"/>
                <a:cs typeface="Calibri"/>
              </a:rPr>
              <a:t> o </a:t>
            </a:r>
            <a:r>
              <a:rPr sz="2600" dirty="0">
                <a:latin typeface="Calibri"/>
                <a:cs typeface="Calibri"/>
              </a:rPr>
              <a:t>grau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polinômio.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97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Qual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grau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escolher?</a:t>
            </a:r>
            <a:endParaRPr sz="2600" dirty="0">
              <a:latin typeface="Calibri"/>
              <a:cs typeface="Calibri"/>
            </a:endParaRPr>
          </a:p>
          <a:p>
            <a:pPr marL="698500" marR="212725" lvl="1" indent="-228600">
              <a:lnSpc>
                <a:spcPct val="70000"/>
              </a:lnSpc>
              <a:spcBef>
                <a:spcPts val="645"/>
              </a:spcBef>
              <a:buFont typeface="Wingdings"/>
              <a:buChar char=""/>
              <a:tabLst>
                <a:tab pos="698500" algn="l"/>
              </a:tabLst>
            </a:pPr>
            <a:r>
              <a:rPr sz="2200" spc="-20" dirty="0">
                <a:latin typeface="Calibri"/>
                <a:cs typeface="Calibri"/>
              </a:rPr>
              <a:t>Valor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Calibri"/>
                <a:cs typeface="Calibri"/>
              </a:rPr>
              <a:t>ambos,</a:t>
            </a:r>
            <a:r>
              <a:rPr sz="22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média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desvio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padrão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EQM</a:t>
            </a:r>
            <a:r>
              <a:rPr sz="2200" b="1" i="1" dirty="0">
                <a:solidFill>
                  <a:srgbClr val="006FC0"/>
                </a:solidFill>
                <a:latin typeface="Calibri"/>
                <a:cs typeface="Calibri"/>
              </a:rPr>
              <a:t>,</a:t>
            </a:r>
            <a:r>
              <a:rPr sz="22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Calibri"/>
                <a:cs typeface="Calibri"/>
              </a:rPr>
              <a:t>sejam</a:t>
            </a:r>
            <a:r>
              <a:rPr sz="22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Calibri"/>
                <a:cs typeface="Calibri"/>
              </a:rPr>
              <a:t>mínimos</a:t>
            </a:r>
            <a:r>
              <a:rPr sz="22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que </a:t>
            </a:r>
            <a:r>
              <a:rPr sz="2200" dirty="0">
                <a:latin typeface="Calibri"/>
                <a:cs typeface="Calibri"/>
              </a:rPr>
              <a:t>tenha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6FC0"/>
                </a:solidFill>
                <a:latin typeface="Calibri"/>
                <a:cs typeface="Calibri"/>
              </a:rPr>
              <a:t>menor</a:t>
            </a:r>
            <a:r>
              <a:rPr sz="2200" b="1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6FC0"/>
                </a:solidFill>
                <a:latin typeface="Calibri"/>
                <a:cs typeface="Calibri"/>
              </a:rPr>
              <a:t>complexidade computacional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6574028"/>
            <a:ext cx="61976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*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Tempo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médio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validação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cruzada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leave-</a:t>
            </a:r>
            <a:r>
              <a:rPr sz="1400" dirty="0">
                <a:latin typeface="Cambria Math"/>
                <a:cs typeface="Cambria Math"/>
              </a:rPr>
              <a:t>𝑝</a:t>
            </a:r>
            <a:r>
              <a:rPr sz="1400" dirty="0">
                <a:latin typeface="Calibri"/>
                <a:cs typeface="Calibri"/>
              </a:rPr>
              <a:t>-out</a:t>
            </a:r>
            <a:r>
              <a:rPr sz="1400" spc="2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100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𝑝 </a:t>
            </a:r>
            <a:r>
              <a:rPr sz="1400" dirty="0">
                <a:latin typeface="Calibri"/>
                <a:cs typeface="Calibri"/>
              </a:rPr>
              <a:t>=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≈</a:t>
            </a:r>
            <a:r>
              <a:rPr sz="1400" spc="-20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5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[m].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5378" y="2669538"/>
            <a:ext cx="6249670" cy="2617470"/>
            <a:chOff x="115378" y="2669538"/>
            <a:chExt cx="6249670" cy="26174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78" y="2669538"/>
              <a:ext cx="6249662" cy="261732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0712" y="4500117"/>
              <a:ext cx="159385" cy="485775"/>
            </a:xfrm>
            <a:custGeom>
              <a:avLst/>
              <a:gdLst/>
              <a:ahLst/>
              <a:cxnLst/>
              <a:rect l="l" t="t" r="r" b="b"/>
              <a:pathLst>
                <a:path w="159384" h="485775">
                  <a:moveTo>
                    <a:pt x="0" y="242696"/>
                  </a:moveTo>
                  <a:lnTo>
                    <a:pt x="2836" y="178152"/>
                  </a:lnTo>
                  <a:lnTo>
                    <a:pt x="10840" y="120170"/>
                  </a:lnTo>
                  <a:lnTo>
                    <a:pt x="23256" y="71056"/>
                  </a:lnTo>
                  <a:lnTo>
                    <a:pt x="39328" y="33118"/>
                  </a:lnTo>
                  <a:lnTo>
                    <a:pt x="79413" y="0"/>
                  </a:lnTo>
                  <a:lnTo>
                    <a:pt x="100526" y="8664"/>
                  </a:lnTo>
                  <a:lnTo>
                    <a:pt x="135569" y="71056"/>
                  </a:lnTo>
                  <a:lnTo>
                    <a:pt x="147985" y="120170"/>
                  </a:lnTo>
                  <a:lnTo>
                    <a:pt x="155989" y="178152"/>
                  </a:lnTo>
                  <a:lnTo>
                    <a:pt x="158826" y="242696"/>
                  </a:lnTo>
                  <a:lnTo>
                    <a:pt x="155989" y="307197"/>
                  </a:lnTo>
                  <a:lnTo>
                    <a:pt x="147985" y="365167"/>
                  </a:lnTo>
                  <a:lnTo>
                    <a:pt x="135569" y="414289"/>
                  </a:lnTo>
                  <a:lnTo>
                    <a:pt x="119497" y="452246"/>
                  </a:lnTo>
                  <a:lnTo>
                    <a:pt x="79413" y="485393"/>
                  </a:lnTo>
                  <a:lnTo>
                    <a:pt x="58299" y="476720"/>
                  </a:lnTo>
                  <a:lnTo>
                    <a:pt x="23256" y="414289"/>
                  </a:lnTo>
                  <a:lnTo>
                    <a:pt x="10840" y="365167"/>
                  </a:lnTo>
                  <a:lnTo>
                    <a:pt x="2836" y="307197"/>
                  </a:lnTo>
                  <a:lnTo>
                    <a:pt x="0" y="242696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78048" y="5254497"/>
            <a:ext cx="8318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subajuste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9539" y="2633472"/>
            <a:ext cx="5876290" cy="2691765"/>
            <a:chOff x="529539" y="2633472"/>
            <a:chExt cx="5876290" cy="2691765"/>
          </a:xfrm>
        </p:grpSpPr>
        <p:sp>
          <p:nvSpPr>
            <p:cNvPr id="11" name="object 11"/>
            <p:cNvSpPr/>
            <p:nvPr/>
          </p:nvSpPr>
          <p:spPr>
            <a:xfrm>
              <a:off x="529539" y="2739643"/>
              <a:ext cx="2411730" cy="2571115"/>
            </a:xfrm>
            <a:custGeom>
              <a:avLst/>
              <a:gdLst/>
              <a:ahLst/>
              <a:cxnLst/>
              <a:rect l="l" t="t" r="r" b="b"/>
              <a:pathLst>
                <a:path w="2411730" h="2571115">
                  <a:moveTo>
                    <a:pt x="717931" y="13716"/>
                  </a:moveTo>
                  <a:lnTo>
                    <a:pt x="692823" y="0"/>
                  </a:lnTo>
                  <a:lnTo>
                    <a:pt x="294830" y="731685"/>
                  </a:lnTo>
                  <a:lnTo>
                    <a:pt x="269748" y="718058"/>
                  </a:lnTo>
                  <a:lnTo>
                    <a:pt x="266446" y="813816"/>
                  </a:lnTo>
                  <a:lnTo>
                    <a:pt x="345059" y="758952"/>
                  </a:lnTo>
                  <a:lnTo>
                    <a:pt x="343179" y="757936"/>
                  </a:lnTo>
                  <a:lnTo>
                    <a:pt x="319976" y="745337"/>
                  </a:lnTo>
                  <a:lnTo>
                    <a:pt x="717931" y="13716"/>
                  </a:lnTo>
                  <a:close/>
                </a:path>
                <a:path w="2411730" h="2571115">
                  <a:moveTo>
                    <a:pt x="2411399" y="2543302"/>
                  </a:moveTo>
                  <a:lnTo>
                    <a:pt x="86753" y="2009051"/>
                  </a:lnTo>
                  <a:lnTo>
                    <a:pt x="87490" y="2005838"/>
                  </a:lnTo>
                  <a:lnTo>
                    <a:pt x="93154" y="1981200"/>
                  </a:lnTo>
                  <a:lnTo>
                    <a:pt x="0" y="2003806"/>
                  </a:lnTo>
                  <a:lnTo>
                    <a:pt x="73952" y="2064766"/>
                  </a:lnTo>
                  <a:lnTo>
                    <a:pt x="80352" y="2036864"/>
                  </a:lnTo>
                  <a:lnTo>
                    <a:pt x="2405049" y="2571115"/>
                  </a:lnTo>
                  <a:lnTo>
                    <a:pt x="2411399" y="254330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8047" y="3528694"/>
              <a:ext cx="131711" cy="13830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53058" y="2776601"/>
              <a:ext cx="2713355" cy="917575"/>
            </a:xfrm>
            <a:custGeom>
              <a:avLst/>
              <a:gdLst/>
              <a:ahLst/>
              <a:cxnLst/>
              <a:rect l="l" t="t" r="r" b="b"/>
              <a:pathLst>
                <a:path w="2713354" h="917575">
                  <a:moveTo>
                    <a:pt x="2627317" y="890256"/>
                  </a:moveTo>
                  <a:lnTo>
                    <a:pt x="2618409" y="917448"/>
                  </a:lnTo>
                  <a:lnTo>
                    <a:pt x="2713151" y="903478"/>
                  </a:lnTo>
                  <a:lnTo>
                    <a:pt x="2704306" y="894715"/>
                  </a:lnTo>
                  <a:lnTo>
                    <a:pt x="2640888" y="894715"/>
                  </a:lnTo>
                  <a:lnTo>
                    <a:pt x="2627317" y="890256"/>
                  </a:lnTo>
                  <a:close/>
                </a:path>
                <a:path w="2713354" h="917575">
                  <a:moveTo>
                    <a:pt x="2636183" y="863197"/>
                  </a:moveTo>
                  <a:lnTo>
                    <a:pt x="2627317" y="890256"/>
                  </a:lnTo>
                  <a:lnTo>
                    <a:pt x="2640888" y="894715"/>
                  </a:lnTo>
                  <a:lnTo>
                    <a:pt x="2649778" y="867663"/>
                  </a:lnTo>
                  <a:lnTo>
                    <a:pt x="2636183" y="863197"/>
                  </a:lnTo>
                  <a:close/>
                </a:path>
                <a:path w="2713354" h="917575">
                  <a:moveTo>
                    <a:pt x="2645079" y="836041"/>
                  </a:moveTo>
                  <a:lnTo>
                    <a:pt x="2636183" y="863197"/>
                  </a:lnTo>
                  <a:lnTo>
                    <a:pt x="2649778" y="867663"/>
                  </a:lnTo>
                  <a:lnTo>
                    <a:pt x="2640888" y="894715"/>
                  </a:lnTo>
                  <a:lnTo>
                    <a:pt x="2704306" y="894715"/>
                  </a:lnTo>
                  <a:lnTo>
                    <a:pt x="2645079" y="836041"/>
                  </a:lnTo>
                  <a:close/>
                </a:path>
                <a:path w="2713354" h="917575">
                  <a:moveTo>
                    <a:pt x="8915" y="0"/>
                  </a:moveTo>
                  <a:lnTo>
                    <a:pt x="0" y="27177"/>
                  </a:lnTo>
                  <a:lnTo>
                    <a:pt x="2627317" y="890256"/>
                  </a:lnTo>
                  <a:lnTo>
                    <a:pt x="2636183" y="863197"/>
                  </a:lnTo>
                  <a:lnTo>
                    <a:pt x="891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9860" y="3610991"/>
              <a:ext cx="131699" cy="13830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605529" y="4560570"/>
              <a:ext cx="143510" cy="425450"/>
            </a:xfrm>
            <a:custGeom>
              <a:avLst/>
              <a:gdLst/>
              <a:ahLst/>
              <a:cxnLst/>
              <a:rect l="l" t="t" r="r" b="b"/>
              <a:pathLst>
                <a:path w="143510" h="425450">
                  <a:moveTo>
                    <a:pt x="0" y="212470"/>
                  </a:moveTo>
                  <a:lnTo>
                    <a:pt x="3645" y="145312"/>
                  </a:lnTo>
                  <a:lnTo>
                    <a:pt x="13801" y="86986"/>
                  </a:lnTo>
                  <a:lnTo>
                    <a:pt x="29297" y="40993"/>
                  </a:lnTo>
                  <a:lnTo>
                    <a:pt x="71628" y="0"/>
                  </a:lnTo>
                  <a:lnTo>
                    <a:pt x="94292" y="10831"/>
                  </a:lnTo>
                  <a:lnTo>
                    <a:pt x="113958" y="40993"/>
                  </a:lnTo>
                  <a:lnTo>
                    <a:pt x="129454" y="86986"/>
                  </a:lnTo>
                  <a:lnTo>
                    <a:pt x="139610" y="145312"/>
                  </a:lnTo>
                  <a:lnTo>
                    <a:pt x="143256" y="212470"/>
                  </a:lnTo>
                  <a:lnTo>
                    <a:pt x="139610" y="279629"/>
                  </a:lnTo>
                  <a:lnTo>
                    <a:pt x="129454" y="337955"/>
                  </a:lnTo>
                  <a:lnTo>
                    <a:pt x="113958" y="383948"/>
                  </a:lnTo>
                  <a:lnTo>
                    <a:pt x="94292" y="414110"/>
                  </a:lnTo>
                  <a:lnTo>
                    <a:pt x="71628" y="424941"/>
                  </a:lnTo>
                  <a:lnTo>
                    <a:pt x="48963" y="414110"/>
                  </a:lnTo>
                  <a:lnTo>
                    <a:pt x="29297" y="383948"/>
                  </a:lnTo>
                  <a:lnTo>
                    <a:pt x="13801" y="337955"/>
                  </a:lnTo>
                  <a:lnTo>
                    <a:pt x="3645" y="279629"/>
                  </a:lnTo>
                  <a:lnTo>
                    <a:pt x="0" y="212470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28747" y="2633471"/>
              <a:ext cx="2614295" cy="2691765"/>
            </a:xfrm>
            <a:custGeom>
              <a:avLst/>
              <a:gdLst/>
              <a:ahLst/>
              <a:cxnLst/>
              <a:rect l="l" t="t" r="r" b="b"/>
              <a:pathLst>
                <a:path w="2614295" h="2691765">
                  <a:moveTo>
                    <a:pt x="676783" y="2139569"/>
                  </a:moveTo>
                  <a:lnTo>
                    <a:pt x="583184" y="2160270"/>
                  </a:lnTo>
                  <a:lnTo>
                    <a:pt x="601154" y="2182482"/>
                  </a:lnTo>
                  <a:lnTo>
                    <a:pt x="0" y="2669413"/>
                  </a:lnTo>
                  <a:lnTo>
                    <a:pt x="18034" y="2691511"/>
                  </a:lnTo>
                  <a:lnTo>
                    <a:pt x="619099" y="2204669"/>
                  </a:lnTo>
                  <a:lnTo>
                    <a:pt x="637032" y="2226818"/>
                  </a:lnTo>
                  <a:lnTo>
                    <a:pt x="661327" y="2173478"/>
                  </a:lnTo>
                  <a:lnTo>
                    <a:pt x="676783" y="2139569"/>
                  </a:lnTo>
                  <a:close/>
                </a:path>
                <a:path w="2614295" h="2691765">
                  <a:moveTo>
                    <a:pt x="2614295" y="577088"/>
                  </a:moveTo>
                  <a:lnTo>
                    <a:pt x="2605379" y="568198"/>
                  </a:lnTo>
                  <a:lnTo>
                    <a:pt x="2546477" y="509397"/>
                  </a:lnTo>
                  <a:lnTo>
                    <a:pt x="2537460" y="536511"/>
                  </a:lnTo>
                  <a:lnTo>
                    <a:pt x="922782" y="0"/>
                  </a:lnTo>
                  <a:lnTo>
                    <a:pt x="913765" y="27178"/>
                  </a:lnTo>
                  <a:lnTo>
                    <a:pt x="2528430" y="563689"/>
                  </a:lnTo>
                  <a:lnTo>
                    <a:pt x="2519426" y="590804"/>
                  </a:lnTo>
                  <a:lnTo>
                    <a:pt x="2614295" y="57708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60287" y="2927695"/>
              <a:ext cx="5239385" cy="2134235"/>
            </a:xfrm>
            <a:custGeom>
              <a:avLst/>
              <a:gdLst/>
              <a:ahLst/>
              <a:cxnLst/>
              <a:rect l="l" t="t" r="r" b="b"/>
              <a:pathLst>
                <a:path w="5239385" h="2134235">
                  <a:moveTo>
                    <a:pt x="3851767" y="769401"/>
                  </a:moveTo>
                  <a:lnTo>
                    <a:pt x="3902889" y="721310"/>
                  </a:lnTo>
                  <a:lnTo>
                    <a:pt x="3954141" y="674644"/>
                  </a:lnTo>
                  <a:lnTo>
                    <a:pt x="4005447" y="629439"/>
                  </a:lnTo>
                  <a:lnTo>
                    <a:pt x="4056730" y="585732"/>
                  </a:lnTo>
                  <a:lnTo>
                    <a:pt x="4107913" y="543558"/>
                  </a:lnTo>
                  <a:lnTo>
                    <a:pt x="4158920" y="502955"/>
                  </a:lnTo>
                  <a:lnTo>
                    <a:pt x="4209675" y="463959"/>
                  </a:lnTo>
                  <a:lnTo>
                    <a:pt x="4260099" y="426607"/>
                  </a:lnTo>
                  <a:lnTo>
                    <a:pt x="4310118" y="390934"/>
                  </a:lnTo>
                  <a:lnTo>
                    <a:pt x="4359653" y="356978"/>
                  </a:lnTo>
                  <a:lnTo>
                    <a:pt x="4408629" y="324774"/>
                  </a:lnTo>
                  <a:lnTo>
                    <a:pt x="4456969" y="294360"/>
                  </a:lnTo>
                  <a:lnTo>
                    <a:pt x="4504595" y="265771"/>
                  </a:lnTo>
                  <a:lnTo>
                    <a:pt x="4551432" y="239044"/>
                  </a:lnTo>
                  <a:lnTo>
                    <a:pt x="4597403" y="214216"/>
                  </a:lnTo>
                  <a:lnTo>
                    <a:pt x="4642431" y="191323"/>
                  </a:lnTo>
                  <a:lnTo>
                    <a:pt x="4686439" y="170401"/>
                  </a:lnTo>
                  <a:lnTo>
                    <a:pt x="4729351" y="151487"/>
                  </a:lnTo>
                  <a:lnTo>
                    <a:pt x="4771089" y="134618"/>
                  </a:lnTo>
                  <a:lnTo>
                    <a:pt x="4811579" y="119829"/>
                  </a:lnTo>
                  <a:lnTo>
                    <a:pt x="4850741" y="107158"/>
                  </a:lnTo>
                  <a:lnTo>
                    <a:pt x="4888501" y="96640"/>
                  </a:lnTo>
                  <a:lnTo>
                    <a:pt x="4959505" y="82211"/>
                  </a:lnTo>
                  <a:lnTo>
                    <a:pt x="5023976" y="76835"/>
                  </a:lnTo>
                  <a:lnTo>
                    <a:pt x="5053571" y="77632"/>
                  </a:lnTo>
                  <a:lnTo>
                    <a:pt x="5107094" y="86380"/>
                  </a:lnTo>
                  <a:lnTo>
                    <a:pt x="5152552" y="104910"/>
                  </a:lnTo>
                  <a:lnTo>
                    <a:pt x="5189331" y="133512"/>
                  </a:lnTo>
                  <a:lnTo>
                    <a:pt x="5216256" y="171533"/>
                  </a:lnTo>
                  <a:lnTo>
                    <a:pt x="5232726" y="217772"/>
                  </a:lnTo>
                  <a:lnTo>
                    <a:pt x="5239062" y="271628"/>
                  </a:lnTo>
                  <a:lnTo>
                    <a:pt x="5238529" y="301225"/>
                  </a:lnTo>
                  <a:lnTo>
                    <a:pt x="5230259" y="365385"/>
                  </a:lnTo>
                  <a:lnTo>
                    <a:pt x="5212652" y="435664"/>
                  </a:lnTo>
                  <a:lnTo>
                    <a:pt x="5200446" y="472911"/>
                  </a:lnTo>
                  <a:lnTo>
                    <a:pt x="5186026" y="511463"/>
                  </a:lnTo>
                  <a:lnTo>
                    <a:pt x="5169430" y="551246"/>
                  </a:lnTo>
                  <a:lnTo>
                    <a:pt x="5150700" y="592184"/>
                  </a:lnTo>
                  <a:lnTo>
                    <a:pt x="5129874" y="634202"/>
                  </a:lnTo>
                  <a:lnTo>
                    <a:pt x="5106992" y="677226"/>
                  </a:lnTo>
                  <a:lnTo>
                    <a:pt x="5082095" y="721181"/>
                  </a:lnTo>
                  <a:lnTo>
                    <a:pt x="5055223" y="765991"/>
                  </a:lnTo>
                  <a:lnTo>
                    <a:pt x="5026414" y="811582"/>
                  </a:lnTo>
                  <a:lnTo>
                    <a:pt x="4995709" y="857879"/>
                  </a:lnTo>
                  <a:lnTo>
                    <a:pt x="4963149" y="904807"/>
                  </a:lnTo>
                  <a:lnTo>
                    <a:pt x="4928772" y="952290"/>
                  </a:lnTo>
                  <a:lnTo>
                    <a:pt x="4892619" y="1000256"/>
                  </a:lnTo>
                  <a:lnTo>
                    <a:pt x="4854729" y="1048627"/>
                  </a:lnTo>
                  <a:lnTo>
                    <a:pt x="4815142" y="1097329"/>
                  </a:lnTo>
                  <a:lnTo>
                    <a:pt x="4773899" y="1146288"/>
                  </a:lnTo>
                  <a:lnTo>
                    <a:pt x="4731039" y="1195429"/>
                  </a:lnTo>
                  <a:lnTo>
                    <a:pt x="4686602" y="1244676"/>
                  </a:lnTo>
                  <a:lnTo>
                    <a:pt x="4640627" y="1293954"/>
                  </a:lnTo>
                  <a:lnTo>
                    <a:pt x="4593155" y="1343190"/>
                  </a:lnTo>
                  <a:lnTo>
                    <a:pt x="4544226" y="1392307"/>
                  </a:lnTo>
                  <a:lnTo>
                    <a:pt x="4493879" y="1441231"/>
                  </a:lnTo>
                  <a:lnTo>
                    <a:pt x="4442757" y="1489322"/>
                  </a:lnTo>
                  <a:lnTo>
                    <a:pt x="4391505" y="1535988"/>
                  </a:lnTo>
                  <a:lnTo>
                    <a:pt x="4340199" y="1581193"/>
                  </a:lnTo>
                  <a:lnTo>
                    <a:pt x="4288916" y="1624901"/>
                  </a:lnTo>
                  <a:lnTo>
                    <a:pt x="4237733" y="1667074"/>
                  </a:lnTo>
                  <a:lnTo>
                    <a:pt x="4186726" y="1707677"/>
                  </a:lnTo>
                  <a:lnTo>
                    <a:pt x="4135971" y="1746673"/>
                  </a:lnTo>
                  <a:lnTo>
                    <a:pt x="4085547" y="1784025"/>
                  </a:lnTo>
                  <a:lnTo>
                    <a:pt x="4035528" y="1819698"/>
                  </a:lnTo>
                  <a:lnTo>
                    <a:pt x="3985993" y="1853654"/>
                  </a:lnTo>
                  <a:lnTo>
                    <a:pt x="3937017" y="1885858"/>
                  </a:lnTo>
                  <a:lnTo>
                    <a:pt x="3888677" y="1916273"/>
                  </a:lnTo>
                  <a:lnTo>
                    <a:pt x="3841051" y="1944861"/>
                  </a:lnTo>
                  <a:lnTo>
                    <a:pt x="3794214" y="1971588"/>
                  </a:lnTo>
                  <a:lnTo>
                    <a:pt x="3748243" y="1996416"/>
                  </a:lnTo>
                  <a:lnTo>
                    <a:pt x="3703215" y="2019309"/>
                  </a:lnTo>
                  <a:lnTo>
                    <a:pt x="3659207" y="2040231"/>
                  </a:lnTo>
                  <a:lnTo>
                    <a:pt x="3616296" y="2059145"/>
                  </a:lnTo>
                  <a:lnTo>
                    <a:pt x="3574557" y="2076014"/>
                  </a:lnTo>
                  <a:lnTo>
                    <a:pt x="3534068" y="2090803"/>
                  </a:lnTo>
                  <a:lnTo>
                    <a:pt x="3494905" y="2103475"/>
                  </a:lnTo>
                  <a:lnTo>
                    <a:pt x="3457145" y="2113992"/>
                  </a:lnTo>
                  <a:lnTo>
                    <a:pt x="3386141" y="2128421"/>
                  </a:lnTo>
                  <a:lnTo>
                    <a:pt x="3321670" y="2133798"/>
                  </a:lnTo>
                  <a:lnTo>
                    <a:pt x="3292075" y="2133000"/>
                  </a:lnTo>
                  <a:lnTo>
                    <a:pt x="3238552" y="2124252"/>
                  </a:lnTo>
                  <a:lnTo>
                    <a:pt x="3193094" y="2105722"/>
                  </a:lnTo>
                  <a:lnTo>
                    <a:pt x="3156315" y="2077120"/>
                  </a:lnTo>
                  <a:lnTo>
                    <a:pt x="3129390" y="2039099"/>
                  </a:lnTo>
                  <a:lnTo>
                    <a:pt x="3112920" y="1992861"/>
                  </a:lnTo>
                  <a:lnTo>
                    <a:pt x="3106584" y="1939004"/>
                  </a:lnTo>
                  <a:lnTo>
                    <a:pt x="3107118" y="1909407"/>
                  </a:lnTo>
                  <a:lnTo>
                    <a:pt x="3115387" y="1845247"/>
                  </a:lnTo>
                  <a:lnTo>
                    <a:pt x="3132994" y="1774968"/>
                  </a:lnTo>
                  <a:lnTo>
                    <a:pt x="3145200" y="1737721"/>
                  </a:lnTo>
                  <a:lnTo>
                    <a:pt x="3159620" y="1699169"/>
                  </a:lnTo>
                  <a:lnTo>
                    <a:pt x="3176216" y="1659386"/>
                  </a:lnTo>
                  <a:lnTo>
                    <a:pt x="3194947" y="1618448"/>
                  </a:lnTo>
                  <a:lnTo>
                    <a:pt x="3215773" y="1576430"/>
                  </a:lnTo>
                  <a:lnTo>
                    <a:pt x="3238654" y="1533406"/>
                  </a:lnTo>
                  <a:lnTo>
                    <a:pt x="3263551" y="1489451"/>
                  </a:lnTo>
                  <a:lnTo>
                    <a:pt x="3290424" y="1444641"/>
                  </a:lnTo>
                  <a:lnTo>
                    <a:pt x="3319232" y="1399050"/>
                  </a:lnTo>
                  <a:lnTo>
                    <a:pt x="3349937" y="1352753"/>
                  </a:lnTo>
                  <a:lnTo>
                    <a:pt x="3382497" y="1305826"/>
                  </a:lnTo>
                  <a:lnTo>
                    <a:pt x="3416874" y="1258342"/>
                  </a:lnTo>
                  <a:lnTo>
                    <a:pt x="3453028" y="1210377"/>
                  </a:lnTo>
                  <a:lnTo>
                    <a:pt x="3490917" y="1162005"/>
                  </a:lnTo>
                  <a:lnTo>
                    <a:pt x="3530504" y="1113303"/>
                  </a:lnTo>
                  <a:lnTo>
                    <a:pt x="3571747" y="1064344"/>
                  </a:lnTo>
                  <a:lnTo>
                    <a:pt x="3614607" y="1015204"/>
                  </a:lnTo>
                  <a:lnTo>
                    <a:pt x="3659045" y="965957"/>
                  </a:lnTo>
                  <a:lnTo>
                    <a:pt x="3705019" y="916678"/>
                  </a:lnTo>
                  <a:lnTo>
                    <a:pt x="3752491" y="867442"/>
                  </a:lnTo>
                  <a:lnTo>
                    <a:pt x="3801420" y="818325"/>
                  </a:lnTo>
                  <a:lnTo>
                    <a:pt x="3851767" y="769401"/>
                  </a:lnTo>
                  <a:close/>
                </a:path>
                <a:path w="5239385" h="2134235">
                  <a:moveTo>
                    <a:pt x="745093" y="692566"/>
                  </a:moveTo>
                  <a:lnTo>
                    <a:pt x="796226" y="644475"/>
                  </a:lnTo>
                  <a:lnTo>
                    <a:pt x="847489" y="597809"/>
                  </a:lnTo>
                  <a:lnTo>
                    <a:pt x="898804" y="552604"/>
                  </a:lnTo>
                  <a:lnTo>
                    <a:pt x="950097" y="508897"/>
                  </a:lnTo>
                  <a:lnTo>
                    <a:pt x="1001289" y="466723"/>
                  </a:lnTo>
                  <a:lnTo>
                    <a:pt x="1052304" y="426120"/>
                  </a:lnTo>
                  <a:lnTo>
                    <a:pt x="1103066" y="387124"/>
                  </a:lnTo>
                  <a:lnTo>
                    <a:pt x="1153497" y="349772"/>
                  </a:lnTo>
                  <a:lnTo>
                    <a:pt x="1203522" y="314099"/>
                  </a:lnTo>
                  <a:lnTo>
                    <a:pt x="1253063" y="280143"/>
                  </a:lnTo>
                  <a:lnTo>
                    <a:pt x="1302045" y="247939"/>
                  </a:lnTo>
                  <a:lnTo>
                    <a:pt x="1350389" y="217525"/>
                  </a:lnTo>
                  <a:lnTo>
                    <a:pt x="1398020" y="188936"/>
                  </a:lnTo>
                  <a:lnTo>
                    <a:pt x="1444861" y="162209"/>
                  </a:lnTo>
                  <a:lnTo>
                    <a:pt x="1490835" y="137381"/>
                  </a:lnTo>
                  <a:lnTo>
                    <a:pt x="1535866" y="114488"/>
                  </a:lnTo>
                  <a:lnTo>
                    <a:pt x="1579877" y="93566"/>
                  </a:lnTo>
                  <a:lnTo>
                    <a:pt x="1622792" y="74652"/>
                  </a:lnTo>
                  <a:lnTo>
                    <a:pt x="1664533" y="57783"/>
                  </a:lnTo>
                  <a:lnTo>
                    <a:pt x="1705024" y="42994"/>
                  </a:lnTo>
                  <a:lnTo>
                    <a:pt x="1744188" y="30323"/>
                  </a:lnTo>
                  <a:lnTo>
                    <a:pt x="1781949" y="19805"/>
                  </a:lnTo>
                  <a:lnTo>
                    <a:pt x="1852955" y="5376"/>
                  </a:lnTo>
                  <a:lnTo>
                    <a:pt x="1917428" y="0"/>
                  </a:lnTo>
                  <a:lnTo>
                    <a:pt x="1947023" y="797"/>
                  </a:lnTo>
                  <a:lnTo>
                    <a:pt x="2000547" y="9545"/>
                  </a:lnTo>
                  <a:lnTo>
                    <a:pt x="2046005" y="28075"/>
                  </a:lnTo>
                  <a:lnTo>
                    <a:pt x="2082784" y="56677"/>
                  </a:lnTo>
                  <a:lnTo>
                    <a:pt x="2109709" y="94698"/>
                  </a:lnTo>
                  <a:lnTo>
                    <a:pt x="2126179" y="140936"/>
                  </a:lnTo>
                  <a:lnTo>
                    <a:pt x="2132515" y="194792"/>
                  </a:lnTo>
                  <a:lnTo>
                    <a:pt x="2131982" y="224389"/>
                  </a:lnTo>
                  <a:lnTo>
                    <a:pt x="2123712" y="288547"/>
                  </a:lnTo>
                  <a:lnTo>
                    <a:pt x="2106105" y="358824"/>
                  </a:lnTo>
                  <a:lnTo>
                    <a:pt x="2093899" y="396070"/>
                  </a:lnTo>
                  <a:lnTo>
                    <a:pt x="2079479" y="434621"/>
                  </a:lnTo>
                  <a:lnTo>
                    <a:pt x="2062883" y="474401"/>
                  </a:lnTo>
                  <a:lnTo>
                    <a:pt x="2044153" y="515337"/>
                  </a:lnTo>
                  <a:lnTo>
                    <a:pt x="2023327" y="557353"/>
                  </a:lnTo>
                  <a:lnTo>
                    <a:pt x="2000445" y="600374"/>
                  </a:lnTo>
                  <a:lnTo>
                    <a:pt x="1975548" y="644325"/>
                  </a:lnTo>
                  <a:lnTo>
                    <a:pt x="1948676" y="689132"/>
                  </a:lnTo>
                  <a:lnTo>
                    <a:pt x="1919867" y="734719"/>
                  </a:lnTo>
                  <a:lnTo>
                    <a:pt x="1889162" y="781011"/>
                  </a:lnTo>
                  <a:lnTo>
                    <a:pt x="1856602" y="827934"/>
                  </a:lnTo>
                  <a:lnTo>
                    <a:pt x="1822225" y="875412"/>
                  </a:lnTo>
                  <a:lnTo>
                    <a:pt x="1786072" y="923372"/>
                  </a:lnTo>
                  <a:lnTo>
                    <a:pt x="1748182" y="971737"/>
                  </a:lnTo>
                  <a:lnTo>
                    <a:pt x="1708595" y="1020432"/>
                  </a:lnTo>
                  <a:lnTo>
                    <a:pt x="1667352" y="1069384"/>
                  </a:lnTo>
                  <a:lnTo>
                    <a:pt x="1624492" y="1118516"/>
                  </a:lnTo>
                  <a:lnTo>
                    <a:pt x="1580055" y="1167754"/>
                  </a:lnTo>
                  <a:lnTo>
                    <a:pt x="1534080" y="1217024"/>
                  </a:lnTo>
                  <a:lnTo>
                    <a:pt x="1486608" y="1266249"/>
                  </a:lnTo>
                  <a:lnTo>
                    <a:pt x="1437679" y="1315356"/>
                  </a:lnTo>
                  <a:lnTo>
                    <a:pt x="1387332" y="1364269"/>
                  </a:lnTo>
                  <a:lnTo>
                    <a:pt x="1336200" y="1412371"/>
                  </a:lnTo>
                  <a:lnTo>
                    <a:pt x="1284938" y="1459048"/>
                  </a:lnTo>
                  <a:lnTo>
                    <a:pt x="1233624" y="1504263"/>
                  </a:lnTo>
                  <a:lnTo>
                    <a:pt x="1182334" y="1547979"/>
                  </a:lnTo>
                  <a:lnTo>
                    <a:pt x="1131144" y="1590161"/>
                  </a:lnTo>
                  <a:lnTo>
                    <a:pt x="1080132" y="1630772"/>
                  </a:lnTo>
                  <a:lnTo>
                    <a:pt x="1029374" y="1669776"/>
                  </a:lnTo>
                  <a:lnTo>
                    <a:pt x="978946" y="1707135"/>
                  </a:lnTo>
                  <a:lnTo>
                    <a:pt x="928925" y="1742814"/>
                  </a:lnTo>
                  <a:lnTo>
                    <a:pt x="879388" y="1776776"/>
                  </a:lnTo>
                  <a:lnTo>
                    <a:pt x="830411" y="1808985"/>
                  </a:lnTo>
                  <a:lnTo>
                    <a:pt x="782071" y="1839405"/>
                  </a:lnTo>
                  <a:lnTo>
                    <a:pt x="734444" y="1867998"/>
                  </a:lnTo>
                  <a:lnTo>
                    <a:pt x="687607" y="1894729"/>
                  </a:lnTo>
                  <a:lnTo>
                    <a:pt x="641637" y="1919561"/>
                  </a:lnTo>
                  <a:lnTo>
                    <a:pt x="596611" y="1942457"/>
                  </a:lnTo>
                  <a:lnTo>
                    <a:pt x="552604" y="1963382"/>
                  </a:lnTo>
                  <a:lnTo>
                    <a:pt x="509693" y="1982298"/>
                  </a:lnTo>
                  <a:lnTo>
                    <a:pt x="467956" y="1999170"/>
                  </a:lnTo>
                  <a:lnTo>
                    <a:pt x="427468" y="2013960"/>
                  </a:lnTo>
                  <a:lnTo>
                    <a:pt x="388306" y="2026634"/>
                  </a:lnTo>
                  <a:lnTo>
                    <a:pt x="350547" y="2037153"/>
                  </a:lnTo>
                  <a:lnTo>
                    <a:pt x="279544" y="2051584"/>
                  </a:lnTo>
                  <a:lnTo>
                    <a:pt x="215072" y="2056961"/>
                  </a:lnTo>
                  <a:lnTo>
                    <a:pt x="185476" y="2056165"/>
                  </a:lnTo>
                  <a:lnTo>
                    <a:pt x="131948" y="2047417"/>
                  </a:lnTo>
                  <a:lnTo>
                    <a:pt x="86482" y="2028887"/>
                  </a:lnTo>
                  <a:lnTo>
                    <a:pt x="49692" y="2000285"/>
                  </a:lnTo>
                  <a:lnTo>
                    <a:pt x="22782" y="1962242"/>
                  </a:lnTo>
                  <a:lnTo>
                    <a:pt x="6324" y="1915985"/>
                  </a:lnTo>
                  <a:lnTo>
                    <a:pt x="0" y="1862113"/>
                  </a:lnTo>
                  <a:lnTo>
                    <a:pt x="537" y="1832508"/>
                  </a:lnTo>
                  <a:lnTo>
                    <a:pt x="8814" y="1768337"/>
                  </a:lnTo>
                  <a:lnTo>
                    <a:pt x="26426" y="1698049"/>
                  </a:lnTo>
                  <a:lnTo>
                    <a:pt x="38633" y="1660798"/>
                  </a:lnTo>
                  <a:lnTo>
                    <a:pt x="53054" y="1622243"/>
                  </a:lnTo>
                  <a:lnTo>
                    <a:pt x="69650" y="1582458"/>
                  </a:lnTo>
                  <a:lnTo>
                    <a:pt x="88380" y="1541519"/>
                  </a:lnTo>
                  <a:lnTo>
                    <a:pt x="109206" y="1499500"/>
                  </a:lnTo>
                  <a:lnTo>
                    <a:pt x="132086" y="1456476"/>
                  </a:lnTo>
                  <a:lnTo>
                    <a:pt x="156981" y="1412522"/>
                  </a:lnTo>
                  <a:lnTo>
                    <a:pt x="183851" y="1367713"/>
                  </a:lnTo>
                  <a:lnTo>
                    <a:pt x="212656" y="1322124"/>
                  </a:lnTo>
                  <a:lnTo>
                    <a:pt x="243357" y="1275830"/>
                  </a:lnTo>
                  <a:lnTo>
                    <a:pt x="275913" y="1228906"/>
                  </a:lnTo>
                  <a:lnTo>
                    <a:pt x="310285" y="1181426"/>
                  </a:lnTo>
                  <a:lnTo>
                    <a:pt x="346432" y="1133466"/>
                  </a:lnTo>
                  <a:lnTo>
                    <a:pt x="384316" y="1085100"/>
                  </a:lnTo>
                  <a:lnTo>
                    <a:pt x="423895" y="1036404"/>
                  </a:lnTo>
                  <a:lnTo>
                    <a:pt x="465131" y="987452"/>
                  </a:lnTo>
                  <a:lnTo>
                    <a:pt x="507983" y="938320"/>
                  </a:lnTo>
                  <a:lnTo>
                    <a:pt x="552412" y="889081"/>
                  </a:lnTo>
                  <a:lnTo>
                    <a:pt x="598377" y="839811"/>
                  </a:lnTo>
                  <a:lnTo>
                    <a:pt x="645839" y="790586"/>
                  </a:lnTo>
                  <a:lnTo>
                    <a:pt x="694757" y="741479"/>
                  </a:lnTo>
                  <a:lnTo>
                    <a:pt x="745093" y="692566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43072" y="2633726"/>
              <a:ext cx="608965" cy="251460"/>
            </a:xfrm>
            <a:custGeom>
              <a:avLst/>
              <a:gdLst/>
              <a:ahLst/>
              <a:cxnLst/>
              <a:rect l="l" t="t" r="r" b="b"/>
              <a:pathLst>
                <a:path w="608964" h="251460">
                  <a:moveTo>
                    <a:pt x="65024" y="171196"/>
                  </a:moveTo>
                  <a:lnTo>
                    <a:pt x="0" y="241553"/>
                  </a:lnTo>
                  <a:lnTo>
                    <a:pt x="95376" y="251333"/>
                  </a:lnTo>
                  <a:lnTo>
                    <a:pt x="87151" y="229615"/>
                  </a:lnTo>
                  <a:lnTo>
                    <a:pt x="71881" y="229615"/>
                  </a:lnTo>
                  <a:lnTo>
                    <a:pt x="61849" y="202946"/>
                  </a:lnTo>
                  <a:lnTo>
                    <a:pt x="75146" y="197921"/>
                  </a:lnTo>
                  <a:lnTo>
                    <a:pt x="65024" y="171196"/>
                  </a:lnTo>
                  <a:close/>
                </a:path>
                <a:path w="608964" h="251460">
                  <a:moveTo>
                    <a:pt x="75146" y="197921"/>
                  </a:moveTo>
                  <a:lnTo>
                    <a:pt x="61849" y="202946"/>
                  </a:lnTo>
                  <a:lnTo>
                    <a:pt x="71881" y="229615"/>
                  </a:lnTo>
                  <a:lnTo>
                    <a:pt x="85239" y="224568"/>
                  </a:lnTo>
                  <a:lnTo>
                    <a:pt x="75146" y="197921"/>
                  </a:lnTo>
                  <a:close/>
                </a:path>
                <a:path w="608964" h="251460">
                  <a:moveTo>
                    <a:pt x="85239" y="224568"/>
                  </a:moveTo>
                  <a:lnTo>
                    <a:pt x="71881" y="229615"/>
                  </a:lnTo>
                  <a:lnTo>
                    <a:pt x="87151" y="229615"/>
                  </a:lnTo>
                  <a:lnTo>
                    <a:pt x="85239" y="224568"/>
                  </a:lnTo>
                  <a:close/>
                </a:path>
                <a:path w="608964" h="251460">
                  <a:moveTo>
                    <a:pt x="598931" y="0"/>
                  </a:moveTo>
                  <a:lnTo>
                    <a:pt x="75146" y="197921"/>
                  </a:lnTo>
                  <a:lnTo>
                    <a:pt x="85239" y="224568"/>
                  </a:lnTo>
                  <a:lnTo>
                    <a:pt x="608964" y="26670"/>
                  </a:lnTo>
                  <a:lnTo>
                    <a:pt x="5989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97179" y="2355545"/>
            <a:ext cx="10756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Ponto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ótimo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43783" y="2256536"/>
            <a:ext cx="10052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sobreajuste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8083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Qual</a:t>
            </a:r>
            <a:r>
              <a:rPr spc="-40" dirty="0"/>
              <a:t> </a:t>
            </a:r>
            <a:r>
              <a:rPr dirty="0"/>
              <a:t>grau</a:t>
            </a:r>
            <a:r>
              <a:rPr spc="-35" dirty="0"/>
              <a:t> </a:t>
            </a:r>
            <a:r>
              <a:rPr dirty="0"/>
              <a:t>escolher</a:t>
            </a:r>
            <a:r>
              <a:rPr spc="-40" dirty="0"/>
              <a:t> </a:t>
            </a:r>
            <a:r>
              <a:rPr dirty="0"/>
              <a:t>quando</a:t>
            </a:r>
            <a:r>
              <a:rPr spc="-40" dirty="0"/>
              <a:t> </a:t>
            </a:r>
            <a:r>
              <a:rPr dirty="0"/>
              <a:t>vários</a:t>
            </a:r>
            <a:r>
              <a:rPr spc="-35" dirty="0"/>
              <a:t> </a:t>
            </a:r>
            <a:r>
              <a:rPr dirty="0"/>
              <a:t>são</a:t>
            </a:r>
            <a:r>
              <a:rPr spc="-40" dirty="0"/>
              <a:t> </a:t>
            </a:r>
            <a:r>
              <a:rPr spc="-10" dirty="0"/>
              <a:t>possíveis?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4303633"/>
            <a:ext cx="10834370" cy="22955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Observem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figuras.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Qual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grau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devemos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escolher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quando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erros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(holdout)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ou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média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desvio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padrão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erros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30" dirty="0">
                <a:solidFill>
                  <a:srgbClr val="00AF50"/>
                </a:solidFill>
                <a:latin typeface="Calibri"/>
                <a:cs typeface="Calibri"/>
              </a:rPr>
              <a:t>(k-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fold)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são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mínimos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praticamente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constantes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vários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graus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polinômio?</a:t>
            </a:r>
            <a:endParaRPr sz="2800" dirty="0">
              <a:latin typeface="Calibri"/>
              <a:cs typeface="Calibri"/>
            </a:endParaRPr>
          </a:p>
          <a:p>
            <a:pPr marL="698500" marR="333375" lvl="1" indent="-228600">
              <a:lnSpc>
                <a:spcPts val="2300"/>
              </a:lnSpc>
              <a:spcBef>
                <a:spcPts val="52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Isso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ocorre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flexibilidade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grau)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modelo.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3329" y="1593011"/>
            <a:ext cx="7573680" cy="27127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861" y="1594942"/>
            <a:ext cx="3738726" cy="270291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85873" y="3081274"/>
            <a:ext cx="1882139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0165" algn="just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6F2F9F"/>
                </a:solidFill>
                <a:latin typeface="Calibri"/>
                <a:cs typeface="Calibri"/>
              </a:rPr>
              <a:t>Teoricamente,</a:t>
            </a:r>
            <a:r>
              <a:rPr sz="1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F2F9F"/>
                </a:solidFill>
                <a:latin typeface="Calibri"/>
                <a:cs typeface="Calibri"/>
              </a:rPr>
              <a:t>qualquer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grau</a:t>
            </a:r>
            <a:r>
              <a:rPr sz="1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maior</a:t>
            </a:r>
            <a:r>
              <a:rPr sz="1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ou</a:t>
            </a:r>
            <a:r>
              <a:rPr sz="1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igual</a:t>
            </a:r>
            <a:r>
              <a:rPr sz="1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1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1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6F2F9F"/>
                </a:solidFill>
                <a:latin typeface="Calibri"/>
                <a:cs typeface="Calibri"/>
              </a:rPr>
              <a:t>já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seria</a:t>
            </a:r>
            <a:r>
              <a:rPr sz="1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uma</a:t>
            </a:r>
            <a:r>
              <a:rPr sz="1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boa</a:t>
            </a:r>
            <a:r>
              <a:rPr sz="1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F2F9F"/>
                </a:solidFill>
                <a:latin typeface="Calibri"/>
                <a:cs typeface="Calibri"/>
              </a:rPr>
              <a:t>escolha.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71361" y="3092957"/>
            <a:ext cx="1882139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0165" algn="just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6F2F9F"/>
                </a:solidFill>
                <a:latin typeface="Calibri"/>
                <a:cs typeface="Calibri"/>
              </a:rPr>
              <a:t>Teoricamente,</a:t>
            </a:r>
            <a:r>
              <a:rPr sz="1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F2F9F"/>
                </a:solidFill>
                <a:latin typeface="Calibri"/>
                <a:cs typeface="Calibri"/>
              </a:rPr>
              <a:t>qualquer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grau</a:t>
            </a:r>
            <a:r>
              <a:rPr sz="1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maior</a:t>
            </a:r>
            <a:r>
              <a:rPr sz="1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ou</a:t>
            </a:r>
            <a:r>
              <a:rPr sz="1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igual</a:t>
            </a:r>
            <a:r>
              <a:rPr sz="1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1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1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6F2F9F"/>
                </a:solidFill>
                <a:latin typeface="Calibri"/>
                <a:cs typeface="Calibri"/>
              </a:rPr>
              <a:t>já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seria</a:t>
            </a:r>
            <a:r>
              <a:rPr sz="1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uma</a:t>
            </a:r>
            <a:r>
              <a:rPr sz="1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6F2F9F"/>
                </a:solidFill>
                <a:latin typeface="Calibri"/>
                <a:cs typeface="Calibri"/>
              </a:rPr>
              <a:t>boa</a:t>
            </a:r>
            <a:r>
              <a:rPr sz="1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6F2F9F"/>
                </a:solidFill>
                <a:latin typeface="Calibri"/>
                <a:cs typeface="Calibri"/>
              </a:rPr>
              <a:t>escolha.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46846" y="3422903"/>
            <a:ext cx="932180" cy="387985"/>
          </a:xfrm>
          <a:custGeom>
            <a:avLst/>
            <a:gdLst/>
            <a:ahLst/>
            <a:cxnLst/>
            <a:rect l="l" t="t" r="r" b="b"/>
            <a:pathLst>
              <a:path w="932179" h="387985">
                <a:moveTo>
                  <a:pt x="818528" y="352032"/>
                </a:moveTo>
                <a:lnTo>
                  <a:pt x="804799" y="387477"/>
                </a:lnTo>
                <a:lnTo>
                  <a:pt x="932052" y="375412"/>
                </a:lnTo>
                <a:lnTo>
                  <a:pt x="917029" y="358902"/>
                </a:lnTo>
                <a:lnTo>
                  <a:pt x="836295" y="358902"/>
                </a:lnTo>
                <a:lnTo>
                  <a:pt x="818528" y="352032"/>
                </a:lnTo>
                <a:close/>
              </a:path>
              <a:path w="932179" h="387985">
                <a:moveTo>
                  <a:pt x="832312" y="316450"/>
                </a:moveTo>
                <a:lnTo>
                  <a:pt x="818528" y="352032"/>
                </a:lnTo>
                <a:lnTo>
                  <a:pt x="836295" y="358902"/>
                </a:lnTo>
                <a:lnTo>
                  <a:pt x="850137" y="323342"/>
                </a:lnTo>
                <a:lnTo>
                  <a:pt x="832312" y="316450"/>
                </a:lnTo>
                <a:close/>
              </a:path>
              <a:path w="932179" h="387985">
                <a:moveTo>
                  <a:pt x="846074" y="280924"/>
                </a:moveTo>
                <a:lnTo>
                  <a:pt x="832312" y="316450"/>
                </a:lnTo>
                <a:lnTo>
                  <a:pt x="850137" y="323342"/>
                </a:lnTo>
                <a:lnTo>
                  <a:pt x="836295" y="358902"/>
                </a:lnTo>
                <a:lnTo>
                  <a:pt x="917029" y="358902"/>
                </a:lnTo>
                <a:lnTo>
                  <a:pt x="846074" y="280924"/>
                </a:lnTo>
                <a:close/>
              </a:path>
              <a:path w="932179" h="387985">
                <a:moveTo>
                  <a:pt x="13716" y="0"/>
                </a:moveTo>
                <a:lnTo>
                  <a:pt x="0" y="35560"/>
                </a:lnTo>
                <a:lnTo>
                  <a:pt x="818528" y="352032"/>
                </a:lnTo>
                <a:lnTo>
                  <a:pt x="832312" y="316450"/>
                </a:lnTo>
                <a:lnTo>
                  <a:pt x="13716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8083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Qual</a:t>
            </a:r>
            <a:r>
              <a:rPr spc="-40" dirty="0"/>
              <a:t> </a:t>
            </a:r>
            <a:r>
              <a:rPr dirty="0"/>
              <a:t>grau</a:t>
            </a:r>
            <a:r>
              <a:rPr spc="-35" dirty="0"/>
              <a:t> </a:t>
            </a:r>
            <a:r>
              <a:rPr dirty="0"/>
              <a:t>escolher</a:t>
            </a:r>
            <a:r>
              <a:rPr spc="-40" dirty="0"/>
              <a:t> </a:t>
            </a:r>
            <a:r>
              <a:rPr dirty="0"/>
              <a:t>quando</a:t>
            </a:r>
            <a:r>
              <a:rPr spc="-40" dirty="0"/>
              <a:t> </a:t>
            </a:r>
            <a:r>
              <a:rPr dirty="0"/>
              <a:t>vários</a:t>
            </a:r>
            <a:r>
              <a:rPr spc="-35" dirty="0"/>
              <a:t> </a:t>
            </a:r>
            <a:r>
              <a:rPr dirty="0"/>
              <a:t>são</a:t>
            </a:r>
            <a:r>
              <a:rPr spc="-40" dirty="0"/>
              <a:t> </a:t>
            </a:r>
            <a:r>
              <a:rPr spc="-10" dirty="0"/>
              <a:t>possíveis?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10912475" cy="42157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resposta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aplicar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navalha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Occam</a:t>
            </a:r>
            <a:r>
              <a:rPr sz="2800" i="1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339725" indent="-228600" algn="just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navalha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Occam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princípio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lógico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sugere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entre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várias explicações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igualmente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plausíveis</a:t>
            </a:r>
            <a:r>
              <a:rPr sz="2800" b="1" i="1" spc="-1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para</a:t>
            </a:r>
            <a:r>
              <a:rPr sz="2800" spc="-8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um</a:t>
            </a:r>
            <a:r>
              <a:rPr sz="2800" spc="-7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conjunto</a:t>
            </a:r>
            <a:r>
              <a:rPr sz="2800" spc="-5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E0E0E"/>
                </a:solidFill>
                <a:latin typeface="Calibri"/>
                <a:cs typeface="Calibri"/>
              </a:rPr>
              <a:t>de</a:t>
            </a:r>
            <a:r>
              <a:rPr sz="2800" spc="-8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observações,</a:t>
            </a:r>
            <a:r>
              <a:rPr sz="2800" spc="-7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0E0E0E"/>
                </a:solidFill>
                <a:latin typeface="Calibri"/>
                <a:cs typeface="Calibri"/>
              </a:rPr>
              <a:t>a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mais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simples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deve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ser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preferida</a:t>
            </a:r>
            <a:r>
              <a:rPr sz="2800" spc="-10" dirty="0">
                <a:solidFill>
                  <a:srgbClr val="0E0E0E"/>
                </a:solidFill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 algn="just">
              <a:lnSpc>
                <a:spcPct val="100000"/>
              </a:lnSpc>
              <a:spcBef>
                <a:spcPts val="19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deve-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Calibri"/>
                <a:cs typeface="Calibri"/>
              </a:rPr>
              <a:t>preferir</a:t>
            </a:r>
            <a:r>
              <a:rPr sz="2400" b="1" i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6FC0"/>
                </a:solidFill>
                <a:latin typeface="Calibri"/>
                <a:cs typeface="Calibri"/>
              </a:rPr>
              <a:t>explicações</a:t>
            </a:r>
            <a:r>
              <a:rPr sz="2400" b="1" i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Calibri"/>
                <a:cs typeface="Calibri"/>
              </a:rPr>
              <a:t>mais</a:t>
            </a:r>
            <a:r>
              <a:rPr sz="2400" b="1" i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Calibri"/>
                <a:cs typeface="Calibri"/>
              </a:rPr>
              <a:t>simples</a:t>
            </a:r>
            <a:r>
              <a:rPr sz="2400" b="1" i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Calibri"/>
                <a:cs typeface="Calibri"/>
              </a:rPr>
              <a:t>às</a:t>
            </a:r>
            <a:r>
              <a:rPr sz="2400" b="1" i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Calibri"/>
                <a:cs typeface="Calibri"/>
              </a:rPr>
              <a:t>mais</a:t>
            </a:r>
            <a:r>
              <a:rPr sz="2400" b="1" i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6FC0"/>
                </a:solidFill>
                <a:latin typeface="Calibri"/>
                <a:cs typeface="Calibri"/>
              </a:rPr>
              <a:t>complexas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448945" indent="-228600">
              <a:lnSpc>
                <a:spcPts val="3020"/>
              </a:lnSpc>
              <a:spcBef>
                <a:spcPts val="10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usando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navalha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Occam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escolhemos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função</a:t>
            </a:r>
            <a:r>
              <a:rPr sz="2800" b="1" i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1F5F"/>
                </a:solidFill>
                <a:latin typeface="Calibri"/>
                <a:cs typeface="Calibri"/>
              </a:rPr>
              <a:t>hipótese </a:t>
            </a:r>
            <a:r>
              <a:rPr sz="2800" b="1" i="1" dirty="0">
                <a:solidFill>
                  <a:srgbClr val="001F5F"/>
                </a:solidFill>
                <a:latin typeface="Calibri"/>
                <a:cs typeface="Calibri"/>
              </a:rPr>
              <a:t>polinomial</a:t>
            </a:r>
            <a:r>
              <a:rPr sz="2800" b="1" i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menor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grau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complexa),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ajusta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bem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ao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comportamento</a:t>
            </a:r>
            <a:r>
              <a:rPr sz="28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geral</a:t>
            </a:r>
            <a:r>
              <a:rPr sz="28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dados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2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Ou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escolhemos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quantidade de</a:t>
            </a:r>
            <a:r>
              <a:rPr sz="2400" spc="-10" dirty="0">
                <a:latin typeface="Calibri"/>
                <a:cs typeface="Calibri"/>
              </a:rPr>
              <a:t> cálculos, </a:t>
            </a:r>
            <a:r>
              <a:rPr sz="2400" dirty="0">
                <a:latin typeface="Calibri"/>
                <a:cs typeface="Calibri"/>
              </a:rPr>
              <a:t>mas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possua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capacidade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generalização.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Para</a:t>
            </a:r>
            <a:r>
              <a:rPr spc="-195" dirty="0"/>
              <a:t> </a:t>
            </a:r>
            <a:r>
              <a:rPr spc="-20" dirty="0"/>
              <a:t>casa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7769225" cy="269496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 err="1">
                <a:latin typeface="Calibri"/>
                <a:cs typeface="Calibri"/>
              </a:rPr>
              <a:t>Leiam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material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sobre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curvas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Usadas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avaliar: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95"/>
              </a:spcBef>
              <a:buFont typeface="Courier New"/>
              <a:buChar char="o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Qual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melhor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nível</a:t>
            </a:r>
            <a:r>
              <a:rPr sz="2000" b="1" i="1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1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complexidade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1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um</a:t>
            </a:r>
            <a:r>
              <a:rPr sz="2000" b="1" i="1" spc="-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modelo.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50"/>
              </a:spcBef>
              <a:buFont typeface="Courier New"/>
              <a:buChar char="o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quanto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modelo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se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beneficia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mais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dados.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65"/>
              </a:spcBef>
              <a:buFont typeface="Courier New"/>
              <a:buChar char="o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otimização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dos</a:t>
            </a:r>
            <a:r>
              <a:rPr sz="2000" b="1" i="1" spc="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hiperparâmetros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 </a:t>
            </a:r>
            <a:r>
              <a:rPr sz="2000" spc="-10" dirty="0">
                <a:latin typeface="Calibri"/>
                <a:cs typeface="Calibri"/>
              </a:rPr>
              <a:t>modelo.</a:t>
            </a:r>
            <a:endParaRPr sz="20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15"/>
              </a:spcBef>
              <a:buClr>
                <a:srgbClr val="000000"/>
              </a:buClr>
              <a:buFont typeface="Wingdings"/>
              <a:buChar char=""/>
              <a:tabLst>
                <a:tab pos="699135" algn="l"/>
              </a:tabLst>
            </a:pPr>
            <a:r>
              <a:rPr lang="pt-BR" sz="2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https://github.com/luiz10ml/tp555-ml/blob/main/slides/TP555_Curvas_de_Aprendizado.pdf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Regularização:</a:t>
            </a:r>
            <a:r>
              <a:rPr spc="-105" dirty="0"/>
              <a:t> </a:t>
            </a:r>
            <a:r>
              <a:rPr dirty="0"/>
              <a:t>penalizando</a:t>
            </a:r>
            <a:r>
              <a:rPr spc="-85" dirty="0"/>
              <a:t> </a:t>
            </a:r>
            <a:r>
              <a:rPr dirty="0"/>
              <a:t>a</a:t>
            </a:r>
            <a:r>
              <a:rPr spc="-90" dirty="0"/>
              <a:t> </a:t>
            </a:r>
            <a:r>
              <a:rPr spc="-10" dirty="0"/>
              <a:t>complexidade </a:t>
            </a:r>
            <a:r>
              <a:rPr dirty="0"/>
              <a:t>dos</a:t>
            </a:r>
            <a:r>
              <a:rPr spc="-5" dirty="0"/>
              <a:t> </a:t>
            </a:r>
            <a:r>
              <a:rPr spc="-10" dirty="0"/>
              <a:t>modelos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704195" cy="452247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Anteriormente,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escolher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melhor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 utilizando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validação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cruzada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curvas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aprendizado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7620" lvl="1" indent="-228600">
              <a:lnSpc>
                <a:spcPts val="2590"/>
              </a:lnSpc>
              <a:spcBef>
                <a:spcPts val="52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ambos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casos,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escolhemos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menos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complexo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mas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que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generaliza </a:t>
            </a:r>
            <a:r>
              <a:rPr sz="2400" b="1" i="1" spc="-20" dirty="0">
                <a:latin typeface="Calibri"/>
                <a:cs typeface="Calibri"/>
              </a:rPr>
              <a:t>bem</a:t>
            </a:r>
            <a:r>
              <a:rPr sz="2400" spc="-2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821690" indent="-228600">
              <a:lnSpc>
                <a:spcPts val="303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abordagem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alternativa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minimizar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conjuntamente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a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complexidade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hipótese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208279" indent="-228600">
              <a:lnSpc>
                <a:spcPct val="9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abordagem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combina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medidas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complexidade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em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uma </a:t>
            </a:r>
            <a:r>
              <a:rPr sz="2800" b="1" i="1" dirty="0">
                <a:latin typeface="Calibri"/>
                <a:cs typeface="Calibri"/>
              </a:rPr>
              <a:t>única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possibilitando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encontremos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função </a:t>
            </a:r>
            <a:r>
              <a:rPr sz="2800" b="1" i="1" dirty="0">
                <a:latin typeface="Calibri"/>
                <a:cs typeface="Calibri"/>
              </a:rPr>
              <a:t>hipótese</a:t>
            </a:r>
            <a:r>
              <a:rPr sz="2800" b="1" i="1" spc="-1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com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complexidade/flexibilidade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ideal,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minimizam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erro.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Regularização:</a:t>
            </a:r>
            <a:r>
              <a:rPr spc="-105" dirty="0"/>
              <a:t> </a:t>
            </a:r>
            <a:r>
              <a:rPr dirty="0"/>
              <a:t>penalizando</a:t>
            </a:r>
            <a:r>
              <a:rPr spc="-85" dirty="0"/>
              <a:t> </a:t>
            </a:r>
            <a:r>
              <a:rPr dirty="0"/>
              <a:t>a</a:t>
            </a:r>
            <a:r>
              <a:rPr spc="-90" dirty="0"/>
              <a:t> </a:t>
            </a:r>
            <a:r>
              <a:rPr spc="-10" dirty="0"/>
              <a:t>complexidade </a:t>
            </a:r>
            <a:r>
              <a:rPr dirty="0"/>
              <a:t>dos</a:t>
            </a:r>
            <a:r>
              <a:rPr spc="-5" dirty="0"/>
              <a:t> </a:t>
            </a:r>
            <a:r>
              <a:rPr spc="-10" dirty="0"/>
              <a:t>modelos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830"/>
            <a:ext cx="10725785" cy="355092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Existem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seguem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abordagem:</a:t>
            </a:r>
            <a:endParaRPr sz="2800" dirty="0">
              <a:latin typeface="Calibri"/>
              <a:cs typeface="Calibri"/>
            </a:endParaRPr>
          </a:p>
          <a:p>
            <a:pPr marL="698500" marR="783590" lvl="1" indent="-228600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Regularização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penaliza</a:t>
            </a:r>
            <a:r>
              <a:rPr sz="24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funções</a:t>
            </a:r>
            <a:r>
              <a:rPr sz="24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hipótese</a:t>
            </a:r>
            <a:r>
              <a:rPr sz="24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muito</a:t>
            </a:r>
            <a:r>
              <a:rPr sz="24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6F2F9F"/>
                </a:solidFill>
                <a:latin typeface="Calibri"/>
                <a:cs typeface="Calibri"/>
              </a:rPr>
              <a:t>complexas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muito flexíveis.</a:t>
            </a:r>
            <a:endParaRPr sz="2400" dirty="0">
              <a:latin typeface="Calibri"/>
              <a:cs typeface="Calibri"/>
            </a:endParaRPr>
          </a:p>
          <a:p>
            <a:pPr marL="698500" marR="247015" lvl="1" indent="-228600">
              <a:lnSpc>
                <a:spcPts val="259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spc="-10" dirty="0">
                <a:latin typeface="Calibri"/>
                <a:cs typeface="Calibri"/>
              </a:rPr>
              <a:t>Early-</a:t>
            </a:r>
            <a:r>
              <a:rPr sz="2400" b="1" dirty="0">
                <a:latin typeface="Calibri"/>
                <a:cs typeface="Calibri"/>
              </a:rPr>
              <a:t>stopping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encerra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treinamento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algoritmos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iterativos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gradiente </a:t>
            </a:r>
            <a:r>
              <a:rPr sz="2400" dirty="0">
                <a:latin typeface="Calibri"/>
                <a:cs typeface="Calibri"/>
              </a:rPr>
              <a:t>descendente)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validação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possível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Chamado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b="1" i="1" spc="-10" dirty="0">
                <a:solidFill>
                  <a:srgbClr val="00AF50"/>
                </a:solidFill>
                <a:latin typeface="Calibri"/>
                <a:cs typeface="Calibri"/>
              </a:rPr>
              <a:t>regularização</a:t>
            </a:r>
            <a:r>
              <a:rPr sz="20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00AF50"/>
                </a:solidFill>
                <a:latin typeface="Calibri"/>
                <a:cs typeface="Calibri"/>
              </a:rPr>
              <a:t>temporal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objetivo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deixar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regular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menos </a:t>
            </a:r>
            <a:r>
              <a:rPr sz="2800" spc="-20" dirty="0">
                <a:latin typeface="Calibri"/>
                <a:cs typeface="Calibri"/>
              </a:rPr>
              <a:t>complexo)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não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sobreajuste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conjunto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treinamento.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Regularização:</a:t>
            </a:r>
            <a:r>
              <a:rPr spc="-105" dirty="0"/>
              <a:t> </a:t>
            </a:r>
            <a:r>
              <a:rPr dirty="0"/>
              <a:t>penalizando</a:t>
            </a:r>
            <a:r>
              <a:rPr spc="-85" dirty="0"/>
              <a:t> </a:t>
            </a:r>
            <a:r>
              <a:rPr dirty="0"/>
              <a:t>a</a:t>
            </a:r>
            <a:r>
              <a:rPr spc="-90" dirty="0"/>
              <a:t> </a:t>
            </a:r>
            <a:r>
              <a:rPr spc="-10" dirty="0"/>
              <a:t>complexidade </a:t>
            </a:r>
            <a:r>
              <a:rPr dirty="0"/>
              <a:t>dos</a:t>
            </a:r>
            <a:r>
              <a:rPr spc="-5" dirty="0"/>
              <a:t> </a:t>
            </a:r>
            <a:r>
              <a:rPr spc="-10" dirty="0"/>
              <a:t>modelos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180955" cy="26269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680085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claro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sobreajustou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aos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dados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pesos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com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magnitudes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extremamente</a:t>
            </a:r>
            <a:r>
              <a:rPr sz="28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altas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trás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regularização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restringir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aumento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magnitude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reduzir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risco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sobreajuste.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19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tanto,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incorpora-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processo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treinamento</a:t>
            </a:r>
            <a:r>
              <a:rPr sz="28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restrições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spc="-10" dirty="0">
                <a:latin typeface="Calibri"/>
                <a:cs typeface="Calibri"/>
              </a:rPr>
              <a:t>proporcionais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alguma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norma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pesos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Regularização:</a:t>
            </a:r>
            <a:r>
              <a:rPr spc="-105" dirty="0"/>
              <a:t> </a:t>
            </a:r>
            <a:r>
              <a:rPr dirty="0"/>
              <a:t>penalizando</a:t>
            </a:r>
            <a:r>
              <a:rPr spc="-85" dirty="0"/>
              <a:t> </a:t>
            </a:r>
            <a:r>
              <a:rPr dirty="0"/>
              <a:t>a</a:t>
            </a:r>
            <a:r>
              <a:rPr spc="-90" dirty="0"/>
              <a:t> </a:t>
            </a:r>
            <a:r>
              <a:rPr spc="-10" dirty="0"/>
              <a:t>complexidade </a:t>
            </a:r>
            <a:r>
              <a:rPr dirty="0"/>
              <a:t>dos</a:t>
            </a:r>
            <a:r>
              <a:rPr spc="-5" dirty="0"/>
              <a:t> </a:t>
            </a:r>
            <a:r>
              <a:rPr spc="-10" dirty="0"/>
              <a:t>modelos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793493"/>
            <a:ext cx="10694670" cy="3411447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177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i="1" spc="-30" dirty="0">
                <a:solidFill>
                  <a:srgbClr val="00AF50"/>
                </a:solidFill>
              </a:rPr>
              <a:t>Técnicas</a:t>
            </a:r>
            <a:r>
              <a:rPr i="1" spc="-50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de</a:t>
            </a:r>
            <a:r>
              <a:rPr i="1" spc="-50" dirty="0">
                <a:solidFill>
                  <a:srgbClr val="00AF50"/>
                </a:solidFill>
              </a:rPr>
              <a:t> </a:t>
            </a:r>
            <a:r>
              <a:rPr i="1" spc="-10" dirty="0">
                <a:solidFill>
                  <a:srgbClr val="00AF50"/>
                </a:solidFill>
              </a:rPr>
              <a:t>regularização</a:t>
            </a:r>
            <a:r>
              <a:rPr i="1" spc="-35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reduzem</a:t>
            </a:r>
            <a:r>
              <a:rPr i="1" spc="-55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o</a:t>
            </a:r>
            <a:r>
              <a:rPr i="1" spc="-60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risco</a:t>
            </a:r>
            <a:r>
              <a:rPr i="1" spc="-60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de</a:t>
            </a:r>
            <a:r>
              <a:rPr i="1" spc="-65" dirty="0">
                <a:solidFill>
                  <a:srgbClr val="00AF50"/>
                </a:solidFill>
              </a:rPr>
              <a:t> </a:t>
            </a:r>
            <a:r>
              <a:rPr i="1" spc="-20" dirty="0">
                <a:solidFill>
                  <a:srgbClr val="00AF50"/>
                </a:solidFill>
              </a:rPr>
              <a:t>sobreajuste</a:t>
            </a:r>
            <a:r>
              <a:rPr i="1" spc="-140" dirty="0">
                <a:solidFill>
                  <a:srgbClr val="00AF50"/>
                </a:solidFill>
              </a:rPr>
              <a:t> </a:t>
            </a:r>
            <a:r>
              <a:rPr b="0" dirty="0">
                <a:latin typeface="Calibri"/>
                <a:cs typeface="Calibri"/>
              </a:rPr>
              <a:t>do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modelo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ao </a:t>
            </a:r>
            <a:r>
              <a:rPr b="0" dirty="0">
                <a:latin typeface="Calibri"/>
                <a:cs typeface="Calibri"/>
              </a:rPr>
              <a:t>conjunto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treinamento,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i="1" spc="-10" dirty="0">
                <a:solidFill>
                  <a:srgbClr val="00AF50"/>
                </a:solidFill>
              </a:rPr>
              <a:t>aumentando</a:t>
            </a:r>
            <a:r>
              <a:rPr i="1" spc="-70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sua</a:t>
            </a:r>
            <a:r>
              <a:rPr i="1" spc="-90" dirty="0">
                <a:solidFill>
                  <a:srgbClr val="00AF50"/>
                </a:solidFill>
              </a:rPr>
              <a:t> </a:t>
            </a:r>
            <a:r>
              <a:rPr i="1" spc="-10" dirty="0">
                <a:solidFill>
                  <a:srgbClr val="00AF50"/>
                </a:solidFill>
              </a:rPr>
              <a:t>capacidade</a:t>
            </a:r>
            <a:r>
              <a:rPr i="1" spc="-80" dirty="0">
                <a:solidFill>
                  <a:srgbClr val="00AF50"/>
                </a:solidFill>
              </a:rPr>
              <a:t> </a:t>
            </a:r>
            <a:r>
              <a:rPr i="1" spc="-25" dirty="0">
                <a:solidFill>
                  <a:srgbClr val="00AF50"/>
                </a:solidFill>
              </a:rPr>
              <a:t>de </a:t>
            </a:r>
            <a:r>
              <a:rPr i="1" spc="-10" dirty="0">
                <a:solidFill>
                  <a:srgbClr val="00AF50"/>
                </a:solidFill>
              </a:rPr>
              <a:t>generalização</a:t>
            </a:r>
            <a:r>
              <a:rPr b="0" spc="-10" dirty="0">
                <a:latin typeface="Calibri"/>
                <a:cs typeface="Calibri"/>
              </a:rPr>
              <a:t>.</a:t>
            </a:r>
          </a:p>
          <a:p>
            <a:pPr marL="241300" marR="28829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Quanto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menos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graus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liberdade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modelo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35" dirty="0">
                <a:latin typeface="Calibri"/>
                <a:cs typeface="Calibri"/>
              </a:rPr>
              <a:t>tiver,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mais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difícil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será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para </a:t>
            </a:r>
            <a:r>
              <a:rPr b="0" dirty="0">
                <a:latin typeface="Calibri"/>
                <a:cs typeface="Calibri"/>
              </a:rPr>
              <a:t>ele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se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i="1" spc="-10" dirty="0"/>
              <a:t>sobreajustar</a:t>
            </a:r>
            <a:r>
              <a:rPr i="1" spc="-60" dirty="0"/>
              <a:t> </a:t>
            </a:r>
            <a:r>
              <a:rPr b="0" dirty="0">
                <a:latin typeface="Calibri"/>
                <a:cs typeface="Calibri"/>
              </a:rPr>
              <a:t>aos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dados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treinamento.</a:t>
            </a: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A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i="1" spc="-10" dirty="0"/>
              <a:t>regularização</a:t>
            </a:r>
            <a:r>
              <a:rPr i="1" spc="-60" dirty="0"/>
              <a:t> </a:t>
            </a:r>
            <a:r>
              <a:rPr b="0" spc="-10" dirty="0">
                <a:latin typeface="Calibri"/>
                <a:cs typeface="Calibri"/>
              </a:rPr>
              <a:t>força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algoritmo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aprendizado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não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apenas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capturar </a:t>
            </a:r>
            <a:r>
              <a:rPr b="0" dirty="0">
                <a:latin typeface="Calibri"/>
                <a:cs typeface="Calibri"/>
              </a:rPr>
              <a:t>o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i="1" spc="-20" dirty="0">
                <a:solidFill>
                  <a:srgbClr val="006FC0"/>
                </a:solidFill>
              </a:rPr>
              <a:t>comportamento</a:t>
            </a:r>
            <a:r>
              <a:rPr i="1" spc="-50" dirty="0">
                <a:solidFill>
                  <a:srgbClr val="006FC0"/>
                </a:solidFill>
              </a:rPr>
              <a:t> </a:t>
            </a:r>
            <a:r>
              <a:rPr i="1" dirty="0">
                <a:solidFill>
                  <a:srgbClr val="006FC0"/>
                </a:solidFill>
              </a:rPr>
              <a:t>geral</a:t>
            </a:r>
            <a:r>
              <a:rPr i="1" spc="-60" dirty="0">
                <a:solidFill>
                  <a:srgbClr val="006FC0"/>
                </a:solidFill>
              </a:rPr>
              <a:t> </a:t>
            </a:r>
            <a:r>
              <a:rPr i="1" dirty="0">
                <a:solidFill>
                  <a:srgbClr val="006FC0"/>
                </a:solidFill>
              </a:rPr>
              <a:t>por</a:t>
            </a:r>
            <a:r>
              <a:rPr i="1" spc="-50" dirty="0">
                <a:solidFill>
                  <a:srgbClr val="006FC0"/>
                </a:solidFill>
              </a:rPr>
              <a:t> </a:t>
            </a:r>
            <a:r>
              <a:rPr i="1" dirty="0">
                <a:solidFill>
                  <a:srgbClr val="006FC0"/>
                </a:solidFill>
              </a:rPr>
              <a:t>trás</a:t>
            </a:r>
            <a:r>
              <a:rPr i="1" spc="-65" dirty="0">
                <a:solidFill>
                  <a:srgbClr val="006FC0"/>
                </a:solidFill>
              </a:rPr>
              <a:t> </a:t>
            </a:r>
            <a:r>
              <a:rPr i="1" dirty="0">
                <a:solidFill>
                  <a:srgbClr val="006FC0"/>
                </a:solidFill>
              </a:rPr>
              <a:t>das</a:t>
            </a:r>
            <a:r>
              <a:rPr i="1" spc="-60" dirty="0">
                <a:solidFill>
                  <a:srgbClr val="006FC0"/>
                </a:solidFill>
              </a:rPr>
              <a:t> </a:t>
            </a:r>
            <a:r>
              <a:rPr i="1" dirty="0">
                <a:solidFill>
                  <a:srgbClr val="006FC0"/>
                </a:solidFill>
              </a:rPr>
              <a:t>amostras</a:t>
            </a:r>
            <a:r>
              <a:rPr b="0" dirty="0">
                <a:latin typeface="Calibri"/>
                <a:cs typeface="Calibri"/>
              </a:rPr>
              <a:t>,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mas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também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i="1" spc="-10" dirty="0"/>
              <a:t>manter </a:t>
            </a:r>
            <a:r>
              <a:rPr i="1" dirty="0"/>
              <a:t>os</a:t>
            </a:r>
            <a:r>
              <a:rPr i="1" spc="-55" dirty="0"/>
              <a:t> </a:t>
            </a:r>
            <a:r>
              <a:rPr i="1" dirty="0"/>
              <a:t>pesos</a:t>
            </a:r>
            <a:r>
              <a:rPr i="1" spc="-50" dirty="0"/>
              <a:t> </a:t>
            </a:r>
            <a:r>
              <a:rPr i="1" dirty="0"/>
              <a:t>do</a:t>
            </a:r>
            <a:r>
              <a:rPr i="1" spc="-55" dirty="0"/>
              <a:t> </a:t>
            </a:r>
            <a:r>
              <a:rPr i="1" dirty="0" err="1"/>
              <a:t>modelo</a:t>
            </a:r>
            <a:r>
              <a:rPr i="1" spc="-35" dirty="0"/>
              <a:t> </a:t>
            </a:r>
            <a:r>
              <a:rPr i="1" dirty="0" err="1"/>
              <a:t>os</a:t>
            </a:r>
            <a:r>
              <a:rPr lang="pt-BR" i="1" dirty="0"/>
              <a:t> </a:t>
            </a:r>
            <a:r>
              <a:rPr i="1" dirty="0" err="1"/>
              <a:t>menores</a:t>
            </a:r>
            <a:r>
              <a:rPr i="1" spc="-40" dirty="0"/>
              <a:t> </a:t>
            </a:r>
            <a:r>
              <a:rPr i="1" spc="-10" dirty="0"/>
              <a:t>possíveis</a:t>
            </a:r>
            <a:r>
              <a:rPr b="0" spc="-10" dirty="0">
                <a:latin typeface="Calibri"/>
                <a:cs typeface="Calibri"/>
              </a:rPr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28864" y="6606337"/>
            <a:ext cx="414782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2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absolute_value_of_weights_when_model_overfits.ipynb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Regularização:</a:t>
            </a:r>
            <a:r>
              <a:rPr spc="-105" dirty="0"/>
              <a:t> </a:t>
            </a:r>
            <a:r>
              <a:rPr dirty="0"/>
              <a:t>penalizando</a:t>
            </a:r>
            <a:r>
              <a:rPr spc="-85" dirty="0"/>
              <a:t> </a:t>
            </a:r>
            <a:r>
              <a:rPr dirty="0"/>
              <a:t>a</a:t>
            </a:r>
            <a:r>
              <a:rPr spc="-90" dirty="0"/>
              <a:t> </a:t>
            </a:r>
            <a:r>
              <a:rPr spc="-10" dirty="0"/>
              <a:t>complexidade </a:t>
            </a:r>
            <a:r>
              <a:rPr dirty="0"/>
              <a:t>dos</a:t>
            </a:r>
            <a:r>
              <a:rPr spc="-5" dirty="0"/>
              <a:t> </a:t>
            </a:r>
            <a:r>
              <a:rPr spc="-10" dirty="0"/>
              <a:t>modelos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0392" y="1793493"/>
            <a:ext cx="6480175" cy="393890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24066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restringir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magnitude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pesos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dirty="0">
                <a:latin typeface="Calibri"/>
                <a:cs typeface="Calibri"/>
              </a:rPr>
              <a:t>essas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também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conhecidas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shrinkage</a:t>
            </a:r>
            <a:r>
              <a:rPr sz="2800" b="1" i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redução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encolhimento).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Essas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permitem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diminuir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b="1" i="1" dirty="0">
                <a:latin typeface="Calibri"/>
                <a:cs typeface="Calibri"/>
              </a:rPr>
              <a:t>variância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custo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introduzir </a:t>
            </a:r>
            <a:r>
              <a:rPr sz="2800" dirty="0">
                <a:latin typeface="Calibri"/>
                <a:cs typeface="Calibri"/>
              </a:rPr>
              <a:t>algum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viés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87630" lvl="1" indent="-228600">
              <a:lnSpc>
                <a:spcPct val="90000"/>
              </a:lnSpc>
              <a:spcBef>
                <a:spcPts val="464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Encontrar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relação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compromisso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alibri"/>
                <a:cs typeface="Calibri"/>
              </a:rPr>
              <a:t>entre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viés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variância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permite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minimizemos</a:t>
            </a:r>
            <a:r>
              <a:rPr sz="24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spc="-50" dirty="0">
                <a:solidFill>
                  <a:srgbClr val="6F2F9F"/>
                </a:solidFill>
                <a:latin typeface="Calibri"/>
                <a:cs typeface="Calibri"/>
              </a:rPr>
              <a:t>o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erro</a:t>
            </a:r>
            <a:r>
              <a:rPr sz="2400" b="1" i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4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generalização</a:t>
            </a:r>
            <a:r>
              <a:rPr sz="24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do</a:t>
            </a:r>
            <a:r>
              <a:rPr sz="24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6F2F9F"/>
                </a:solidFill>
                <a:latin typeface="Calibri"/>
                <a:cs typeface="Calibri"/>
              </a:rPr>
              <a:t>modelo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753" y="2234541"/>
            <a:ext cx="3345596" cy="318393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Regularização:</a:t>
            </a:r>
            <a:r>
              <a:rPr spc="-105" dirty="0"/>
              <a:t> </a:t>
            </a:r>
            <a:r>
              <a:rPr dirty="0"/>
              <a:t>penalizando</a:t>
            </a:r>
            <a:r>
              <a:rPr spc="-85" dirty="0"/>
              <a:t> </a:t>
            </a:r>
            <a:r>
              <a:rPr dirty="0"/>
              <a:t>a</a:t>
            </a:r>
            <a:r>
              <a:rPr spc="-90" dirty="0"/>
              <a:t> </a:t>
            </a:r>
            <a:r>
              <a:rPr spc="-10" dirty="0"/>
              <a:t>complexidade </a:t>
            </a:r>
            <a:r>
              <a:rPr dirty="0"/>
              <a:t>dos</a:t>
            </a:r>
            <a:r>
              <a:rPr spc="-5" dirty="0"/>
              <a:t> </a:t>
            </a:r>
            <a:r>
              <a:rPr spc="-10" dirty="0"/>
              <a:t>modelos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788650" cy="456438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OBS</a:t>
            </a:r>
            <a:r>
              <a:rPr sz="2800" dirty="0">
                <a:latin typeface="Calibri"/>
                <a:cs typeface="Calibri"/>
              </a:rPr>
              <a:t>.: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geral,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aplica-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escalonamento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utiliza regularização.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19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Sem</a:t>
            </a:r>
            <a:r>
              <a:rPr sz="24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escalonamento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atribuir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desproporcionalmente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grandes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aos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escalas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maiores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Isso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particularmente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problemático</a:t>
            </a:r>
            <a:r>
              <a:rPr sz="24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para</a:t>
            </a:r>
            <a:r>
              <a:rPr sz="24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regularização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pesos</a:t>
            </a:r>
            <a:r>
              <a:rPr sz="2400" b="1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6F2F9F"/>
                </a:solidFill>
                <a:latin typeface="Calibri"/>
                <a:cs typeface="Calibri"/>
              </a:rPr>
              <a:t>grandes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podem</a:t>
            </a:r>
            <a:r>
              <a:rPr sz="24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sofrer</a:t>
            </a:r>
            <a:r>
              <a:rPr sz="2400" b="1" i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mais</a:t>
            </a:r>
            <a:r>
              <a:rPr sz="24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penalização</a:t>
            </a:r>
            <a:r>
              <a:rPr sz="24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simplesmente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magnitude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maior.</a:t>
            </a:r>
            <a:endParaRPr sz="2400" dirty="0">
              <a:latin typeface="Calibri"/>
              <a:cs typeface="Calibri"/>
            </a:endParaRPr>
          </a:p>
          <a:p>
            <a:pPr marL="698500" marR="168910" lvl="1" indent="-228600">
              <a:lnSpc>
                <a:spcPts val="2590"/>
              </a:lnSpc>
              <a:spcBef>
                <a:spcPts val="53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estiverem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escala,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pesos</a:t>
            </a:r>
            <a:r>
              <a:rPr sz="2400" b="1" i="1" spc="-2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desses</a:t>
            </a:r>
            <a:r>
              <a:rPr sz="2400" b="1" i="1" spc="-3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atributos</a:t>
            </a:r>
            <a:r>
              <a:rPr sz="2400" b="1" i="1" spc="-2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EC7C30"/>
                </a:solidFill>
                <a:latin typeface="Calibri"/>
                <a:cs typeface="Calibri"/>
              </a:rPr>
              <a:t>serão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afetados</a:t>
            </a:r>
            <a:r>
              <a:rPr sz="24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400" b="1" i="1" spc="-5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maneira</a:t>
            </a:r>
            <a:r>
              <a:rPr sz="2400" b="1" i="1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diferente</a:t>
            </a:r>
            <a:r>
              <a:rPr sz="2400" b="1" i="1" spc="-1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pela</a:t>
            </a:r>
            <a:r>
              <a:rPr sz="24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penalização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levar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distorções </a:t>
            </a:r>
            <a:r>
              <a:rPr sz="2400" dirty="0">
                <a:latin typeface="Calibri"/>
                <a:cs typeface="Calibri"/>
              </a:rPr>
              <a:t>nos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resultados.</a:t>
            </a:r>
            <a:endParaRPr sz="2400" dirty="0">
              <a:latin typeface="Calibri"/>
              <a:cs typeface="Calibri"/>
            </a:endParaRPr>
          </a:p>
          <a:p>
            <a:pPr marL="698500" marR="159385" lvl="1" indent="-228600">
              <a:lnSpc>
                <a:spcPts val="259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471C4"/>
                </a:solidFill>
                <a:latin typeface="Calibri"/>
                <a:cs typeface="Calibri"/>
              </a:rPr>
              <a:t>escalonamento</a:t>
            </a:r>
            <a:r>
              <a:rPr sz="2400" b="1" i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garante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todos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471C4"/>
                </a:solidFill>
                <a:latin typeface="Calibri"/>
                <a:cs typeface="Calibri"/>
              </a:rPr>
              <a:t>pesos</a:t>
            </a:r>
            <a:r>
              <a:rPr sz="2400" b="1" i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471C4"/>
                </a:solidFill>
                <a:latin typeface="Calibri"/>
                <a:cs typeface="Calibri"/>
              </a:rPr>
              <a:t>sejam</a:t>
            </a:r>
            <a:r>
              <a:rPr sz="2400" b="1" i="1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471C4"/>
                </a:solidFill>
                <a:latin typeface="Calibri"/>
                <a:cs typeface="Calibri"/>
              </a:rPr>
              <a:t>penalizados</a:t>
            </a:r>
            <a:r>
              <a:rPr sz="2400" b="1" i="1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471C4"/>
                </a:solidFill>
                <a:latin typeface="Calibri"/>
                <a:cs typeface="Calibri"/>
              </a:rPr>
              <a:t>de</a:t>
            </a:r>
            <a:r>
              <a:rPr sz="2400" b="1" i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471C4"/>
                </a:solidFill>
                <a:latin typeface="Calibri"/>
                <a:cs typeface="Calibri"/>
              </a:rPr>
              <a:t>forma</a:t>
            </a:r>
            <a:r>
              <a:rPr sz="2400" b="1" i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4471C4"/>
                </a:solidFill>
                <a:latin typeface="Calibri"/>
                <a:cs typeface="Calibri"/>
              </a:rPr>
              <a:t>justa </a:t>
            </a:r>
            <a:r>
              <a:rPr sz="2400" b="1" i="1" dirty="0">
                <a:solidFill>
                  <a:srgbClr val="4471C4"/>
                </a:solidFill>
                <a:latin typeface="Calibri"/>
                <a:cs typeface="Calibri"/>
              </a:rPr>
              <a:t>e</a:t>
            </a:r>
            <a:r>
              <a:rPr sz="2400" b="1" i="1" spc="-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4471C4"/>
                </a:solidFill>
                <a:latin typeface="Calibri"/>
                <a:cs typeface="Calibri"/>
              </a:rPr>
              <a:t>proporcional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principais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regularização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são: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Rigde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LASSO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elastic-</a:t>
            </a:r>
            <a:r>
              <a:rPr sz="2800" i="1" spc="-20" dirty="0">
                <a:latin typeface="Calibri"/>
                <a:cs typeface="Calibri"/>
              </a:rPr>
              <a:t>net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80" dirty="0"/>
              <a:t> </a:t>
            </a:r>
            <a:r>
              <a:rPr spc="-10" dirty="0"/>
              <a:t>Ridge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32255"/>
            <a:ext cx="10859135" cy="113474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invés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minimizarmos</a:t>
            </a:r>
            <a:r>
              <a:rPr sz="2800" b="1" i="1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quadrático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médio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 </a:t>
            </a:r>
            <a:r>
              <a:rPr sz="2800" spc="-10" dirty="0">
                <a:latin typeface="Calibri"/>
                <a:cs typeface="Calibri"/>
              </a:rPr>
              <a:t>fizemos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antes,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introduzimos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termo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penalização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(ou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regularização) </a:t>
            </a:r>
            <a:r>
              <a:rPr sz="2800" spc="-10" dirty="0">
                <a:latin typeface="Calibri"/>
                <a:cs typeface="Calibri"/>
              </a:rPr>
              <a:t>proporcional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norma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Euclidiana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norma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L2)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/>
              <p:cNvSpPr txBox="1"/>
              <p:nvPr/>
            </p:nvSpPr>
            <p:spPr>
              <a:xfrm>
                <a:off x="892625" y="3505200"/>
                <a:ext cx="10224135" cy="918136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pt-BR" sz="2800" dirty="0">
                    <a:latin typeface="Calibri"/>
                    <a:cs typeface="Calibri"/>
                  </a:rPr>
                  <a:t>onde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𝜆</a:t>
                </a:r>
                <a:r>
                  <a:rPr lang="pt-BR" sz="2800" spc="14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≥</a:t>
                </a:r>
                <a:r>
                  <a:rPr lang="pt-BR" sz="2800" spc="11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0</a:t>
                </a:r>
                <a:r>
                  <a:rPr lang="pt-BR" sz="2800" spc="-3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fator</a:t>
                </a:r>
                <a:r>
                  <a:rPr lang="pt-BR" sz="28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de</a:t>
                </a:r>
                <a:r>
                  <a:rPr lang="pt-BR" sz="28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regularização</a:t>
                </a:r>
                <a:r>
                  <a:rPr lang="pt-BR" sz="2800" spc="-10" dirty="0">
                    <a:latin typeface="Calibri"/>
                    <a:cs typeface="Calibri"/>
                  </a:rPr>
                  <a:t>,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𝑿</a:t>
                </a:r>
                <a:r>
                  <a:rPr lang="pt-BR" sz="2800" spc="-4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matriz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atributos,</a:t>
                </a:r>
                <a:r>
                  <a:rPr lang="pt-BR" sz="2800" spc="-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𝒂</a:t>
                </a:r>
                <a:r>
                  <a:rPr lang="pt-BR" sz="2800" spc="-2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libri"/>
                    <a:cs typeface="Calibri"/>
                  </a:rPr>
                  <a:t>o vetor de pesos 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800" i="1" spc="-5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pt-BR" sz="280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800" b="1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pt-BR" sz="2800" b="0" i="1" spc="-5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  <m:sup>
                        <m:r>
                          <a:rPr lang="pt-BR" sz="2800" b="0" i="1" spc="-5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p>
                    </m:sSubSup>
                    <m:r>
                      <a:rPr lang="pt-BR" sz="2800" b="0" i="1" spc="-5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pt-BR" sz="2800" b="0" i="1" spc="-5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2800" b="0" i="1" spc="-50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a:rPr lang="pt-BR" sz="2800" b="0" i="1" spc="-50" smtClean="0">
                            <a:latin typeface="Cambria Math" panose="02040503050406030204" pitchFamily="18" charset="0"/>
                            <a:cs typeface="Calibri"/>
                          </a:rPr>
                          <m:t>=1</m:t>
                        </m:r>
                      </m:sub>
                      <m:sup>
                        <m:r>
                          <a:rPr lang="pt-BR" sz="2800" b="0" i="1" spc="-50" smtClean="0">
                            <a:latin typeface="Cambria Math" panose="02040503050406030204" pitchFamily="18" charset="0"/>
                            <a:cs typeface="Calibri"/>
                          </a:rPr>
                          <m:t>𝐾</m:t>
                        </m:r>
                      </m:sup>
                      <m:e>
                        <m:sSubSup>
                          <m:sSubSupPr>
                            <m:ctrlPr>
                              <a:rPr lang="pt-BR" sz="28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pt-BR" sz="28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8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</m:sub>
                          <m:sup>
                            <m:r>
                              <a:rPr lang="pt-BR" sz="28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pt-BR" sz="2800" b="0" i="1" spc="-50" smtClean="0">
                        <a:latin typeface="Cambria Math" panose="02040503050406030204" pitchFamily="18" charset="0"/>
                        <a:cs typeface="Calibri"/>
                      </a:rPr>
                      <m:t>.</m:t>
                    </m:r>
                  </m:oMath>
                </a14:m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625" y="3505200"/>
                <a:ext cx="10224135" cy="918136"/>
              </a:xfrm>
              <a:prstGeom prst="rect">
                <a:avLst/>
              </a:prstGeom>
              <a:blipFill>
                <a:blip r:embed="rId2"/>
                <a:stretch>
                  <a:fillRect l="-1967" t="-11921" r="-1669" b="-205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5"/>
              <p:cNvSpPr txBox="1"/>
              <p:nvPr/>
            </p:nvSpPr>
            <p:spPr>
              <a:xfrm>
                <a:off x="894454" y="4412327"/>
                <a:ext cx="10099675" cy="44884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66700" indent="-228600">
                  <a:lnSpc>
                    <a:spcPct val="100000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66700" algn="l"/>
                    <a:tab pos="874394" algn="l"/>
                    <a:tab pos="1284605" algn="l"/>
                  </a:tabLst>
                </a:pPr>
                <a:r>
                  <a:rPr lang="pt-BR" sz="2800" spc="-25" dirty="0">
                    <a:latin typeface="Calibri"/>
                    <a:cs typeface="Calibri"/>
                  </a:rPr>
                  <a:t>Se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2800" i="1" spc="-2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ar-AE" sz="280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800" b="1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pt-BR" sz="28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  <m:sup>
                        <m:r>
                          <a:rPr lang="ar-AE" sz="28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ar-AE" sz="3075" spc="330" baseline="28455" dirty="0">
                    <a:latin typeface="Cambria Math"/>
                    <a:cs typeface="Cambria Math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aumenta,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𝜆</a:t>
                </a:r>
                <a:r>
                  <a:rPr lang="pt-BR" sz="2800" spc="-2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deve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diminuir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para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erro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seja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minimizado.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454" y="4412327"/>
                <a:ext cx="10099675" cy="448841"/>
              </a:xfrm>
              <a:prstGeom prst="rect">
                <a:avLst/>
              </a:prstGeom>
              <a:blipFill>
                <a:blip r:embed="rId3"/>
                <a:stretch>
                  <a:fillRect l="-1630" t="-23288" r="-966" b="-493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6"/>
          <p:cNvSpPr txBox="1"/>
          <p:nvPr/>
        </p:nvSpPr>
        <p:spPr>
          <a:xfrm>
            <a:off x="891539" y="4967605"/>
            <a:ext cx="10913110" cy="173799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66700" marR="262890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66700" algn="l"/>
              </a:tabLst>
            </a:pPr>
            <a:r>
              <a:rPr sz="2800" b="1" dirty="0">
                <a:latin typeface="Calibri"/>
                <a:cs typeface="Calibri"/>
              </a:rPr>
              <a:t>OBS</a:t>
            </a:r>
            <a:r>
              <a:rPr sz="2800" dirty="0">
                <a:latin typeface="Calibri"/>
                <a:cs typeface="Calibri"/>
              </a:rPr>
              <a:t>.: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somatório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inicia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𝑎</a:t>
            </a:r>
            <a:r>
              <a:rPr sz="3075" baseline="-16260" dirty="0">
                <a:latin typeface="Cambria Math"/>
                <a:cs typeface="Cambria Math"/>
              </a:rPr>
              <a:t>0</a:t>
            </a:r>
            <a:r>
              <a:rPr sz="3075" spc="390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influencia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complexidade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ordem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modelo.</a:t>
            </a:r>
            <a:endParaRPr sz="2800" dirty="0">
              <a:latin typeface="Calibri"/>
              <a:cs typeface="Calibri"/>
            </a:endParaRPr>
          </a:p>
          <a:p>
            <a:pPr marL="723900" marR="30480" lvl="1" indent="-228600">
              <a:lnSpc>
                <a:spcPts val="2300"/>
              </a:lnSpc>
              <a:spcBef>
                <a:spcPts val="525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mbria Math"/>
                <a:cs typeface="Cambria Math"/>
              </a:rPr>
              <a:t>𝑎</a:t>
            </a:r>
            <a:r>
              <a:rPr sz="2625" baseline="-15873" dirty="0">
                <a:latin typeface="Cambria Math"/>
                <a:cs typeface="Cambria Math"/>
              </a:rPr>
              <a:t>0</a:t>
            </a:r>
            <a:r>
              <a:rPr sz="2625" spc="33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apenas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deslocamento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eixo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ordenadas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influência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complexidade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hipótese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multiplicado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nenhum atributo.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62800" y="2833370"/>
            <a:ext cx="1030056" cy="485775"/>
          </a:xfrm>
          <a:custGeom>
            <a:avLst/>
            <a:gdLst/>
            <a:ahLst/>
            <a:cxnLst/>
            <a:rect l="l" t="t" r="r" b="b"/>
            <a:pathLst>
              <a:path w="862965" h="485775">
                <a:moveTo>
                  <a:pt x="0" y="485190"/>
                </a:moveTo>
                <a:lnTo>
                  <a:pt x="862545" y="485190"/>
                </a:lnTo>
                <a:lnTo>
                  <a:pt x="862545" y="0"/>
                </a:lnTo>
                <a:lnTo>
                  <a:pt x="0" y="0"/>
                </a:lnTo>
                <a:lnTo>
                  <a:pt x="0" y="485190"/>
                </a:lnTo>
                <a:close/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03783C26-BD69-A0EC-4C2E-A7D91A50ED46}"/>
                  </a:ext>
                </a:extLst>
              </p:cNvPr>
              <p:cNvSpPr txBox="1"/>
              <p:nvPr/>
            </p:nvSpPr>
            <p:spPr>
              <a:xfrm>
                <a:off x="3999144" y="2826769"/>
                <a:ext cx="4193712" cy="5178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pt-B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  <m:r>
                                        <a:rPr lang="pt-BR" sz="24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pt-BR" sz="2400" b="1" i="1" smtClean="0">
                                          <a:latin typeface="Cambria Math" panose="02040503050406030204" pitchFamily="18" charset="0"/>
                                        </a:rPr>
                                        <m:t>𝑿𝒂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bSup>
                                <m:sSub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03783C26-BD69-A0EC-4C2E-A7D91A50E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144" y="2826769"/>
                <a:ext cx="4193712" cy="5178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80" dirty="0"/>
              <a:t> </a:t>
            </a:r>
            <a:r>
              <a:rPr spc="-10" dirty="0"/>
              <a:t>Ridge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24000"/>
            <a:ext cx="983488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Reescrevendo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regularização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b="1" i="1" dirty="0" err="1">
                <a:latin typeface="Calibri"/>
                <a:cs typeface="Calibri"/>
              </a:rPr>
              <a:t>problema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</a:t>
            </a:r>
            <a:r>
              <a:rPr lang="pt-BR" sz="2800" b="1" i="1" spc="-25" dirty="0">
                <a:latin typeface="Calibri"/>
                <a:cs typeface="Calibri"/>
              </a:rPr>
              <a:t> </a:t>
            </a:r>
            <a:r>
              <a:rPr lang="pt-BR" sz="2800" b="1" i="1" spc="-10" dirty="0">
                <a:latin typeface="Calibri"/>
                <a:cs typeface="Calibri"/>
              </a:rPr>
              <a:t>otimização</a:t>
            </a:r>
            <a:r>
              <a:rPr lang="pt-BR" sz="2800" b="1" i="1" spc="-100" dirty="0">
                <a:latin typeface="Calibri"/>
                <a:cs typeface="Calibri"/>
              </a:rPr>
              <a:t> </a:t>
            </a:r>
            <a:r>
              <a:rPr lang="pt-BR" sz="28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lang="pt-BR"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restrição</a:t>
            </a:r>
            <a:r>
              <a:rPr lang="pt-BR" sz="2800" spc="-10" dirty="0">
                <a:latin typeface="Calibri"/>
                <a:cs typeface="Calibri"/>
              </a:rPr>
              <a:t>,</a:t>
            </a:r>
            <a:r>
              <a:rPr lang="pt-BR" sz="2800" spc="-90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temos</a:t>
            </a:r>
            <a:endParaRPr lang="pt-BR" sz="28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1539" y="3491306"/>
            <a:ext cx="11052175" cy="321056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8100" marR="257810">
              <a:lnSpc>
                <a:spcPts val="2690"/>
              </a:lnSpc>
              <a:spcBef>
                <a:spcPts val="745"/>
              </a:spcBef>
            </a:pPr>
            <a:r>
              <a:rPr sz="2800" dirty="0">
                <a:latin typeface="Calibri"/>
                <a:cs typeface="Calibri"/>
              </a:rPr>
              <a:t>onde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𝑐</a:t>
            </a:r>
            <a:r>
              <a:rPr sz="2800" spc="4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restringe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magnitude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b="1" i="1" dirty="0">
                <a:latin typeface="Calibri"/>
                <a:cs typeface="Calibri"/>
              </a:rPr>
              <a:t>raio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região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factibilidade</a:t>
            </a:r>
            <a:r>
              <a:rPr sz="2800" spc="-10" dirty="0">
                <a:latin typeface="Calibri"/>
                <a:cs typeface="Calibri"/>
              </a:rPr>
              <a:t>)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inversamente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proporcional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𝜆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indent="-228600">
              <a:lnSpc>
                <a:spcPts val="3329"/>
              </a:lnSpc>
              <a:spcBef>
                <a:spcPts val="34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Observem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</a:t>
            </a:r>
            <a:endParaRPr sz="2800" dirty="0">
              <a:latin typeface="Calibri"/>
              <a:cs typeface="Calibri"/>
            </a:endParaRPr>
          </a:p>
          <a:p>
            <a:pPr marL="723900" lvl="1" indent="-229235">
              <a:lnSpc>
                <a:spcPts val="2565"/>
              </a:lnSpc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Conforme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𝑐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diminui,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poderá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magnitude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que</a:t>
            </a:r>
            <a:endParaRPr sz="2400" dirty="0">
              <a:latin typeface="Calibri"/>
              <a:cs typeface="Calibri"/>
            </a:endParaRPr>
          </a:p>
          <a:p>
            <a:pPr marL="723900">
              <a:lnSpc>
                <a:spcPts val="2555"/>
              </a:lnSpc>
            </a:pPr>
            <a:r>
              <a:rPr sz="2400" dirty="0">
                <a:latin typeface="Calibri"/>
                <a:cs typeface="Calibri"/>
              </a:rPr>
              <a:t>no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limite,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𝑐</a:t>
            </a:r>
            <a:r>
              <a:rPr sz="2400" spc="2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→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0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𝑎</a:t>
            </a:r>
            <a:r>
              <a:rPr sz="2625" baseline="-15873" dirty="0">
                <a:latin typeface="Cambria Math"/>
                <a:cs typeface="Cambria Math"/>
              </a:rPr>
              <a:t>𝑖</a:t>
            </a:r>
            <a:r>
              <a:rPr sz="2625" spc="46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→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0,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∀𝑖</a:t>
            </a:r>
            <a:r>
              <a:rPr sz="2400" spc="8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723900" marR="113664" lvl="1" indent="-228600">
              <a:lnSpc>
                <a:spcPts val="2300"/>
              </a:lnSpc>
              <a:spcBef>
                <a:spcPts val="525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outro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lado,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conforme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𝑐</a:t>
            </a:r>
            <a:r>
              <a:rPr sz="2400" spc="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aumenta,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poderá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magnitude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pesos,</a:t>
            </a:r>
            <a:r>
              <a:rPr sz="2400" spc="-25" dirty="0">
                <a:latin typeface="Calibri"/>
                <a:cs typeface="Calibri"/>
              </a:rPr>
              <a:t> até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limite,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𝑐</a:t>
            </a:r>
            <a:r>
              <a:rPr sz="2400" spc="20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→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∞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𝑎</a:t>
            </a:r>
            <a:r>
              <a:rPr sz="2625" baseline="-15873" dirty="0">
                <a:latin typeface="Cambria Math"/>
                <a:cs typeface="Cambria Math"/>
              </a:rPr>
              <a:t>𝑖</a:t>
            </a:r>
            <a:r>
              <a:rPr sz="2625" spc="46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assumir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qualquer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valor.</a:t>
            </a:r>
            <a:endParaRPr sz="2400" dirty="0">
              <a:latin typeface="Calibri"/>
              <a:cs typeface="Calibri"/>
            </a:endParaRPr>
          </a:p>
          <a:p>
            <a:pPr marL="723900" lvl="1" indent="-229235">
              <a:lnSpc>
                <a:spcPts val="2535"/>
              </a:lnSpc>
              <a:buFont typeface="Wingdings"/>
              <a:buChar char=""/>
              <a:tabLst>
                <a:tab pos="724535" algn="l"/>
              </a:tabLst>
            </a:pPr>
            <a:r>
              <a:rPr sz="2400" spc="-10" dirty="0">
                <a:latin typeface="Calibri"/>
                <a:cs typeface="Calibri"/>
              </a:rPr>
              <a:t>Portanto,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parâmetro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𝑐</a:t>
            </a:r>
            <a:r>
              <a:rPr sz="2400" spc="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(e,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consequentemente,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𝜆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controla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compromisso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entre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endParaRPr sz="2400" dirty="0">
              <a:latin typeface="Calibri"/>
              <a:cs typeface="Calibri"/>
            </a:endParaRPr>
          </a:p>
          <a:p>
            <a:pPr marL="723900">
              <a:lnSpc>
                <a:spcPts val="2595"/>
              </a:lnSpc>
            </a:pP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redução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limitação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magnitude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0F049F4C-E4AD-5194-31C9-078DFFB2C283}"/>
                  </a:ext>
                </a:extLst>
              </p:cNvPr>
              <p:cNvSpPr txBox="1"/>
              <p:nvPr/>
            </p:nvSpPr>
            <p:spPr>
              <a:xfrm>
                <a:off x="4491843" y="2374457"/>
                <a:ext cx="3208314" cy="597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+1×1</m:t>
                                  </m:r>
                                </m:sup>
                              </m:s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pt-B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𝑿𝒂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0F049F4C-E4AD-5194-31C9-078DFFB2C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843" y="2374457"/>
                <a:ext cx="3208314" cy="5973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378E09C8-EEB9-0CDD-BE97-5C8478CF363F}"/>
                  </a:ext>
                </a:extLst>
              </p:cNvPr>
              <p:cNvSpPr txBox="1"/>
              <p:nvPr/>
            </p:nvSpPr>
            <p:spPr>
              <a:xfrm>
                <a:off x="4994673" y="3048000"/>
                <a:ext cx="2202654" cy="4366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80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. </m:t>
                          </m:r>
                        </m:fName>
                        <m:e>
                          <m:sSubSup>
                            <m:sSubSup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pt-B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378E09C8-EEB9-0CDD-BE97-5C8478CF3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673" y="3048000"/>
                <a:ext cx="2202654" cy="4366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80" dirty="0"/>
              <a:t> </a:t>
            </a:r>
            <a:r>
              <a:rPr spc="-10" dirty="0"/>
              <a:t>Ridge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9235" y="1676400"/>
            <a:ext cx="6962140" cy="31375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9235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935" algn="l"/>
              </a:tabLst>
            </a:pP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Região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factibilidade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região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dirty="0">
                <a:latin typeface="Calibri"/>
                <a:cs typeface="Calibri"/>
              </a:rPr>
              <a:t>possíveis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assumir.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parâmetro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𝑐</a:t>
            </a:r>
            <a:r>
              <a:rPr sz="2800" spc="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dá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raio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região.</a:t>
            </a:r>
            <a:endParaRPr sz="2800" dirty="0">
              <a:latin typeface="Calibri"/>
              <a:cs typeface="Calibri"/>
            </a:endParaRPr>
          </a:p>
          <a:p>
            <a:pPr marL="241300" marR="172720" indent="-229235">
              <a:lnSpc>
                <a:spcPct val="90200"/>
              </a:lnSpc>
              <a:spcBef>
                <a:spcPts val="99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raio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círculo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formando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região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factibilidade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800" b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AF50"/>
                </a:solidFill>
                <a:latin typeface="Calibri"/>
                <a:cs typeface="Calibri"/>
              </a:rPr>
              <a:t>inversamente</a:t>
            </a:r>
            <a:r>
              <a:rPr sz="28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proporcional</a:t>
            </a:r>
            <a:r>
              <a:rPr sz="2800" b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00AF50"/>
                </a:solidFill>
                <a:latin typeface="Calibri"/>
                <a:cs typeface="Calibri"/>
              </a:rPr>
              <a:t>ao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fator</a:t>
            </a:r>
            <a:r>
              <a:rPr sz="2800" b="1" spc="-114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spc="-114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regularização,</a:t>
            </a:r>
            <a:r>
              <a:rPr sz="28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AF50"/>
                </a:solidFill>
                <a:latin typeface="Cambria Math"/>
                <a:cs typeface="Cambria Math"/>
              </a:rPr>
              <a:t>𝝀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regularizado</a:t>
            </a:r>
            <a:r>
              <a:rPr sz="2800" spc="-10" dirty="0">
                <a:latin typeface="Calibri"/>
                <a:cs typeface="Calibri"/>
              </a:rPr>
              <a:t>,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09235" y="5380431"/>
            <a:ext cx="6983095" cy="1219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b="1" i="1" dirty="0">
                <a:latin typeface="Calibri"/>
                <a:cs typeface="Calibri"/>
              </a:rPr>
              <a:t>continua</a:t>
            </a:r>
            <a:r>
              <a:rPr sz="2800" b="1" i="1" spc="-114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sendo</a:t>
            </a:r>
            <a:r>
              <a:rPr sz="2800" b="1" i="1" spc="-13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quadrática</a:t>
            </a:r>
            <a:r>
              <a:rPr sz="2800" b="1" i="1" spc="-114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com</a:t>
            </a:r>
            <a:r>
              <a:rPr sz="2800" b="1" i="1" spc="-11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relação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aos </a:t>
            </a:r>
            <a:r>
              <a:rPr sz="2800" b="1" i="1" dirty="0">
                <a:latin typeface="Calibri"/>
                <a:cs typeface="Calibri"/>
              </a:rPr>
              <a:t>pesos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superfície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continua </a:t>
            </a:r>
            <a:r>
              <a:rPr sz="2800" b="1" i="1" dirty="0">
                <a:latin typeface="Calibri"/>
                <a:cs typeface="Calibri"/>
              </a:rPr>
              <a:t>sendo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convexa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341" y="1964258"/>
            <a:ext cx="2991485" cy="38699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5DD9D99B-F375-5602-236A-8ED9B830A481}"/>
                  </a:ext>
                </a:extLst>
              </p:cNvPr>
              <p:cNvSpPr txBox="1"/>
              <p:nvPr/>
            </p:nvSpPr>
            <p:spPr>
              <a:xfrm>
                <a:off x="5181559" y="4836239"/>
                <a:ext cx="6093500" cy="528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𝑿𝒂</m:t>
                              </m:r>
                            </m:e>
                          </m:d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𝜆</m:t>
                      </m:r>
                      <m:sSubSup>
                        <m:sSub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5DD9D99B-F375-5602-236A-8ED9B830A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559" y="4836239"/>
                <a:ext cx="6093500" cy="528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80" dirty="0"/>
              <a:t> </a:t>
            </a:r>
            <a:r>
              <a:rPr spc="-10" dirty="0"/>
              <a:t>Ridge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24000"/>
            <a:ext cx="10365105" cy="79311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5080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solução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forma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fechada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seguindo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dirty="0">
                <a:latin typeface="Calibri"/>
                <a:cs typeface="Calibri"/>
              </a:rPr>
              <a:t>mesmo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procedimento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equação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normal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80559" y="2964243"/>
            <a:ext cx="405130" cy="294953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0480">
              <a:lnSpc>
                <a:spcPts val="2260"/>
              </a:lnSpc>
            </a:pPr>
            <a:endParaRPr sz="2200" dirty="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939" y="3685413"/>
            <a:ext cx="2133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Observações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4394" y="4104513"/>
            <a:ext cx="10542905" cy="22739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marR="303530" indent="-228600">
              <a:lnSpc>
                <a:spcPct val="80000"/>
              </a:lnSpc>
              <a:spcBef>
                <a:spcPts val="675"/>
              </a:spcBef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Mesmo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matriz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𝑿</a:t>
            </a:r>
            <a:r>
              <a:rPr sz="2400" spc="-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tenha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posto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completo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matriz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singular),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inversa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acima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sempre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existirá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devido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adição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𝜆𝑰′</a:t>
            </a:r>
            <a:r>
              <a:rPr sz="2400" spc="-2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510"/>
              </a:lnSpc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Como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norma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L2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471C4"/>
                </a:solidFill>
                <a:latin typeface="Calibri"/>
                <a:cs typeface="Calibri"/>
              </a:rPr>
              <a:t>diferenciável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regressão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Ridge</a:t>
            </a:r>
            <a:r>
              <a:rPr sz="2400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também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resolvida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555"/>
              </a:lnSpc>
            </a:pPr>
            <a:r>
              <a:rPr sz="2400" spc="-10" dirty="0">
                <a:latin typeface="Calibri"/>
                <a:cs typeface="Calibri"/>
              </a:rPr>
              <a:t>iterativamente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através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471C4"/>
                </a:solidFill>
                <a:latin typeface="Calibri"/>
                <a:cs typeface="Calibri"/>
              </a:rPr>
              <a:t>algoritmo</a:t>
            </a:r>
            <a:r>
              <a:rPr sz="2400" b="1" i="1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471C4"/>
                </a:solidFill>
                <a:latin typeface="Calibri"/>
                <a:cs typeface="Calibri"/>
              </a:rPr>
              <a:t>do</a:t>
            </a:r>
            <a:r>
              <a:rPr sz="2400" b="1" i="1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471C4"/>
                </a:solidFill>
                <a:latin typeface="Calibri"/>
                <a:cs typeface="Calibri"/>
              </a:rPr>
              <a:t>gradiente</a:t>
            </a:r>
            <a:r>
              <a:rPr sz="2400" b="1" i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4471C4"/>
                </a:solidFill>
                <a:latin typeface="Calibri"/>
                <a:cs typeface="Calibri"/>
              </a:rPr>
              <a:t>descendente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300"/>
              </a:lnSpc>
              <a:spcBef>
                <a:spcPts val="525"/>
              </a:spcBef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termo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regularização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adicionado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apenas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à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erro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durante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50" dirty="0">
                <a:latin typeface="Calibri"/>
                <a:cs typeface="Calibri"/>
              </a:rPr>
              <a:t>o </a:t>
            </a:r>
            <a:r>
              <a:rPr sz="2400" b="1" i="1" dirty="0">
                <a:latin typeface="Calibri"/>
                <a:cs typeface="Calibri"/>
              </a:rPr>
              <a:t>treinamento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Depois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treinado,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avaliação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desempenho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não </a:t>
            </a:r>
            <a:r>
              <a:rPr sz="2400" dirty="0">
                <a:latin typeface="Calibri"/>
                <a:cs typeface="Calibri"/>
              </a:rPr>
              <a:t>utiliza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regularização.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827895" y="2815844"/>
            <a:ext cx="21355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 marR="5080" indent="-184785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Calibri"/>
                <a:cs typeface="Calibri"/>
              </a:rPr>
              <a:t>matriz</a:t>
            </a:r>
            <a:r>
              <a:rPr sz="1200" b="1" i="1" spc="-15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identidade </a:t>
            </a:r>
            <a:r>
              <a:rPr sz="1200" dirty="0">
                <a:latin typeface="Calibri"/>
                <a:cs typeface="Calibri"/>
              </a:rPr>
              <a:t>com o </a:t>
            </a:r>
            <a:r>
              <a:rPr sz="1200" spc="-10" dirty="0">
                <a:latin typeface="Calibri"/>
                <a:cs typeface="Calibri"/>
              </a:rPr>
              <a:t>primeiro </a:t>
            </a:r>
            <a:r>
              <a:rPr sz="1200" dirty="0">
                <a:latin typeface="Calibri"/>
                <a:cs typeface="Calibri"/>
              </a:rPr>
              <a:t>elemento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igual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0, pois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não </a:t>
            </a:r>
            <a:r>
              <a:rPr sz="1200" dirty="0">
                <a:latin typeface="Calibri"/>
                <a:cs typeface="Calibri"/>
              </a:rPr>
              <a:t>penalizamos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 peso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bias.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85130" y="3681221"/>
            <a:ext cx="2220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derivada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termo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10" dirty="0">
                <a:latin typeface="Calibri"/>
                <a:cs typeface="Calibri"/>
              </a:rPr>
              <a:t> regularização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59883" y="3249041"/>
            <a:ext cx="406400" cy="411480"/>
          </a:xfrm>
          <a:custGeom>
            <a:avLst/>
            <a:gdLst/>
            <a:ahLst/>
            <a:cxnLst/>
            <a:rect l="l" t="t" r="r" b="b"/>
            <a:pathLst>
              <a:path w="406400" h="411479">
                <a:moveTo>
                  <a:pt x="350525" y="359061"/>
                </a:moveTo>
                <a:lnTo>
                  <a:pt x="325627" y="383667"/>
                </a:lnTo>
                <a:lnTo>
                  <a:pt x="406272" y="410972"/>
                </a:lnTo>
                <a:lnTo>
                  <a:pt x="392256" y="368046"/>
                </a:lnTo>
                <a:lnTo>
                  <a:pt x="359409" y="368046"/>
                </a:lnTo>
                <a:lnTo>
                  <a:pt x="350525" y="359061"/>
                </a:lnTo>
                <a:close/>
              </a:path>
              <a:path w="406400" h="411479">
                <a:moveTo>
                  <a:pt x="355062" y="354577"/>
                </a:moveTo>
                <a:lnTo>
                  <a:pt x="350525" y="359061"/>
                </a:lnTo>
                <a:lnTo>
                  <a:pt x="359409" y="368046"/>
                </a:lnTo>
                <a:lnTo>
                  <a:pt x="363981" y="363601"/>
                </a:lnTo>
                <a:lnTo>
                  <a:pt x="355062" y="354577"/>
                </a:lnTo>
                <a:close/>
              </a:path>
              <a:path w="406400" h="411479">
                <a:moveTo>
                  <a:pt x="379856" y="330073"/>
                </a:moveTo>
                <a:lnTo>
                  <a:pt x="355062" y="354577"/>
                </a:lnTo>
                <a:lnTo>
                  <a:pt x="363981" y="363601"/>
                </a:lnTo>
                <a:lnTo>
                  <a:pt x="359409" y="368046"/>
                </a:lnTo>
                <a:lnTo>
                  <a:pt x="392256" y="368046"/>
                </a:lnTo>
                <a:lnTo>
                  <a:pt x="379856" y="330073"/>
                </a:lnTo>
                <a:close/>
              </a:path>
              <a:path w="406400" h="411479">
                <a:moveTo>
                  <a:pt x="4571" y="0"/>
                </a:moveTo>
                <a:lnTo>
                  <a:pt x="0" y="4572"/>
                </a:lnTo>
                <a:lnTo>
                  <a:pt x="350525" y="359061"/>
                </a:lnTo>
                <a:lnTo>
                  <a:pt x="355062" y="354577"/>
                </a:lnTo>
                <a:lnTo>
                  <a:pt x="457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E9C4FF4B-D9F3-D097-8A95-116D38C93BA9}"/>
                  </a:ext>
                </a:extLst>
              </p:cNvPr>
              <p:cNvSpPr txBox="1"/>
              <p:nvPr/>
            </p:nvSpPr>
            <p:spPr>
              <a:xfrm>
                <a:off x="3208015" y="2438400"/>
                <a:ext cx="6591805" cy="1360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onde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E9C4FF4B-D9F3-D097-8A95-116D38C93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015" y="2438400"/>
                <a:ext cx="6591805" cy="13606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-152400"/>
            <a:ext cx="10358120" cy="1301115"/>
          </a:xfrm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35" dirty="0"/>
              <a:t> </a:t>
            </a:r>
            <a:r>
              <a:rPr dirty="0"/>
              <a:t>Ridge</a:t>
            </a:r>
            <a:r>
              <a:rPr spc="-110" dirty="0"/>
              <a:t> </a:t>
            </a:r>
            <a:r>
              <a:rPr dirty="0"/>
              <a:t>com</a:t>
            </a:r>
            <a:r>
              <a:rPr spc="-100" dirty="0"/>
              <a:t> </a:t>
            </a:r>
            <a:r>
              <a:rPr dirty="0"/>
              <a:t>gradiente</a:t>
            </a:r>
            <a:r>
              <a:rPr spc="-120" dirty="0"/>
              <a:t> </a:t>
            </a:r>
            <a:r>
              <a:rPr spc="-10" dirty="0"/>
              <a:t>descendente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891539" y="5105400"/>
            <a:ext cx="10777855" cy="64770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38100" marR="30480">
              <a:lnSpc>
                <a:spcPct val="70000"/>
              </a:lnSpc>
              <a:spcBef>
                <a:spcPts val="965"/>
              </a:spcBef>
            </a:pPr>
            <a:r>
              <a:rPr sz="2400" dirty="0">
                <a:latin typeface="Calibri"/>
                <a:cs typeface="Calibri"/>
              </a:rPr>
              <a:t>onde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80" dirty="0">
                <a:latin typeface="Cambria Math"/>
                <a:cs typeface="Cambria Math"/>
              </a:rPr>
              <a:t>𝑰</a:t>
            </a:r>
            <a:r>
              <a:rPr sz="2625" spc="120" baseline="28571" dirty="0">
                <a:latin typeface="Cambria Math"/>
                <a:cs typeface="Cambria Math"/>
              </a:rPr>
              <a:t>′</a:t>
            </a:r>
            <a:r>
              <a:rPr sz="2625" spc="367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matriz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identidade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tamanho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𝐾</a:t>
            </a:r>
            <a:r>
              <a:rPr sz="2400" spc="7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1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primeiro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feito </a:t>
            </a:r>
            <a:r>
              <a:rPr sz="2400" dirty="0">
                <a:latin typeface="Calibri"/>
                <a:cs typeface="Calibri"/>
              </a:rPr>
              <a:t>igual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queremos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regularizar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bias.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16939" y="5704840"/>
            <a:ext cx="6160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equação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atualização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dos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pesos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por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9067418" y="3886200"/>
            <a:ext cx="769620" cy="76200"/>
          </a:xfrm>
          <a:custGeom>
            <a:avLst/>
            <a:gdLst/>
            <a:ahLst/>
            <a:cxnLst/>
            <a:rect l="l" t="t" r="r" b="b"/>
            <a:pathLst>
              <a:path w="769620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41274"/>
                </a:lnTo>
                <a:lnTo>
                  <a:pt x="63500" y="41274"/>
                </a:lnTo>
                <a:lnTo>
                  <a:pt x="63500" y="34924"/>
                </a:lnTo>
                <a:lnTo>
                  <a:pt x="76200" y="34924"/>
                </a:lnTo>
                <a:lnTo>
                  <a:pt x="76200" y="0"/>
                </a:lnTo>
                <a:close/>
              </a:path>
              <a:path w="769620" h="76200">
                <a:moveTo>
                  <a:pt x="76200" y="34924"/>
                </a:moveTo>
                <a:lnTo>
                  <a:pt x="63500" y="34924"/>
                </a:lnTo>
                <a:lnTo>
                  <a:pt x="63500" y="41274"/>
                </a:lnTo>
                <a:lnTo>
                  <a:pt x="76200" y="41274"/>
                </a:lnTo>
                <a:lnTo>
                  <a:pt x="76200" y="34924"/>
                </a:lnTo>
                <a:close/>
              </a:path>
              <a:path w="769620" h="76200">
                <a:moveTo>
                  <a:pt x="769238" y="34924"/>
                </a:moveTo>
                <a:lnTo>
                  <a:pt x="76200" y="34924"/>
                </a:lnTo>
                <a:lnTo>
                  <a:pt x="76200" y="41274"/>
                </a:lnTo>
                <a:lnTo>
                  <a:pt x="769238" y="41274"/>
                </a:lnTo>
                <a:lnTo>
                  <a:pt x="769238" y="349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8420481" y="3755264"/>
            <a:ext cx="31534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0670">
              <a:spcBef>
                <a:spcPts val="1265"/>
              </a:spcBef>
            </a:pPr>
            <a:r>
              <a:rPr sz="1200" dirty="0" err="1">
                <a:latin typeface="Calibri"/>
                <a:cs typeface="Calibri"/>
              </a:rPr>
              <a:t>Gradiente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 err="1">
                <a:latin typeface="Calibri"/>
                <a:cs typeface="Calibri"/>
              </a:rPr>
              <a:t>relação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5" dirty="0" err="1">
                <a:latin typeface="Calibri"/>
                <a:cs typeface="Calibri"/>
              </a:rPr>
              <a:t>ao</a:t>
            </a:r>
            <a:r>
              <a:rPr lang="pt-BR" sz="1200" dirty="0">
                <a:latin typeface="Calibri"/>
                <a:cs typeface="Calibri"/>
              </a:rPr>
              <a:t>peso</a:t>
            </a:r>
            <a:r>
              <a:rPr lang="pt-BR" sz="1200" spc="5" dirty="0">
                <a:latin typeface="Calibri"/>
                <a:cs typeface="Calibri"/>
              </a:rPr>
              <a:t> </a:t>
            </a:r>
            <a:r>
              <a:rPr lang="pt-BR" sz="1200" dirty="0">
                <a:latin typeface="Calibri"/>
                <a:cs typeface="Calibri"/>
              </a:rPr>
              <a:t>de</a:t>
            </a:r>
            <a:r>
              <a:rPr lang="pt-BR" sz="1200" spc="-5" dirty="0">
                <a:latin typeface="Calibri"/>
                <a:cs typeface="Calibri"/>
              </a:rPr>
              <a:t> </a:t>
            </a:r>
            <a:r>
              <a:rPr lang="pt-BR" sz="1200" spc="-20" dirty="0">
                <a:latin typeface="Calibri"/>
                <a:cs typeface="Calibri"/>
              </a:rPr>
              <a:t>bias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965817" y="4648200"/>
            <a:ext cx="19964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797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Equação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geral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vetor gradiente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formato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matricial.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9067418" y="4800600"/>
            <a:ext cx="769620" cy="76200"/>
          </a:xfrm>
          <a:custGeom>
            <a:avLst/>
            <a:gdLst/>
            <a:ahLst/>
            <a:cxnLst/>
            <a:rect l="l" t="t" r="r" b="b"/>
            <a:pathLst>
              <a:path w="76962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1275"/>
                </a:lnTo>
                <a:lnTo>
                  <a:pt x="63500" y="41275"/>
                </a:lnTo>
                <a:lnTo>
                  <a:pt x="63500" y="34925"/>
                </a:lnTo>
                <a:lnTo>
                  <a:pt x="76200" y="34925"/>
                </a:lnTo>
                <a:lnTo>
                  <a:pt x="76200" y="0"/>
                </a:lnTo>
                <a:close/>
              </a:path>
              <a:path w="769620" h="76200">
                <a:moveTo>
                  <a:pt x="76200" y="34925"/>
                </a:moveTo>
                <a:lnTo>
                  <a:pt x="63500" y="34925"/>
                </a:lnTo>
                <a:lnTo>
                  <a:pt x="63500" y="41275"/>
                </a:lnTo>
                <a:lnTo>
                  <a:pt x="76200" y="41275"/>
                </a:lnTo>
                <a:lnTo>
                  <a:pt x="76200" y="34925"/>
                </a:lnTo>
                <a:close/>
              </a:path>
              <a:path w="769620" h="76200">
                <a:moveTo>
                  <a:pt x="769238" y="34925"/>
                </a:moveTo>
                <a:lnTo>
                  <a:pt x="76200" y="34925"/>
                </a:lnTo>
                <a:lnTo>
                  <a:pt x="76200" y="41275"/>
                </a:lnTo>
                <a:lnTo>
                  <a:pt x="769238" y="41275"/>
                </a:lnTo>
                <a:lnTo>
                  <a:pt x="769238" y="349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1" name="object 71"/>
          <p:cNvGrpSpPr/>
          <p:nvPr/>
        </p:nvGrpSpPr>
        <p:grpSpPr>
          <a:xfrm>
            <a:off x="8124190" y="6001818"/>
            <a:ext cx="867410" cy="674370"/>
            <a:chOff x="7808912" y="6005550"/>
            <a:chExt cx="867410" cy="674370"/>
          </a:xfrm>
        </p:grpSpPr>
        <p:sp>
          <p:nvSpPr>
            <p:cNvPr id="72" name="object 72"/>
            <p:cNvSpPr/>
            <p:nvPr/>
          </p:nvSpPr>
          <p:spPr>
            <a:xfrm>
              <a:off x="7823200" y="6230683"/>
              <a:ext cx="621030" cy="434975"/>
            </a:xfrm>
            <a:custGeom>
              <a:avLst/>
              <a:gdLst/>
              <a:ahLst/>
              <a:cxnLst/>
              <a:rect l="l" t="t" r="r" b="b"/>
              <a:pathLst>
                <a:path w="621029" h="434975">
                  <a:moveTo>
                    <a:pt x="0" y="434555"/>
                  </a:moveTo>
                  <a:lnTo>
                    <a:pt x="620890" y="434555"/>
                  </a:lnTo>
                  <a:lnTo>
                    <a:pt x="620890" y="0"/>
                  </a:lnTo>
                  <a:lnTo>
                    <a:pt x="0" y="0"/>
                  </a:lnTo>
                  <a:lnTo>
                    <a:pt x="0" y="434555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132445" y="6005550"/>
              <a:ext cx="544195" cy="228600"/>
            </a:xfrm>
            <a:custGeom>
              <a:avLst/>
              <a:gdLst/>
              <a:ahLst/>
              <a:cxnLst/>
              <a:rect l="l" t="t" r="r" b="b"/>
              <a:pathLst>
                <a:path w="544195" h="228600">
                  <a:moveTo>
                    <a:pt x="471882" y="32380"/>
                  </a:moveTo>
                  <a:lnTo>
                    <a:pt x="0" y="222186"/>
                  </a:lnTo>
                  <a:lnTo>
                    <a:pt x="2412" y="228079"/>
                  </a:lnTo>
                  <a:lnTo>
                    <a:pt x="474259" y="38287"/>
                  </a:lnTo>
                  <a:lnTo>
                    <a:pt x="471882" y="32380"/>
                  </a:lnTo>
                  <a:close/>
                </a:path>
                <a:path w="544195" h="228600">
                  <a:moveTo>
                    <a:pt x="525340" y="27660"/>
                  </a:moveTo>
                  <a:lnTo>
                    <a:pt x="483615" y="27660"/>
                  </a:lnTo>
                  <a:lnTo>
                    <a:pt x="486028" y="33553"/>
                  </a:lnTo>
                  <a:lnTo>
                    <a:pt x="474259" y="38287"/>
                  </a:lnTo>
                  <a:lnTo>
                    <a:pt x="487299" y="70688"/>
                  </a:lnTo>
                  <a:lnTo>
                    <a:pt x="525340" y="27660"/>
                  </a:lnTo>
                  <a:close/>
                </a:path>
                <a:path w="544195" h="228600">
                  <a:moveTo>
                    <a:pt x="483615" y="27660"/>
                  </a:moveTo>
                  <a:lnTo>
                    <a:pt x="471882" y="32380"/>
                  </a:lnTo>
                  <a:lnTo>
                    <a:pt x="474259" y="38287"/>
                  </a:lnTo>
                  <a:lnTo>
                    <a:pt x="486028" y="33553"/>
                  </a:lnTo>
                  <a:lnTo>
                    <a:pt x="483615" y="27660"/>
                  </a:lnTo>
                  <a:close/>
                </a:path>
                <a:path w="544195" h="228600">
                  <a:moveTo>
                    <a:pt x="458850" y="0"/>
                  </a:moveTo>
                  <a:lnTo>
                    <a:pt x="471882" y="32380"/>
                  </a:lnTo>
                  <a:lnTo>
                    <a:pt x="483615" y="27660"/>
                  </a:lnTo>
                  <a:lnTo>
                    <a:pt x="525340" y="27660"/>
                  </a:lnTo>
                  <a:lnTo>
                    <a:pt x="543686" y="6908"/>
                  </a:lnTo>
                  <a:lnTo>
                    <a:pt x="4588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8727440" y="5773218"/>
            <a:ext cx="2220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derivada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termo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10" dirty="0">
                <a:latin typeface="Calibri"/>
                <a:cs typeface="Calibri"/>
              </a:rPr>
              <a:t> regularização</a:t>
            </a:r>
            <a:endParaRPr sz="12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CaixaDeTexto 74">
                <a:extLst>
                  <a:ext uri="{FF2B5EF4-FFF2-40B4-BE49-F238E27FC236}">
                    <a16:creationId xmlns:a16="http://schemas.microsoft.com/office/drawing/2014/main" id="{AF439B12-3A65-1A25-3ED9-BF243B9351D3}"/>
                  </a:ext>
                </a:extLst>
              </p:cNvPr>
              <p:cNvSpPr txBox="1"/>
              <p:nvPr/>
            </p:nvSpPr>
            <p:spPr>
              <a:xfrm>
                <a:off x="1549371" y="914400"/>
                <a:ext cx="7613238" cy="1038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d>
                                            <m:dPr>
                                              <m:ctrlP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pt-BR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75" name="CaixaDeTexto 74">
                <a:extLst>
                  <a:ext uri="{FF2B5EF4-FFF2-40B4-BE49-F238E27FC236}">
                    <a16:creationId xmlns:a16="http://schemas.microsoft.com/office/drawing/2014/main" id="{AF439B12-3A65-1A25-3ED9-BF243B935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371" y="914400"/>
                <a:ext cx="7613238" cy="10388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CaixaDeTexto 75">
                <a:extLst>
                  <a:ext uri="{FF2B5EF4-FFF2-40B4-BE49-F238E27FC236}">
                    <a16:creationId xmlns:a16="http://schemas.microsoft.com/office/drawing/2014/main" id="{AF2F7137-207E-0F68-7934-AB90195ECF1C}"/>
                  </a:ext>
                </a:extLst>
              </p:cNvPr>
              <p:cNvSpPr txBox="1"/>
              <p:nvPr/>
            </p:nvSpPr>
            <p:spPr>
              <a:xfrm>
                <a:off x="3589637" y="1905000"/>
                <a:ext cx="4067844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𝑿𝒂</m:t>
                              </m:r>
                            </m:e>
                          </m:d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sSubSup>
                        <m:sSub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76" name="CaixaDeTexto 75">
                <a:extLst>
                  <a:ext uri="{FF2B5EF4-FFF2-40B4-BE49-F238E27FC236}">
                    <a16:creationId xmlns:a16="http://schemas.microsoft.com/office/drawing/2014/main" id="{AF2F7137-207E-0F68-7934-AB90195EC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637" y="1905000"/>
                <a:ext cx="4067844" cy="6914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CaixaDeTexto 76">
                <a:extLst>
                  <a:ext uri="{FF2B5EF4-FFF2-40B4-BE49-F238E27FC236}">
                    <a16:creationId xmlns:a16="http://schemas.microsoft.com/office/drawing/2014/main" id="{B834EDF2-2A15-A55C-44CE-0FEE73EDD21E}"/>
                  </a:ext>
                </a:extLst>
              </p:cNvPr>
              <p:cNvSpPr txBox="1"/>
              <p:nvPr/>
            </p:nvSpPr>
            <p:spPr>
              <a:xfrm>
                <a:off x="1913701" y="2590800"/>
                <a:ext cx="8364598" cy="777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77" name="CaixaDeTexto 76">
                <a:extLst>
                  <a:ext uri="{FF2B5EF4-FFF2-40B4-BE49-F238E27FC236}">
                    <a16:creationId xmlns:a16="http://schemas.microsoft.com/office/drawing/2014/main" id="{B834EDF2-2A15-A55C-44CE-0FEE73EDD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701" y="2590800"/>
                <a:ext cx="8364598" cy="77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631DB0C1-AE63-9E6D-1475-0EF3B7F740C5}"/>
                  </a:ext>
                </a:extLst>
              </p:cNvPr>
              <p:cNvSpPr txBox="1"/>
              <p:nvPr/>
            </p:nvSpPr>
            <p:spPr>
              <a:xfrm>
                <a:off x="3589637" y="3429000"/>
                <a:ext cx="5293372" cy="7772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631DB0C1-AE63-9E6D-1475-0EF3B7F74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637" y="3429000"/>
                <a:ext cx="5293372" cy="77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BB269B1A-7FFA-7DD9-5671-774935616C06}"/>
                  </a:ext>
                </a:extLst>
              </p:cNvPr>
              <p:cNvSpPr txBox="1"/>
              <p:nvPr/>
            </p:nvSpPr>
            <p:spPr>
              <a:xfrm>
                <a:off x="3429000" y="4343400"/>
                <a:ext cx="4663776" cy="716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𝑿𝒂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BB269B1A-7FFA-7DD9-5671-774935616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4343400"/>
                <a:ext cx="4663776" cy="7167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01C62598-65E2-A3B6-F3D2-A5D0ED033B05}"/>
                  </a:ext>
                </a:extLst>
              </p:cNvPr>
              <p:cNvSpPr txBox="1"/>
              <p:nvPr/>
            </p:nvSpPr>
            <p:spPr>
              <a:xfrm>
                <a:off x="4220614" y="6078018"/>
                <a:ext cx="4876784" cy="7037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𝑿𝒂</m:t>
                              </m:r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01C62598-65E2-A3B6-F3D2-A5D0ED033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614" y="6078018"/>
                <a:ext cx="4876784" cy="7037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25" dirty="0"/>
              <a:t> </a:t>
            </a:r>
            <a:r>
              <a:rPr dirty="0"/>
              <a:t>Ridge:</a:t>
            </a:r>
            <a:r>
              <a:rPr spc="-100" dirty="0"/>
              <a:t> </a:t>
            </a:r>
            <a:r>
              <a:rPr spc="-1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3863466"/>
            <a:ext cx="11180445" cy="292989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1617345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𝜆</a:t>
            </a:r>
            <a:r>
              <a:rPr sz="2800" spc="1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8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0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Ridge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torna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polinomial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sem </a:t>
            </a:r>
            <a:r>
              <a:rPr sz="2800" spc="-10" dirty="0">
                <a:latin typeface="Calibri"/>
                <a:cs typeface="Calibri"/>
              </a:rPr>
              <a:t>regularização.</a:t>
            </a:r>
            <a:endParaRPr sz="2800" dirty="0">
              <a:latin typeface="Calibri"/>
              <a:cs typeface="Calibri"/>
            </a:endParaRPr>
          </a:p>
          <a:p>
            <a:pPr marL="241300" marR="1025525" indent="-228600">
              <a:lnSpc>
                <a:spcPct val="8000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Conforme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𝜆 </a:t>
            </a:r>
            <a:r>
              <a:rPr sz="2800" spc="-10" dirty="0">
                <a:latin typeface="Calibri"/>
                <a:cs typeface="Calibri"/>
              </a:rPr>
              <a:t>aumenta,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“</a:t>
            </a:r>
            <a:r>
              <a:rPr sz="2800" i="1" spc="-10" dirty="0">
                <a:latin typeface="Calibri"/>
                <a:cs typeface="Calibri"/>
              </a:rPr>
              <a:t>contorce”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 </a:t>
            </a:r>
            <a:r>
              <a:rPr sz="2800" dirty="0">
                <a:latin typeface="Calibri"/>
                <a:cs typeface="Calibri"/>
              </a:rPr>
              <a:t>ajustar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treinamento.</a:t>
            </a:r>
            <a:endParaRPr sz="2800" dirty="0">
              <a:latin typeface="Calibri"/>
              <a:cs typeface="Calibri"/>
            </a:endParaRPr>
          </a:p>
          <a:p>
            <a:pPr marL="241300" marR="268605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𝜆</a:t>
            </a:r>
            <a:r>
              <a:rPr sz="2800" spc="-2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continuar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aumentando,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acabarão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próximos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zero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resultado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linha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reta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pela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média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dados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treinamento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(i.e.,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valor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peso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bias)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R="5080" algn="r">
              <a:lnSpc>
                <a:spcPts val="1375"/>
              </a:lnSpc>
            </a:pPr>
            <a:r>
              <a:rPr sz="1200" u="sng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200" u="sng" spc="-35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2"/>
              </a:rPr>
              <a:t>ridge_regression.ipynb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4864" y="1489710"/>
            <a:ext cx="7194296" cy="233464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8642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25" dirty="0"/>
              <a:t> </a:t>
            </a:r>
            <a:r>
              <a:rPr dirty="0"/>
              <a:t>Ridge:</a:t>
            </a:r>
            <a:r>
              <a:rPr spc="-100" dirty="0"/>
              <a:t> </a:t>
            </a:r>
            <a:r>
              <a:rPr spc="-1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4266205"/>
            <a:ext cx="10967720" cy="245364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aumento</a:t>
            </a:r>
            <a:r>
              <a:rPr sz="28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50"/>
                </a:solidFill>
                <a:latin typeface="Cambria Math"/>
                <a:cs typeface="Cambria Math"/>
              </a:rPr>
              <a:t>𝛌</a:t>
            </a:r>
            <a:r>
              <a:rPr sz="2800" spc="-5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leva</a:t>
            </a:r>
            <a:r>
              <a:rPr sz="2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hipóteses</a:t>
            </a:r>
            <a:r>
              <a:rPr sz="2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menos</a:t>
            </a:r>
            <a:r>
              <a:rPr sz="2800" b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complexas.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195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Isso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reduz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variância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aumenta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bias,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i.e.,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tende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b="1" i="1" spc="-10" dirty="0">
                <a:latin typeface="Calibri"/>
                <a:cs typeface="Calibri"/>
              </a:rPr>
              <a:t>subajustar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Conforme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𝜆</a:t>
            </a:r>
            <a:r>
              <a:rPr sz="2800" spc="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aumenta,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norma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L2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diminuem.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Utiliza-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validação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cruzada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ideal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𝜆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61944" y="1816480"/>
            <a:ext cx="4927600" cy="2325370"/>
            <a:chOff x="3361944" y="1816480"/>
            <a:chExt cx="4927600" cy="23253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3419" y="1828959"/>
              <a:ext cx="2435754" cy="22961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61944" y="1816480"/>
              <a:ext cx="2542794" cy="232524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288028" y="1577466"/>
            <a:ext cx="1470025" cy="881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905" algn="ctr">
              <a:lnSpc>
                <a:spcPct val="1002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Valor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pesos </a:t>
            </a:r>
            <a:r>
              <a:rPr sz="1400" dirty="0">
                <a:latin typeface="Calibri"/>
                <a:cs typeface="Calibri"/>
              </a:rPr>
              <a:t>diminiu,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só</a:t>
            </a:r>
            <a:r>
              <a:rPr sz="1400" spc="5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zera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para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valores </a:t>
            </a:r>
            <a:r>
              <a:rPr sz="1400" dirty="0">
                <a:latin typeface="Calibri"/>
                <a:cs typeface="Calibri"/>
              </a:rPr>
              <a:t>muito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grandes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𝜆</a:t>
            </a:r>
            <a:r>
              <a:rPr sz="1400" spc="-25" dirty="0">
                <a:latin typeface="Calibri"/>
                <a:cs typeface="Calibri"/>
              </a:rPr>
              <a:t>.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80" dirty="0"/>
              <a:t> </a:t>
            </a:r>
            <a:r>
              <a:rPr spc="-10" dirty="0"/>
              <a:t>LASSO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15739" y="1793493"/>
            <a:ext cx="6716395" cy="16046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regressão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LASSO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inglês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Least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Absolute Shrinkage</a:t>
            </a:r>
            <a:r>
              <a:rPr sz="2800" i="1" spc="-10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and</a:t>
            </a:r>
            <a:r>
              <a:rPr sz="2800" i="1" spc="-9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Selection</a:t>
            </a:r>
            <a:r>
              <a:rPr sz="2800" i="1" spc="-8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Operator</a:t>
            </a:r>
            <a:r>
              <a:rPr sz="2800" spc="-10" dirty="0">
                <a:latin typeface="Calibri"/>
                <a:cs typeface="Calibri"/>
              </a:rPr>
              <a:t>)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adiciona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à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termo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penalização </a:t>
            </a:r>
            <a:r>
              <a:rPr sz="2800" spc="-10" dirty="0">
                <a:latin typeface="Calibri"/>
                <a:cs typeface="Calibri"/>
              </a:rPr>
              <a:t>proporcional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norma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L1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1"/>
              <p:cNvSpPr txBox="1"/>
              <p:nvPr/>
            </p:nvSpPr>
            <p:spPr>
              <a:xfrm>
                <a:off x="4514887" y="4221399"/>
                <a:ext cx="6694654" cy="89749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spcBef>
                    <a:spcPts val="95"/>
                  </a:spcBef>
                  <a:tabLst>
                    <a:tab pos="1018540" algn="l"/>
                  </a:tabLst>
                </a:pPr>
                <a:r>
                  <a:rPr lang="pt-BR" sz="2800" spc="-20" dirty="0">
                    <a:latin typeface="Calibri"/>
                    <a:cs typeface="Calibri"/>
                  </a:rPr>
                  <a:t>o</a:t>
                </a:r>
                <a:r>
                  <a:rPr lang="pt-BR" sz="2800" spc="-20" dirty="0" err="1">
                    <a:latin typeface="Calibri"/>
                    <a:cs typeface="Calibri"/>
                  </a:rPr>
                  <a:t>nde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ar-AE" sz="280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ar-AE" sz="2800" b="1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nary>
                      <m:naryPr>
                        <m:chr m:val="∑"/>
                        <m:limLoc m:val="subSup"/>
                        <m:ctrlP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  <m:sup>
                        <m:r>
                          <a:rPr lang="pt-BR" sz="28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𝐾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pt-BR" sz="28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800" b="0" i="1" spc="-2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pt-BR" sz="2800" b="0" i="1" spc="-2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sz="2800" b="0" i="1" spc="-2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ar-AE" sz="2800" spc="-2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  e   </a:t>
                </a:r>
                <a14:m>
                  <m:oMath xmlns:m="http://schemas.openxmlformats.org/officeDocument/2006/math">
                    <m:r>
                      <a:rPr lang="pt-BR" sz="2800" b="0" i="1" spc="-20" smtClean="0">
                        <a:latin typeface="Cambria Math" panose="02040503050406030204" pitchFamily="18" charset="0"/>
                        <a:cs typeface="Calibri"/>
                      </a:rPr>
                      <m:t>𝜆</m:t>
                    </m:r>
                    <m:r>
                      <a:rPr lang="pt-BR" sz="2800" b="0" i="1" spc="-2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≥</m:t>
                    </m:r>
                    <m:r>
                      <a:rPr lang="pt-BR" sz="2800" b="0" i="1" spc="-2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0</m:t>
                    </m:r>
                    <m:r>
                      <a:rPr lang="pt-BR" sz="2800" b="0" i="1" spc="-2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  </m:t>
                    </m:r>
                  </m:oMath>
                </a14:m>
                <a:r>
                  <a:rPr lang="pt-BR" sz="2800" dirty="0">
                    <a:latin typeface="Cambria Math"/>
                    <a:cs typeface="Cambria Math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é o fator de regularização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r>
                  <a:rPr lang="pt-BR" sz="2800" b="1" dirty="0">
                    <a:latin typeface="Cambria Math"/>
                    <a:cs typeface="Cambria Math"/>
                  </a:rPr>
                  <a:t> </a:t>
                </a:r>
                <a:endParaRPr sz="2800" b="1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887" y="4221399"/>
                <a:ext cx="6694654" cy="897490"/>
              </a:xfrm>
              <a:prstGeom prst="rect">
                <a:avLst/>
              </a:prstGeom>
              <a:blipFill>
                <a:blip r:embed="rId2"/>
                <a:stretch>
                  <a:fillRect l="-3097" t="-7432" b="-2364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17"/>
          <p:cNvSpPr txBox="1"/>
          <p:nvPr/>
        </p:nvSpPr>
        <p:spPr>
          <a:xfrm>
            <a:off x="4515739" y="5074772"/>
            <a:ext cx="7198995" cy="868828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região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factibilidade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norma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L1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formato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diamante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(quadrado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rotacionado).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459" y="1825637"/>
            <a:ext cx="2742819" cy="40962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C225A4B1-EEEE-F1A0-1524-4C7C74302026}"/>
                  </a:ext>
                </a:extLst>
              </p:cNvPr>
              <p:cNvSpPr txBox="1"/>
              <p:nvPr/>
            </p:nvSpPr>
            <p:spPr>
              <a:xfrm>
                <a:off x="5459236" y="3485782"/>
                <a:ext cx="4829399" cy="597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pt-BR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𝑿𝒂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C225A4B1-EEEE-F1A0-1524-4C7C74302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236" y="3485782"/>
                <a:ext cx="4829399" cy="5973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80" dirty="0"/>
              <a:t> </a:t>
            </a:r>
            <a:r>
              <a:rPr spc="-10" dirty="0"/>
              <a:t>LASSO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07926" y="1676400"/>
            <a:ext cx="6626859" cy="113474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re-</a:t>
            </a:r>
            <a:r>
              <a:rPr sz="2800" spc="-10" dirty="0">
                <a:latin typeface="Calibri"/>
                <a:cs typeface="Calibri"/>
              </a:rPr>
              <a:t>escrever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problema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regularização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acima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problema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otimização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com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restrição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seguinte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07926" y="4054156"/>
            <a:ext cx="6703695" cy="280384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50800">
              <a:lnSpc>
                <a:spcPts val="3025"/>
              </a:lnSpc>
              <a:spcBef>
                <a:spcPts val="400"/>
              </a:spcBef>
            </a:pPr>
            <a:r>
              <a:rPr sz="2800" dirty="0" err="1">
                <a:latin typeface="Calibri"/>
                <a:cs typeface="Calibri"/>
              </a:rPr>
              <a:t>onde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𝑐</a:t>
            </a:r>
            <a:r>
              <a:rPr sz="2800" spc="5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restringe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magnitude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</a:t>
            </a:r>
            <a:endParaRPr sz="2800" dirty="0">
              <a:latin typeface="Calibri"/>
              <a:cs typeface="Calibri"/>
            </a:endParaRPr>
          </a:p>
          <a:p>
            <a:pPr marL="50800">
              <a:lnSpc>
                <a:spcPts val="3025"/>
              </a:lnSpc>
            </a:pPr>
            <a:r>
              <a:rPr sz="2800" b="1" i="1" spc="-20" dirty="0">
                <a:latin typeface="Calibri"/>
                <a:cs typeface="Calibri"/>
              </a:rPr>
              <a:t>inversamente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proporcional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à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𝝀</a:t>
            </a:r>
            <a:r>
              <a:rPr sz="2800" b="1" i="1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79400" marR="365125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mbria Math"/>
                <a:cs typeface="Cambria Math"/>
              </a:rPr>
              <a:t>𝑐</a:t>
            </a:r>
            <a:r>
              <a:rPr sz="2800" spc="5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restringe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área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quadrado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igual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distância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origem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até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qualquer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dos </a:t>
            </a:r>
            <a:r>
              <a:rPr sz="2800" spc="-10" dirty="0">
                <a:latin typeface="Calibri"/>
                <a:cs typeface="Calibri"/>
              </a:rPr>
              <a:t>vértices.</a:t>
            </a:r>
            <a:endParaRPr sz="2800" dirty="0">
              <a:latin typeface="Calibri"/>
              <a:cs typeface="Calibri"/>
            </a:endParaRPr>
          </a:p>
          <a:p>
            <a:pPr marL="279400" indent="-228600">
              <a:lnSpc>
                <a:spcPts val="3025"/>
              </a:lnSpc>
              <a:spcBef>
                <a:spcPts val="325"/>
              </a:spcBef>
              <a:buFont typeface="Arial"/>
              <a:buChar char="•"/>
              <a:tabLst>
                <a:tab pos="279400" algn="l"/>
              </a:tabLst>
            </a:pPr>
            <a:r>
              <a:rPr sz="2800" b="1" dirty="0">
                <a:latin typeface="Calibri"/>
                <a:cs typeface="Calibri"/>
              </a:rPr>
              <a:t>OBS</a:t>
            </a:r>
            <a:r>
              <a:rPr sz="2800" dirty="0">
                <a:latin typeface="Calibri"/>
                <a:cs typeface="Calibri"/>
              </a:rPr>
              <a:t>.: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Ridge,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𝑎</a:t>
            </a:r>
            <a:r>
              <a:rPr sz="3075" spc="-37" baseline="-16260" dirty="0">
                <a:latin typeface="Cambria Math"/>
                <a:cs typeface="Cambria Math"/>
              </a:rPr>
              <a:t>0</a:t>
            </a:r>
            <a:endParaRPr sz="3075" baseline="-16260" dirty="0">
              <a:latin typeface="Cambria Math"/>
              <a:cs typeface="Cambria Math"/>
            </a:endParaRPr>
          </a:p>
          <a:p>
            <a:pPr marL="279400">
              <a:lnSpc>
                <a:spcPts val="3025"/>
              </a:lnSpc>
            </a:pPr>
            <a:r>
              <a:rPr sz="2800" dirty="0">
                <a:latin typeface="Calibri"/>
                <a:cs typeface="Calibri"/>
              </a:rPr>
              <a:t>também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faz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cálculo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norma.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459" y="1825637"/>
            <a:ext cx="2742819" cy="40962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D9B10D0-9D6E-91E8-C87E-112FEEC4B682}"/>
                  </a:ext>
                </a:extLst>
              </p:cNvPr>
              <p:cNvSpPr txBox="1"/>
              <p:nvPr/>
            </p:nvSpPr>
            <p:spPr>
              <a:xfrm>
                <a:off x="6784470" y="2895600"/>
                <a:ext cx="3150606" cy="597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pt-B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𝑿𝒂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D9B10D0-9D6E-91E8-C87E-112FEEC4B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470" y="2895600"/>
                <a:ext cx="3150606" cy="5973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A043E6AD-1AC6-6FFB-149A-1FC17DA0859B}"/>
                  </a:ext>
                </a:extLst>
              </p:cNvPr>
              <p:cNvSpPr txBox="1"/>
              <p:nvPr/>
            </p:nvSpPr>
            <p:spPr>
              <a:xfrm>
                <a:off x="7252258" y="3607713"/>
                <a:ext cx="22150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A043E6AD-1AC6-6FFB-149A-1FC17DA08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258" y="3607713"/>
                <a:ext cx="221503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0369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10" dirty="0"/>
              <a:t> </a:t>
            </a:r>
            <a:r>
              <a:rPr dirty="0"/>
              <a:t>LASSO:</a:t>
            </a:r>
            <a:r>
              <a:rPr spc="-114" dirty="0"/>
              <a:t> </a:t>
            </a:r>
            <a:r>
              <a:rPr spc="-1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4045458"/>
            <a:ext cx="11182985" cy="276923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marR="1143635" indent="-228600">
              <a:lnSpc>
                <a:spcPts val="301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Valores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pequenos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𝜆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libri"/>
                <a:cs typeface="Calibri"/>
              </a:rPr>
              <a:t>fazem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LASSO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comportar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 tradicional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fazem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anulados.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195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regularização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norma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L1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vantagem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produção</a:t>
            </a:r>
            <a:r>
              <a:rPr sz="2800" spc="-25" dirty="0">
                <a:latin typeface="Calibri"/>
                <a:cs typeface="Calibri"/>
              </a:rPr>
              <a:t> de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modelos</a:t>
            </a:r>
            <a:r>
              <a:rPr sz="2800" b="1" i="1" spc="-8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esparsos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461645" lvl="1" indent="-228600">
              <a:lnSpc>
                <a:spcPts val="2590"/>
              </a:lnSpc>
              <a:spcBef>
                <a:spcPts val="56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vários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acabam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sendo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anulados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indicando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4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correspondentes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são</a:t>
            </a:r>
            <a:r>
              <a:rPr sz="24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irrelevantes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regressão.</a:t>
            </a:r>
            <a:endParaRPr sz="24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994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2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lasso_regression.ipynb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2810" y="1618488"/>
            <a:ext cx="7187057" cy="23301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25876" y="2199513"/>
            <a:ext cx="12750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Sobreajuste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97902" y="2251075"/>
            <a:ext cx="10604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Subajuste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02469" y="987932"/>
            <a:ext cx="2336165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Valor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pesos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torna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igual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a </a:t>
            </a:r>
            <a:r>
              <a:rPr sz="1400" spc="-10" dirty="0">
                <a:latin typeface="Calibri"/>
                <a:cs typeface="Calibri"/>
              </a:rPr>
              <a:t>zero,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restringindo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flexibilidade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hipótese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reta.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558530" y="1334516"/>
            <a:ext cx="929005" cy="1643380"/>
          </a:xfrm>
          <a:custGeom>
            <a:avLst/>
            <a:gdLst/>
            <a:ahLst/>
            <a:cxnLst/>
            <a:rect l="l" t="t" r="r" b="b"/>
            <a:pathLst>
              <a:path w="929004" h="1643380">
                <a:moveTo>
                  <a:pt x="4318" y="1558289"/>
                </a:moveTo>
                <a:lnTo>
                  <a:pt x="0" y="1643380"/>
                </a:lnTo>
                <a:lnTo>
                  <a:pt x="70612" y="1595755"/>
                </a:lnTo>
                <a:lnTo>
                  <a:pt x="59825" y="1589659"/>
                </a:lnTo>
                <a:lnTo>
                  <a:pt x="34036" y="1589659"/>
                </a:lnTo>
                <a:lnTo>
                  <a:pt x="28448" y="1586611"/>
                </a:lnTo>
                <a:lnTo>
                  <a:pt x="34726" y="1575475"/>
                </a:lnTo>
                <a:lnTo>
                  <a:pt x="4318" y="1558289"/>
                </a:lnTo>
                <a:close/>
              </a:path>
              <a:path w="929004" h="1643380">
                <a:moveTo>
                  <a:pt x="34726" y="1575475"/>
                </a:moveTo>
                <a:lnTo>
                  <a:pt x="28448" y="1586611"/>
                </a:lnTo>
                <a:lnTo>
                  <a:pt x="34036" y="1589659"/>
                </a:lnTo>
                <a:lnTo>
                  <a:pt x="40267" y="1578606"/>
                </a:lnTo>
                <a:lnTo>
                  <a:pt x="34726" y="1575475"/>
                </a:lnTo>
                <a:close/>
              </a:path>
              <a:path w="929004" h="1643380">
                <a:moveTo>
                  <a:pt x="40267" y="1578606"/>
                </a:moveTo>
                <a:lnTo>
                  <a:pt x="34036" y="1589659"/>
                </a:lnTo>
                <a:lnTo>
                  <a:pt x="59825" y="1589659"/>
                </a:lnTo>
                <a:lnTo>
                  <a:pt x="40267" y="1578606"/>
                </a:lnTo>
                <a:close/>
              </a:path>
              <a:path w="929004" h="1643380">
                <a:moveTo>
                  <a:pt x="923036" y="0"/>
                </a:moveTo>
                <a:lnTo>
                  <a:pt x="34726" y="1575475"/>
                </a:lnTo>
                <a:lnTo>
                  <a:pt x="40267" y="1578606"/>
                </a:lnTo>
                <a:lnTo>
                  <a:pt x="928497" y="3175"/>
                </a:lnTo>
                <a:lnTo>
                  <a:pt x="9230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10" dirty="0"/>
              <a:t> </a:t>
            </a:r>
            <a:r>
              <a:rPr dirty="0"/>
              <a:t>LASSO:</a:t>
            </a:r>
            <a:r>
              <a:rPr spc="-114" dirty="0"/>
              <a:t> </a:t>
            </a:r>
            <a:r>
              <a:rPr spc="-1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39" y="4010405"/>
            <a:ext cx="10982325" cy="27546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66700" marR="17653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Isso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sugere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ocorrência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implícita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processo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seleção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automática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modelos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regulares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menos complexos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3048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66700" algn="l"/>
              </a:tabLst>
            </a:pPr>
            <a:r>
              <a:rPr sz="2800" b="1" spc="-20" dirty="0">
                <a:latin typeface="Calibri"/>
                <a:cs typeface="Calibri"/>
              </a:rPr>
              <a:t>Desvantagem</a:t>
            </a:r>
            <a:r>
              <a:rPr sz="2800" spc="-20" dirty="0">
                <a:latin typeface="Calibri"/>
                <a:cs typeface="Calibri"/>
              </a:rPr>
              <a:t>: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norma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L1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possui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derivada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𝑎</a:t>
            </a:r>
            <a:r>
              <a:rPr sz="3075" baseline="-16260" dirty="0">
                <a:latin typeface="Cambria Math"/>
                <a:cs typeface="Cambria Math"/>
              </a:rPr>
              <a:t>𝑖</a:t>
            </a:r>
            <a:r>
              <a:rPr sz="3075" spc="644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8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0,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∀𝑖</a:t>
            </a:r>
            <a:r>
              <a:rPr sz="2800" spc="-25" dirty="0">
                <a:latin typeface="Calibri"/>
                <a:cs typeface="Calibri"/>
              </a:rPr>
              <a:t>,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minimização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não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possui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solução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em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forma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fechada</a:t>
            </a:r>
            <a:r>
              <a:rPr sz="2800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800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mas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pode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ser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implementado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com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GD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25" dirty="0">
                <a:latin typeface="Calibri"/>
                <a:cs typeface="Calibri"/>
              </a:rPr>
              <a:t>Utiliza-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técnicas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validação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cruzada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𝜆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1878" y="1620011"/>
            <a:ext cx="4925060" cy="2325243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25" dirty="0"/>
              <a:t> </a:t>
            </a:r>
            <a:r>
              <a:rPr dirty="0"/>
              <a:t>LASSO</a:t>
            </a:r>
            <a:r>
              <a:rPr spc="-130" dirty="0"/>
              <a:t> </a:t>
            </a:r>
            <a:r>
              <a:rPr dirty="0"/>
              <a:t>com</a:t>
            </a:r>
            <a:r>
              <a:rPr spc="-90" dirty="0"/>
              <a:t> </a:t>
            </a:r>
            <a:r>
              <a:rPr dirty="0" err="1"/>
              <a:t>gradiente</a:t>
            </a:r>
            <a:r>
              <a:rPr spc="-110" dirty="0"/>
              <a:t> </a:t>
            </a:r>
            <a:r>
              <a:rPr spc="-10" dirty="0" err="1"/>
              <a:t>descendente</a:t>
            </a:r>
            <a:endParaRPr spc="-10" dirty="0"/>
          </a:p>
        </p:txBody>
      </p:sp>
      <p:sp>
        <p:nvSpPr>
          <p:cNvPr id="62" name="object 62"/>
          <p:cNvSpPr txBox="1"/>
          <p:nvPr/>
        </p:nvSpPr>
        <p:spPr>
          <a:xfrm>
            <a:off x="1094943" y="5638800"/>
            <a:ext cx="667385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equação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atualização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dada</a:t>
            </a:r>
            <a:r>
              <a:rPr sz="2600" spc="-25" dirty="0">
                <a:latin typeface="Calibri"/>
                <a:cs typeface="Calibri"/>
              </a:rPr>
              <a:t> por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069543" y="4724400"/>
            <a:ext cx="10760075" cy="114427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38100" marR="30480" algn="just">
              <a:lnSpc>
                <a:spcPct val="70000"/>
              </a:lnSpc>
              <a:spcBef>
                <a:spcPts val="1040"/>
              </a:spcBef>
            </a:pPr>
            <a:r>
              <a:rPr sz="2600" dirty="0">
                <a:latin typeface="Calibri"/>
                <a:cs typeface="Calibri"/>
              </a:rPr>
              <a:t>onde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90" dirty="0">
                <a:latin typeface="Cambria Math"/>
                <a:cs typeface="Cambria Math"/>
              </a:rPr>
              <a:t>𝑰</a:t>
            </a:r>
            <a:r>
              <a:rPr sz="2850" spc="135" baseline="27777" dirty="0">
                <a:latin typeface="Cambria Math"/>
                <a:cs typeface="Cambria Math"/>
              </a:rPr>
              <a:t>′</a:t>
            </a:r>
            <a:r>
              <a:rPr sz="2850" spc="382" baseline="27777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matriz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identidade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tamanho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𝐾</a:t>
            </a:r>
            <a:r>
              <a:rPr sz="2600" spc="5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+</a:t>
            </a:r>
            <a:r>
              <a:rPr sz="2600" spc="-1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1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primeiro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elemento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feito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igual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0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a</a:t>
            </a:r>
            <a:r>
              <a:rPr sz="2600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sign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signum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matemática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ímpar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que </a:t>
            </a:r>
            <a:r>
              <a:rPr sz="2600" dirty="0">
                <a:latin typeface="Calibri"/>
                <a:cs typeface="Calibri"/>
              </a:rPr>
              <a:t>extrai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sinal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número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real.</a:t>
            </a:r>
            <a:endParaRPr sz="2600" dirty="0">
              <a:latin typeface="Calibri"/>
              <a:cs typeface="Calibri"/>
            </a:endParaRPr>
          </a:p>
          <a:p>
            <a:pPr marR="421005" algn="r">
              <a:lnSpc>
                <a:spcPts val="1310"/>
              </a:lnSpc>
            </a:pPr>
            <a:r>
              <a:rPr sz="1200" dirty="0">
                <a:latin typeface="Calibri"/>
                <a:cs typeface="Calibri"/>
              </a:rPr>
              <a:t>Implementações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práticas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418973" y="2835529"/>
            <a:ext cx="1545590" cy="1507490"/>
            <a:chOff x="418973" y="2835529"/>
            <a:chExt cx="1545590" cy="1507490"/>
          </a:xfrm>
        </p:grpSpPr>
        <p:pic>
          <p:nvPicPr>
            <p:cNvPr id="76" name="object 7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8973" y="3106648"/>
              <a:ext cx="1545336" cy="1236299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832523" y="2835529"/>
              <a:ext cx="262890" cy="768350"/>
            </a:xfrm>
            <a:custGeom>
              <a:avLst/>
              <a:gdLst/>
              <a:ahLst/>
              <a:cxnLst/>
              <a:rect l="l" t="t" r="r" b="b"/>
              <a:pathLst>
                <a:path w="262890" h="768350">
                  <a:moveTo>
                    <a:pt x="223200" y="696682"/>
                  </a:moveTo>
                  <a:lnTo>
                    <a:pt x="189953" y="707390"/>
                  </a:lnTo>
                  <a:lnTo>
                    <a:pt x="249542" y="768223"/>
                  </a:lnTo>
                  <a:lnTo>
                    <a:pt x="258695" y="708787"/>
                  </a:lnTo>
                  <a:lnTo>
                    <a:pt x="227088" y="708787"/>
                  </a:lnTo>
                  <a:lnTo>
                    <a:pt x="223200" y="696682"/>
                  </a:lnTo>
                  <a:close/>
                </a:path>
                <a:path w="262890" h="768350">
                  <a:moveTo>
                    <a:pt x="229233" y="694739"/>
                  </a:moveTo>
                  <a:lnTo>
                    <a:pt x="223200" y="696682"/>
                  </a:lnTo>
                  <a:lnTo>
                    <a:pt x="227088" y="708787"/>
                  </a:lnTo>
                  <a:lnTo>
                    <a:pt x="233133" y="706882"/>
                  </a:lnTo>
                  <a:lnTo>
                    <a:pt x="229233" y="694739"/>
                  </a:lnTo>
                  <a:close/>
                </a:path>
                <a:path w="262890" h="768350">
                  <a:moveTo>
                    <a:pt x="262509" y="684022"/>
                  </a:moveTo>
                  <a:lnTo>
                    <a:pt x="229233" y="694739"/>
                  </a:lnTo>
                  <a:lnTo>
                    <a:pt x="233133" y="706882"/>
                  </a:lnTo>
                  <a:lnTo>
                    <a:pt x="227088" y="708787"/>
                  </a:lnTo>
                  <a:lnTo>
                    <a:pt x="258695" y="708787"/>
                  </a:lnTo>
                  <a:lnTo>
                    <a:pt x="262509" y="684022"/>
                  </a:lnTo>
                  <a:close/>
                </a:path>
                <a:path w="262890" h="768350">
                  <a:moveTo>
                    <a:pt x="6045" y="0"/>
                  </a:moveTo>
                  <a:lnTo>
                    <a:pt x="0" y="1905"/>
                  </a:lnTo>
                  <a:lnTo>
                    <a:pt x="223200" y="696682"/>
                  </a:lnTo>
                  <a:lnTo>
                    <a:pt x="229233" y="694739"/>
                  </a:lnTo>
                  <a:lnTo>
                    <a:pt x="6045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226263" y="2550032"/>
            <a:ext cx="11626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1F2021"/>
                </a:solidFill>
                <a:latin typeface="Calibri"/>
                <a:cs typeface="Calibri"/>
              </a:rPr>
              <a:t>indeterminação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205727" y="4424552"/>
            <a:ext cx="280670" cy="178435"/>
          </a:xfrm>
          <a:custGeom>
            <a:avLst/>
            <a:gdLst/>
            <a:ahLst/>
            <a:cxnLst/>
            <a:rect l="l" t="t" r="r" b="b"/>
            <a:pathLst>
              <a:path w="280670" h="178435">
                <a:moveTo>
                  <a:pt x="124955" y="0"/>
                </a:moveTo>
                <a:lnTo>
                  <a:pt x="113830" y="0"/>
                </a:lnTo>
                <a:lnTo>
                  <a:pt x="113830" y="134366"/>
                </a:lnTo>
                <a:lnTo>
                  <a:pt x="124955" y="134366"/>
                </a:lnTo>
                <a:lnTo>
                  <a:pt x="124955" y="0"/>
                </a:lnTo>
                <a:close/>
              </a:path>
              <a:path w="280670" h="178435">
                <a:moveTo>
                  <a:pt x="263639" y="0"/>
                </a:moveTo>
                <a:lnTo>
                  <a:pt x="252514" y="0"/>
                </a:lnTo>
                <a:lnTo>
                  <a:pt x="252514" y="134366"/>
                </a:lnTo>
                <a:lnTo>
                  <a:pt x="263639" y="134366"/>
                </a:lnTo>
                <a:lnTo>
                  <a:pt x="263639" y="0"/>
                </a:lnTo>
                <a:close/>
              </a:path>
              <a:path w="280670" h="178435">
                <a:moveTo>
                  <a:pt x="280416" y="164338"/>
                </a:moveTo>
                <a:lnTo>
                  <a:pt x="0" y="164338"/>
                </a:lnTo>
                <a:lnTo>
                  <a:pt x="0" y="178054"/>
                </a:lnTo>
                <a:lnTo>
                  <a:pt x="280416" y="178054"/>
                </a:lnTo>
                <a:lnTo>
                  <a:pt x="280416" y="164338"/>
                </a:lnTo>
                <a:close/>
              </a:path>
            </a:pathLst>
          </a:custGeom>
          <a:solidFill>
            <a:srgbClr val="1F20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193039" y="4374641"/>
            <a:ext cx="256540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75" dirty="0">
                <a:solidFill>
                  <a:srgbClr val="1F2021"/>
                </a:solidFill>
                <a:latin typeface="Cambria Math"/>
                <a:cs typeface="Cambria Math"/>
              </a:rPr>
              <a:t>𝜕</a:t>
            </a:r>
            <a:r>
              <a:rPr sz="1150" spc="150" dirty="0">
                <a:solidFill>
                  <a:srgbClr val="1F2021"/>
                </a:solidFill>
                <a:latin typeface="Cambria Math"/>
                <a:cs typeface="Cambria Math"/>
              </a:rPr>
              <a:t> </a:t>
            </a:r>
            <a:r>
              <a:rPr sz="1150" spc="20" dirty="0">
                <a:solidFill>
                  <a:srgbClr val="1F2021"/>
                </a:solidFill>
                <a:latin typeface="Cambria Math"/>
                <a:cs typeface="Cambria Math"/>
              </a:rPr>
              <a:t>𝑥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41808" y="4595621"/>
            <a:ext cx="204470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50" dirty="0">
                <a:solidFill>
                  <a:srgbClr val="1F2021"/>
                </a:solidFill>
                <a:latin typeface="Cambria Math"/>
                <a:cs typeface="Cambria Math"/>
              </a:rPr>
              <a:t>𝜕𝑥</a:t>
            </a:r>
            <a:endParaRPr sz="1150">
              <a:latin typeface="Cambria Math"/>
              <a:cs typeface="Cambria Math"/>
            </a:endParaRPr>
          </a:p>
        </p:txBody>
      </p:sp>
      <p:pic>
        <p:nvPicPr>
          <p:cNvPr id="82" name="object 8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7264" y="4502277"/>
            <a:ext cx="246621" cy="187706"/>
          </a:xfrm>
          <a:prstGeom prst="rect">
            <a:avLst/>
          </a:prstGeom>
        </p:spPr>
      </p:pic>
      <p:sp>
        <p:nvSpPr>
          <p:cNvPr id="83" name="object 83"/>
          <p:cNvSpPr txBox="1"/>
          <p:nvPr/>
        </p:nvSpPr>
        <p:spPr>
          <a:xfrm>
            <a:off x="529844" y="4438650"/>
            <a:ext cx="1969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F2021"/>
                </a:solidFill>
                <a:latin typeface="Cambria Math"/>
                <a:cs typeface="Cambria Math"/>
              </a:rPr>
              <a:t>=</a:t>
            </a:r>
            <a:r>
              <a:rPr sz="1600" spc="80" dirty="0">
                <a:solidFill>
                  <a:srgbClr val="1F2021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1F2021"/>
                </a:solidFill>
                <a:latin typeface="Cambria Math"/>
                <a:cs typeface="Cambria Math"/>
              </a:rPr>
              <a:t>sign</a:t>
            </a:r>
            <a:r>
              <a:rPr sz="1600" spc="290" dirty="0">
                <a:solidFill>
                  <a:srgbClr val="1F2021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1F2021"/>
                </a:solidFill>
                <a:latin typeface="Cambria Math"/>
                <a:cs typeface="Cambria Math"/>
              </a:rPr>
              <a:t>𝑥</a:t>
            </a:r>
            <a:r>
              <a:rPr sz="1600" spc="335" dirty="0">
                <a:solidFill>
                  <a:srgbClr val="1F2021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1F2021"/>
                </a:solidFill>
                <a:latin typeface="Cambria Math"/>
                <a:cs typeface="Cambria Math"/>
              </a:rPr>
              <a:t>,</a:t>
            </a:r>
            <a:r>
              <a:rPr sz="1600" spc="-90" dirty="0">
                <a:solidFill>
                  <a:srgbClr val="1F2021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1F2021"/>
                </a:solidFill>
                <a:latin typeface="Cambria Math"/>
                <a:cs typeface="Cambria Math"/>
              </a:rPr>
              <a:t>para 𝑥</a:t>
            </a:r>
            <a:r>
              <a:rPr sz="1600" spc="459" dirty="0">
                <a:solidFill>
                  <a:srgbClr val="1F2021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1F2021"/>
                </a:solidFill>
                <a:latin typeface="Cambria Math"/>
                <a:cs typeface="Cambria Math"/>
              </a:rPr>
              <a:t>≠</a:t>
            </a:r>
            <a:r>
              <a:rPr sz="1600" spc="80" dirty="0">
                <a:solidFill>
                  <a:srgbClr val="1F2021"/>
                </a:solidFill>
                <a:latin typeface="Cambria Math"/>
                <a:cs typeface="Cambria Math"/>
              </a:rPr>
              <a:t> </a:t>
            </a:r>
            <a:r>
              <a:rPr sz="1600" spc="-25" dirty="0">
                <a:solidFill>
                  <a:srgbClr val="1F2021"/>
                </a:solidFill>
                <a:latin typeface="Cambria Math"/>
                <a:cs typeface="Cambria Math"/>
              </a:rPr>
              <a:t>0.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9762490" y="5919241"/>
            <a:ext cx="17265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consideram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que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sign(0)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0.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8580501" y="5954890"/>
            <a:ext cx="1177290" cy="342900"/>
          </a:xfrm>
          <a:custGeom>
            <a:avLst/>
            <a:gdLst/>
            <a:ahLst/>
            <a:cxnLst/>
            <a:rect l="l" t="t" r="r" b="b"/>
            <a:pathLst>
              <a:path w="1177290" h="342900">
                <a:moveTo>
                  <a:pt x="63373" y="269303"/>
                </a:moveTo>
                <a:lnTo>
                  <a:pt x="0" y="326237"/>
                </a:lnTo>
                <a:lnTo>
                  <a:pt x="83566" y="342785"/>
                </a:lnTo>
                <a:lnTo>
                  <a:pt x="75235" y="312470"/>
                </a:lnTo>
                <a:lnTo>
                  <a:pt x="62102" y="312470"/>
                </a:lnTo>
                <a:lnTo>
                  <a:pt x="60325" y="306349"/>
                </a:lnTo>
                <a:lnTo>
                  <a:pt x="72624" y="302970"/>
                </a:lnTo>
                <a:lnTo>
                  <a:pt x="63373" y="269303"/>
                </a:lnTo>
                <a:close/>
              </a:path>
              <a:path w="1177290" h="342900">
                <a:moveTo>
                  <a:pt x="72624" y="302970"/>
                </a:moveTo>
                <a:lnTo>
                  <a:pt x="60325" y="306349"/>
                </a:lnTo>
                <a:lnTo>
                  <a:pt x="62102" y="312470"/>
                </a:lnTo>
                <a:lnTo>
                  <a:pt x="74313" y="309116"/>
                </a:lnTo>
                <a:lnTo>
                  <a:pt x="72624" y="302970"/>
                </a:lnTo>
                <a:close/>
              </a:path>
              <a:path w="1177290" h="342900">
                <a:moveTo>
                  <a:pt x="74313" y="309116"/>
                </a:moveTo>
                <a:lnTo>
                  <a:pt x="62102" y="312470"/>
                </a:lnTo>
                <a:lnTo>
                  <a:pt x="75235" y="312470"/>
                </a:lnTo>
                <a:lnTo>
                  <a:pt x="74313" y="309116"/>
                </a:lnTo>
                <a:close/>
              </a:path>
              <a:path w="1177290" h="342900">
                <a:moveTo>
                  <a:pt x="1175512" y="0"/>
                </a:moveTo>
                <a:lnTo>
                  <a:pt x="72624" y="302970"/>
                </a:lnTo>
                <a:lnTo>
                  <a:pt x="74313" y="309116"/>
                </a:lnTo>
                <a:lnTo>
                  <a:pt x="1177163" y="6121"/>
                </a:lnTo>
                <a:lnTo>
                  <a:pt x="11755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9218421" y="3688841"/>
            <a:ext cx="956944" cy="97790"/>
          </a:xfrm>
          <a:custGeom>
            <a:avLst/>
            <a:gdLst/>
            <a:ahLst/>
            <a:cxnLst/>
            <a:rect l="l" t="t" r="r" b="b"/>
            <a:pathLst>
              <a:path w="956945" h="97789">
                <a:moveTo>
                  <a:pt x="73659" y="21589"/>
                </a:moveTo>
                <a:lnTo>
                  <a:pt x="0" y="64388"/>
                </a:lnTo>
                <a:lnTo>
                  <a:pt x="78485" y="97662"/>
                </a:lnTo>
                <a:lnTo>
                  <a:pt x="76318" y="63499"/>
                </a:lnTo>
                <a:lnTo>
                  <a:pt x="63626" y="63499"/>
                </a:lnTo>
                <a:lnTo>
                  <a:pt x="63119" y="57276"/>
                </a:lnTo>
                <a:lnTo>
                  <a:pt x="75872" y="56459"/>
                </a:lnTo>
                <a:lnTo>
                  <a:pt x="73659" y="21589"/>
                </a:lnTo>
                <a:close/>
              </a:path>
              <a:path w="956945" h="97789">
                <a:moveTo>
                  <a:pt x="75872" y="56459"/>
                </a:moveTo>
                <a:lnTo>
                  <a:pt x="63119" y="57276"/>
                </a:lnTo>
                <a:lnTo>
                  <a:pt x="63626" y="63499"/>
                </a:lnTo>
                <a:lnTo>
                  <a:pt x="76267" y="62691"/>
                </a:lnTo>
                <a:lnTo>
                  <a:pt x="75872" y="56459"/>
                </a:lnTo>
                <a:close/>
              </a:path>
              <a:path w="956945" h="97789">
                <a:moveTo>
                  <a:pt x="76267" y="62691"/>
                </a:moveTo>
                <a:lnTo>
                  <a:pt x="63626" y="63499"/>
                </a:lnTo>
                <a:lnTo>
                  <a:pt x="76318" y="63499"/>
                </a:lnTo>
                <a:lnTo>
                  <a:pt x="76267" y="62691"/>
                </a:lnTo>
                <a:close/>
              </a:path>
              <a:path w="956945" h="97789">
                <a:moveTo>
                  <a:pt x="956309" y="0"/>
                </a:moveTo>
                <a:lnTo>
                  <a:pt x="75872" y="56459"/>
                </a:lnTo>
                <a:lnTo>
                  <a:pt x="76267" y="62691"/>
                </a:lnTo>
                <a:lnTo>
                  <a:pt x="956691" y="6349"/>
                </a:lnTo>
                <a:lnTo>
                  <a:pt x="95630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10372725" y="4107307"/>
            <a:ext cx="14592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Equação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geral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vetor gradiente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formato matricial.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9377933" y="4310253"/>
            <a:ext cx="797560" cy="149860"/>
          </a:xfrm>
          <a:custGeom>
            <a:avLst/>
            <a:gdLst/>
            <a:ahLst/>
            <a:cxnLst/>
            <a:rect l="l" t="t" r="r" b="b"/>
            <a:pathLst>
              <a:path w="797559" h="149860">
                <a:moveTo>
                  <a:pt x="69596" y="74422"/>
                </a:moveTo>
                <a:lnTo>
                  <a:pt x="0" y="123571"/>
                </a:lnTo>
                <a:lnTo>
                  <a:pt x="81025" y="149860"/>
                </a:lnTo>
                <a:lnTo>
                  <a:pt x="76080" y="117221"/>
                </a:lnTo>
                <a:lnTo>
                  <a:pt x="63246" y="117221"/>
                </a:lnTo>
                <a:lnTo>
                  <a:pt x="62357" y="110871"/>
                </a:lnTo>
                <a:lnTo>
                  <a:pt x="74833" y="108986"/>
                </a:lnTo>
                <a:lnTo>
                  <a:pt x="69596" y="74422"/>
                </a:lnTo>
                <a:close/>
              </a:path>
              <a:path w="797559" h="149860">
                <a:moveTo>
                  <a:pt x="74833" y="108986"/>
                </a:moveTo>
                <a:lnTo>
                  <a:pt x="62357" y="110871"/>
                </a:lnTo>
                <a:lnTo>
                  <a:pt x="63246" y="117221"/>
                </a:lnTo>
                <a:lnTo>
                  <a:pt x="75793" y="115324"/>
                </a:lnTo>
                <a:lnTo>
                  <a:pt x="74833" y="108986"/>
                </a:lnTo>
                <a:close/>
              </a:path>
              <a:path w="797559" h="149860">
                <a:moveTo>
                  <a:pt x="75793" y="115324"/>
                </a:moveTo>
                <a:lnTo>
                  <a:pt x="63246" y="117221"/>
                </a:lnTo>
                <a:lnTo>
                  <a:pt x="76080" y="117221"/>
                </a:lnTo>
                <a:lnTo>
                  <a:pt x="75793" y="115324"/>
                </a:lnTo>
                <a:close/>
              </a:path>
              <a:path w="797559" h="149860">
                <a:moveTo>
                  <a:pt x="796544" y="0"/>
                </a:moveTo>
                <a:lnTo>
                  <a:pt x="74833" y="108986"/>
                </a:lnTo>
                <a:lnTo>
                  <a:pt x="75793" y="115324"/>
                </a:lnTo>
                <a:lnTo>
                  <a:pt x="797433" y="6223"/>
                </a:lnTo>
                <a:lnTo>
                  <a:pt x="79654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10264520" y="3485769"/>
            <a:ext cx="14268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Gradiente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relação</a:t>
            </a:r>
            <a:endParaRPr sz="12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ao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peso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bias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CaixaDeTexto 89">
                <a:extLst>
                  <a:ext uri="{FF2B5EF4-FFF2-40B4-BE49-F238E27FC236}">
                    <a16:creationId xmlns:a16="http://schemas.microsoft.com/office/drawing/2014/main" id="{0DEEAC2F-A4FF-E278-1A15-565CF63D226B}"/>
                  </a:ext>
                </a:extLst>
              </p:cNvPr>
              <p:cNvSpPr txBox="1"/>
              <p:nvPr/>
            </p:nvSpPr>
            <p:spPr>
              <a:xfrm>
                <a:off x="1549371" y="1143000"/>
                <a:ext cx="8685711" cy="1038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𝑿𝒂</m:t>
                              </m:r>
                            </m:e>
                          </m:d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90" name="CaixaDeTexto 89">
                <a:extLst>
                  <a:ext uri="{FF2B5EF4-FFF2-40B4-BE49-F238E27FC236}">
                    <a16:creationId xmlns:a16="http://schemas.microsoft.com/office/drawing/2014/main" id="{0DEEAC2F-A4FF-E278-1A15-565CF63D2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371" y="1143000"/>
                <a:ext cx="8685711" cy="10388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CaixaDeTexto 90">
                <a:extLst>
                  <a:ext uri="{FF2B5EF4-FFF2-40B4-BE49-F238E27FC236}">
                    <a16:creationId xmlns:a16="http://schemas.microsoft.com/office/drawing/2014/main" id="{1132DBB0-8110-23FA-EA20-51DF19DB6629}"/>
                  </a:ext>
                </a:extLst>
              </p:cNvPr>
              <p:cNvSpPr txBox="1"/>
              <p:nvPr/>
            </p:nvSpPr>
            <p:spPr>
              <a:xfrm>
                <a:off x="2090277" y="1981200"/>
                <a:ext cx="8718605" cy="1038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sign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91" name="CaixaDeTexto 90">
                <a:extLst>
                  <a:ext uri="{FF2B5EF4-FFF2-40B4-BE49-F238E27FC236}">
                    <a16:creationId xmlns:a16="http://schemas.microsoft.com/office/drawing/2014/main" id="{1132DBB0-8110-23FA-EA20-51DF19DB6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277" y="1981200"/>
                <a:ext cx="8718605" cy="10388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CaixaDeTexto 91">
                <a:extLst>
                  <a:ext uri="{FF2B5EF4-FFF2-40B4-BE49-F238E27FC236}">
                    <a16:creationId xmlns:a16="http://schemas.microsoft.com/office/drawing/2014/main" id="{B0FE25B8-759E-6FC8-04EA-4CD2F10B96E0}"/>
                  </a:ext>
                </a:extLst>
              </p:cNvPr>
              <p:cNvSpPr txBox="1"/>
              <p:nvPr/>
            </p:nvSpPr>
            <p:spPr>
              <a:xfrm>
                <a:off x="4234430" y="2971800"/>
                <a:ext cx="4885375" cy="1038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92" name="CaixaDeTexto 91">
                <a:extLst>
                  <a:ext uri="{FF2B5EF4-FFF2-40B4-BE49-F238E27FC236}">
                    <a16:creationId xmlns:a16="http://schemas.microsoft.com/office/drawing/2014/main" id="{B0FE25B8-759E-6FC8-04EA-4CD2F10B9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430" y="2971800"/>
                <a:ext cx="4885375" cy="10388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CaixaDeTexto 92">
                <a:extLst>
                  <a:ext uri="{FF2B5EF4-FFF2-40B4-BE49-F238E27FC236}">
                    <a16:creationId xmlns:a16="http://schemas.microsoft.com/office/drawing/2014/main" id="{D33F6E08-92CC-04AE-D5E8-782DBB56FA1B}"/>
                  </a:ext>
                </a:extLst>
              </p:cNvPr>
              <p:cNvSpPr txBox="1"/>
              <p:nvPr/>
            </p:nvSpPr>
            <p:spPr>
              <a:xfrm>
                <a:off x="3981046" y="4038600"/>
                <a:ext cx="5354992" cy="716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𝑿𝒂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pt-B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p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sign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), 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93" name="CaixaDeTexto 92">
                <a:extLst>
                  <a:ext uri="{FF2B5EF4-FFF2-40B4-BE49-F238E27FC236}">
                    <a16:creationId xmlns:a16="http://schemas.microsoft.com/office/drawing/2014/main" id="{D33F6E08-92CC-04AE-D5E8-782DBB56F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046" y="4038600"/>
                <a:ext cx="5354992" cy="7167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774395C-FA4E-1CC5-A3D6-3D9147BF532A}"/>
                  </a:ext>
                </a:extLst>
              </p:cNvPr>
              <p:cNvSpPr txBox="1"/>
              <p:nvPr/>
            </p:nvSpPr>
            <p:spPr>
              <a:xfrm>
                <a:off x="3119704" y="6036108"/>
                <a:ext cx="5545044" cy="8218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𝑿𝒂</m:t>
                              </m:r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num>
                            <m:den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sign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774395C-FA4E-1CC5-A3D6-3D9147BF5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704" y="6036108"/>
                <a:ext cx="5545044" cy="8218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Vantagem</a:t>
            </a:r>
            <a:r>
              <a:rPr spc="-80" dirty="0"/>
              <a:t> </a:t>
            </a:r>
            <a:r>
              <a:rPr dirty="0"/>
              <a:t>da</a:t>
            </a:r>
            <a:r>
              <a:rPr spc="-75" dirty="0"/>
              <a:t> </a:t>
            </a:r>
            <a:r>
              <a:rPr dirty="0"/>
              <a:t>regressão</a:t>
            </a:r>
            <a:r>
              <a:rPr spc="-100" dirty="0"/>
              <a:t> </a:t>
            </a:r>
            <a:r>
              <a:rPr dirty="0"/>
              <a:t>LASSO</a:t>
            </a:r>
            <a:r>
              <a:rPr spc="-95" dirty="0"/>
              <a:t> </a:t>
            </a:r>
            <a:r>
              <a:rPr dirty="0"/>
              <a:t>sobre</a:t>
            </a:r>
            <a:r>
              <a:rPr spc="-85" dirty="0"/>
              <a:t> </a:t>
            </a:r>
            <a:r>
              <a:rPr spc="-10" dirty="0"/>
              <a:t>Ridge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9678670" cy="4558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65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vantagem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regressão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LASSO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sobre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Ridge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está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forma</a:t>
            </a:r>
            <a:r>
              <a:rPr sz="2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endParaRPr sz="2600" dirty="0">
              <a:latin typeface="Calibri"/>
              <a:cs typeface="Calibri"/>
            </a:endParaRPr>
          </a:p>
          <a:p>
            <a:pPr marL="241300" marR="431800">
              <a:lnSpc>
                <a:spcPct val="70100"/>
              </a:lnSpc>
              <a:spcBef>
                <a:spcPts val="459"/>
              </a:spcBef>
            </a:pP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quadrado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região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factibilidade</a:t>
            </a:r>
            <a:r>
              <a:rPr sz="26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criada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penalização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norma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L1.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região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factibilidade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em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forma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diamante</a:t>
            </a:r>
            <a:r>
              <a:rPr sz="26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leva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eliminação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alguns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 </a:t>
            </a:r>
            <a:r>
              <a:rPr sz="2600" spc="-10" dirty="0">
                <a:latin typeface="Calibri"/>
                <a:cs typeface="Calibri"/>
              </a:rPr>
              <a:t>zerados).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regressão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LASSO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tende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produzir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modelos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esparsos.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zerados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aqueles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correspondentes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aos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atributos</a:t>
            </a:r>
            <a:endParaRPr sz="2600" dirty="0">
              <a:latin typeface="Calibri"/>
              <a:cs typeface="Calibri"/>
            </a:endParaRPr>
          </a:p>
          <a:p>
            <a:pPr marL="241300" marR="325755">
              <a:lnSpc>
                <a:spcPct val="70000"/>
              </a:lnSpc>
              <a:spcBef>
                <a:spcPts val="470"/>
              </a:spcBef>
            </a:pPr>
            <a:r>
              <a:rPr sz="2600" b="1" i="1" dirty="0">
                <a:latin typeface="Calibri"/>
                <a:cs typeface="Calibri"/>
              </a:rPr>
              <a:t>que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são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menos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relevantes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para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predição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modelo</a:t>
            </a:r>
            <a:r>
              <a:rPr sz="2600" b="1" i="1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(ou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que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contribuem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predição).</a:t>
            </a:r>
            <a:endParaRPr sz="2600" dirty="0">
              <a:latin typeface="Calibri"/>
              <a:cs typeface="Calibri"/>
            </a:endParaRPr>
          </a:p>
          <a:p>
            <a:pPr marL="241300" marR="122555" indent="-228600">
              <a:lnSpc>
                <a:spcPct val="701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Isso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útil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reduzir</a:t>
            </a:r>
            <a:r>
              <a:rPr sz="2600" b="1" i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600" b="1" i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complexidade</a:t>
            </a:r>
            <a:r>
              <a:rPr sz="2600" b="1" i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do</a:t>
            </a:r>
            <a:r>
              <a:rPr sz="2600" b="1" i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modelo</a:t>
            </a:r>
            <a:r>
              <a:rPr sz="2600" b="1" i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6FC0"/>
                </a:solidFill>
                <a:latin typeface="Calibri"/>
                <a:cs typeface="Calibri"/>
              </a:rPr>
              <a:t>melhorar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sua</a:t>
            </a:r>
            <a:r>
              <a:rPr sz="2600" b="1" i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capacidade</a:t>
            </a:r>
            <a:r>
              <a:rPr sz="2600" b="1" i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600" b="1" i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generalização</a:t>
            </a:r>
            <a:r>
              <a:rPr sz="26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6FC0"/>
                </a:solidFill>
                <a:latin typeface="Calibri"/>
                <a:cs typeface="Calibri"/>
              </a:rPr>
              <a:t>deixá-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lo</a:t>
            </a:r>
            <a:r>
              <a:rPr sz="2600" b="1" i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mais</a:t>
            </a:r>
            <a:r>
              <a:rPr sz="2600" b="1" i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6FC0"/>
                </a:solidFill>
                <a:latin typeface="Calibri"/>
                <a:cs typeface="Calibri"/>
              </a:rPr>
              <a:t>interpretável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Além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disso,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regressão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LASSO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também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FF0000"/>
                </a:solidFill>
                <a:latin typeface="Calibri"/>
                <a:cs typeface="Calibri"/>
              </a:rPr>
              <a:t>seleção</a:t>
            </a:r>
            <a:endParaRPr sz="2600" dirty="0">
              <a:latin typeface="Calibri"/>
              <a:cs typeface="Calibri"/>
            </a:endParaRPr>
          </a:p>
          <a:p>
            <a:pPr marL="241300" marR="725170">
              <a:lnSpc>
                <a:spcPct val="70000"/>
              </a:lnSpc>
              <a:spcBef>
                <a:spcPts val="465"/>
              </a:spcBef>
            </a:pP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6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FF0000"/>
                </a:solidFill>
                <a:latin typeface="Calibri"/>
                <a:cs typeface="Calibri"/>
              </a:rPr>
              <a:t>recursos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atributos</a:t>
            </a:r>
            <a:r>
              <a:rPr sz="2600" b="1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mais</a:t>
            </a:r>
            <a:r>
              <a:rPr sz="2600" b="1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relevantes</a:t>
            </a:r>
            <a:r>
              <a:rPr sz="2600" b="1" i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são</a:t>
            </a:r>
            <a:r>
              <a:rPr sz="2600" b="1" i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6FC0"/>
                </a:solidFill>
                <a:latin typeface="Calibri"/>
                <a:cs typeface="Calibri"/>
              </a:rPr>
              <a:t>selecionados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automaticamente</a:t>
            </a:r>
            <a:r>
              <a:rPr sz="2600" b="1" i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sz="2600" b="1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os</a:t>
            </a:r>
            <a:r>
              <a:rPr sz="2600" b="1" i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6FC0"/>
                </a:solidFill>
                <a:latin typeface="Calibri"/>
                <a:cs typeface="Calibri"/>
              </a:rPr>
              <a:t>outros</a:t>
            </a:r>
            <a:r>
              <a:rPr sz="2600" b="1" i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6FC0"/>
                </a:solidFill>
                <a:latin typeface="Calibri"/>
                <a:cs typeface="Calibri"/>
              </a:rPr>
              <a:t>descartados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7773" y="1484122"/>
            <a:ext cx="1501012" cy="224167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53776" y="4472165"/>
            <a:ext cx="1485010" cy="2213724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Vantagem</a:t>
            </a:r>
            <a:r>
              <a:rPr spc="-80" dirty="0"/>
              <a:t> </a:t>
            </a:r>
            <a:r>
              <a:rPr dirty="0"/>
              <a:t>da</a:t>
            </a:r>
            <a:r>
              <a:rPr spc="-75" dirty="0"/>
              <a:t> </a:t>
            </a:r>
            <a:r>
              <a:rPr dirty="0"/>
              <a:t>regressão</a:t>
            </a:r>
            <a:r>
              <a:rPr spc="-100" dirty="0"/>
              <a:t> </a:t>
            </a:r>
            <a:r>
              <a:rPr dirty="0"/>
              <a:t>LASSO</a:t>
            </a:r>
            <a:r>
              <a:rPr spc="-95" dirty="0"/>
              <a:t> </a:t>
            </a:r>
            <a:r>
              <a:rPr dirty="0"/>
              <a:t>sobre</a:t>
            </a:r>
            <a:r>
              <a:rPr spc="-85" dirty="0"/>
              <a:t> </a:t>
            </a:r>
            <a:r>
              <a:rPr spc="-10" dirty="0"/>
              <a:t>Ridge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24701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A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i="1" dirty="0"/>
              <a:t>regressão</a:t>
            </a:r>
            <a:r>
              <a:rPr i="1" spc="-65" dirty="0"/>
              <a:t> </a:t>
            </a:r>
            <a:r>
              <a:rPr i="1" dirty="0"/>
              <a:t>Ridge</a:t>
            </a:r>
            <a:r>
              <a:rPr i="1" spc="-75" dirty="0"/>
              <a:t> </a:t>
            </a:r>
            <a:r>
              <a:rPr b="0" dirty="0">
                <a:latin typeface="Calibri"/>
                <a:cs typeface="Calibri"/>
              </a:rPr>
              <a:t>não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apresenta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esta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característica,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pois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ela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i="1" dirty="0"/>
              <a:t>tende</a:t>
            </a:r>
            <a:r>
              <a:rPr i="1" spc="-80" dirty="0"/>
              <a:t> </a:t>
            </a:r>
            <a:r>
              <a:rPr i="1" spc="-50" dirty="0"/>
              <a:t>a </a:t>
            </a:r>
            <a:r>
              <a:rPr i="1" dirty="0"/>
              <a:t>manter</a:t>
            </a:r>
            <a:r>
              <a:rPr i="1" spc="-60" dirty="0"/>
              <a:t> </a:t>
            </a:r>
            <a:r>
              <a:rPr i="1" dirty="0"/>
              <a:t>os</a:t>
            </a:r>
            <a:r>
              <a:rPr i="1" spc="-70" dirty="0"/>
              <a:t> </a:t>
            </a:r>
            <a:r>
              <a:rPr i="1" dirty="0"/>
              <a:t>pesos</a:t>
            </a:r>
            <a:r>
              <a:rPr i="1" spc="-60" dirty="0"/>
              <a:t> </a:t>
            </a:r>
            <a:r>
              <a:rPr i="1" dirty="0"/>
              <a:t>não</a:t>
            </a:r>
            <a:r>
              <a:rPr i="1" spc="-60" dirty="0"/>
              <a:t> </a:t>
            </a:r>
            <a:r>
              <a:rPr i="1" dirty="0"/>
              <a:t>nulos</a:t>
            </a:r>
            <a:r>
              <a:rPr i="1" spc="-95" dirty="0"/>
              <a:t> </a:t>
            </a:r>
            <a:r>
              <a:rPr b="0" dirty="0">
                <a:latin typeface="Calibri"/>
                <a:cs typeface="Calibri"/>
              </a:rPr>
              <a:t>(i.e.,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os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pesos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nunca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são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totalmente </a:t>
            </a:r>
            <a:r>
              <a:rPr b="0" dirty="0">
                <a:latin typeface="Calibri"/>
                <a:cs typeface="Calibri"/>
              </a:rPr>
              <a:t>anulados),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produzindo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i="1" dirty="0"/>
              <a:t>modelos</a:t>
            </a:r>
            <a:r>
              <a:rPr i="1" spc="-85" dirty="0"/>
              <a:t> </a:t>
            </a:r>
            <a:r>
              <a:rPr i="1" dirty="0"/>
              <a:t>com</a:t>
            </a:r>
            <a:r>
              <a:rPr i="1" spc="-80" dirty="0"/>
              <a:t> </a:t>
            </a:r>
            <a:r>
              <a:rPr i="1" dirty="0"/>
              <a:t>pesos</a:t>
            </a:r>
            <a:r>
              <a:rPr i="1" spc="-90" dirty="0"/>
              <a:t> </a:t>
            </a:r>
            <a:r>
              <a:rPr i="1" dirty="0"/>
              <a:t>pequenos</a:t>
            </a:r>
            <a:r>
              <a:rPr i="1" spc="-85" dirty="0"/>
              <a:t> </a:t>
            </a:r>
            <a:r>
              <a:rPr i="1" dirty="0"/>
              <a:t>e</a:t>
            </a:r>
            <a:r>
              <a:rPr i="1" spc="-80" dirty="0"/>
              <a:t> </a:t>
            </a:r>
            <a:r>
              <a:rPr i="1" spc="-10" dirty="0"/>
              <a:t>distribuídos</a:t>
            </a:r>
            <a:r>
              <a:rPr i="1" spc="-85" dirty="0"/>
              <a:t> </a:t>
            </a:r>
            <a:r>
              <a:rPr i="1" spc="-25" dirty="0"/>
              <a:t>ao </a:t>
            </a:r>
            <a:r>
              <a:rPr i="1" dirty="0"/>
              <a:t>longo</a:t>
            </a:r>
            <a:r>
              <a:rPr i="1" spc="-50" dirty="0"/>
              <a:t> </a:t>
            </a:r>
            <a:r>
              <a:rPr i="1" dirty="0"/>
              <a:t>dos</a:t>
            </a:r>
            <a:r>
              <a:rPr i="1" spc="-50" dirty="0"/>
              <a:t> </a:t>
            </a:r>
            <a:r>
              <a:rPr i="1" spc="-10" dirty="0"/>
              <a:t>atributos</a:t>
            </a:r>
            <a:r>
              <a:rPr b="0" spc="-10" dirty="0">
                <a:latin typeface="Calibri"/>
                <a:cs typeface="Calibri"/>
              </a:rPr>
              <a:t>.</a:t>
            </a:r>
          </a:p>
          <a:p>
            <a:pPr marL="241300" marR="701040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b="0" dirty="0">
                <a:latin typeface="Calibri"/>
                <a:cs typeface="Calibri"/>
              </a:rPr>
              <a:t>Podemos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também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entender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12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diferença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entre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as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regressões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Ridge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spc="-50" dirty="0">
                <a:latin typeface="Calibri"/>
                <a:cs typeface="Calibri"/>
              </a:rPr>
              <a:t>e </a:t>
            </a:r>
            <a:r>
              <a:rPr b="0" dirty="0">
                <a:latin typeface="Calibri"/>
                <a:cs typeface="Calibri"/>
              </a:rPr>
              <a:t>LASSO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ao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compreender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que:</a:t>
            </a:r>
          </a:p>
          <a:p>
            <a:pPr marL="698500" marR="5080" lvl="1" indent="-228600">
              <a:lnSpc>
                <a:spcPct val="90100"/>
              </a:lnSpc>
              <a:spcBef>
                <a:spcPts val="46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L2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penaliza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(i.e.,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encolhe)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mais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fortemente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pesos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com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magnitudes </a:t>
            </a:r>
            <a:r>
              <a:rPr sz="2400" b="1" i="1" dirty="0">
                <a:latin typeface="Calibri"/>
                <a:cs typeface="Calibri"/>
              </a:rPr>
              <a:t>grandes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penaliza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menos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fortemente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pesos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com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magnitudes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pequenas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(devido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quadrado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L2).</a:t>
            </a:r>
            <a:endParaRPr sz="2400" dirty="0">
              <a:latin typeface="Calibri"/>
              <a:cs typeface="Calibri"/>
            </a:endParaRPr>
          </a:p>
          <a:p>
            <a:pPr marL="698500" marR="196850" lvl="1" indent="-228600">
              <a:lnSpc>
                <a:spcPts val="2590"/>
              </a:lnSpc>
              <a:spcBef>
                <a:spcPts val="5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Já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L1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penaliza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agressivamente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todos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pesos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significa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b="1" i="1" dirty="0">
                <a:latin typeface="Calibri"/>
                <a:cs typeface="Calibri"/>
              </a:rPr>
              <a:t>norma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L1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tende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reduzir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pesos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para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zero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forma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mais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uniforme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norma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L2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(devido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apenas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absoluto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pesos).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78384"/>
            <a:ext cx="10985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Por</a:t>
            </a:r>
            <a:r>
              <a:rPr sz="4000" spc="-130" dirty="0"/>
              <a:t> </a:t>
            </a:r>
            <a:r>
              <a:rPr sz="4000" dirty="0"/>
              <a:t>que</a:t>
            </a:r>
            <a:r>
              <a:rPr sz="4000" spc="-130" dirty="0"/>
              <a:t> </a:t>
            </a:r>
            <a:r>
              <a:rPr sz="4000" dirty="0"/>
              <a:t>a</a:t>
            </a:r>
            <a:r>
              <a:rPr sz="4000" spc="-125" dirty="0"/>
              <a:t> </a:t>
            </a:r>
            <a:r>
              <a:rPr sz="4000" spc="-10" dirty="0"/>
              <a:t>regressão</a:t>
            </a:r>
            <a:r>
              <a:rPr sz="4000" spc="-130" dirty="0"/>
              <a:t> </a:t>
            </a:r>
            <a:r>
              <a:rPr sz="4000" dirty="0"/>
              <a:t>LASSO</a:t>
            </a:r>
            <a:r>
              <a:rPr sz="4000" spc="-130" dirty="0"/>
              <a:t> </a:t>
            </a:r>
            <a:r>
              <a:rPr sz="4000" dirty="0"/>
              <a:t>produz</a:t>
            </a:r>
            <a:r>
              <a:rPr sz="4000" spc="-140" dirty="0"/>
              <a:t> </a:t>
            </a:r>
            <a:r>
              <a:rPr sz="4000" dirty="0"/>
              <a:t>modelos</a:t>
            </a:r>
            <a:r>
              <a:rPr sz="4000" spc="-125" dirty="0"/>
              <a:t> </a:t>
            </a:r>
            <a:r>
              <a:rPr sz="4000" spc="-10" dirty="0"/>
              <a:t>esparsos?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19074" y="3676904"/>
            <a:ext cx="11459845" cy="307721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66700" marR="213360" indent="-228600">
              <a:lnSpc>
                <a:spcPct val="70000"/>
              </a:lnSpc>
              <a:spcBef>
                <a:spcPts val="965"/>
              </a:spcBef>
              <a:buFont typeface="Wingdings"/>
              <a:buChar char="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figura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curvas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nível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erro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regressão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linear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latin typeface="Cambria Math"/>
                <a:cs typeface="Cambria Math"/>
              </a:rPr>
              <a:t>𝑎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359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𝑎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regiões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espaço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hipóteses </a:t>
            </a:r>
            <a:r>
              <a:rPr sz="2400" dirty="0">
                <a:latin typeface="Calibri"/>
                <a:cs typeface="Calibri"/>
              </a:rPr>
              <a:t>onde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restrições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L1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L2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válidas.</a:t>
            </a:r>
            <a:endParaRPr sz="2400" dirty="0">
              <a:latin typeface="Calibri"/>
              <a:cs typeface="Calibri"/>
            </a:endParaRPr>
          </a:p>
          <a:p>
            <a:pPr marL="266700" marR="1555115" indent="-228600">
              <a:lnSpc>
                <a:spcPct val="70000"/>
              </a:lnSpc>
              <a:spcBef>
                <a:spcPts val="995"/>
              </a:spcBef>
              <a:buFont typeface="Wingdings"/>
              <a:buChar char="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ambos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métodos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corresponde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ponto,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dentro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região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de </a:t>
            </a:r>
            <a:r>
              <a:rPr sz="2400" b="1" i="1" dirty="0">
                <a:latin typeface="Calibri"/>
                <a:cs typeface="Calibri"/>
              </a:rPr>
              <a:t>factibilidade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mais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próximo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ponto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mínimo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erro.</a:t>
            </a:r>
            <a:endParaRPr sz="2400" dirty="0">
              <a:latin typeface="Calibri"/>
              <a:cs typeface="Calibri"/>
            </a:endParaRPr>
          </a:p>
          <a:p>
            <a:pPr marL="266700" marR="379730" indent="-228600">
              <a:lnSpc>
                <a:spcPct val="70000"/>
              </a:lnSpc>
              <a:spcBef>
                <a:spcPts val="1005"/>
              </a:spcBef>
              <a:buFont typeface="Wingdings"/>
              <a:buChar char="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É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fácil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arbitrária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será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comum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vértice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(ou </a:t>
            </a:r>
            <a:r>
              <a:rPr sz="2400" dirty="0">
                <a:latin typeface="Calibri"/>
                <a:cs typeface="Calibri"/>
              </a:rPr>
              <a:t>cantos)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quadrado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próximo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erro.</a:t>
            </a:r>
            <a:endParaRPr sz="2400" dirty="0">
              <a:latin typeface="Calibri"/>
              <a:cs typeface="Calibri"/>
            </a:endParaRPr>
          </a:p>
          <a:p>
            <a:pPr marL="266700" marR="30480" indent="-228600">
              <a:lnSpc>
                <a:spcPct val="70000"/>
              </a:lnSpc>
              <a:spcBef>
                <a:spcPts val="1000"/>
              </a:spcBef>
              <a:buFont typeface="Wingdings"/>
              <a:buChar char="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vértices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região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factibilidade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restrição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L1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aumentam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chances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alguns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assumirem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zero,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possuem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igual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zero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alguma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das </a:t>
            </a:r>
            <a:r>
              <a:rPr sz="2400" dirty="0">
                <a:latin typeface="Calibri"/>
                <a:cs typeface="Calibri"/>
              </a:rPr>
              <a:t>dimensões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pesos).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868" y="1172971"/>
            <a:ext cx="2898775" cy="2220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7620" indent="-287020">
              <a:lnSpc>
                <a:spcPct val="1002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quadrado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azul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representa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conjunto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pontos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𝒂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libri"/>
                <a:cs typeface="Calibri"/>
              </a:rPr>
              <a:t>no </a:t>
            </a:r>
            <a:r>
              <a:rPr sz="1800" dirty="0">
                <a:latin typeface="Calibri"/>
                <a:cs typeface="Calibri"/>
              </a:rPr>
              <a:t>espaço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pesos </a:t>
            </a:r>
            <a:r>
              <a:rPr sz="1800" dirty="0">
                <a:latin typeface="Calibri"/>
                <a:cs typeface="Calibri"/>
              </a:rPr>
              <a:t>bidimensional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tenham </a:t>
            </a:r>
            <a:r>
              <a:rPr sz="1800" dirty="0">
                <a:latin typeface="Calibri"/>
                <a:cs typeface="Calibri"/>
              </a:rPr>
              <a:t>norma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L1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menor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𝑐</a:t>
            </a:r>
            <a:r>
              <a:rPr sz="1800" spc="-25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  <a:p>
            <a:pPr marL="299085" indent="-287020">
              <a:lnSpc>
                <a:spcPts val="215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solução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dentro</a:t>
            </a:r>
            <a:endParaRPr sz="1800" dirty="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quadrado,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mais</a:t>
            </a:r>
            <a:endParaRPr sz="1800" dirty="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próximo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mínimo.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1246" y="1169289"/>
            <a:ext cx="3045460" cy="2220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250825" indent="-287020">
              <a:lnSpc>
                <a:spcPct val="1002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círculo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azul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representa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o </a:t>
            </a:r>
            <a:r>
              <a:rPr sz="1800" dirty="0">
                <a:latin typeface="Calibri"/>
                <a:cs typeface="Calibri"/>
              </a:rPr>
              <a:t>conjunto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pontos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𝒂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libri"/>
                <a:cs typeface="Calibri"/>
              </a:rPr>
              <a:t>no </a:t>
            </a:r>
            <a:r>
              <a:rPr sz="1800" dirty="0">
                <a:latin typeface="Calibri"/>
                <a:cs typeface="Calibri"/>
              </a:rPr>
              <a:t>espaço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pesos </a:t>
            </a:r>
            <a:r>
              <a:rPr sz="1800" dirty="0">
                <a:latin typeface="Calibri"/>
                <a:cs typeface="Calibri"/>
              </a:rPr>
              <a:t>bidimensional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tenham </a:t>
            </a:r>
            <a:r>
              <a:rPr sz="1800" dirty="0">
                <a:latin typeface="Calibri"/>
                <a:cs typeface="Calibri"/>
              </a:rPr>
              <a:t>norma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L2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menor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𝑐</a:t>
            </a:r>
            <a:r>
              <a:rPr sz="1800" spc="-25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299085" marR="5080" indent="-287020">
              <a:lnSpc>
                <a:spcPts val="2160"/>
              </a:lnSpc>
              <a:spcBef>
                <a:spcPts val="6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solução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dentro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círculo,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próximo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do </a:t>
            </a:r>
            <a:r>
              <a:rPr sz="1800" spc="-10" dirty="0">
                <a:latin typeface="Calibri"/>
                <a:cs typeface="Calibri"/>
              </a:rPr>
              <a:t>mínimo.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5740" y="1050163"/>
            <a:ext cx="2681859" cy="24439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4797" y="1112138"/>
            <a:ext cx="2693416" cy="238632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129529" y="1052525"/>
            <a:ext cx="3569970" cy="101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40380" algn="l"/>
              </a:tabLst>
            </a:pPr>
            <a:r>
              <a:rPr sz="1800" spc="-10" dirty="0">
                <a:latin typeface="Calibri"/>
                <a:cs typeface="Calibri"/>
              </a:rPr>
              <a:t>LASSO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Ridge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Calibri"/>
              <a:cs typeface="Calibri"/>
            </a:endParaRPr>
          </a:p>
          <a:p>
            <a:pPr marL="518159" marR="2406650" indent="-8572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pontos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 </a:t>
            </a:r>
            <a:r>
              <a:rPr sz="1400" spc="-10" dirty="0">
                <a:latin typeface="Calibri"/>
                <a:cs typeface="Calibri"/>
              </a:rPr>
              <a:t>mínimo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80226" y="1856358"/>
            <a:ext cx="835025" cy="168275"/>
          </a:xfrm>
          <a:custGeom>
            <a:avLst/>
            <a:gdLst/>
            <a:ahLst/>
            <a:cxnLst/>
            <a:rect l="l" t="t" r="r" b="b"/>
            <a:pathLst>
              <a:path w="835025" h="168275">
                <a:moveTo>
                  <a:pt x="758810" y="133776"/>
                </a:moveTo>
                <a:lnTo>
                  <a:pt x="752982" y="168275"/>
                </a:lnTo>
                <a:lnTo>
                  <a:pt x="834517" y="143255"/>
                </a:lnTo>
                <a:lnTo>
                  <a:pt x="824409" y="135889"/>
                </a:lnTo>
                <a:lnTo>
                  <a:pt x="771398" y="135889"/>
                </a:lnTo>
                <a:lnTo>
                  <a:pt x="758810" y="133776"/>
                </a:lnTo>
                <a:close/>
              </a:path>
              <a:path w="835025" h="168275">
                <a:moveTo>
                  <a:pt x="759861" y="127556"/>
                </a:moveTo>
                <a:lnTo>
                  <a:pt x="758810" y="133776"/>
                </a:lnTo>
                <a:lnTo>
                  <a:pt x="771398" y="135889"/>
                </a:lnTo>
                <a:lnTo>
                  <a:pt x="772414" y="129666"/>
                </a:lnTo>
                <a:lnTo>
                  <a:pt x="759861" y="127556"/>
                </a:lnTo>
                <a:close/>
              </a:path>
              <a:path w="835025" h="168275">
                <a:moveTo>
                  <a:pt x="765682" y="93090"/>
                </a:moveTo>
                <a:lnTo>
                  <a:pt x="759861" y="127556"/>
                </a:lnTo>
                <a:lnTo>
                  <a:pt x="772414" y="129666"/>
                </a:lnTo>
                <a:lnTo>
                  <a:pt x="771398" y="135889"/>
                </a:lnTo>
                <a:lnTo>
                  <a:pt x="824409" y="135889"/>
                </a:lnTo>
                <a:lnTo>
                  <a:pt x="765682" y="93090"/>
                </a:lnTo>
                <a:close/>
              </a:path>
              <a:path w="835025" h="168275">
                <a:moveTo>
                  <a:pt x="1015" y="0"/>
                </a:moveTo>
                <a:lnTo>
                  <a:pt x="0" y="6350"/>
                </a:lnTo>
                <a:lnTo>
                  <a:pt x="758810" y="133776"/>
                </a:lnTo>
                <a:lnTo>
                  <a:pt x="759861" y="127556"/>
                </a:lnTo>
                <a:lnTo>
                  <a:pt x="10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71542" y="1856358"/>
            <a:ext cx="995680" cy="207645"/>
          </a:xfrm>
          <a:custGeom>
            <a:avLst/>
            <a:gdLst/>
            <a:ahLst/>
            <a:cxnLst/>
            <a:rect l="l" t="t" r="r" b="b"/>
            <a:pathLst>
              <a:path w="995679" h="207644">
                <a:moveTo>
                  <a:pt x="68199" y="132333"/>
                </a:moveTo>
                <a:lnTo>
                  <a:pt x="0" y="183514"/>
                </a:lnTo>
                <a:lnTo>
                  <a:pt x="81787" y="207390"/>
                </a:lnTo>
                <a:lnTo>
                  <a:pt x="75970" y="175260"/>
                </a:lnTo>
                <a:lnTo>
                  <a:pt x="62992" y="175260"/>
                </a:lnTo>
                <a:lnTo>
                  <a:pt x="61849" y="169037"/>
                </a:lnTo>
                <a:lnTo>
                  <a:pt x="74431" y="166755"/>
                </a:lnTo>
                <a:lnTo>
                  <a:pt x="68199" y="132333"/>
                </a:lnTo>
                <a:close/>
              </a:path>
              <a:path w="995679" h="207644">
                <a:moveTo>
                  <a:pt x="74431" y="166755"/>
                </a:moveTo>
                <a:lnTo>
                  <a:pt x="61849" y="169037"/>
                </a:lnTo>
                <a:lnTo>
                  <a:pt x="62992" y="175260"/>
                </a:lnTo>
                <a:lnTo>
                  <a:pt x="75558" y="172983"/>
                </a:lnTo>
                <a:lnTo>
                  <a:pt x="74431" y="166755"/>
                </a:lnTo>
                <a:close/>
              </a:path>
              <a:path w="995679" h="207644">
                <a:moveTo>
                  <a:pt x="75558" y="172983"/>
                </a:moveTo>
                <a:lnTo>
                  <a:pt x="62992" y="175260"/>
                </a:lnTo>
                <a:lnTo>
                  <a:pt x="75970" y="175260"/>
                </a:lnTo>
                <a:lnTo>
                  <a:pt x="75558" y="172983"/>
                </a:lnTo>
                <a:close/>
              </a:path>
              <a:path w="995679" h="207644">
                <a:moveTo>
                  <a:pt x="994156" y="0"/>
                </a:moveTo>
                <a:lnTo>
                  <a:pt x="74431" y="166755"/>
                </a:lnTo>
                <a:lnTo>
                  <a:pt x="75558" y="172983"/>
                </a:lnTo>
                <a:lnTo>
                  <a:pt x="995299" y="6350"/>
                </a:lnTo>
                <a:lnTo>
                  <a:pt x="9941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Limitações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932795" cy="4896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311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fazer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seleção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atributos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regressão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Ridge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modelo: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7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b="1" i="1" dirty="0">
                <a:latin typeface="Calibri"/>
                <a:cs typeface="Calibri"/>
              </a:rPr>
              <a:t>Com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baixa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interpretabilidade</a:t>
            </a:r>
            <a:r>
              <a:rPr sz="2200" spc="-10" dirty="0">
                <a:latin typeface="Calibri"/>
                <a:cs typeface="Calibri"/>
              </a:rPr>
              <a:t>: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não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consegue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determinar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quais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atributos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são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não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são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360"/>
              </a:lnSpc>
            </a:pPr>
            <a:r>
              <a:rPr sz="2200" spc="-10" dirty="0">
                <a:latin typeface="Calibri"/>
                <a:cs typeface="Calibri"/>
              </a:rPr>
              <a:t>importantes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predição.</a:t>
            </a:r>
            <a:endParaRPr sz="22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b="1" i="1" spc="-10" dirty="0">
                <a:latin typeface="Calibri"/>
                <a:cs typeface="Calibri"/>
              </a:rPr>
              <a:t>Complexo</a:t>
            </a:r>
            <a:r>
              <a:rPr sz="2200" spc="-10" dirty="0">
                <a:latin typeface="Calibri"/>
                <a:cs typeface="Calibri"/>
              </a:rPr>
              <a:t>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manter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todos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pesos</a:t>
            </a:r>
            <a:r>
              <a:rPr sz="2200" b="1" i="1" spc="-8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modelo,</a:t>
            </a:r>
            <a:r>
              <a:rPr sz="2200" b="1" i="1" spc="-8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necessita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uma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maior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quantidade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de </a:t>
            </a:r>
            <a:r>
              <a:rPr sz="2200" b="1" i="1" dirty="0">
                <a:latin typeface="Calibri"/>
                <a:cs typeface="Calibri"/>
              </a:rPr>
              <a:t>cálculos</a:t>
            </a:r>
            <a:r>
              <a:rPr sz="2200" b="1" i="1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realizar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predições,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tornando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computacionalmente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intensiva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quando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se</a:t>
            </a:r>
            <a:r>
              <a:rPr sz="2200" spc="5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lida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grande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número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atributos.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311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regressão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LASSO:</a:t>
            </a:r>
            <a:endParaRPr sz="2600" dirty="0">
              <a:latin typeface="Calibri"/>
              <a:cs typeface="Calibri"/>
            </a:endParaRPr>
          </a:p>
          <a:p>
            <a:pPr marL="698500" marR="38735" lvl="1" indent="-228600">
              <a:lnSpc>
                <a:spcPct val="80000"/>
              </a:lnSpc>
              <a:spcBef>
                <a:spcPts val="51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b="1" i="1" dirty="0">
                <a:latin typeface="Calibri"/>
                <a:cs typeface="Calibri"/>
              </a:rPr>
              <a:t>Pode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não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selecionar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melhor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atributo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quando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há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forte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correlação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positiva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dois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ou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atributos.</a:t>
            </a:r>
            <a:endParaRPr sz="2200" dirty="0">
              <a:latin typeface="Calibri"/>
              <a:cs typeface="Calibri"/>
            </a:endParaRPr>
          </a:p>
          <a:p>
            <a:pPr marL="698500" marR="34290" lvl="1" indent="-228600">
              <a:lnSpc>
                <a:spcPts val="2120"/>
              </a:lnSpc>
              <a:spcBef>
                <a:spcPts val="48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Se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fator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regularização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não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for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ideal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levar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modelo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muito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simples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não </a:t>
            </a:r>
            <a:r>
              <a:rPr sz="2200" dirty="0">
                <a:latin typeface="Calibri"/>
                <a:cs typeface="Calibri"/>
              </a:rPr>
              <a:t>inclui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todas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atributos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importantes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(devido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seleção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atributos).</a:t>
            </a:r>
            <a:endParaRPr sz="2200" dirty="0">
              <a:latin typeface="Calibri"/>
              <a:cs typeface="Calibri"/>
            </a:endParaRPr>
          </a:p>
          <a:p>
            <a:pPr marL="698500" marR="1736089" lvl="1" indent="-228600">
              <a:lnSpc>
                <a:spcPct val="80000"/>
              </a:lnSpc>
              <a:spcBef>
                <a:spcPts val="51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b="1" i="1" spc="-10" dirty="0">
                <a:latin typeface="Calibri"/>
                <a:cs typeface="Calibri"/>
              </a:rPr>
              <a:t>Numericamente</a:t>
            </a:r>
            <a:r>
              <a:rPr sz="2200" b="1" i="1" spc="-8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instável</a:t>
            </a:r>
            <a:r>
              <a:rPr sz="2200" b="1" i="1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valores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pequenos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fator</a:t>
            </a:r>
            <a:r>
              <a:rPr sz="2200" b="1" i="1" spc="-8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8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regularização, principalmente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para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casos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subdeterminados,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i.e.,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K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&gt;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N.</a:t>
            </a:r>
            <a:endParaRPr sz="2200" dirty="0">
              <a:latin typeface="Calibri"/>
              <a:cs typeface="Calibri"/>
            </a:endParaRPr>
          </a:p>
          <a:p>
            <a:pPr marL="241300" marR="1258570" indent="-228600">
              <a:lnSpc>
                <a:spcPts val="250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Nesses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casos,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 regressão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Elastic-</a:t>
            </a:r>
            <a:r>
              <a:rPr sz="2600" dirty="0">
                <a:latin typeface="Calibri"/>
                <a:cs typeface="Calibri"/>
              </a:rPr>
              <a:t>Net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indicada,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minimiza</a:t>
            </a:r>
            <a:r>
              <a:rPr sz="2600" spc="-25" dirty="0">
                <a:latin typeface="Calibri"/>
                <a:cs typeface="Calibri"/>
              </a:rPr>
              <a:t> as </a:t>
            </a:r>
            <a:r>
              <a:rPr sz="2600" dirty="0">
                <a:latin typeface="Calibri"/>
                <a:cs typeface="Calibri"/>
              </a:rPr>
              <a:t>limitações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regressões.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42976"/>
            <a:ext cx="2425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Elastic-</a:t>
            </a:r>
            <a:r>
              <a:rPr spc="-25" dirty="0"/>
              <a:t>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241931"/>
            <a:ext cx="10966450" cy="191950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447040" indent="-228600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i="1" spc="-10" dirty="0">
                <a:latin typeface="Calibri"/>
                <a:cs typeface="Calibri"/>
              </a:rPr>
              <a:t>Elastic-</a:t>
            </a:r>
            <a:r>
              <a:rPr sz="2600" b="1" i="1" dirty="0">
                <a:latin typeface="Calibri"/>
                <a:cs typeface="Calibri"/>
              </a:rPr>
              <a:t>net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regularização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combina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regressões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Ridge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LASSO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forma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resolver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limitações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ambas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Realiza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seleção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automática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atributos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regularização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simultaneamente.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combinação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linear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penalizações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 err="1">
                <a:latin typeface="Calibri"/>
                <a:cs typeface="Calibri"/>
              </a:rPr>
              <a:t>baseadas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 err="1">
                <a:latin typeface="Calibri"/>
                <a:cs typeface="Calibri"/>
              </a:rPr>
              <a:t>nas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normas</a:t>
            </a:r>
            <a:r>
              <a:rPr lang="pt-BR" sz="2600" spc="-1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L1</a:t>
            </a:r>
            <a:r>
              <a:rPr lang="pt-BR" sz="2600" spc="-1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L2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do</a:t>
            </a:r>
            <a:r>
              <a:rPr lang="pt-BR" sz="2600" spc="-1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vetor</a:t>
            </a:r>
            <a:r>
              <a:rPr lang="pt-BR" sz="2600" spc="-2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10" dirty="0">
                <a:latin typeface="Calibri"/>
                <a:cs typeface="Calibri"/>
              </a:rPr>
              <a:t> pesos.</a:t>
            </a:r>
            <a:endParaRPr lang="pt-BR" sz="26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4693536"/>
            <a:ext cx="11177270" cy="2088264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 marR="148590">
              <a:lnSpc>
                <a:spcPct val="70000"/>
              </a:lnSpc>
              <a:spcBef>
                <a:spcPts val="1040"/>
              </a:spcBef>
            </a:pPr>
            <a:r>
              <a:rPr sz="2600" dirty="0">
                <a:latin typeface="Calibri"/>
                <a:cs typeface="Calibri"/>
              </a:rPr>
              <a:t>onde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𝜅</a:t>
            </a:r>
            <a:r>
              <a:rPr sz="2600" spc="5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𝜖</a:t>
            </a:r>
            <a:r>
              <a:rPr sz="2600" spc="7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[0,</a:t>
            </a:r>
            <a:r>
              <a:rPr sz="2600" spc="-14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1]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fator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elasticidade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normas,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estabelece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relação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compromisso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entre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duas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normas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17576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𝜅</a:t>
            </a:r>
            <a:r>
              <a:rPr sz="2600" spc="7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0,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equivalente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regressão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Ridge,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𝜅</a:t>
            </a:r>
            <a:r>
              <a:rPr sz="2600" spc="70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é </a:t>
            </a:r>
            <a:r>
              <a:rPr sz="2600" dirty="0">
                <a:latin typeface="Calibri"/>
                <a:cs typeface="Calibri"/>
              </a:rPr>
              <a:t>equivalente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regressão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LASSO.</a:t>
            </a:r>
            <a:endParaRPr sz="2600" dirty="0">
              <a:latin typeface="Calibri"/>
              <a:cs typeface="Calibri"/>
            </a:endParaRPr>
          </a:p>
          <a:p>
            <a:pPr marL="241300" marR="101917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seleção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hiperparâmetros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𝜅</a:t>
            </a:r>
            <a:r>
              <a:rPr sz="2600" spc="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𝜆</a:t>
            </a:r>
            <a:r>
              <a:rPr sz="2600" spc="40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feita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meio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validação </a:t>
            </a:r>
            <a:r>
              <a:rPr sz="2600" b="1" i="1" spc="-10" dirty="0" err="1">
                <a:latin typeface="Calibri"/>
                <a:cs typeface="Calibri"/>
              </a:rPr>
              <a:t>cruzada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1086" y="137193"/>
            <a:ext cx="5239625" cy="206401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349867" y="618236"/>
            <a:ext cx="252539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hiperparâmetro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𝜅 </a:t>
            </a:r>
            <a:r>
              <a:rPr sz="1600" dirty="0">
                <a:latin typeface="Calibri"/>
                <a:cs typeface="Calibri"/>
              </a:rPr>
              <a:t>dita</a:t>
            </a:r>
            <a:r>
              <a:rPr sz="1600" spc="-50" dirty="0">
                <a:latin typeface="Calibri"/>
                <a:cs typeface="Calibri"/>
              </a:rPr>
              <a:t> a </a:t>
            </a:r>
            <a:r>
              <a:rPr sz="1600" dirty="0">
                <a:latin typeface="Calibri"/>
                <a:cs typeface="Calibri"/>
              </a:rPr>
              <a:t>relação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compromisso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entre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regularizações.</a:t>
            </a:r>
            <a:endParaRPr sz="16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784A078A-9E53-BDBA-E04F-7F8589DC7363}"/>
                  </a:ext>
                </a:extLst>
              </p:cNvPr>
              <p:cNvSpPr txBox="1"/>
              <p:nvPr/>
            </p:nvSpPr>
            <p:spPr>
              <a:xfrm>
                <a:off x="2973328" y="4025016"/>
                <a:ext cx="7295139" cy="6231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pt-BR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𝝓</m:t>
                                      </m:r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pt-BR" sz="2800" spc="-50" dirty="0" smtClean="0">
                                      <a:latin typeface="Cambria Math"/>
                                      <a:cs typeface="Cambria Math"/>
                                    </a:rPr>
                                    <m:t>𝜅</m:t>
                                  </m:r>
                                  <m:sSub>
                                    <m:sSubPr>
                                      <m:ctrlPr>
                                        <a:rPr lang="pt-BR" sz="2800" b="0" i="1" spc="-5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pt-BR" sz="2800" i="1" spc="-50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1" i="1" spc="-50" dirty="0" smtClean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pt-BR" sz="28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pt-BR" sz="2800" b="0" i="1" spc="-5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pt-BR" sz="28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pt-BR" sz="2800" spc="-50" dirty="0" smtClean="0">
                                          <a:latin typeface="Cambria Math"/>
                                          <a:cs typeface="Cambria Math"/>
                                        </a:rPr>
                                        <m:t>𝜅</m:t>
                                      </m:r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pt-BR" sz="2800" b="0" i="1" spc="-5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800" b="1" i="1" spc="-50" dirty="0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pt-BR" sz="28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pt-BR" sz="28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</m:fun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784A078A-9E53-BDBA-E04F-7F8589DC7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328" y="4025016"/>
                <a:ext cx="7295139" cy="6231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0C6C1327-CE19-57D6-BA7C-6EC395339466}"/>
              </a:ext>
            </a:extLst>
          </p:cNvPr>
          <p:cNvSpPr txBox="1"/>
          <p:nvPr/>
        </p:nvSpPr>
        <p:spPr>
          <a:xfrm>
            <a:off x="6000709" y="6412468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35"/>
              </a:spcBef>
            </a:pPr>
            <a:r>
              <a:rPr lang="pt-BR"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Exemplo:</a:t>
            </a:r>
            <a:r>
              <a:rPr lang="pt-BR" sz="1800" u="sng" spc="-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lang="pt-BR" sz="1800" u="sng" spc="-10" dirty="0" err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elastic_net_regression.ipynb</a:t>
            </a:r>
            <a:endParaRPr lang="pt-BR"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99720"/>
            <a:ext cx="89173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Quando</a:t>
            </a:r>
            <a:r>
              <a:rPr spc="-45" dirty="0"/>
              <a:t> </a:t>
            </a:r>
            <a:r>
              <a:rPr dirty="0"/>
              <a:t>utilizar</a:t>
            </a:r>
            <a:r>
              <a:rPr spc="-25" dirty="0"/>
              <a:t> </a:t>
            </a:r>
            <a:r>
              <a:rPr dirty="0"/>
              <a:t>cada</a:t>
            </a:r>
            <a:r>
              <a:rPr spc="-30" dirty="0"/>
              <a:t> </a:t>
            </a:r>
            <a:r>
              <a:rPr dirty="0"/>
              <a:t>tipo</a:t>
            </a:r>
            <a:r>
              <a:rPr spc="-1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spc="-10" dirty="0"/>
              <a:t>regressão?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26896"/>
            <a:ext cx="10897235" cy="553275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37465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Regressão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Ridge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começo.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entanto,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você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suspeitar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apenas </a:t>
            </a:r>
            <a:r>
              <a:rPr sz="2600" dirty="0">
                <a:latin typeface="Calibri"/>
                <a:cs typeface="Calibri"/>
              </a:rPr>
              <a:t>alguns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realmente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úteis,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você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preferir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LASSO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Elastic-</a:t>
            </a:r>
            <a:r>
              <a:rPr sz="2600" spc="-20" dirty="0">
                <a:latin typeface="Calibri"/>
                <a:cs typeface="Calibri"/>
              </a:rPr>
              <a:t>Net.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Regressão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LASSO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seleção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automática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atributos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11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No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entanto,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comportar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erraticamente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número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atributos,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K,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for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maior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que </a:t>
            </a:r>
            <a:r>
              <a:rPr sz="2200" b="1" i="1" dirty="0">
                <a:latin typeface="Calibri"/>
                <a:cs typeface="Calibri"/>
              </a:rPr>
              <a:t>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número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spc="-20" dirty="0">
                <a:latin typeface="Calibri"/>
                <a:cs typeface="Calibri"/>
              </a:rPr>
              <a:t>exemplos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spc="-20" dirty="0">
                <a:latin typeface="Calibri"/>
                <a:cs typeface="Calibri"/>
              </a:rPr>
              <a:t>treinamento,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.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Nesse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caso,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encontra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máximo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pesos diferentes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zero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mesmo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K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atributos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sejam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relevantes.</a:t>
            </a:r>
            <a:endParaRPr sz="2200" dirty="0">
              <a:latin typeface="Calibri"/>
              <a:cs typeface="Calibri"/>
            </a:endParaRPr>
          </a:p>
          <a:p>
            <a:pPr marL="698500" marR="394335" lvl="1" indent="-228600">
              <a:lnSpc>
                <a:spcPts val="211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Se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houverem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atributos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fortemente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correlacionados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entre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si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seleciona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um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deles aleatoriamente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ignora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os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demais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não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interpretação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modelo.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2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Nestes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casos,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deve-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regressão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Elastic-Net.</a:t>
            </a:r>
            <a:endParaRPr sz="2200" dirty="0">
              <a:latin typeface="Calibri"/>
              <a:cs typeface="Calibri"/>
            </a:endParaRPr>
          </a:p>
          <a:p>
            <a:pPr marL="241300" marR="1108710" indent="-228600" algn="just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Regressão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Elastic-</a:t>
            </a:r>
            <a:r>
              <a:rPr sz="2600" b="1" dirty="0">
                <a:latin typeface="Calibri"/>
                <a:cs typeface="Calibri"/>
              </a:rPr>
              <a:t>Net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versátil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anteriores,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fator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elasticidade,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𝜅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ajustado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relação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compromisso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normas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L1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 L2.</a:t>
            </a:r>
            <a:endParaRPr sz="2600" dirty="0">
              <a:latin typeface="Calibri"/>
              <a:cs typeface="Calibri"/>
            </a:endParaRPr>
          </a:p>
          <a:p>
            <a:pPr marL="698500" marR="371475" lvl="1" indent="-228600">
              <a:lnSpc>
                <a:spcPct val="8010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Quando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há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vários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atributos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correlacionados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regressão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LASSO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provavelmente escolherá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deles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aleatoriamente,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enquanto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Elastic-</a:t>
            </a:r>
            <a:r>
              <a:rPr sz="2200" dirty="0">
                <a:latin typeface="Calibri"/>
                <a:cs typeface="Calibri"/>
              </a:rPr>
              <a:t>Net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provavelmente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escolherá </a:t>
            </a:r>
            <a:r>
              <a:rPr sz="2200" b="1" i="1" dirty="0">
                <a:latin typeface="Calibri"/>
                <a:cs typeface="Calibri"/>
              </a:rPr>
              <a:t>todos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facilitando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spc="-20" dirty="0">
                <a:latin typeface="Calibri"/>
                <a:cs typeface="Calibri"/>
              </a:rPr>
              <a:t>interpretação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do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modelo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419734" lvl="1" indent="-228600">
              <a:lnSpc>
                <a:spcPct val="8000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Uma</a:t>
            </a:r>
            <a:r>
              <a:rPr sz="2200" spc="-20" dirty="0">
                <a:latin typeface="Calibri"/>
                <a:cs typeface="Calibri"/>
              </a:rPr>
              <a:t> proporção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50%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(i.e.,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𝜅</a:t>
            </a:r>
            <a:r>
              <a:rPr sz="2200" spc="13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8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0.5</a:t>
            </a:r>
            <a:r>
              <a:rPr sz="2200" dirty="0">
                <a:latin typeface="Calibri"/>
                <a:cs typeface="Calibri"/>
              </a:rPr>
              <a:t>)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penalizações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L1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L2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escolha </a:t>
            </a:r>
            <a:r>
              <a:rPr sz="2200" dirty="0">
                <a:latin typeface="Calibri"/>
                <a:cs typeface="Calibri"/>
              </a:rPr>
              <a:t>inicial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esse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parâmetro.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Early-</a:t>
            </a:r>
            <a:r>
              <a:rPr dirty="0"/>
              <a:t>stopping:</a:t>
            </a:r>
            <a:r>
              <a:rPr spc="-185" dirty="0"/>
              <a:t> </a:t>
            </a:r>
            <a:r>
              <a:rPr dirty="0"/>
              <a:t>Parada</a:t>
            </a:r>
            <a:r>
              <a:rPr spc="-145" dirty="0"/>
              <a:t> </a:t>
            </a:r>
            <a:r>
              <a:rPr spc="-10" dirty="0"/>
              <a:t>antecipada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10570845" cy="470662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266065" indent="-228600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descendente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tende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aprender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vez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complexos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medida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número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épocas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aumenta.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Ou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seja,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sobreajusta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conjunto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treinamento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longo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tempo.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Uma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regularizar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aprendizado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iterativo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</a:t>
            </a:r>
            <a:endParaRPr sz="2600" dirty="0">
              <a:latin typeface="Calibri"/>
              <a:cs typeface="Calibri"/>
            </a:endParaRPr>
          </a:p>
          <a:p>
            <a:pPr marL="241300" marR="163830">
              <a:lnSpc>
                <a:spcPct val="70000"/>
              </a:lnSpc>
              <a:spcBef>
                <a:spcPts val="470"/>
              </a:spcBef>
            </a:pP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descendente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interromper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seu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assim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 </a:t>
            </a:r>
            <a:r>
              <a:rPr sz="2600" b="1" i="1" dirty="0">
                <a:latin typeface="Calibri"/>
                <a:cs typeface="Calibri"/>
              </a:rPr>
              <a:t>validação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comece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crescer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sistematicamente.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Essa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abordagem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chamada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early-</a:t>
            </a:r>
            <a:r>
              <a:rPr sz="2600" b="1" i="1" dirty="0">
                <a:latin typeface="Calibri"/>
                <a:cs typeface="Calibri"/>
              </a:rPr>
              <a:t>stopping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vista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25" dirty="0">
                <a:latin typeface="Calibri"/>
                <a:cs typeface="Calibri"/>
              </a:rPr>
              <a:t> uma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650"/>
              </a:lnSpc>
            </a:pPr>
            <a:r>
              <a:rPr sz="2600" b="1" i="1" dirty="0">
                <a:latin typeface="Calibri"/>
                <a:cs typeface="Calibri"/>
              </a:rPr>
              <a:t>regularização</a:t>
            </a:r>
            <a:r>
              <a:rPr sz="2600" b="1" i="1" spc="-7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temporal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Assim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outras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abordagens,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objetivo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evitar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sobreajuste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650"/>
              </a:lnSpc>
            </a:pPr>
            <a:r>
              <a:rPr sz="2600" dirty="0">
                <a:latin typeface="Calibri"/>
                <a:cs typeface="Calibri"/>
              </a:rPr>
              <a:t>de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modelo.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regularizar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tempo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complexidade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controlada, </a:t>
            </a:r>
            <a:r>
              <a:rPr sz="2600" dirty="0">
                <a:latin typeface="Calibri"/>
                <a:cs typeface="Calibri"/>
              </a:rPr>
              <a:t>melhorando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generalização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Mas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saber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interromper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treinamento?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50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Ou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seja,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qual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critério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parada?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1139" y="79587"/>
            <a:ext cx="2750223" cy="1725251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Early-</a:t>
            </a:r>
            <a:r>
              <a:rPr dirty="0"/>
              <a:t>stopping:</a:t>
            </a:r>
            <a:r>
              <a:rPr spc="-85" dirty="0"/>
              <a:t> </a:t>
            </a:r>
            <a:r>
              <a:rPr dirty="0"/>
              <a:t>critério</a:t>
            </a:r>
            <a:r>
              <a:rPr spc="-6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10" dirty="0"/>
              <a:t>parada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1167"/>
            <a:ext cx="10680700" cy="472567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Existem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estratégias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critério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parada:</a:t>
            </a:r>
            <a:endParaRPr sz="2800" dirty="0">
              <a:latin typeface="Calibri"/>
              <a:cs typeface="Calibri"/>
            </a:endParaRPr>
          </a:p>
          <a:p>
            <a:pPr marL="698500" marR="8890" lvl="1" indent="-228600">
              <a:lnSpc>
                <a:spcPts val="3020"/>
              </a:lnSpc>
              <a:spcBef>
                <a:spcPts val="555"/>
              </a:spcBef>
              <a:buFont typeface="Wingdings"/>
              <a:buChar char=""/>
              <a:tabLst>
                <a:tab pos="699135" algn="l"/>
              </a:tabLst>
            </a:pPr>
            <a:r>
              <a:rPr sz="2800" spc="-20" dirty="0">
                <a:latin typeface="Calibri"/>
                <a:cs typeface="Calibri"/>
              </a:rPr>
              <a:t>Interromper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validação </a:t>
            </a:r>
            <a:r>
              <a:rPr sz="2800" spc="-10" dirty="0">
                <a:latin typeface="Calibri"/>
                <a:cs typeface="Calibri"/>
              </a:rPr>
              <a:t>aumentar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épocas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sucessivas,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parâmetro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paciência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1155700" marR="256540" lvl="2" indent="-228600">
              <a:lnSpc>
                <a:spcPct val="90000"/>
              </a:lnSpc>
              <a:spcBef>
                <a:spcPts val="495"/>
              </a:spcBef>
              <a:buFont typeface="Courier New"/>
              <a:buChar char="o"/>
              <a:tabLst>
                <a:tab pos="1156335" algn="l"/>
              </a:tabLst>
            </a:pPr>
            <a:r>
              <a:rPr sz="2400" b="1" dirty="0">
                <a:latin typeface="Calibri"/>
                <a:cs typeface="Calibri"/>
              </a:rPr>
              <a:t>Problema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validação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oscilar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bastante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SGD)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e </a:t>
            </a:r>
            <a:r>
              <a:rPr sz="2400" dirty="0">
                <a:latin typeface="Calibri"/>
                <a:cs typeface="Calibri"/>
              </a:rPr>
              <a:t>apresentar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comportamento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pouco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previsível,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sempre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fácil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se </a:t>
            </a:r>
            <a:r>
              <a:rPr sz="2400" dirty="0">
                <a:latin typeface="Calibri"/>
                <a:cs typeface="Calibri"/>
              </a:rPr>
              <a:t>desenvolver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detectores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automáticos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encerrar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treinamento.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90000"/>
              </a:lnSpc>
              <a:spcBef>
                <a:spcPts val="465"/>
              </a:spcBef>
              <a:buFont typeface="Wingdings"/>
              <a:buChar char=""/>
              <a:tabLst>
                <a:tab pos="699135" algn="l"/>
              </a:tabLst>
            </a:pPr>
            <a:r>
              <a:rPr sz="2800" dirty="0">
                <a:latin typeface="Calibri"/>
                <a:cs typeface="Calibri"/>
              </a:rPr>
              <a:t>Outra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estratégia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permitir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prossiga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spc="-10" dirty="0">
                <a:latin typeface="Calibri"/>
                <a:cs typeface="Calibri"/>
              </a:rPr>
              <a:t>determinado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épocas,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sempre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armazenando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 </a:t>
            </a:r>
            <a:r>
              <a:rPr sz="2800" dirty="0">
                <a:latin typeface="Calibri"/>
                <a:cs typeface="Calibri"/>
              </a:rPr>
              <a:t>associados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menor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validação</a:t>
            </a:r>
            <a:r>
              <a:rPr sz="2800" dirty="0">
                <a:latin typeface="Calibri"/>
                <a:cs typeface="Calibri"/>
              </a:rPr>
              <a:t>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treinamento,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b="1" i="1" dirty="0">
                <a:latin typeface="Calibri"/>
                <a:cs typeface="Calibri"/>
              </a:rPr>
              <a:t>pesos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associados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menor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validação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considerados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 </a:t>
            </a:r>
            <a:r>
              <a:rPr sz="2800" spc="-10" dirty="0">
                <a:latin typeface="Calibri"/>
                <a:cs typeface="Calibri"/>
              </a:rPr>
              <a:t>realizar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predições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modelo.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58013"/>
            <a:ext cx="54082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Early-</a:t>
            </a:r>
            <a:r>
              <a:rPr dirty="0"/>
              <a:t>stopping:</a:t>
            </a:r>
            <a:r>
              <a:rPr spc="-145" dirty="0"/>
              <a:t> </a:t>
            </a:r>
            <a:r>
              <a:rPr spc="-1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74825"/>
            <a:ext cx="7192009" cy="1191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2245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figura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mostra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treinamento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validação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um</a:t>
            </a:r>
            <a:endParaRPr sz="2200" dirty="0">
              <a:latin typeface="Calibri"/>
              <a:cs typeface="Calibri"/>
            </a:endParaRPr>
          </a:p>
          <a:p>
            <a:pPr marL="241300" marR="5080">
              <a:lnSpc>
                <a:spcPct val="70000"/>
              </a:lnSpc>
              <a:spcBef>
                <a:spcPts val="395"/>
              </a:spcBef>
            </a:pPr>
            <a:r>
              <a:rPr sz="2200" dirty="0">
                <a:latin typeface="Calibri"/>
                <a:cs typeface="Calibri"/>
              </a:rPr>
              <a:t>modelo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regressão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polinomial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grau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igual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90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treinado </a:t>
            </a:r>
            <a:r>
              <a:rPr sz="2200" spc="-20" dirty="0">
                <a:latin typeface="Calibri"/>
                <a:cs typeface="Calibri"/>
              </a:rPr>
              <a:t>usando-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GDE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apenas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70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amostras.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função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observável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por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6200" y="2438996"/>
            <a:ext cx="1887600" cy="272180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2390"/>
              </a:lnSpc>
            </a:pPr>
            <a:endParaRPr sz="2400" baseline="27777" dirty="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0260" y="2869780"/>
            <a:ext cx="38354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2815" algn="l"/>
              </a:tabLst>
            </a:pPr>
            <a:r>
              <a:rPr sz="2200" dirty="0">
                <a:latin typeface="Calibri"/>
                <a:cs typeface="Calibri"/>
              </a:rPr>
              <a:t>onde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𝑥</a:t>
            </a:r>
            <a:r>
              <a:rPr sz="2200" spc="4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~</a:t>
            </a:r>
            <a:r>
              <a:rPr sz="2200" spc="-2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𝑈</a:t>
            </a:r>
            <a:r>
              <a:rPr lang="pt-BR" sz="2200" spc="434" dirty="0">
                <a:latin typeface="Cambria Math"/>
                <a:cs typeface="Cambria Math"/>
              </a:rPr>
              <a:t>(</a:t>
            </a:r>
            <a:r>
              <a:rPr sz="2200" spc="-20" dirty="0">
                <a:latin typeface="Cambria Math"/>
                <a:cs typeface="Cambria Math"/>
              </a:rPr>
              <a:t>−3,3</a:t>
            </a:r>
            <a:r>
              <a:rPr lang="pt-BR" sz="2200" spc="-20" dirty="0">
                <a:latin typeface="Cambria Math"/>
                <a:cs typeface="Cambria Math"/>
              </a:rPr>
              <a:t>)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𝑤</a:t>
            </a:r>
            <a:r>
              <a:rPr sz="2200" spc="5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~</a:t>
            </a:r>
            <a:r>
              <a:rPr sz="2200" spc="-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𝑁</a:t>
            </a:r>
            <a:r>
              <a:rPr lang="pt-BR" sz="2200" spc="455" dirty="0">
                <a:latin typeface="Cambria Math"/>
                <a:cs typeface="Cambria Math"/>
              </a:rPr>
              <a:t>(</a:t>
            </a:r>
            <a:r>
              <a:rPr sz="2200" dirty="0">
                <a:latin typeface="Cambria Math"/>
                <a:cs typeface="Cambria Math"/>
              </a:rPr>
              <a:t>0,1</a:t>
            </a:r>
            <a:r>
              <a:rPr lang="pt-BR" sz="2200" dirty="0">
                <a:latin typeface="Cambria Math"/>
                <a:cs typeface="Cambria Math"/>
              </a:rPr>
              <a:t>)</a:t>
            </a:r>
            <a:r>
              <a:rPr sz="2200" spc="395" dirty="0">
                <a:latin typeface="Cambria Math"/>
                <a:cs typeface="Cambria Math"/>
              </a:rPr>
              <a:t> </a:t>
            </a:r>
            <a:r>
              <a:rPr sz="2200" spc="-5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05309" y="2904363"/>
            <a:ext cx="120840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120"/>
              </a:spcBef>
            </a:pPr>
            <a:r>
              <a:rPr sz="1200" dirty="0" err="1">
                <a:latin typeface="Calibri"/>
                <a:cs typeface="Calibri"/>
              </a:rPr>
              <a:t>Função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verdadeira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3164839"/>
            <a:ext cx="7572375" cy="3449954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261620" indent="-228600">
              <a:lnSpc>
                <a:spcPct val="70000"/>
              </a:lnSpc>
              <a:spcBef>
                <a:spcPts val="8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ordem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do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modelo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é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muito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maior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do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que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ordem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da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função </a:t>
            </a:r>
            <a:r>
              <a:rPr sz="2200" b="1" i="1" dirty="0">
                <a:latin typeface="Calibri"/>
                <a:cs typeface="Calibri"/>
              </a:rPr>
              <a:t>verdadeira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(alta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flexibilidade),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além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maior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o </a:t>
            </a:r>
            <a:r>
              <a:rPr sz="2200" spc="-10" dirty="0">
                <a:latin typeface="Calibri"/>
                <a:cs typeface="Calibri"/>
              </a:rPr>
              <a:t>número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amostras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treinamento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(sobreajuste).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À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medida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épocas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passam,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algoritmo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aprende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seu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erro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treinamento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diminui,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juntamente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validação.</a:t>
            </a:r>
            <a:endParaRPr sz="2200" dirty="0">
              <a:latin typeface="Calibri"/>
              <a:cs typeface="Calibri"/>
            </a:endParaRPr>
          </a:p>
          <a:p>
            <a:pPr marL="241300" marR="71945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No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entanto,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após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aproximadamente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100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épocas,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validação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diminuir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começa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crescer.</a:t>
            </a:r>
            <a:endParaRPr sz="2200" dirty="0">
              <a:latin typeface="Calibri"/>
              <a:cs typeface="Calibri"/>
            </a:endParaRPr>
          </a:p>
          <a:p>
            <a:pPr marL="241300" marR="157480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Isso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indica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começou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sobreajustar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dados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treinamento.</a:t>
            </a:r>
            <a:endParaRPr sz="2200" dirty="0">
              <a:latin typeface="Calibri"/>
              <a:cs typeface="Calibri"/>
            </a:endParaRPr>
          </a:p>
          <a:p>
            <a:pPr marL="241300" marR="417195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Com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parada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antecipada,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usa-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pesos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resultaram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no </a:t>
            </a:r>
            <a:r>
              <a:rPr sz="2200" dirty="0">
                <a:latin typeface="Calibri"/>
                <a:cs typeface="Calibri"/>
              </a:rPr>
              <a:t>menor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erro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validação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longo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todo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treinamento, </a:t>
            </a:r>
            <a:r>
              <a:rPr sz="2200" spc="-20" dirty="0">
                <a:latin typeface="Calibri"/>
                <a:cs typeface="Calibri"/>
              </a:rPr>
              <a:t>garantindo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apresente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boa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generalização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10647" y="6540500"/>
            <a:ext cx="19316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200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early_stopping.ipynb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63288" y="703183"/>
            <a:ext cx="3594291" cy="241263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49585" y="3591038"/>
            <a:ext cx="3623304" cy="244894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4930394" y="2742310"/>
            <a:ext cx="843280" cy="295275"/>
          </a:xfrm>
          <a:custGeom>
            <a:avLst/>
            <a:gdLst/>
            <a:ahLst/>
            <a:cxnLst/>
            <a:rect l="l" t="t" r="r" b="b"/>
            <a:pathLst>
              <a:path w="843279" h="295275">
                <a:moveTo>
                  <a:pt x="766826" y="218693"/>
                </a:moveTo>
                <a:lnTo>
                  <a:pt x="766826" y="294893"/>
                </a:lnTo>
                <a:lnTo>
                  <a:pt x="836676" y="259968"/>
                </a:lnTo>
                <a:lnTo>
                  <a:pt x="779526" y="259968"/>
                </a:lnTo>
                <a:lnTo>
                  <a:pt x="779526" y="253618"/>
                </a:lnTo>
                <a:lnTo>
                  <a:pt x="836676" y="253618"/>
                </a:lnTo>
                <a:lnTo>
                  <a:pt x="766826" y="218693"/>
                </a:lnTo>
                <a:close/>
              </a:path>
              <a:path w="843279" h="295275">
                <a:moveTo>
                  <a:pt x="6350" y="0"/>
                </a:moveTo>
                <a:lnTo>
                  <a:pt x="0" y="0"/>
                </a:lnTo>
                <a:lnTo>
                  <a:pt x="0" y="259968"/>
                </a:lnTo>
                <a:lnTo>
                  <a:pt x="766826" y="259968"/>
                </a:lnTo>
                <a:lnTo>
                  <a:pt x="766826" y="256793"/>
                </a:lnTo>
                <a:lnTo>
                  <a:pt x="6350" y="256793"/>
                </a:lnTo>
                <a:lnTo>
                  <a:pt x="3175" y="253618"/>
                </a:lnTo>
                <a:lnTo>
                  <a:pt x="6350" y="253618"/>
                </a:lnTo>
                <a:lnTo>
                  <a:pt x="6350" y="0"/>
                </a:lnTo>
                <a:close/>
              </a:path>
              <a:path w="843279" h="295275">
                <a:moveTo>
                  <a:pt x="836676" y="253618"/>
                </a:moveTo>
                <a:lnTo>
                  <a:pt x="779526" y="253618"/>
                </a:lnTo>
                <a:lnTo>
                  <a:pt x="779526" y="259968"/>
                </a:lnTo>
                <a:lnTo>
                  <a:pt x="836676" y="259968"/>
                </a:lnTo>
                <a:lnTo>
                  <a:pt x="843026" y="256793"/>
                </a:lnTo>
                <a:lnTo>
                  <a:pt x="836676" y="253618"/>
                </a:lnTo>
                <a:close/>
              </a:path>
              <a:path w="843279" h="295275">
                <a:moveTo>
                  <a:pt x="6350" y="253618"/>
                </a:moveTo>
                <a:lnTo>
                  <a:pt x="3175" y="253618"/>
                </a:lnTo>
                <a:lnTo>
                  <a:pt x="6350" y="256793"/>
                </a:lnTo>
                <a:lnTo>
                  <a:pt x="6350" y="253618"/>
                </a:lnTo>
                <a:close/>
              </a:path>
              <a:path w="843279" h="295275">
                <a:moveTo>
                  <a:pt x="766826" y="253618"/>
                </a:moveTo>
                <a:lnTo>
                  <a:pt x="6350" y="253618"/>
                </a:lnTo>
                <a:lnTo>
                  <a:pt x="6350" y="256793"/>
                </a:lnTo>
                <a:lnTo>
                  <a:pt x="766826" y="256793"/>
                </a:lnTo>
                <a:lnTo>
                  <a:pt x="766826" y="25361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0B8A6E51-E41A-0D7D-E5D7-95CFEB44CF89}"/>
                  </a:ext>
                </a:extLst>
              </p:cNvPr>
              <p:cNvSpPr txBox="1"/>
              <p:nvPr/>
            </p:nvSpPr>
            <p:spPr>
              <a:xfrm>
                <a:off x="2654862" y="2398402"/>
                <a:ext cx="3763466" cy="4107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noisy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=2+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+0.5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0B8A6E51-E41A-0D7D-E5D7-95CFEB44C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862" y="2398402"/>
                <a:ext cx="3763466" cy="410753"/>
              </a:xfrm>
              <a:prstGeom prst="rect">
                <a:avLst/>
              </a:prstGeom>
              <a:blipFill>
                <a:blip r:embed="rId5"/>
                <a:stretch>
                  <a:fillRect l="-1297" b="-235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3267" y="2616530"/>
            <a:ext cx="340296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Obrigado!</a:t>
            </a:r>
            <a:endParaRPr sz="66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516001"/>
            <a:ext cx="2451100" cy="29002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2007" y="516001"/>
            <a:ext cx="2458592" cy="3898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12406" y="515873"/>
            <a:ext cx="3460750" cy="211264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0975" y="3603244"/>
            <a:ext cx="2689225" cy="162331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69785" y="2881376"/>
            <a:ext cx="2397505" cy="239750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34245" y="3115398"/>
            <a:ext cx="2598928" cy="259892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91560" y="4584268"/>
            <a:ext cx="3311144" cy="1815464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7582" y="2739593"/>
            <a:ext cx="1992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FIGURAS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3883" y="3633660"/>
            <a:ext cx="4371975" cy="200027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005323" y="3181604"/>
            <a:ext cx="4889500" cy="2670810"/>
            <a:chOff x="5005323" y="3181604"/>
            <a:chExt cx="4889500" cy="2670810"/>
          </a:xfrm>
        </p:grpSpPr>
        <p:sp>
          <p:nvSpPr>
            <p:cNvPr id="4" name="object 4"/>
            <p:cNvSpPr/>
            <p:nvPr/>
          </p:nvSpPr>
          <p:spPr>
            <a:xfrm>
              <a:off x="5005324" y="3181603"/>
              <a:ext cx="4889500" cy="2670810"/>
            </a:xfrm>
            <a:custGeom>
              <a:avLst/>
              <a:gdLst/>
              <a:ahLst/>
              <a:cxnLst/>
              <a:rect l="l" t="t" r="r" b="b"/>
              <a:pathLst>
                <a:path w="4889500" h="2670810">
                  <a:moveTo>
                    <a:pt x="4889119" y="2627820"/>
                  </a:moveTo>
                  <a:lnTo>
                    <a:pt x="4860544" y="2613533"/>
                  </a:lnTo>
                  <a:lnTo>
                    <a:pt x="4803394" y="2584958"/>
                  </a:lnTo>
                  <a:lnTo>
                    <a:pt x="4803394" y="2613533"/>
                  </a:lnTo>
                  <a:lnTo>
                    <a:pt x="57150" y="2613533"/>
                  </a:lnTo>
                  <a:lnTo>
                    <a:pt x="57150" y="85725"/>
                  </a:lnTo>
                  <a:lnTo>
                    <a:pt x="85725" y="85725"/>
                  </a:lnTo>
                  <a:lnTo>
                    <a:pt x="78613" y="71501"/>
                  </a:lnTo>
                  <a:lnTo>
                    <a:pt x="42926" y="0"/>
                  </a:lnTo>
                  <a:lnTo>
                    <a:pt x="0" y="85725"/>
                  </a:lnTo>
                  <a:lnTo>
                    <a:pt x="28575" y="85725"/>
                  </a:lnTo>
                  <a:lnTo>
                    <a:pt x="28575" y="2628011"/>
                  </a:lnTo>
                  <a:lnTo>
                    <a:pt x="29083" y="2628011"/>
                  </a:lnTo>
                  <a:lnTo>
                    <a:pt x="29083" y="2642108"/>
                  </a:lnTo>
                  <a:lnTo>
                    <a:pt x="4803394" y="2642108"/>
                  </a:lnTo>
                  <a:lnTo>
                    <a:pt x="4803394" y="2670683"/>
                  </a:lnTo>
                  <a:lnTo>
                    <a:pt x="4860544" y="2642108"/>
                  </a:lnTo>
                  <a:lnTo>
                    <a:pt x="4889119" y="26278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84849" y="5282564"/>
              <a:ext cx="1200150" cy="540385"/>
            </a:xfrm>
            <a:custGeom>
              <a:avLst/>
              <a:gdLst/>
              <a:ahLst/>
              <a:cxnLst/>
              <a:rect l="l" t="t" r="r" b="b"/>
              <a:pathLst>
                <a:path w="1200150" h="540385">
                  <a:moveTo>
                    <a:pt x="0" y="0"/>
                  </a:moveTo>
                  <a:lnTo>
                    <a:pt x="0" y="540004"/>
                  </a:lnTo>
                </a:path>
                <a:path w="1200150" h="540385">
                  <a:moveTo>
                    <a:pt x="1200150" y="337718"/>
                  </a:moveTo>
                  <a:lnTo>
                    <a:pt x="1200150" y="517728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5700" y="5209158"/>
              <a:ext cx="98425" cy="11417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152897" y="3109721"/>
            <a:ext cx="588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09996" y="5851956"/>
            <a:ext cx="9544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mínimo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local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0650" y="5834888"/>
            <a:ext cx="10579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mínimo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global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926326" y="5552059"/>
            <a:ext cx="98425" cy="114300"/>
            <a:chOff x="6926326" y="5552059"/>
            <a:chExt cx="98425" cy="114300"/>
          </a:xfrm>
        </p:grpSpPr>
        <p:sp>
          <p:nvSpPr>
            <p:cNvPr id="11" name="object 11"/>
            <p:cNvSpPr/>
            <p:nvPr/>
          </p:nvSpPr>
          <p:spPr>
            <a:xfrm>
              <a:off x="6932676" y="5558409"/>
              <a:ext cx="85725" cy="101600"/>
            </a:xfrm>
            <a:custGeom>
              <a:avLst/>
              <a:gdLst/>
              <a:ahLst/>
              <a:cxnLst/>
              <a:rect l="l" t="t" r="r" b="b"/>
              <a:pathLst>
                <a:path w="85725" h="101600">
                  <a:moveTo>
                    <a:pt x="42799" y="0"/>
                  </a:moveTo>
                  <a:lnTo>
                    <a:pt x="26146" y="3989"/>
                  </a:lnTo>
                  <a:lnTo>
                    <a:pt x="12541" y="14865"/>
                  </a:lnTo>
                  <a:lnTo>
                    <a:pt x="3365" y="30989"/>
                  </a:lnTo>
                  <a:lnTo>
                    <a:pt x="0" y="50723"/>
                  </a:lnTo>
                  <a:lnTo>
                    <a:pt x="3365" y="70480"/>
                  </a:lnTo>
                  <a:lnTo>
                    <a:pt x="12541" y="86615"/>
                  </a:lnTo>
                  <a:lnTo>
                    <a:pt x="26146" y="97495"/>
                  </a:lnTo>
                  <a:lnTo>
                    <a:pt x="42799" y="101485"/>
                  </a:lnTo>
                  <a:lnTo>
                    <a:pt x="59525" y="97495"/>
                  </a:lnTo>
                  <a:lnTo>
                    <a:pt x="73167" y="86615"/>
                  </a:lnTo>
                  <a:lnTo>
                    <a:pt x="82357" y="70480"/>
                  </a:lnTo>
                  <a:lnTo>
                    <a:pt x="85725" y="50723"/>
                  </a:lnTo>
                  <a:lnTo>
                    <a:pt x="82357" y="30989"/>
                  </a:lnTo>
                  <a:lnTo>
                    <a:pt x="73167" y="14865"/>
                  </a:lnTo>
                  <a:lnTo>
                    <a:pt x="59525" y="3989"/>
                  </a:lnTo>
                  <a:lnTo>
                    <a:pt x="4279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32676" y="5558409"/>
              <a:ext cx="85725" cy="101600"/>
            </a:xfrm>
            <a:custGeom>
              <a:avLst/>
              <a:gdLst/>
              <a:ahLst/>
              <a:cxnLst/>
              <a:rect l="l" t="t" r="r" b="b"/>
              <a:pathLst>
                <a:path w="85725" h="101600">
                  <a:moveTo>
                    <a:pt x="0" y="50723"/>
                  </a:moveTo>
                  <a:lnTo>
                    <a:pt x="3365" y="30989"/>
                  </a:lnTo>
                  <a:lnTo>
                    <a:pt x="12541" y="14865"/>
                  </a:lnTo>
                  <a:lnTo>
                    <a:pt x="26146" y="3989"/>
                  </a:lnTo>
                  <a:lnTo>
                    <a:pt x="42799" y="0"/>
                  </a:lnTo>
                  <a:lnTo>
                    <a:pt x="59525" y="3989"/>
                  </a:lnTo>
                  <a:lnTo>
                    <a:pt x="73167" y="14865"/>
                  </a:lnTo>
                  <a:lnTo>
                    <a:pt x="82357" y="30989"/>
                  </a:lnTo>
                  <a:lnTo>
                    <a:pt x="85725" y="50723"/>
                  </a:lnTo>
                  <a:lnTo>
                    <a:pt x="82357" y="70480"/>
                  </a:lnTo>
                  <a:lnTo>
                    <a:pt x="73167" y="86615"/>
                  </a:lnTo>
                  <a:lnTo>
                    <a:pt x="59525" y="97495"/>
                  </a:lnTo>
                  <a:lnTo>
                    <a:pt x="42799" y="101485"/>
                  </a:lnTo>
                  <a:lnTo>
                    <a:pt x="26146" y="97495"/>
                  </a:lnTo>
                  <a:lnTo>
                    <a:pt x="12541" y="86615"/>
                  </a:lnTo>
                  <a:lnTo>
                    <a:pt x="3365" y="70480"/>
                  </a:lnTo>
                  <a:lnTo>
                    <a:pt x="0" y="50723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811894" y="4994528"/>
            <a:ext cx="1297305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platô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800" spc="-50" dirty="0">
                <a:latin typeface="Cambria Math"/>
                <a:cs typeface="Cambria Math"/>
              </a:rPr>
              <a:t>𝒂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034" y="2427097"/>
            <a:ext cx="2819400" cy="4144645"/>
            <a:chOff x="1219034" y="2427097"/>
            <a:chExt cx="2819400" cy="4144645"/>
          </a:xfrm>
        </p:grpSpPr>
        <p:sp>
          <p:nvSpPr>
            <p:cNvPr id="3" name="object 3"/>
            <p:cNvSpPr/>
            <p:nvPr/>
          </p:nvSpPr>
          <p:spPr>
            <a:xfrm>
              <a:off x="1294510" y="2497582"/>
              <a:ext cx="2661920" cy="3912235"/>
            </a:xfrm>
            <a:custGeom>
              <a:avLst/>
              <a:gdLst/>
              <a:ahLst/>
              <a:cxnLst/>
              <a:rect l="l" t="t" r="r" b="b"/>
              <a:pathLst>
                <a:path w="2661920" h="3912235">
                  <a:moveTo>
                    <a:pt x="0" y="1955799"/>
                  </a:moveTo>
                  <a:lnTo>
                    <a:pt x="547" y="1899143"/>
                  </a:lnTo>
                  <a:lnTo>
                    <a:pt x="2180" y="1842885"/>
                  </a:lnTo>
                  <a:lnTo>
                    <a:pt x="4884" y="1787049"/>
                  </a:lnTo>
                  <a:lnTo>
                    <a:pt x="8643" y="1731655"/>
                  </a:lnTo>
                  <a:lnTo>
                    <a:pt x="13444" y="1676726"/>
                  </a:lnTo>
                  <a:lnTo>
                    <a:pt x="19271" y="1622284"/>
                  </a:lnTo>
                  <a:lnTo>
                    <a:pt x="26109" y="1568349"/>
                  </a:lnTo>
                  <a:lnTo>
                    <a:pt x="33944" y="1514945"/>
                  </a:lnTo>
                  <a:lnTo>
                    <a:pt x="42760" y="1462091"/>
                  </a:lnTo>
                  <a:lnTo>
                    <a:pt x="52544" y="1409812"/>
                  </a:lnTo>
                  <a:lnTo>
                    <a:pt x="63280" y="1358127"/>
                  </a:lnTo>
                  <a:lnTo>
                    <a:pt x="74954" y="1307059"/>
                  </a:lnTo>
                  <a:lnTo>
                    <a:pt x="87550" y="1256629"/>
                  </a:lnTo>
                  <a:lnTo>
                    <a:pt x="101054" y="1206860"/>
                  </a:lnTo>
                  <a:lnTo>
                    <a:pt x="115451" y="1157773"/>
                  </a:lnTo>
                  <a:lnTo>
                    <a:pt x="130727" y="1109390"/>
                  </a:lnTo>
                  <a:lnTo>
                    <a:pt x="146866" y="1061732"/>
                  </a:lnTo>
                  <a:lnTo>
                    <a:pt x="163854" y="1014822"/>
                  </a:lnTo>
                  <a:lnTo>
                    <a:pt x="181675" y="968680"/>
                  </a:lnTo>
                  <a:lnTo>
                    <a:pt x="200316" y="923330"/>
                  </a:lnTo>
                  <a:lnTo>
                    <a:pt x="219761" y="878791"/>
                  </a:lnTo>
                  <a:lnTo>
                    <a:pt x="239996" y="835087"/>
                  </a:lnTo>
                  <a:lnTo>
                    <a:pt x="261006" y="792240"/>
                  </a:lnTo>
                  <a:lnTo>
                    <a:pt x="282775" y="750269"/>
                  </a:lnTo>
                  <a:lnTo>
                    <a:pt x="305290" y="709199"/>
                  </a:lnTo>
                  <a:lnTo>
                    <a:pt x="328535" y="669049"/>
                  </a:lnTo>
                  <a:lnTo>
                    <a:pt x="352496" y="629843"/>
                  </a:lnTo>
                  <a:lnTo>
                    <a:pt x="377158" y="591601"/>
                  </a:lnTo>
                  <a:lnTo>
                    <a:pt x="402505" y="554346"/>
                  </a:lnTo>
                  <a:lnTo>
                    <a:pt x="428524" y="518099"/>
                  </a:lnTo>
                  <a:lnTo>
                    <a:pt x="455199" y="482882"/>
                  </a:lnTo>
                  <a:lnTo>
                    <a:pt x="482516" y="448717"/>
                  </a:lnTo>
                  <a:lnTo>
                    <a:pt x="510460" y="415625"/>
                  </a:lnTo>
                  <a:lnTo>
                    <a:pt x="539016" y="383628"/>
                  </a:lnTo>
                  <a:lnTo>
                    <a:pt x="568169" y="352749"/>
                  </a:lnTo>
                  <a:lnTo>
                    <a:pt x="597904" y="323008"/>
                  </a:lnTo>
                  <a:lnTo>
                    <a:pt x="628208" y="294427"/>
                  </a:lnTo>
                  <a:lnTo>
                    <a:pt x="659064" y="267029"/>
                  </a:lnTo>
                  <a:lnTo>
                    <a:pt x="690458" y="240834"/>
                  </a:lnTo>
                  <a:lnTo>
                    <a:pt x="722375" y="215866"/>
                  </a:lnTo>
                  <a:lnTo>
                    <a:pt x="754801" y="192144"/>
                  </a:lnTo>
                  <a:lnTo>
                    <a:pt x="787721" y="169692"/>
                  </a:lnTo>
                  <a:lnTo>
                    <a:pt x="821120" y="148531"/>
                  </a:lnTo>
                  <a:lnTo>
                    <a:pt x="854983" y="128683"/>
                  </a:lnTo>
                  <a:lnTo>
                    <a:pt x="889295" y="110169"/>
                  </a:lnTo>
                  <a:lnTo>
                    <a:pt x="924042" y="93011"/>
                  </a:lnTo>
                  <a:lnTo>
                    <a:pt x="959208" y="77231"/>
                  </a:lnTo>
                  <a:lnTo>
                    <a:pt x="994779" y="62850"/>
                  </a:lnTo>
                  <a:lnTo>
                    <a:pt x="1030741" y="49891"/>
                  </a:lnTo>
                  <a:lnTo>
                    <a:pt x="1067078" y="38376"/>
                  </a:lnTo>
                  <a:lnTo>
                    <a:pt x="1140819" y="19760"/>
                  </a:lnTo>
                  <a:lnTo>
                    <a:pt x="1215884" y="7179"/>
                  </a:lnTo>
                  <a:lnTo>
                    <a:pt x="1253876" y="3205"/>
                  </a:lnTo>
                  <a:lnTo>
                    <a:pt x="1292155" y="804"/>
                  </a:lnTo>
                  <a:lnTo>
                    <a:pt x="1330706" y="0"/>
                  </a:lnTo>
                  <a:lnTo>
                    <a:pt x="1369256" y="804"/>
                  </a:lnTo>
                  <a:lnTo>
                    <a:pt x="1407535" y="3205"/>
                  </a:lnTo>
                  <a:lnTo>
                    <a:pt x="1445527" y="7179"/>
                  </a:lnTo>
                  <a:lnTo>
                    <a:pt x="1520592" y="19760"/>
                  </a:lnTo>
                  <a:lnTo>
                    <a:pt x="1594333" y="38376"/>
                  </a:lnTo>
                  <a:lnTo>
                    <a:pt x="1630670" y="49891"/>
                  </a:lnTo>
                  <a:lnTo>
                    <a:pt x="1666632" y="62850"/>
                  </a:lnTo>
                  <a:lnTo>
                    <a:pt x="1702203" y="77231"/>
                  </a:lnTo>
                  <a:lnTo>
                    <a:pt x="1737369" y="93011"/>
                  </a:lnTo>
                  <a:lnTo>
                    <a:pt x="1772116" y="110169"/>
                  </a:lnTo>
                  <a:lnTo>
                    <a:pt x="1806428" y="128683"/>
                  </a:lnTo>
                  <a:lnTo>
                    <a:pt x="1840291" y="148531"/>
                  </a:lnTo>
                  <a:lnTo>
                    <a:pt x="1873690" y="169692"/>
                  </a:lnTo>
                  <a:lnTo>
                    <a:pt x="1906610" y="192144"/>
                  </a:lnTo>
                  <a:lnTo>
                    <a:pt x="1939036" y="215866"/>
                  </a:lnTo>
                  <a:lnTo>
                    <a:pt x="1970953" y="240834"/>
                  </a:lnTo>
                  <a:lnTo>
                    <a:pt x="2002347" y="267029"/>
                  </a:lnTo>
                  <a:lnTo>
                    <a:pt x="2033203" y="294427"/>
                  </a:lnTo>
                  <a:lnTo>
                    <a:pt x="2063507" y="323008"/>
                  </a:lnTo>
                  <a:lnTo>
                    <a:pt x="2093242" y="352749"/>
                  </a:lnTo>
                  <a:lnTo>
                    <a:pt x="2122395" y="383628"/>
                  </a:lnTo>
                  <a:lnTo>
                    <a:pt x="2150951" y="415625"/>
                  </a:lnTo>
                  <a:lnTo>
                    <a:pt x="2178895" y="448717"/>
                  </a:lnTo>
                  <a:lnTo>
                    <a:pt x="2206212" y="482882"/>
                  </a:lnTo>
                  <a:lnTo>
                    <a:pt x="2232887" y="518099"/>
                  </a:lnTo>
                  <a:lnTo>
                    <a:pt x="2258906" y="554346"/>
                  </a:lnTo>
                  <a:lnTo>
                    <a:pt x="2284253" y="591601"/>
                  </a:lnTo>
                  <a:lnTo>
                    <a:pt x="2308915" y="629843"/>
                  </a:lnTo>
                  <a:lnTo>
                    <a:pt x="2332876" y="669049"/>
                  </a:lnTo>
                  <a:lnTo>
                    <a:pt x="2356121" y="709199"/>
                  </a:lnTo>
                  <a:lnTo>
                    <a:pt x="2378636" y="750269"/>
                  </a:lnTo>
                  <a:lnTo>
                    <a:pt x="2400405" y="792240"/>
                  </a:lnTo>
                  <a:lnTo>
                    <a:pt x="2421415" y="835087"/>
                  </a:lnTo>
                  <a:lnTo>
                    <a:pt x="2441650" y="878791"/>
                  </a:lnTo>
                  <a:lnTo>
                    <a:pt x="2461095" y="923330"/>
                  </a:lnTo>
                  <a:lnTo>
                    <a:pt x="2479736" y="968680"/>
                  </a:lnTo>
                  <a:lnTo>
                    <a:pt x="2497557" y="1014822"/>
                  </a:lnTo>
                  <a:lnTo>
                    <a:pt x="2514545" y="1061732"/>
                  </a:lnTo>
                  <a:lnTo>
                    <a:pt x="2530684" y="1109390"/>
                  </a:lnTo>
                  <a:lnTo>
                    <a:pt x="2545960" y="1157773"/>
                  </a:lnTo>
                  <a:lnTo>
                    <a:pt x="2560357" y="1206860"/>
                  </a:lnTo>
                  <a:lnTo>
                    <a:pt x="2573861" y="1256629"/>
                  </a:lnTo>
                  <a:lnTo>
                    <a:pt x="2586457" y="1307059"/>
                  </a:lnTo>
                  <a:lnTo>
                    <a:pt x="2598131" y="1358127"/>
                  </a:lnTo>
                  <a:lnTo>
                    <a:pt x="2608867" y="1409812"/>
                  </a:lnTo>
                  <a:lnTo>
                    <a:pt x="2618651" y="1462091"/>
                  </a:lnTo>
                  <a:lnTo>
                    <a:pt x="2627467" y="1514945"/>
                  </a:lnTo>
                  <a:lnTo>
                    <a:pt x="2635302" y="1568349"/>
                  </a:lnTo>
                  <a:lnTo>
                    <a:pt x="2642140" y="1622284"/>
                  </a:lnTo>
                  <a:lnTo>
                    <a:pt x="2647967" y="1676726"/>
                  </a:lnTo>
                  <a:lnTo>
                    <a:pt x="2652768" y="1731655"/>
                  </a:lnTo>
                  <a:lnTo>
                    <a:pt x="2656527" y="1787049"/>
                  </a:lnTo>
                  <a:lnTo>
                    <a:pt x="2659231" y="1842885"/>
                  </a:lnTo>
                  <a:lnTo>
                    <a:pt x="2660864" y="1899143"/>
                  </a:lnTo>
                  <a:lnTo>
                    <a:pt x="2661412" y="1955799"/>
                  </a:lnTo>
                  <a:lnTo>
                    <a:pt x="2660864" y="2012463"/>
                  </a:lnTo>
                  <a:lnTo>
                    <a:pt x="2659231" y="2068726"/>
                  </a:lnTo>
                  <a:lnTo>
                    <a:pt x="2656527" y="2124569"/>
                  </a:lnTo>
                  <a:lnTo>
                    <a:pt x="2652768" y="2179968"/>
                  </a:lnTo>
                  <a:lnTo>
                    <a:pt x="2647967" y="2234902"/>
                  </a:lnTo>
                  <a:lnTo>
                    <a:pt x="2642140" y="2289349"/>
                  </a:lnTo>
                  <a:lnTo>
                    <a:pt x="2635302" y="2343288"/>
                  </a:lnTo>
                  <a:lnTo>
                    <a:pt x="2627467" y="2396697"/>
                  </a:lnTo>
                  <a:lnTo>
                    <a:pt x="2618651" y="2449554"/>
                  </a:lnTo>
                  <a:lnTo>
                    <a:pt x="2608867" y="2501838"/>
                  </a:lnTo>
                  <a:lnTo>
                    <a:pt x="2598131" y="2553526"/>
                  </a:lnTo>
                  <a:lnTo>
                    <a:pt x="2586457" y="2604597"/>
                  </a:lnTo>
                  <a:lnTo>
                    <a:pt x="2573861" y="2655030"/>
                  </a:lnTo>
                  <a:lnTo>
                    <a:pt x="2560357" y="2704802"/>
                  </a:lnTo>
                  <a:lnTo>
                    <a:pt x="2545960" y="2753891"/>
                  </a:lnTo>
                  <a:lnTo>
                    <a:pt x="2530684" y="2802277"/>
                  </a:lnTo>
                  <a:lnTo>
                    <a:pt x="2514545" y="2849936"/>
                  </a:lnTo>
                  <a:lnTo>
                    <a:pt x="2497557" y="2896849"/>
                  </a:lnTo>
                  <a:lnTo>
                    <a:pt x="2479736" y="2942992"/>
                  </a:lnTo>
                  <a:lnTo>
                    <a:pt x="2461095" y="2988344"/>
                  </a:lnTo>
                  <a:lnTo>
                    <a:pt x="2441650" y="3032883"/>
                  </a:lnTo>
                  <a:lnTo>
                    <a:pt x="2421415" y="3076588"/>
                  </a:lnTo>
                  <a:lnTo>
                    <a:pt x="2400405" y="3119437"/>
                  </a:lnTo>
                  <a:lnTo>
                    <a:pt x="2378636" y="3161408"/>
                  </a:lnTo>
                  <a:lnTo>
                    <a:pt x="2356121" y="3202479"/>
                  </a:lnTo>
                  <a:lnTo>
                    <a:pt x="2332876" y="3242629"/>
                  </a:lnTo>
                  <a:lnTo>
                    <a:pt x="2308915" y="3281835"/>
                  </a:lnTo>
                  <a:lnTo>
                    <a:pt x="2284253" y="3320077"/>
                  </a:lnTo>
                  <a:lnTo>
                    <a:pt x="2258906" y="3357332"/>
                  </a:lnTo>
                  <a:lnTo>
                    <a:pt x="2232887" y="3393579"/>
                  </a:lnTo>
                  <a:lnTo>
                    <a:pt x="2206212" y="3428796"/>
                  </a:lnTo>
                  <a:lnTo>
                    <a:pt x="2178895" y="3462961"/>
                  </a:lnTo>
                  <a:lnTo>
                    <a:pt x="2150951" y="3496052"/>
                  </a:lnTo>
                  <a:lnTo>
                    <a:pt x="2122395" y="3528049"/>
                  </a:lnTo>
                  <a:lnTo>
                    <a:pt x="2093242" y="3558928"/>
                  </a:lnTo>
                  <a:lnTo>
                    <a:pt x="2063507" y="3588668"/>
                  </a:lnTo>
                  <a:lnTo>
                    <a:pt x="2033203" y="3617248"/>
                  </a:lnTo>
                  <a:lnTo>
                    <a:pt x="2002347" y="3644645"/>
                  </a:lnTo>
                  <a:lnTo>
                    <a:pt x="1970953" y="3670839"/>
                  </a:lnTo>
                  <a:lnTo>
                    <a:pt x="1939036" y="3695807"/>
                  </a:lnTo>
                  <a:lnTo>
                    <a:pt x="1906610" y="3719527"/>
                  </a:lnTo>
                  <a:lnTo>
                    <a:pt x="1873690" y="3741979"/>
                  </a:lnTo>
                  <a:lnTo>
                    <a:pt x="1840291" y="3763139"/>
                  </a:lnTo>
                  <a:lnTo>
                    <a:pt x="1806428" y="3782987"/>
                  </a:lnTo>
                  <a:lnTo>
                    <a:pt x="1772116" y="3801500"/>
                  </a:lnTo>
                  <a:lnTo>
                    <a:pt x="1737369" y="3818657"/>
                  </a:lnTo>
                  <a:lnTo>
                    <a:pt x="1702203" y="3834436"/>
                  </a:lnTo>
                  <a:lnTo>
                    <a:pt x="1666632" y="3848816"/>
                  </a:lnTo>
                  <a:lnTo>
                    <a:pt x="1630670" y="3861774"/>
                  </a:lnTo>
                  <a:lnTo>
                    <a:pt x="1594333" y="3873289"/>
                  </a:lnTo>
                  <a:lnTo>
                    <a:pt x="1520592" y="3891903"/>
                  </a:lnTo>
                  <a:lnTo>
                    <a:pt x="1445527" y="3904484"/>
                  </a:lnTo>
                  <a:lnTo>
                    <a:pt x="1407535" y="3908458"/>
                  </a:lnTo>
                  <a:lnTo>
                    <a:pt x="1369256" y="3910858"/>
                  </a:lnTo>
                  <a:lnTo>
                    <a:pt x="1330706" y="3911663"/>
                  </a:lnTo>
                  <a:lnTo>
                    <a:pt x="1292155" y="3910858"/>
                  </a:lnTo>
                  <a:lnTo>
                    <a:pt x="1253876" y="3908458"/>
                  </a:lnTo>
                  <a:lnTo>
                    <a:pt x="1215884" y="3904484"/>
                  </a:lnTo>
                  <a:lnTo>
                    <a:pt x="1140819" y="3891903"/>
                  </a:lnTo>
                  <a:lnTo>
                    <a:pt x="1067078" y="3873289"/>
                  </a:lnTo>
                  <a:lnTo>
                    <a:pt x="1030741" y="3861774"/>
                  </a:lnTo>
                  <a:lnTo>
                    <a:pt x="994779" y="3848816"/>
                  </a:lnTo>
                  <a:lnTo>
                    <a:pt x="959208" y="3834436"/>
                  </a:lnTo>
                  <a:lnTo>
                    <a:pt x="924042" y="3818657"/>
                  </a:lnTo>
                  <a:lnTo>
                    <a:pt x="889295" y="3801500"/>
                  </a:lnTo>
                  <a:lnTo>
                    <a:pt x="854983" y="3782987"/>
                  </a:lnTo>
                  <a:lnTo>
                    <a:pt x="821120" y="3763139"/>
                  </a:lnTo>
                  <a:lnTo>
                    <a:pt x="787721" y="3741979"/>
                  </a:lnTo>
                  <a:lnTo>
                    <a:pt x="754801" y="3719527"/>
                  </a:lnTo>
                  <a:lnTo>
                    <a:pt x="722375" y="3695807"/>
                  </a:lnTo>
                  <a:lnTo>
                    <a:pt x="690458" y="3670839"/>
                  </a:lnTo>
                  <a:lnTo>
                    <a:pt x="659064" y="3644645"/>
                  </a:lnTo>
                  <a:lnTo>
                    <a:pt x="628208" y="3617248"/>
                  </a:lnTo>
                  <a:lnTo>
                    <a:pt x="597904" y="3588668"/>
                  </a:lnTo>
                  <a:lnTo>
                    <a:pt x="568169" y="3558928"/>
                  </a:lnTo>
                  <a:lnTo>
                    <a:pt x="539016" y="3528049"/>
                  </a:lnTo>
                  <a:lnTo>
                    <a:pt x="510460" y="3496052"/>
                  </a:lnTo>
                  <a:lnTo>
                    <a:pt x="482516" y="3462961"/>
                  </a:lnTo>
                  <a:lnTo>
                    <a:pt x="455199" y="3428796"/>
                  </a:lnTo>
                  <a:lnTo>
                    <a:pt x="428524" y="3393579"/>
                  </a:lnTo>
                  <a:lnTo>
                    <a:pt x="402505" y="3357332"/>
                  </a:lnTo>
                  <a:lnTo>
                    <a:pt x="377158" y="3320077"/>
                  </a:lnTo>
                  <a:lnTo>
                    <a:pt x="352496" y="3281835"/>
                  </a:lnTo>
                  <a:lnTo>
                    <a:pt x="328535" y="3242629"/>
                  </a:lnTo>
                  <a:lnTo>
                    <a:pt x="305290" y="3202479"/>
                  </a:lnTo>
                  <a:lnTo>
                    <a:pt x="282775" y="3161408"/>
                  </a:lnTo>
                  <a:lnTo>
                    <a:pt x="261006" y="3119437"/>
                  </a:lnTo>
                  <a:lnTo>
                    <a:pt x="239996" y="3076588"/>
                  </a:lnTo>
                  <a:lnTo>
                    <a:pt x="219761" y="3032883"/>
                  </a:lnTo>
                  <a:lnTo>
                    <a:pt x="200316" y="2988344"/>
                  </a:lnTo>
                  <a:lnTo>
                    <a:pt x="181675" y="2942992"/>
                  </a:lnTo>
                  <a:lnTo>
                    <a:pt x="163854" y="2896849"/>
                  </a:lnTo>
                  <a:lnTo>
                    <a:pt x="146866" y="2849936"/>
                  </a:lnTo>
                  <a:lnTo>
                    <a:pt x="130727" y="2802277"/>
                  </a:lnTo>
                  <a:lnTo>
                    <a:pt x="115451" y="2753891"/>
                  </a:lnTo>
                  <a:lnTo>
                    <a:pt x="101054" y="2704802"/>
                  </a:lnTo>
                  <a:lnTo>
                    <a:pt x="87550" y="2655030"/>
                  </a:lnTo>
                  <a:lnTo>
                    <a:pt x="74954" y="2604597"/>
                  </a:lnTo>
                  <a:lnTo>
                    <a:pt x="63280" y="2553526"/>
                  </a:lnTo>
                  <a:lnTo>
                    <a:pt x="52544" y="2501838"/>
                  </a:lnTo>
                  <a:lnTo>
                    <a:pt x="42760" y="2449554"/>
                  </a:lnTo>
                  <a:lnTo>
                    <a:pt x="33944" y="2396697"/>
                  </a:lnTo>
                  <a:lnTo>
                    <a:pt x="26109" y="2343288"/>
                  </a:lnTo>
                  <a:lnTo>
                    <a:pt x="19271" y="2289349"/>
                  </a:lnTo>
                  <a:lnTo>
                    <a:pt x="13444" y="2234902"/>
                  </a:lnTo>
                  <a:lnTo>
                    <a:pt x="8643" y="2179968"/>
                  </a:lnTo>
                  <a:lnTo>
                    <a:pt x="4884" y="2124569"/>
                  </a:lnTo>
                  <a:lnTo>
                    <a:pt x="2180" y="2068726"/>
                  </a:lnTo>
                  <a:lnTo>
                    <a:pt x="547" y="2012463"/>
                  </a:lnTo>
                  <a:lnTo>
                    <a:pt x="0" y="195579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25384" y="3881183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699" y="0"/>
                  </a:moveTo>
                  <a:lnTo>
                    <a:pt x="0" y="0"/>
                  </a:lnTo>
                  <a:lnTo>
                    <a:pt x="0" y="2684144"/>
                  </a:lnTo>
                  <a:lnTo>
                    <a:pt x="2806699" y="2684144"/>
                  </a:lnTo>
                  <a:lnTo>
                    <a:pt x="2806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5384" y="3881183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4"/>
                  </a:moveTo>
                  <a:lnTo>
                    <a:pt x="2806699" y="2684144"/>
                  </a:lnTo>
                  <a:lnTo>
                    <a:pt x="2806699" y="0"/>
                  </a:lnTo>
                  <a:lnTo>
                    <a:pt x="0" y="0"/>
                  </a:lnTo>
                  <a:lnTo>
                    <a:pt x="0" y="268414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46200" y="2585719"/>
              <a:ext cx="2583180" cy="948055"/>
            </a:xfrm>
            <a:custGeom>
              <a:avLst/>
              <a:gdLst/>
              <a:ahLst/>
              <a:cxnLst/>
              <a:rect l="l" t="t" r="r" b="b"/>
              <a:pathLst>
                <a:path w="2583179" h="948054">
                  <a:moveTo>
                    <a:pt x="641223" y="12700"/>
                  </a:moveTo>
                  <a:lnTo>
                    <a:pt x="557530" y="59563"/>
                  </a:lnTo>
                  <a:lnTo>
                    <a:pt x="581215" y="75628"/>
                  </a:lnTo>
                  <a:lnTo>
                    <a:pt x="0" y="931799"/>
                  </a:lnTo>
                  <a:lnTo>
                    <a:pt x="23622" y="947813"/>
                  </a:lnTo>
                  <a:lnTo>
                    <a:pt x="604888" y="91681"/>
                  </a:lnTo>
                  <a:lnTo>
                    <a:pt x="628523" y="107696"/>
                  </a:lnTo>
                  <a:lnTo>
                    <a:pt x="634390" y="63754"/>
                  </a:lnTo>
                  <a:lnTo>
                    <a:pt x="641223" y="12700"/>
                  </a:lnTo>
                  <a:close/>
                </a:path>
                <a:path w="2583179" h="948054">
                  <a:moveTo>
                    <a:pt x="2583053" y="918591"/>
                  </a:moveTo>
                  <a:lnTo>
                    <a:pt x="1948230" y="60439"/>
                  </a:lnTo>
                  <a:lnTo>
                    <a:pt x="1963623" y="49022"/>
                  </a:lnTo>
                  <a:lnTo>
                    <a:pt x="1971154" y="43434"/>
                  </a:lnTo>
                  <a:lnTo>
                    <a:pt x="1885823" y="0"/>
                  </a:lnTo>
                  <a:lnTo>
                    <a:pt x="1902333" y="94488"/>
                  </a:lnTo>
                  <a:lnTo>
                    <a:pt x="1925320" y="77431"/>
                  </a:lnTo>
                  <a:lnTo>
                    <a:pt x="2560066" y="935609"/>
                  </a:lnTo>
                  <a:lnTo>
                    <a:pt x="2583053" y="918591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2965" y="3017647"/>
              <a:ext cx="98425" cy="11417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2848" y="2954147"/>
              <a:ext cx="98425" cy="11417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12847" y="2488057"/>
              <a:ext cx="866775" cy="0"/>
            </a:xfrm>
            <a:custGeom>
              <a:avLst/>
              <a:gdLst/>
              <a:ahLst/>
              <a:cxnLst/>
              <a:rect l="l" t="t" r="r" b="b"/>
              <a:pathLst>
                <a:path w="866775">
                  <a:moveTo>
                    <a:pt x="0" y="0"/>
                  </a:moveTo>
                  <a:lnTo>
                    <a:pt x="866775" y="0"/>
                  </a:lnTo>
                </a:path>
              </a:pathLst>
            </a:custGeom>
            <a:ln w="285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5272" y="2427097"/>
              <a:ext cx="98425" cy="114173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488784" y="1853564"/>
            <a:ext cx="4142740" cy="2054860"/>
          </a:xfrm>
          <a:custGeom>
            <a:avLst/>
            <a:gdLst/>
            <a:ahLst/>
            <a:cxnLst/>
            <a:rect l="l" t="t" r="r" b="b"/>
            <a:pathLst>
              <a:path w="4142740" h="2054860">
                <a:moveTo>
                  <a:pt x="4142143" y="2016506"/>
                </a:moveTo>
                <a:lnTo>
                  <a:pt x="4129443" y="2010156"/>
                </a:lnTo>
                <a:lnTo>
                  <a:pt x="4065943" y="1978406"/>
                </a:lnTo>
                <a:lnTo>
                  <a:pt x="4065943" y="2010156"/>
                </a:lnTo>
                <a:lnTo>
                  <a:pt x="44450" y="2010156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2015998"/>
                </a:lnTo>
                <a:lnTo>
                  <a:pt x="38100" y="2015998"/>
                </a:lnTo>
                <a:lnTo>
                  <a:pt x="38100" y="2022856"/>
                </a:lnTo>
                <a:lnTo>
                  <a:pt x="4065943" y="2022856"/>
                </a:lnTo>
                <a:lnTo>
                  <a:pt x="4065943" y="2054606"/>
                </a:lnTo>
                <a:lnTo>
                  <a:pt x="4129443" y="2022856"/>
                </a:lnTo>
                <a:lnTo>
                  <a:pt x="4142143" y="20165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01472" y="1619503"/>
            <a:ext cx="477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mbria Math"/>
                <a:cs typeface="Cambria Math"/>
              </a:rPr>
              <a:t>𝑓(𝑥)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02809" y="3705605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0265" y="2110486"/>
            <a:ext cx="1329690" cy="878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ts val="1675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𝛻𝑓</a:t>
            </a:r>
            <a:r>
              <a:rPr sz="1400" spc="114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&gt;</a:t>
            </a:r>
            <a:r>
              <a:rPr sz="1400" spc="8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ts val="1675"/>
              </a:lnSpc>
            </a:pPr>
            <a:r>
              <a:rPr sz="1400" dirty="0">
                <a:latin typeface="Calibri"/>
                <a:cs typeface="Calibri"/>
              </a:rPr>
              <a:t>gradiente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positivo</a:t>
            </a:r>
            <a:endParaRPr sz="1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siga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em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frente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31819" y="2209545"/>
            <a:ext cx="1809114" cy="878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675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𝛻𝑓</a:t>
            </a:r>
            <a:r>
              <a:rPr sz="1400" spc="114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&lt;</a:t>
            </a:r>
            <a:r>
              <a:rPr sz="1400" spc="8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ts val="1675"/>
              </a:lnSpc>
            </a:pPr>
            <a:r>
              <a:rPr sz="1400" dirty="0">
                <a:latin typeface="Calibri"/>
                <a:cs typeface="Calibri"/>
              </a:rPr>
              <a:t>gradiente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negativo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siga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sentido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contrário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84577" y="1397253"/>
            <a:ext cx="1078230" cy="878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" algn="ctr">
              <a:lnSpc>
                <a:spcPts val="1675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𝛻𝑓</a:t>
            </a:r>
            <a:r>
              <a:rPr sz="1400" spc="114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8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ts val="1675"/>
              </a:lnSpc>
            </a:pPr>
            <a:r>
              <a:rPr sz="1400" dirty="0">
                <a:latin typeface="Calibri"/>
                <a:cs typeface="Calibri"/>
              </a:rPr>
              <a:t>gradiente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nulo</a:t>
            </a:r>
            <a:endParaRPr sz="14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máximo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83121" y="638555"/>
            <a:ext cx="4666615" cy="4139565"/>
            <a:chOff x="6183121" y="638555"/>
            <a:chExt cx="4666615" cy="4139565"/>
          </a:xfrm>
        </p:grpSpPr>
        <p:sp>
          <p:nvSpPr>
            <p:cNvPr id="18" name="object 18"/>
            <p:cNvSpPr/>
            <p:nvPr/>
          </p:nvSpPr>
          <p:spPr>
            <a:xfrm>
              <a:off x="7431024" y="3495801"/>
              <a:ext cx="2639060" cy="894080"/>
            </a:xfrm>
            <a:custGeom>
              <a:avLst/>
              <a:gdLst/>
              <a:ahLst/>
              <a:cxnLst/>
              <a:rect l="l" t="t" r="r" b="b"/>
              <a:pathLst>
                <a:path w="2639059" h="894079">
                  <a:moveTo>
                    <a:pt x="513461" y="893699"/>
                  </a:moveTo>
                  <a:lnTo>
                    <a:pt x="510667" y="838581"/>
                  </a:lnTo>
                  <a:lnTo>
                    <a:pt x="508635" y="798068"/>
                  </a:lnTo>
                  <a:lnTo>
                    <a:pt x="483831" y="812076"/>
                  </a:lnTo>
                  <a:lnTo>
                    <a:pt x="24892" y="0"/>
                  </a:lnTo>
                  <a:lnTo>
                    <a:pt x="0" y="14097"/>
                  </a:lnTo>
                  <a:lnTo>
                    <a:pt x="458927" y="826135"/>
                  </a:lnTo>
                  <a:lnTo>
                    <a:pt x="433959" y="840232"/>
                  </a:lnTo>
                  <a:lnTo>
                    <a:pt x="513461" y="893699"/>
                  </a:lnTo>
                  <a:close/>
                </a:path>
                <a:path w="2639059" h="894079">
                  <a:moveTo>
                    <a:pt x="2638933" y="24384"/>
                  </a:moveTo>
                  <a:lnTo>
                    <a:pt x="2613533" y="11303"/>
                  </a:lnTo>
                  <a:lnTo>
                    <a:pt x="2239505" y="732904"/>
                  </a:lnTo>
                  <a:lnTo>
                    <a:pt x="2214118" y="719709"/>
                  </a:lnTo>
                  <a:lnTo>
                    <a:pt x="2212721" y="815594"/>
                  </a:lnTo>
                  <a:lnTo>
                    <a:pt x="2290191" y="759206"/>
                  </a:lnTo>
                  <a:lnTo>
                    <a:pt x="2289200" y="758698"/>
                  </a:lnTo>
                  <a:lnTo>
                    <a:pt x="2264765" y="746010"/>
                  </a:lnTo>
                  <a:lnTo>
                    <a:pt x="2638933" y="24384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34071" y="800861"/>
              <a:ext cx="2661285" cy="3911600"/>
            </a:xfrm>
            <a:custGeom>
              <a:avLst/>
              <a:gdLst/>
              <a:ahLst/>
              <a:cxnLst/>
              <a:rect l="l" t="t" r="r" b="b"/>
              <a:pathLst>
                <a:path w="2661284" h="3911600">
                  <a:moveTo>
                    <a:pt x="2661284" y="1955800"/>
                  </a:moveTo>
                  <a:lnTo>
                    <a:pt x="2660737" y="2012456"/>
                  </a:lnTo>
                  <a:lnTo>
                    <a:pt x="2659104" y="2068714"/>
                  </a:lnTo>
                  <a:lnTo>
                    <a:pt x="2656400" y="2124550"/>
                  </a:lnTo>
                  <a:lnTo>
                    <a:pt x="2652641" y="2179944"/>
                  </a:lnTo>
                  <a:lnTo>
                    <a:pt x="2647840" y="2234873"/>
                  </a:lnTo>
                  <a:lnTo>
                    <a:pt x="2642013" y="2289315"/>
                  </a:lnTo>
                  <a:lnTo>
                    <a:pt x="2635175" y="2343250"/>
                  </a:lnTo>
                  <a:lnTo>
                    <a:pt x="2627340" y="2396654"/>
                  </a:lnTo>
                  <a:lnTo>
                    <a:pt x="2618524" y="2449508"/>
                  </a:lnTo>
                  <a:lnTo>
                    <a:pt x="2608740" y="2501787"/>
                  </a:lnTo>
                  <a:lnTo>
                    <a:pt x="2598004" y="2553472"/>
                  </a:lnTo>
                  <a:lnTo>
                    <a:pt x="2586330" y="2604540"/>
                  </a:lnTo>
                  <a:lnTo>
                    <a:pt x="2573734" y="2654970"/>
                  </a:lnTo>
                  <a:lnTo>
                    <a:pt x="2560230" y="2704739"/>
                  </a:lnTo>
                  <a:lnTo>
                    <a:pt x="2545833" y="2753826"/>
                  </a:lnTo>
                  <a:lnTo>
                    <a:pt x="2530557" y="2802209"/>
                  </a:lnTo>
                  <a:lnTo>
                    <a:pt x="2514418" y="2849867"/>
                  </a:lnTo>
                  <a:lnTo>
                    <a:pt x="2497430" y="2896777"/>
                  </a:lnTo>
                  <a:lnTo>
                    <a:pt x="2479609" y="2942919"/>
                  </a:lnTo>
                  <a:lnTo>
                    <a:pt x="2460968" y="2988269"/>
                  </a:lnTo>
                  <a:lnTo>
                    <a:pt x="2441523" y="3032808"/>
                  </a:lnTo>
                  <a:lnTo>
                    <a:pt x="2421288" y="3076512"/>
                  </a:lnTo>
                  <a:lnTo>
                    <a:pt x="2400278" y="3119359"/>
                  </a:lnTo>
                  <a:lnTo>
                    <a:pt x="2378509" y="3161330"/>
                  </a:lnTo>
                  <a:lnTo>
                    <a:pt x="2355994" y="3202400"/>
                  </a:lnTo>
                  <a:lnTo>
                    <a:pt x="2332749" y="3242550"/>
                  </a:lnTo>
                  <a:lnTo>
                    <a:pt x="2308788" y="3281756"/>
                  </a:lnTo>
                  <a:lnTo>
                    <a:pt x="2284126" y="3319998"/>
                  </a:lnTo>
                  <a:lnTo>
                    <a:pt x="2258779" y="3357253"/>
                  </a:lnTo>
                  <a:lnTo>
                    <a:pt x="2232760" y="3393500"/>
                  </a:lnTo>
                  <a:lnTo>
                    <a:pt x="2206085" y="3428717"/>
                  </a:lnTo>
                  <a:lnTo>
                    <a:pt x="2178768" y="3462882"/>
                  </a:lnTo>
                  <a:lnTo>
                    <a:pt x="2150824" y="3495974"/>
                  </a:lnTo>
                  <a:lnTo>
                    <a:pt x="2122268" y="3527971"/>
                  </a:lnTo>
                  <a:lnTo>
                    <a:pt x="2093115" y="3558850"/>
                  </a:lnTo>
                  <a:lnTo>
                    <a:pt x="2063380" y="3588591"/>
                  </a:lnTo>
                  <a:lnTo>
                    <a:pt x="2033076" y="3617172"/>
                  </a:lnTo>
                  <a:lnTo>
                    <a:pt x="2002220" y="3644570"/>
                  </a:lnTo>
                  <a:lnTo>
                    <a:pt x="1970826" y="3670765"/>
                  </a:lnTo>
                  <a:lnTo>
                    <a:pt x="1938909" y="3695733"/>
                  </a:lnTo>
                  <a:lnTo>
                    <a:pt x="1906483" y="3719455"/>
                  </a:lnTo>
                  <a:lnTo>
                    <a:pt x="1873563" y="3741907"/>
                  </a:lnTo>
                  <a:lnTo>
                    <a:pt x="1840164" y="3763068"/>
                  </a:lnTo>
                  <a:lnTo>
                    <a:pt x="1806301" y="3782916"/>
                  </a:lnTo>
                  <a:lnTo>
                    <a:pt x="1771989" y="3801430"/>
                  </a:lnTo>
                  <a:lnTo>
                    <a:pt x="1737242" y="3818588"/>
                  </a:lnTo>
                  <a:lnTo>
                    <a:pt x="1702076" y="3834368"/>
                  </a:lnTo>
                  <a:lnTo>
                    <a:pt x="1666505" y="3848749"/>
                  </a:lnTo>
                  <a:lnTo>
                    <a:pt x="1630543" y="3861708"/>
                  </a:lnTo>
                  <a:lnTo>
                    <a:pt x="1594206" y="3873223"/>
                  </a:lnTo>
                  <a:lnTo>
                    <a:pt x="1520465" y="3891839"/>
                  </a:lnTo>
                  <a:lnTo>
                    <a:pt x="1445400" y="3904420"/>
                  </a:lnTo>
                  <a:lnTo>
                    <a:pt x="1407408" y="3908394"/>
                  </a:lnTo>
                  <a:lnTo>
                    <a:pt x="1369129" y="3910795"/>
                  </a:lnTo>
                  <a:lnTo>
                    <a:pt x="1330578" y="3911600"/>
                  </a:lnTo>
                  <a:lnTo>
                    <a:pt x="1292035" y="3910795"/>
                  </a:lnTo>
                  <a:lnTo>
                    <a:pt x="1253762" y="3908394"/>
                  </a:lnTo>
                  <a:lnTo>
                    <a:pt x="1215776" y="3904420"/>
                  </a:lnTo>
                  <a:lnTo>
                    <a:pt x="1140723" y="3891839"/>
                  </a:lnTo>
                  <a:lnTo>
                    <a:pt x="1066992" y="3873223"/>
                  </a:lnTo>
                  <a:lnTo>
                    <a:pt x="1030660" y="3861708"/>
                  </a:lnTo>
                  <a:lnTo>
                    <a:pt x="994704" y="3848749"/>
                  </a:lnTo>
                  <a:lnTo>
                    <a:pt x="959137" y="3834368"/>
                  </a:lnTo>
                  <a:lnTo>
                    <a:pt x="923975" y="3818588"/>
                  </a:lnTo>
                  <a:lnTo>
                    <a:pt x="889232" y="3801430"/>
                  </a:lnTo>
                  <a:lnTo>
                    <a:pt x="854924" y="3782916"/>
                  </a:lnTo>
                  <a:lnTo>
                    <a:pt x="821065" y="3763068"/>
                  </a:lnTo>
                  <a:lnTo>
                    <a:pt x="787670" y="3741907"/>
                  </a:lnTo>
                  <a:lnTo>
                    <a:pt x="754754" y="3719455"/>
                  </a:lnTo>
                  <a:lnTo>
                    <a:pt x="722331" y="3695733"/>
                  </a:lnTo>
                  <a:lnTo>
                    <a:pt x="690417" y="3670765"/>
                  </a:lnTo>
                  <a:lnTo>
                    <a:pt x="659026" y="3644570"/>
                  </a:lnTo>
                  <a:lnTo>
                    <a:pt x="628173" y="3617172"/>
                  </a:lnTo>
                  <a:lnTo>
                    <a:pt x="597872" y="3588591"/>
                  </a:lnTo>
                  <a:lnTo>
                    <a:pt x="568139" y="3558850"/>
                  </a:lnTo>
                  <a:lnTo>
                    <a:pt x="538989" y="3527971"/>
                  </a:lnTo>
                  <a:lnTo>
                    <a:pt x="510435" y="3495974"/>
                  </a:lnTo>
                  <a:lnTo>
                    <a:pt x="482494" y="3462882"/>
                  </a:lnTo>
                  <a:lnTo>
                    <a:pt x="455179" y="3428717"/>
                  </a:lnTo>
                  <a:lnTo>
                    <a:pt x="428506" y="3393500"/>
                  </a:lnTo>
                  <a:lnTo>
                    <a:pt x="402489" y="3357253"/>
                  </a:lnTo>
                  <a:lnTo>
                    <a:pt x="377143" y="3319998"/>
                  </a:lnTo>
                  <a:lnTo>
                    <a:pt x="352483" y="3281756"/>
                  </a:lnTo>
                  <a:lnTo>
                    <a:pt x="328523" y="3242550"/>
                  </a:lnTo>
                  <a:lnTo>
                    <a:pt x="305279" y="3202400"/>
                  </a:lnTo>
                  <a:lnTo>
                    <a:pt x="282766" y="3161330"/>
                  </a:lnTo>
                  <a:lnTo>
                    <a:pt x="260998" y="3119359"/>
                  </a:lnTo>
                  <a:lnTo>
                    <a:pt x="239989" y="3076512"/>
                  </a:lnTo>
                  <a:lnTo>
                    <a:pt x="219755" y="3032808"/>
                  </a:lnTo>
                  <a:lnTo>
                    <a:pt x="200311" y="2988269"/>
                  </a:lnTo>
                  <a:lnTo>
                    <a:pt x="181671" y="2942919"/>
                  </a:lnTo>
                  <a:lnTo>
                    <a:pt x="163850" y="2896777"/>
                  </a:lnTo>
                  <a:lnTo>
                    <a:pt x="146862" y="2849867"/>
                  </a:lnTo>
                  <a:lnTo>
                    <a:pt x="130724" y="2802209"/>
                  </a:lnTo>
                  <a:lnTo>
                    <a:pt x="115449" y="2753826"/>
                  </a:lnTo>
                  <a:lnTo>
                    <a:pt x="101052" y="2704739"/>
                  </a:lnTo>
                  <a:lnTo>
                    <a:pt x="87548" y="2654970"/>
                  </a:lnTo>
                  <a:lnTo>
                    <a:pt x="74952" y="2604540"/>
                  </a:lnTo>
                  <a:lnTo>
                    <a:pt x="63279" y="2553472"/>
                  </a:lnTo>
                  <a:lnTo>
                    <a:pt x="52543" y="2501787"/>
                  </a:lnTo>
                  <a:lnTo>
                    <a:pt x="42760" y="2449508"/>
                  </a:lnTo>
                  <a:lnTo>
                    <a:pt x="33943" y="2396654"/>
                  </a:lnTo>
                  <a:lnTo>
                    <a:pt x="26108" y="2343250"/>
                  </a:lnTo>
                  <a:lnTo>
                    <a:pt x="19270" y="2289315"/>
                  </a:lnTo>
                  <a:lnTo>
                    <a:pt x="13444" y="2234873"/>
                  </a:lnTo>
                  <a:lnTo>
                    <a:pt x="8643" y="2179944"/>
                  </a:lnTo>
                  <a:lnTo>
                    <a:pt x="4884" y="2124550"/>
                  </a:lnTo>
                  <a:lnTo>
                    <a:pt x="2180" y="2068714"/>
                  </a:lnTo>
                  <a:lnTo>
                    <a:pt x="547" y="2012456"/>
                  </a:lnTo>
                  <a:lnTo>
                    <a:pt x="0" y="1955800"/>
                  </a:lnTo>
                  <a:lnTo>
                    <a:pt x="547" y="1899143"/>
                  </a:lnTo>
                  <a:lnTo>
                    <a:pt x="2180" y="1842885"/>
                  </a:lnTo>
                  <a:lnTo>
                    <a:pt x="4884" y="1787049"/>
                  </a:lnTo>
                  <a:lnTo>
                    <a:pt x="8643" y="1731655"/>
                  </a:lnTo>
                  <a:lnTo>
                    <a:pt x="13444" y="1676726"/>
                  </a:lnTo>
                  <a:lnTo>
                    <a:pt x="19270" y="1622284"/>
                  </a:lnTo>
                  <a:lnTo>
                    <a:pt x="26108" y="1568349"/>
                  </a:lnTo>
                  <a:lnTo>
                    <a:pt x="33943" y="1514945"/>
                  </a:lnTo>
                  <a:lnTo>
                    <a:pt x="42760" y="1462091"/>
                  </a:lnTo>
                  <a:lnTo>
                    <a:pt x="52543" y="1409812"/>
                  </a:lnTo>
                  <a:lnTo>
                    <a:pt x="63279" y="1358127"/>
                  </a:lnTo>
                  <a:lnTo>
                    <a:pt x="74952" y="1307059"/>
                  </a:lnTo>
                  <a:lnTo>
                    <a:pt x="87548" y="1256629"/>
                  </a:lnTo>
                  <a:lnTo>
                    <a:pt x="101052" y="1206860"/>
                  </a:lnTo>
                  <a:lnTo>
                    <a:pt x="115449" y="1157773"/>
                  </a:lnTo>
                  <a:lnTo>
                    <a:pt x="130724" y="1109390"/>
                  </a:lnTo>
                  <a:lnTo>
                    <a:pt x="146862" y="1061732"/>
                  </a:lnTo>
                  <a:lnTo>
                    <a:pt x="163850" y="1014822"/>
                  </a:lnTo>
                  <a:lnTo>
                    <a:pt x="181671" y="968680"/>
                  </a:lnTo>
                  <a:lnTo>
                    <a:pt x="200311" y="923330"/>
                  </a:lnTo>
                  <a:lnTo>
                    <a:pt x="219755" y="878791"/>
                  </a:lnTo>
                  <a:lnTo>
                    <a:pt x="239989" y="835087"/>
                  </a:lnTo>
                  <a:lnTo>
                    <a:pt x="260998" y="792240"/>
                  </a:lnTo>
                  <a:lnTo>
                    <a:pt x="282766" y="750269"/>
                  </a:lnTo>
                  <a:lnTo>
                    <a:pt x="305279" y="709199"/>
                  </a:lnTo>
                  <a:lnTo>
                    <a:pt x="328523" y="669049"/>
                  </a:lnTo>
                  <a:lnTo>
                    <a:pt x="352483" y="629843"/>
                  </a:lnTo>
                  <a:lnTo>
                    <a:pt x="377143" y="591601"/>
                  </a:lnTo>
                  <a:lnTo>
                    <a:pt x="402489" y="554346"/>
                  </a:lnTo>
                  <a:lnTo>
                    <a:pt x="428506" y="518099"/>
                  </a:lnTo>
                  <a:lnTo>
                    <a:pt x="455179" y="482882"/>
                  </a:lnTo>
                  <a:lnTo>
                    <a:pt x="482494" y="448717"/>
                  </a:lnTo>
                  <a:lnTo>
                    <a:pt x="510435" y="415625"/>
                  </a:lnTo>
                  <a:lnTo>
                    <a:pt x="538989" y="383628"/>
                  </a:lnTo>
                  <a:lnTo>
                    <a:pt x="568139" y="352749"/>
                  </a:lnTo>
                  <a:lnTo>
                    <a:pt x="597872" y="323008"/>
                  </a:lnTo>
                  <a:lnTo>
                    <a:pt x="628173" y="294427"/>
                  </a:lnTo>
                  <a:lnTo>
                    <a:pt x="659026" y="267029"/>
                  </a:lnTo>
                  <a:lnTo>
                    <a:pt x="690417" y="240834"/>
                  </a:lnTo>
                  <a:lnTo>
                    <a:pt x="722331" y="215866"/>
                  </a:lnTo>
                  <a:lnTo>
                    <a:pt x="754754" y="192144"/>
                  </a:lnTo>
                  <a:lnTo>
                    <a:pt x="787670" y="169692"/>
                  </a:lnTo>
                  <a:lnTo>
                    <a:pt x="821065" y="148531"/>
                  </a:lnTo>
                  <a:lnTo>
                    <a:pt x="854924" y="128683"/>
                  </a:lnTo>
                  <a:lnTo>
                    <a:pt x="889232" y="110169"/>
                  </a:lnTo>
                  <a:lnTo>
                    <a:pt x="923975" y="93011"/>
                  </a:lnTo>
                  <a:lnTo>
                    <a:pt x="959137" y="77231"/>
                  </a:lnTo>
                  <a:lnTo>
                    <a:pt x="994704" y="62850"/>
                  </a:lnTo>
                  <a:lnTo>
                    <a:pt x="1030660" y="49891"/>
                  </a:lnTo>
                  <a:lnTo>
                    <a:pt x="1066992" y="38376"/>
                  </a:lnTo>
                  <a:lnTo>
                    <a:pt x="1140723" y="19760"/>
                  </a:lnTo>
                  <a:lnTo>
                    <a:pt x="1215776" y="7179"/>
                  </a:lnTo>
                  <a:lnTo>
                    <a:pt x="1253762" y="3205"/>
                  </a:lnTo>
                  <a:lnTo>
                    <a:pt x="1292035" y="804"/>
                  </a:lnTo>
                  <a:lnTo>
                    <a:pt x="1330578" y="0"/>
                  </a:lnTo>
                  <a:lnTo>
                    <a:pt x="1369129" y="804"/>
                  </a:lnTo>
                  <a:lnTo>
                    <a:pt x="1407408" y="3205"/>
                  </a:lnTo>
                  <a:lnTo>
                    <a:pt x="1445400" y="7179"/>
                  </a:lnTo>
                  <a:lnTo>
                    <a:pt x="1520465" y="19760"/>
                  </a:lnTo>
                  <a:lnTo>
                    <a:pt x="1594206" y="38376"/>
                  </a:lnTo>
                  <a:lnTo>
                    <a:pt x="1630543" y="49891"/>
                  </a:lnTo>
                  <a:lnTo>
                    <a:pt x="1666505" y="62850"/>
                  </a:lnTo>
                  <a:lnTo>
                    <a:pt x="1702076" y="77231"/>
                  </a:lnTo>
                  <a:lnTo>
                    <a:pt x="1737242" y="93011"/>
                  </a:lnTo>
                  <a:lnTo>
                    <a:pt x="1771989" y="110169"/>
                  </a:lnTo>
                  <a:lnTo>
                    <a:pt x="1806301" y="128683"/>
                  </a:lnTo>
                  <a:lnTo>
                    <a:pt x="1840164" y="148531"/>
                  </a:lnTo>
                  <a:lnTo>
                    <a:pt x="1873563" y="169692"/>
                  </a:lnTo>
                  <a:lnTo>
                    <a:pt x="1906483" y="192144"/>
                  </a:lnTo>
                  <a:lnTo>
                    <a:pt x="1938909" y="215866"/>
                  </a:lnTo>
                  <a:lnTo>
                    <a:pt x="1970826" y="240834"/>
                  </a:lnTo>
                  <a:lnTo>
                    <a:pt x="2002220" y="267029"/>
                  </a:lnTo>
                  <a:lnTo>
                    <a:pt x="2033076" y="294427"/>
                  </a:lnTo>
                  <a:lnTo>
                    <a:pt x="2063380" y="323008"/>
                  </a:lnTo>
                  <a:lnTo>
                    <a:pt x="2093115" y="352749"/>
                  </a:lnTo>
                  <a:lnTo>
                    <a:pt x="2122268" y="383628"/>
                  </a:lnTo>
                  <a:lnTo>
                    <a:pt x="2150824" y="415625"/>
                  </a:lnTo>
                  <a:lnTo>
                    <a:pt x="2178768" y="448717"/>
                  </a:lnTo>
                  <a:lnTo>
                    <a:pt x="2206085" y="482882"/>
                  </a:lnTo>
                  <a:lnTo>
                    <a:pt x="2232760" y="518099"/>
                  </a:lnTo>
                  <a:lnTo>
                    <a:pt x="2258779" y="554346"/>
                  </a:lnTo>
                  <a:lnTo>
                    <a:pt x="2284126" y="591601"/>
                  </a:lnTo>
                  <a:lnTo>
                    <a:pt x="2308788" y="629843"/>
                  </a:lnTo>
                  <a:lnTo>
                    <a:pt x="2332749" y="669049"/>
                  </a:lnTo>
                  <a:lnTo>
                    <a:pt x="2355994" y="709199"/>
                  </a:lnTo>
                  <a:lnTo>
                    <a:pt x="2378509" y="750269"/>
                  </a:lnTo>
                  <a:lnTo>
                    <a:pt x="2400278" y="792240"/>
                  </a:lnTo>
                  <a:lnTo>
                    <a:pt x="2421288" y="835087"/>
                  </a:lnTo>
                  <a:lnTo>
                    <a:pt x="2441523" y="878791"/>
                  </a:lnTo>
                  <a:lnTo>
                    <a:pt x="2460968" y="923330"/>
                  </a:lnTo>
                  <a:lnTo>
                    <a:pt x="2479609" y="968680"/>
                  </a:lnTo>
                  <a:lnTo>
                    <a:pt x="2497430" y="1014822"/>
                  </a:lnTo>
                  <a:lnTo>
                    <a:pt x="2514418" y="1061732"/>
                  </a:lnTo>
                  <a:lnTo>
                    <a:pt x="2530557" y="1109390"/>
                  </a:lnTo>
                  <a:lnTo>
                    <a:pt x="2545833" y="1157773"/>
                  </a:lnTo>
                  <a:lnTo>
                    <a:pt x="2560230" y="1206860"/>
                  </a:lnTo>
                  <a:lnTo>
                    <a:pt x="2573734" y="1256629"/>
                  </a:lnTo>
                  <a:lnTo>
                    <a:pt x="2586330" y="1307059"/>
                  </a:lnTo>
                  <a:lnTo>
                    <a:pt x="2598004" y="1358127"/>
                  </a:lnTo>
                  <a:lnTo>
                    <a:pt x="2608740" y="1409812"/>
                  </a:lnTo>
                  <a:lnTo>
                    <a:pt x="2618524" y="1462091"/>
                  </a:lnTo>
                  <a:lnTo>
                    <a:pt x="2627340" y="1514945"/>
                  </a:lnTo>
                  <a:lnTo>
                    <a:pt x="2635175" y="1568349"/>
                  </a:lnTo>
                  <a:lnTo>
                    <a:pt x="2642013" y="1622284"/>
                  </a:lnTo>
                  <a:lnTo>
                    <a:pt x="2647840" y="1676726"/>
                  </a:lnTo>
                  <a:lnTo>
                    <a:pt x="2652641" y="1731655"/>
                  </a:lnTo>
                  <a:lnTo>
                    <a:pt x="2656400" y="1787049"/>
                  </a:lnTo>
                  <a:lnTo>
                    <a:pt x="2659104" y="1842885"/>
                  </a:lnTo>
                  <a:lnTo>
                    <a:pt x="2660737" y="1899143"/>
                  </a:lnTo>
                  <a:lnTo>
                    <a:pt x="2661284" y="195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57871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700" y="0"/>
                  </a:moveTo>
                  <a:lnTo>
                    <a:pt x="0" y="0"/>
                  </a:lnTo>
                  <a:lnTo>
                    <a:pt x="0" y="2684145"/>
                  </a:lnTo>
                  <a:lnTo>
                    <a:pt x="2806700" y="2684145"/>
                  </a:lnTo>
                  <a:lnTo>
                    <a:pt x="280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57871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5"/>
                  </a:moveTo>
                  <a:lnTo>
                    <a:pt x="2806700" y="2684145"/>
                  </a:lnTo>
                  <a:lnTo>
                    <a:pt x="2806700" y="0"/>
                  </a:lnTo>
                  <a:lnTo>
                    <a:pt x="0" y="0"/>
                  </a:lnTo>
                  <a:lnTo>
                    <a:pt x="0" y="26841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44764" y="3869816"/>
              <a:ext cx="98425" cy="114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18496" y="3806444"/>
              <a:ext cx="98425" cy="11417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345296" y="4724653"/>
              <a:ext cx="866775" cy="0"/>
            </a:xfrm>
            <a:custGeom>
              <a:avLst/>
              <a:gdLst/>
              <a:ahLst/>
              <a:cxnLst/>
              <a:rect l="l" t="t" r="r" b="b"/>
              <a:pathLst>
                <a:path w="866775">
                  <a:moveTo>
                    <a:pt x="0" y="0"/>
                  </a:moveTo>
                  <a:lnTo>
                    <a:pt x="866775" y="0"/>
                  </a:lnTo>
                </a:path>
              </a:pathLst>
            </a:custGeom>
            <a:ln w="285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97721" y="4663694"/>
              <a:ext cx="98425" cy="11417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183122" y="2705734"/>
              <a:ext cx="4666615" cy="2054860"/>
            </a:xfrm>
            <a:custGeom>
              <a:avLst/>
              <a:gdLst/>
              <a:ahLst/>
              <a:cxnLst/>
              <a:rect l="l" t="t" r="r" b="b"/>
              <a:pathLst>
                <a:path w="4666615" h="2054860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2015998"/>
                  </a:lnTo>
                  <a:lnTo>
                    <a:pt x="44450" y="2015998"/>
                  </a:lnTo>
                  <a:lnTo>
                    <a:pt x="44450" y="76200"/>
                  </a:lnTo>
                  <a:lnTo>
                    <a:pt x="76200" y="76200"/>
                  </a:lnTo>
                  <a:close/>
                </a:path>
                <a:path w="4666615" h="2054860">
                  <a:moveTo>
                    <a:pt x="4666361" y="2016506"/>
                  </a:moveTo>
                  <a:lnTo>
                    <a:pt x="4653661" y="2010156"/>
                  </a:lnTo>
                  <a:lnTo>
                    <a:pt x="4590161" y="1978406"/>
                  </a:lnTo>
                  <a:lnTo>
                    <a:pt x="4590161" y="2010156"/>
                  </a:lnTo>
                  <a:lnTo>
                    <a:pt x="94361" y="2010156"/>
                  </a:lnTo>
                  <a:lnTo>
                    <a:pt x="94361" y="2022856"/>
                  </a:lnTo>
                  <a:lnTo>
                    <a:pt x="4590161" y="2022856"/>
                  </a:lnTo>
                  <a:lnTo>
                    <a:pt x="4590161" y="2054606"/>
                  </a:lnTo>
                  <a:lnTo>
                    <a:pt x="4653661" y="2022856"/>
                  </a:lnTo>
                  <a:lnTo>
                    <a:pt x="4666361" y="2016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309740" y="2554300"/>
            <a:ext cx="4775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mbria Math"/>
                <a:cs typeface="Cambria Math"/>
              </a:rPr>
              <a:t>𝑓(𝑥)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836020" y="4558029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40907" y="3566540"/>
            <a:ext cx="1377315" cy="878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" algn="ctr">
              <a:lnSpc>
                <a:spcPts val="1675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−𝛻𝑓</a:t>
            </a:r>
            <a:r>
              <a:rPr sz="1400" spc="12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&lt;</a:t>
            </a:r>
            <a:r>
              <a:rPr sz="1400" spc="80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ts val="1675"/>
              </a:lnSpc>
            </a:pPr>
            <a:r>
              <a:rPr sz="1400" dirty="0">
                <a:latin typeface="Calibri"/>
                <a:cs typeface="Calibri"/>
              </a:rPr>
              <a:t>gradiente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negativo</a:t>
            </a:r>
            <a:endParaRPr sz="14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siga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em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frente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07320" y="3508375"/>
            <a:ext cx="1809750" cy="878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675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−𝛻𝑓</a:t>
            </a:r>
            <a:r>
              <a:rPr sz="1400" spc="114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&gt;</a:t>
            </a:r>
            <a:r>
              <a:rPr sz="1400" spc="85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ts val="1675"/>
              </a:lnSpc>
            </a:pPr>
            <a:r>
              <a:rPr sz="1400" dirty="0">
                <a:latin typeface="Calibri"/>
                <a:cs typeface="Calibri"/>
              </a:rPr>
              <a:t>gradiente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positivo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siga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sentido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contrário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87308" y="3679063"/>
            <a:ext cx="1078230" cy="878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ts val="1675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−𝛻𝑓</a:t>
            </a:r>
            <a:r>
              <a:rPr sz="1400" spc="110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85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ts val="1675"/>
              </a:lnSpc>
            </a:pPr>
            <a:r>
              <a:rPr sz="1400" dirty="0">
                <a:latin typeface="Calibri"/>
                <a:cs typeface="Calibri"/>
              </a:rPr>
              <a:t>gradiente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nulo</a:t>
            </a:r>
            <a:endParaRPr sz="14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libri"/>
                <a:cs typeface="Calibri"/>
              </a:rPr>
              <a:t>=</a:t>
            </a:r>
            <a:endParaRPr sz="1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mínimo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62750" y="638555"/>
            <a:ext cx="2819400" cy="4139565"/>
            <a:chOff x="6762750" y="638555"/>
            <a:chExt cx="2819400" cy="4139565"/>
          </a:xfrm>
        </p:grpSpPr>
        <p:sp>
          <p:nvSpPr>
            <p:cNvPr id="3" name="object 3"/>
            <p:cNvSpPr/>
            <p:nvPr/>
          </p:nvSpPr>
          <p:spPr>
            <a:xfrm>
              <a:off x="6845300" y="800861"/>
              <a:ext cx="2661285" cy="3911600"/>
            </a:xfrm>
            <a:custGeom>
              <a:avLst/>
              <a:gdLst/>
              <a:ahLst/>
              <a:cxnLst/>
              <a:rect l="l" t="t" r="r" b="b"/>
              <a:pathLst>
                <a:path w="2661284" h="3911600">
                  <a:moveTo>
                    <a:pt x="2661284" y="1955800"/>
                  </a:moveTo>
                  <a:lnTo>
                    <a:pt x="2660737" y="2012456"/>
                  </a:lnTo>
                  <a:lnTo>
                    <a:pt x="2659104" y="2068714"/>
                  </a:lnTo>
                  <a:lnTo>
                    <a:pt x="2656400" y="2124550"/>
                  </a:lnTo>
                  <a:lnTo>
                    <a:pt x="2652641" y="2179944"/>
                  </a:lnTo>
                  <a:lnTo>
                    <a:pt x="2647840" y="2234873"/>
                  </a:lnTo>
                  <a:lnTo>
                    <a:pt x="2642014" y="2289315"/>
                  </a:lnTo>
                  <a:lnTo>
                    <a:pt x="2635176" y="2343250"/>
                  </a:lnTo>
                  <a:lnTo>
                    <a:pt x="2627341" y="2396654"/>
                  </a:lnTo>
                  <a:lnTo>
                    <a:pt x="2618524" y="2449508"/>
                  </a:lnTo>
                  <a:lnTo>
                    <a:pt x="2608741" y="2501787"/>
                  </a:lnTo>
                  <a:lnTo>
                    <a:pt x="2598005" y="2553472"/>
                  </a:lnTo>
                  <a:lnTo>
                    <a:pt x="2586332" y="2604540"/>
                  </a:lnTo>
                  <a:lnTo>
                    <a:pt x="2573736" y="2654970"/>
                  </a:lnTo>
                  <a:lnTo>
                    <a:pt x="2560232" y="2704739"/>
                  </a:lnTo>
                  <a:lnTo>
                    <a:pt x="2545835" y="2753826"/>
                  </a:lnTo>
                  <a:lnTo>
                    <a:pt x="2530560" y="2802209"/>
                  </a:lnTo>
                  <a:lnTo>
                    <a:pt x="2514422" y="2849867"/>
                  </a:lnTo>
                  <a:lnTo>
                    <a:pt x="2497434" y="2896777"/>
                  </a:lnTo>
                  <a:lnTo>
                    <a:pt x="2479613" y="2942919"/>
                  </a:lnTo>
                  <a:lnTo>
                    <a:pt x="2460973" y="2988269"/>
                  </a:lnTo>
                  <a:lnTo>
                    <a:pt x="2441529" y="3032808"/>
                  </a:lnTo>
                  <a:lnTo>
                    <a:pt x="2421295" y="3076512"/>
                  </a:lnTo>
                  <a:lnTo>
                    <a:pt x="2400286" y="3119359"/>
                  </a:lnTo>
                  <a:lnTo>
                    <a:pt x="2378518" y="3161330"/>
                  </a:lnTo>
                  <a:lnTo>
                    <a:pt x="2356005" y="3202400"/>
                  </a:lnTo>
                  <a:lnTo>
                    <a:pt x="2332761" y="3242550"/>
                  </a:lnTo>
                  <a:lnTo>
                    <a:pt x="2308801" y="3281756"/>
                  </a:lnTo>
                  <a:lnTo>
                    <a:pt x="2284141" y="3319998"/>
                  </a:lnTo>
                  <a:lnTo>
                    <a:pt x="2258795" y="3357253"/>
                  </a:lnTo>
                  <a:lnTo>
                    <a:pt x="2232778" y="3393500"/>
                  </a:lnTo>
                  <a:lnTo>
                    <a:pt x="2206105" y="3428717"/>
                  </a:lnTo>
                  <a:lnTo>
                    <a:pt x="2178790" y="3462882"/>
                  </a:lnTo>
                  <a:lnTo>
                    <a:pt x="2150849" y="3495974"/>
                  </a:lnTo>
                  <a:lnTo>
                    <a:pt x="2122295" y="3527971"/>
                  </a:lnTo>
                  <a:lnTo>
                    <a:pt x="2093145" y="3558850"/>
                  </a:lnTo>
                  <a:lnTo>
                    <a:pt x="2063412" y="3588591"/>
                  </a:lnTo>
                  <a:lnTo>
                    <a:pt x="2033111" y="3617172"/>
                  </a:lnTo>
                  <a:lnTo>
                    <a:pt x="2002258" y="3644570"/>
                  </a:lnTo>
                  <a:lnTo>
                    <a:pt x="1970867" y="3670765"/>
                  </a:lnTo>
                  <a:lnTo>
                    <a:pt x="1938953" y="3695733"/>
                  </a:lnTo>
                  <a:lnTo>
                    <a:pt x="1906530" y="3719455"/>
                  </a:lnTo>
                  <a:lnTo>
                    <a:pt x="1873614" y="3741907"/>
                  </a:lnTo>
                  <a:lnTo>
                    <a:pt x="1840219" y="3763068"/>
                  </a:lnTo>
                  <a:lnTo>
                    <a:pt x="1806360" y="3782916"/>
                  </a:lnTo>
                  <a:lnTo>
                    <a:pt x="1772052" y="3801430"/>
                  </a:lnTo>
                  <a:lnTo>
                    <a:pt x="1737309" y="3818588"/>
                  </a:lnTo>
                  <a:lnTo>
                    <a:pt x="1702147" y="3834368"/>
                  </a:lnTo>
                  <a:lnTo>
                    <a:pt x="1666580" y="3848749"/>
                  </a:lnTo>
                  <a:lnTo>
                    <a:pt x="1630624" y="3861708"/>
                  </a:lnTo>
                  <a:lnTo>
                    <a:pt x="1594292" y="3873223"/>
                  </a:lnTo>
                  <a:lnTo>
                    <a:pt x="1520561" y="3891839"/>
                  </a:lnTo>
                  <a:lnTo>
                    <a:pt x="1445508" y="3904420"/>
                  </a:lnTo>
                  <a:lnTo>
                    <a:pt x="1407522" y="3908394"/>
                  </a:lnTo>
                  <a:lnTo>
                    <a:pt x="1369249" y="3910795"/>
                  </a:lnTo>
                  <a:lnTo>
                    <a:pt x="1330705" y="3911600"/>
                  </a:lnTo>
                  <a:lnTo>
                    <a:pt x="1292155" y="3910795"/>
                  </a:lnTo>
                  <a:lnTo>
                    <a:pt x="1253876" y="3908394"/>
                  </a:lnTo>
                  <a:lnTo>
                    <a:pt x="1215884" y="3904420"/>
                  </a:lnTo>
                  <a:lnTo>
                    <a:pt x="1140819" y="3891839"/>
                  </a:lnTo>
                  <a:lnTo>
                    <a:pt x="1067078" y="3873223"/>
                  </a:lnTo>
                  <a:lnTo>
                    <a:pt x="1030741" y="3861708"/>
                  </a:lnTo>
                  <a:lnTo>
                    <a:pt x="994779" y="3848749"/>
                  </a:lnTo>
                  <a:lnTo>
                    <a:pt x="959208" y="3834368"/>
                  </a:lnTo>
                  <a:lnTo>
                    <a:pt x="924042" y="3818588"/>
                  </a:lnTo>
                  <a:lnTo>
                    <a:pt x="889295" y="3801430"/>
                  </a:lnTo>
                  <a:lnTo>
                    <a:pt x="854983" y="3782916"/>
                  </a:lnTo>
                  <a:lnTo>
                    <a:pt x="821120" y="3763068"/>
                  </a:lnTo>
                  <a:lnTo>
                    <a:pt x="787721" y="3741907"/>
                  </a:lnTo>
                  <a:lnTo>
                    <a:pt x="754801" y="3719455"/>
                  </a:lnTo>
                  <a:lnTo>
                    <a:pt x="722375" y="3695733"/>
                  </a:lnTo>
                  <a:lnTo>
                    <a:pt x="690458" y="3670765"/>
                  </a:lnTo>
                  <a:lnTo>
                    <a:pt x="659064" y="3644570"/>
                  </a:lnTo>
                  <a:lnTo>
                    <a:pt x="628208" y="3617172"/>
                  </a:lnTo>
                  <a:lnTo>
                    <a:pt x="597904" y="3588591"/>
                  </a:lnTo>
                  <a:lnTo>
                    <a:pt x="568169" y="3558850"/>
                  </a:lnTo>
                  <a:lnTo>
                    <a:pt x="539016" y="3527971"/>
                  </a:lnTo>
                  <a:lnTo>
                    <a:pt x="510460" y="3495974"/>
                  </a:lnTo>
                  <a:lnTo>
                    <a:pt x="482516" y="3462882"/>
                  </a:lnTo>
                  <a:lnTo>
                    <a:pt x="455199" y="3428717"/>
                  </a:lnTo>
                  <a:lnTo>
                    <a:pt x="428524" y="3393500"/>
                  </a:lnTo>
                  <a:lnTo>
                    <a:pt x="402505" y="3357253"/>
                  </a:lnTo>
                  <a:lnTo>
                    <a:pt x="377158" y="3319998"/>
                  </a:lnTo>
                  <a:lnTo>
                    <a:pt x="352496" y="3281756"/>
                  </a:lnTo>
                  <a:lnTo>
                    <a:pt x="328535" y="3242550"/>
                  </a:lnTo>
                  <a:lnTo>
                    <a:pt x="305290" y="3202400"/>
                  </a:lnTo>
                  <a:lnTo>
                    <a:pt x="282775" y="3161330"/>
                  </a:lnTo>
                  <a:lnTo>
                    <a:pt x="261006" y="3119359"/>
                  </a:lnTo>
                  <a:lnTo>
                    <a:pt x="239996" y="3076512"/>
                  </a:lnTo>
                  <a:lnTo>
                    <a:pt x="219761" y="3032808"/>
                  </a:lnTo>
                  <a:lnTo>
                    <a:pt x="200316" y="2988269"/>
                  </a:lnTo>
                  <a:lnTo>
                    <a:pt x="181675" y="2942919"/>
                  </a:lnTo>
                  <a:lnTo>
                    <a:pt x="163854" y="2896777"/>
                  </a:lnTo>
                  <a:lnTo>
                    <a:pt x="146866" y="2849867"/>
                  </a:lnTo>
                  <a:lnTo>
                    <a:pt x="130727" y="2802209"/>
                  </a:lnTo>
                  <a:lnTo>
                    <a:pt x="115451" y="2753826"/>
                  </a:lnTo>
                  <a:lnTo>
                    <a:pt x="101054" y="2704739"/>
                  </a:lnTo>
                  <a:lnTo>
                    <a:pt x="87550" y="2654970"/>
                  </a:lnTo>
                  <a:lnTo>
                    <a:pt x="74954" y="2604540"/>
                  </a:lnTo>
                  <a:lnTo>
                    <a:pt x="63280" y="2553472"/>
                  </a:lnTo>
                  <a:lnTo>
                    <a:pt x="52544" y="2501787"/>
                  </a:lnTo>
                  <a:lnTo>
                    <a:pt x="42760" y="2449508"/>
                  </a:lnTo>
                  <a:lnTo>
                    <a:pt x="33944" y="2396654"/>
                  </a:lnTo>
                  <a:lnTo>
                    <a:pt x="26109" y="2343250"/>
                  </a:lnTo>
                  <a:lnTo>
                    <a:pt x="19271" y="2289315"/>
                  </a:lnTo>
                  <a:lnTo>
                    <a:pt x="13444" y="2234873"/>
                  </a:lnTo>
                  <a:lnTo>
                    <a:pt x="8643" y="2179944"/>
                  </a:lnTo>
                  <a:lnTo>
                    <a:pt x="4884" y="2124550"/>
                  </a:lnTo>
                  <a:lnTo>
                    <a:pt x="2180" y="2068714"/>
                  </a:lnTo>
                  <a:lnTo>
                    <a:pt x="547" y="2012456"/>
                  </a:lnTo>
                  <a:lnTo>
                    <a:pt x="0" y="1955800"/>
                  </a:lnTo>
                  <a:lnTo>
                    <a:pt x="547" y="1899143"/>
                  </a:lnTo>
                  <a:lnTo>
                    <a:pt x="2180" y="1842885"/>
                  </a:lnTo>
                  <a:lnTo>
                    <a:pt x="4884" y="1787049"/>
                  </a:lnTo>
                  <a:lnTo>
                    <a:pt x="8643" y="1731655"/>
                  </a:lnTo>
                  <a:lnTo>
                    <a:pt x="13444" y="1676726"/>
                  </a:lnTo>
                  <a:lnTo>
                    <a:pt x="19271" y="1622284"/>
                  </a:lnTo>
                  <a:lnTo>
                    <a:pt x="26109" y="1568349"/>
                  </a:lnTo>
                  <a:lnTo>
                    <a:pt x="33944" y="1514945"/>
                  </a:lnTo>
                  <a:lnTo>
                    <a:pt x="42760" y="1462091"/>
                  </a:lnTo>
                  <a:lnTo>
                    <a:pt x="52544" y="1409812"/>
                  </a:lnTo>
                  <a:lnTo>
                    <a:pt x="63280" y="1358127"/>
                  </a:lnTo>
                  <a:lnTo>
                    <a:pt x="74954" y="1307059"/>
                  </a:lnTo>
                  <a:lnTo>
                    <a:pt x="87550" y="1256629"/>
                  </a:lnTo>
                  <a:lnTo>
                    <a:pt x="101054" y="1206860"/>
                  </a:lnTo>
                  <a:lnTo>
                    <a:pt x="115451" y="1157773"/>
                  </a:lnTo>
                  <a:lnTo>
                    <a:pt x="130727" y="1109390"/>
                  </a:lnTo>
                  <a:lnTo>
                    <a:pt x="146866" y="1061732"/>
                  </a:lnTo>
                  <a:lnTo>
                    <a:pt x="163854" y="1014822"/>
                  </a:lnTo>
                  <a:lnTo>
                    <a:pt x="181675" y="968680"/>
                  </a:lnTo>
                  <a:lnTo>
                    <a:pt x="200316" y="923330"/>
                  </a:lnTo>
                  <a:lnTo>
                    <a:pt x="219761" y="878791"/>
                  </a:lnTo>
                  <a:lnTo>
                    <a:pt x="239996" y="835087"/>
                  </a:lnTo>
                  <a:lnTo>
                    <a:pt x="261006" y="792240"/>
                  </a:lnTo>
                  <a:lnTo>
                    <a:pt x="282775" y="750269"/>
                  </a:lnTo>
                  <a:lnTo>
                    <a:pt x="305290" y="709199"/>
                  </a:lnTo>
                  <a:lnTo>
                    <a:pt x="328535" y="669049"/>
                  </a:lnTo>
                  <a:lnTo>
                    <a:pt x="352496" y="629843"/>
                  </a:lnTo>
                  <a:lnTo>
                    <a:pt x="377158" y="591601"/>
                  </a:lnTo>
                  <a:lnTo>
                    <a:pt x="402505" y="554346"/>
                  </a:lnTo>
                  <a:lnTo>
                    <a:pt x="428524" y="518099"/>
                  </a:lnTo>
                  <a:lnTo>
                    <a:pt x="455199" y="482882"/>
                  </a:lnTo>
                  <a:lnTo>
                    <a:pt x="482516" y="448717"/>
                  </a:lnTo>
                  <a:lnTo>
                    <a:pt x="510460" y="415625"/>
                  </a:lnTo>
                  <a:lnTo>
                    <a:pt x="539016" y="383628"/>
                  </a:lnTo>
                  <a:lnTo>
                    <a:pt x="568169" y="352749"/>
                  </a:lnTo>
                  <a:lnTo>
                    <a:pt x="597904" y="323008"/>
                  </a:lnTo>
                  <a:lnTo>
                    <a:pt x="628208" y="294427"/>
                  </a:lnTo>
                  <a:lnTo>
                    <a:pt x="659064" y="267029"/>
                  </a:lnTo>
                  <a:lnTo>
                    <a:pt x="690458" y="240834"/>
                  </a:lnTo>
                  <a:lnTo>
                    <a:pt x="722375" y="215866"/>
                  </a:lnTo>
                  <a:lnTo>
                    <a:pt x="754801" y="192144"/>
                  </a:lnTo>
                  <a:lnTo>
                    <a:pt x="787721" y="169692"/>
                  </a:lnTo>
                  <a:lnTo>
                    <a:pt x="821120" y="148531"/>
                  </a:lnTo>
                  <a:lnTo>
                    <a:pt x="854983" y="128683"/>
                  </a:lnTo>
                  <a:lnTo>
                    <a:pt x="889295" y="110169"/>
                  </a:lnTo>
                  <a:lnTo>
                    <a:pt x="924042" y="93011"/>
                  </a:lnTo>
                  <a:lnTo>
                    <a:pt x="959208" y="77231"/>
                  </a:lnTo>
                  <a:lnTo>
                    <a:pt x="994779" y="62850"/>
                  </a:lnTo>
                  <a:lnTo>
                    <a:pt x="1030741" y="49891"/>
                  </a:lnTo>
                  <a:lnTo>
                    <a:pt x="1067078" y="38376"/>
                  </a:lnTo>
                  <a:lnTo>
                    <a:pt x="1140819" y="19760"/>
                  </a:lnTo>
                  <a:lnTo>
                    <a:pt x="1215884" y="7179"/>
                  </a:lnTo>
                  <a:lnTo>
                    <a:pt x="1253876" y="3205"/>
                  </a:lnTo>
                  <a:lnTo>
                    <a:pt x="1292155" y="804"/>
                  </a:lnTo>
                  <a:lnTo>
                    <a:pt x="1330705" y="0"/>
                  </a:lnTo>
                  <a:lnTo>
                    <a:pt x="1369249" y="804"/>
                  </a:lnTo>
                  <a:lnTo>
                    <a:pt x="1407522" y="3205"/>
                  </a:lnTo>
                  <a:lnTo>
                    <a:pt x="1445508" y="7179"/>
                  </a:lnTo>
                  <a:lnTo>
                    <a:pt x="1520561" y="19760"/>
                  </a:lnTo>
                  <a:lnTo>
                    <a:pt x="1594292" y="38376"/>
                  </a:lnTo>
                  <a:lnTo>
                    <a:pt x="1630624" y="49891"/>
                  </a:lnTo>
                  <a:lnTo>
                    <a:pt x="1666580" y="62850"/>
                  </a:lnTo>
                  <a:lnTo>
                    <a:pt x="1702147" y="77231"/>
                  </a:lnTo>
                  <a:lnTo>
                    <a:pt x="1737309" y="93011"/>
                  </a:lnTo>
                  <a:lnTo>
                    <a:pt x="1772052" y="110169"/>
                  </a:lnTo>
                  <a:lnTo>
                    <a:pt x="1806360" y="128683"/>
                  </a:lnTo>
                  <a:lnTo>
                    <a:pt x="1840219" y="148531"/>
                  </a:lnTo>
                  <a:lnTo>
                    <a:pt x="1873614" y="169692"/>
                  </a:lnTo>
                  <a:lnTo>
                    <a:pt x="1906530" y="192144"/>
                  </a:lnTo>
                  <a:lnTo>
                    <a:pt x="1938953" y="215866"/>
                  </a:lnTo>
                  <a:lnTo>
                    <a:pt x="1970867" y="240834"/>
                  </a:lnTo>
                  <a:lnTo>
                    <a:pt x="2002258" y="267029"/>
                  </a:lnTo>
                  <a:lnTo>
                    <a:pt x="2033111" y="294427"/>
                  </a:lnTo>
                  <a:lnTo>
                    <a:pt x="2063412" y="323008"/>
                  </a:lnTo>
                  <a:lnTo>
                    <a:pt x="2093145" y="352749"/>
                  </a:lnTo>
                  <a:lnTo>
                    <a:pt x="2122295" y="383628"/>
                  </a:lnTo>
                  <a:lnTo>
                    <a:pt x="2150849" y="415625"/>
                  </a:lnTo>
                  <a:lnTo>
                    <a:pt x="2178790" y="448717"/>
                  </a:lnTo>
                  <a:lnTo>
                    <a:pt x="2206105" y="482882"/>
                  </a:lnTo>
                  <a:lnTo>
                    <a:pt x="2232778" y="518099"/>
                  </a:lnTo>
                  <a:lnTo>
                    <a:pt x="2258795" y="554346"/>
                  </a:lnTo>
                  <a:lnTo>
                    <a:pt x="2284141" y="591601"/>
                  </a:lnTo>
                  <a:lnTo>
                    <a:pt x="2308801" y="629843"/>
                  </a:lnTo>
                  <a:lnTo>
                    <a:pt x="2332761" y="669049"/>
                  </a:lnTo>
                  <a:lnTo>
                    <a:pt x="2356005" y="709199"/>
                  </a:lnTo>
                  <a:lnTo>
                    <a:pt x="2378518" y="750269"/>
                  </a:lnTo>
                  <a:lnTo>
                    <a:pt x="2400286" y="792240"/>
                  </a:lnTo>
                  <a:lnTo>
                    <a:pt x="2421295" y="835087"/>
                  </a:lnTo>
                  <a:lnTo>
                    <a:pt x="2441529" y="878791"/>
                  </a:lnTo>
                  <a:lnTo>
                    <a:pt x="2460973" y="923330"/>
                  </a:lnTo>
                  <a:lnTo>
                    <a:pt x="2479613" y="968680"/>
                  </a:lnTo>
                  <a:lnTo>
                    <a:pt x="2497434" y="1014822"/>
                  </a:lnTo>
                  <a:lnTo>
                    <a:pt x="2514422" y="1061732"/>
                  </a:lnTo>
                  <a:lnTo>
                    <a:pt x="2530560" y="1109390"/>
                  </a:lnTo>
                  <a:lnTo>
                    <a:pt x="2545835" y="1157773"/>
                  </a:lnTo>
                  <a:lnTo>
                    <a:pt x="2560232" y="1206860"/>
                  </a:lnTo>
                  <a:lnTo>
                    <a:pt x="2573736" y="1256629"/>
                  </a:lnTo>
                  <a:lnTo>
                    <a:pt x="2586332" y="1307059"/>
                  </a:lnTo>
                  <a:lnTo>
                    <a:pt x="2598005" y="1358127"/>
                  </a:lnTo>
                  <a:lnTo>
                    <a:pt x="2608741" y="1409812"/>
                  </a:lnTo>
                  <a:lnTo>
                    <a:pt x="2618524" y="1462091"/>
                  </a:lnTo>
                  <a:lnTo>
                    <a:pt x="2627341" y="1514945"/>
                  </a:lnTo>
                  <a:lnTo>
                    <a:pt x="2635176" y="1568349"/>
                  </a:lnTo>
                  <a:lnTo>
                    <a:pt x="2642014" y="1622284"/>
                  </a:lnTo>
                  <a:lnTo>
                    <a:pt x="2647840" y="1676726"/>
                  </a:lnTo>
                  <a:lnTo>
                    <a:pt x="2652641" y="1731655"/>
                  </a:lnTo>
                  <a:lnTo>
                    <a:pt x="2656400" y="1787049"/>
                  </a:lnTo>
                  <a:lnTo>
                    <a:pt x="2659104" y="1842885"/>
                  </a:lnTo>
                  <a:lnTo>
                    <a:pt x="2660737" y="1899143"/>
                  </a:lnTo>
                  <a:lnTo>
                    <a:pt x="2661284" y="195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700" y="0"/>
                  </a:moveTo>
                  <a:lnTo>
                    <a:pt x="0" y="0"/>
                  </a:lnTo>
                  <a:lnTo>
                    <a:pt x="0" y="2684145"/>
                  </a:lnTo>
                  <a:lnTo>
                    <a:pt x="2806700" y="2684145"/>
                  </a:lnTo>
                  <a:lnTo>
                    <a:pt x="280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5"/>
                  </a:moveTo>
                  <a:lnTo>
                    <a:pt x="2806700" y="2684145"/>
                  </a:lnTo>
                  <a:lnTo>
                    <a:pt x="2806700" y="0"/>
                  </a:lnTo>
                  <a:lnTo>
                    <a:pt x="0" y="0"/>
                  </a:lnTo>
                  <a:lnTo>
                    <a:pt x="0" y="26841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8950" y="4663694"/>
              <a:ext cx="98425" cy="114173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6394450" y="2924809"/>
            <a:ext cx="3199765" cy="1839595"/>
          </a:xfrm>
          <a:custGeom>
            <a:avLst/>
            <a:gdLst/>
            <a:ahLst/>
            <a:cxnLst/>
            <a:rect l="l" t="t" r="r" b="b"/>
            <a:pathLst>
              <a:path w="3199765" h="1839595">
                <a:moveTo>
                  <a:pt x="3199765" y="1801241"/>
                </a:moveTo>
                <a:lnTo>
                  <a:pt x="3187065" y="1794891"/>
                </a:lnTo>
                <a:lnTo>
                  <a:pt x="3123565" y="1763141"/>
                </a:lnTo>
                <a:lnTo>
                  <a:pt x="3123565" y="1794891"/>
                </a:lnTo>
                <a:lnTo>
                  <a:pt x="44450" y="1794891"/>
                </a:lnTo>
                <a:lnTo>
                  <a:pt x="44450" y="76200"/>
                </a:lnTo>
                <a:lnTo>
                  <a:pt x="76200" y="76200"/>
                </a:lnTo>
                <a:lnTo>
                  <a:pt x="69913" y="63627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1794891"/>
                </a:lnTo>
                <a:lnTo>
                  <a:pt x="31750" y="1800098"/>
                </a:lnTo>
                <a:lnTo>
                  <a:pt x="31750" y="1807591"/>
                </a:lnTo>
                <a:lnTo>
                  <a:pt x="3123565" y="1807591"/>
                </a:lnTo>
                <a:lnTo>
                  <a:pt x="3123565" y="1839341"/>
                </a:lnTo>
                <a:lnTo>
                  <a:pt x="3187065" y="1807591"/>
                </a:lnTo>
                <a:lnTo>
                  <a:pt x="3199765" y="180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740900" y="454837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17586" y="4697069"/>
            <a:ext cx="1108710" cy="5283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400" dirty="0">
                <a:latin typeface="Calibri"/>
                <a:cs typeface="Calibri"/>
              </a:rPr>
              <a:t>mínimo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global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100" spc="60" baseline="11904" dirty="0">
                <a:latin typeface="Cambria Math"/>
                <a:cs typeface="Cambria Math"/>
              </a:rPr>
              <a:t>𝑎</a:t>
            </a:r>
            <a:r>
              <a:rPr sz="1000" spc="40" dirty="0">
                <a:latin typeface="Cambria Math"/>
                <a:cs typeface="Cambria Math"/>
              </a:rPr>
              <a:t>ótimo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4469" y="4734559"/>
            <a:ext cx="844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 marR="5080" indent="-8382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valor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inicial aleatório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2294" y="3555491"/>
            <a:ext cx="1248028" cy="12058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568820" y="2859785"/>
            <a:ext cx="2297430" cy="89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50">
              <a:latin typeface="Cambria Math"/>
              <a:cs typeface="Cambria Math"/>
            </a:endParaRPr>
          </a:p>
          <a:p>
            <a:pPr marL="57721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passo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aprendizagem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62750" y="638555"/>
            <a:ext cx="2819400" cy="4139565"/>
            <a:chOff x="6762750" y="638555"/>
            <a:chExt cx="2819400" cy="4139565"/>
          </a:xfrm>
        </p:grpSpPr>
        <p:sp>
          <p:nvSpPr>
            <p:cNvPr id="3" name="object 3"/>
            <p:cNvSpPr/>
            <p:nvPr/>
          </p:nvSpPr>
          <p:spPr>
            <a:xfrm>
              <a:off x="6845300" y="800861"/>
              <a:ext cx="2661285" cy="3911600"/>
            </a:xfrm>
            <a:custGeom>
              <a:avLst/>
              <a:gdLst/>
              <a:ahLst/>
              <a:cxnLst/>
              <a:rect l="l" t="t" r="r" b="b"/>
              <a:pathLst>
                <a:path w="2661284" h="3911600">
                  <a:moveTo>
                    <a:pt x="2661284" y="1955800"/>
                  </a:moveTo>
                  <a:lnTo>
                    <a:pt x="2660737" y="2012456"/>
                  </a:lnTo>
                  <a:lnTo>
                    <a:pt x="2659104" y="2068714"/>
                  </a:lnTo>
                  <a:lnTo>
                    <a:pt x="2656400" y="2124550"/>
                  </a:lnTo>
                  <a:lnTo>
                    <a:pt x="2652641" y="2179944"/>
                  </a:lnTo>
                  <a:lnTo>
                    <a:pt x="2647840" y="2234873"/>
                  </a:lnTo>
                  <a:lnTo>
                    <a:pt x="2642014" y="2289315"/>
                  </a:lnTo>
                  <a:lnTo>
                    <a:pt x="2635176" y="2343250"/>
                  </a:lnTo>
                  <a:lnTo>
                    <a:pt x="2627341" y="2396654"/>
                  </a:lnTo>
                  <a:lnTo>
                    <a:pt x="2618524" y="2449508"/>
                  </a:lnTo>
                  <a:lnTo>
                    <a:pt x="2608741" y="2501787"/>
                  </a:lnTo>
                  <a:lnTo>
                    <a:pt x="2598005" y="2553472"/>
                  </a:lnTo>
                  <a:lnTo>
                    <a:pt x="2586332" y="2604540"/>
                  </a:lnTo>
                  <a:lnTo>
                    <a:pt x="2573736" y="2654970"/>
                  </a:lnTo>
                  <a:lnTo>
                    <a:pt x="2560232" y="2704739"/>
                  </a:lnTo>
                  <a:lnTo>
                    <a:pt x="2545835" y="2753826"/>
                  </a:lnTo>
                  <a:lnTo>
                    <a:pt x="2530560" y="2802209"/>
                  </a:lnTo>
                  <a:lnTo>
                    <a:pt x="2514422" y="2849867"/>
                  </a:lnTo>
                  <a:lnTo>
                    <a:pt x="2497434" y="2896777"/>
                  </a:lnTo>
                  <a:lnTo>
                    <a:pt x="2479613" y="2942919"/>
                  </a:lnTo>
                  <a:lnTo>
                    <a:pt x="2460973" y="2988269"/>
                  </a:lnTo>
                  <a:lnTo>
                    <a:pt x="2441529" y="3032808"/>
                  </a:lnTo>
                  <a:lnTo>
                    <a:pt x="2421295" y="3076512"/>
                  </a:lnTo>
                  <a:lnTo>
                    <a:pt x="2400286" y="3119359"/>
                  </a:lnTo>
                  <a:lnTo>
                    <a:pt x="2378518" y="3161330"/>
                  </a:lnTo>
                  <a:lnTo>
                    <a:pt x="2356005" y="3202400"/>
                  </a:lnTo>
                  <a:lnTo>
                    <a:pt x="2332761" y="3242550"/>
                  </a:lnTo>
                  <a:lnTo>
                    <a:pt x="2308801" y="3281756"/>
                  </a:lnTo>
                  <a:lnTo>
                    <a:pt x="2284141" y="3319998"/>
                  </a:lnTo>
                  <a:lnTo>
                    <a:pt x="2258795" y="3357253"/>
                  </a:lnTo>
                  <a:lnTo>
                    <a:pt x="2232778" y="3393500"/>
                  </a:lnTo>
                  <a:lnTo>
                    <a:pt x="2206105" y="3428717"/>
                  </a:lnTo>
                  <a:lnTo>
                    <a:pt x="2178790" y="3462882"/>
                  </a:lnTo>
                  <a:lnTo>
                    <a:pt x="2150849" y="3495974"/>
                  </a:lnTo>
                  <a:lnTo>
                    <a:pt x="2122295" y="3527971"/>
                  </a:lnTo>
                  <a:lnTo>
                    <a:pt x="2093145" y="3558850"/>
                  </a:lnTo>
                  <a:lnTo>
                    <a:pt x="2063412" y="3588591"/>
                  </a:lnTo>
                  <a:lnTo>
                    <a:pt x="2033111" y="3617172"/>
                  </a:lnTo>
                  <a:lnTo>
                    <a:pt x="2002258" y="3644570"/>
                  </a:lnTo>
                  <a:lnTo>
                    <a:pt x="1970867" y="3670765"/>
                  </a:lnTo>
                  <a:lnTo>
                    <a:pt x="1938953" y="3695733"/>
                  </a:lnTo>
                  <a:lnTo>
                    <a:pt x="1906530" y="3719455"/>
                  </a:lnTo>
                  <a:lnTo>
                    <a:pt x="1873614" y="3741907"/>
                  </a:lnTo>
                  <a:lnTo>
                    <a:pt x="1840219" y="3763068"/>
                  </a:lnTo>
                  <a:lnTo>
                    <a:pt x="1806360" y="3782916"/>
                  </a:lnTo>
                  <a:lnTo>
                    <a:pt x="1772052" y="3801430"/>
                  </a:lnTo>
                  <a:lnTo>
                    <a:pt x="1737309" y="3818588"/>
                  </a:lnTo>
                  <a:lnTo>
                    <a:pt x="1702147" y="3834368"/>
                  </a:lnTo>
                  <a:lnTo>
                    <a:pt x="1666580" y="3848749"/>
                  </a:lnTo>
                  <a:lnTo>
                    <a:pt x="1630624" y="3861708"/>
                  </a:lnTo>
                  <a:lnTo>
                    <a:pt x="1594292" y="3873223"/>
                  </a:lnTo>
                  <a:lnTo>
                    <a:pt x="1520561" y="3891839"/>
                  </a:lnTo>
                  <a:lnTo>
                    <a:pt x="1445508" y="3904420"/>
                  </a:lnTo>
                  <a:lnTo>
                    <a:pt x="1407522" y="3908394"/>
                  </a:lnTo>
                  <a:lnTo>
                    <a:pt x="1369249" y="3910795"/>
                  </a:lnTo>
                  <a:lnTo>
                    <a:pt x="1330705" y="3911600"/>
                  </a:lnTo>
                  <a:lnTo>
                    <a:pt x="1292155" y="3910795"/>
                  </a:lnTo>
                  <a:lnTo>
                    <a:pt x="1253876" y="3908394"/>
                  </a:lnTo>
                  <a:lnTo>
                    <a:pt x="1215884" y="3904420"/>
                  </a:lnTo>
                  <a:lnTo>
                    <a:pt x="1140819" y="3891839"/>
                  </a:lnTo>
                  <a:lnTo>
                    <a:pt x="1067078" y="3873223"/>
                  </a:lnTo>
                  <a:lnTo>
                    <a:pt x="1030741" y="3861708"/>
                  </a:lnTo>
                  <a:lnTo>
                    <a:pt x="994779" y="3848749"/>
                  </a:lnTo>
                  <a:lnTo>
                    <a:pt x="959208" y="3834368"/>
                  </a:lnTo>
                  <a:lnTo>
                    <a:pt x="924042" y="3818588"/>
                  </a:lnTo>
                  <a:lnTo>
                    <a:pt x="889295" y="3801430"/>
                  </a:lnTo>
                  <a:lnTo>
                    <a:pt x="854983" y="3782916"/>
                  </a:lnTo>
                  <a:lnTo>
                    <a:pt x="821120" y="3763068"/>
                  </a:lnTo>
                  <a:lnTo>
                    <a:pt x="787721" y="3741907"/>
                  </a:lnTo>
                  <a:lnTo>
                    <a:pt x="754801" y="3719455"/>
                  </a:lnTo>
                  <a:lnTo>
                    <a:pt x="722375" y="3695733"/>
                  </a:lnTo>
                  <a:lnTo>
                    <a:pt x="690458" y="3670765"/>
                  </a:lnTo>
                  <a:lnTo>
                    <a:pt x="659064" y="3644570"/>
                  </a:lnTo>
                  <a:lnTo>
                    <a:pt x="628208" y="3617172"/>
                  </a:lnTo>
                  <a:lnTo>
                    <a:pt x="597904" y="3588591"/>
                  </a:lnTo>
                  <a:lnTo>
                    <a:pt x="568169" y="3558850"/>
                  </a:lnTo>
                  <a:lnTo>
                    <a:pt x="539016" y="3527971"/>
                  </a:lnTo>
                  <a:lnTo>
                    <a:pt x="510460" y="3495974"/>
                  </a:lnTo>
                  <a:lnTo>
                    <a:pt x="482516" y="3462882"/>
                  </a:lnTo>
                  <a:lnTo>
                    <a:pt x="455199" y="3428717"/>
                  </a:lnTo>
                  <a:lnTo>
                    <a:pt x="428524" y="3393500"/>
                  </a:lnTo>
                  <a:lnTo>
                    <a:pt x="402505" y="3357253"/>
                  </a:lnTo>
                  <a:lnTo>
                    <a:pt x="377158" y="3319998"/>
                  </a:lnTo>
                  <a:lnTo>
                    <a:pt x="352496" y="3281756"/>
                  </a:lnTo>
                  <a:lnTo>
                    <a:pt x="328535" y="3242550"/>
                  </a:lnTo>
                  <a:lnTo>
                    <a:pt x="305290" y="3202400"/>
                  </a:lnTo>
                  <a:lnTo>
                    <a:pt x="282775" y="3161330"/>
                  </a:lnTo>
                  <a:lnTo>
                    <a:pt x="261006" y="3119359"/>
                  </a:lnTo>
                  <a:lnTo>
                    <a:pt x="239996" y="3076512"/>
                  </a:lnTo>
                  <a:lnTo>
                    <a:pt x="219761" y="3032808"/>
                  </a:lnTo>
                  <a:lnTo>
                    <a:pt x="200316" y="2988269"/>
                  </a:lnTo>
                  <a:lnTo>
                    <a:pt x="181675" y="2942919"/>
                  </a:lnTo>
                  <a:lnTo>
                    <a:pt x="163854" y="2896777"/>
                  </a:lnTo>
                  <a:lnTo>
                    <a:pt x="146866" y="2849867"/>
                  </a:lnTo>
                  <a:lnTo>
                    <a:pt x="130727" y="2802209"/>
                  </a:lnTo>
                  <a:lnTo>
                    <a:pt x="115451" y="2753826"/>
                  </a:lnTo>
                  <a:lnTo>
                    <a:pt x="101054" y="2704739"/>
                  </a:lnTo>
                  <a:lnTo>
                    <a:pt x="87550" y="2654970"/>
                  </a:lnTo>
                  <a:lnTo>
                    <a:pt x="74954" y="2604540"/>
                  </a:lnTo>
                  <a:lnTo>
                    <a:pt x="63280" y="2553472"/>
                  </a:lnTo>
                  <a:lnTo>
                    <a:pt x="52544" y="2501787"/>
                  </a:lnTo>
                  <a:lnTo>
                    <a:pt x="42760" y="2449508"/>
                  </a:lnTo>
                  <a:lnTo>
                    <a:pt x="33944" y="2396654"/>
                  </a:lnTo>
                  <a:lnTo>
                    <a:pt x="26109" y="2343250"/>
                  </a:lnTo>
                  <a:lnTo>
                    <a:pt x="19271" y="2289315"/>
                  </a:lnTo>
                  <a:lnTo>
                    <a:pt x="13444" y="2234873"/>
                  </a:lnTo>
                  <a:lnTo>
                    <a:pt x="8643" y="2179944"/>
                  </a:lnTo>
                  <a:lnTo>
                    <a:pt x="4884" y="2124550"/>
                  </a:lnTo>
                  <a:lnTo>
                    <a:pt x="2180" y="2068714"/>
                  </a:lnTo>
                  <a:lnTo>
                    <a:pt x="547" y="2012456"/>
                  </a:lnTo>
                  <a:lnTo>
                    <a:pt x="0" y="1955800"/>
                  </a:lnTo>
                  <a:lnTo>
                    <a:pt x="547" y="1899143"/>
                  </a:lnTo>
                  <a:lnTo>
                    <a:pt x="2180" y="1842885"/>
                  </a:lnTo>
                  <a:lnTo>
                    <a:pt x="4884" y="1787049"/>
                  </a:lnTo>
                  <a:lnTo>
                    <a:pt x="8643" y="1731655"/>
                  </a:lnTo>
                  <a:lnTo>
                    <a:pt x="13444" y="1676726"/>
                  </a:lnTo>
                  <a:lnTo>
                    <a:pt x="19271" y="1622284"/>
                  </a:lnTo>
                  <a:lnTo>
                    <a:pt x="26109" y="1568349"/>
                  </a:lnTo>
                  <a:lnTo>
                    <a:pt x="33944" y="1514945"/>
                  </a:lnTo>
                  <a:lnTo>
                    <a:pt x="42760" y="1462091"/>
                  </a:lnTo>
                  <a:lnTo>
                    <a:pt x="52544" y="1409812"/>
                  </a:lnTo>
                  <a:lnTo>
                    <a:pt x="63280" y="1358127"/>
                  </a:lnTo>
                  <a:lnTo>
                    <a:pt x="74954" y="1307059"/>
                  </a:lnTo>
                  <a:lnTo>
                    <a:pt x="87550" y="1256629"/>
                  </a:lnTo>
                  <a:lnTo>
                    <a:pt x="101054" y="1206860"/>
                  </a:lnTo>
                  <a:lnTo>
                    <a:pt x="115451" y="1157773"/>
                  </a:lnTo>
                  <a:lnTo>
                    <a:pt x="130727" y="1109390"/>
                  </a:lnTo>
                  <a:lnTo>
                    <a:pt x="146866" y="1061732"/>
                  </a:lnTo>
                  <a:lnTo>
                    <a:pt x="163854" y="1014822"/>
                  </a:lnTo>
                  <a:lnTo>
                    <a:pt x="181675" y="968680"/>
                  </a:lnTo>
                  <a:lnTo>
                    <a:pt x="200316" y="923330"/>
                  </a:lnTo>
                  <a:lnTo>
                    <a:pt x="219761" y="878791"/>
                  </a:lnTo>
                  <a:lnTo>
                    <a:pt x="239996" y="835087"/>
                  </a:lnTo>
                  <a:lnTo>
                    <a:pt x="261006" y="792240"/>
                  </a:lnTo>
                  <a:lnTo>
                    <a:pt x="282775" y="750269"/>
                  </a:lnTo>
                  <a:lnTo>
                    <a:pt x="305290" y="709199"/>
                  </a:lnTo>
                  <a:lnTo>
                    <a:pt x="328535" y="669049"/>
                  </a:lnTo>
                  <a:lnTo>
                    <a:pt x="352496" y="629843"/>
                  </a:lnTo>
                  <a:lnTo>
                    <a:pt x="377158" y="591601"/>
                  </a:lnTo>
                  <a:lnTo>
                    <a:pt x="402505" y="554346"/>
                  </a:lnTo>
                  <a:lnTo>
                    <a:pt x="428524" y="518099"/>
                  </a:lnTo>
                  <a:lnTo>
                    <a:pt x="455199" y="482882"/>
                  </a:lnTo>
                  <a:lnTo>
                    <a:pt x="482516" y="448717"/>
                  </a:lnTo>
                  <a:lnTo>
                    <a:pt x="510460" y="415625"/>
                  </a:lnTo>
                  <a:lnTo>
                    <a:pt x="539016" y="383628"/>
                  </a:lnTo>
                  <a:lnTo>
                    <a:pt x="568169" y="352749"/>
                  </a:lnTo>
                  <a:lnTo>
                    <a:pt x="597904" y="323008"/>
                  </a:lnTo>
                  <a:lnTo>
                    <a:pt x="628208" y="294427"/>
                  </a:lnTo>
                  <a:lnTo>
                    <a:pt x="659064" y="267029"/>
                  </a:lnTo>
                  <a:lnTo>
                    <a:pt x="690458" y="240834"/>
                  </a:lnTo>
                  <a:lnTo>
                    <a:pt x="722375" y="215866"/>
                  </a:lnTo>
                  <a:lnTo>
                    <a:pt x="754801" y="192144"/>
                  </a:lnTo>
                  <a:lnTo>
                    <a:pt x="787721" y="169692"/>
                  </a:lnTo>
                  <a:lnTo>
                    <a:pt x="821120" y="148531"/>
                  </a:lnTo>
                  <a:lnTo>
                    <a:pt x="854983" y="128683"/>
                  </a:lnTo>
                  <a:lnTo>
                    <a:pt x="889295" y="110169"/>
                  </a:lnTo>
                  <a:lnTo>
                    <a:pt x="924042" y="93011"/>
                  </a:lnTo>
                  <a:lnTo>
                    <a:pt x="959208" y="77231"/>
                  </a:lnTo>
                  <a:lnTo>
                    <a:pt x="994779" y="62850"/>
                  </a:lnTo>
                  <a:lnTo>
                    <a:pt x="1030741" y="49891"/>
                  </a:lnTo>
                  <a:lnTo>
                    <a:pt x="1067078" y="38376"/>
                  </a:lnTo>
                  <a:lnTo>
                    <a:pt x="1140819" y="19760"/>
                  </a:lnTo>
                  <a:lnTo>
                    <a:pt x="1215884" y="7179"/>
                  </a:lnTo>
                  <a:lnTo>
                    <a:pt x="1253876" y="3205"/>
                  </a:lnTo>
                  <a:lnTo>
                    <a:pt x="1292155" y="804"/>
                  </a:lnTo>
                  <a:lnTo>
                    <a:pt x="1330705" y="0"/>
                  </a:lnTo>
                  <a:lnTo>
                    <a:pt x="1369249" y="804"/>
                  </a:lnTo>
                  <a:lnTo>
                    <a:pt x="1407522" y="3205"/>
                  </a:lnTo>
                  <a:lnTo>
                    <a:pt x="1445508" y="7179"/>
                  </a:lnTo>
                  <a:lnTo>
                    <a:pt x="1520561" y="19760"/>
                  </a:lnTo>
                  <a:lnTo>
                    <a:pt x="1594292" y="38376"/>
                  </a:lnTo>
                  <a:lnTo>
                    <a:pt x="1630624" y="49891"/>
                  </a:lnTo>
                  <a:lnTo>
                    <a:pt x="1666580" y="62850"/>
                  </a:lnTo>
                  <a:lnTo>
                    <a:pt x="1702147" y="77231"/>
                  </a:lnTo>
                  <a:lnTo>
                    <a:pt x="1737309" y="93011"/>
                  </a:lnTo>
                  <a:lnTo>
                    <a:pt x="1772052" y="110169"/>
                  </a:lnTo>
                  <a:lnTo>
                    <a:pt x="1806360" y="128683"/>
                  </a:lnTo>
                  <a:lnTo>
                    <a:pt x="1840219" y="148531"/>
                  </a:lnTo>
                  <a:lnTo>
                    <a:pt x="1873614" y="169692"/>
                  </a:lnTo>
                  <a:lnTo>
                    <a:pt x="1906530" y="192144"/>
                  </a:lnTo>
                  <a:lnTo>
                    <a:pt x="1938953" y="215866"/>
                  </a:lnTo>
                  <a:lnTo>
                    <a:pt x="1970867" y="240834"/>
                  </a:lnTo>
                  <a:lnTo>
                    <a:pt x="2002258" y="267029"/>
                  </a:lnTo>
                  <a:lnTo>
                    <a:pt x="2033111" y="294427"/>
                  </a:lnTo>
                  <a:lnTo>
                    <a:pt x="2063412" y="323008"/>
                  </a:lnTo>
                  <a:lnTo>
                    <a:pt x="2093145" y="352749"/>
                  </a:lnTo>
                  <a:lnTo>
                    <a:pt x="2122295" y="383628"/>
                  </a:lnTo>
                  <a:lnTo>
                    <a:pt x="2150849" y="415625"/>
                  </a:lnTo>
                  <a:lnTo>
                    <a:pt x="2178790" y="448717"/>
                  </a:lnTo>
                  <a:lnTo>
                    <a:pt x="2206105" y="482882"/>
                  </a:lnTo>
                  <a:lnTo>
                    <a:pt x="2232778" y="518099"/>
                  </a:lnTo>
                  <a:lnTo>
                    <a:pt x="2258795" y="554346"/>
                  </a:lnTo>
                  <a:lnTo>
                    <a:pt x="2284141" y="591601"/>
                  </a:lnTo>
                  <a:lnTo>
                    <a:pt x="2308801" y="629843"/>
                  </a:lnTo>
                  <a:lnTo>
                    <a:pt x="2332761" y="669049"/>
                  </a:lnTo>
                  <a:lnTo>
                    <a:pt x="2356005" y="709199"/>
                  </a:lnTo>
                  <a:lnTo>
                    <a:pt x="2378518" y="750269"/>
                  </a:lnTo>
                  <a:lnTo>
                    <a:pt x="2400286" y="792240"/>
                  </a:lnTo>
                  <a:lnTo>
                    <a:pt x="2421295" y="835087"/>
                  </a:lnTo>
                  <a:lnTo>
                    <a:pt x="2441529" y="878791"/>
                  </a:lnTo>
                  <a:lnTo>
                    <a:pt x="2460973" y="923330"/>
                  </a:lnTo>
                  <a:lnTo>
                    <a:pt x="2479613" y="968680"/>
                  </a:lnTo>
                  <a:lnTo>
                    <a:pt x="2497434" y="1014822"/>
                  </a:lnTo>
                  <a:lnTo>
                    <a:pt x="2514422" y="1061732"/>
                  </a:lnTo>
                  <a:lnTo>
                    <a:pt x="2530560" y="1109390"/>
                  </a:lnTo>
                  <a:lnTo>
                    <a:pt x="2545835" y="1157773"/>
                  </a:lnTo>
                  <a:lnTo>
                    <a:pt x="2560232" y="1206860"/>
                  </a:lnTo>
                  <a:lnTo>
                    <a:pt x="2573736" y="1256629"/>
                  </a:lnTo>
                  <a:lnTo>
                    <a:pt x="2586332" y="1307059"/>
                  </a:lnTo>
                  <a:lnTo>
                    <a:pt x="2598005" y="1358127"/>
                  </a:lnTo>
                  <a:lnTo>
                    <a:pt x="2608741" y="1409812"/>
                  </a:lnTo>
                  <a:lnTo>
                    <a:pt x="2618524" y="1462091"/>
                  </a:lnTo>
                  <a:lnTo>
                    <a:pt x="2627341" y="1514945"/>
                  </a:lnTo>
                  <a:lnTo>
                    <a:pt x="2635176" y="1568349"/>
                  </a:lnTo>
                  <a:lnTo>
                    <a:pt x="2642014" y="1622284"/>
                  </a:lnTo>
                  <a:lnTo>
                    <a:pt x="2647840" y="1676726"/>
                  </a:lnTo>
                  <a:lnTo>
                    <a:pt x="2652641" y="1731655"/>
                  </a:lnTo>
                  <a:lnTo>
                    <a:pt x="2656400" y="1787049"/>
                  </a:lnTo>
                  <a:lnTo>
                    <a:pt x="2659104" y="1842885"/>
                  </a:lnTo>
                  <a:lnTo>
                    <a:pt x="2660737" y="1899143"/>
                  </a:lnTo>
                  <a:lnTo>
                    <a:pt x="2661284" y="195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700" y="0"/>
                  </a:moveTo>
                  <a:lnTo>
                    <a:pt x="0" y="0"/>
                  </a:lnTo>
                  <a:lnTo>
                    <a:pt x="0" y="2684145"/>
                  </a:lnTo>
                  <a:lnTo>
                    <a:pt x="2806700" y="2684145"/>
                  </a:lnTo>
                  <a:lnTo>
                    <a:pt x="280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5"/>
                  </a:moveTo>
                  <a:lnTo>
                    <a:pt x="2806700" y="2684145"/>
                  </a:lnTo>
                  <a:lnTo>
                    <a:pt x="2806700" y="0"/>
                  </a:lnTo>
                  <a:lnTo>
                    <a:pt x="0" y="0"/>
                  </a:lnTo>
                  <a:lnTo>
                    <a:pt x="0" y="26841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8950" y="4663694"/>
              <a:ext cx="98425" cy="114173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394450" y="2924810"/>
            <a:ext cx="3199765" cy="1839595"/>
            <a:chOff x="6394450" y="2924810"/>
            <a:chExt cx="3199765" cy="1839595"/>
          </a:xfrm>
        </p:grpSpPr>
        <p:sp>
          <p:nvSpPr>
            <p:cNvPr id="8" name="object 8"/>
            <p:cNvSpPr/>
            <p:nvPr/>
          </p:nvSpPr>
          <p:spPr>
            <a:xfrm>
              <a:off x="6394450" y="2924809"/>
              <a:ext cx="3199765" cy="1839595"/>
            </a:xfrm>
            <a:custGeom>
              <a:avLst/>
              <a:gdLst/>
              <a:ahLst/>
              <a:cxnLst/>
              <a:rect l="l" t="t" r="r" b="b"/>
              <a:pathLst>
                <a:path w="3199765" h="1839595">
                  <a:moveTo>
                    <a:pt x="3199765" y="1801241"/>
                  </a:moveTo>
                  <a:lnTo>
                    <a:pt x="3187065" y="1794891"/>
                  </a:lnTo>
                  <a:lnTo>
                    <a:pt x="3123565" y="1763141"/>
                  </a:lnTo>
                  <a:lnTo>
                    <a:pt x="3123565" y="1794891"/>
                  </a:lnTo>
                  <a:lnTo>
                    <a:pt x="44450" y="1794891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913" y="63627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1794891"/>
                  </a:lnTo>
                  <a:lnTo>
                    <a:pt x="31750" y="1800098"/>
                  </a:lnTo>
                  <a:lnTo>
                    <a:pt x="31750" y="1807591"/>
                  </a:lnTo>
                  <a:lnTo>
                    <a:pt x="3123565" y="1807591"/>
                  </a:lnTo>
                  <a:lnTo>
                    <a:pt x="3123565" y="1839341"/>
                  </a:lnTo>
                  <a:lnTo>
                    <a:pt x="3187065" y="1807591"/>
                  </a:lnTo>
                  <a:lnTo>
                    <a:pt x="3199765" y="18012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22210" y="4473702"/>
              <a:ext cx="0" cy="252095"/>
            </a:xfrm>
            <a:custGeom>
              <a:avLst/>
              <a:gdLst/>
              <a:ahLst/>
              <a:cxnLst/>
              <a:rect l="l" t="t" r="r" b="b"/>
              <a:pathLst>
                <a:path h="252095">
                  <a:moveTo>
                    <a:pt x="0" y="0"/>
                  </a:moveTo>
                  <a:lnTo>
                    <a:pt x="0" y="251968"/>
                  </a:lnTo>
                </a:path>
              </a:pathLst>
            </a:custGeom>
            <a:ln w="190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581520" y="2859785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40900" y="454837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82128" y="4772659"/>
            <a:ext cx="5346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60" baseline="11904" dirty="0">
                <a:latin typeface="Cambria Math"/>
                <a:cs typeface="Cambria Math"/>
              </a:rPr>
              <a:t>𝑎</a:t>
            </a:r>
            <a:r>
              <a:rPr sz="1000" spc="40" dirty="0">
                <a:latin typeface="Cambria Math"/>
                <a:cs typeface="Cambria Math"/>
              </a:rPr>
              <a:t>ótimo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00721" y="4734559"/>
            <a:ext cx="4432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57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valor inicial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930135" y="3343528"/>
            <a:ext cx="2552700" cy="1187450"/>
            <a:chOff x="6930135" y="3343528"/>
            <a:chExt cx="2552700" cy="1187450"/>
          </a:xfrm>
        </p:grpSpPr>
        <p:sp>
          <p:nvSpPr>
            <p:cNvPr id="15" name="object 15"/>
            <p:cNvSpPr/>
            <p:nvPr/>
          </p:nvSpPr>
          <p:spPr>
            <a:xfrm>
              <a:off x="7479410" y="4422901"/>
              <a:ext cx="85725" cy="101600"/>
            </a:xfrm>
            <a:custGeom>
              <a:avLst/>
              <a:gdLst/>
              <a:ahLst/>
              <a:cxnLst/>
              <a:rect l="l" t="t" r="r" b="b"/>
              <a:pathLst>
                <a:path w="85725" h="101600">
                  <a:moveTo>
                    <a:pt x="42799" y="0"/>
                  </a:moveTo>
                  <a:lnTo>
                    <a:pt x="26146" y="3990"/>
                  </a:lnTo>
                  <a:lnTo>
                    <a:pt x="12541" y="14874"/>
                  </a:lnTo>
                  <a:lnTo>
                    <a:pt x="3365" y="31021"/>
                  </a:lnTo>
                  <a:lnTo>
                    <a:pt x="0" y="50800"/>
                  </a:lnTo>
                  <a:lnTo>
                    <a:pt x="3365" y="70504"/>
                  </a:lnTo>
                  <a:lnTo>
                    <a:pt x="12541" y="86613"/>
                  </a:lnTo>
                  <a:lnTo>
                    <a:pt x="26146" y="97484"/>
                  </a:lnTo>
                  <a:lnTo>
                    <a:pt x="42799" y="101473"/>
                  </a:lnTo>
                  <a:lnTo>
                    <a:pt x="59525" y="97484"/>
                  </a:lnTo>
                  <a:lnTo>
                    <a:pt x="73167" y="86614"/>
                  </a:lnTo>
                  <a:lnTo>
                    <a:pt x="82357" y="70504"/>
                  </a:lnTo>
                  <a:lnTo>
                    <a:pt x="85725" y="50800"/>
                  </a:lnTo>
                  <a:lnTo>
                    <a:pt x="82357" y="31021"/>
                  </a:lnTo>
                  <a:lnTo>
                    <a:pt x="73167" y="14874"/>
                  </a:lnTo>
                  <a:lnTo>
                    <a:pt x="59525" y="3990"/>
                  </a:lnTo>
                  <a:lnTo>
                    <a:pt x="427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79410" y="4422901"/>
              <a:ext cx="85725" cy="101600"/>
            </a:xfrm>
            <a:custGeom>
              <a:avLst/>
              <a:gdLst/>
              <a:ahLst/>
              <a:cxnLst/>
              <a:rect l="l" t="t" r="r" b="b"/>
              <a:pathLst>
                <a:path w="85725" h="101600">
                  <a:moveTo>
                    <a:pt x="0" y="50800"/>
                  </a:moveTo>
                  <a:lnTo>
                    <a:pt x="3365" y="31021"/>
                  </a:lnTo>
                  <a:lnTo>
                    <a:pt x="12541" y="14874"/>
                  </a:lnTo>
                  <a:lnTo>
                    <a:pt x="26146" y="3990"/>
                  </a:lnTo>
                  <a:lnTo>
                    <a:pt x="42799" y="0"/>
                  </a:lnTo>
                  <a:lnTo>
                    <a:pt x="59525" y="3990"/>
                  </a:lnTo>
                  <a:lnTo>
                    <a:pt x="73167" y="14874"/>
                  </a:lnTo>
                  <a:lnTo>
                    <a:pt x="82357" y="31021"/>
                  </a:lnTo>
                  <a:lnTo>
                    <a:pt x="85725" y="50800"/>
                  </a:lnTo>
                  <a:lnTo>
                    <a:pt x="82357" y="70504"/>
                  </a:lnTo>
                  <a:lnTo>
                    <a:pt x="73167" y="86614"/>
                  </a:lnTo>
                  <a:lnTo>
                    <a:pt x="59525" y="97484"/>
                  </a:lnTo>
                  <a:lnTo>
                    <a:pt x="42799" y="101473"/>
                  </a:lnTo>
                  <a:lnTo>
                    <a:pt x="26146" y="97484"/>
                  </a:lnTo>
                  <a:lnTo>
                    <a:pt x="12541" y="86613"/>
                  </a:lnTo>
                  <a:lnTo>
                    <a:pt x="3365" y="70504"/>
                  </a:lnTo>
                  <a:lnTo>
                    <a:pt x="0" y="50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86697" y="4302378"/>
              <a:ext cx="98425" cy="1141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72959" y="4061713"/>
              <a:ext cx="98425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37471" y="3768343"/>
              <a:ext cx="98425" cy="11417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30135" y="3529456"/>
              <a:ext cx="98425" cy="1142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84156" y="3343528"/>
              <a:ext cx="98425" cy="11417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021957" y="3368547"/>
              <a:ext cx="2368550" cy="1108710"/>
            </a:xfrm>
            <a:custGeom>
              <a:avLst/>
              <a:gdLst/>
              <a:ahLst/>
              <a:cxnLst/>
              <a:rect l="l" t="t" r="r" b="b"/>
              <a:pathLst>
                <a:path w="2368550" h="1108710">
                  <a:moveTo>
                    <a:pt x="100838" y="225679"/>
                  </a:moveTo>
                  <a:lnTo>
                    <a:pt x="76276" y="223088"/>
                  </a:lnTo>
                  <a:lnTo>
                    <a:pt x="80010" y="188341"/>
                  </a:lnTo>
                  <a:lnTo>
                    <a:pt x="11201" y="213995"/>
                  </a:lnTo>
                  <a:lnTo>
                    <a:pt x="0" y="214896"/>
                  </a:lnTo>
                  <a:lnTo>
                    <a:pt x="254" y="218071"/>
                  </a:lnTo>
                  <a:lnTo>
                    <a:pt x="508" y="221246"/>
                  </a:lnTo>
                  <a:lnTo>
                    <a:pt x="4673" y="220916"/>
                  </a:lnTo>
                  <a:lnTo>
                    <a:pt x="71882" y="264033"/>
                  </a:lnTo>
                  <a:lnTo>
                    <a:pt x="75603" y="229311"/>
                  </a:lnTo>
                  <a:lnTo>
                    <a:pt x="100203" y="232029"/>
                  </a:lnTo>
                  <a:lnTo>
                    <a:pt x="100838" y="225679"/>
                  </a:lnTo>
                  <a:close/>
                </a:path>
                <a:path w="2368550" h="1108710">
                  <a:moveTo>
                    <a:pt x="114427" y="212217"/>
                  </a:moveTo>
                  <a:lnTo>
                    <a:pt x="113919" y="205994"/>
                  </a:lnTo>
                  <a:lnTo>
                    <a:pt x="88519" y="207899"/>
                  </a:lnTo>
                  <a:lnTo>
                    <a:pt x="89027" y="214249"/>
                  </a:lnTo>
                  <a:lnTo>
                    <a:pt x="114427" y="212217"/>
                  </a:lnTo>
                  <a:close/>
                </a:path>
                <a:path w="2368550" h="1108710">
                  <a:moveTo>
                    <a:pt x="145034" y="230378"/>
                  </a:moveTo>
                  <a:lnTo>
                    <a:pt x="119761" y="227723"/>
                  </a:lnTo>
                  <a:lnTo>
                    <a:pt x="119126" y="234073"/>
                  </a:lnTo>
                  <a:lnTo>
                    <a:pt x="144399" y="236728"/>
                  </a:lnTo>
                  <a:lnTo>
                    <a:pt x="145034" y="230378"/>
                  </a:lnTo>
                  <a:close/>
                </a:path>
                <a:path w="2368550" h="1108710">
                  <a:moveTo>
                    <a:pt x="158750" y="208788"/>
                  </a:moveTo>
                  <a:lnTo>
                    <a:pt x="158242" y="202438"/>
                  </a:lnTo>
                  <a:lnTo>
                    <a:pt x="132842" y="204470"/>
                  </a:lnTo>
                  <a:lnTo>
                    <a:pt x="133350" y="210820"/>
                  </a:lnTo>
                  <a:lnTo>
                    <a:pt x="158750" y="208788"/>
                  </a:lnTo>
                  <a:close/>
                </a:path>
                <a:path w="2368550" h="1108710">
                  <a:moveTo>
                    <a:pt x="189230" y="235204"/>
                  </a:moveTo>
                  <a:lnTo>
                    <a:pt x="163957" y="232422"/>
                  </a:lnTo>
                  <a:lnTo>
                    <a:pt x="163322" y="238760"/>
                  </a:lnTo>
                  <a:lnTo>
                    <a:pt x="188595" y="241554"/>
                  </a:lnTo>
                  <a:lnTo>
                    <a:pt x="189230" y="235204"/>
                  </a:lnTo>
                  <a:close/>
                </a:path>
                <a:path w="2368550" h="1108710">
                  <a:moveTo>
                    <a:pt x="203073" y="205371"/>
                  </a:moveTo>
                  <a:lnTo>
                    <a:pt x="202565" y="199021"/>
                  </a:lnTo>
                  <a:lnTo>
                    <a:pt x="177165" y="200914"/>
                  </a:lnTo>
                  <a:lnTo>
                    <a:pt x="177673" y="207264"/>
                  </a:lnTo>
                  <a:lnTo>
                    <a:pt x="203073" y="205371"/>
                  </a:lnTo>
                  <a:close/>
                </a:path>
                <a:path w="2368550" h="1108710">
                  <a:moveTo>
                    <a:pt x="233426" y="239903"/>
                  </a:moveTo>
                  <a:lnTo>
                    <a:pt x="208153" y="237248"/>
                  </a:lnTo>
                  <a:lnTo>
                    <a:pt x="207518" y="243586"/>
                  </a:lnTo>
                  <a:lnTo>
                    <a:pt x="232791" y="246253"/>
                  </a:lnTo>
                  <a:lnTo>
                    <a:pt x="233426" y="239903"/>
                  </a:lnTo>
                  <a:close/>
                </a:path>
                <a:path w="2368550" h="1108710">
                  <a:moveTo>
                    <a:pt x="247396" y="201803"/>
                  </a:moveTo>
                  <a:lnTo>
                    <a:pt x="246888" y="195453"/>
                  </a:lnTo>
                  <a:lnTo>
                    <a:pt x="221488" y="197497"/>
                  </a:lnTo>
                  <a:lnTo>
                    <a:pt x="221996" y="203847"/>
                  </a:lnTo>
                  <a:lnTo>
                    <a:pt x="247396" y="201803"/>
                  </a:lnTo>
                  <a:close/>
                </a:path>
                <a:path w="2368550" h="1108710">
                  <a:moveTo>
                    <a:pt x="277622" y="244729"/>
                  </a:moveTo>
                  <a:lnTo>
                    <a:pt x="252349" y="241935"/>
                  </a:lnTo>
                  <a:lnTo>
                    <a:pt x="251714" y="248285"/>
                  </a:lnTo>
                  <a:lnTo>
                    <a:pt x="276987" y="250952"/>
                  </a:lnTo>
                  <a:lnTo>
                    <a:pt x="277622" y="244729"/>
                  </a:lnTo>
                  <a:close/>
                </a:path>
                <a:path w="2368550" h="1108710">
                  <a:moveTo>
                    <a:pt x="291592" y="198374"/>
                  </a:moveTo>
                  <a:lnTo>
                    <a:pt x="291211" y="192024"/>
                  </a:lnTo>
                  <a:lnTo>
                    <a:pt x="265811" y="194056"/>
                  </a:lnTo>
                  <a:lnTo>
                    <a:pt x="266319" y="200279"/>
                  </a:lnTo>
                  <a:lnTo>
                    <a:pt x="291592" y="198374"/>
                  </a:lnTo>
                  <a:close/>
                </a:path>
                <a:path w="2368550" h="1108710">
                  <a:moveTo>
                    <a:pt x="321818" y="249428"/>
                  </a:moveTo>
                  <a:lnTo>
                    <a:pt x="296545" y="246761"/>
                  </a:lnTo>
                  <a:lnTo>
                    <a:pt x="295910" y="252984"/>
                  </a:lnTo>
                  <a:lnTo>
                    <a:pt x="321183" y="255778"/>
                  </a:lnTo>
                  <a:lnTo>
                    <a:pt x="321818" y="249428"/>
                  </a:lnTo>
                  <a:close/>
                </a:path>
                <a:path w="2368550" h="1108710">
                  <a:moveTo>
                    <a:pt x="332486" y="760349"/>
                  </a:moveTo>
                  <a:lnTo>
                    <a:pt x="318960" y="758380"/>
                  </a:lnTo>
                  <a:lnTo>
                    <a:pt x="319214" y="756666"/>
                  </a:lnTo>
                  <a:lnTo>
                    <a:pt x="324104" y="723773"/>
                  </a:lnTo>
                  <a:lnTo>
                    <a:pt x="261010" y="744448"/>
                  </a:lnTo>
                  <a:lnTo>
                    <a:pt x="242570" y="747141"/>
                  </a:lnTo>
                  <a:lnTo>
                    <a:pt x="243078" y="750316"/>
                  </a:lnTo>
                  <a:lnTo>
                    <a:pt x="243586" y="753491"/>
                  </a:lnTo>
                  <a:lnTo>
                    <a:pt x="246900" y="752995"/>
                  </a:lnTo>
                  <a:lnTo>
                    <a:pt x="312928" y="799084"/>
                  </a:lnTo>
                  <a:lnTo>
                    <a:pt x="318046" y="764590"/>
                  </a:lnTo>
                  <a:lnTo>
                    <a:pt x="331597" y="766572"/>
                  </a:lnTo>
                  <a:lnTo>
                    <a:pt x="332486" y="760349"/>
                  </a:lnTo>
                  <a:close/>
                </a:path>
                <a:path w="2368550" h="1108710">
                  <a:moveTo>
                    <a:pt x="335915" y="194818"/>
                  </a:moveTo>
                  <a:lnTo>
                    <a:pt x="335534" y="188595"/>
                  </a:lnTo>
                  <a:lnTo>
                    <a:pt x="310134" y="190500"/>
                  </a:lnTo>
                  <a:lnTo>
                    <a:pt x="310642" y="196850"/>
                  </a:lnTo>
                  <a:lnTo>
                    <a:pt x="335915" y="194818"/>
                  </a:lnTo>
                  <a:close/>
                </a:path>
                <a:path w="2368550" h="1108710">
                  <a:moveTo>
                    <a:pt x="356616" y="736727"/>
                  </a:moveTo>
                  <a:lnTo>
                    <a:pt x="355727" y="730377"/>
                  </a:lnTo>
                  <a:lnTo>
                    <a:pt x="330581" y="734187"/>
                  </a:lnTo>
                  <a:lnTo>
                    <a:pt x="331470" y="740410"/>
                  </a:lnTo>
                  <a:lnTo>
                    <a:pt x="356616" y="736727"/>
                  </a:lnTo>
                  <a:close/>
                </a:path>
                <a:path w="2368550" h="1108710">
                  <a:moveTo>
                    <a:pt x="366014" y="254127"/>
                  </a:moveTo>
                  <a:lnTo>
                    <a:pt x="340741" y="251460"/>
                  </a:lnTo>
                  <a:lnTo>
                    <a:pt x="340106" y="257810"/>
                  </a:lnTo>
                  <a:lnTo>
                    <a:pt x="365379" y="260477"/>
                  </a:lnTo>
                  <a:lnTo>
                    <a:pt x="366014" y="254127"/>
                  </a:lnTo>
                  <a:close/>
                </a:path>
                <a:path w="2368550" h="1108710">
                  <a:moveTo>
                    <a:pt x="376428" y="766826"/>
                  </a:moveTo>
                  <a:lnTo>
                    <a:pt x="351409" y="763143"/>
                  </a:lnTo>
                  <a:lnTo>
                    <a:pt x="350393" y="769366"/>
                  </a:lnTo>
                  <a:lnTo>
                    <a:pt x="375539" y="773049"/>
                  </a:lnTo>
                  <a:lnTo>
                    <a:pt x="376428" y="766826"/>
                  </a:lnTo>
                  <a:close/>
                </a:path>
                <a:path w="2368550" h="1108710">
                  <a:moveTo>
                    <a:pt x="380238" y="191389"/>
                  </a:moveTo>
                  <a:lnTo>
                    <a:pt x="379730" y="185039"/>
                  </a:lnTo>
                  <a:lnTo>
                    <a:pt x="354457" y="187083"/>
                  </a:lnTo>
                  <a:lnTo>
                    <a:pt x="354965" y="193433"/>
                  </a:lnTo>
                  <a:lnTo>
                    <a:pt x="380238" y="191389"/>
                  </a:lnTo>
                  <a:close/>
                </a:path>
                <a:path w="2368550" h="1108710">
                  <a:moveTo>
                    <a:pt x="400558" y="730123"/>
                  </a:moveTo>
                  <a:lnTo>
                    <a:pt x="399669" y="723900"/>
                  </a:lnTo>
                  <a:lnTo>
                    <a:pt x="374523" y="727583"/>
                  </a:lnTo>
                  <a:lnTo>
                    <a:pt x="375412" y="733933"/>
                  </a:lnTo>
                  <a:lnTo>
                    <a:pt x="400558" y="730123"/>
                  </a:lnTo>
                  <a:close/>
                </a:path>
                <a:path w="2368550" h="1108710">
                  <a:moveTo>
                    <a:pt x="410210" y="258953"/>
                  </a:moveTo>
                  <a:lnTo>
                    <a:pt x="384937" y="256159"/>
                  </a:lnTo>
                  <a:lnTo>
                    <a:pt x="384302" y="262509"/>
                  </a:lnTo>
                  <a:lnTo>
                    <a:pt x="409575" y="265303"/>
                  </a:lnTo>
                  <a:lnTo>
                    <a:pt x="410210" y="258953"/>
                  </a:lnTo>
                  <a:close/>
                </a:path>
                <a:path w="2368550" h="1108710">
                  <a:moveTo>
                    <a:pt x="420497" y="773303"/>
                  </a:moveTo>
                  <a:lnTo>
                    <a:pt x="395351" y="769620"/>
                  </a:lnTo>
                  <a:lnTo>
                    <a:pt x="394335" y="775843"/>
                  </a:lnTo>
                  <a:lnTo>
                    <a:pt x="419481" y="779653"/>
                  </a:lnTo>
                  <a:lnTo>
                    <a:pt x="420497" y="773303"/>
                  </a:lnTo>
                  <a:close/>
                </a:path>
                <a:path w="2368550" h="1108710">
                  <a:moveTo>
                    <a:pt x="424561" y="187972"/>
                  </a:moveTo>
                  <a:lnTo>
                    <a:pt x="424053" y="181622"/>
                  </a:lnTo>
                  <a:lnTo>
                    <a:pt x="398780" y="183515"/>
                  </a:lnTo>
                  <a:lnTo>
                    <a:pt x="399288" y="189865"/>
                  </a:lnTo>
                  <a:lnTo>
                    <a:pt x="424561" y="187972"/>
                  </a:lnTo>
                  <a:close/>
                </a:path>
                <a:path w="2368550" h="1108710">
                  <a:moveTo>
                    <a:pt x="444500" y="723646"/>
                  </a:moveTo>
                  <a:lnTo>
                    <a:pt x="443611" y="717423"/>
                  </a:lnTo>
                  <a:lnTo>
                    <a:pt x="418465" y="721106"/>
                  </a:lnTo>
                  <a:lnTo>
                    <a:pt x="419481" y="727329"/>
                  </a:lnTo>
                  <a:lnTo>
                    <a:pt x="444500" y="723646"/>
                  </a:lnTo>
                  <a:close/>
                </a:path>
                <a:path w="2368550" h="1108710">
                  <a:moveTo>
                    <a:pt x="454406" y="263652"/>
                  </a:moveTo>
                  <a:lnTo>
                    <a:pt x="429133" y="260985"/>
                  </a:lnTo>
                  <a:lnTo>
                    <a:pt x="428498" y="267335"/>
                  </a:lnTo>
                  <a:lnTo>
                    <a:pt x="453771" y="270002"/>
                  </a:lnTo>
                  <a:lnTo>
                    <a:pt x="454406" y="263652"/>
                  </a:lnTo>
                  <a:close/>
                </a:path>
                <a:path w="2368550" h="1108710">
                  <a:moveTo>
                    <a:pt x="464439" y="779780"/>
                  </a:moveTo>
                  <a:lnTo>
                    <a:pt x="439293" y="776097"/>
                  </a:lnTo>
                  <a:lnTo>
                    <a:pt x="438404" y="782320"/>
                  </a:lnTo>
                  <a:lnTo>
                    <a:pt x="463550" y="786130"/>
                  </a:lnTo>
                  <a:lnTo>
                    <a:pt x="464439" y="779780"/>
                  </a:lnTo>
                  <a:close/>
                </a:path>
                <a:path w="2368550" h="1108710">
                  <a:moveTo>
                    <a:pt x="468884" y="184404"/>
                  </a:moveTo>
                  <a:lnTo>
                    <a:pt x="468376" y="178054"/>
                  </a:lnTo>
                  <a:lnTo>
                    <a:pt x="443103" y="180098"/>
                  </a:lnTo>
                  <a:lnTo>
                    <a:pt x="443611" y="186448"/>
                  </a:lnTo>
                  <a:lnTo>
                    <a:pt x="468884" y="184404"/>
                  </a:lnTo>
                  <a:close/>
                </a:path>
                <a:path w="2368550" h="1108710">
                  <a:moveTo>
                    <a:pt x="488569" y="717169"/>
                  </a:moveTo>
                  <a:lnTo>
                    <a:pt x="487553" y="710819"/>
                  </a:lnTo>
                  <a:lnTo>
                    <a:pt x="462534" y="714629"/>
                  </a:lnTo>
                  <a:lnTo>
                    <a:pt x="463423" y="720852"/>
                  </a:lnTo>
                  <a:lnTo>
                    <a:pt x="488569" y="717169"/>
                  </a:lnTo>
                  <a:close/>
                </a:path>
                <a:path w="2368550" h="1108710">
                  <a:moveTo>
                    <a:pt x="498602" y="268478"/>
                  </a:moveTo>
                  <a:lnTo>
                    <a:pt x="473329" y="265684"/>
                  </a:lnTo>
                  <a:lnTo>
                    <a:pt x="472694" y="272034"/>
                  </a:lnTo>
                  <a:lnTo>
                    <a:pt x="497967" y="274701"/>
                  </a:lnTo>
                  <a:lnTo>
                    <a:pt x="498602" y="268478"/>
                  </a:lnTo>
                  <a:close/>
                </a:path>
                <a:path w="2368550" h="1108710">
                  <a:moveTo>
                    <a:pt x="508381" y="786257"/>
                  </a:moveTo>
                  <a:lnTo>
                    <a:pt x="483235" y="782574"/>
                  </a:lnTo>
                  <a:lnTo>
                    <a:pt x="482346" y="788924"/>
                  </a:lnTo>
                  <a:lnTo>
                    <a:pt x="507492" y="792607"/>
                  </a:lnTo>
                  <a:lnTo>
                    <a:pt x="508381" y="786257"/>
                  </a:lnTo>
                  <a:close/>
                </a:path>
                <a:path w="2368550" h="1108710">
                  <a:moveTo>
                    <a:pt x="513207" y="180975"/>
                  </a:moveTo>
                  <a:lnTo>
                    <a:pt x="512699" y="174625"/>
                  </a:lnTo>
                  <a:lnTo>
                    <a:pt x="487426" y="176657"/>
                  </a:lnTo>
                  <a:lnTo>
                    <a:pt x="487934" y="182880"/>
                  </a:lnTo>
                  <a:lnTo>
                    <a:pt x="513207" y="180975"/>
                  </a:lnTo>
                  <a:close/>
                </a:path>
                <a:path w="2368550" h="1108710">
                  <a:moveTo>
                    <a:pt x="532511" y="710565"/>
                  </a:moveTo>
                  <a:lnTo>
                    <a:pt x="531622" y="704342"/>
                  </a:lnTo>
                  <a:lnTo>
                    <a:pt x="506476" y="708025"/>
                  </a:lnTo>
                  <a:lnTo>
                    <a:pt x="507365" y="714375"/>
                  </a:lnTo>
                  <a:lnTo>
                    <a:pt x="532511" y="710565"/>
                  </a:lnTo>
                  <a:close/>
                </a:path>
                <a:path w="2368550" h="1108710">
                  <a:moveTo>
                    <a:pt x="542798" y="273177"/>
                  </a:moveTo>
                  <a:lnTo>
                    <a:pt x="517525" y="270510"/>
                  </a:lnTo>
                  <a:lnTo>
                    <a:pt x="516890" y="276733"/>
                  </a:lnTo>
                  <a:lnTo>
                    <a:pt x="542163" y="279527"/>
                  </a:lnTo>
                  <a:lnTo>
                    <a:pt x="542798" y="273177"/>
                  </a:lnTo>
                  <a:close/>
                </a:path>
                <a:path w="2368550" h="1108710">
                  <a:moveTo>
                    <a:pt x="552323" y="792861"/>
                  </a:moveTo>
                  <a:lnTo>
                    <a:pt x="527304" y="789051"/>
                  </a:lnTo>
                  <a:lnTo>
                    <a:pt x="526288" y="795401"/>
                  </a:lnTo>
                  <a:lnTo>
                    <a:pt x="551434" y="799084"/>
                  </a:lnTo>
                  <a:lnTo>
                    <a:pt x="552323" y="792861"/>
                  </a:lnTo>
                  <a:close/>
                </a:path>
                <a:path w="2368550" h="1108710">
                  <a:moveTo>
                    <a:pt x="557530" y="177419"/>
                  </a:moveTo>
                  <a:lnTo>
                    <a:pt x="557022" y="171208"/>
                  </a:lnTo>
                  <a:lnTo>
                    <a:pt x="531749" y="173101"/>
                  </a:lnTo>
                  <a:lnTo>
                    <a:pt x="532257" y="179451"/>
                  </a:lnTo>
                  <a:lnTo>
                    <a:pt x="557530" y="177419"/>
                  </a:lnTo>
                  <a:close/>
                </a:path>
                <a:path w="2368550" h="1108710">
                  <a:moveTo>
                    <a:pt x="568706" y="1106170"/>
                  </a:moveTo>
                  <a:lnTo>
                    <a:pt x="568198" y="1099820"/>
                  </a:lnTo>
                  <a:lnTo>
                    <a:pt x="542798" y="1101979"/>
                  </a:lnTo>
                  <a:lnTo>
                    <a:pt x="543433" y="1108329"/>
                  </a:lnTo>
                  <a:lnTo>
                    <a:pt x="568706" y="1106170"/>
                  </a:lnTo>
                  <a:close/>
                </a:path>
                <a:path w="2368550" h="1108710">
                  <a:moveTo>
                    <a:pt x="576453" y="704088"/>
                  </a:moveTo>
                  <a:lnTo>
                    <a:pt x="575564" y="697865"/>
                  </a:lnTo>
                  <a:lnTo>
                    <a:pt x="550418" y="701548"/>
                  </a:lnTo>
                  <a:lnTo>
                    <a:pt x="551307" y="707771"/>
                  </a:lnTo>
                  <a:lnTo>
                    <a:pt x="576453" y="704088"/>
                  </a:lnTo>
                  <a:close/>
                </a:path>
                <a:path w="2368550" h="1108710">
                  <a:moveTo>
                    <a:pt x="586994" y="277876"/>
                  </a:moveTo>
                  <a:lnTo>
                    <a:pt x="561721" y="275209"/>
                  </a:lnTo>
                  <a:lnTo>
                    <a:pt x="561086" y="281559"/>
                  </a:lnTo>
                  <a:lnTo>
                    <a:pt x="586359" y="284226"/>
                  </a:lnTo>
                  <a:lnTo>
                    <a:pt x="586994" y="277876"/>
                  </a:lnTo>
                  <a:close/>
                </a:path>
                <a:path w="2368550" h="1108710">
                  <a:moveTo>
                    <a:pt x="596392" y="799338"/>
                  </a:moveTo>
                  <a:lnTo>
                    <a:pt x="571246" y="795655"/>
                  </a:lnTo>
                  <a:lnTo>
                    <a:pt x="570230" y="801878"/>
                  </a:lnTo>
                  <a:lnTo>
                    <a:pt x="595376" y="805561"/>
                  </a:lnTo>
                  <a:lnTo>
                    <a:pt x="596392" y="799338"/>
                  </a:lnTo>
                  <a:close/>
                </a:path>
                <a:path w="2368550" h="1108710">
                  <a:moveTo>
                    <a:pt x="601853" y="173990"/>
                  </a:moveTo>
                  <a:lnTo>
                    <a:pt x="601345" y="167640"/>
                  </a:lnTo>
                  <a:lnTo>
                    <a:pt x="576072" y="169684"/>
                  </a:lnTo>
                  <a:lnTo>
                    <a:pt x="576580" y="176034"/>
                  </a:lnTo>
                  <a:lnTo>
                    <a:pt x="601853" y="173990"/>
                  </a:lnTo>
                  <a:close/>
                </a:path>
                <a:path w="2368550" h="1108710">
                  <a:moveTo>
                    <a:pt x="613029" y="1102360"/>
                  </a:moveTo>
                  <a:lnTo>
                    <a:pt x="612394" y="1096010"/>
                  </a:lnTo>
                  <a:lnTo>
                    <a:pt x="587121" y="1098169"/>
                  </a:lnTo>
                  <a:lnTo>
                    <a:pt x="587629" y="1104519"/>
                  </a:lnTo>
                  <a:lnTo>
                    <a:pt x="613029" y="1102360"/>
                  </a:lnTo>
                  <a:close/>
                </a:path>
                <a:path w="2368550" h="1108710">
                  <a:moveTo>
                    <a:pt x="620395" y="697611"/>
                  </a:moveTo>
                  <a:lnTo>
                    <a:pt x="619506" y="691261"/>
                  </a:lnTo>
                  <a:lnTo>
                    <a:pt x="594360" y="695071"/>
                  </a:lnTo>
                  <a:lnTo>
                    <a:pt x="595249" y="701294"/>
                  </a:lnTo>
                  <a:lnTo>
                    <a:pt x="620395" y="697611"/>
                  </a:lnTo>
                  <a:close/>
                </a:path>
                <a:path w="2368550" h="1108710">
                  <a:moveTo>
                    <a:pt x="631190" y="282702"/>
                  </a:moveTo>
                  <a:lnTo>
                    <a:pt x="605917" y="280035"/>
                  </a:lnTo>
                  <a:lnTo>
                    <a:pt x="605282" y="286258"/>
                  </a:lnTo>
                  <a:lnTo>
                    <a:pt x="630555" y="289052"/>
                  </a:lnTo>
                  <a:lnTo>
                    <a:pt x="631190" y="282702"/>
                  </a:lnTo>
                  <a:close/>
                </a:path>
                <a:path w="2368550" h="1108710">
                  <a:moveTo>
                    <a:pt x="640334" y="805815"/>
                  </a:moveTo>
                  <a:lnTo>
                    <a:pt x="615188" y="802132"/>
                  </a:lnTo>
                  <a:lnTo>
                    <a:pt x="614299" y="808355"/>
                  </a:lnTo>
                  <a:lnTo>
                    <a:pt x="639445" y="812038"/>
                  </a:lnTo>
                  <a:lnTo>
                    <a:pt x="640334" y="805815"/>
                  </a:lnTo>
                  <a:close/>
                </a:path>
                <a:path w="2368550" h="1108710">
                  <a:moveTo>
                    <a:pt x="646176" y="170573"/>
                  </a:moveTo>
                  <a:lnTo>
                    <a:pt x="645668" y="164223"/>
                  </a:lnTo>
                  <a:lnTo>
                    <a:pt x="620395" y="166116"/>
                  </a:lnTo>
                  <a:lnTo>
                    <a:pt x="620903" y="172466"/>
                  </a:lnTo>
                  <a:lnTo>
                    <a:pt x="646176" y="170573"/>
                  </a:lnTo>
                  <a:close/>
                </a:path>
                <a:path w="2368550" h="1108710">
                  <a:moveTo>
                    <a:pt x="657225" y="1098550"/>
                  </a:moveTo>
                  <a:lnTo>
                    <a:pt x="656717" y="1092200"/>
                  </a:lnTo>
                  <a:lnTo>
                    <a:pt x="631444" y="1094359"/>
                  </a:lnTo>
                  <a:lnTo>
                    <a:pt x="631952" y="1100709"/>
                  </a:lnTo>
                  <a:lnTo>
                    <a:pt x="657225" y="1098550"/>
                  </a:lnTo>
                  <a:close/>
                </a:path>
                <a:path w="2368550" h="1108710">
                  <a:moveTo>
                    <a:pt x="664464" y="691007"/>
                  </a:moveTo>
                  <a:lnTo>
                    <a:pt x="663448" y="684784"/>
                  </a:lnTo>
                  <a:lnTo>
                    <a:pt x="638302" y="688467"/>
                  </a:lnTo>
                  <a:lnTo>
                    <a:pt x="639318" y="694817"/>
                  </a:lnTo>
                  <a:lnTo>
                    <a:pt x="664464" y="691007"/>
                  </a:lnTo>
                  <a:close/>
                </a:path>
                <a:path w="2368550" h="1108710">
                  <a:moveTo>
                    <a:pt x="675386" y="287401"/>
                  </a:moveTo>
                  <a:lnTo>
                    <a:pt x="650113" y="284734"/>
                  </a:lnTo>
                  <a:lnTo>
                    <a:pt x="649478" y="291084"/>
                  </a:lnTo>
                  <a:lnTo>
                    <a:pt x="674751" y="293751"/>
                  </a:lnTo>
                  <a:lnTo>
                    <a:pt x="675386" y="287401"/>
                  </a:lnTo>
                  <a:close/>
                </a:path>
                <a:path w="2368550" h="1108710">
                  <a:moveTo>
                    <a:pt x="684276" y="812292"/>
                  </a:moveTo>
                  <a:lnTo>
                    <a:pt x="659130" y="808609"/>
                  </a:lnTo>
                  <a:lnTo>
                    <a:pt x="658241" y="814832"/>
                  </a:lnTo>
                  <a:lnTo>
                    <a:pt x="683387" y="818642"/>
                  </a:lnTo>
                  <a:lnTo>
                    <a:pt x="684276" y="812292"/>
                  </a:lnTo>
                  <a:close/>
                </a:path>
                <a:path w="2368550" h="1108710">
                  <a:moveTo>
                    <a:pt x="690499" y="167005"/>
                  </a:moveTo>
                  <a:lnTo>
                    <a:pt x="689991" y="160655"/>
                  </a:lnTo>
                  <a:lnTo>
                    <a:pt x="664718" y="162687"/>
                  </a:lnTo>
                  <a:lnTo>
                    <a:pt x="665099" y="169037"/>
                  </a:lnTo>
                  <a:lnTo>
                    <a:pt x="690499" y="167005"/>
                  </a:lnTo>
                  <a:close/>
                </a:path>
                <a:path w="2368550" h="1108710">
                  <a:moveTo>
                    <a:pt x="701548" y="1094740"/>
                  </a:moveTo>
                  <a:lnTo>
                    <a:pt x="701040" y="1088390"/>
                  </a:lnTo>
                  <a:lnTo>
                    <a:pt x="675767" y="1090549"/>
                  </a:lnTo>
                  <a:lnTo>
                    <a:pt x="676275" y="1096899"/>
                  </a:lnTo>
                  <a:lnTo>
                    <a:pt x="701548" y="1094740"/>
                  </a:lnTo>
                  <a:close/>
                </a:path>
                <a:path w="2368550" h="1108710">
                  <a:moveTo>
                    <a:pt x="708406" y="684530"/>
                  </a:moveTo>
                  <a:lnTo>
                    <a:pt x="707390" y="678307"/>
                  </a:lnTo>
                  <a:lnTo>
                    <a:pt x="682371" y="681990"/>
                  </a:lnTo>
                  <a:lnTo>
                    <a:pt x="683260" y="688213"/>
                  </a:lnTo>
                  <a:lnTo>
                    <a:pt x="708406" y="684530"/>
                  </a:lnTo>
                  <a:close/>
                </a:path>
                <a:path w="2368550" h="1108710">
                  <a:moveTo>
                    <a:pt x="719582" y="292227"/>
                  </a:moveTo>
                  <a:lnTo>
                    <a:pt x="694309" y="289433"/>
                  </a:lnTo>
                  <a:lnTo>
                    <a:pt x="693674" y="295783"/>
                  </a:lnTo>
                  <a:lnTo>
                    <a:pt x="718947" y="298450"/>
                  </a:lnTo>
                  <a:lnTo>
                    <a:pt x="719582" y="292227"/>
                  </a:lnTo>
                  <a:close/>
                </a:path>
                <a:path w="2368550" h="1108710">
                  <a:moveTo>
                    <a:pt x="728218" y="818769"/>
                  </a:moveTo>
                  <a:lnTo>
                    <a:pt x="703072" y="815086"/>
                  </a:lnTo>
                  <a:lnTo>
                    <a:pt x="702183" y="821436"/>
                  </a:lnTo>
                  <a:lnTo>
                    <a:pt x="727329" y="825119"/>
                  </a:lnTo>
                  <a:lnTo>
                    <a:pt x="728218" y="818769"/>
                  </a:lnTo>
                  <a:close/>
                </a:path>
                <a:path w="2368550" h="1108710">
                  <a:moveTo>
                    <a:pt x="734822" y="163576"/>
                  </a:moveTo>
                  <a:lnTo>
                    <a:pt x="734314" y="157226"/>
                  </a:lnTo>
                  <a:lnTo>
                    <a:pt x="708914" y="159258"/>
                  </a:lnTo>
                  <a:lnTo>
                    <a:pt x="709422" y="165481"/>
                  </a:lnTo>
                  <a:lnTo>
                    <a:pt x="734822" y="163576"/>
                  </a:lnTo>
                  <a:close/>
                </a:path>
                <a:path w="2368550" h="1108710">
                  <a:moveTo>
                    <a:pt x="745871" y="1090930"/>
                  </a:moveTo>
                  <a:lnTo>
                    <a:pt x="745363" y="1084580"/>
                  </a:lnTo>
                  <a:lnTo>
                    <a:pt x="719963" y="1086739"/>
                  </a:lnTo>
                  <a:lnTo>
                    <a:pt x="720598" y="1093089"/>
                  </a:lnTo>
                  <a:lnTo>
                    <a:pt x="745871" y="1090930"/>
                  </a:lnTo>
                  <a:close/>
                </a:path>
                <a:path w="2368550" h="1108710">
                  <a:moveTo>
                    <a:pt x="752348" y="678053"/>
                  </a:moveTo>
                  <a:lnTo>
                    <a:pt x="751459" y="671703"/>
                  </a:lnTo>
                  <a:lnTo>
                    <a:pt x="726313" y="675513"/>
                  </a:lnTo>
                  <a:lnTo>
                    <a:pt x="727202" y="681736"/>
                  </a:lnTo>
                  <a:lnTo>
                    <a:pt x="752348" y="678053"/>
                  </a:lnTo>
                  <a:close/>
                </a:path>
                <a:path w="2368550" h="1108710">
                  <a:moveTo>
                    <a:pt x="763778" y="296926"/>
                  </a:moveTo>
                  <a:lnTo>
                    <a:pt x="738505" y="294259"/>
                  </a:lnTo>
                  <a:lnTo>
                    <a:pt x="737870" y="300482"/>
                  </a:lnTo>
                  <a:lnTo>
                    <a:pt x="763143" y="303276"/>
                  </a:lnTo>
                  <a:lnTo>
                    <a:pt x="763778" y="296926"/>
                  </a:lnTo>
                  <a:close/>
                </a:path>
                <a:path w="2368550" h="1108710">
                  <a:moveTo>
                    <a:pt x="772287" y="825246"/>
                  </a:moveTo>
                  <a:lnTo>
                    <a:pt x="747141" y="821563"/>
                  </a:lnTo>
                  <a:lnTo>
                    <a:pt x="746125" y="827913"/>
                  </a:lnTo>
                  <a:lnTo>
                    <a:pt x="771271" y="831596"/>
                  </a:lnTo>
                  <a:lnTo>
                    <a:pt x="772287" y="825246"/>
                  </a:lnTo>
                  <a:close/>
                </a:path>
                <a:path w="2368550" h="1108710">
                  <a:moveTo>
                    <a:pt x="779145" y="160020"/>
                  </a:moveTo>
                  <a:lnTo>
                    <a:pt x="778637" y="153797"/>
                  </a:lnTo>
                  <a:lnTo>
                    <a:pt x="753237" y="155702"/>
                  </a:lnTo>
                  <a:lnTo>
                    <a:pt x="753745" y="162052"/>
                  </a:lnTo>
                  <a:lnTo>
                    <a:pt x="779145" y="160020"/>
                  </a:lnTo>
                  <a:close/>
                </a:path>
                <a:path w="2368550" h="1108710">
                  <a:moveTo>
                    <a:pt x="790194" y="1087120"/>
                  </a:moveTo>
                  <a:lnTo>
                    <a:pt x="789559" y="1080770"/>
                  </a:lnTo>
                  <a:lnTo>
                    <a:pt x="764286" y="1082929"/>
                  </a:lnTo>
                  <a:lnTo>
                    <a:pt x="764794" y="1089279"/>
                  </a:lnTo>
                  <a:lnTo>
                    <a:pt x="790194" y="1087120"/>
                  </a:lnTo>
                  <a:close/>
                </a:path>
                <a:path w="2368550" h="1108710">
                  <a:moveTo>
                    <a:pt x="796290" y="671449"/>
                  </a:moveTo>
                  <a:lnTo>
                    <a:pt x="795401" y="665226"/>
                  </a:lnTo>
                  <a:lnTo>
                    <a:pt x="770255" y="668909"/>
                  </a:lnTo>
                  <a:lnTo>
                    <a:pt x="771144" y="675259"/>
                  </a:lnTo>
                  <a:lnTo>
                    <a:pt x="796290" y="671449"/>
                  </a:lnTo>
                  <a:close/>
                </a:path>
                <a:path w="2368550" h="1108710">
                  <a:moveTo>
                    <a:pt x="807974" y="301752"/>
                  </a:moveTo>
                  <a:lnTo>
                    <a:pt x="782701" y="298958"/>
                  </a:lnTo>
                  <a:lnTo>
                    <a:pt x="782066" y="305308"/>
                  </a:lnTo>
                  <a:lnTo>
                    <a:pt x="807339" y="307975"/>
                  </a:lnTo>
                  <a:lnTo>
                    <a:pt x="807974" y="301752"/>
                  </a:lnTo>
                  <a:close/>
                </a:path>
                <a:path w="2368550" h="1108710">
                  <a:moveTo>
                    <a:pt x="816229" y="831850"/>
                  </a:moveTo>
                  <a:lnTo>
                    <a:pt x="791083" y="828040"/>
                  </a:lnTo>
                  <a:lnTo>
                    <a:pt x="790194" y="834390"/>
                  </a:lnTo>
                  <a:lnTo>
                    <a:pt x="815213" y="838073"/>
                  </a:lnTo>
                  <a:lnTo>
                    <a:pt x="816229" y="831850"/>
                  </a:lnTo>
                  <a:close/>
                </a:path>
                <a:path w="2368550" h="1108710">
                  <a:moveTo>
                    <a:pt x="823468" y="156591"/>
                  </a:moveTo>
                  <a:lnTo>
                    <a:pt x="822960" y="150241"/>
                  </a:lnTo>
                  <a:lnTo>
                    <a:pt x="797560" y="152273"/>
                  </a:lnTo>
                  <a:lnTo>
                    <a:pt x="798068" y="158623"/>
                  </a:lnTo>
                  <a:lnTo>
                    <a:pt x="823468" y="156591"/>
                  </a:lnTo>
                  <a:close/>
                </a:path>
                <a:path w="2368550" h="1108710">
                  <a:moveTo>
                    <a:pt x="834390" y="1083310"/>
                  </a:moveTo>
                  <a:lnTo>
                    <a:pt x="833882" y="1076960"/>
                  </a:lnTo>
                  <a:lnTo>
                    <a:pt x="808609" y="1079119"/>
                  </a:lnTo>
                  <a:lnTo>
                    <a:pt x="809117" y="1085469"/>
                  </a:lnTo>
                  <a:lnTo>
                    <a:pt x="834390" y="1083310"/>
                  </a:lnTo>
                  <a:close/>
                </a:path>
                <a:path w="2368550" h="1108710">
                  <a:moveTo>
                    <a:pt x="840232" y="664972"/>
                  </a:moveTo>
                  <a:lnTo>
                    <a:pt x="839343" y="658622"/>
                  </a:lnTo>
                  <a:lnTo>
                    <a:pt x="814197" y="662432"/>
                  </a:lnTo>
                  <a:lnTo>
                    <a:pt x="815213" y="668655"/>
                  </a:lnTo>
                  <a:lnTo>
                    <a:pt x="840232" y="664972"/>
                  </a:lnTo>
                  <a:close/>
                </a:path>
                <a:path w="2368550" h="1108710">
                  <a:moveTo>
                    <a:pt x="852170" y="306451"/>
                  </a:moveTo>
                  <a:lnTo>
                    <a:pt x="826897" y="303784"/>
                  </a:lnTo>
                  <a:lnTo>
                    <a:pt x="826262" y="310007"/>
                  </a:lnTo>
                  <a:lnTo>
                    <a:pt x="851535" y="312801"/>
                  </a:lnTo>
                  <a:lnTo>
                    <a:pt x="852170" y="306451"/>
                  </a:lnTo>
                  <a:close/>
                </a:path>
                <a:path w="2368550" h="1108710">
                  <a:moveTo>
                    <a:pt x="860171" y="838327"/>
                  </a:moveTo>
                  <a:lnTo>
                    <a:pt x="835025" y="834644"/>
                  </a:lnTo>
                  <a:lnTo>
                    <a:pt x="834136" y="840867"/>
                  </a:lnTo>
                  <a:lnTo>
                    <a:pt x="859282" y="844550"/>
                  </a:lnTo>
                  <a:lnTo>
                    <a:pt x="860171" y="838327"/>
                  </a:lnTo>
                  <a:close/>
                </a:path>
                <a:path w="2368550" h="1108710">
                  <a:moveTo>
                    <a:pt x="867791" y="153162"/>
                  </a:moveTo>
                  <a:lnTo>
                    <a:pt x="867283" y="146812"/>
                  </a:lnTo>
                  <a:lnTo>
                    <a:pt x="841883" y="148717"/>
                  </a:lnTo>
                  <a:lnTo>
                    <a:pt x="842391" y="155067"/>
                  </a:lnTo>
                  <a:lnTo>
                    <a:pt x="867791" y="153162"/>
                  </a:lnTo>
                  <a:close/>
                </a:path>
                <a:path w="2368550" h="1108710">
                  <a:moveTo>
                    <a:pt x="878713" y="1079500"/>
                  </a:moveTo>
                  <a:lnTo>
                    <a:pt x="878205" y="1073150"/>
                  </a:lnTo>
                  <a:lnTo>
                    <a:pt x="852805" y="1075309"/>
                  </a:lnTo>
                  <a:lnTo>
                    <a:pt x="853440" y="1081659"/>
                  </a:lnTo>
                  <a:lnTo>
                    <a:pt x="878713" y="1079500"/>
                  </a:lnTo>
                  <a:close/>
                </a:path>
                <a:path w="2368550" h="1108710">
                  <a:moveTo>
                    <a:pt x="884301" y="658495"/>
                  </a:moveTo>
                  <a:lnTo>
                    <a:pt x="883285" y="652145"/>
                  </a:lnTo>
                  <a:lnTo>
                    <a:pt x="858139" y="655828"/>
                  </a:lnTo>
                  <a:lnTo>
                    <a:pt x="859155" y="662178"/>
                  </a:lnTo>
                  <a:lnTo>
                    <a:pt x="884301" y="658495"/>
                  </a:lnTo>
                  <a:close/>
                </a:path>
                <a:path w="2368550" h="1108710">
                  <a:moveTo>
                    <a:pt x="896366" y="311150"/>
                  </a:moveTo>
                  <a:lnTo>
                    <a:pt x="871093" y="308483"/>
                  </a:lnTo>
                  <a:lnTo>
                    <a:pt x="870458" y="314833"/>
                  </a:lnTo>
                  <a:lnTo>
                    <a:pt x="895731" y="317500"/>
                  </a:lnTo>
                  <a:lnTo>
                    <a:pt x="896366" y="311150"/>
                  </a:lnTo>
                  <a:close/>
                </a:path>
                <a:path w="2368550" h="1108710">
                  <a:moveTo>
                    <a:pt x="904113" y="844804"/>
                  </a:moveTo>
                  <a:lnTo>
                    <a:pt x="878967" y="841121"/>
                  </a:lnTo>
                  <a:lnTo>
                    <a:pt x="878078" y="847344"/>
                  </a:lnTo>
                  <a:lnTo>
                    <a:pt x="903224" y="851027"/>
                  </a:lnTo>
                  <a:lnTo>
                    <a:pt x="904113" y="844804"/>
                  </a:lnTo>
                  <a:close/>
                </a:path>
                <a:path w="2368550" h="1108710">
                  <a:moveTo>
                    <a:pt x="911987" y="149606"/>
                  </a:moveTo>
                  <a:lnTo>
                    <a:pt x="911606" y="143256"/>
                  </a:lnTo>
                  <a:lnTo>
                    <a:pt x="886206" y="145288"/>
                  </a:lnTo>
                  <a:lnTo>
                    <a:pt x="886714" y="151638"/>
                  </a:lnTo>
                  <a:lnTo>
                    <a:pt x="911987" y="149606"/>
                  </a:lnTo>
                  <a:close/>
                </a:path>
                <a:path w="2368550" h="1108710">
                  <a:moveTo>
                    <a:pt x="923036" y="1075690"/>
                  </a:moveTo>
                  <a:lnTo>
                    <a:pt x="922401" y="1069340"/>
                  </a:lnTo>
                  <a:lnTo>
                    <a:pt x="897128" y="1071499"/>
                  </a:lnTo>
                  <a:lnTo>
                    <a:pt x="897636" y="1077849"/>
                  </a:lnTo>
                  <a:lnTo>
                    <a:pt x="923036" y="1075690"/>
                  </a:lnTo>
                  <a:close/>
                </a:path>
                <a:path w="2368550" h="1108710">
                  <a:moveTo>
                    <a:pt x="928243" y="651891"/>
                  </a:moveTo>
                  <a:lnTo>
                    <a:pt x="927227" y="645668"/>
                  </a:lnTo>
                  <a:lnTo>
                    <a:pt x="902208" y="649351"/>
                  </a:lnTo>
                  <a:lnTo>
                    <a:pt x="903097" y="655701"/>
                  </a:lnTo>
                  <a:lnTo>
                    <a:pt x="928243" y="651891"/>
                  </a:lnTo>
                  <a:close/>
                </a:path>
                <a:path w="2368550" h="1108710">
                  <a:moveTo>
                    <a:pt x="940562" y="315976"/>
                  </a:moveTo>
                  <a:lnTo>
                    <a:pt x="915289" y="313182"/>
                  </a:lnTo>
                  <a:lnTo>
                    <a:pt x="914654" y="319532"/>
                  </a:lnTo>
                  <a:lnTo>
                    <a:pt x="939927" y="322199"/>
                  </a:lnTo>
                  <a:lnTo>
                    <a:pt x="940562" y="315976"/>
                  </a:lnTo>
                  <a:close/>
                </a:path>
                <a:path w="2368550" h="1108710">
                  <a:moveTo>
                    <a:pt x="948182" y="851281"/>
                  </a:moveTo>
                  <a:lnTo>
                    <a:pt x="923036" y="847598"/>
                  </a:lnTo>
                  <a:lnTo>
                    <a:pt x="922020" y="853821"/>
                  </a:lnTo>
                  <a:lnTo>
                    <a:pt x="947166" y="857631"/>
                  </a:lnTo>
                  <a:lnTo>
                    <a:pt x="948182" y="851281"/>
                  </a:lnTo>
                  <a:close/>
                </a:path>
                <a:path w="2368550" h="1108710">
                  <a:moveTo>
                    <a:pt x="956310" y="146177"/>
                  </a:moveTo>
                  <a:lnTo>
                    <a:pt x="955802" y="139827"/>
                  </a:lnTo>
                  <a:lnTo>
                    <a:pt x="930529" y="141859"/>
                  </a:lnTo>
                  <a:lnTo>
                    <a:pt x="931037" y="148082"/>
                  </a:lnTo>
                  <a:lnTo>
                    <a:pt x="956310" y="146177"/>
                  </a:lnTo>
                  <a:close/>
                </a:path>
                <a:path w="2368550" h="1108710">
                  <a:moveTo>
                    <a:pt x="967232" y="1071880"/>
                  </a:moveTo>
                  <a:lnTo>
                    <a:pt x="966724" y="1065530"/>
                  </a:lnTo>
                  <a:lnTo>
                    <a:pt x="941451" y="1067689"/>
                  </a:lnTo>
                  <a:lnTo>
                    <a:pt x="941959" y="1074039"/>
                  </a:lnTo>
                  <a:lnTo>
                    <a:pt x="967232" y="1071880"/>
                  </a:lnTo>
                  <a:close/>
                </a:path>
                <a:path w="2368550" h="1108710">
                  <a:moveTo>
                    <a:pt x="972185" y="645414"/>
                  </a:moveTo>
                  <a:lnTo>
                    <a:pt x="971296" y="639064"/>
                  </a:lnTo>
                  <a:lnTo>
                    <a:pt x="946150" y="642874"/>
                  </a:lnTo>
                  <a:lnTo>
                    <a:pt x="947039" y="649097"/>
                  </a:lnTo>
                  <a:lnTo>
                    <a:pt x="972185" y="645414"/>
                  </a:lnTo>
                  <a:close/>
                </a:path>
                <a:path w="2368550" h="1108710">
                  <a:moveTo>
                    <a:pt x="984758" y="320675"/>
                  </a:moveTo>
                  <a:lnTo>
                    <a:pt x="959485" y="318008"/>
                  </a:lnTo>
                  <a:lnTo>
                    <a:pt x="958850" y="324231"/>
                  </a:lnTo>
                  <a:lnTo>
                    <a:pt x="984123" y="327025"/>
                  </a:lnTo>
                  <a:lnTo>
                    <a:pt x="984758" y="320675"/>
                  </a:lnTo>
                  <a:close/>
                </a:path>
                <a:path w="2368550" h="1108710">
                  <a:moveTo>
                    <a:pt x="992124" y="857758"/>
                  </a:moveTo>
                  <a:lnTo>
                    <a:pt x="966978" y="854075"/>
                  </a:lnTo>
                  <a:lnTo>
                    <a:pt x="966089" y="860425"/>
                  </a:lnTo>
                  <a:lnTo>
                    <a:pt x="991108" y="864108"/>
                  </a:lnTo>
                  <a:lnTo>
                    <a:pt x="992124" y="857758"/>
                  </a:lnTo>
                  <a:close/>
                </a:path>
                <a:path w="2368550" h="1108710">
                  <a:moveTo>
                    <a:pt x="1000633" y="142621"/>
                  </a:moveTo>
                  <a:lnTo>
                    <a:pt x="1000125" y="136398"/>
                  </a:lnTo>
                  <a:lnTo>
                    <a:pt x="974852" y="138303"/>
                  </a:lnTo>
                  <a:lnTo>
                    <a:pt x="975360" y="144653"/>
                  </a:lnTo>
                  <a:lnTo>
                    <a:pt x="1000633" y="142621"/>
                  </a:lnTo>
                  <a:close/>
                </a:path>
                <a:path w="2368550" h="1108710">
                  <a:moveTo>
                    <a:pt x="1011555" y="1068070"/>
                  </a:moveTo>
                  <a:lnTo>
                    <a:pt x="1011047" y="1061720"/>
                  </a:lnTo>
                  <a:lnTo>
                    <a:pt x="985774" y="1063879"/>
                  </a:lnTo>
                  <a:lnTo>
                    <a:pt x="986282" y="1070229"/>
                  </a:lnTo>
                  <a:lnTo>
                    <a:pt x="1011555" y="1068070"/>
                  </a:lnTo>
                  <a:close/>
                </a:path>
                <a:path w="2368550" h="1108710">
                  <a:moveTo>
                    <a:pt x="1016127" y="638937"/>
                  </a:moveTo>
                  <a:lnTo>
                    <a:pt x="1015238" y="632587"/>
                  </a:lnTo>
                  <a:lnTo>
                    <a:pt x="990092" y="636270"/>
                  </a:lnTo>
                  <a:lnTo>
                    <a:pt x="990981" y="642620"/>
                  </a:lnTo>
                  <a:lnTo>
                    <a:pt x="1016127" y="638937"/>
                  </a:lnTo>
                  <a:close/>
                </a:path>
                <a:path w="2368550" h="1108710">
                  <a:moveTo>
                    <a:pt x="1028954" y="325501"/>
                  </a:moveTo>
                  <a:lnTo>
                    <a:pt x="1003681" y="322707"/>
                  </a:lnTo>
                  <a:lnTo>
                    <a:pt x="1003046" y="329057"/>
                  </a:lnTo>
                  <a:lnTo>
                    <a:pt x="1028319" y="331724"/>
                  </a:lnTo>
                  <a:lnTo>
                    <a:pt x="1028954" y="325501"/>
                  </a:lnTo>
                  <a:close/>
                </a:path>
                <a:path w="2368550" h="1108710">
                  <a:moveTo>
                    <a:pt x="1036066" y="864235"/>
                  </a:moveTo>
                  <a:lnTo>
                    <a:pt x="1010920" y="860552"/>
                  </a:lnTo>
                  <a:lnTo>
                    <a:pt x="1010031" y="866902"/>
                  </a:lnTo>
                  <a:lnTo>
                    <a:pt x="1035177" y="870585"/>
                  </a:lnTo>
                  <a:lnTo>
                    <a:pt x="1036066" y="864235"/>
                  </a:lnTo>
                  <a:close/>
                </a:path>
                <a:path w="2368550" h="1108710">
                  <a:moveTo>
                    <a:pt x="1044956" y="139192"/>
                  </a:moveTo>
                  <a:lnTo>
                    <a:pt x="1044448" y="132842"/>
                  </a:lnTo>
                  <a:lnTo>
                    <a:pt x="1019175" y="134874"/>
                  </a:lnTo>
                  <a:lnTo>
                    <a:pt x="1019683" y="141224"/>
                  </a:lnTo>
                  <a:lnTo>
                    <a:pt x="1044956" y="139192"/>
                  </a:lnTo>
                  <a:close/>
                </a:path>
                <a:path w="2368550" h="1108710">
                  <a:moveTo>
                    <a:pt x="1055878" y="1064260"/>
                  </a:moveTo>
                  <a:lnTo>
                    <a:pt x="1055370" y="1057910"/>
                  </a:lnTo>
                  <a:lnTo>
                    <a:pt x="1029970" y="1060069"/>
                  </a:lnTo>
                  <a:lnTo>
                    <a:pt x="1030605" y="1066419"/>
                  </a:lnTo>
                  <a:lnTo>
                    <a:pt x="1055878" y="1064260"/>
                  </a:lnTo>
                  <a:close/>
                </a:path>
                <a:path w="2368550" h="1108710">
                  <a:moveTo>
                    <a:pt x="1060069" y="632333"/>
                  </a:moveTo>
                  <a:lnTo>
                    <a:pt x="1059180" y="626110"/>
                  </a:lnTo>
                  <a:lnTo>
                    <a:pt x="1034034" y="629793"/>
                  </a:lnTo>
                  <a:lnTo>
                    <a:pt x="1035050" y="636143"/>
                  </a:lnTo>
                  <a:lnTo>
                    <a:pt x="1060069" y="632333"/>
                  </a:lnTo>
                  <a:close/>
                </a:path>
                <a:path w="2368550" h="1108710">
                  <a:moveTo>
                    <a:pt x="1073150" y="330200"/>
                  </a:moveTo>
                  <a:lnTo>
                    <a:pt x="1047877" y="327533"/>
                  </a:lnTo>
                  <a:lnTo>
                    <a:pt x="1047242" y="333756"/>
                  </a:lnTo>
                  <a:lnTo>
                    <a:pt x="1072515" y="336550"/>
                  </a:lnTo>
                  <a:lnTo>
                    <a:pt x="1073150" y="330200"/>
                  </a:lnTo>
                  <a:close/>
                </a:path>
                <a:path w="2368550" h="1108710">
                  <a:moveTo>
                    <a:pt x="1080008" y="870839"/>
                  </a:moveTo>
                  <a:lnTo>
                    <a:pt x="1054862" y="867029"/>
                  </a:lnTo>
                  <a:lnTo>
                    <a:pt x="1053973" y="873379"/>
                  </a:lnTo>
                  <a:lnTo>
                    <a:pt x="1079119" y="877062"/>
                  </a:lnTo>
                  <a:lnTo>
                    <a:pt x="1080008" y="870839"/>
                  </a:lnTo>
                  <a:close/>
                </a:path>
                <a:path w="2368550" h="1108710">
                  <a:moveTo>
                    <a:pt x="1089279" y="135763"/>
                  </a:moveTo>
                  <a:lnTo>
                    <a:pt x="1088771" y="129413"/>
                  </a:lnTo>
                  <a:lnTo>
                    <a:pt x="1063498" y="131318"/>
                  </a:lnTo>
                  <a:lnTo>
                    <a:pt x="1064006" y="137668"/>
                  </a:lnTo>
                  <a:lnTo>
                    <a:pt x="1089279" y="135763"/>
                  </a:lnTo>
                  <a:close/>
                </a:path>
                <a:path w="2368550" h="1108710">
                  <a:moveTo>
                    <a:pt x="1100201" y="1060450"/>
                  </a:moveTo>
                  <a:lnTo>
                    <a:pt x="1099566" y="1054100"/>
                  </a:lnTo>
                  <a:lnTo>
                    <a:pt x="1074293" y="1056259"/>
                  </a:lnTo>
                  <a:lnTo>
                    <a:pt x="1074801" y="1062609"/>
                  </a:lnTo>
                  <a:lnTo>
                    <a:pt x="1100201" y="1060450"/>
                  </a:lnTo>
                  <a:close/>
                </a:path>
                <a:path w="2368550" h="1108710">
                  <a:moveTo>
                    <a:pt x="1104138" y="625856"/>
                  </a:moveTo>
                  <a:lnTo>
                    <a:pt x="1103122" y="619506"/>
                  </a:lnTo>
                  <a:lnTo>
                    <a:pt x="1077976" y="623316"/>
                  </a:lnTo>
                  <a:lnTo>
                    <a:pt x="1078992" y="629539"/>
                  </a:lnTo>
                  <a:lnTo>
                    <a:pt x="1104138" y="625856"/>
                  </a:lnTo>
                  <a:close/>
                </a:path>
                <a:path w="2368550" h="1108710">
                  <a:moveTo>
                    <a:pt x="1117346" y="334899"/>
                  </a:moveTo>
                  <a:lnTo>
                    <a:pt x="1092073" y="332232"/>
                  </a:lnTo>
                  <a:lnTo>
                    <a:pt x="1091438" y="338582"/>
                  </a:lnTo>
                  <a:lnTo>
                    <a:pt x="1116711" y="341249"/>
                  </a:lnTo>
                  <a:lnTo>
                    <a:pt x="1117346" y="334899"/>
                  </a:lnTo>
                  <a:close/>
                </a:path>
                <a:path w="2368550" h="1108710">
                  <a:moveTo>
                    <a:pt x="1123950" y="877316"/>
                  </a:moveTo>
                  <a:lnTo>
                    <a:pt x="1098931" y="873633"/>
                  </a:lnTo>
                  <a:lnTo>
                    <a:pt x="1097915" y="879856"/>
                  </a:lnTo>
                  <a:lnTo>
                    <a:pt x="1123061" y="883539"/>
                  </a:lnTo>
                  <a:lnTo>
                    <a:pt x="1123950" y="877316"/>
                  </a:lnTo>
                  <a:close/>
                </a:path>
                <a:path w="2368550" h="1108710">
                  <a:moveTo>
                    <a:pt x="1133602" y="132207"/>
                  </a:moveTo>
                  <a:lnTo>
                    <a:pt x="1133094" y="125857"/>
                  </a:lnTo>
                  <a:lnTo>
                    <a:pt x="1107821" y="127889"/>
                  </a:lnTo>
                  <a:lnTo>
                    <a:pt x="1108329" y="134239"/>
                  </a:lnTo>
                  <a:lnTo>
                    <a:pt x="1133602" y="132207"/>
                  </a:lnTo>
                  <a:close/>
                </a:path>
                <a:path w="2368550" h="1108710">
                  <a:moveTo>
                    <a:pt x="1144397" y="1056640"/>
                  </a:moveTo>
                  <a:lnTo>
                    <a:pt x="1143889" y="1050290"/>
                  </a:lnTo>
                  <a:lnTo>
                    <a:pt x="1118616" y="1052449"/>
                  </a:lnTo>
                  <a:lnTo>
                    <a:pt x="1119124" y="1058799"/>
                  </a:lnTo>
                  <a:lnTo>
                    <a:pt x="1144397" y="1056640"/>
                  </a:lnTo>
                  <a:close/>
                </a:path>
                <a:path w="2368550" h="1108710">
                  <a:moveTo>
                    <a:pt x="1148080" y="619379"/>
                  </a:moveTo>
                  <a:lnTo>
                    <a:pt x="1147191" y="613029"/>
                  </a:lnTo>
                  <a:lnTo>
                    <a:pt x="1122045" y="616712"/>
                  </a:lnTo>
                  <a:lnTo>
                    <a:pt x="1122934" y="623062"/>
                  </a:lnTo>
                  <a:lnTo>
                    <a:pt x="1148080" y="619379"/>
                  </a:lnTo>
                  <a:close/>
                </a:path>
                <a:path w="2368550" h="1108710">
                  <a:moveTo>
                    <a:pt x="1161542" y="339725"/>
                  </a:moveTo>
                  <a:lnTo>
                    <a:pt x="1136269" y="336931"/>
                  </a:lnTo>
                  <a:lnTo>
                    <a:pt x="1135634" y="343281"/>
                  </a:lnTo>
                  <a:lnTo>
                    <a:pt x="1160907" y="345948"/>
                  </a:lnTo>
                  <a:lnTo>
                    <a:pt x="1161542" y="339725"/>
                  </a:lnTo>
                  <a:close/>
                </a:path>
                <a:path w="2368550" h="1108710">
                  <a:moveTo>
                    <a:pt x="1168019" y="883793"/>
                  </a:moveTo>
                  <a:lnTo>
                    <a:pt x="1142873" y="880110"/>
                  </a:lnTo>
                  <a:lnTo>
                    <a:pt x="1141984" y="886333"/>
                  </a:lnTo>
                  <a:lnTo>
                    <a:pt x="1167003" y="890016"/>
                  </a:lnTo>
                  <a:lnTo>
                    <a:pt x="1168019" y="883793"/>
                  </a:lnTo>
                  <a:close/>
                </a:path>
                <a:path w="2368550" h="1108710">
                  <a:moveTo>
                    <a:pt x="1177925" y="128778"/>
                  </a:moveTo>
                  <a:lnTo>
                    <a:pt x="1177417" y="122428"/>
                  </a:lnTo>
                  <a:lnTo>
                    <a:pt x="1152144" y="124460"/>
                  </a:lnTo>
                  <a:lnTo>
                    <a:pt x="1152652" y="130683"/>
                  </a:lnTo>
                  <a:lnTo>
                    <a:pt x="1177925" y="128778"/>
                  </a:lnTo>
                  <a:close/>
                </a:path>
                <a:path w="2368550" h="1108710">
                  <a:moveTo>
                    <a:pt x="1188720" y="1052830"/>
                  </a:moveTo>
                  <a:lnTo>
                    <a:pt x="1188212" y="1046480"/>
                  </a:lnTo>
                  <a:lnTo>
                    <a:pt x="1162812" y="1048639"/>
                  </a:lnTo>
                  <a:lnTo>
                    <a:pt x="1163447" y="1054989"/>
                  </a:lnTo>
                  <a:lnTo>
                    <a:pt x="1188720" y="1052830"/>
                  </a:lnTo>
                  <a:close/>
                </a:path>
                <a:path w="2368550" h="1108710">
                  <a:moveTo>
                    <a:pt x="1192022" y="612775"/>
                  </a:moveTo>
                  <a:lnTo>
                    <a:pt x="1191133" y="606552"/>
                  </a:lnTo>
                  <a:lnTo>
                    <a:pt x="1165987" y="610235"/>
                  </a:lnTo>
                  <a:lnTo>
                    <a:pt x="1166876" y="616585"/>
                  </a:lnTo>
                  <a:lnTo>
                    <a:pt x="1192022" y="612775"/>
                  </a:lnTo>
                  <a:close/>
                </a:path>
                <a:path w="2368550" h="1108710">
                  <a:moveTo>
                    <a:pt x="1205738" y="344424"/>
                  </a:moveTo>
                  <a:lnTo>
                    <a:pt x="1180465" y="341757"/>
                  </a:lnTo>
                  <a:lnTo>
                    <a:pt x="1179830" y="348107"/>
                  </a:lnTo>
                  <a:lnTo>
                    <a:pt x="1205103" y="350774"/>
                  </a:lnTo>
                  <a:lnTo>
                    <a:pt x="1205738" y="344424"/>
                  </a:lnTo>
                  <a:close/>
                </a:path>
                <a:path w="2368550" h="1108710">
                  <a:moveTo>
                    <a:pt x="1211961" y="890270"/>
                  </a:moveTo>
                  <a:lnTo>
                    <a:pt x="1186815" y="886587"/>
                  </a:lnTo>
                  <a:lnTo>
                    <a:pt x="1185926" y="892810"/>
                  </a:lnTo>
                  <a:lnTo>
                    <a:pt x="1211072" y="896620"/>
                  </a:lnTo>
                  <a:lnTo>
                    <a:pt x="1211961" y="890270"/>
                  </a:lnTo>
                  <a:close/>
                </a:path>
                <a:path w="2368550" h="1108710">
                  <a:moveTo>
                    <a:pt x="1222248" y="125222"/>
                  </a:moveTo>
                  <a:lnTo>
                    <a:pt x="1221740" y="118999"/>
                  </a:lnTo>
                  <a:lnTo>
                    <a:pt x="1196467" y="120904"/>
                  </a:lnTo>
                  <a:lnTo>
                    <a:pt x="1196975" y="127254"/>
                  </a:lnTo>
                  <a:lnTo>
                    <a:pt x="1222248" y="125222"/>
                  </a:lnTo>
                  <a:close/>
                </a:path>
                <a:path w="2368550" h="1108710">
                  <a:moveTo>
                    <a:pt x="1233043" y="1049020"/>
                  </a:moveTo>
                  <a:lnTo>
                    <a:pt x="1232408" y="1042670"/>
                  </a:lnTo>
                  <a:lnTo>
                    <a:pt x="1207135" y="1044829"/>
                  </a:lnTo>
                  <a:lnTo>
                    <a:pt x="1207643" y="1051179"/>
                  </a:lnTo>
                  <a:lnTo>
                    <a:pt x="1233043" y="1049020"/>
                  </a:lnTo>
                  <a:close/>
                </a:path>
                <a:path w="2368550" h="1108710">
                  <a:moveTo>
                    <a:pt x="1235964" y="606298"/>
                  </a:moveTo>
                  <a:lnTo>
                    <a:pt x="1235075" y="599948"/>
                  </a:lnTo>
                  <a:lnTo>
                    <a:pt x="1209929" y="603758"/>
                  </a:lnTo>
                  <a:lnTo>
                    <a:pt x="1210818" y="609981"/>
                  </a:lnTo>
                  <a:lnTo>
                    <a:pt x="1235964" y="606298"/>
                  </a:lnTo>
                  <a:close/>
                </a:path>
                <a:path w="2368550" h="1108710">
                  <a:moveTo>
                    <a:pt x="1249934" y="349250"/>
                  </a:moveTo>
                  <a:lnTo>
                    <a:pt x="1224661" y="346456"/>
                  </a:lnTo>
                  <a:lnTo>
                    <a:pt x="1224026" y="352806"/>
                  </a:lnTo>
                  <a:lnTo>
                    <a:pt x="1249299" y="355473"/>
                  </a:lnTo>
                  <a:lnTo>
                    <a:pt x="1249934" y="349250"/>
                  </a:lnTo>
                  <a:close/>
                </a:path>
                <a:path w="2368550" h="1108710">
                  <a:moveTo>
                    <a:pt x="1255903" y="896747"/>
                  </a:moveTo>
                  <a:lnTo>
                    <a:pt x="1230757" y="893064"/>
                  </a:lnTo>
                  <a:lnTo>
                    <a:pt x="1229868" y="899414"/>
                  </a:lnTo>
                  <a:lnTo>
                    <a:pt x="1255014" y="903097"/>
                  </a:lnTo>
                  <a:lnTo>
                    <a:pt x="1255903" y="896747"/>
                  </a:lnTo>
                  <a:close/>
                </a:path>
                <a:path w="2368550" h="1108710">
                  <a:moveTo>
                    <a:pt x="1266571" y="121793"/>
                  </a:moveTo>
                  <a:lnTo>
                    <a:pt x="1266063" y="115443"/>
                  </a:lnTo>
                  <a:lnTo>
                    <a:pt x="1240790" y="117475"/>
                  </a:lnTo>
                  <a:lnTo>
                    <a:pt x="1241171" y="123825"/>
                  </a:lnTo>
                  <a:lnTo>
                    <a:pt x="1266571" y="121793"/>
                  </a:lnTo>
                  <a:close/>
                </a:path>
                <a:path w="2368550" h="1108710">
                  <a:moveTo>
                    <a:pt x="1277239" y="1045210"/>
                  </a:moveTo>
                  <a:lnTo>
                    <a:pt x="1276731" y="1038860"/>
                  </a:lnTo>
                  <a:lnTo>
                    <a:pt x="1251458" y="1041019"/>
                  </a:lnTo>
                  <a:lnTo>
                    <a:pt x="1251966" y="1047369"/>
                  </a:lnTo>
                  <a:lnTo>
                    <a:pt x="1277239" y="1045210"/>
                  </a:lnTo>
                  <a:close/>
                </a:path>
                <a:path w="2368550" h="1108710">
                  <a:moveTo>
                    <a:pt x="1280033" y="599821"/>
                  </a:moveTo>
                  <a:lnTo>
                    <a:pt x="1279017" y="593471"/>
                  </a:lnTo>
                  <a:lnTo>
                    <a:pt x="1253871" y="597154"/>
                  </a:lnTo>
                  <a:lnTo>
                    <a:pt x="1254887" y="603504"/>
                  </a:lnTo>
                  <a:lnTo>
                    <a:pt x="1280033" y="599821"/>
                  </a:lnTo>
                  <a:close/>
                </a:path>
                <a:path w="2368550" h="1108710">
                  <a:moveTo>
                    <a:pt x="1294130" y="353949"/>
                  </a:moveTo>
                  <a:lnTo>
                    <a:pt x="1268857" y="351282"/>
                  </a:lnTo>
                  <a:lnTo>
                    <a:pt x="1268222" y="357505"/>
                  </a:lnTo>
                  <a:lnTo>
                    <a:pt x="1293495" y="360299"/>
                  </a:lnTo>
                  <a:lnTo>
                    <a:pt x="1294130" y="353949"/>
                  </a:lnTo>
                  <a:close/>
                </a:path>
                <a:path w="2368550" h="1108710">
                  <a:moveTo>
                    <a:pt x="1299845" y="903224"/>
                  </a:moveTo>
                  <a:lnTo>
                    <a:pt x="1274826" y="899541"/>
                  </a:lnTo>
                  <a:lnTo>
                    <a:pt x="1273810" y="905891"/>
                  </a:lnTo>
                  <a:lnTo>
                    <a:pt x="1298956" y="909574"/>
                  </a:lnTo>
                  <a:lnTo>
                    <a:pt x="1299845" y="903224"/>
                  </a:lnTo>
                  <a:close/>
                </a:path>
                <a:path w="2368550" h="1108710">
                  <a:moveTo>
                    <a:pt x="1310894" y="118364"/>
                  </a:moveTo>
                  <a:lnTo>
                    <a:pt x="1310386" y="112014"/>
                  </a:lnTo>
                  <a:lnTo>
                    <a:pt x="1284986" y="113919"/>
                  </a:lnTo>
                  <a:lnTo>
                    <a:pt x="1285494" y="120269"/>
                  </a:lnTo>
                  <a:lnTo>
                    <a:pt x="1310894" y="118364"/>
                  </a:lnTo>
                  <a:close/>
                </a:path>
                <a:path w="2368550" h="1108710">
                  <a:moveTo>
                    <a:pt x="1321562" y="1041400"/>
                  </a:moveTo>
                  <a:lnTo>
                    <a:pt x="1321054" y="1035050"/>
                  </a:lnTo>
                  <a:lnTo>
                    <a:pt x="1295781" y="1037209"/>
                  </a:lnTo>
                  <a:lnTo>
                    <a:pt x="1296289" y="1043559"/>
                  </a:lnTo>
                  <a:lnTo>
                    <a:pt x="1321562" y="1041400"/>
                  </a:lnTo>
                  <a:close/>
                </a:path>
                <a:path w="2368550" h="1108710">
                  <a:moveTo>
                    <a:pt x="1323975" y="593217"/>
                  </a:moveTo>
                  <a:lnTo>
                    <a:pt x="1322959" y="586994"/>
                  </a:lnTo>
                  <a:lnTo>
                    <a:pt x="1297940" y="590677"/>
                  </a:lnTo>
                  <a:lnTo>
                    <a:pt x="1298829" y="597027"/>
                  </a:lnTo>
                  <a:lnTo>
                    <a:pt x="1323975" y="593217"/>
                  </a:lnTo>
                  <a:close/>
                </a:path>
                <a:path w="2368550" h="1108710">
                  <a:moveTo>
                    <a:pt x="1338326" y="358648"/>
                  </a:moveTo>
                  <a:lnTo>
                    <a:pt x="1313053" y="355981"/>
                  </a:lnTo>
                  <a:lnTo>
                    <a:pt x="1312418" y="362331"/>
                  </a:lnTo>
                  <a:lnTo>
                    <a:pt x="1337691" y="364998"/>
                  </a:lnTo>
                  <a:lnTo>
                    <a:pt x="1338326" y="358648"/>
                  </a:lnTo>
                  <a:close/>
                </a:path>
                <a:path w="2368550" h="1108710">
                  <a:moveTo>
                    <a:pt x="1343914" y="909828"/>
                  </a:moveTo>
                  <a:lnTo>
                    <a:pt x="1318768" y="906018"/>
                  </a:lnTo>
                  <a:lnTo>
                    <a:pt x="1317752" y="912368"/>
                  </a:lnTo>
                  <a:lnTo>
                    <a:pt x="1342898" y="916051"/>
                  </a:lnTo>
                  <a:lnTo>
                    <a:pt x="1343914" y="909828"/>
                  </a:lnTo>
                  <a:close/>
                </a:path>
                <a:path w="2368550" h="1108710">
                  <a:moveTo>
                    <a:pt x="1355217" y="114808"/>
                  </a:moveTo>
                  <a:lnTo>
                    <a:pt x="1354709" y="108458"/>
                  </a:lnTo>
                  <a:lnTo>
                    <a:pt x="1329309" y="110490"/>
                  </a:lnTo>
                  <a:lnTo>
                    <a:pt x="1329817" y="116840"/>
                  </a:lnTo>
                  <a:lnTo>
                    <a:pt x="1355217" y="114808"/>
                  </a:lnTo>
                  <a:close/>
                </a:path>
                <a:path w="2368550" h="1108710">
                  <a:moveTo>
                    <a:pt x="1365885" y="1037590"/>
                  </a:moveTo>
                  <a:lnTo>
                    <a:pt x="1365377" y="1031240"/>
                  </a:lnTo>
                  <a:lnTo>
                    <a:pt x="1339977" y="1033399"/>
                  </a:lnTo>
                  <a:lnTo>
                    <a:pt x="1340612" y="1039749"/>
                  </a:lnTo>
                  <a:lnTo>
                    <a:pt x="1365885" y="1037590"/>
                  </a:lnTo>
                  <a:close/>
                </a:path>
                <a:path w="2368550" h="1108710">
                  <a:moveTo>
                    <a:pt x="1367917" y="586740"/>
                  </a:moveTo>
                  <a:lnTo>
                    <a:pt x="1367028" y="580390"/>
                  </a:lnTo>
                  <a:lnTo>
                    <a:pt x="1341882" y="584200"/>
                  </a:lnTo>
                  <a:lnTo>
                    <a:pt x="1342771" y="590423"/>
                  </a:lnTo>
                  <a:lnTo>
                    <a:pt x="1367917" y="586740"/>
                  </a:lnTo>
                  <a:close/>
                </a:path>
                <a:path w="2368550" h="1108710">
                  <a:moveTo>
                    <a:pt x="1382522" y="363474"/>
                  </a:moveTo>
                  <a:lnTo>
                    <a:pt x="1357249" y="360680"/>
                  </a:lnTo>
                  <a:lnTo>
                    <a:pt x="1356614" y="367030"/>
                  </a:lnTo>
                  <a:lnTo>
                    <a:pt x="1381887" y="369824"/>
                  </a:lnTo>
                  <a:lnTo>
                    <a:pt x="1382522" y="363474"/>
                  </a:lnTo>
                  <a:close/>
                </a:path>
                <a:path w="2368550" h="1108710">
                  <a:moveTo>
                    <a:pt x="1387856" y="916305"/>
                  </a:moveTo>
                  <a:lnTo>
                    <a:pt x="1362710" y="912622"/>
                  </a:lnTo>
                  <a:lnTo>
                    <a:pt x="1361821" y="918845"/>
                  </a:lnTo>
                  <a:lnTo>
                    <a:pt x="1386967" y="922528"/>
                  </a:lnTo>
                  <a:lnTo>
                    <a:pt x="1387856" y="916305"/>
                  </a:lnTo>
                  <a:close/>
                </a:path>
                <a:path w="2368550" h="1108710">
                  <a:moveTo>
                    <a:pt x="1399540" y="111379"/>
                  </a:moveTo>
                  <a:lnTo>
                    <a:pt x="1399032" y="105029"/>
                  </a:lnTo>
                  <a:lnTo>
                    <a:pt x="1373632" y="107061"/>
                  </a:lnTo>
                  <a:lnTo>
                    <a:pt x="1374140" y="113284"/>
                  </a:lnTo>
                  <a:lnTo>
                    <a:pt x="1399540" y="111379"/>
                  </a:lnTo>
                  <a:close/>
                </a:path>
                <a:path w="2368550" h="1108710">
                  <a:moveTo>
                    <a:pt x="1410208" y="1033780"/>
                  </a:moveTo>
                  <a:lnTo>
                    <a:pt x="1409573" y="1027430"/>
                  </a:lnTo>
                  <a:lnTo>
                    <a:pt x="1384300" y="1029589"/>
                  </a:lnTo>
                  <a:lnTo>
                    <a:pt x="1384808" y="1035939"/>
                  </a:lnTo>
                  <a:lnTo>
                    <a:pt x="1410208" y="1033780"/>
                  </a:lnTo>
                  <a:close/>
                </a:path>
                <a:path w="2368550" h="1108710">
                  <a:moveTo>
                    <a:pt x="1411859" y="580263"/>
                  </a:moveTo>
                  <a:lnTo>
                    <a:pt x="1410970" y="573913"/>
                  </a:lnTo>
                  <a:lnTo>
                    <a:pt x="1385824" y="577596"/>
                  </a:lnTo>
                  <a:lnTo>
                    <a:pt x="1386713" y="583946"/>
                  </a:lnTo>
                  <a:lnTo>
                    <a:pt x="1411859" y="580263"/>
                  </a:lnTo>
                  <a:close/>
                </a:path>
                <a:path w="2368550" h="1108710">
                  <a:moveTo>
                    <a:pt x="1426718" y="368173"/>
                  </a:moveTo>
                  <a:lnTo>
                    <a:pt x="1401445" y="365506"/>
                  </a:lnTo>
                  <a:lnTo>
                    <a:pt x="1400810" y="371856"/>
                  </a:lnTo>
                  <a:lnTo>
                    <a:pt x="1426083" y="374523"/>
                  </a:lnTo>
                  <a:lnTo>
                    <a:pt x="1426718" y="368173"/>
                  </a:lnTo>
                  <a:close/>
                </a:path>
                <a:path w="2368550" h="1108710">
                  <a:moveTo>
                    <a:pt x="1431798" y="922782"/>
                  </a:moveTo>
                  <a:lnTo>
                    <a:pt x="1406652" y="919099"/>
                  </a:lnTo>
                  <a:lnTo>
                    <a:pt x="1405763" y="925322"/>
                  </a:lnTo>
                  <a:lnTo>
                    <a:pt x="1430909" y="929005"/>
                  </a:lnTo>
                  <a:lnTo>
                    <a:pt x="1431798" y="922782"/>
                  </a:lnTo>
                  <a:close/>
                </a:path>
                <a:path w="2368550" h="1108710">
                  <a:moveTo>
                    <a:pt x="1443863" y="107823"/>
                  </a:moveTo>
                  <a:lnTo>
                    <a:pt x="1443355" y="101600"/>
                  </a:lnTo>
                  <a:lnTo>
                    <a:pt x="1417955" y="103505"/>
                  </a:lnTo>
                  <a:lnTo>
                    <a:pt x="1418463" y="109855"/>
                  </a:lnTo>
                  <a:lnTo>
                    <a:pt x="1443863" y="107823"/>
                  </a:lnTo>
                  <a:close/>
                </a:path>
                <a:path w="2368550" h="1108710">
                  <a:moveTo>
                    <a:pt x="1454404" y="1029970"/>
                  </a:moveTo>
                  <a:lnTo>
                    <a:pt x="1453896" y="1023620"/>
                  </a:lnTo>
                  <a:lnTo>
                    <a:pt x="1428623" y="1025779"/>
                  </a:lnTo>
                  <a:lnTo>
                    <a:pt x="1429131" y="1032129"/>
                  </a:lnTo>
                  <a:lnTo>
                    <a:pt x="1454404" y="1029970"/>
                  </a:lnTo>
                  <a:close/>
                </a:path>
                <a:path w="2368550" h="1108710">
                  <a:moveTo>
                    <a:pt x="1455801" y="573659"/>
                  </a:moveTo>
                  <a:lnTo>
                    <a:pt x="1454912" y="567436"/>
                  </a:lnTo>
                  <a:lnTo>
                    <a:pt x="1429766" y="571119"/>
                  </a:lnTo>
                  <a:lnTo>
                    <a:pt x="1430782" y="577469"/>
                  </a:lnTo>
                  <a:lnTo>
                    <a:pt x="1455801" y="573659"/>
                  </a:lnTo>
                  <a:close/>
                </a:path>
                <a:path w="2368550" h="1108710">
                  <a:moveTo>
                    <a:pt x="1470914" y="372999"/>
                  </a:moveTo>
                  <a:lnTo>
                    <a:pt x="1445641" y="370205"/>
                  </a:lnTo>
                  <a:lnTo>
                    <a:pt x="1445006" y="376555"/>
                  </a:lnTo>
                  <a:lnTo>
                    <a:pt x="1470279" y="379222"/>
                  </a:lnTo>
                  <a:lnTo>
                    <a:pt x="1470914" y="372999"/>
                  </a:lnTo>
                  <a:close/>
                </a:path>
                <a:path w="2368550" h="1108710">
                  <a:moveTo>
                    <a:pt x="1475740" y="929259"/>
                  </a:moveTo>
                  <a:lnTo>
                    <a:pt x="1450721" y="925576"/>
                  </a:lnTo>
                  <a:lnTo>
                    <a:pt x="1449705" y="931799"/>
                  </a:lnTo>
                  <a:lnTo>
                    <a:pt x="1474851" y="935609"/>
                  </a:lnTo>
                  <a:lnTo>
                    <a:pt x="1475740" y="929259"/>
                  </a:lnTo>
                  <a:close/>
                </a:path>
                <a:path w="2368550" h="1108710">
                  <a:moveTo>
                    <a:pt x="1488059" y="104394"/>
                  </a:moveTo>
                  <a:lnTo>
                    <a:pt x="1487678" y="98044"/>
                  </a:lnTo>
                  <a:lnTo>
                    <a:pt x="1462278" y="100076"/>
                  </a:lnTo>
                  <a:lnTo>
                    <a:pt x="1462786" y="106426"/>
                  </a:lnTo>
                  <a:lnTo>
                    <a:pt x="1488059" y="104394"/>
                  </a:lnTo>
                  <a:close/>
                </a:path>
                <a:path w="2368550" h="1108710">
                  <a:moveTo>
                    <a:pt x="1498727" y="1026160"/>
                  </a:moveTo>
                  <a:lnTo>
                    <a:pt x="1498219" y="1019810"/>
                  </a:lnTo>
                  <a:lnTo>
                    <a:pt x="1472819" y="1021969"/>
                  </a:lnTo>
                  <a:lnTo>
                    <a:pt x="1473454" y="1028319"/>
                  </a:lnTo>
                  <a:lnTo>
                    <a:pt x="1498727" y="1026160"/>
                  </a:lnTo>
                  <a:close/>
                </a:path>
                <a:path w="2368550" h="1108710">
                  <a:moveTo>
                    <a:pt x="1499870" y="567182"/>
                  </a:moveTo>
                  <a:lnTo>
                    <a:pt x="1498854" y="560832"/>
                  </a:lnTo>
                  <a:lnTo>
                    <a:pt x="1473708" y="564642"/>
                  </a:lnTo>
                  <a:lnTo>
                    <a:pt x="1474724" y="570865"/>
                  </a:lnTo>
                  <a:lnTo>
                    <a:pt x="1499870" y="567182"/>
                  </a:lnTo>
                  <a:close/>
                </a:path>
                <a:path w="2368550" h="1108710">
                  <a:moveTo>
                    <a:pt x="1515110" y="377698"/>
                  </a:moveTo>
                  <a:lnTo>
                    <a:pt x="1489837" y="375031"/>
                  </a:lnTo>
                  <a:lnTo>
                    <a:pt x="1489202" y="381254"/>
                  </a:lnTo>
                  <a:lnTo>
                    <a:pt x="1514475" y="384048"/>
                  </a:lnTo>
                  <a:lnTo>
                    <a:pt x="1515110" y="377698"/>
                  </a:lnTo>
                  <a:close/>
                </a:path>
                <a:path w="2368550" h="1108710">
                  <a:moveTo>
                    <a:pt x="1519809" y="935736"/>
                  </a:moveTo>
                  <a:lnTo>
                    <a:pt x="1494663" y="932053"/>
                  </a:lnTo>
                  <a:lnTo>
                    <a:pt x="1493647" y="938403"/>
                  </a:lnTo>
                  <a:lnTo>
                    <a:pt x="1518793" y="942086"/>
                  </a:lnTo>
                  <a:lnTo>
                    <a:pt x="1519809" y="935736"/>
                  </a:lnTo>
                  <a:close/>
                </a:path>
                <a:path w="2368550" h="1108710">
                  <a:moveTo>
                    <a:pt x="1532382" y="100965"/>
                  </a:moveTo>
                  <a:lnTo>
                    <a:pt x="1531874" y="94615"/>
                  </a:lnTo>
                  <a:lnTo>
                    <a:pt x="1506601" y="96520"/>
                  </a:lnTo>
                  <a:lnTo>
                    <a:pt x="1507109" y="102870"/>
                  </a:lnTo>
                  <a:lnTo>
                    <a:pt x="1532382" y="100965"/>
                  </a:lnTo>
                  <a:close/>
                </a:path>
                <a:path w="2368550" h="1108710">
                  <a:moveTo>
                    <a:pt x="1543050" y="1022350"/>
                  </a:moveTo>
                  <a:lnTo>
                    <a:pt x="1542415" y="1016000"/>
                  </a:lnTo>
                  <a:lnTo>
                    <a:pt x="1517142" y="1018159"/>
                  </a:lnTo>
                  <a:lnTo>
                    <a:pt x="1517650" y="1024509"/>
                  </a:lnTo>
                  <a:lnTo>
                    <a:pt x="1543050" y="1022350"/>
                  </a:lnTo>
                  <a:close/>
                </a:path>
                <a:path w="2368550" h="1108710">
                  <a:moveTo>
                    <a:pt x="1543812" y="560578"/>
                  </a:moveTo>
                  <a:lnTo>
                    <a:pt x="1542796" y="554355"/>
                  </a:lnTo>
                  <a:lnTo>
                    <a:pt x="1517777" y="558038"/>
                  </a:lnTo>
                  <a:lnTo>
                    <a:pt x="1518666" y="564388"/>
                  </a:lnTo>
                  <a:lnTo>
                    <a:pt x="1543812" y="560578"/>
                  </a:lnTo>
                  <a:close/>
                </a:path>
                <a:path w="2368550" h="1108710">
                  <a:moveTo>
                    <a:pt x="1559306" y="382397"/>
                  </a:moveTo>
                  <a:lnTo>
                    <a:pt x="1534033" y="379730"/>
                  </a:lnTo>
                  <a:lnTo>
                    <a:pt x="1533398" y="386080"/>
                  </a:lnTo>
                  <a:lnTo>
                    <a:pt x="1558671" y="388747"/>
                  </a:lnTo>
                  <a:lnTo>
                    <a:pt x="1559306" y="382397"/>
                  </a:lnTo>
                  <a:close/>
                </a:path>
                <a:path w="2368550" h="1108710">
                  <a:moveTo>
                    <a:pt x="1563751" y="942213"/>
                  </a:moveTo>
                  <a:lnTo>
                    <a:pt x="1538605" y="938530"/>
                  </a:lnTo>
                  <a:lnTo>
                    <a:pt x="1537716" y="944880"/>
                  </a:lnTo>
                  <a:lnTo>
                    <a:pt x="1562862" y="948563"/>
                  </a:lnTo>
                  <a:lnTo>
                    <a:pt x="1563751" y="942213"/>
                  </a:lnTo>
                  <a:close/>
                </a:path>
                <a:path w="2368550" h="1108710">
                  <a:moveTo>
                    <a:pt x="1576705" y="97409"/>
                  </a:moveTo>
                  <a:lnTo>
                    <a:pt x="1576197" y="91059"/>
                  </a:lnTo>
                  <a:lnTo>
                    <a:pt x="1550924" y="93091"/>
                  </a:lnTo>
                  <a:lnTo>
                    <a:pt x="1551432" y="99441"/>
                  </a:lnTo>
                  <a:lnTo>
                    <a:pt x="1576705" y="97409"/>
                  </a:lnTo>
                  <a:close/>
                </a:path>
                <a:path w="2368550" h="1108710">
                  <a:moveTo>
                    <a:pt x="1587246" y="1018540"/>
                  </a:moveTo>
                  <a:lnTo>
                    <a:pt x="1586738" y="1012190"/>
                  </a:lnTo>
                  <a:lnTo>
                    <a:pt x="1561465" y="1014349"/>
                  </a:lnTo>
                  <a:lnTo>
                    <a:pt x="1561973" y="1020699"/>
                  </a:lnTo>
                  <a:lnTo>
                    <a:pt x="1587246" y="1018540"/>
                  </a:lnTo>
                  <a:close/>
                </a:path>
                <a:path w="2368550" h="1108710">
                  <a:moveTo>
                    <a:pt x="1587754" y="554101"/>
                  </a:moveTo>
                  <a:lnTo>
                    <a:pt x="1586865" y="547878"/>
                  </a:lnTo>
                  <a:lnTo>
                    <a:pt x="1561719" y="551561"/>
                  </a:lnTo>
                  <a:lnTo>
                    <a:pt x="1562608" y="557784"/>
                  </a:lnTo>
                  <a:lnTo>
                    <a:pt x="1587754" y="554101"/>
                  </a:lnTo>
                  <a:close/>
                </a:path>
                <a:path w="2368550" h="1108710">
                  <a:moveTo>
                    <a:pt x="1603502" y="387223"/>
                  </a:moveTo>
                  <a:lnTo>
                    <a:pt x="1578229" y="384429"/>
                  </a:lnTo>
                  <a:lnTo>
                    <a:pt x="1577594" y="390779"/>
                  </a:lnTo>
                  <a:lnTo>
                    <a:pt x="1602867" y="393573"/>
                  </a:lnTo>
                  <a:lnTo>
                    <a:pt x="1603502" y="387223"/>
                  </a:lnTo>
                  <a:close/>
                </a:path>
                <a:path w="2368550" h="1108710">
                  <a:moveTo>
                    <a:pt x="1607693" y="948817"/>
                  </a:moveTo>
                  <a:lnTo>
                    <a:pt x="1582547" y="945007"/>
                  </a:lnTo>
                  <a:lnTo>
                    <a:pt x="1581658" y="951357"/>
                  </a:lnTo>
                  <a:lnTo>
                    <a:pt x="1606804" y="955040"/>
                  </a:lnTo>
                  <a:lnTo>
                    <a:pt x="1607693" y="948817"/>
                  </a:lnTo>
                  <a:close/>
                </a:path>
                <a:path w="2368550" h="1108710">
                  <a:moveTo>
                    <a:pt x="1621028" y="93980"/>
                  </a:moveTo>
                  <a:lnTo>
                    <a:pt x="1620520" y="87630"/>
                  </a:lnTo>
                  <a:lnTo>
                    <a:pt x="1595247" y="89662"/>
                  </a:lnTo>
                  <a:lnTo>
                    <a:pt x="1595755" y="95885"/>
                  </a:lnTo>
                  <a:lnTo>
                    <a:pt x="1621028" y="93980"/>
                  </a:lnTo>
                  <a:close/>
                </a:path>
                <a:path w="2368550" h="1108710">
                  <a:moveTo>
                    <a:pt x="1631569" y="1014730"/>
                  </a:moveTo>
                  <a:lnTo>
                    <a:pt x="1631061" y="1008380"/>
                  </a:lnTo>
                  <a:lnTo>
                    <a:pt x="1605788" y="1010539"/>
                  </a:lnTo>
                  <a:lnTo>
                    <a:pt x="1606296" y="1016889"/>
                  </a:lnTo>
                  <a:lnTo>
                    <a:pt x="1631569" y="1014730"/>
                  </a:lnTo>
                  <a:close/>
                </a:path>
                <a:path w="2368550" h="1108710">
                  <a:moveTo>
                    <a:pt x="1631696" y="547624"/>
                  </a:moveTo>
                  <a:lnTo>
                    <a:pt x="1630807" y="541274"/>
                  </a:lnTo>
                  <a:lnTo>
                    <a:pt x="1605661" y="545084"/>
                  </a:lnTo>
                  <a:lnTo>
                    <a:pt x="1606550" y="551307"/>
                  </a:lnTo>
                  <a:lnTo>
                    <a:pt x="1631696" y="547624"/>
                  </a:lnTo>
                  <a:close/>
                </a:path>
                <a:path w="2368550" h="1108710">
                  <a:moveTo>
                    <a:pt x="1647698" y="391922"/>
                  </a:moveTo>
                  <a:lnTo>
                    <a:pt x="1622425" y="389255"/>
                  </a:lnTo>
                  <a:lnTo>
                    <a:pt x="1621790" y="395605"/>
                  </a:lnTo>
                  <a:lnTo>
                    <a:pt x="1647063" y="398272"/>
                  </a:lnTo>
                  <a:lnTo>
                    <a:pt x="1647698" y="391922"/>
                  </a:lnTo>
                  <a:close/>
                </a:path>
                <a:path w="2368550" h="1108710">
                  <a:moveTo>
                    <a:pt x="1651635" y="955294"/>
                  </a:moveTo>
                  <a:lnTo>
                    <a:pt x="1626489" y="951611"/>
                  </a:lnTo>
                  <a:lnTo>
                    <a:pt x="1625600" y="957834"/>
                  </a:lnTo>
                  <a:lnTo>
                    <a:pt x="1650746" y="961517"/>
                  </a:lnTo>
                  <a:lnTo>
                    <a:pt x="1651635" y="955294"/>
                  </a:lnTo>
                  <a:close/>
                </a:path>
                <a:path w="2368550" h="1108710">
                  <a:moveTo>
                    <a:pt x="1665351" y="90424"/>
                  </a:moveTo>
                  <a:lnTo>
                    <a:pt x="1664843" y="84201"/>
                  </a:lnTo>
                  <a:lnTo>
                    <a:pt x="1639570" y="86106"/>
                  </a:lnTo>
                  <a:lnTo>
                    <a:pt x="1640078" y="92456"/>
                  </a:lnTo>
                  <a:lnTo>
                    <a:pt x="1665351" y="90424"/>
                  </a:lnTo>
                  <a:close/>
                </a:path>
                <a:path w="2368550" h="1108710">
                  <a:moveTo>
                    <a:pt x="1675638" y="541020"/>
                  </a:moveTo>
                  <a:lnTo>
                    <a:pt x="1674749" y="534797"/>
                  </a:lnTo>
                  <a:lnTo>
                    <a:pt x="1649603" y="538480"/>
                  </a:lnTo>
                  <a:lnTo>
                    <a:pt x="1650619" y="544830"/>
                  </a:lnTo>
                  <a:lnTo>
                    <a:pt x="1675638" y="541020"/>
                  </a:lnTo>
                  <a:close/>
                </a:path>
                <a:path w="2368550" h="1108710">
                  <a:moveTo>
                    <a:pt x="1675892" y="1010920"/>
                  </a:moveTo>
                  <a:lnTo>
                    <a:pt x="1675384" y="1004570"/>
                  </a:lnTo>
                  <a:lnTo>
                    <a:pt x="1649984" y="1006729"/>
                  </a:lnTo>
                  <a:lnTo>
                    <a:pt x="1650619" y="1013079"/>
                  </a:lnTo>
                  <a:lnTo>
                    <a:pt x="1675892" y="1010920"/>
                  </a:lnTo>
                  <a:close/>
                </a:path>
                <a:path w="2368550" h="1108710">
                  <a:moveTo>
                    <a:pt x="1691894" y="396748"/>
                  </a:moveTo>
                  <a:lnTo>
                    <a:pt x="1666621" y="393954"/>
                  </a:lnTo>
                  <a:lnTo>
                    <a:pt x="1665986" y="400304"/>
                  </a:lnTo>
                  <a:lnTo>
                    <a:pt x="1691259" y="402971"/>
                  </a:lnTo>
                  <a:lnTo>
                    <a:pt x="1691894" y="396748"/>
                  </a:lnTo>
                  <a:close/>
                </a:path>
                <a:path w="2368550" h="1108710">
                  <a:moveTo>
                    <a:pt x="1695704" y="961771"/>
                  </a:moveTo>
                  <a:lnTo>
                    <a:pt x="1670558" y="958088"/>
                  </a:lnTo>
                  <a:lnTo>
                    <a:pt x="1669542" y="964311"/>
                  </a:lnTo>
                  <a:lnTo>
                    <a:pt x="1694688" y="967994"/>
                  </a:lnTo>
                  <a:lnTo>
                    <a:pt x="1695704" y="961771"/>
                  </a:lnTo>
                  <a:close/>
                </a:path>
                <a:path w="2368550" h="1108710">
                  <a:moveTo>
                    <a:pt x="1709674" y="86995"/>
                  </a:moveTo>
                  <a:lnTo>
                    <a:pt x="1709166" y="80645"/>
                  </a:lnTo>
                  <a:lnTo>
                    <a:pt x="1683893" y="82677"/>
                  </a:lnTo>
                  <a:lnTo>
                    <a:pt x="1684401" y="89027"/>
                  </a:lnTo>
                  <a:lnTo>
                    <a:pt x="1709674" y="86995"/>
                  </a:lnTo>
                  <a:close/>
                </a:path>
                <a:path w="2368550" h="1108710">
                  <a:moveTo>
                    <a:pt x="1719707" y="534543"/>
                  </a:moveTo>
                  <a:lnTo>
                    <a:pt x="1718691" y="528320"/>
                  </a:lnTo>
                  <a:lnTo>
                    <a:pt x="1693545" y="532003"/>
                  </a:lnTo>
                  <a:lnTo>
                    <a:pt x="1694561" y="538226"/>
                  </a:lnTo>
                  <a:lnTo>
                    <a:pt x="1719707" y="534543"/>
                  </a:lnTo>
                  <a:close/>
                </a:path>
                <a:path w="2368550" h="1108710">
                  <a:moveTo>
                    <a:pt x="1720215" y="1007110"/>
                  </a:moveTo>
                  <a:lnTo>
                    <a:pt x="1719580" y="1000760"/>
                  </a:lnTo>
                  <a:lnTo>
                    <a:pt x="1694307" y="1002919"/>
                  </a:lnTo>
                  <a:lnTo>
                    <a:pt x="1694815" y="1009269"/>
                  </a:lnTo>
                  <a:lnTo>
                    <a:pt x="1720215" y="1007110"/>
                  </a:lnTo>
                  <a:close/>
                </a:path>
                <a:path w="2368550" h="1108710">
                  <a:moveTo>
                    <a:pt x="1736090" y="401447"/>
                  </a:moveTo>
                  <a:lnTo>
                    <a:pt x="1710817" y="398780"/>
                  </a:lnTo>
                  <a:lnTo>
                    <a:pt x="1710182" y="405003"/>
                  </a:lnTo>
                  <a:lnTo>
                    <a:pt x="1735455" y="407797"/>
                  </a:lnTo>
                  <a:lnTo>
                    <a:pt x="1736090" y="401447"/>
                  </a:lnTo>
                  <a:close/>
                </a:path>
                <a:path w="2368550" h="1108710">
                  <a:moveTo>
                    <a:pt x="1739646" y="968248"/>
                  </a:moveTo>
                  <a:lnTo>
                    <a:pt x="1714500" y="964565"/>
                  </a:lnTo>
                  <a:lnTo>
                    <a:pt x="1713611" y="970788"/>
                  </a:lnTo>
                  <a:lnTo>
                    <a:pt x="1738757" y="974598"/>
                  </a:lnTo>
                  <a:lnTo>
                    <a:pt x="1739646" y="968248"/>
                  </a:lnTo>
                  <a:close/>
                </a:path>
                <a:path w="2368550" h="1108710">
                  <a:moveTo>
                    <a:pt x="1753997" y="83566"/>
                  </a:moveTo>
                  <a:lnTo>
                    <a:pt x="1753489" y="77216"/>
                  </a:lnTo>
                  <a:lnTo>
                    <a:pt x="1728216" y="79121"/>
                  </a:lnTo>
                  <a:lnTo>
                    <a:pt x="1728724" y="85471"/>
                  </a:lnTo>
                  <a:lnTo>
                    <a:pt x="1753997" y="83566"/>
                  </a:lnTo>
                  <a:close/>
                </a:path>
                <a:path w="2368550" h="1108710">
                  <a:moveTo>
                    <a:pt x="1763649" y="528066"/>
                  </a:moveTo>
                  <a:lnTo>
                    <a:pt x="1762760" y="521716"/>
                  </a:lnTo>
                  <a:lnTo>
                    <a:pt x="1737614" y="525526"/>
                  </a:lnTo>
                  <a:lnTo>
                    <a:pt x="1738503" y="531749"/>
                  </a:lnTo>
                  <a:lnTo>
                    <a:pt x="1763649" y="528066"/>
                  </a:lnTo>
                  <a:close/>
                </a:path>
                <a:path w="2368550" h="1108710">
                  <a:moveTo>
                    <a:pt x="1764411" y="1003300"/>
                  </a:moveTo>
                  <a:lnTo>
                    <a:pt x="1763903" y="996950"/>
                  </a:lnTo>
                  <a:lnTo>
                    <a:pt x="1738630" y="999109"/>
                  </a:lnTo>
                  <a:lnTo>
                    <a:pt x="1739138" y="1005459"/>
                  </a:lnTo>
                  <a:lnTo>
                    <a:pt x="1764411" y="1003300"/>
                  </a:lnTo>
                  <a:close/>
                </a:path>
                <a:path w="2368550" h="1108710">
                  <a:moveTo>
                    <a:pt x="1780286" y="406146"/>
                  </a:moveTo>
                  <a:lnTo>
                    <a:pt x="1755013" y="403479"/>
                  </a:lnTo>
                  <a:lnTo>
                    <a:pt x="1754378" y="409829"/>
                  </a:lnTo>
                  <a:lnTo>
                    <a:pt x="1779651" y="412496"/>
                  </a:lnTo>
                  <a:lnTo>
                    <a:pt x="1780286" y="406146"/>
                  </a:lnTo>
                  <a:close/>
                </a:path>
                <a:path w="2368550" h="1108710">
                  <a:moveTo>
                    <a:pt x="1783588" y="974725"/>
                  </a:moveTo>
                  <a:lnTo>
                    <a:pt x="1758442" y="971042"/>
                  </a:lnTo>
                  <a:lnTo>
                    <a:pt x="1757553" y="977392"/>
                  </a:lnTo>
                  <a:lnTo>
                    <a:pt x="1782699" y="981075"/>
                  </a:lnTo>
                  <a:lnTo>
                    <a:pt x="1783588" y="974725"/>
                  </a:lnTo>
                  <a:close/>
                </a:path>
                <a:path w="2368550" h="1108710">
                  <a:moveTo>
                    <a:pt x="1798320" y="80010"/>
                  </a:moveTo>
                  <a:lnTo>
                    <a:pt x="1797812" y="73660"/>
                  </a:lnTo>
                  <a:lnTo>
                    <a:pt x="1772539" y="75692"/>
                  </a:lnTo>
                  <a:lnTo>
                    <a:pt x="1773047" y="82042"/>
                  </a:lnTo>
                  <a:lnTo>
                    <a:pt x="1798320" y="80010"/>
                  </a:lnTo>
                  <a:close/>
                </a:path>
                <a:path w="2368550" h="1108710">
                  <a:moveTo>
                    <a:pt x="1807591" y="521462"/>
                  </a:moveTo>
                  <a:lnTo>
                    <a:pt x="1806702" y="515239"/>
                  </a:lnTo>
                  <a:lnTo>
                    <a:pt x="1781556" y="518922"/>
                  </a:lnTo>
                  <a:lnTo>
                    <a:pt x="1782445" y="525272"/>
                  </a:lnTo>
                  <a:lnTo>
                    <a:pt x="1807591" y="521462"/>
                  </a:lnTo>
                  <a:close/>
                </a:path>
                <a:path w="2368550" h="1108710">
                  <a:moveTo>
                    <a:pt x="1824482" y="410972"/>
                  </a:moveTo>
                  <a:lnTo>
                    <a:pt x="1799209" y="408305"/>
                  </a:lnTo>
                  <a:lnTo>
                    <a:pt x="1798574" y="414528"/>
                  </a:lnTo>
                  <a:lnTo>
                    <a:pt x="1823847" y="417322"/>
                  </a:lnTo>
                  <a:lnTo>
                    <a:pt x="1824482" y="410972"/>
                  </a:lnTo>
                  <a:close/>
                </a:path>
                <a:path w="2368550" h="1108710">
                  <a:moveTo>
                    <a:pt x="1842643" y="76581"/>
                  </a:moveTo>
                  <a:lnTo>
                    <a:pt x="1842135" y="70231"/>
                  </a:lnTo>
                  <a:lnTo>
                    <a:pt x="1816862" y="72263"/>
                  </a:lnTo>
                  <a:lnTo>
                    <a:pt x="1817243" y="78486"/>
                  </a:lnTo>
                  <a:lnTo>
                    <a:pt x="1842643" y="76581"/>
                  </a:lnTo>
                  <a:close/>
                </a:path>
                <a:path w="2368550" h="1108710">
                  <a:moveTo>
                    <a:pt x="1851533" y="514985"/>
                  </a:moveTo>
                  <a:lnTo>
                    <a:pt x="1850644" y="508762"/>
                  </a:lnTo>
                  <a:lnTo>
                    <a:pt x="1825498" y="512445"/>
                  </a:lnTo>
                  <a:lnTo>
                    <a:pt x="1826387" y="518668"/>
                  </a:lnTo>
                  <a:lnTo>
                    <a:pt x="1851533" y="514985"/>
                  </a:lnTo>
                  <a:close/>
                </a:path>
                <a:path w="2368550" h="1108710">
                  <a:moveTo>
                    <a:pt x="1868678" y="415671"/>
                  </a:moveTo>
                  <a:lnTo>
                    <a:pt x="1843405" y="413004"/>
                  </a:lnTo>
                  <a:lnTo>
                    <a:pt x="1842770" y="419354"/>
                  </a:lnTo>
                  <a:lnTo>
                    <a:pt x="1868043" y="422021"/>
                  </a:lnTo>
                  <a:lnTo>
                    <a:pt x="1868678" y="415671"/>
                  </a:lnTo>
                  <a:close/>
                </a:path>
                <a:path w="2368550" h="1108710">
                  <a:moveTo>
                    <a:pt x="1871599" y="987806"/>
                  </a:moveTo>
                  <a:lnTo>
                    <a:pt x="1858289" y="985799"/>
                  </a:lnTo>
                  <a:lnTo>
                    <a:pt x="1791843" y="959485"/>
                  </a:lnTo>
                  <a:lnTo>
                    <a:pt x="1794865" y="994257"/>
                  </a:lnTo>
                  <a:lnTo>
                    <a:pt x="1782826" y="995299"/>
                  </a:lnTo>
                  <a:lnTo>
                    <a:pt x="1783461" y="1001649"/>
                  </a:lnTo>
                  <a:lnTo>
                    <a:pt x="1795411" y="1000607"/>
                  </a:lnTo>
                  <a:lnTo>
                    <a:pt x="1798447" y="1035431"/>
                  </a:lnTo>
                  <a:lnTo>
                    <a:pt x="1866798" y="993482"/>
                  </a:lnTo>
                  <a:lnTo>
                    <a:pt x="1870583" y="994029"/>
                  </a:lnTo>
                  <a:lnTo>
                    <a:pt x="1871091" y="990854"/>
                  </a:lnTo>
                  <a:lnTo>
                    <a:pt x="1871599" y="987806"/>
                  </a:lnTo>
                  <a:close/>
                </a:path>
                <a:path w="2368550" h="1108710">
                  <a:moveTo>
                    <a:pt x="1886966" y="73025"/>
                  </a:moveTo>
                  <a:lnTo>
                    <a:pt x="1886458" y="66802"/>
                  </a:lnTo>
                  <a:lnTo>
                    <a:pt x="1861185" y="68707"/>
                  </a:lnTo>
                  <a:lnTo>
                    <a:pt x="1861566" y="75057"/>
                  </a:lnTo>
                  <a:lnTo>
                    <a:pt x="1886966" y="73025"/>
                  </a:lnTo>
                  <a:close/>
                </a:path>
                <a:path w="2368550" h="1108710">
                  <a:moveTo>
                    <a:pt x="1895602" y="508508"/>
                  </a:moveTo>
                  <a:lnTo>
                    <a:pt x="1894586" y="502158"/>
                  </a:lnTo>
                  <a:lnTo>
                    <a:pt x="1869440" y="505968"/>
                  </a:lnTo>
                  <a:lnTo>
                    <a:pt x="1870456" y="512191"/>
                  </a:lnTo>
                  <a:lnTo>
                    <a:pt x="1895602" y="508508"/>
                  </a:lnTo>
                  <a:close/>
                </a:path>
                <a:path w="2368550" h="1108710">
                  <a:moveTo>
                    <a:pt x="1912874" y="420497"/>
                  </a:moveTo>
                  <a:lnTo>
                    <a:pt x="1887601" y="417703"/>
                  </a:lnTo>
                  <a:lnTo>
                    <a:pt x="1886966" y="424053"/>
                  </a:lnTo>
                  <a:lnTo>
                    <a:pt x="1912239" y="426720"/>
                  </a:lnTo>
                  <a:lnTo>
                    <a:pt x="1912874" y="420497"/>
                  </a:lnTo>
                  <a:close/>
                </a:path>
                <a:path w="2368550" h="1108710">
                  <a:moveTo>
                    <a:pt x="1931289" y="69596"/>
                  </a:moveTo>
                  <a:lnTo>
                    <a:pt x="1930781" y="63246"/>
                  </a:lnTo>
                  <a:lnTo>
                    <a:pt x="1905381" y="65278"/>
                  </a:lnTo>
                  <a:lnTo>
                    <a:pt x="1905889" y="71628"/>
                  </a:lnTo>
                  <a:lnTo>
                    <a:pt x="1931289" y="69596"/>
                  </a:lnTo>
                  <a:close/>
                </a:path>
                <a:path w="2368550" h="1108710">
                  <a:moveTo>
                    <a:pt x="1939544" y="501904"/>
                  </a:moveTo>
                  <a:lnTo>
                    <a:pt x="1938528" y="495681"/>
                  </a:lnTo>
                  <a:lnTo>
                    <a:pt x="1913509" y="499364"/>
                  </a:lnTo>
                  <a:lnTo>
                    <a:pt x="1914398" y="505714"/>
                  </a:lnTo>
                  <a:lnTo>
                    <a:pt x="1939544" y="501904"/>
                  </a:lnTo>
                  <a:close/>
                </a:path>
                <a:path w="2368550" h="1108710">
                  <a:moveTo>
                    <a:pt x="1957070" y="425196"/>
                  </a:moveTo>
                  <a:lnTo>
                    <a:pt x="1931797" y="422529"/>
                  </a:lnTo>
                  <a:lnTo>
                    <a:pt x="1931162" y="428752"/>
                  </a:lnTo>
                  <a:lnTo>
                    <a:pt x="1956435" y="431546"/>
                  </a:lnTo>
                  <a:lnTo>
                    <a:pt x="1957070" y="425196"/>
                  </a:lnTo>
                  <a:close/>
                </a:path>
                <a:path w="2368550" h="1108710">
                  <a:moveTo>
                    <a:pt x="1975612" y="66167"/>
                  </a:moveTo>
                  <a:lnTo>
                    <a:pt x="1975104" y="59817"/>
                  </a:lnTo>
                  <a:lnTo>
                    <a:pt x="1949704" y="61722"/>
                  </a:lnTo>
                  <a:lnTo>
                    <a:pt x="1950212" y="68072"/>
                  </a:lnTo>
                  <a:lnTo>
                    <a:pt x="1975612" y="66167"/>
                  </a:lnTo>
                  <a:close/>
                </a:path>
                <a:path w="2368550" h="1108710">
                  <a:moveTo>
                    <a:pt x="1983486" y="495427"/>
                  </a:moveTo>
                  <a:lnTo>
                    <a:pt x="1982597" y="489204"/>
                  </a:lnTo>
                  <a:lnTo>
                    <a:pt x="1957451" y="492887"/>
                  </a:lnTo>
                  <a:lnTo>
                    <a:pt x="1958340" y="499110"/>
                  </a:lnTo>
                  <a:lnTo>
                    <a:pt x="1983486" y="495427"/>
                  </a:lnTo>
                  <a:close/>
                </a:path>
                <a:path w="2368550" h="1108710">
                  <a:moveTo>
                    <a:pt x="2001266" y="429895"/>
                  </a:moveTo>
                  <a:lnTo>
                    <a:pt x="1975993" y="427228"/>
                  </a:lnTo>
                  <a:lnTo>
                    <a:pt x="1975358" y="433578"/>
                  </a:lnTo>
                  <a:lnTo>
                    <a:pt x="2000631" y="436245"/>
                  </a:lnTo>
                  <a:lnTo>
                    <a:pt x="2001266" y="429895"/>
                  </a:lnTo>
                  <a:close/>
                </a:path>
                <a:path w="2368550" h="1108710">
                  <a:moveTo>
                    <a:pt x="2019935" y="62611"/>
                  </a:moveTo>
                  <a:lnTo>
                    <a:pt x="2019427" y="56261"/>
                  </a:lnTo>
                  <a:lnTo>
                    <a:pt x="1994027" y="58293"/>
                  </a:lnTo>
                  <a:lnTo>
                    <a:pt x="1994535" y="64643"/>
                  </a:lnTo>
                  <a:lnTo>
                    <a:pt x="2019935" y="62611"/>
                  </a:lnTo>
                  <a:close/>
                </a:path>
                <a:path w="2368550" h="1108710">
                  <a:moveTo>
                    <a:pt x="2027428" y="488950"/>
                  </a:moveTo>
                  <a:lnTo>
                    <a:pt x="2026539" y="482600"/>
                  </a:lnTo>
                  <a:lnTo>
                    <a:pt x="2001393" y="486410"/>
                  </a:lnTo>
                  <a:lnTo>
                    <a:pt x="2002282" y="492633"/>
                  </a:lnTo>
                  <a:lnTo>
                    <a:pt x="2027428" y="488950"/>
                  </a:lnTo>
                  <a:close/>
                </a:path>
                <a:path w="2368550" h="1108710">
                  <a:moveTo>
                    <a:pt x="2045462" y="434721"/>
                  </a:moveTo>
                  <a:lnTo>
                    <a:pt x="2020189" y="432054"/>
                  </a:lnTo>
                  <a:lnTo>
                    <a:pt x="2019554" y="438277"/>
                  </a:lnTo>
                  <a:lnTo>
                    <a:pt x="2044827" y="441071"/>
                  </a:lnTo>
                  <a:lnTo>
                    <a:pt x="2045462" y="434721"/>
                  </a:lnTo>
                  <a:close/>
                </a:path>
                <a:path w="2368550" h="1108710">
                  <a:moveTo>
                    <a:pt x="2064258" y="59182"/>
                  </a:moveTo>
                  <a:lnTo>
                    <a:pt x="2063750" y="52832"/>
                  </a:lnTo>
                  <a:lnTo>
                    <a:pt x="2038350" y="54864"/>
                  </a:lnTo>
                  <a:lnTo>
                    <a:pt x="2038858" y="61087"/>
                  </a:lnTo>
                  <a:lnTo>
                    <a:pt x="2064258" y="59182"/>
                  </a:lnTo>
                  <a:close/>
                </a:path>
                <a:path w="2368550" h="1108710">
                  <a:moveTo>
                    <a:pt x="2071370" y="482346"/>
                  </a:moveTo>
                  <a:lnTo>
                    <a:pt x="2070481" y="476123"/>
                  </a:lnTo>
                  <a:lnTo>
                    <a:pt x="2045335" y="479806"/>
                  </a:lnTo>
                  <a:lnTo>
                    <a:pt x="2046351" y="486156"/>
                  </a:lnTo>
                  <a:lnTo>
                    <a:pt x="2071370" y="482346"/>
                  </a:lnTo>
                  <a:close/>
                </a:path>
                <a:path w="2368550" h="1108710">
                  <a:moveTo>
                    <a:pt x="2089658" y="439420"/>
                  </a:moveTo>
                  <a:lnTo>
                    <a:pt x="2064385" y="436753"/>
                  </a:lnTo>
                  <a:lnTo>
                    <a:pt x="2063750" y="443103"/>
                  </a:lnTo>
                  <a:lnTo>
                    <a:pt x="2089023" y="445770"/>
                  </a:lnTo>
                  <a:lnTo>
                    <a:pt x="2089658" y="439420"/>
                  </a:lnTo>
                  <a:close/>
                </a:path>
                <a:path w="2368550" h="1108710">
                  <a:moveTo>
                    <a:pt x="2108454" y="55626"/>
                  </a:moveTo>
                  <a:lnTo>
                    <a:pt x="2108073" y="49276"/>
                  </a:lnTo>
                  <a:lnTo>
                    <a:pt x="2082673" y="51308"/>
                  </a:lnTo>
                  <a:lnTo>
                    <a:pt x="2083181" y="57658"/>
                  </a:lnTo>
                  <a:lnTo>
                    <a:pt x="2108454" y="55626"/>
                  </a:lnTo>
                  <a:close/>
                </a:path>
                <a:path w="2368550" h="1108710">
                  <a:moveTo>
                    <a:pt x="2115439" y="475869"/>
                  </a:moveTo>
                  <a:lnTo>
                    <a:pt x="2114423" y="469646"/>
                  </a:lnTo>
                  <a:lnTo>
                    <a:pt x="2089277" y="473329"/>
                  </a:lnTo>
                  <a:lnTo>
                    <a:pt x="2090293" y="479552"/>
                  </a:lnTo>
                  <a:lnTo>
                    <a:pt x="2115439" y="475869"/>
                  </a:lnTo>
                  <a:close/>
                </a:path>
                <a:path w="2368550" h="1108710">
                  <a:moveTo>
                    <a:pt x="2133854" y="444246"/>
                  </a:moveTo>
                  <a:lnTo>
                    <a:pt x="2108581" y="441452"/>
                  </a:lnTo>
                  <a:lnTo>
                    <a:pt x="2107946" y="447802"/>
                  </a:lnTo>
                  <a:lnTo>
                    <a:pt x="2133219" y="450469"/>
                  </a:lnTo>
                  <a:lnTo>
                    <a:pt x="2133854" y="444246"/>
                  </a:lnTo>
                  <a:close/>
                </a:path>
                <a:path w="2368550" h="1108710">
                  <a:moveTo>
                    <a:pt x="2152777" y="52197"/>
                  </a:moveTo>
                  <a:lnTo>
                    <a:pt x="2152269" y="45847"/>
                  </a:lnTo>
                  <a:lnTo>
                    <a:pt x="2126996" y="47879"/>
                  </a:lnTo>
                  <a:lnTo>
                    <a:pt x="2127504" y="54229"/>
                  </a:lnTo>
                  <a:lnTo>
                    <a:pt x="2152777" y="52197"/>
                  </a:lnTo>
                  <a:close/>
                </a:path>
                <a:path w="2368550" h="1108710">
                  <a:moveTo>
                    <a:pt x="2197100" y="48768"/>
                  </a:moveTo>
                  <a:lnTo>
                    <a:pt x="2196592" y="42418"/>
                  </a:lnTo>
                  <a:lnTo>
                    <a:pt x="2171319" y="44323"/>
                  </a:lnTo>
                  <a:lnTo>
                    <a:pt x="2171827" y="50673"/>
                  </a:lnTo>
                  <a:lnTo>
                    <a:pt x="2197100" y="48768"/>
                  </a:lnTo>
                  <a:close/>
                </a:path>
                <a:path w="2368550" h="1108710">
                  <a:moveTo>
                    <a:pt x="2222246" y="453771"/>
                  </a:moveTo>
                  <a:lnTo>
                    <a:pt x="2207552" y="452158"/>
                  </a:lnTo>
                  <a:lnTo>
                    <a:pt x="2140966" y="430403"/>
                  </a:lnTo>
                  <a:lnTo>
                    <a:pt x="2146084" y="464921"/>
                  </a:lnTo>
                  <a:lnTo>
                    <a:pt x="2133346" y="466852"/>
                  </a:lnTo>
                  <a:lnTo>
                    <a:pt x="2134235" y="473075"/>
                  </a:lnTo>
                  <a:lnTo>
                    <a:pt x="2147011" y="471208"/>
                  </a:lnTo>
                  <a:lnTo>
                    <a:pt x="2152142" y="505714"/>
                  </a:lnTo>
                  <a:lnTo>
                    <a:pt x="2212987" y="463042"/>
                  </a:lnTo>
                  <a:lnTo>
                    <a:pt x="2217890" y="459613"/>
                  </a:lnTo>
                  <a:lnTo>
                    <a:pt x="2221611" y="459994"/>
                  </a:lnTo>
                  <a:lnTo>
                    <a:pt x="2222246" y="453771"/>
                  </a:lnTo>
                  <a:close/>
                </a:path>
                <a:path w="2368550" h="1108710">
                  <a:moveTo>
                    <a:pt x="2241423" y="45212"/>
                  </a:moveTo>
                  <a:lnTo>
                    <a:pt x="2240915" y="38862"/>
                  </a:lnTo>
                  <a:lnTo>
                    <a:pt x="2215642" y="40894"/>
                  </a:lnTo>
                  <a:lnTo>
                    <a:pt x="2216150" y="47244"/>
                  </a:lnTo>
                  <a:lnTo>
                    <a:pt x="2241423" y="45212"/>
                  </a:lnTo>
                  <a:close/>
                </a:path>
                <a:path w="2368550" h="1108710">
                  <a:moveTo>
                    <a:pt x="2285746" y="41783"/>
                  </a:moveTo>
                  <a:lnTo>
                    <a:pt x="2285238" y="35433"/>
                  </a:lnTo>
                  <a:lnTo>
                    <a:pt x="2259965" y="37465"/>
                  </a:lnTo>
                  <a:lnTo>
                    <a:pt x="2260473" y="43688"/>
                  </a:lnTo>
                  <a:lnTo>
                    <a:pt x="2285746" y="41783"/>
                  </a:lnTo>
                  <a:close/>
                </a:path>
                <a:path w="2368550" h="1108710">
                  <a:moveTo>
                    <a:pt x="2368550" y="32004"/>
                  </a:moveTo>
                  <a:lnTo>
                    <a:pt x="2289683" y="0"/>
                  </a:lnTo>
                  <a:lnTo>
                    <a:pt x="2295652" y="75946"/>
                  </a:lnTo>
                  <a:lnTo>
                    <a:pt x="2354846" y="40259"/>
                  </a:lnTo>
                  <a:lnTo>
                    <a:pt x="2365387" y="33909"/>
                  </a:lnTo>
                  <a:lnTo>
                    <a:pt x="2368550" y="32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62750" y="638555"/>
            <a:ext cx="2819400" cy="4139565"/>
            <a:chOff x="6762750" y="638555"/>
            <a:chExt cx="2819400" cy="4139565"/>
          </a:xfrm>
        </p:grpSpPr>
        <p:sp>
          <p:nvSpPr>
            <p:cNvPr id="3" name="object 3"/>
            <p:cNvSpPr/>
            <p:nvPr/>
          </p:nvSpPr>
          <p:spPr>
            <a:xfrm>
              <a:off x="6845300" y="800861"/>
              <a:ext cx="2661285" cy="3911600"/>
            </a:xfrm>
            <a:custGeom>
              <a:avLst/>
              <a:gdLst/>
              <a:ahLst/>
              <a:cxnLst/>
              <a:rect l="l" t="t" r="r" b="b"/>
              <a:pathLst>
                <a:path w="2661284" h="3911600">
                  <a:moveTo>
                    <a:pt x="2661284" y="1955800"/>
                  </a:moveTo>
                  <a:lnTo>
                    <a:pt x="2660737" y="2012456"/>
                  </a:lnTo>
                  <a:lnTo>
                    <a:pt x="2659104" y="2068714"/>
                  </a:lnTo>
                  <a:lnTo>
                    <a:pt x="2656400" y="2124550"/>
                  </a:lnTo>
                  <a:lnTo>
                    <a:pt x="2652641" y="2179944"/>
                  </a:lnTo>
                  <a:lnTo>
                    <a:pt x="2647840" y="2234873"/>
                  </a:lnTo>
                  <a:lnTo>
                    <a:pt x="2642014" y="2289315"/>
                  </a:lnTo>
                  <a:lnTo>
                    <a:pt x="2635176" y="2343250"/>
                  </a:lnTo>
                  <a:lnTo>
                    <a:pt x="2627341" y="2396654"/>
                  </a:lnTo>
                  <a:lnTo>
                    <a:pt x="2618524" y="2449508"/>
                  </a:lnTo>
                  <a:lnTo>
                    <a:pt x="2608741" y="2501787"/>
                  </a:lnTo>
                  <a:lnTo>
                    <a:pt x="2598005" y="2553472"/>
                  </a:lnTo>
                  <a:lnTo>
                    <a:pt x="2586332" y="2604540"/>
                  </a:lnTo>
                  <a:lnTo>
                    <a:pt x="2573736" y="2654970"/>
                  </a:lnTo>
                  <a:lnTo>
                    <a:pt x="2560232" y="2704739"/>
                  </a:lnTo>
                  <a:lnTo>
                    <a:pt x="2545835" y="2753826"/>
                  </a:lnTo>
                  <a:lnTo>
                    <a:pt x="2530560" y="2802209"/>
                  </a:lnTo>
                  <a:lnTo>
                    <a:pt x="2514422" y="2849867"/>
                  </a:lnTo>
                  <a:lnTo>
                    <a:pt x="2497434" y="2896777"/>
                  </a:lnTo>
                  <a:lnTo>
                    <a:pt x="2479613" y="2942919"/>
                  </a:lnTo>
                  <a:lnTo>
                    <a:pt x="2460973" y="2988269"/>
                  </a:lnTo>
                  <a:lnTo>
                    <a:pt x="2441529" y="3032808"/>
                  </a:lnTo>
                  <a:lnTo>
                    <a:pt x="2421295" y="3076512"/>
                  </a:lnTo>
                  <a:lnTo>
                    <a:pt x="2400286" y="3119359"/>
                  </a:lnTo>
                  <a:lnTo>
                    <a:pt x="2378518" y="3161330"/>
                  </a:lnTo>
                  <a:lnTo>
                    <a:pt x="2356005" y="3202400"/>
                  </a:lnTo>
                  <a:lnTo>
                    <a:pt x="2332761" y="3242550"/>
                  </a:lnTo>
                  <a:lnTo>
                    <a:pt x="2308801" y="3281756"/>
                  </a:lnTo>
                  <a:lnTo>
                    <a:pt x="2284141" y="3319998"/>
                  </a:lnTo>
                  <a:lnTo>
                    <a:pt x="2258795" y="3357253"/>
                  </a:lnTo>
                  <a:lnTo>
                    <a:pt x="2232778" y="3393500"/>
                  </a:lnTo>
                  <a:lnTo>
                    <a:pt x="2206105" y="3428717"/>
                  </a:lnTo>
                  <a:lnTo>
                    <a:pt x="2178790" y="3462882"/>
                  </a:lnTo>
                  <a:lnTo>
                    <a:pt x="2150849" y="3495974"/>
                  </a:lnTo>
                  <a:lnTo>
                    <a:pt x="2122295" y="3527971"/>
                  </a:lnTo>
                  <a:lnTo>
                    <a:pt x="2093145" y="3558850"/>
                  </a:lnTo>
                  <a:lnTo>
                    <a:pt x="2063412" y="3588591"/>
                  </a:lnTo>
                  <a:lnTo>
                    <a:pt x="2033111" y="3617172"/>
                  </a:lnTo>
                  <a:lnTo>
                    <a:pt x="2002258" y="3644570"/>
                  </a:lnTo>
                  <a:lnTo>
                    <a:pt x="1970867" y="3670765"/>
                  </a:lnTo>
                  <a:lnTo>
                    <a:pt x="1938953" y="3695733"/>
                  </a:lnTo>
                  <a:lnTo>
                    <a:pt x="1906530" y="3719455"/>
                  </a:lnTo>
                  <a:lnTo>
                    <a:pt x="1873614" y="3741907"/>
                  </a:lnTo>
                  <a:lnTo>
                    <a:pt x="1840219" y="3763068"/>
                  </a:lnTo>
                  <a:lnTo>
                    <a:pt x="1806360" y="3782916"/>
                  </a:lnTo>
                  <a:lnTo>
                    <a:pt x="1772052" y="3801430"/>
                  </a:lnTo>
                  <a:lnTo>
                    <a:pt x="1737309" y="3818588"/>
                  </a:lnTo>
                  <a:lnTo>
                    <a:pt x="1702147" y="3834368"/>
                  </a:lnTo>
                  <a:lnTo>
                    <a:pt x="1666580" y="3848749"/>
                  </a:lnTo>
                  <a:lnTo>
                    <a:pt x="1630624" y="3861708"/>
                  </a:lnTo>
                  <a:lnTo>
                    <a:pt x="1594292" y="3873223"/>
                  </a:lnTo>
                  <a:lnTo>
                    <a:pt x="1520561" y="3891839"/>
                  </a:lnTo>
                  <a:lnTo>
                    <a:pt x="1445508" y="3904420"/>
                  </a:lnTo>
                  <a:lnTo>
                    <a:pt x="1407522" y="3908394"/>
                  </a:lnTo>
                  <a:lnTo>
                    <a:pt x="1369249" y="3910795"/>
                  </a:lnTo>
                  <a:lnTo>
                    <a:pt x="1330705" y="3911600"/>
                  </a:lnTo>
                  <a:lnTo>
                    <a:pt x="1292155" y="3910795"/>
                  </a:lnTo>
                  <a:lnTo>
                    <a:pt x="1253876" y="3908394"/>
                  </a:lnTo>
                  <a:lnTo>
                    <a:pt x="1215884" y="3904420"/>
                  </a:lnTo>
                  <a:lnTo>
                    <a:pt x="1140819" y="3891839"/>
                  </a:lnTo>
                  <a:lnTo>
                    <a:pt x="1067078" y="3873223"/>
                  </a:lnTo>
                  <a:lnTo>
                    <a:pt x="1030741" y="3861708"/>
                  </a:lnTo>
                  <a:lnTo>
                    <a:pt x="994779" y="3848749"/>
                  </a:lnTo>
                  <a:lnTo>
                    <a:pt x="959208" y="3834368"/>
                  </a:lnTo>
                  <a:lnTo>
                    <a:pt x="924042" y="3818588"/>
                  </a:lnTo>
                  <a:lnTo>
                    <a:pt x="889295" y="3801430"/>
                  </a:lnTo>
                  <a:lnTo>
                    <a:pt x="854983" y="3782916"/>
                  </a:lnTo>
                  <a:lnTo>
                    <a:pt x="821120" y="3763068"/>
                  </a:lnTo>
                  <a:lnTo>
                    <a:pt x="787721" y="3741907"/>
                  </a:lnTo>
                  <a:lnTo>
                    <a:pt x="754801" y="3719455"/>
                  </a:lnTo>
                  <a:lnTo>
                    <a:pt x="722375" y="3695733"/>
                  </a:lnTo>
                  <a:lnTo>
                    <a:pt x="690458" y="3670765"/>
                  </a:lnTo>
                  <a:lnTo>
                    <a:pt x="659064" y="3644570"/>
                  </a:lnTo>
                  <a:lnTo>
                    <a:pt x="628208" y="3617172"/>
                  </a:lnTo>
                  <a:lnTo>
                    <a:pt x="597904" y="3588591"/>
                  </a:lnTo>
                  <a:lnTo>
                    <a:pt x="568169" y="3558850"/>
                  </a:lnTo>
                  <a:lnTo>
                    <a:pt x="539016" y="3527971"/>
                  </a:lnTo>
                  <a:lnTo>
                    <a:pt x="510460" y="3495974"/>
                  </a:lnTo>
                  <a:lnTo>
                    <a:pt x="482516" y="3462882"/>
                  </a:lnTo>
                  <a:lnTo>
                    <a:pt x="455199" y="3428717"/>
                  </a:lnTo>
                  <a:lnTo>
                    <a:pt x="428524" y="3393500"/>
                  </a:lnTo>
                  <a:lnTo>
                    <a:pt x="402505" y="3357253"/>
                  </a:lnTo>
                  <a:lnTo>
                    <a:pt x="377158" y="3319998"/>
                  </a:lnTo>
                  <a:lnTo>
                    <a:pt x="352496" y="3281756"/>
                  </a:lnTo>
                  <a:lnTo>
                    <a:pt x="328535" y="3242550"/>
                  </a:lnTo>
                  <a:lnTo>
                    <a:pt x="305290" y="3202400"/>
                  </a:lnTo>
                  <a:lnTo>
                    <a:pt x="282775" y="3161330"/>
                  </a:lnTo>
                  <a:lnTo>
                    <a:pt x="261006" y="3119359"/>
                  </a:lnTo>
                  <a:lnTo>
                    <a:pt x="239996" y="3076512"/>
                  </a:lnTo>
                  <a:lnTo>
                    <a:pt x="219761" y="3032808"/>
                  </a:lnTo>
                  <a:lnTo>
                    <a:pt x="200316" y="2988269"/>
                  </a:lnTo>
                  <a:lnTo>
                    <a:pt x="181675" y="2942919"/>
                  </a:lnTo>
                  <a:lnTo>
                    <a:pt x="163854" y="2896777"/>
                  </a:lnTo>
                  <a:lnTo>
                    <a:pt x="146866" y="2849867"/>
                  </a:lnTo>
                  <a:lnTo>
                    <a:pt x="130727" y="2802209"/>
                  </a:lnTo>
                  <a:lnTo>
                    <a:pt x="115451" y="2753826"/>
                  </a:lnTo>
                  <a:lnTo>
                    <a:pt x="101054" y="2704739"/>
                  </a:lnTo>
                  <a:lnTo>
                    <a:pt x="87550" y="2654970"/>
                  </a:lnTo>
                  <a:lnTo>
                    <a:pt x="74954" y="2604540"/>
                  </a:lnTo>
                  <a:lnTo>
                    <a:pt x="63280" y="2553472"/>
                  </a:lnTo>
                  <a:lnTo>
                    <a:pt x="52544" y="2501787"/>
                  </a:lnTo>
                  <a:lnTo>
                    <a:pt x="42760" y="2449508"/>
                  </a:lnTo>
                  <a:lnTo>
                    <a:pt x="33944" y="2396654"/>
                  </a:lnTo>
                  <a:lnTo>
                    <a:pt x="26109" y="2343250"/>
                  </a:lnTo>
                  <a:lnTo>
                    <a:pt x="19271" y="2289315"/>
                  </a:lnTo>
                  <a:lnTo>
                    <a:pt x="13444" y="2234873"/>
                  </a:lnTo>
                  <a:lnTo>
                    <a:pt x="8643" y="2179944"/>
                  </a:lnTo>
                  <a:lnTo>
                    <a:pt x="4884" y="2124550"/>
                  </a:lnTo>
                  <a:lnTo>
                    <a:pt x="2180" y="2068714"/>
                  </a:lnTo>
                  <a:lnTo>
                    <a:pt x="547" y="2012456"/>
                  </a:lnTo>
                  <a:lnTo>
                    <a:pt x="0" y="1955800"/>
                  </a:lnTo>
                  <a:lnTo>
                    <a:pt x="547" y="1899143"/>
                  </a:lnTo>
                  <a:lnTo>
                    <a:pt x="2180" y="1842885"/>
                  </a:lnTo>
                  <a:lnTo>
                    <a:pt x="4884" y="1787049"/>
                  </a:lnTo>
                  <a:lnTo>
                    <a:pt x="8643" y="1731655"/>
                  </a:lnTo>
                  <a:lnTo>
                    <a:pt x="13444" y="1676726"/>
                  </a:lnTo>
                  <a:lnTo>
                    <a:pt x="19271" y="1622284"/>
                  </a:lnTo>
                  <a:lnTo>
                    <a:pt x="26109" y="1568349"/>
                  </a:lnTo>
                  <a:lnTo>
                    <a:pt x="33944" y="1514945"/>
                  </a:lnTo>
                  <a:lnTo>
                    <a:pt x="42760" y="1462091"/>
                  </a:lnTo>
                  <a:lnTo>
                    <a:pt x="52544" y="1409812"/>
                  </a:lnTo>
                  <a:lnTo>
                    <a:pt x="63280" y="1358127"/>
                  </a:lnTo>
                  <a:lnTo>
                    <a:pt x="74954" y="1307059"/>
                  </a:lnTo>
                  <a:lnTo>
                    <a:pt x="87550" y="1256629"/>
                  </a:lnTo>
                  <a:lnTo>
                    <a:pt x="101054" y="1206860"/>
                  </a:lnTo>
                  <a:lnTo>
                    <a:pt x="115451" y="1157773"/>
                  </a:lnTo>
                  <a:lnTo>
                    <a:pt x="130727" y="1109390"/>
                  </a:lnTo>
                  <a:lnTo>
                    <a:pt x="146866" y="1061732"/>
                  </a:lnTo>
                  <a:lnTo>
                    <a:pt x="163854" y="1014822"/>
                  </a:lnTo>
                  <a:lnTo>
                    <a:pt x="181675" y="968680"/>
                  </a:lnTo>
                  <a:lnTo>
                    <a:pt x="200316" y="923330"/>
                  </a:lnTo>
                  <a:lnTo>
                    <a:pt x="219761" y="878791"/>
                  </a:lnTo>
                  <a:lnTo>
                    <a:pt x="239996" y="835087"/>
                  </a:lnTo>
                  <a:lnTo>
                    <a:pt x="261006" y="792240"/>
                  </a:lnTo>
                  <a:lnTo>
                    <a:pt x="282775" y="750269"/>
                  </a:lnTo>
                  <a:lnTo>
                    <a:pt x="305290" y="709199"/>
                  </a:lnTo>
                  <a:lnTo>
                    <a:pt x="328535" y="669049"/>
                  </a:lnTo>
                  <a:lnTo>
                    <a:pt x="352496" y="629843"/>
                  </a:lnTo>
                  <a:lnTo>
                    <a:pt x="377158" y="591601"/>
                  </a:lnTo>
                  <a:lnTo>
                    <a:pt x="402505" y="554346"/>
                  </a:lnTo>
                  <a:lnTo>
                    <a:pt x="428524" y="518099"/>
                  </a:lnTo>
                  <a:lnTo>
                    <a:pt x="455199" y="482882"/>
                  </a:lnTo>
                  <a:lnTo>
                    <a:pt x="482516" y="448717"/>
                  </a:lnTo>
                  <a:lnTo>
                    <a:pt x="510460" y="415625"/>
                  </a:lnTo>
                  <a:lnTo>
                    <a:pt x="539016" y="383628"/>
                  </a:lnTo>
                  <a:lnTo>
                    <a:pt x="568169" y="352749"/>
                  </a:lnTo>
                  <a:lnTo>
                    <a:pt x="597904" y="323008"/>
                  </a:lnTo>
                  <a:lnTo>
                    <a:pt x="628208" y="294427"/>
                  </a:lnTo>
                  <a:lnTo>
                    <a:pt x="659064" y="267029"/>
                  </a:lnTo>
                  <a:lnTo>
                    <a:pt x="690458" y="240834"/>
                  </a:lnTo>
                  <a:lnTo>
                    <a:pt x="722375" y="215866"/>
                  </a:lnTo>
                  <a:lnTo>
                    <a:pt x="754801" y="192144"/>
                  </a:lnTo>
                  <a:lnTo>
                    <a:pt x="787721" y="169692"/>
                  </a:lnTo>
                  <a:lnTo>
                    <a:pt x="821120" y="148531"/>
                  </a:lnTo>
                  <a:lnTo>
                    <a:pt x="854983" y="128683"/>
                  </a:lnTo>
                  <a:lnTo>
                    <a:pt x="889295" y="110169"/>
                  </a:lnTo>
                  <a:lnTo>
                    <a:pt x="924042" y="93011"/>
                  </a:lnTo>
                  <a:lnTo>
                    <a:pt x="959208" y="77231"/>
                  </a:lnTo>
                  <a:lnTo>
                    <a:pt x="994779" y="62850"/>
                  </a:lnTo>
                  <a:lnTo>
                    <a:pt x="1030741" y="49891"/>
                  </a:lnTo>
                  <a:lnTo>
                    <a:pt x="1067078" y="38376"/>
                  </a:lnTo>
                  <a:lnTo>
                    <a:pt x="1140819" y="19760"/>
                  </a:lnTo>
                  <a:lnTo>
                    <a:pt x="1215884" y="7179"/>
                  </a:lnTo>
                  <a:lnTo>
                    <a:pt x="1253876" y="3205"/>
                  </a:lnTo>
                  <a:lnTo>
                    <a:pt x="1292155" y="804"/>
                  </a:lnTo>
                  <a:lnTo>
                    <a:pt x="1330705" y="0"/>
                  </a:lnTo>
                  <a:lnTo>
                    <a:pt x="1369249" y="804"/>
                  </a:lnTo>
                  <a:lnTo>
                    <a:pt x="1407522" y="3205"/>
                  </a:lnTo>
                  <a:lnTo>
                    <a:pt x="1445508" y="7179"/>
                  </a:lnTo>
                  <a:lnTo>
                    <a:pt x="1520561" y="19760"/>
                  </a:lnTo>
                  <a:lnTo>
                    <a:pt x="1594292" y="38376"/>
                  </a:lnTo>
                  <a:lnTo>
                    <a:pt x="1630624" y="49891"/>
                  </a:lnTo>
                  <a:lnTo>
                    <a:pt x="1666580" y="62850"/>
                  </a:lnTo>
                  <a:lnTo>
                    <a:pt x="1702147" y="77231"/>
                  </a:lnTo>
                  <a:lnTo>
                    <a:pt x="1737309" y="93011"/>
                  </a:lnTo>
                  <a:lnTo>
                    <a:pt x="1772052" y="110169"/>
                  </a:lnTo>
                  <a:lnTo>
                    <a:pt x="1806360" y="128683"/>
                  </a:lnTo>
                  <a:lnTo>
                    <a:pt x="1840219" y="148531"/>
                  </a:lnTo>
                  <a:lnTo>
                    <a:pt x="1873614" y="169692"/>
                  </a:lnTo>
                  <a:lnTo>
                    <a:pt x="1906530" y="192144"/>
                  </a:lnTo>
                  <a:lnTo>
                    <a:pt x="1938953" y="215866"/>
                  </a:lnTo>
                  <a:lnTo>
                    <a:pt x="1970867" y="240834"/>
                  </a:lnTo>
                  <a:lnTo>
                    <a:pt x="2002258" y="267029"/>
                  </a:lnTo>
                  <a:lnTo>
                    <a:pt x="2033111" y="294427"/>
                  </a:lnTo>
                  <a:lnTo>
                    <a:pt x="2063412" y="323008"/>
                  </a:lnTo>
                  <a:lnTo>
                    <a:pt x="2093145" y="352749"/>
                  </a:lnTo>
                  <a:lnTo>
                    <a:pt x="2122295" y="383628"/>
                  </a:lnTo>
                  <a:lnTo>
                    <a:pt x="2150849" y="415625"/>
                  </a:lnTo>
                  <a:lnTo>
                    <a:pt x="2178790" y="448717"/>
                  </a:lnTo>
                  <a:lnTo>
                    <a:pt x="2206105" y="482882"/>
                  </a:lnTo>
                  <a:lnTo>
                    <a:pt x="2232778" y="518099"/>
                  </a:lnTo>
                  <a:lnTo>
                    <a:pt x="2258795" y="554346"/>
                  </a:lnTo>
                  <a:lnTo>
                    <a:pt x="2284141" y="591601"/>
                  </a:lnTo>
                  <a:lnTo>
                    <a:pt x="2308801" y="629843"/>
                  </a:lnTo>
                  <a:lnTo>
                    <a:pt x="2332761" y="669049"/>
                  </a:lnTo>
                  <a:lnTo>
                    <a:pt x="2356005" y="709199"/>
                  </a:lnTo>
                  <a:lnTo>
                    <a:pt x="2378518" y="750269"/>
                  </a:lnTo>
                  <a:lnTo>
                    <a:pt x="2400286" y="792240"/>
                  </a:lnTo>
                  <a:lnTo>
                    <a:pt x="2421295" y="835087"/>
                  </a:lnTo>
                  <a:lnTo>
                    <a:pt x="2441529" y="878791"/>
                  </a:lnTo>
                  <a:lnTo>
                    <a:pt x="2460973" y="923330"/>
                  </a:lnTo>
                  <a:lnTo>
                    <a:pt x="2479613" y="968680"/>
                  </a:lnTo>
                  <a:lnTo>
                    <a:pt x="2497434" y="1014822"/>
                  </a:lnTo>
                  <a:lnTo>
                    <a:pt x="2514422" y="1061732"/>
                  </a:lnTo>
                  <a:lnTo>
                    <a:pt x="2530560" y="1109390"/>
                  </a:lnTo>
                  <a:lnTo>
                    <a:pt x="2545835" y="1157773"/>
                  </a:lnTo>
                  <a:lnTo>
                    <a:pt x="2560232" y="1206860"/>
                  </a:lnTo>
                  <a:lnTo>
                    <a:pt x="2573736" y="1256629"/>
                  </a:lnTo>
                  <a:lnTo>
                    <a:pt x="2586332" y="1307059"/>
                  </a:lnTo>
                  <a:lnTo>
                    <a:pt x="2598005" y="1358127"/>
                  </a:lnTo>
                  <a:lnTo>
                    <a:pt x="2608741" y="1409812"/>
                  </a:lnTo>
                  <a:lnTo>
                    <a:pt x="2618524" y="1462091"/>
                  </a:lnTo>
                  <a:lnTo>
                    <a:pt x="2627341" y="1514945"/>
                  </a:lnTo>
                  <a:lnTo>
                    <a:pt x="2635176" y="1568349"/>
                  </a:lnTo>
                  <a:lnTo>
                    <a:pt x="2642014" y="1622284"/>
                  </a:lnTo>
                  <a:lnTo>
                    <a:pt x="2647840" y="1676726"/>
                  </a:lnTo>
                  <a:lnTo>
                    <a:pt x="2652641" y="1731655"/>
                  </a:lnTo>
                  <a:lnTo>
                    <a:pt x="2656400" y="1787049"/>
                  </a:lnTo>
                  <a:lnTo>
                    <a:pt x="2659104" y="1842885"/>
                  </a:lnTo>
                  <a:lnTo>
                    <a:pt x="2660737" y="1899143"/>
                  </a:lnTo>
                  <a:lnTo>
                    <a:pt x="2661284" y="195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700" y="0"/>
                  </a:moveTo>
                  <a:lnTo>
                    <a:pt x="0" y="0"/>
                  </a:lnTo>
                  <a:lnTo>
                    <a:pt x="0" y="2684145"/>
                  </a:lnTo>
                  <a:lnTo>
                    <a:pt x="2806700" y="2684145"/>
                  </a:lnTo>
                  <a:lnTo>
                    <a:pt x="280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5"/>
                  </a:moveTo>
                  <a:lnTo>
                    <a:pt x="2806700" y="2684145"/>
                  </a:lnTo>
                  <a:lnTo>
                    <a:pt x="2806700" y="0"/>
                  </a:lnTo>
                  <a:lnTo>
                    <a:pt x="0" y="0"/>
                  </a:lnTo>
                  <a:lnTo>
                    <a:pt x="0" y="26841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04659" y="3162300"/>
              <a:ext cx="358140" cy="971550"/>
            </a:xfrm>
            <a:custGeom>
              <a:avLst/>
              <a:gdLst/>
              <a:ahLst/>
              <a:cxnLst/>
              <a:rect l="l" t="t" r="r" b="b"/>
              <a:pathLst>
                <a:path w="358140" h="971550">
                  <a:moveTo>
                    <a:pt x="0" y="0"/>
                  </a:moveTo>
                  <a:lnTo>
                    <a:pt x="358140" y="971550"/>
                  </a:lnTo>
                </a:path>
              </a:pathLst>
            </a:custGeom>
            <a:ln w="285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2295" y="3555491"/>
              <a:ext cx="9842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08950" y="4663694"/>
              <a:ext cx="98425" cy="114173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6470650" y="2705734"/>
            <a:ext cx="3235960" cy="2058670"/>
          </a:xfrm>
          <a:custGeom>
            <a:avLst/>
            <a:gdLst/>
            <a:ahLst/>
            <a:cxnLst/>
            <a:rect l="l" t="t" r="r" b="b"/>
            <a:pathLst>
              <a:path w="3235959" h="2058670">
                <a:moveTo>
                  <a:pt x="3235706" y="2020316"/>
                </a:moveTo>
                <a:lnTo>
                  <a:pt x="3223006" y="2013966"/>
                </a:lnTo>
                <a:lnTo>
                  <a:pt x="3159506" y="1982216"/>
                </a:lnTo>
                <a:lnTo>
                  <a:pt x="3159506" y="2013966"/>
                </a:lnTo>
                <a:lnTo>
                  <a:pt x="44450" y="2013966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2013966"/>
                </a:lnTo>
                <a:lnTo>
                  <a:pt x="31750" y="2015998"/>
                </a:lnTo>
                <a:lnTo>
                  <a:pt x="31750" y="2026666"/>
                </a:lnTo>
                <a:lnTo>
                  <a:pt x="3159506" y="2026666"/>
                </a:lnTo>
                <a:lnTo>
                  <a:pt x="3159506" y="2058416"/>
                </a:lnTo>
                <a:lnTo>
                  <a:pt x="3223006" y="2026666"/>
                </a:lnTo>
                <a:lnTo>
                  <a:pt x="3235706" y="2020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578472" y="2555824"/>
            <a:ext cx="607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0" spc="-10" dirty="0">
                <a:latin typeface="Cambria Math"/>
                <a:cs typeface="Cambria Math"/>
              </a:rPr>
              <a:t>𝐽</a:t>
            </a:r>
            <a:r>
              <a:rPr sz="1725" b="0" spc="-15" baseline="-14492" dirty="0">
                <a:latin typeface="Cambria Math"/>
                <a:cs typeface="Cambria Math"/>
              </a:rPr>
              <a:t>𝑒</a:t>
            </a:r>
            <a:r>
              <a:rPr sz="1600" b="0" spc="-10" dirty="0">
                <a:latin typeface="Cambria Math"/>
                <a:cs typeface="Cambria Math"/>
              </a:rPr>
              <a:t>(𝑎</a:t>
            </a:r>
            <a:r>
              <a:rPr sz="1725" b="0" spc="-15" baseline="-14492" dirty="0">
                <a:latin typeface="Cambria Math"/>
                <a:cs typeface="Cambria Math"/>
              </a:rPr>
              <a:t>1</a:t>
            </a:r>
            <a:r>
              <a:rPr sz="1600" b="0" spc="-10" dirty="0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13976" y="4569078"/>
            <a:ext cx="270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𝑎</a:t>
            </a:r>
            <a:r>
              <a:rPr sz="1725" spc="-37" baseline="-14492" dirty="0">
                <a:latin typeface="Cambria Math"/>
                <a:cs typeface="Cambria Math"/>
              </a:rPr>
              <a:t>1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75245" y="2882011"/>
            <a:ext cx="1918970" cy="451484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 marR="30480" indent="69850">
              <a:lnSpc>
                <a:spcPts val="1670"/>
              </a:lnSpc>
              <a:spcBef>
                <a:spcPts val="165"/>
              </a:spcBef>
            </a:pPr>
            <a:r>
              <a:rPr sz="1400" dirty="0">
                <a:latin typeface="Cambria Math"/>
                <a:cs typeface="Cambria Math"/>
              </a:rPr>
              <a:t>𝒂</a:t>
            </a:r>
            <a:r>
              <a:rPr sz="1500" baseline="-16666" dirty="0">
                <a:latin typeface="Cambria Math"/>
                <a:cs typeface="Cambria Math"/>
              </a:rPr>
              <a:t>𝟏</a:t>
            </a:r>
            <a:r>
              <a:rPr sz="1500" spc="232" baseline="-16666" dirty="0">
                <a:latin typeface="Cambria Math"/>
                <a:cs typeface="Cambria Math"/>
              </a:rPr>
              <a:t> </a:t>
            </a:r>
            <a:r>
              <a:rPr sz="1400" b="1" dirty="0">
                <a:latin typeface="Calibri"/>
                <a:cs typeface="Calibri"/>
              </a:rPr>
              <a:t>inicializado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em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uma </a:t>
            </a:r>
            <a:r>
              <a:rPr sz="1400" b="1" dirty="0">
                <a:latin typeface="Calibri"/>
                <a:cs typeface="Calibri"/>
              </a:rPr>
              <a:t>posição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antes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do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mínimo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99527" y="4776342"/>
            <a:ext cx="5397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67" baseline="-21825" dirty="0">
                <a:latin typeface="Cambria Math"/>
                <a:cs typeface="Cambria Math"/>
              </a:rPr>
              <a:t>𝑎</a:t>
            </a:r>
            <a:r>
              <a:rPr sz="1000" spc="45" dirty="0">
                <a:latin typeface="Cambria Math"/>
                <a:cs typeface="Cambria Math"/>
              </a:rPr>
              <a:t>ótimo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42986" y="4934839"/>
            <a:ext cx="1057910" cy="361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96850" algn="ctr">
              <a:lnSpc>
                <a:spcPts val="1070"/>
              </a:lnSpc>
              <a:spcBef>
                <a:spcPts val="120"/>
              </a:spcBef>
            </a:pPr>
            <a:r>
              <a:rPr sz="1000" spc="35" dirty="0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ts val="1550"/>
              </a:lnSpc>
            </a:pPr>
            <a:r>
              <a:rPr sz="1400" dirty="0">
                <a:latin typeface="Calibri"/>
                <a:cs typeface="Calibri"/>
              </a:rPr>
              <a:t>mínimo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global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19645" y="4937505"/>
            <a:ext cx="100965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35" dirty="0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99757" y="4779009"/>
            <a:ext cx="5664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60" baseline="-21825" dirty="0">
                <a:latin typeface="Cambria Math"/>
                <a:cs typeface="Cambria Math"/>
              </a:rPr>
              <a:t>𝑎</a:t>
            </a:r>
            <a:r>
              <a:rPr sz="1000" spc="40" dirty="0">
                <a:latin typeface="Cambria Math"/>
                <a:cs typeface="Cambria Math"/>
              </a:rPr>
              <a:t>inicial</a:t>
            </a:r>
            <a:endParaRPr sz="10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971918" y="3648075"/>
            <a:ext cx="1162685" cy="1198245"/>
            <a:chOff x="6971918" y="3648075"/>
            <a:chExt cx="1162685" cy="1198245"/>
          </a:xfrm>
        </p:grpSpPr>
        <p:sp>
          <p:nvSpPr>
            <p:cNvPr id="18" name="object 18"/>
            <p:cNvSpPr/>
            <p:nvPr/>
          </p:nvSpPr>
          <p:spPr>
            <a:xfrm>
              <a:off x="6981443" y="3648075"/>
              <a:ext cx="0" cy="1080135"/>
            </a:xfrm>
            <a:custGeom>
              <a:avLst/>
              <a:gdLst/>
              <a:ahLst/>
              <a:cxnLst/>
              <a:rect l="l" t="t" r="r" b="b"/>
              <a:pathLst>
                <a:path h="1080135">
                  <a:moveTo>
                    <a:pt x="0" y="0"/>
                  </a:moveTo>
                  <a:lnTo>
                    <a:pt x="0" y="1080008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86269" y="4769866"/>
              <a:ext cx="1148080" cy="76200"/>
            </a:xfrm>
            <a:custGeom>
              <a:avLst/>
              <a:gdLst/>
              <a:ahLst/>
              <a:cxnLst/>
              <a:rect l="l" t="t" r="r" b="b"/>
              <a:pathLst>
                <a:path w="1148079" h="76200">
                  <a:moveTo>
                    <a:pt x="1141932" y="34797"/>
                  </a:moveTo>
                  <a:lnTo>
                    <a:pt x="1084579" y="34797"/>
                  </a:lnTo>
                  <a:lnTo>
                    <a:pt x="1084579" y="41147"/>
                  </a:lnTo>
                  <a:lnTo>
                    <a:pt x="1071890" y="41177"/>
                  </a:lnTo>
                  <a:lnTo>
                    <a:pt x="1072006" y="76199"/>
                  </a:lnTo>
                  <a:lnTo>
                    <a:pt x="1148079" y="37845"/>
                  </a:lnTo>
                  <a:lnTo>
                    <a:pt x="1141932" y="34797"/>
                  </a:lnTo>
                  <a:close/>
                </a:path>
                <a:path w="1148079" h="76200">
                  <a:moveTo>
                    <a:pt x="1071869" y="34827"/>
                  </a:moveTo>
                  <a:lnTo>
                    <a:pt x="0" y="37337"/>
                  </a:lnTo>
                  <a:lnTo>
                    <a:pt x="0" y="43687"/>
                  </a:lnTo>
                  <a:lnTo>
                    <a:pt x="1071890" y="41177"/>
                  </a:lnTo>
                  <a:lnTo>
                    <a:pt x="1071869" y="34827"/>
                  </a:lnTo>
                  <a:close/>
                </a:path>
                <a:path w="1148079" h="76200">
                  <a:moveTo>
                    <a:pt x="1084579" y="34797"/>
                  </a:moveTo>
                  <a:lnTo>
                    <a:pt x="1071869" y="34827"/>
                  </a:lnTo>
                  <a:lnTo>
                    <a:pt x="1071890" y="41177"/>
                  </a:lnTo>
                  <a:lnTo>
                    <a:pt x="1084579" y="41147"/>
                  </a:lnTo>
                  <a:lnTo>
                    <a:pt x="1084579" y="34797"/>
                  </a:lnTo>
                  <a:close/>
                </a:path>
                <a:path w="1148079" h="76200">
                  <a:moveTo>
                    <a:pt x="1071752" y="0"/>
                  </a:moveTo>
                  <a:lnTo>
                    <a:pt x="1071869" y="34827"/>
                  </a:lnTo>
                  <a:lnTo>
                    <a:pt x="1141932" y="34797"/>
                  </a:lnTo>
                  <a:lnTo>
                    <a:pt x="107175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605773" y="5469432"/>
            <a:ext cx="100965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35" dirty="0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610090" y="5437378"/>
            <a:ext cx="292735" cy="165735"/>
          </a:xfrm>
          <a:custGeom>
            <a:avLst/>
            <a:gdLst/>
            <a:ahLst/>
            <a:cxnLst/>
            <a:rect l="l" t="t" r="r" b="b"/>
            <a:pathLst>
              <a:path w="292734" h="165735">
                <a:moveTo>
                  <a:pt x="239902" y="0"/>
                </a:moveTo>
                <a:lnTo>
                  <a:pt x="237489" y="6731"/>
                </a:lnTo>
                <a:lnTo>
                  <a:pt x="247088" y="10872"/>
                </a:lnTo>
                <a:lnTo>
                  <a:pt x="255317" y="16621"/>
                </a:lnTo>
                <a:lnTo>
                  <a:pt x="275034" y="54816"/>
                </a:lnTo>
                <a:lnTo>
                  <a:pt x="277494" y="81788"/>
                </a:lnTo>
                <a:lnTo>
                  <a:pt x="276877" y="96359"/>
                </a:lnTo>
                <a:lnTo>
                  <a:pt x="262193" y="141037"/>
                </a:lnTo>
                <a:lnTo>
                  <a:pt x="237743" y="158457"/>
                </a:lnTo>
                <a:lnTo>
                  <a:pt x="239902" y="165163"/>
                </a:lnTo>
                <a:lnTo>
                  <a:pt x="279018" y="136271"/>
                </a:lnTo>
                <a:lnTo>
                  <a:pt x="291752" y="97819"/>
                </a:lnTo>
                <a:lnTo>
                  <a:pt x="292607" y="82677"/>
                </a:lnTo>
                <a:lnTo>
                  <a:pt x="291750" y="67532"/>
                </a:lnTo>
                <a:lnTo>
                  <a:pt x="278891" y="28956"/>
                </a:lnTo>
                <a:lnTo>
                  <a:pt x="251852" y="4310"/>
                </a:lnTo>
                <a:lnTo>
                  <a:pt x="239902" y="0"/>
                </a:lnTo>
                <a:close/>
              </a:path>
              <a:path w="292734" h="165735">
                <a:moveTo>
                  <a:pt x="52577" y="0"/>
                </a:moveTo>
                <a:lnTo>
                  <a:pt x="13588" y="28956"/>
                </a:lnTo>
                <a:lnTo>
                  <a:pt x="837" y="67532"/>
                </a:lnTo>
                <a:lnTo>
                  <a:pt x="0" y="82677"/>
                </a:lnTo>
                <a:lnTo>
                  <a:pt x="837" y="97819"/>
                </a:lnTo>
                <a:lnTo>
                  <a:pt x="13588" y="136271"/>
                </a:lnTo>
                <a:lnTo>
                  <a:pt x="52577" y="165163"/>
                </a:lnTo>
                <a:lnTo>
                  <a:pt x="54736" y="158457"/>
                </a:lnTo>
                <a:lnTo>
                  <a:pt x="45303" y="154287"/>
                </a:lnTo>
                <a:lnTo>
                  <a:pt x="37179" y="148482"/>
                </a:lnTo>
                <a:lnTo>
                  <a:pt x="17446" y="109585"/>
                </a:lnTo>
                <a:lnTo>
                  <a:pt x="14985" y="81788"/>
                </a:lnTo>
                <a:lnTo>
                  <a:pt x="15603" y="67665"/>
                </a:lnTo>
                <a:lnTo>
                  <a:pt x="30362" y="23965"/>
                </a:lnTo>
                <a:lnTo>
                  <a:pt x="54990" y="6731"/>
                </a:lnTo>
                <a:lnTo>
                  <a:pt x="525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612635" y="5379466"/>
            <a:ext cx="32639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gradiente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negativo</a:t>
            </a:r>
            <a:r>
              <a:rPr sz="1400" spc="-10" dirty="0">
                <a:latin typeface="Calibri"/>
                <a:cs typeface="Calibri"/>
              </a:rPr>
              <a:t>: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𝑎</a:t>
            </a:r>
            <a:r>
              <a:rPr sz="1500" baseline="-16666" dirty="0">
                <a:latin typeface="Cambria Math"/>
                <a:cs typeface="Cambria Math"/>
              </a:rPr>
              <a:t>1</a:t>
            </a:r>
            <a:r>
              <a:rPr sz="1500" spc="345" baseline="-16666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90" dirty="0">
                <a:latin typeface="Cambria Math"/>
                <a:cs typeface="Cambria Math"/>
              </a:rPr>
              <a:t> </a:t>
            </a:r>
            <a:r>
              <a:rPr sz="1400" spc="55" dirty="0">
                <a:latin typeface="Cambria Math"/>
                <a:cs typeface="Cambria Math"/>
              </a:rPr>
              <a:t>𝑎</a:t>
            </a:r>
            <a:r>
              <a:rPr sz="1500" spc="82" baseline="30555" dirty="0">
                <a:latin typeface="Cambria Math"/>
                <a:cs typeface="Cambria Math"/>
              </a:rPr>
              <a:t>inicial</a:t>
            </a:r>
            <a:r>
              <a:rPr sz="1500" spc="232" baseline="3055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+</a:t>
            </a:r>
            <a:r>
              <a:rPr sz="1400" spc="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𝛼𝛻𝐽</a:t>
            </a:r>
            <a:r>
              <a:rPr sz="1500" baseline="-16666" dirty="0">
                <a:latin typeface="Cambria Math"/>
                <a:cs typeface="Cambria Math"/>
              </a:rPr>
              <a:t>𝑒</a:t>
            </a:r>
            <a:r>
              <a:rPr sz="1500" spc="705" baseline="-16666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𝑎</a:t>
            </a:r>
            <a:r>
              <a:rPr sz="1500" spc="-37" baseline="-16666" dirty="0">
                <a:latin typeface="Cambria Math"/>
                <a:cs typeface="Cambria Math"/>
              </a:rPr>
              <a:t>1</a:t>
            </a:r>
            <a:endParaRPr sz="1500" baseline="-16666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85431" y="5592876"/>
            <a:ext cx="27997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𝑎</a:t>
            </a:r>
            <a:r>
              <a:rPr sz="1500" baseline="-16666" dirty="0">
                <a:latin typeface="Cambria Math"/>
                <a:cs typeface="Cambria Math"/>
              </a:rPr>
              <a:t>1</a:t>
            </a:r>
            <a:r>
              <a:rPr sz="1500" spc="202" baseline="-16666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aumenta 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aproxima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mínimo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62750" y="638555"/>
            <a:ext cx="2819400" cy="4139565"/>
            <a:chOff x="6762750" y="638555"/>
            <a:chExt cx="2819400" cy="4139565"/>
          </a:xfrm>
        </p:grpSpPr>
        <p:sp>
          <p:nvSpPr>
            <p:cNvPr id="3" name="object 3"/>
            <p:cNvSpPr/>
            <p:nvPr/>
          </p:nvSpPr>
          <p:spPr>
            <a:xfrm>
              <a:off x="6845300" y="800861"/>
              <a:ext cx="2661285" cy="3911600"/>
            </a:xfrm>
            <a:custGeom>
              <a:avLst/>
              <a:gdLst/>
              <a:ahLst/>
              <a:cxnLst/>
              <a:rect l="l" t="t" r="r" b="b"/>
              <a:pathLst>
                <a:path w="2661284" h="3911600">
                  <a:moveTo>
                    <a:pt x="2661284" y="1955800"/>
                  </a:moveTo>
                  <a:lnTo>
                    <a:pt x="2660737" y="2012456"/>
                  </a:lnTo>
                  <a:lnTo>
                    <a:pt x="2659104" y="2068714"/>
                  </a:lnTo>
                  <a:lnTo>
                    <a:pt x="2656400" y="2124550"/>
                  </a:lnTo>
                  <a:lnTo>
                    <a:pt x="2652641" y="2179944"/>
                  </a:lnTo>
                  <a:lnTo>
                    <a:pt x="2647840" y="2234873"/>
                  </a:lnTo>
                  <a:lnTo>
                    <a:pt x="2642014" y="2289315"/>
                  </a:lnTo>
                  <a:lnTo>
                    <a:pt x="2635176" y="2343250"/>
                  </a:lnTo>
                  <a:lnTo>
                    <a:pt x="2627341" y="2396654"/>
                  </a:lnTo>
                  <a:lnTo>
                    <a:pt x="2618524" y="2449508"/>
                  </a:lnTo>
                  <a:lnTo>
                    <a:pt x="2608741" y="2501787"/>
                  </a:lnTo>
                  <a:lnTo>
                    <a:pt x="2598005" y="2553472"/>
                  </a:lnTo>
                  <a:lnTo>
                    <a:pt x="2586332" y="2604540"/>
                  </a:lnTo>
                  <a:lnTo>
                    <a:pt x="2573736" y="2654970"/>
                  </a:lnTo>
                  <a:lnTo>
                    <a:pt x="2560232" y="2704739"/>
                  </a:lnTo>
                  <a:lnTo>
                    <a:pt x="2545835" y="2753826"/>
                  </a:lnTo>
                  <a:lnTo>
                    <a:pt x="2530560" y="2802209"/>
                  </a:lnTo>
                  <a:lnTo>
                    <a:pt x="2514422" y="2849867"/>
                  </a:lnTo>
                  <a:lnTo>
                    <a:pt x="2497434" y="2896777"/>
                  </a:lnTo>
                  <a:lnTo>
                    <a:pt x="2479613" y="2942919"/>
                  </a:lnTo>
                  <a:lnTo>
                    <a:pt x="2460973" y="2988269"/>
                  </a:lnTo>
                  <a:lnTo>
                    <a:pt x="2441529" y="3032808"/>
                  </a:lnTo>
                  <a:lnTo>
                    <a:pt x="2421295" y="3076512"/>
                  </a:lnTo>
                  <a:lnTo>
                    <a:pt x="2400286" y="3119359"/>
                  </a:lnTo>
                  <a:lnTo>
                    <a:pt x="2378518" y="3161330"/>
                  </a:lnTo>
                  <a:lnTo>
                    <a:pt x="2356005" y="3202400"/>
                  </a:lnTo>
                  <a:lnTo>
                    <a:pt x="2332761" y="3242550"/>
                  </a:lnTo>
                  <a:lnTo>
                    <a:pt x="2308801" y="3281756"/>
                  </a:lnTo>
                  <a:lnTo>
                    <a:pt x="2284141" y="3319998"/>
                  </a:lnTo>
                  <a:lnTo>
                    <a:pt x="2258795" y="3357253"/>
                  </a:lnTo>
                  <a:lnTo>
                    <a:pt x="2232778" y="3393500"/>
                  </a:lnTo>
                  <a:lnTo>
                    <a:pt x="2206105" y="3428717"/>
                  </a:lnTo>
                  <a:lnTo>
                    <a:pt x="2178790" y="3462882"/>
                  </a:lnTo>
                  <a:lnTo>
                    <a:pt x="2150849" y="3495974"/>
                  </a:lnTo>
                  <a:lnTo>
                    <a:pt x="2122295" y="3527971"/>
                  </a:lnTo>
                  <a:lnTo>
                    <a:pt x="2093145" y="3558850"/>
                  </a:lnTo>
                  <a:lnTo>
                    <a:pt x="2063412" y="3588591"/>
                  </a:lnTo>
                  <a:lnTo>
                    <a:pt x="2033111" y="3617172"/>
                  </a:lnTo>
                  <a:lnTo>
                    <a:pt x="2002258" y="3644570"/>
                  </a:lnTo>
                  <a:lnTo>
                    <a:pt x="1970867" y="3670765"/>
                  </a:lnTo>
                  <a:lnTo>
                    <a:pt x="1938953" y="3695733"/>
                  </a:lnTo>
                  <a:lnTo>
                    <a:pt x="1906530" y="3719455"/>
                  </a:lnTo>
                  <a:lnTo>
                    <a:pt x="1873614" y="3741907"/>
                  </a:lnTo>
                  <a:lnTo>
                    <a:pt x="1840219" y="3763068"/>
                  </a:lnTo>
                  <a:lnTo>
                    <a:pt x="1806360" y="3782916"/>
                  </a:lnTo>
                  <a:lnTo>
                    <a:pt x="1772052" y="3801430"/>
                  </a:lnTo>
                  <a:lnTo>
                    <a:pt x="1737309" y="3818588"/>
                  </a:lnTo>
                  <a:lnTo>
                    <a:pt x="1702147" y="3834368"/>
                  </a:lnTo>
                  <a:lnTo>
                    <a:pt x="1666580" y="3848749"/>
                  </a:lnTo>
                  <a:lnTo>
                    <a:pt x="1630624" y="3861708"/>
                  </a:lnTo>
                  <a:lnTo>
                    <a:pt x="1594292" y="3873223"/>
                  </a:lnTo>
                  <a:lnTo>
                    <a:pt x="1520561" y="3891839"/>
                  </a:lnTo>
                  <a:lnTo>
                    <a:pt x="1445508" y="3904420"/>
                  </a:lnTo>
                  <a:lnTo>
                    <a:pt x="1407522" y="3908394"/>
                  </a:lnTo>
                  <a:lnTo>
                    <a:pt x="1369249" y="3910795"/>
                  </a:lnTo>
                  <a:lnTo>
                    <a:pt x="1330705" y="3911600"/>
                  </a:lnTo>
                  <a:lnTo>
                    <a:pt x="1292155" y="3910795"/>
                  </a:lnTo>
                  <a:lnTo>
                    <a:pt x="1253876" y="3908394"/>
                  </a:lnTo>
                  <a:lnTo>
                    <a:pt x="1215884" y="3904420"/>
                  </a:lnTo>
                  <a:lnTo>
                    <a:pt x="1140819" y="3891839"/>
                  </a:lnTo>
                  <a:lnTo>
                    <a:pt x="1067078" y="3873223"/>
                  </a:lnTo>
                  <a:lnTo>
                    <a:pt x="1030741" y="3861708"/>
                  </a:lnTo>
                  <a:lnTo>
                    <a:pt x="994779" y="3848749"/>
                  </a:lnTo>
                  <a:lnTo>
                    <a:pt x="959208" y="3834368"/>
                  </a:lnTo>
                  <a:lnTo>
                    <a:pt x="924042" y="3818588"/>
                  </a:lnTo>
                  <a:lnTo>
                    <a:pt x="889295" y="3801430"/>
                  </a:lnTo>
                  <a:lnTo>
                    <a:pt x="854983" y="3782916"/>
                  </a:lnTo>
                  <a:lnTo>
                    <a:pt x="821120" y="3763068"/>
                  </a:lnTo>
                  <a:lnTo>
                    <a:pt x="787721" y="3741907"/>
                  </a:lnTo>
                  <a:lnTo>
                    <a:pt x="754801" y="3719455"/>
                  </a:lnTo>
                  <a:lnTo>
                    <a:pt x="722375" y="3695733"/>
                  </a:lnTo>
                  <a:lnTo>
                    <a:pt x="690458" y="3670765"/>
                  </a:lnTo>
                  <a:lnTo>
                    <a:pt x="659064" y="3644570"/>
                  </a:lnTo>
                  <a:lnTo>
                    <a:pt x="628208" y="3617172"/>
                  </a:lnTo>
                  <a:lnTo>
                    <a:pt x="597904" y="3588591"/>
                  </a:lnTo>
                  <a:lnTo>
                    <a:pt x="568169" y="3558850"/>
                  </a:lnTo>
                  <a:lnTo>
                    <a:pt x="539016" y="3527971"/>
                  </a:lnTo>
                  <a:lnTo>
                    <a:pt x="510460" y="3495974"/>
                  </a:lnTo>
                  <a:lnTo>
                    <a:pt x="482516" y="3462882"/>
                  </a:lnTo>
                  <a:lnTo>
                    <a:pt x="455199" y="3428717"/>
                  </a:lnTo>
                  <a:lnTo>
                    <a:pt x="428524" y="3393500"/>
                  </a:lnTo>
                  <a:lnTo>
                    <a:pt x="402505" y="3357253"/>
                  </a:lnTo>
                  <a:lnTo>
                    <a:pt x="377158" y="3319998"/>
                  </a:lnTo>
                  <a:lnTo>
                    <a:pt x="352496" y="3281756"/>
                  </a:lnTo>
                  <a:lnTo>
                    <a:pt x="328535" y="3242550"/>
                  </a:lnTo>
                  <a:lnTo>
                    <a:pt x="305290" y="3202400"/>
                  </a:lnTo>
                  <a:lnTo>
                    <a:pt x="282775" y="3161330"/>
                  </a:lnTo>
                  <a:lnTo>
                    <a:pt x="261006" y="3119359"/>
                  </a:lnTo>
                  <a:lnTo>
                    <a:pt x="239996" y="3076512"/>
                  </a:lnTo>
                  <a:lnTo>
                    <a:pt x="219761" y="3032808"/>
                  </a:lnTo>
                  <a:lnTo>
                    <a:pt x="200316" y="2988269"/>
                  </a:lnTo>
                  <a:lnTo>
                    <a:pt x="181675" y="2942919"/>
                  </a:lnTo>
                  <a:lnTo>
                    <a:pt x="163854" y="2896777"/>
                  </a:lnTo>
                  <a:lnTo>
                    <a:pt x="146866" y="2849867"/>
                  </a:lnTo>
                  <a:lnTo>
                    <a:pt x="130727" y="2802209"/>
                  </a:lnTo>
                  <a:lnTo>
                    <a:pt x="115451" y="2753826"/>
                  </a:lnTo>
                  <a:lnTo>
                    <a:pt x="101054" y="2704739"/>
                  </a:lnTo>
                  <a:lnTo>
                    <a:pt x="87550" y="2654970"/>
                  </a:lnTo>
                  <a:lnTo>
                    <a:pt x="74954" y="2604540"/>
                  </a:lnTo>
                  <a:lnTo>
                    <a:pt x="63280" y="2553472"/>
                  </a:lnTo>
                  <a:lnTo>
                    <a:pt x="52544" y="2501787"/>
                  </a:lnTo>
                  <a:lnTo>
                    <a:pt x="42760" y="2449508"/>
                  </a:lnTo>
                  <a:lnTo>
                    <a:pt x="33944" y="2396654"/>
                  </a:lnTo>
                  <a:lnTo>
                    <a:pt x="26109" y="2343250"/>
                  </a:lnTo>
                  <a:lnTo>
                    <a:pt x="19271" y="2289315"/>
                  </a:lnTo>
                  <a:lnTo>
                    <a:pt x="13444" y="2234873"/>
                  </a:lnTo>
                  <a:lnTo>
                    <a:pt x="8643" y="2179944"/>
                  </a:lnTo>
                  <a:lnTo>
                    <a:pt x="4884" y="2124550"/>
                  </a:lnTo>
                  <a:lnTo>
                    <a:pt x="2180" y="2068714"/>
                  </a:lnTo>
                  <a:lnTo>
                    <a:pt x="547" y="2012456"/>
                  </a:lnTo>
                  <a:lnTo>
                    <a:pt x="0" y="1955800"/>
                  </a:lnTo>
                  <a:lnTo>
                    <a:pt x="547" y="1899143"/>
                  </a:lnTo>
                  <a:lnTo>
                    <a:pt x="2180" y="1842885"/>
                  </a:lnTo>
                  <a:lnTo>
                    <a:pt x="4884" y="1787049"/>
                  </a:lnTo>
                  <a:lnTo>
                    <a:pt x="8643" y="1731655"/>
                  </a:lnTo>
                  <a:lnTo>
                    <a:pt x="13444" y="1676726"/>
                  </a:lnTo>
                  <a:lnTo>
                    <a:pt x="19271" y="1622284"/>
                  </a:lnTo>
                  <a:lnTo>
                    <a:pt x="26109" y="1568349"/>
                  </a:lnTo>
                  <a:lnTo>
                    <a:pt x="33944" y="1514945"/>
                  </a:lnTo>
                  <a:lnTo>
                    <a:pt x="42760" y="1462091"/>
                  </a:lnTo>
                  <a:lnTo>
                    <a:pt x="52544" y="1409812"/>
                  </a:lnTo>
                  <a:lnTo>
                    <a:pt x="63280" y="1358127"/>
                  </a:lnTo>
                  <a:lnTo>
                    <a:pt x="74954" y="1307059"/>
                  </a:lnTo>
                  <a:lnTo>
                    <a:pt x="87550" y="1256629"/>
                  </a:lnTo>
                  <a:lnTo>
                    <a:pt x="101054" y="1206860"/>
                  </a:lnTo>
                  <a:lnTo>
                    <a:pt x="115451" y="1157773"/>
                  </a:lnTo>
                  <a:lnTo>
                    <a:pt x="130727" y="1109390"/>
                  </a:lnTo>
                  <a:lnTo>
                    <a:pt x="146866" y="1061732"/>
                  </a:lnTo>
                  <a:lnTo>
                    <a:pt x="163854" y="1014822"/>
                  </a:lnTo>
                  <a:lnTo>
                    <a:pt x="181675" y="968680"/>
                  </a:lnTo>
                  <a:lnTo>
                    <a:pt x="200316" y="923330"/>
                  </a:lnTo>
                  <a:lnTo>
                    <a:pt x="219761" y="878791"/>
                  </a:lnTo>
                  <a:lnTo>
                    <a:pt x="239996" y="835087"/>
                  </a:lnTo>
                  <a:lnTo>
                    <a:pt x="261006" y="792240"/>
                  </a:lnTo>
                  <a:lnTo>
                    <a:pt x="282775" y="750269"/>
                  </a:lnTo>
                  <a:lnTo>
                    <a:pt x="305290" y="709199"/>
                  </a:lnTo>
                  <a:lnTo>
                    <a:pt x="328535" y="669049"/>
                  </a:lnTo>
                  <a:lnTo>
                    <a:pt x="352496" y="629843"/>
                  </a:lnTo>
                  <a:lnTo>
                    <a:pt x="377158" y="591601"/>
                  </a:lnTo>
                  <a:lnTo>
                    <a:pt x="402505" y="554346"/>
                  </a:lnTo>
                  <a:lnTo>
                    <a:pt x="428524" y="518099"/>
                  </a:lnTo>
                  <a:lnTo>
                    <a:pt x="455199" y="482882"/>
                  </a:lnTo>
                  <a:lnTo>
                    <a:pt x="482516" y="448717"/>
                  </a:lnTo>
                  <a:lnTo>
                    <a:pt x="510460" y="415625"/>
                  </a:lnTo>
                  <a:lnTo>
                    <a:pt x="539016" y="383628"/>
                  </a:lnTo>
                  <a:lnTo>
                    <a:pt x="568169" y="352749"/>
                  </a:lnTo>
                  <a:lnTo>
                    <a:pt x="597904" y="323008"/>
                  </a:lnTo>
                  <a:lnTo>
                    <a:pt x="628208" y="294427"/>
                  </a:lnTo>
                  <a:lnTo>
                    <a:pt x="659064" y="267029"/>
                  </a:lnTo>
                  <a:lnTo>
                    <a:pt x="690458" y="240834"/>
                  </a:lnTo>
                  <a:lnTo>
                    <a:pt x="722375" y="215866"/>
                  </a:lnTo>
                  <a:lnTo>
                    <a:pt x="754801" y="192144"/>
                  </a:lnTo>
                  <a:lnTo>
                    <a:pt x="787721" y="169692"/>
                  </a:lnTo>
                  <a:lnTo>
                    <a:pt x="821120" y="148531"/>
                  </a:lnTo>
                  <a:lnTo>
                    <a:pt x="854983" y="128683"/>
                  </a:lnTo>
                  <a:lnTo>
                    <a:pt x="889295" y="110169"/>
                  </a:lnTo>
                  <a:lnTo>
                    <a:pt x="924042" y="93011"/>
                  </a:lnTo>
                  <a:lnTo>
                    <a:pt x="959208" y="77231"/>
                  </a:lnTo>
                  <a:lnTo>
                    <a:pt x="994779" y="62850"/>
                  </a:lnTo>
                  <a:lnTo>
                    <a:pt x="1030741" y="49891"/>
                  </a:lnTo>
                  <a:lnTo>
                    <a:pt x="1067078" y="38376"/>
                  </a:lnTo>
                  <a:lnTo>
                    <a:pt x="1140819" y="19760"/>
                  </a:lnTo>
                  <a:lnTo>
                    <a:pt x="1215884" y="7179"/>
                  </a:lnTo>
                  <a:lnTo>
                    <a:pt x="1253876" y="3205"/>
                  </a:lnTo>
                  <a:lnTo>
                    <a:pt x="1292155" y="804"/>
                  </a:lnTo>
                  <a:lnTo>
                    <a:pt x="1330705" y="0"/>
                  </a:lnTo>
                  <a:lnTo>
                    <a:pt x="1369249" y="804"/>
                  </a:lnTo>
                  <a:lnTo>
                    <a:pt x="1407522" y="3205"/>
                  </a:lnTo>
                  <a:lnTo>
                    <a:pt x="1445508" y="7179"/>
                  </a:lnTo>
                  <a:lnTo>
                    <a:pt x="1520561" y="19760"/>
                  </a:lnTo>
                  <a:lnTo>
                    <a:pt x="1594292" y="38376"/>
                  </a:lnTo>
                  <a:lnTo>
                    <a:pt x="1630624" y="49891"/>
                  </a:lnTo>
                  <a:lnTo>
                    <a:pt x="1666580" y="62850"/>
                  </a:lnTo>
                  <a:lnTo>
                    <a:pt x="1702147" y="77231"/>
                  </a:lnTo>
                  <a:lnTo>
                    <a:pt x="1737309" y="93011"/>
                  </a:lnTo>
                  <a:lnTo>
                    <a:pt x="1772052" y="110169"/>
                  </a:lnTo>
                  <a:lnTo>
                    <a:pt x="1806360" y="128683"/>
                  </a:lnTo>
                  <a:lnTo>
                    <a:pt x="1840219" y="148531"/>
                  </a:lnTo>
                  <a:lnTo>
                    <a:pt x="1873614" y="169692"/>
                  </a:lnTo>
                  <a:lnTo>
                    <a:pt x="1906530" y="192144"/>
                  </a:lnTo>
                  <a:lnTo>
                    <a:pt x="1938953" y="215866"/>
                  </a:lnTo>
                  <a:lnTo>
                    <a:pt x="1970867" y="240834"/>
                  </a:lnTo>
                  <a:lnTo>
                    <a:pt x="2002258" y="267029"/>
                  </a:lnTo>
                  <a:lnTo>
                    <a:pt x="2033111" y="294427"/>
                  </a:lnTo>
                  <a:lnTo>
                    <a:pt x="2063412" y="323008"/>
                  </a:lnTo>
                  <a:lnTo>
                    <a:pt x="2093145" y="352749"/>
                  </a:lnTo>
                  <a:lnTo>
                    <a:pt x="2122295" y="383628"/>
                  </a:lnTo>
                  <a:lnTo>
                    <a:pt x="2150849" y="415625"/>
                  </a:lnTo>
                  <a:lnTo>
                    <a:pt x="2178790" y="448717"/>
                  </a:lnTo>
                  <a:lnTo>
                    <a:pt x="2206105" y="482882"/>
                  </a:lnTo>
                  <a:lnTo>
                    <a:pt x="2232778" y="518099"/>
                  </a:lnTo>
                  <a:lnTo>
                    <a:pt x="2258795" y="554346"/>
                  </a:lnTo>
                  <a:lnTo>
                    <a:pt x="2284141" y="591601"/>
                  </a:lnTo>
                  <a:lnTo>
                    <a:pt x="2308801" y="629843"/>
                  </a:lnTo>
                  <a:lnTo>
                    <a:pt x="2332761" y="669049"/>
                  </a:lnTo>
                  <a:lnTo>
                    <a:pt x="2356005" y="709199"/>
                  </a:lnTo>
                  <a:lnTo>
                    <a:pt x="2378518" y="750269"/>
                  </a:lnTo>
                  <a:lnTo>
                    <a:pt x="2400286" y="792240"/>
                  </a:lnTo>
                  <a:lnTo>
                    <a:pt x="2421295" y="835087"/>
                  </a:lnTo>
                  <a:lnTo>
                    <a:pt x="2441529" y="878791"/>
                  </a:lnTo>
                  <a:lnTo>
                    <a:pt x="2460973" y="923330"/>
                  </a:lnTo>
                  <a:lnTo>
                    <a:pt x="2479613" y="968680"/>
                  </a:lnTo>
                  <a:lnTo>
                    <a:pt x="2497434" y="1014822"/>
                  </a:lnTo>
                  <a:lnTo>
                    <a:pt x="2514422" y="1061732"/>
                  </a:lnTo>
                  <a:lnTo>
                    <a:pt x="2530560" y="1109390"/>
                  </a:lnTo>
                  <a:lnTo>
                    <a:pt x="2545835" y="1157773"/>
                  </a:lnTo>
                  <a:lnTo>
                    <a:pt x="2560232" y="1206860"/>
                  </a:lnTo>
                  <a:lnTo>
                    <a:pt x="2573736" y="1256629"/>
                  </a:lnTo>
                  <a:lnTo>
                    <a:pt x="2586332" y="1307059"/>
                  </a:lnTo>
                  <a:lnTo>
                    <a:pt x="2598005" y="1358127"/>
                  </a:lnTo>
                  <a:lnTo>
                    <a:pt x="2608741" y="1409812"/>
                  </a:lnTo>
                  <a:lnTo>
                    <a:pt x="2618524" y="1462091"/>
                  </a:lnTo>
                  <a:lnTo>
                    <a:pt x="2627341" y="1514945"/>
                  </a:lnTo>
                  <a:lnTo>
                    <a:pt x="2635176" y="1568349"/>
                  </a:lnTo>
                  <a:lnTo>
                    <a:pt x="2642014" y="1622284"/>
                  </a:lnTo>
                  <a:lnTo>
                    <a:pt x="2647840" y="1676726"/>
                  </a:lnTo>
                  <a:lnTo>
                    <a:pt x="2652641" y="1731655"/>
                  </a:lnTo>
                  <a:lnTo>
                    <a:pt x="2656400" y="1787049"/>
                  </a:lnTo>
                  <a:lnTo>
                    <a:pt x="2659104" y="1842885"/>
                  </a:lnTo>
                  <a:lnTo>
                    <a:pt x="2660737" y="1899143"/>
                  </a:lnTo>
                  <a:lnTo>
                    <a:pt x="2661284" y="19558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2806700" y="0"/>
                  </a:moveTo>
                  <a:lnTo>
                    <a:pt x="0" y="0"/>
                  </a:lnTo>
                  <a:lnTo>
                    <a:pt x="0" y="2684145"/>
                  </a:lnTo>
                  <a:lnTo>
                    <a:pt x="2806700" y="2684145"/>
                  </a:lnTo>
                  <a:lnTo>
                    <a:pt x="2806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69100" y="644905"/>
              <a:ext cx="2806700" cy="2684145"/>
            </a:xfrm>
            <a:custGeom>
              <a:avLst/>
              <a:gdLst/>
              <a:ahLst/>
              <a:cxnLst/>
              <a:rect l="l" t="t" r="r" b="b"/>
              <a:pathLst>
                <a:path w="2806700" h="2684145">
                  <a:moveTo>
                    <a:pt x="0" y="2684145"/>
                  </a:moveTo>
                  <a:lnTo>
                    <a:pt x="2806700" y="2684145"/>
                  </a:lnTo>
                  <a:lnTo>
                    <a:pt x="2806700" y="0"/>
                  </a:lnTo>
                  <a:lnTo>
                    <a:pt x="0" y="0"/>
                  </a:lnTo>
                  <a:lnTo>
                    <a:pt x="0" y="268414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8950" y="4663694"/>
              <a:ext cx="98425" cy="114173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6470650" y="2705734"/>
            <a:ext cx="3235960" cy="2058670"/>
          </a:xfrm>
          <a:custGeom>
            <a:avLst/>
            <a:gdLst/>
            <a:ahLst/>
            <a:cxnLst/>
            <a:rect l="l" t="t" r="r" b="b"/>
            <a:pathLst>
              <a:path w="3235959" h="2058670">
                <a:moveTo>
                  <a:pt x="3235706" y="2020316"/>
                </a:moveTo>
                <a:lnTo>
                  <a:pt x="3223006" y="2013966"/>
                </a:lnTo>
                <a:lnTo>
                  <a:pt x="3159506" y="1982216"/>
                </a:lnTo>
                <a:lnTo>
                  <a:pt x="3159506" y="2013966"/>
                </a:lnTo>
                <a:lnTo>
                  <a:pt x="44450" y="2013966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2013966"/>
                </a:lnTo>
                <a:lnTo>
                  <a:pt x="31750" y="2015998"/>
                </a:lnTo>
                <a:lnTo>
                  <a:pt x="31750" y="2026666"/>
                </a:lnTo>
                <a:lnTo>
                  <a:pt x="3159506" y="2026666"/>
                </a:lnTo>
                <a:lnTo>
                  <a:pt x="3159506" y="2058416"/>
                </a:lnTo>
                <a:lnTo>
                  <a:pt x="3223006" y="2026666"/>
                </a:lnTo>
                <a:lnTo>
                  <a:pt x="3235706" y="2020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578472" y="2555824"/>
            <a:ext cx="607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0" spc="-10" dirty="0">
                <a:latin typeface="Cambria Math"/>
                <a:cs typeface="Cambria Math"/>
              </a:rPr>
              <a:t>𝐽</a:t>
            </a:r>
            <a:r>
              <a:rPr sz="1725" b="0" spc="-15" baseline="-14492" dirty="0">
                <a:latin typeface="Cambria Math"/>
                <a:cs typeface="Cambria Math"/>
              </a:rPr>
              <a:t>𝑒</a:t>
            </a:r>
            <a:r>
              <a:rPr sz="1600" b="0" spc="-10" dirty="0">
                <a:latin typeface="Cambria Math"/>
                <a:cs typeface="Cambria Math"/>
              </a:rPr>
              <a:t>(𝑎</a:t>
            </a:r>
            <a:r>
              <a:rPr sz="1725" b="0" spc="-15" baseline="-14492" dirty="0">
                <a:latin typeface="Cambria Math"/>
                <a:cs typeface="Cambria Math"/>
              </a:rPr>
              <a:t>1</a:t>
            </a:r>
            <a:r>
              <a:rPr sz="1600" b="0" spc="-10" dirty="0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13976" y="4569078"/>
            <a:ext cx="270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mbria Math"/>
                <a:cs typeface="Cambria Math"/>
              </a:rPr>
              <a:t>𝑎</a:t>
            </a:r>
            <a:r>
              <a:rPr sz="1725" spc="-37" baseline="-14492" dirty="0">
                <a:latin typeface="Cambria Math"/>
                <a:cs typeface="Cambria Math"/>
              </a:rPr>
              <a:t>1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45350" y="2882011"/>
            <a:ext cx="1780539" cy="451484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40640" marR="30480" indent="-3175">
              <a:lnSpc>
                <a:spcPts val="1670"/>
              </a:lnSpc>
              <a:spcBef>
                <a:spcPts val="165"/>
              </a:spcBef>
            </a:pPr>
            <a:r>
              <a:rPr sz="1400" dirty="0">
                <a:latin typeface="Cambria Math"/>
                <a:cs typeface="Cambria Math"/>
              </a:rPr>
              <a:t>𝒂</a:t>
            </a:r>
            <a:r>
              <a:rPr sz="1500" baseline="-16666" dirty="0">
                <a:latin typeface="Cambria Math"/>
                <a:cs typeface="Cambria Math"/>
              </a:rPr>
              <a:t>𝟏</a:t>
            </a:r>
            <a:r>
              <a:rPr sz="1500" spc="232" baseline="-16666" dirty="0">
                <a:latin typeface="Cambria Math"/>
                <a:cs typeface="Cambria Math"/>
              </a:rPr>
              <a:t> </a:t>
            </a:r>
            <a:r>
              <a:rPr sz="1400" b="1" dirty="0">
                <a:latin typeface="Calibri"/>
                <a:cs typeface="Calibri"/>
              </a:rPr>
              <a:t>inicializado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em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uma </a:t>
            </a:r>
            <a:r>
              <a:rPr sz="1400" b="1" dirty="0">
                <a:latin typeface="Calibri"/>
                <a:cs typeface="Calibri"/>
              </a:rPr>
              <a:t>posição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após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mínimo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99527" y="4776342"/>
            <a:ext cx="5397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67" baseline="-21825" dirty="0">
                <a:latin typeface="Cambria Math"/>
                <a:cs typeface="Cambria Math"/>
              </a:rPr>
              <a:t>𝑎</a:t>
            </a:r>
            <a:r>
              <a:rPr sz="1000" spc="45" dirty="0">
                <a:latin typeface="Cambria Math"/>
                <a:cs typeface="Cambria Math"/>
              </a:rPr>
              <a:t>ótimo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2986" y="4934839"/>
            <a:ext cx="1057910" cy="361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96850" algn="ctr">
              <a:lnSpc>
                <a:spcPts val="1070"/>
              </a:lnSpc>
              <a:spcBef>
                <a:spcPts val="120"/>
              </a:spcBef>
            </a:pPr>
            <a:r>
              <a:rPr sz="1000" spc="35" dirty="0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ts val="1550"/>
              </a:lnSpc>
            </a:pPr>
            <a:r>
              <a:rPr sz="1400" dirty="0">
                <a:latin typeface="Calibri"/>
                <a:cs typeface="Calibri"/>
              </a:rPr>
              <a:t>mínimo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global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01150" y="4937505"/>
            <a:ext cx="100965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35" dirty="0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81261" y="4779009"/>
            <a:ext cx="5664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60" baseline="-21825" dirty="0">
                <a:latin typeface="Cambria Math"/>
                <a:cs typeface="Cambria Math"/>
              </a:rPr>
              <a:t>𝑎</a:t>
            </a:r>
            <a:r>
              <a:rPr sz="1000" spc="40" dirty="0">
                <a:latin typeface="Cambria Math"/>
                <a:cs typeface="Cambria Math"/>
              </a:rPr>
              <a:t>inicial</a:t>
            </a:r>
            <a:endParaRPr sz="100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205469" y="3195129"/>
            <a:ext cx="1385570" cy="1653539"/>
            <a:chOff x="8205469" y="3195129"/>
            <a:chExt cx="1385570" cy="1653539"/>
          </a:xfrm>
        </p:grpSpPr>
        <p:sp>
          <p:nvSpPr>
            <p:cNvPr id="16" name="object 16"/>
            <p:cNvSpPr/>
            <p:nvPr/>
          </p:nvSpPr>
          <p:spPr>
            <a:xfrm>
              <a:off x="9362693" y="3648075"/>
              <a:ext cx="0" cy="1080135"/>
            </a:xfrm>
            <a:custGeom>
              <a:avLst/>
              <a:gdLst/>
              <a:ahLst/>
              <a:cxnLst/>
              <a:rect l="l" t="t" r="r" b="b"/>
              <a:pathLst>
                <a:path h="1080135">
                  <a:moveTo>
                    <a:pt x="0" y="0"/>
                  </a:moveTo>
                  <a:lnTo>
                    <a:pt x="0" y="1080008"/>
                  </a:lnTo>
                </a:path>
              </a:pathLst>
            </a:custGeom>
            <a:ln w="190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05469" y="4772025"/>
              <a:ext cx="1148080" cy="76200"/>
            </a:xfrm>
            <a:custGeom>
              <a:avLst/>
              <a:gdLst/>
              <a:ahLst/>
              <a:cxnLst/>
              <a:rect l="l" t="t" r="r" b="b"/>
              <a:pathLst>
                <a:path w="1148079" h="76200">
                  <a:moveTo>
                    <a:pt x="76073" y="0"/>
                  </a:moveTo>
                  <a:lnTo>
                    <a:pt x="0" y="38354"/>
                  </a:lnTo>
                  <a:lnTo>
                    <a:pt x="76200" y="76200"/>
                  </a:lnTo>
                  <a:lnTo>
                    <a:pt x="76142" y="41401"/>
                  </a:lnTo>
                  <a:lnTo>
                    <a:pt x="63500" y="41401"/>
                  </a:lnTo>
                  <a:lnTo>
                    <a:pt x="63500" y="35051"/>
                  </a:lnTo>
                  <a:lnTo>
                    <a:pt x="76131" y="35022"/>
                  </a:lnTo>
                  <a:lnTo>
                    <a:pt x="76073" y="0"/>
                  </a:lnTo>
                  <a:close/>
                </a:path>
                <a:path w="1148079" h="76200">
                  <a:moveTo>
                    <a:pt x="76131" y="35022"/>
                  </a:moveTo>
                  <a:lnTo>
                    <a:pt x="63500" y="35051"/>
                  </a:lnTo>
                  <a:lnTo>
                    <a:pt x="63500" y="41401"/>
                  </a:lnTo>
                  <a:lnTo>
                    <a:pt x="76141" y="41372"/>
                  </a:lnTo>
                  <a:lnTo>
                    <a:pt x="76131" y="35022"/>
                  </a:lnTo>
                  <a:close/>
                </a:path>
                <a:path w="1148079" h="76200">
                  <a:moveTo>
                    <a:pt x="76141" y="41372"/>
                  </a:moveTo>
                  <a:lnTo>
                    <a:pt x="63500" y="41401"/>
                  </a:lnTo>
                  <a:lnTo>
                    <a:pt x="76142" y="41401"/>
                  </a:lnTo>
                  <a:close/>
                </a:path>
                <a:path w="1148079" h="76200">
                  <a:moveTo>
                    <a:pt x="1148079" y="32512"/>
                  </a:moveTo>
                  <a:lnTo>
                    <a:pt x="76131" y="35022"/>
                  </a:lnTo>
                  <a:lnTo>
                    <a:pt x="76141" y="41372"/>
                  </a:lnTo>
                  <a:lnTo>
                    <a:pt x="1148079" y="38862"/>
                  </a:lnTo>
                  <a:lnTo>
                    <a:pt x="1148079" y="3251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179940" y="3209417"/>
              <a:ext cx="396875" cy="908050"/>
            </a:xfrm>
            <a:custGeom>
              <a:avLst/>
              <a:gdLst/>
              <a:ahLst/>
              <a:cxnLst/>
              <a:rect l="l" t="t" r="r" b="b"/>
              <a:pathLst>
                <a:path w="396875" h="908050">
                  <a:moveTo>
                    <a:pt x="396493" y="0"/>
                  </a:moveTo>
                  <a:lnTo>
                    <a:pt x="0" y="907923"/>
                  </a:lnTo>
                </a:path>
              </a:pathLst>
            </a:custGeom>
            <a:ln w="2857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13544" y="3555492"/>
              <a:ext cx="98425" cy="1143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582914" y="5469432"/>
            <a:ext cx="100965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35" dirty="0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587103" y="5437378"/>
            <a:ext cx="294640" cy="165735"/>
          </a:xfrm>
          <a:custGeom>
            <a:avLst/>
            <a:gdLst/>
            <a:ahLst/>
            <a:cxnLst/>
            <a:rect l="l" t="t" r="r" b="b"/>
            <a:pathLst>
              <a:path w="294640" h="165735">
                <a:moveTo>
                  <a:pt x="241553" y="0"/>
                </a:moveTo>
                <a:lnTo>
                  <a:pt x="239141" y="6731"/>
                </a:lnTo>
                <a:lnTo>
                  <a:pt x="248739" y="10872"/>
                </a:lnTo>
                <a:lnTo>
                  <a:pt x="256968" y="16621"/>
                </a:lnTo>
                <a:lnTo>
                  <a:pt x="276685" y="54816"/>
                </a:lnTo>
                <a:lnTo>
                  <a:pt x="279146" y="81788"/>
                </a:lnTo>
                <a:lnTo>
                  <a:pt x="278528" y="96359"/>
                </a:lnTo>
                <a:lnTo>
                  <a:pt x="263790" y="141037"/>
                </a:lnTo>
                <a:lnTo>
                  <a:pt x="239395" y="158457"/>
                </a:lnTo>
                <a:lnTo>
                  <a:pt x="241553" y="165163"/>
                </a:lnTo>
                <a:lnTo>
                  <a:pt x="280543" y="136271"/>
                </a:lnTo>
                <a:lnTo>
                  <a:pt x="293294" y="97819"/>
                </a:lnTo>
                <a:lnTo>
                  <a:pt x="294131" y="82677"/>
                </a:lnTo>
                <a:lnTo>
                  <a:pt x="293294" y="67532"/>
                </a:lnTo>
                <a:lnTo>
                  <a:pt x="280543" y="28956"/>
                </a:lnTo>
                <a:lnTo>
                  <a:pt x="253503" y="4310"/>
                </a:lnTo>
                <a:lnTo>
                  <a:pt x="241553" y="0"/>
                </a:lnTo>
                <a:close/>
              </a:path>
              <a:path w="294640" h="165735">
                <a:moveTo>
                  <a:pt x="52704" y="0"/>
                </a:moveTo>
                <a:lnTo>
                  <a:pt x="13716" y="28956"/>
                </a:lnTo>
                <a:lnTo>
                  <a:pt x="857" y="67532"/>
                </a:lnTo>
                <a:lnTo>
                  <a:pt x="0" y="82677"/>
                </a:lnTo>
                <a:lnTo>
                  <a:pt x="855" y="97819"/>
                </a:lnTo>
                <a:lnTo>
                  <a:pt x="13589" y="136271"/>
                </a:lnTo>
                <a:lnTo>
                  <a:pt x="52704" y="165163"/>
                </a:lnTo>
                <a:lnTo>
                  <a:pt x="54864" y="158457"/>
                </a:lnTo>
                <a:lnTo>
                  <a:pt x="45430" y="154287"/>
                </a:lnTo>
                <a:lnTo>
                  <a:pt x="37306" y="148482"/>
                </a:lnTo>
                <a:lnTo>
                  <a:pt x="17573" y="109585"/>
                </a:lnTo>
                <a:lnTo>
                  <a:pt x="15113" y="81788"/>
                </a:lnTo>
                <a:lnTo>
                  <a:pt x="15730" y="67665"/>
                </a:lnTo>
                <a:lnTo>
                  <a:pt x="30489" y="23965"/>
                </a:lnTo>
                <a:lnTo>
                  <a:pt x="55118" y="6731"/>
                </a:lnTo>
                <a:lnTo>
                  <a:pt x="52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635495" y="5379466"/>
            <a:ext cx="32194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gradiente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positivo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𝑎</a:t>
            </a:r>
            <a:r>
              <a:rPr sz="1500" baseline="-16666" dirty="0">
                <a:latin typeface="Cambria Math"/>
                <a:cs typeface="Cambria Math"/>
              </a:rPr>
              <a:t>1</a:t>
            </a:r>
            <a:r>
              <a:rPr sz="1500" spc="337" baseline="-16666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=</a:t>
            </a:r>
            <a:r>
              <a:rPr sz="1400" spc="80" dirty="0">
                <a:latin typeface="Cambria Math"/>
                <a:cs typeface="Cambria Math"/>
              </a:rPr>
              <a:t> </a:t>
            </a:r>
            <a:r>
              <a:rPr sz="1400" spc="55" dirty="0">
                <a:latin typeface="Cambria Math"/>
                <a:cs typeface="Cambria Math"/>
              </a:rPr>
              <a:t>𝑎</a:t>
            </a:r>
            <a:r>
              <a:rPr sz="1500" spc="82" baseline="30555" dirty="0">
                <a:latin typeface="Cambria Math"/>
                <a:cs typeface="Cambria Math"/>
              </a:rPr>
              <a:t>inicial</a:t>
            </a:r>
            <a:r>
              <a:rPr sz="1500" spc="240" baseline="3055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−</a:t>
            </a:r>
            <a:r>
              <a:rPr sz="1400" spc="-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𝛼𝛻𝐽</a:t>
            </a:r>
            <a:r>
              <a:rPr sz="1500" baseline="-16666" dirty="0">
                <a:latin typeface="Cambria Math"/>
                <a:cs typeface="Cambria Math"/>
              </a:rPr>
              <a:t>𝑒</a:t>
            </a:r>
            <a:r>
              <a:rPr sz="1500" spc="697" baseline="-16666" dirty="0">
                <a:latin typeface="Cambria Math"/>
                <a:cs typeface="Cambria Math"/>
              </a:rPr>
              <a:t> </a:t>
            </a:r>
            <a:r>
              <a:rPr sz="1400" spc="-25" dirty="0">
                <a:latin typeface="Cambria Math"/>
                <a:cs typeface="Cambria Math"/>
              </a:rPr>
              <a:t>𝑎</a:t>
            </a:r>
            <a:r>
              <a:rPr sz="1500" spc="-37" baseline="-16666" dirty="0">
                <a:latin typeface="Cambria Math"/>
                <a:cs typeface="Cambria Math"/>
              </a:rPr>
              <a:t>1</a:t>
            </a:r>
            <a:endParaRPr sz="1500" baseline="-16666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34200" y="5592876"/>
            <a:ext cx="27006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𝑎</a:t>
            </a:r>
            <a:r>
              <a:rPr sz="1500" baseline="-16666" dirty="0">
                <a:latin typeface="Cambria Math"/>
                <a:cs typeface="Cambria Math"/>
              </a:rPr>
              <a:t>1</a:t>
            </a:r>
            <a:r>
              <a:rPr sz="1500" spc="202" baseline="-16666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diminiu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aproxima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10" dirty="0">
                <a:latin typeface="Calibri"/>
                <a:cs typeface="Calibri"/>
              </a:rPr>
              <a:t> mínimo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090" y="1979929"/>
            <a:ext cx="2623820" cy="1839595"/>
          </a:xfrm>
          <a:custGeom>
            <a:avLst/>
            <a:gdLst/>
            <a:ahLst/>
            <a:cxnLst/>
            <a:rect l="l" t="t" r="r" b="b"/>
            <a:pathLst>
              <a:path w="2623820" h="1839595">
                <a:moveTo>
                  <a:pt x="2623693" y="1801241"/>
                </a:moveTo>
                <a:lnTo>
                  <a:pt x="2610993" y="1794891"/>
                </a:lnTo>
                <a:lnTo>
                  <a:pt x="2547493" y="1763141"/>
                </a:lnTo>
                <a:lnTo>
                  <a:pt x="2547493" y="1794891"/>
                </a:lnTo>
                <a:lnTo>
                  <a:pt x="44450" y="1794891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1794891"/>
                </a:lnTo>
                <a:lnTo>
                  <a:pt x="31750" y="1800098"/>
                </a:lnTo>
                <a:lnTo>
                  <a:pt x="31750" y="1807591"/>
                </a:lnTo>
                <a:lnTo>
                  <a:pt x="2547493" y="1807591"/>
                </a:lnTo>
                <a:lnTo>
                  <a:pt x="2547493" y="1839341"/>
                </a:lnTo>
                <a:lnTo>
                  <a:pt x="2610993" y="1807591"/>
                </a:lnTo>
                <a:lnTo>
                  <a:pt x="2623693" y="180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2576" y="1914525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8535" y="3490721"/>
            <a:ext cx="867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097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#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spc="-20" dirty="0">
                <a:latin typeface="Calibri"/>
                <a:cs typeface="Calibri"/>
              </a:rPr>
              <a:t>iterações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7052" y="2331720"/>
            <a:ext cx="2210435" cy="1387475"/>
          </a:xfrm>
          <a:custGeom>
            <a:avLst/>
            <a:gdLst/>
            <a:ahLst/>
            <a:cxnLst/>
            <a:rect l="l" t="t" r="r" b="b"/>
            <a:pathLst>
              <a:path w="2210435" h="1387475">
                <a:moveTo>
                  <a:pt x="0" y="0"/>
                </a:moveTo>
                <a:lnTo>
                  <a:pt x="5766" y="51328"/>
                </a:lnTo>
                <a:lnTo>
                  <a:pt x="11617" y="102588"/>
                </a:lnTo>
                <a:lnTo>
                  <a:pt x="17641" y="153711"/>
                </a:lnTo>
                <a:lnTo>
                  <a:pt x="23923" y="204630"/>
                </a:lnTo>
                <a:lnTo>
                  <a:pt x="30549" y="255275"/>
                </a:lnTo>
                <a:lnTo>
                  <a:pt x="37604" y="305579"/>
                </a:lnTo>
                <a:lnTo>
                  <a:pt x="45176" y="355473"/>
                </a:lnTo>
                <a:lnTo>
                  <a:pt x="53349" y="404888"/>
                </a:lnTo>
                <a:lnTo>
                  <a:pt x="62210" y="453757"/>
                </a:lnTo>
                <a:lnTo>
                  <a:pt x="71845" y="502011"/>
                </a:lnTo>
                <a:lnTo>
                  <a:pt x="82340" y="549583"/>
                </a:lnTo>
                <a:lnTo>
                  <a:pt x="93781" y="596402"/>
                </a:lnTo>
                <a:lnTo>
                  <a:pt x="106254" y="642402"/>
                </a:lnTo>
                <a:lnTo>
                  <a:pt x="119845" y="687514"/>
                </a:lnTo>
                <a:lnTo>
                  <a:pt x="134639" y="731669"/>
                </a:lnTo>
                <a:lnTo>
                  <a:pt x="150724" y="774800"/>
                </a:lnTo>
                <a:lnTo>
                  <a:pt x="168184" y="816838"/>
                </a:lnTo>
                <a:lnTo>
                  <a:pt x="187106" y="857714"/>
                </a:lnTo>
                <a:lnTo>
                  <a:pt x="207576" y="897361"/>
                </a:lnTo>
                <a:lnTo>
                  <a:pt x="229680" y="935710"/>
                </a:lnTo>
                <a:lnTo>
                  <a:pt x="253504" y="972693"/>
                </a:lnTo>
                <a:lnTo>
                  <a:pt x="279134" y="1008240"/>
                </a:lnTo>
                <a:lnTo>
                  <a:pt x="306656" y="1042286"/>
                </a:lnTo>
                <a:lnTo>
                  <a:pt x="336155" y="1074759"/>
                </a:lnTo>
                <a:lnTo>
                  <a:pt x="367719" y="1105594"/>
                </a:lnTo>
                <a:lnTo>
                  <a:pt x="401432" y="1134720"/>
                </a:lnTo>
                <a:lnTo>
                  <a:pt x="437381" y="1162071"/>
                </a:lnTo>
                <a:lnTo>
                  <a:pt x="475653" y="1187577"/>
                </a:lnTo>
                <a:lnTo>
                  <a:pt x="541810" y="1224472"/>
                </a:lnTo>
                <a:lnTo>
                  <a:pt x="577090" y="1241171"/>
                </a:lnTo>
                <a:lnTo>
                  <a:pt x="613781" y="1256751"/>
                </a:lnTo>
                <a:lnTo>
                  <a:pt x="651836" y="1271247"/>
                </a:lnTo>
                <a:lnTo>
                  <a:pt x="691212" y="1284693"/>
                </a:lnTo>
                <a:lnTo>
                  <a:pt x="731866" y="1297125"/>
                </a:lnTo>
                <a:lnTo>
                  <a:pt x="773753" y="1308577"/>
                </a:lnTo>
                <a:lnTo>
                  <a:pt x="816829" y="1319085"/>
                </a:lnTo>
                <a:lnTo>
                  <a:pt x="861050" y="1328684"/>
                </a:lnTo>
                <a:lnTo>
                  <a:pt x="906372" y="1337409"/>
                </a:lnTo>
                <a:lnTo>
                  <a:pt x="952751" y="1345294"/>
                </a:lnTo>
                <a:lnTo>
                  <a:pt x="1000142" y="1352374"/>
                </a:lnTo>
                <a:lnTo>
                  <a:pt x="1048502" y="1358685"/>
                </a:lnTo>
                <a:lnTo>
                  <a:pt x="1097787" y="1364262"/>
                </a:lnTo>
                <a:lnTo>
                  <a:pt x="1147953" y="1369139"/>
                </a:lnTo>
                <a:lnTo>
                  <a:pt x="1198955" y="1373351"/>
                </a:lnTo>
                <a:lnTo>
                  <a:pt x="1250749" y="1376934"/>
                </a:lnTo>
                <a:lnTo>
                  <a:pt x="1303292" y="1379922"/>
                </a:lnTo>
                <a:lnTo>
                  <a:pt x="1356540" y="1382351"/>
                </a:lnTo>
                <a:lnTo>
                  <a:pt x="1410447" y="1384255"/>
                </a:lnTo>
                <a:lnTo>
                  <a:pt x="1464971" y="1385669"/>
                </a:lnTo>
                <a:lnTo>
                  <a:pt x="1520067" y="1386629"/>
                </a:lnTo>
                <a:lnTo>
                  <a:pt x="1575692" y="1387169"/>
                </a:lnTo>
                <a:lnTo>
                  <a:pt x="1631800" y="1387324"/>
                </a:lnTo>
                <a:lnTo>
                  <a:pt x="1688348" y="1387129"/>
                </a:lnTo>
                <a:lnTo>
                  <a:pt x="1745292" y="1386620"/>
                </a:lnTo>
                <a:lnTo>
                  <a:pt x="1802588" y="1385831"/>
                </a:lnTo>
                <a:lnTo>
                  <a:pt x="1860192" y="1384797"/>
                </a:lnTo>
                <a:lnTo>
                  <a:pt x="1918060" y="1383553"/>
                </a:lnTo>
                <a:lnTo>
                  <a:pt x="1976147" y="1382134"/>
                </a:lnTo>
                <a:lnTo>
                  <a:pt x="2034410" y="1380575"/>
                </a:lnTo>
                <a:lnTo>
                  <a:pt x="2092805" y="1378912"/>
                </a:lnTo>
                <a:lnTo>
                  <a:pt x="2151287" y="1377178"/>
                </a:lnTo>
                <a:lnTo>
                  <a:pt x="2209812" y="1375409"/>
                </a:lnTo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92270" y="1998852"/>
            <a:ext cx="2623820" cy="1839595"/>
          </a:xfrm>
          <a:custGeom>
            <a:avLst/>
            <a:gdLst/>
            <a:ahLst/>
            <a:cxnLst/>
            <a:rect l="l" t="t" r="r" b="b"/>
            <a:pathLst>
              <a:path w="2623820" h="1839595">
                <a:moveTo>
                  <a:pt x="2623693" y="1801241"/>
                </a:moveTo>
                <a:lnTo>
                  <a:pt x="2610993" y="1794891"/>
                </a:lnTo>
                <a:lnTo>
                  <a:pt x="2547493" y="1763141"/>
                </a:lnTo>
                <a:lnTo>
                  <a:pt x="2547493" y="1794891"/>
                </a:lnTo>
                <a:lnTo>
                  <a:pt x="44450" y="1794891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1794891"/>
                </a:lnTo>
                <a:lnTo>
                  <a:pt x="31750" y="1799971"/>
                </a:lnTo>
                <a:lnTo>
                  <a:pt x="31750" y="1807591"/>
                </a:lnTo>
                <a:lnTo>
                  <a:pt x="2547493" y="1807591"/>
                </a:lnTo>
                <a:lnTo>
                  <a:pt x="2547493" y="1839341"/>
                </a:lnTo>
                <a:lnTo>
                  <a:pt x="2610993" y="1807591"/>
                </a:lnTo>
                <a:lnTo>
                  <a:pt x="2623693" y="180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9086" y="1933447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4969" y="3509517"/>
            <a:ext cx="867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097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#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spc="-20" dirty="0">
                <a:latin typeface="Calibri"/>
                <a:cs typeface="Calibri"/>
              </a:rPr>
              <a:t>iterações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19600" y="2415539"/>
            <a:ext cx="2209800" cy="1104900"/>
          </a:xfrm>
          <a:custGeom>
            <a:avLst/>
            <a:gdLst/>
            <a:ahLst/>
            <a:cxnLst/>
            <a:rect l="l" t="t" r="r" b="b"/>
            <a:pathLst>
              <a:path w="2209800" h="1104900">
                <a:moveTo>
                  <a:pt x="0" y="0"/>
                </a:moveTo>
                <a:lnTo>
                  <a:pt x="26998" y="40867"/>
                </a:lnTo>
                <a:lnTo>
                  <a:pt x="54063" y="81673"/>
                </a:lnTo>
                <a:lnTo>
                  <a:pt x="81260" y="122355"/>
                </a:lnTo>
                <a:lnTo>
                  <a:pt x="108655" y="162851"/>
                </a:lnTo>
                <a:lnTo>
                  <a:pt x="136315" y="203098"/>
                </a:lnTo>
                <a:lnTo>
                  <a:pt x="164306" y="243036"/>
                </a:lnTo>
                <a:lnTo>
                  <a:pt x="192693" y="282601"/>
                </a:lnTo>
                <a:lnTo>
                  <a:pt x="221544" y="321733"/>
                </a:lnTo>
                <a:lnTo>
                  <a:pt x="250924" y="360368"/>
                </a:lnTo>
                <a:lnTo>
                  <a:pt x="280899" y="398445"/>
                </a:lnTo>
                <a:lnTo>
                  <a:pt x="311535" y="435903"/>
                </a:lnTo>
                <a:lnTo>
                  <a:pt x="342900" y="472678"/>
                </a:lnTo>
                <a:lnTo>
                  <a:pt x="375057" y="508709"/>
                </a:lnTo>
                <a:lnTo>
                  <a:pt x="408075" y="543933"/>
                </a:lnTo>
                <a:lnTo>
                  <a:pt x="442019" y="578290"/>
                </a:lnTo>
                <a:lnTo>
                  <a:pt x="476955" y="611716"/>
                </a:lnTo>
                <a:lnTo>
                  <a:pt x="512949" y="644150"/>
                </a:lnTo>
                <a:lnTo>
                  <a:pt x="550068" y="675530"/>
                </a:lnTo>
                <a:lnTo>
                  <a:pt x="588378" y="705794"/>
                </a:lnTo>
                <a:lnTo>
                  <a:pt x="627944" y="734880"/>
                </a:lnTo>
                <a:lnTo>
                  <a:pt x="668833" y="762725"/>
                </a:lnTo>
                <a:lnTo>
                  <a:pt x="711111" y="789268"/>
                </a:lnTo>
                <a:lnTo>
                  <a:pt x="754845" y="814447"/>
                </a:lnTo>
                <a:lnTo>
                  <a:pt x="800100" y="838200"/>
                </a:lnTo>
                <a:lnTo>
                  <a:pt x="839472" y="856713"/>
                </a:lnTo>
                <a:lnTo>
                  <a:pt x="881258" y="874181"/>
                </a:lnTo>
                <a:lnTo>
                  <a:pt x="925265" y="890647"/>
                </a:lnTo>
                <a:lnTo>
                  <a:pt x="971296" y="906151"/>
                </a:lnTo>
                <a:lnTo>
                  <a:pt x="1019156" y="920737"/>
                </a:lnTo>
                <a:lnTo>
                  <a:pt x="1068651" y="934447"/>
                </a:lnTo>
                <a:lnTo>
                  <a:pt x="1119586" y="947322"/>
                </a:lnTo>
                <a:lnTo>
                  <a:pt x="1171766" y="959406"/>
                </a:lnTo>
                <a:lnTo>
                  <a:pt x="1224995" y="970740"/>
                </a:lnTo>
                <a:lnTo>
                  <a:pt x="1279079" y="981365"/>
                </a:lnTo>
                <a:lnTo>
                  <a:pt x="1333823" y="991326"/>
                </a:lnTo>
                <a:lnTo>
                  <a:pt x="1389032" y="1000663"/>
                </a:lnTo>
                <a:lnTo>
                  <a:pt x="1444511" y="1009419"/>
                </a:lnTo>
                <a:lnTo>
                  <a:pt x="1500065" y="1017636"/>
                </a:lnTo>
                <a:lnTo>
                  <a:pt x="1555499" y="1025356"/>
                </a:lnTo>
                <a:lnTo>
                  <a:pt x="1610618" y="1032622"/>
                </a:lnTo>
                <a:lnTo>
                  <a:pt x="1665227" y="1039475"/>
                </a:lnTo>
                <a:lnTo>
                  <a:pt x="1719132" y="1045958"/>
                </a:lnTo>
                <a:lnTo>
                  <a:pt x="1772136" y="1052113"/>
                </a:lnTo>
                <a:lnTo>
                  <a:pt x="1824046" y="1057983"/>
                </a:lnTo>
                <a:lnTo>
                  <a:pt x="1874666" y="1063608"/>
                </a:lnTo>
                <a:lnTo>
                  <a:pt x="1923801" y="1069032"/>
                </a:lnTo>
                <a:lnTo>
                  <a:pt x="1971257" y="1074296"/>
                </a:lnTo>
                <a:lnTo>
                  <a:pt x="2016838" y="1079444"/>
                </a:lnTo>
                <a:lnTo>
                  <a:pt x="2060349" y="1084516"/>
                </a:lnTo>
                <a:lnTo>
                  <a:pt x="2101596" y="1089556"/>
                </a:lnTo>
                <a:lnTo>
                  <a:pt x="2140383" y="1094605"/>
                </a:lnTo>
                <a:lnTo>
                  <a:pt x="2176516" y="1099705"/>
                </a:lnTo>
                <a:lnTo>
                  <a:pt x="2209800" y="1104900"/>
                </a:lnTo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61934" y="2065273"/>
            <a:ext cx="2623820" cy="1839595"/>
          </a:xfrm>
          <a:custGeom>
            <a:avLst/>
            <a:gdLst/>
            <a:ahLst/>
            <a:cxnLst/>
            <a:rect l="l" t="t" r="r" b="b"/>
            <a:pathLst>
              <a:path w="2623820" h="1839595">
                <a:moveTo>
                  <a:pt x="2623693" y="1801241"/>
                </a:moveTo>
                <a:lnTo>
                  <a:pt x="2610993" y="1794891"/>
                </a:lnTo>
                <a:lnTo>
                  <a:pt x="2547493" y="1763141"/>
                </a:lnTo>
                <a:lnTo>
                  <a:pt x="2547493" y="1794891"/>
                </a:lnTo>
                <a:lnTo>
                  <a:pt x="44450" y="1794891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1794891"/>
                </a:lnTo>
                <a:lnTo>
                  <a:pt x="31750" y="1799971"/>
                </a:lnTo>
                <a:lnTo>
                  <a:pt x="31750" y="1807591"/>
                </a:lnTo>
                <a:lnTo>
                  <a:pt x="2547493" y="1807591"/>
                </a:lnTo>
                <a:lnTo>
                  <a:pt x="2547493" y="1839341"/>
                </a:lnTo>
                <a:lnTo>
                  <a:pt x="2610993" y="1807591"/>
                </a:lnTo>
                <a:lnTo>
                  <a:pt x="2623693" y="180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549385" y="1999869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15268" y="3576066"/>
            <a:ext cx="867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097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#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spc="-20" dirty="0">
                <a:latin typeface="Calibri"/>
                <a:cs typeface="Calibri"/>
              </a:rPr>
              <a:t>iterações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511540" y="2247900"/>
            <a:ext cx="1676400" cy="929640"/>
          </a:xfrm>
          <a:custGeom>
            <a:avLst/>
            <a:gdLst/>
            <a:ahLst/>
            <a:cxnLst/>
            <a:rect l="l" t="t" r="r" b="b"/>
            <a:pathLst>
              <a:path w="1676400" h="929639">
                <a:moveTo>
                  <a:pt x="0" y="929639"/>
                </a:moveTo>
                <a:lnTo>
                  <a:pt x="58906" y="928136"/>
                </a:lnTo>
                <a:lnTo>
                  <a:pt x="117739" y="926595"/>
                </a:lnTo>
                <a:lnTo>
                  <a:pt x="176424" y="924976"/>
                </a:lnTo>
                <a:lnTo>
                  <a:pt x="234887" y="923241"/>
                </a:lnTo>
                <a:lnTo>
                  <a:pt x="293054" y="921353"/>
                </a:lnTo>
                <a:lnTo>
                  <a:pt x="350851" y="919272"/>
                </a:lnTo>
                <a:lnTo>
                  <a:pt x="408205" y="916959"/>
                </a:lnTo>
                <a:lnTo>
                  <a:pt x="465042" y="914377"/>
                </a:lnTo>
                <a:lnTo>
                  <a:pt x="521287" y="911487"/>
                </a:lnTo>
                <a:lnTo>
                  <a:pt x="576866" y="908250"/>
                </a:lnTo>
                <a:lnTo>
                  <a:pt x="631706" y="904628"/>
                </a:lnTo>
                <a:lnTo>
                  <a:pt x="685733" y="900581"/>
                </a:lnTo>
                <a:lnTo>
                  <a:pt x="738872" y="896073"/>
                </a:lnTo>
                <a:lnTo>
                  <a:pt x="791051" y="891063"/>
                </a:lnTo>
                <a:lnTo>
                  <a:pt x="842194" y="885514"/>
                </a:lnTo>
                <a:lnTo>
                  <a:pt x="892228" y="879387"/>
                </a:lnTo>
                <a:lnTo>
                  <a:pt x="941079" y="872644"/>
                </a:lnTo>
                <a:lnTo>
                  <a:pt x="988674" y="865246"/>
                </a:lnTo>
                <a:lnTo>
                  <a:pt x="1034937" y="857154"/>
                </a:lnTo>
                <a:lnTo>
                  <a:pt x="1079796" y="848330"/>
                </a:lnTo>
                <a:lnTo>
                  <a:pt x="1123176" y="838735"/>
                </a:lnTo>
                <a:lnTo>
                  <a:pt x="1165003" y="828332"/>
                </a:lnTo>
                <a:lnTo>
                  <a:pt x="1205203" y="817080"/>
                </a:lnTo>
                <a:lnTo>
                  <a:pt x="1243703" y="804943"/>
                </a:lnTo>
                <a:lnTo>
                  <a:pt x="1280429" y="791880"/>
                </a:lnTo>
                <a:lnTo>
                  <a:pt x="1348261" y="762827"/>
                </a:lnTo>
                <a:lnTo>
                  <a:pt x="1423328" y="719655"/>
                </a:lnTo>
                <a:lnTo>
                  <a:pt x="1462705" y="690085"/>
                </a:lnTo>
                <a:lnTo>
                  <a:pt x="1497629" y="658195"/>
                </a:lnTo>
                <a:lnTo>
                  <a:pt x="1528379" y="624129"/>
                </a:lnTo>
                <a:lnTo>
                  <a:pt x="1555233" y="588032"/>
                </a:lnTo>
                <a:lnTo>
                  <a:pt x="1578468" y="550051"/>
                </a:lnTo>
                <a:lnTo>
                  <a:pt x="1598364" y="510328"/>
                </a:lnTo>
                <a:lnTo>
                  <a:pt x="1615199" y="469011"/>
                </a:lnTo>
                <a:lnTo>
                  <a:pt x="1629251" y="426243"/>
                </a:lnTo>
                <a:lnTo>
                  <a:pt x="1640798" y="382170"/>
                </a:lnTo>
                <a:lnTo>
                  <a:pt x="1650118" y="336937"/>
                </a:lnTo>
                <a:lnTo>
                  <a:pt x="1657491" y="290688"/>
                </a:lnTo>
                <a:lnTo>
                  <a:pt x="1663193" y="243570"/>
                </a:lnTo>
                <a:lnTo>
                  <a:pt x="1667504" y="195726"/>
                </a:lnTo>
                <a:lnTo>
                  <a:pt x="1670702" y="147302"/>
                </a:lnTo>
                <a:lnTo>
                  <a:pt x="1673065" y="98443"/>
                </a:lnTo>
                <a:lnTo>
                  <a:pt x="1674871" y="49294"/>
                </a:lnTo>
                <a:lnTo>
                  <a:pt x="1676400" y="0"/>
                </a:lnTo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98620" y="4627752"/>
            <a:ext cx="2623820" cy="1839595"/>
          </a:xfrm>
          <a:custGeom>
            <a:avLst/>
            <a:gdLst/>
            <a:ahLst/>
            <a:cxnLst/>
            <a:rect l="l" t="t" r="r" b="b"/>
            <a:pathLst>
              <a:path w="2623820" h="1839595">
                <a:moveTo>
                  <a:pt x="2623693" y="1801291"/>
                </a:moveTo>
                <a:lnTo>
                  <a:pt x="2610993" y="1794941"/>
                </a:lnTo>
                <a:lnTo>
                  <a:pt x="2547493" y="1763191"/>
                </a:lnTo>
                <a:lnTo>
                  <a:pt x="2547493" y="1794941"/>
                </a:lnTo>
                <a:lnTo>
                  <a:pt x="44450" y="1794941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1794941"/>
                </a:lnTo>
                <a:lnTo>
                  <a:pt x="31750" y="1800047"/>
                </a:lnTo>
                <a:lnTo>
                  <a:pt x="31750" y="1807641"/>
                </a:lnTo>
                <a:lnTo>
                  <a:pt x="2547493" y="1807641"/>
                </a:lnTo>
                <a:lnTo>
                  <a:pt x="2547493" y="1839391"/>
                </a:lnTo>
                <a:lnTo>
                  <a:pt x="2610993" y="1807641"/>
                </a:lnTo>
                <a:lnTo>
                  <a:pt x="2623693" y="1801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385436" y="4562982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𝐽</a:t>
            </a:r>
            <a:r>
              <a:rPr sz="1950" spc="-15" baseline="-14957" dirty="0">
                <a:latin typeface="Cambria Math"/>
                <a:cs typeface="Cambria Math"/>
              </a:rPr>
              <a:t>𝑒</a:t>
            </a:r>
            <a:r>
              <a:rPr sz="1800" spc="-10" dirty="0">
                <a:latin typeface="Cambria Math"/>
                <a:cs typeface="Cambria Math"/>
              </a:rPr>
              <a:t>(𝒂)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51446" y="6139078"/>
            <a:ext cx="86804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#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iterações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96283" y="5422010"/>
            <a:ext cx="2422525" cy="464820"/>
          </a:xfrm>
          <a:custGeom>
            <a:avLst/>
            <a:gdLst/>
            <a:ahLst/>
            <a:cxnLst/>
            <a:rect l="l" t="t" r="r" b="b"/>
            <a:pathLst>
              <a:path w="2422525" h="464820">
                <a:moveTo>
                  <a:pt x="400303" y="464781"/>
                </a:moveTo>
                <a:lnTo>
                  <a:pt x="456821" y="461582"/>
                </a:lnTo>
                <a:lnTo>
                  <a:pt x="512188" y="457150"/>
                </a:lnTo>
                <a:lnTo>
                  <a:pt x="565269" y="450252"/>
                </a:lnTo>
                <a:lnTo>
                  <a:pt x="614928" y="439655"/>
                </a:lnTo>
                <a:lnTo>
                  <a:pt x="660031" y="424127"/>
                </a:lnTo>
                <a:lnTo>
                  <a:pt x="699443" y="402433"/>
                </a:lnTo>
                <a:lnTo>
                  <a:pt x="732027" y="373341"/>
                </a:lnTo>
                <a:lnTo>
                  <a:pt x="754337" y="341125"/>
                </a:lnTo>
                <a:lnTo>
                  <a:pt x="771292" y="303130"/>
                </a:lnTo>
                <a:lnTo>
                  <a:pt x="783661" y="260181"/>
                </a:lnTo>
                <a:lnTo>
                  <a:pt x="792210" y="213102"/>
                </a:lnTo>
                <a:lnTo>
                  <a:pt x="797704" y="162720"/>
                </a:lnTo>
                <a:lnTo>
                  <a:pt x="800911" y="109858"/>
                </a:lnTo>
                <a:lnTo>
                  <a:pt x="802597" y="55343"/>
                </a:lnTo>
                <a:lnTo>
                  <a:pt x="803528" y="0"/>
                </a:lnTo>
              </a:path>
              <a:path w="2422525" h="464820">
                <a:moveTo>
                  <a:pt x="1202943" y="464781"/>
                </a:moveTo>
                <a:lnTo>
                  <a:pt x="1146737" y="461582"/>
                </a:lnTo>
                <a:lnTo>
                  <a:pt x="1091653" y="457150"/>
                </a:lnTo>
                <a:lnTo>
                  <a:pt x="1038828" y="450252"/>
                </a:lnTo>
                <a:lnTo>
                  <a:pt x="989400" y="439655"/>
                </a:lnTo>
                <a:lnTo>
                  <a:pt x="944506" y="424127"/>
                </a:lnTo>
                <a:lnTo>
                  <a:pt x="905284" y="402433"/>
                </a:lnTo>
                <a:lnTo>
                  <a:pt x="872870" y="373341"/>
                </a:lnTo>
                <a:lnTo>
                  <a:pt x="850682" y="341125"/>
                </a:lnTo>
                <a:lnTo>
                  <a:pt x="833806" y="303130"/>
                </a:lnTo>
                <a:lnTo>
                  <a:pt x="821485" y="260181"/>
                </a:lnTo>
                <a:lnTo>
                  <a:pt x="812958" y="213102"/>
                </a:lnTo>
                <a:lnTo>
                  <a:pt x="807468" y="162720"/>
                </a:lnTo>
                <a:lnTo>
                  <a:pt x="804255" y="109858"/>
                </a:lnTo>
                <a:lnTo>
                  <a:pt x="802560" y="55343"/>
                </a:lnTo>
                <a:lnTo>
                  <a:pt x="801624" y="0"/>
                </a:lnTo>
              </a:path>
              <a:path w="2422525" h="464820">
                <a:moveTo>
                  <a:pt x="1202943" y="464781"/>
                </a:moveTo>
                <a:lnTo>
                  <a:pt x="1259197" y="461582"/>
                </a:lnTo>
                <a:lnTo>
                  <a:pt x="1314315" y="457150"/>
                </a:lnTo>
                <a:lnTo>
                  <a:pt x="1367162" y="450252"/>
                </a:lnTo>
                <a:lnTo>
                  <a:pt x="1416604" y="439655"/>
                </a:lnTo>
                <a:lnTo>
                  <a:pt x="1461505" y="424127"/>
                </a:lnTo>
                <a:lnTo>
                  <a:pt x="1500730" y="402433"/>
                </a:lnTo>
                <a:lnTo>
                  <a:pt x="1533143" y="373341"/>
                </a:lnTo>
                <a:lnTo>
                  <a:pt x="1555332" y="341125"/>
                </a:lnTo>
                <a:lnTo>
                  <a:pt x="1572206" y="303130"/>
                </a:lnTo>
                <a:lnTo>
                  <a:pt x="1584523" y="260181"/>
                </a:lnTo>
                <a:lnTo>
                  <a:pt x="1593040" y="213102"/>
                </a:lnTo>
                <a:lnTo>
                  <a:pt x="1598515" y="162720"/>
                </a:lnTo>
                <a:lnTo>
                  <a:pt x="1601706" y="109858"/>
                </a:lnTo>
                <a:lnTo>
                  <a:pt x="1603369" y="55343"/>
                </a:lnTo>
                <a:lnTo>
                  <a:pt x="1604264" y="0"/>
                </a:lnTo>
              </a:path>
              <a:path w="2422525" h="464820">
                <a:moveTo>
                  <a:pt x="2014346" y="464781"/>
                </a:moveTo>
                <a:lnTo>
                  <a:pt x="1957869" y="461582"/>
                </a:lnTo>
                <a:lnTo>
                  <a:pt x="1902518" y="457150"/>
                </a:lnTo>
                <a:lnTo>
                  <a:pt x="1849435" y="450252"/>
                </a:lnTo>
                <a:lnTo>
                  <a:pt x="1799762" y="439655"/>
                </a:lnTo>
                <a:lnTo>
                  <a:pt x="1754641" y="424127"/>
                </a:lnTo>
                <a:lnTo>
                  <a:pt x="1715214" y="402433"/>
                </a:lnTo>
                <a:lnTo>
                  <a:pt x="1682622" y="373341"/>
                </a:lnTo>
                <a:lnTo>
                  <a:pt x="1660350" y="341125"/>
                </a:lnTo>
                <a:lnTo>
                  <a:pt x="1643411" y="303130"/>
                </a:lnTo>
                <a:lnTo>
                  <a:pt x="1631045" y="260181"/>
                </a:lnTo>
                <a:lnTo>
                  <a:pt x="1622488" y="213102"/>
                </a:lnTo>
                <a:lnTo>
                  <a:pt x="1616979" y="162720"/>
                </a:lnTo>
                <a:lnTo>
                  <a:pt x="1613757" y="109858"/>
                </a:lnTo>
                <a:lnTo>
                  <a:pt x="1612058" y="55343"/>
                </a:lnTo>
                <a:lnTo>
                  <a:pt x="1611121" y="0"/>
                </a:lnTo>
              </a:path>
              <a:path w="2422525" h="464820">
                <a:moveTo>
                  <a:pt x="2021204" y="464781"/>
                </a:moveTo>
                <a:lnTo>
                  <a:pt x="2077451" y="461582"/>
                </a:lnTo>
                <a:lnTo>
                  <a:pt x="2132554" y="457150"/>
                </a:lnTo>
                <a:lnTo>
                  <a:pt x="2185383" y="450252"/>
                </a:lnTo>
                <a:lnTo>
                  <a:pt x="2234812" y="439655"/>
                </a:lnTo>
                <a:lnTo>
                  <a:pt x="2279711" y="424127"/>
                </a:lnTo>
                <a:lnTo>
                  <a:pt x="2318951" y="402433"/>
                </a:lnTo>
                <a:lnTo>
                  <a:pt x="2351405" y="373341"/>
                </a:lnTo>
                <a:lnTo>
                  <a:pt x="2373588" y="341125"/>
                </a:lnTo>
                <a:lnTo>
                  <a:pt x="2390449" y="303130"/>
                </a:lnTo>
                <a:lnTo>
                  <a:pt x="2402750" y="260181"/>
                </a:lnTo>
                <a:lnTo>
                  <a:pt x="2411253" y="213102"/>
                </a:lnTo>
                <a:lnTo>
                  <a:pt x="2416720" y="162720"/>
                </a:lnTo>
                <a:lnTo>
                  <a:pt x="2419913" y="109858"/>
                </a:lnTo>
                <a:lnTo>
                  <a:pt x="2421594" y="55343"/>
                </a:lnTo>
                <a:lnTo>
                  <a:pt x="2422524" y="0"/>
                </a:lnTo>
              </a:path>
              <a:path w="2422525" h="464820">
                <a:moveTo>
                  <a:pt x="401319" y="464781"/>
                </a:moveTo>
                <a:lnTo>
                  <a:pt x="345073" y="461582"/>
                </a:lnTo>
                <a:lnTo>
                  <a:pt x="289970" y="457150"/>
                </a:lnTo>
                <a:lnTo>
                  <a:pt x="237141" y="450252"/>
                </a:lnTo>
                <a:lnTo>
                  <a:pt x="187712" y="439655"/>
                </a:lnTo>
                <a:lnTo>
                  <a:pt x="142813" y="424127"/>
                </a:lnTo>
                <a:lnTo>
                  <a:pt x="103573" y="402433"/>
                </a:lnTo>
                <a:lnTo>
                  <a:pt x="71119" y="373341"/>
                </a:lnTo>
                <a:lnTo>
                  <a:pt x="48936" y="341125"/>
                </a:lnTo>
                <a:lnTo>
                  <a:pt x="32075" y="303130"/>
                </a:lnTo>
                <a:lnTo>
                  <a:pt x="19774" y="260181"/>
                </a:lnTo>
                <a:lnTo>
                  <a:pt x="11271" y="213102"/>
                </a:lnTo>
                <a:lnTo>
                  <a:pt x="5804" y="162720"/>
                </a:lnTo>
                <a:lnTo>
                  <a:pt x="2611" y="109858"/>
                </a:lnTo>
                <a:lnTo>
                  <a:pt x="930" y="55343"/>
                </a:lnTo>
                <a:lnTo>
                  <a:pt x="0" y="0"/>
                </a:lnTo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46950" y="2742692"/>
            <a:ext cx="2172970" cy="2172970"/>
            <a:chOff x="7346950" y="2742692"/>
            <a:chExt cx="2172970" cy="2172970"/>
          </a:xfrm>
        </p:grpSpPr>
        <p:sp>
          <p:nvSpPr>
            <p:cNvPr id="3" name="object 3"/>
            <p:cNvSpPr/>
            <p:nvPr/>
          </p:nvSpPr>
          <p:spPr>
            <a:xfrm>
              <a:off x="7353300" y="2749042"/>
              <a:ext cx="2160270" cy="2160270"/>
            </a:xfrm>
            <a:custGeom>
              <a:avLst/>
              <a:gdLst/>
              <a:ahLst/>
              <a:cxnLst/>
              <a:rect l="l" t="t" r="r" b="b"/>
              <a:pathLst>
                <a:path w="2160270" h="2160270">
                  <a:moveTo>
                    <a:pt x="0" y="1080008"/>
                  </a:moveTo>
                  <a:lnTo>
                    <a:pt x="1052" y="1031896"/>
                  </a:lnTo>
                  <a:lnTo>
                    <a:pt x="4179" y="984324"/>
                  </a:lnTo>
                  <a:lnTo>
                    <a:pt x="9338" y="937335"/>
                  </a:lnTo>
                  <a:lnTo>
                    <a:pt x="16484" y="890973"/>
                  </a:lnTo>
                  <a:lnTo>
                    <a:pt x="25573" y="845282"/>
                  </a:lnTo>
                  <a:lnTo>
                    <a:pt x="36562" y="800306"/>
                  </a:lnTo>
                  <a:lnTo>
                    <a:pt x="49407" y="756088"/>
                  </a:lnTo>
                  <a:lnTo>
                    <a:pt x="64063" y="712673"/>
                  </a:lnTo>
                  <a:lnTo>
                    <a:pt x="80488" y="670105"/>
                  </a:lnTo>
                  <a:lnTo>
                    <a:pt x="98637" y="628426"/>
                  </a:lnTo>
                  <a:lnTo>
                    <a:pt x="118466" y="587682"/>
                  </a:lnTo>
                  <a:lnTo>
                    <a:pt x="139931" y="547916"/>
                  </a:lnTo>
                  <a:lnTo>
                    <a:pt x="162988" y="509172"/>
                  </a:lnTo>
                  <a:lnTo>
                    <a:pt x="187594" y="471494"/>
                  </a:lnTo>
                  <a:lnTo>
                    <a:pt x="213705" y="434926"/>
                  </a:lnTo>
                  <a:lnTo>
                    <a:pt x="241277" y="399511"/>
                  </a:lnTo>
                  <a:lnTo>
                    <a:pt x="270265" y="365294"/>
                  </a:lnTo>
                  <a:lnTo>
                    <a:pt x="300627" y="332318"/>
                  </a:lnTo>
                  <a:lnTo>
                    <a:pt x="332318" y="300627"/>
                  </a:lnTo>
                  <a:lnTo>
                    <a:pt x="365294" y="270265"/>
                  </a:lnTo>
                  <a:lnTo>
                    <a:pt x="399511" y="241277"/>
                  </a:lnTo>
                  <a:lnTo>
                    <a:pt x="434926" y="213705"/>
                  </a:lnTo>
                  <a:lnTo>
                    <a:pt x="471494" y="187594"/>
                  </a:lnTo>
                  <a:lnTo>
                    <a:pt x="509172" y="162988"/>
                  </a:lnTo>
                  <a:lnTo>
                    <a:pt x="547916" y="139931"/>
                  </a:lnTo>
                  <a:lnTo>
                    <a:pt x="587682" y="118466"/>
                  </a:lnTo>
                  <a:lnTo>
                    <a:pt x="628426" y="98637"/>
                  </a:lnTo>
                  <a:lnTo>
                    <a:pt x="670105" y="80488"/>
                  </a:lnTo>
                  <a:lnTo>
                    <a:pt x="712673" y="64063"/>
                  </a:lnTo>
                  <a:lnTo>
                    <a:pt x="756088" y="49407"/>
                  </a:lnTo>
                  <a:lnTo>
                    <a:pt x="800306" y="36562"/>
                  </a:lnTo>
                  <a:lnTo>
                    <a:pt x="845282" y="25573"/>
                  </a:lnTo>
                  <a:lnTo>
                    <a:pt x="890973" y="16484"/>
                  </a:lnTo>
                  <a:lnTo>
                    <a:pt x="937335" y="9338"/>
                  </a:lnTo>
                  <a:lnTo>
                    <a:pt x="984324" y="4179"/>
                  </a:lnTo>
                  <a:lnTo>
                    <a:pt x="1031896" y="1052"/>
                  </a:lnTo>
                  <a:lnTo>
                    <a:pt x="1080007" y="0"/>
                  </a:lnTo>
                  <a:lnTo>
                    <a:pt x="1128119" y="1052"/>
                  </a:lnTo>
                  <a:lnTo>
                    <a:pt x="1175691" y="4179"/>
                  </a:lnTo>
                  <a:lnTo>
                    <a:pt x="1222680" y="9338"/>
                  </a:lnTo>
                  <a:lnTo>
                    <a:pt x="1269042" y="16484"/>
                  </a:lnTo>
                  <a:lnTo>
                    <a:pt x="1314733" y="25573"/>
                  </a:lnTo>
                  <a:lnTo>
                    <a:pt x="1359709" y="36562"/>
                  </a:lnTo>
                  <a:lnTo>
                    <a:pt x="1403927" y="49407"/>
                  </a:lnTo>
                  <a:lnTo>
                    <a:pt x="1447342" y="64063"/>
                  </a:lnTo>
                  <a:lnTo>
                    <a:pt x="1489910" y="80488"/>
                  </a:lnTo>
                  <a:lnTo>
                    <a:pt x="1531589" y="98637"/>
                  </a:lnTo>
                  <a:lnTo>
                    <a:pt x="1572333" y="118466"/>
                  </a:lnTo>
                  <a:lnTo>
                    <a:pt x="1612099" y="139931"/>
                  </a:lnTo>
                  <a:lnTo>
                    <a:pt x="1650843" y="162988"/>
                  </a:lnTo>
                  <a:lnTo>
                    <a:pt x="1688521" y="187594"/>
                  </a:lnTo>
                  <a:lnTo>
                    <a:pt x="1725089" y="213705"/>
                  </a:lnTo>
                  <a:lnTo>
                    <a:pt x="1760504" y="241277"/>
                  </a:lnTo>
                  <a:lnTo>
                    <a:pt x="1794721" y="270265"/>
                  </a:lnTo>
                  <a:lnTo>
                    <a:pt x="1827697" y="300627"/>
                  </a:lnTo>
                  <a:lnTo>
                    <a:pt x="1859388" y="332318"/>
                  </a:lnTo>
                  <a:lnTo>
                    <a:pt x="1889750" y="365294"/>
                  </a:lnTo>
                  <a:lnTo>
                    <a:pt x="1918738" y="399511"/>
                  </a:lnTo>
                  <a:lnTo>
                    <a:pt x="1946310" y="434926"/>
                  </a:lnTo>
                  <a:lnTo>
                    <a:pt x="1972421" y="471494"/>
                  </a:lnTo>
                  <a:lnTo>
                    <a:pt x="1997027" y="509172"/>
                  </a:lnTo>
                  <a:lnTo>
                    <a:pt x="2020084" y="547916"/>
                  </a:lnTo>
                  <a:lnTo>
                    <a:pt x="2041549" y="587682"/>
                  </a:lnTo>
                  <a:lnTo>
                    <a:pt x="2061378" y="628426"/>
                  </a:lnTo>
                  <a:lnTo>
                    <a:pt x="2079527" y="670105"/>
                  </a:lnTo>
                  <a:lnTo>
                    <a:pt x="2095952" y="712673"/>
                  </a:lnTo>
                  <a:lnTo>
                    <a:pt x="2110608" y="756088"/>
                  </a:lnTo>
                  <a:lnTo>
                    <a:pt x="2123453" y="800306"/>
                  </a:lnTo>
                  <a:lnTo>
                    <a:pt x="2134442" y="845282"/>
                  </a:lnTo>
                  <a:lnTo>
                    <a:pt x="2143531" y="890973"/>
                  </a:lnTo>
                  <a:lnTo>
                    <a:pt x="2150677" y="937335"/>
                  </a:lnTo>
                  <a:lnTo>
                    <a:pt x="2155836" y="984324"/>
                  </a:lnTo>
                  <a:lnTo>
                    <a:pt x="2158963" y="1031896"/>
                  </a:lnTo>
                  <a:lnTo>
                    <a:pt x="2160016" y="1080008"/>
                  </a:lnTo>
                  <a:lnTo>
                    <a:pt x="2158963" y="1128109"/>
                  </a:lnTo>
                  <a:lnTo>
                    <a:pt x="2155836" y="1175673"/>
                  </a:lnTo>
                  <a:lnTo>
                    <a:pt x="2150677" y="1222654"/>
                  </a:lnTo>
                  <a:lnTo>
                    <a:pt x="2143531" y="1269009"/>
                  </a:lnTo>
                  <a:lnTo>
                    <a:pt x="2134442" y="1314695"/>
                  </a:lnTo>
                  <a:lnTo>
                    <a:pt x="2123453" y="1359666"/>
                  </a:lnTo>
                  <a:lnTo>
                    <a:pt x="2110608" y="1403879"/>
                  </a:lnTo>
                  <a:lnTo>
                    <a:pt x="2095952" y="1447291"/>
                  </a:lnTo>
                  <a:lnTo>
                    <a:pt x="2079527" y="1489857"/>
                  </a:lnTo>
                  <a:lnTo>
                    <a:pt x="2061378" y="1531534"/>
                  </a:lnTo>
                  <a:lnTo>
                    <a:pt x="2041549" y="1572277"/>
                  </a:lnTo>
                  <a:lnTo>
                    <a:pt x="2020084" y="1612042"/>
                  </a:lnTo>
                  <a:lnTo>
                    <a:pt x="1997027" y="1650786"/>
                  </a:lnTo>
                  <a:lnTo>
                    <a:pt x="1972421" y="1688465"/>
                  </a:lnTo>
                  <a:lnTo>
                    <a:pt x="1946310" y="1725035"/>
                  </a:lnTo>
                  <a:lnTo>
                    <a:pt x="1918738" y="1760451"/>
                  </a:lnTo>
                  <a:lnTo>
                    <a:pt x="1889750" y="1794670"/>
                  </a:lnTo>
                  <a:lnTo>
                    <a:pt x="1859388" y="1827649"/>
                  </a:lnTo>
                  <a:lnTo>
                    <a:pt x="1827697" y="1859342"/>
                  </a:lnTo>
                  <a:lnTo>
                    <a:pt x="1794721" y="1889706"/>
                  </a:lnTo>
                  <a:lnTo>
                    <a:pt x="1760504" y="1918698"/>
                  </a:lnTo>
                  <a:lnTo>
                    <a:pt x="1725089" y="1946272"/>
                  </a:lnTo>
                  <a:lnTo>
                    <a:pt x="1688521" y="1972387"/>
                  </a:lnTo>
                  <a:lnTo>
                    <a:pt x="1650843" y="1996996"/>
                  </a:lnTo>
                  <a:lnTo>
                    <a:pt x="1612099" y="2020057"/>
                  </a:lnTo>
                  <a:lnTo>
                    <a:pt x="1572333" y="2041526"/>
                  </a:lnTo>
                  <a:lnTo>
                    <a:pt x="1531589" y="2061358"/>
                  </a:lnTo>
                  <a:lnTo>
                    <a:pt x="1489910" y="2079510"/>
                  </a:lnTo>
                  <a:lnTo>
                    <a:pt x="1447342" y="2095938"/>
                  </a:lnTo>
                  <a:lnTo>
                    <a:pt x="1403927" y="2110597"/>
                  </a:lnTo>
                  <a:lnTo>
                    <a:pt x="1359709" y="2123445"/>
                  </a:lnTo>
                  <a:lnTo>
                    <a:pt x="1314733" y="2134436"/>
                  </a:lnTo>
                  <a:lnTo>
                    <a:pt x="1269042" y="2143527"/>
                  </a:lnTo>
                  <a:lnTo>
                    <a:pt x="1222680" y="2150675"/>
                  </a:lnTo>
                  <a:lnTo>
                    <a:pt x="1175691" y="2155835"/>
                  </a:lnTo>
                  <a:lnTo>
                    <a:pt x="1128119" y="2158963"/>
                  </a:lnTo>
                  <a:lnTo>
                    <a:pt x="1080007" y="2160016"/>
                  </a:lnTo>
                  <a:lnTo>
                    <a:pt x="1031896" y="2158963"/>
                  </a:lnTo>
                  <a:lnTo>
                    <a:pt x="984324" y="2155835"/>
                  </a:lnTo>
                  <a:lnTo>
                    <a:pt x="937335" y="2150675"/>
                  </a:lnTo>
                  <a:lnTo>
                    <a:pt x="890973" y="2143527"/>
                  </a:lnTo>
                  <a:lnTo>
                    <a:pt x="845282" y="2134436"/>
                  </a:lnTo>
                  <a:lnTo>
                    <a:pt x="800306" y="2123445"/>
                  </a:lnTo>
                  <a:lnTo>
                    <a:pt x="756088" y="2110597"/>
                  </a:lnTo>
                  <a:lnTo>
                    <a:pt x="712673" y="2095938"/>
                  </a:lnTo>
                  <a:lnTo>
                    <a:pt x="670105" y="2079510"/>
                  </a:lnTo>
                  <a:lnTo>
                    <a:pt x="628426" y="2061358"/>
                  </a:lnTo>
                  <a:lnTo>
                    <a:pt x="587682" y="2041526"/>
                  </a:lnTo>
                  <a:lnTo>
                    <a:pt x="547916" y="2020057"/>
                  </a:lnTo>
                  <a:lnTo>
                    <a:pt x="509172" y="1996996"/>
                  </a:lnTo>
                  <a:lnTo>
                    <a:pt x="471494" y="1972387"/>
                  </a:lnTo>
                  <a:lnTo>
                    <a:pt x="434926" y="1946272"/>
                  </a:lnTo>
                  <a:lnTo>
                    <a:pt x="399511" y="1918698"/>
                  </a:lnTo>
                  <a:lnTo>
                    <a:pt x="365294" y="1889706"/>
                  </a:lnTo>
                  <a:lnTo>
                    <a:pt x="332318" y="1859342"/>
                  </a:lnTo>
                  <a:lnTo>
                    <a:pt x="300627" y="1827649"/>
                  </a:lnTo>
                  <a:lnTo>
                    <a:pt x="270265" y="1794670"/>
                  </a:lnTo>
                  <a:lnTo>
                    <a:pt x="241277" y="1760451"/>
                  </a:lnTo>
                  <a:lnTo>
                    <a:pt x="213705" y="1725035"/>
                  </a:lnTo>
                  <a:lnTo>
                    <a:pt x="187594" y="1688465"/>
                  </a:lnTo>
                  <a:lnTo>
                    <a:pt x="162988" y="1650786"/>
                  </a:lnTo>
                  <a:lnTo>
                    <a:pt x="139931" y="1612042"/>
                  </a:lnTo>
                  <a:lnTo>
                    <a:pt x="118466" y="1572277"/>
                  </a:lnTo>
                  <a:lnTo>
                    <a:pt x="98637" y="1531534"/>
                  </a:lnTo>
                  <a:lnTo>
                    <a:pt x="80488" y="1489857"/>
                  </a:lnTo>
                  <a:lnTo>
                    <a:pt x="64063" y="1447291"/>
                  </a:lnTo>
                  <a:lnTo>
                    <a:pt x="49407" y="1403879"/>
                  </a:lnTo>
                  <a:lnTo>
                    <a:pt x="36562" y="1359666"/>
                  </a:lnTo>
                  <a:lnTo>
                    <a:pt x="25573" y="1314695"/>
                  </a:lnTo>
                  <a:lnTo>
                    <a:pt x="16484" y="1269009"/>
                  </a:lnTo>
                  <a:lnTo>
                    <a:pt x="9338" y="1222654"/>
                  </a:lnTo>
                  <a:lnTo>
                    <a:pt x="4179" y="1175673"/>
                  </a:lnTo>
                  <a:lnTo>
                    <a:pt x="1052" y="1128109"/>
                  </a:lnTo>
                  <a:lnTo>
                    <a:pt x="0" y="1080008"/>
                  </a:lnTo>
                  <a:close/>
                </a:path>
                <a:path w="2160270" h="2160270">
                  <a:moveTo>
                    <a:pt x="179958" y="1080008"/>
                  </a:moveTo>
                  <a:lnTo>
                    <a:pt x="181206" y="1032207"/>
                  </a:lnTo>
                  <a:lnTo>
                    <a:pt x="184907" y="985057"/>
                  </a:lnTo>
                  <a:lnTo>
                    <a:pt x="191000" y="938618"/>
                  </a:lnTo>
                  <a:lnTo>
                    <a:pt x="199423" y="892954"/>
                  </a:lnTo>
                  <a:lnTo>
                    <a:pt x="210112" y="848126"/>
                  </a:lnTo>
                  <a:lnTo>
                    <a:pt x="223006" y="804197"/>
                  </a:lnTo>
                  <a:lnTo>
                    <a:pt x="238043" y="761229"/>
                  </a:lnTo>
                  <a:lnTo>
                    <a:pt x="255161" y="719283"/>
                  </a:lnTo>
                  <a:lnTo>
                    <a:pt x="274296" y="678423"/>
                  </a:lnTo>
                  <a:lnTo>
                    <a:pt x="295388" y="638710"/>
                  </a:lnTo>
                  <a:lnTo>
                    <a:pt x="318374" y="600207"/>
                  </a:lnTo>
                  <a:lnTo>
                    <a:pt x="343191" y="562975"/>
                  </a:lnTo>
                  <a:lnTo>
                    <a:pt x="369778" y="527078"/>
                  </a:lnTo>
                  <a:lnTo>
                    <a:pt x="398072" y="492576"/>
                  </a:lnTo>
                  <a:lnTo>
                    <a:pt x="428012" y="459534"/>
                  </a:lnTo>
                  <a:lnTo>
                    <a:pt x="459534" y="428012"/>
                  </a:lnTo>
                  <a:lnTo>
                    <a:pt x="492576" y="398072"/>
                  </a:lnTo>
                  <a:lnTo>
                    <a:pt x="527078" y="369778"/>
                  </a:lnTo>
                  <a:lnTo>
                    <a:pt x="562975" y="343191"/>
                  </a:lnTo>
                  <a:lnTo>
                    <a:pt x="600207" y="318374"/>
                  </a:lnTo>
                  <a:lnTo>
                    <a:pt x="638710" y="295388"/>
                  </a:lnTo>
                  <a:lnTo>
                    <a:pt x="678423" y="274296"/>
                  </a:lnTo>
                  <a:lnTo>
                    <a:pt x="719283" y="255161"/>
                  </a:lnTo>
                  <a:lnTo>
                    <a:pt x="761229" y="238043"/>
                  </a:lnTo>
                  <a:lnTo>
                    <a:pt x="804197" y="223006"/>
                  </a:lnTo>
                  <a:lnTo>
                    <a:pt x="848126" y="210112"/>
                  </a:lnTo>
                  <a:lnTo>
                    <a:pt x="892954" y="199423"/>
                  </a:lnTo>
                  <a:lnTo>
                    <a:pt x="938618" y="191000"/>
                  </a:lnTo>
                  <a:lnTo>
                    <a:pt x="985057" y="184907"/>
                  </a:lnTo>
                  <a:lnTo>
                    <a:pt x="1032207" y="181206"/>
                  </a:lnTo>
                  <a:lnTo>
                    <a:pt x="1080007" y="179959"/>
                  </a:lnTo>
                  <a:lnTo>
                    <a:pt x="1127808" y="181206"/>
                  </a:lnTo>
                  <a:lnTo>
                    <a:pt x="1174958" y="184907"/>
                  </a:lnTo>
                  <a:lnTo>
                    <a:pt x="1221397" y="191000"/>
                  </a:lnTo>
                  <a:lnTo>
                    <a:pt x="1267061" y="199423"/>
                  </a:lnTo>
                  <a:lnTo>
                    <a:pt x="1311889" y="210112"/>
                  </a:lnTo>
                  <a:lnTo>
                    <a:pt x="1355818" y="223006"/>
                  </a:lnTo>
                  <a:lnTo>
                    <a:pt x="1398786" y="238043"/>
                  </a:lnTo>
                  <a:lnTo>
                    <a:pt x="1440732" y="255161"/>
                  </a:lnTo>
                  <a:lnTo>
                    <a:pt x="1481592" y="274296"/>
                  </a:lnTo>
                  <a:lnTo>
                    <a:pt x="1521305" y="295388"/>
                  </a:lnTo>
                  <a:lnTo>
                    <a:pt x="1559808" y="318374"/>
                  </a:lnTo>
                  <a:lnTo>
                    <a:pt x="1597040" y="343191"/>
                  </a:lnTo>
                  <a:lnTo>
                    <a:pt x="1632937" y="369778"/>
                  </a:lnTo>
                  <a:lnTo>
                    <a:pt x="1667439" y="398072"/>
                  </a:lnTo>
                  <a:lnTo>
                    <a:pt x="1700481" y="428012"/>
                  </a:lnTo>
                  <a:lnTo>
                    <a:pt x="1732003" y="459534"/>
                  </a:lnTo>
                  <a:lnTo>
                    <a:pt x="1761943" y="492576"/>
                  </a:lnTo>
                  <a:lnTo>
                    <a:pt x="1790237" y="527078"/>
                  </a:lnTo>
                  <a:lnTo>
                    <a:pt x="1816824" y="562975"/>
                  </a:lnTo>
                  <a:lnTo>
                    <a:pt x="1841641" y="600207"/>
                  </a:lnTo>
                  <a:lnTo>
                    <a:pt x="1864627" y="638710"/>
                  </a:lnTo>
                  <a:lnTo>
                    <a:pt x="1885719" y="678423"/>
                  </a:lnTo>
                  <a:lnTo>
                    <a:pt x="1904854" y="719283"/>
                  </a:lnTo>
                  <a:lnTo>
                    <a:pt x="1921972" y="761229"/>
                  </a:lnTo>
                  <a:lnTo>
                    <a:pt x="1937009" y="804197"/>
                  </a:lnTo>
                  <a:lnTo>
                    <a:pt x="1949903" y="848126"/>
                  </a:lnTo>
                  <a:lnTo>
                    <a:pt x="1960592" y="892954"/>
                  </a:lnTo>
                  <a:lnTo>
                    <a:pt x="1969015" y="938618"/>
                  </a:lnTo>
                  <a:lnTo>
                    <a:pt x="1975108" y="985057"/>
                  </a:lnTo>
                  <a:lnTo>
                    <a:pt x="1978809" y="1032207"/>
                  </a:lnTo>
                  <a:lnTo>
                    <a:pt x="1980056" y="1080008"/>
                  </a:lnTo>
                  <a:lnTo>
                    <a:pt x="1978809" y="1127807"/>
                  </a:lnTo>
                  <a:lnTo>
                    <a:pt x="1975108" y="1174957"/>
                  </a:lnTo>
                  <a:lnTo>
                    <a:pt x="1969015" y="1221393"/>
                  </a:lnTo>
                  <a:lnTo>
                    <a:pt x="1960592" y="1267055"/>
                  </a:lnTo>
                  <a:lnTo>
                    <a:pt x="1949903" y="1311880"/>
                  </a:lnTo>
                  <a:lnTo>
                    <a:pt x="1937009" y="1355806"/>
                  </a:lnTo>
                  <a:lnTo>
                    <a:pt x="1921972" y="1398770"/>
                  </a:lnTo>
                  <a:lnTo>
                    <a:pt x="1904854" y="1440711"/>
                  </a:lnTo>
                  <a:lnTo>
                    <a:pt x="1885719" y="1481566"/>
                  </a:lnTo>
                  <a:lnTo>
                    <a:pt x="1864627" y="1521274"/>
                  </a:lnTo>
                  <a:lnTo>
                    <a:pt x="1841641" y="1559772"/>
                  </a:lnTo>
                  <a:lnTo>
                    <a:pt x="1816824" y="1596998"/>
                  </a:lnTo>
                  <a:lnTo>
                    <a:pt x="1790237" y="1632889"/>
                  </a:lnTo>
                  <a:lnTo>
                    <a:pt x="1761943" y="1667384"/>
                  </a:lnTo>
                  <a:lnTo>
                    <a:pt x="1732003" y="1700421"/>
                  </a:lnTo>
                  <a:lnTo>
                    <a:pt x="1700481" y="1731937"/>
                  </a:lnTo>
                  <a:lnTo>
                    <a:pt x="1667439" y="1761870"/>
                  </a:lnTo>
                  <a:lnTo>
                    <a:pt x="1632937" y="1790158"/>
                  </a:lnTo>
                  <a:lnTo>
                    <a:pt x="1597040" y="1816739"/>
                  </a:lnTo>
                  <a:lnTo>
                    <a:pt x="1559808" y="1841551"/>
                  </a:lnTo>
                  <a:lnTo>
                    <a:pt x="1521305" y="1864531"/>
                  </a:lnTo>
                  <a:lnTo>
                    <a:pt x="1481592" y="1885618"/>
                  </a:lnTo>
                  <a:lnTo>
                    <a:pt x="1440732" y="1904748"/>
                  </a:lnTo>
                  <a:lnTo>
                    <a:pt x="1398786" y="1921861"/>
                  </a:lnTo>
                  <a:lnTo>
                    <a:pt x="1355818" y="1936894"/>
                  </a:lnTo>
                  <a:lnTo>
                    <a:pt x="1311889" y="1949785"/>
                  </a:lnTo>
                  <a:lnTo>
                    <a:pt x="1267061" y="1960471"/>
                  </a:lnTo>
                  <a:lnTo>
                    <a:pt x="1221397" y="1968891"/>
                  </a:lnTo>
                  <a:lnTo>
                    <a:pt x="1174958" y="1974982"/>
                  </a:lnTo>
                  <a:lnTo>
                    <a:pt x="1127808" y="1978682"/>
                  </a:lnTo>
                  <a:lnTo>
                    <a:pt x="1080007" y="1979930"/>
                  </a:lnTo>
                  <a:lnTo>
                    <a:pt x="1032207" y="1978682"/>
                  </a:lnTo>
                  <a:lnTo>
                    <a:pt x="985057" y="1974982"/>
                  </a:lnTo>
                  <a:lnTo>
                    <a:pt x="938618" y="1968891"/>
                  </a:lnTo>
                  <a:lnTo>
                    <a:pt x="892954" y="1960471"/>
                  </a:lnTo>
                  <a:lnTo>
                    <a:pt x="848126" y="1949785"/>
                  </a:lnTo>
                  <a:lnTo>
                    <a:pt x="804197" y="1936894"/>
                  </a:lnTo>
                  <a:lnTo>
                    <a:pt x="761229" y="1921861"/>
                  </a:lnTo>
                  <a:lnTo>
                    <a:pt x="719283" y="1904748"/>
                  </a:lnTo>
                  <a:lnTo>
                    <a:pt x="678423" y="1885618"/>
                  </a:lnTo>
                  <a:lnTo>
                    <a:pt x="638710" y="1864531"/>
                  </a:lnTo>
                  <a:lnTo>
                    <a:pt x="600207" y="1841551"/>
                  </a:lnTo>
                  <a:lnTo>
                    <a:pt x="562975" y="1816739"/>
                  </a:lnTo>
                  <a:lnTo>
                    <a:pt x="527078" y="1790158"/>
                  </a:lnTo>
                  <a:lnTo>
                    <a:pt x="492576" y="1761870"/>
                  </a:lnTo>
                  <a:lnTo>
                    <a:pt x="459534" y="1731937"/>
                  </a:lnTo>
                  <a:lnTo>
                    <a:pt x="428012" y="1700421"/>
                  </a:lnTo>
                  <a:lnTo>
                    <a:pt x="398072" y="1667384"/>
                  </a:lnTo>
                  <a:lnTo>
                    <a:pt x="369778" y="1632889"/>
                  </a:lnTo>
                  <a:lnTo>
                    <a:pt x="343191" y="1596998"/>
                  </a:lnTo>
                  <a:lnTo>
                    <a:pt x="318374" y="1559772"/>
                  </a:lnTo>
                  <a:lnTo>
                    <a:pt x="295388" y="1521274"/>
                  </a:lnTo>
                  <a:lnTo>
                    <a:pt x="274296" y="1481566"/>
                  </a:lnTo>
                  <a:lnTo>
                    <a:pt x="255161" y="1440711"/>
                  </a:lnTo>
                  <a:lnTo>
                    <a:pt x="238043" y="1398770"/>
                  </a:lnTo>
                  <a:lnTo>
                    <a:pt x="223006" y="1355806"/>
                  </a:lnTo>
                  <a:lnTo>
                    <a:pt x="210112" y="1311880"/>
                  </a:lnTo>
                  <a:lnTo>
                    <a:pt x="199423" y="1267055"/>
                  </a:lnTo>
                  <a:lnTo>
                    <a:pt x="191000" y="1221393"/>
                  </a:lnTo>
                  <a:lnTo>
                    <a:pt x="184907" y="1174957"/>
                  </a:lnTo>
                  <a:lnTo>
                    <a:pt x="181206" y="1127807"/>
                  </a:lnTo>
                  <a:lnTo>
                    <a:pt x="179958" y="1080008"/>
                  </a:lnTo>
                  <a:close/>
                </a:path>
                <a:path w="2160270" h="2160270">
                  <a:moveTo>
                    <a:pt x="360045" y="1080008"/>
                  </a:moveTo>
                  <a:lnTo>
                    <a:pt x="361576" y="1032668"/>
                  </a:lnTo>
                  <a:lnTo>
                    <a:pt x="366107" y="986147"/>
                  </a:lnTo>
                  <a:lnTo>
                    <a:pt x="373542" y="940538"/>
                  </a:lnTo>
                  <a:lnTo>
                    <a:pt x="383787" y="895937"/>
                  </a:lnTo>
                  <a:lnTo>
                    <a:pt x="396747" y="852439"/>
                  </a:lnTo>
                  <a:lnTo>
                    <a:pt x="412328" y="810137"/>
                  </a:lnTo>
                  <a:lnTo>
                    <a:pt x="430433" y="769128"/>
                  </a:lnTo>
                  <a:lnTo>
                    <a:pt x="450969" y="729506"/>
                  </a:lnTo>
                  <a:lnTo>
                    <a:pt x="473840" y="691365"/>
                  </a:lnTo>
                  <a:lnTo>
                    <a:pt x="498952" y="654801"/>
                  </a:lnTo>
                  <a:lnTo>
                    <a:pt x="526210" y="619909"/>
                  </a:lnTo>
                  <a:lnTo>
                    <a:pt x="555518" y="586783"/>
                  </a:lnTo>
                  <a:lnTo>
                    <a:pt x="586783" y="555518"/>
                  </a:lnTo>
                  <a:lnTo>
                    <a:pt x="619909" y="526210"/>
                  </a:lnTo>
                  <a:lnTo>
                    <a:pt x="654801" y="498952"/>
                  </a:lnTo>
                  <a:lnTo>
                    <a:pt x="691365" y="473840"/>
                  </a:lnTo>
                  <a:lnTo>
                    <a:pt x="729506" y="450969"/>
                  </a:lnTo>
                  <a:lnTo>
                    <a:pt x="769128" y="430433"/>
                  </a:lnTo>
                  <a:lnTo>
                    <a:pt x="810137" y="412328"/>
                  </a:lnTo>
                  <a:lnTo>
                    <a:pt x="852439" y="396747"/>
                  </a:lnTo>
                  <a:lnTo>
                    <a:pt x="895937" y="383787"/>
                  </a:lnTo>
                  <a:lnTo>
                    <a:pt x="940538" y="373542"/>
                  </a:lnTo>
                  <a:lnTo>
                    <a:pt x="986147" y="366107"/>
                  </a:lnTo>
                  <a:lnTo>
                    <a:pt x="1032668" y="361576"/>
                  </a:lnTo>
                  <a:lnTo>
                    <a:pt x="1080007" y="360045"/>
                  </a:lnTo>
                  <a:lnTo>
                    <a:pt x="1127347" y="361576"/>
                  </a:lnTo>
                  <a:lnTo>
                    <a:pt x="1173868" y="366107"/>
                  </a:lnTo>
                  <a:lnTo>
                    <a:pt x="1219477" y="373542"/>
                  </a:lnTo>
                  <a:lnTo>
                    <a:pt x="1264078" y="383787"/>
                  </a:lnTo>
                  <a:lnTo>
                    <a:pt x="1307576" y="396748"/>
                  </a:lnTo>
                  <a:lnTo>
                    <a:pt x="1349878" y="412328"/>
                  </a:lnTo>
                  <a:lnTo>
                    <a:pt x="1390887" y="430433"/>
                  </a:lnTo>
                  <a:lnTo>
                    <a:pt x="1430509" y="450969"/>
                  </a:lnTo>
                  <a:lnTo>
                    <a:pt x="1468650" y="473840"/>
                  </a:lnTo>
                  <a:lnTo>
                    <a:pt x="1505214" y="498952"/>
                  </a:lnTo>
                  <a:lnTo>
                    <a:pt x="1540106" y="526210"/>
                  </a:lnTo>
                  <a:lnTo>
                    <a:pt x="1573232" y="555518"/>
                  </a:lnTo>
                  <a:lnTo>
                    <a:pt x="1604497" y="586783"/>
                  </a:lnTo>
                  <a:lnTo>
                    <a:pt x="1633805" y="619909"/>
                  </a:lnTo>
                  <a:lnTo>
                    <a:pt x="1661063" y="654801"/>
                  </a:lnTo>
                  <a:lnTo>
                    <a:pt x="1686175" y="691365"/>
                  </a:lnTo>
                  <a:lnTo>
                    <a:pt x="1709046" y="729506"/>
                  </a:lnTo>
                  <a:lnTo>
                    <a:pt x="1729582" y="769128"/>
                  </a:lnTo>
                  <a:lnTo>
                    <a:pt x="1747687" y="810137"/>
                  </a:lnTo>
                  <a:lnTo>
                    <a:pt x="1763267" y="852439"/>
                  </a:lnTo>
                  <a:lnTo>
                    <a:pt x="1776228" y="895937"/>
                  </a:lnTo>
                  <a:lnTo>
                    <a:pt x="1786473" y="940538"/>
                  </a:lnTo>
                  <a:lnTo>
                    <a:pt x="1793908" y="986147"/>
                  </a:lnTo>
                  <a:lnTo>
                    <a:pt x="1798439" y="1032668"/>
                  </a:lnTo>
                  <a:lnTo>
                    <a:pt x="1799971" y="1080008"/>
                  </a:lnTo>
                  <a:lnTo>
                    <a:pt x="1798439" y="1127347"/>
                  </a:lnTo>
                  <a:lnTo>
                    <a:pt x="1793908" y="1173868"/>
                  </a:lnTo>
                  <a:lnTo>
                    <a:pt x="1786473" y="1219477"/>
                  </a:lnTo>
                  <a:lnTo>
                    <a:pt x="1776228" y="1264078"/>
                  </a:lnTo>
                  <a:lnTo>
                    <a:pt x="1763268" y="1307576"/>
                  </a:lnTo>
                  <a:lnTo>
                    <a:pt x="1747687" y="1349878"/>
                  </a:lnTo>
                  <a:lnTo>
                    <a:pt x="1729582" y="1390887"/>
                  </a:lnTo>
                  <a:lnTo>
                    <a:pt x="1709046" y="1430509"/>
                  </a:lnTo>
                  <a:lnTo>
                    <a:pt x="1686175" y="1468650"/>
                  </a:lnTo>
                  <a:lnTo>
                    <a:pt x="1661063" y="1505214"/>
                  </a:lnTo>
                  <a:lnTo>
                    <a:pt x="1633805" y="1540106"/>
                  </a:lnTo>
                  <a:lnTo>
                    <a:pt x="1604497" y="1573232"/>
                  </a:lnTo>
                  <a:lnTo>
                    <a:pt x="1573232" y="1604497"/>
                  </a:lnTo>
                  <a:lnTo>
                    <a:pt x="1540106" y="1633805"/>
                  </a:lnTo>
                  <a:lnTo>
                    <a:pt x="1505214" y="1661063"/>
                  </a:lnTo>
                  <a:lnTo>
                    <a:pt x="1468650" y="1686175"/>
                  </a:lnTo>
                  <a:lnTo>
                    <a:pt x="1430509" y="1709046"/>
                  </a:lnTo>
                  <a:lnTo>
                    <a:pt x="1390887" y="1729582"/>
                  </a:lnTo>
                  <a:lnTo>
                    <a:pt x="1349878" y="1747687"/>
                  </a:lnTo>
                  <a:lnTo>
                    <a:pt x="1307576" y="1763268"/>
                  </a:lnTo>
                  <a:lnTo>
                    <a:pt x="1264078" y="1776228"/>
                  </a:lnTo>
                  <a:lnTo>
                    <a:pt x="1219477" y="1786473"/>
                  </a:lnTo>
                  <a:lnTo>
                    <a:pt x="1173868" y="1793908"/>
                  </a:lnTo>
                  <a:lnTo>
                    <a:pt x="1127347" y="1798439"/>
                  </a:lnTo>
                  <a:lnTo>
                    <a:pt x="1080007" y="1799971"/>
                  </a:lnTo>
                  <a:lnTo>
                    <a:pt x="1032668" y="1798439"/>
                  </a:lnTo>
                  <a:lnTo>
                    <a:pt x="986147" y="1793908"/>
                  </a:lnTo>
                  <a:lnTo>
                    <a:pt x="940538" y="1786473"/>
                  </a:lnTo>
                  <a:lnTo>
                    <a:pt x="895937" y="1776228"/>
                  </a:lnTo>
                  <a:lnTo>
                    <a:pt x="852439" y="1763268"/>
                  </a:lnTo>
                  <a:lnTo>
                    <a:pt x="810137" y="1747687"/>
                  </a:lnTo>
                  <a:lnTo>
                    <a:pt x="769128" y="1729582"/>
                  </a:lnTo>
                  <a:lnTo>
                    <a:pt x="729506" y="1709046"/>
                  </a:lnTo>
                  <a:lnTo>
                    <a:pt x="691365" y="1686175"/>
                  </a:lnTo>
                  <a:lnTo>
                    <a:pt x="654801" y="1661063"/>
                  </a:lnTo>
                  <a:lnTo>
                    <a:pt x="619909" y="1633805"/>
                  </a:lnTo>
                  <a:lnTo>
                    <a:pt x="586783" y="1604497"/>
                  </a:lnTo>
                  <a:lnTo>
                    <a:pt x="555518" y="1573232"/>
                  </a:lnTo>
                  <a:lnTo>
                    <a:pt x="526210" y="1540106"/>
                  </a:lnTo>
                  <a:lnTo>
                    <a:pt x="498952" y="1505214"/>
                  </a:lnTo>
                  <a:lnTo>
                    <a:pt x="473840" y="1468650"/>
                  </a:lnTo>
                  <a:lnTo>
                    <a:pt x="450969" y="1430509"/>
                  </a:lnTo>
                  <a:lnTo>
                    <a:pt x="430433" y="1390887"/>
                  </a:lnTo>
                  <a:lnTo>
                    <a:pt x="412328" y="1349878"/>
                  </a:lnTo>
                  <a:lnTo>
                    <a:pt x="396748" y="1307576"/>
                  </a:lnTo>
                  <a:lnTo>
                    <a:pt x="383787" y="1264078"/>
                  </a:lnTo>
                  <a:lnTo>
                    <a:pt x="373542" y="1219477"/>
                  </a:lnTo>
                  <a:lnTo>
                    <a:pt x="366107" y="1173868"/>
                  </a:lnTo>
                  <a:lnTo>
                    <a:pt x="361576" y="1127347"/>
                  </a:lnTo>
                  <a:lnTo>
                    <a:pt x="360045" y="1080008"/>
                  </a:lnTo>
                  <a:close/>
                </a:path>
                <a:path w="2160270" h="2160270">
                  <a:moveTo>
                    <a:pt x="540003" y="1080008"/>
                  </a:moveTo>
                  <a:lnTo>
                    <a:pt x="542211" y="1030862"/>
                  </a:lnTo>
                  <a:lnTo>
                    <a:pt x="548705" y="982952"/>
                  </a:lnTo>
                  <a:lnTo>
                    <a:pt x="559296" y="936467"/>
                  </a:lnTo>
                  <a:lnTo>
                    <a:pt x="573792" y="891599"/>
                  </a:lnTo>
                  <a:lnTo>
                    <a:pt x="592003" y="848538"/>
                  </a:lnTo>
                  <a:lnTo>
                    <a:pt x="613739" y="807475"/>
                  </a:lnTo>
                  <a:lnTo>
                    <a:pt x="638807" y="768601"/>
                  </a:lnTo>
                  <a:lnTo>
                    <a:pt x="667019" y="732106"/>
                  </a:lnTo>
                  <a:lnTo>
                    <a:pt x="698182" y="698182"/>
                  </a:lnTo>
                  <a:lnTo>
                    <a:pt x="732106" y="667019"/>
                  </a:lnTo>
                  <a:lnTo>
                    <a:pt x="768601" y="638807"/>
                  </a:lnTo>
                  <a:lnTo>
                    <a:pt x="807475" y="613739"/>
                  </a:lnTo>
                  <a:lnTo>
                    <a:pt x="848538" y="592003"/>
                  </a:lnTo>
                  <a:lnTo>
                    <a:pt x="891599" y="573792"/>
                  </a:lnTo>
                  <a:lnTo>
                    <a:pt x="936467" y="559296"/>
                  </a:lnTo>
                  <a:lnTo>
                    <a:pt x="982952" y="548705"/>
                  </a:lnTo>
                  <a:lnTo>
                    <a:pt x="1030862" y="542211"/>
                  </a:lnTo>
                  <a:lnTo>
                    <a:pt x="1080007" y="540004"/>
                  </a:lnTo>
                  <a:lnTo>
                    <a:pt x="1129153" y="542211"/>
                  </a:lnTo>
                  <a:lnTo>
                    <a:pt x="1177063" y="548705"/>
                  </a:lnTo>
                  <a:lnTo>
                    <a:pt x="1223548" y="559296"/>
                  </a:lnTo>
                  <a:lnTo>
                    <a:pt x="1268416" y="573792"/>
                  </a:lnTo>
                  <a:lnTo>
                    <a:pt x="1311477" y="592003"/>
                  </a:lnTo>
                  <a:lnTo>
                    <a:pt x="1352540" y="613739"/>
                  </a:lnTo>
                  <a:lnTo>
                    <a:pt x="1391414" y="638807"/>
                  </a:lnTo>
                  <a:lnTo>
                    <a:pt x="1427909" y="667019"/>
                  </a:lnTo>
                  <a:lnTo>
                    <a:pt x="1461833" y="698182"/>
                  </a:lnTo>
                  <a:lnTo>
                    <a:pt x="1492996" y="732106"/>
                  </a:lnTo>
                  <a:lnTo>
                    <a:pt x="1521208" y="768601"/>
                  </a:lnTo>
                  <a:lnTo>
                    <a:pt x="1546276" y="807475"/>
                  </a:lnTo>
                  <a:lnTo>
                    <a:pt x="1568012" y="848538"/>
                  </a:lnTo>
                  <a:lnTo>
                    <a:pt x="1586223" y="891599"/>
                  </a:lnTo>
                  <a:lnTo>
                    <a:pt x="1600719" y="936467"/>
                  </a:lnTo>
                  <a:lnTo>
                    <a:pt x="1611310" y="982952"/>
                  </a:lnTo>
                  <a:lnTo>
                    <a:pt x="1617804" y="1030862"/>
                  </a:lnTo>
                  <a:lnTo>
                    <a:pt x="1620011" y="1080008"/>
                  </a:lnTo>
                  <a:lnTo>
                    <a:pt x="1617804" y="1129153"/>
                  </a:lnTo>
                  <a:lnTo>
                    <a:pt x="1611310" y="1177063"/>
                  </a:lnTo>
                  <a:lnTo>
                    <a:pt x="1600719" y="1223548"/>
                  </a:lnTo>
                  <a:lnTo>
                    <a:pt x="1586223" y="1268416"/>
                  </a:lnTo>
                  <a:lnTo>
                    <a:pt x="1568012" y="1311477"/>
                  </a:lnTo>
                  <a:lnTo>
                    <a:pt x="1546276" y="1352540"/>
                  </a:lnTo>
                  <a:lnTo>
                    <a:pt x="1521208" y="1391414"/>
                  </a:lnTo>
                  <a:lnTo>
                    <a:pt x="1492996" y="1427909"/>
                  </a:lnTo>
                  <a:lnTo>
                    <a:pt x="1461833" y="1461833"/>
                  </a:lnTo>
                  <a:lnTo>
                    <a:pt x="1427909" y="1492996"/>
                  </a:lnTo>
                  <a:lnTo>
                    <a:pt x="1391414" y="1521208"/>
                  </a:lnTo>
                  <a:lnTo>
                    <a:pt x="1352540" y="1546276"/>
                  </a:lnTo>
                  <a:lnTo>
                    <a:pt x="1311477" y="1568012"/>
                  </a:lnTo>
                  <a:lnTo>
                    <a:pt x="1268416" y="1586223"/>
                  </a:lnTo>
                  <a:lnTo>
                    <a:pt x="1223548" y="1600719"/>
                  </a:lnTo>
                  <a:lnTo>
                    <a:pt x="1177063" y="1611310"/>
                  </a:lnTo>
                  <a:lnTo>
                    <a:pt x="1129153" y="1617804"/>
                  </a:lnTo>
                  <a:lnTo>
                    <a:pt x="1080007" y="1620012"/>
                  </a:lnTo>
                  <a:lnTo>
                    <a:pt x="1030862" y="1617804"/>
                  </a:lnTo>
                  <a:lnTo>
                    <a:pt x="982952" y="1611310"/>
                  </a:lnTo>
                  <a:lnTo>
                    <a:pt x="936467" y="1600719"/>
                  </a:lnTo>
                  <a:lnTo>
                    <a:pt x="891599" y="1586223"/>
                  </a:lnTo>
                  <a:lnTo>
                    <a:pt x="848538" y="1568012"/>
                  </a:lnTo>
                  <a:lnTo>
                    <a:pt x="807475" y="1546276"/>
                  </a:lnTo>
                  <a:lnTo>
                    <a:pt x="768601" y="1521208"/>
                  </a:lnTo>
                  <a:lnTo>
                    <a:pt x="732106" y="1492996"/>
                  </a:lnTo>
                  <a:lnTo>
                    <a:pt x="698182" y="1461833"/>
                  </a:lnTo>
                  <a:lnTo>
                    <a:pt x="667019" y="1427909"/>
                  </a:lnTo>
                  <a:lnTo>
                    <a:pt x="638807" y="1391414"/>
                  </a:lnTo>
                  <a:lnTo>
                    <a:pt x="613739" y="1352540"/>
                  </a:lnTo>
                  <a:lnTo>
                    <a:pt x="592003" y="1311477"/>
                  </a:lnTo>
                  <a:lnTo>
                    <a:pt x="573792" y="1268416"/>
                  </a:lnTo>
                  <a:lnTo>
                    <a:pt x="559296" y="1223548"/>
                  </a:lnTo>
                  <a:lnTo>
                    <a:pt x="548705" y="1177063"/>
                  </a:lnTo>
                  <a:lnTo>
                    <a:pt x="542211" y="1129153"/>
                  </a:lnTo>
                  <a:lnTo>
                    <a:pt x="540003" y="1080008"/>
                  </a:lnTo>
                  <a:close/>
                </a:path>
                <a:path w="2160270" h="2160270">
                  <a:moveTo>
                    <a:pt x="719963" y="1080008"/>
                  </a:moveTo>
                  <a:lnTo>
                    <a:pt x="723249" y="1031144"/>
                  </a:lnTo>
                  <a:lnTo>
                    <a:pt x="732821" y="984281"/>
                  </a:lnTo>
                  <a:lnTo>
                    <a:pt x="748252" y="939847"/>
                  </a:lnTo>
                  <a:lnTo>
                    <a:pt x="769112" y="898271"/>
                  </a:lnTo>
                  <a:lnTo>
                    <a:pt x="794972" y="859980"/>
                  </a:lnTo>
                  <a:lnTo>
                    <a:pt x="825404" y="825404"/>
                  </a:lnTo>
                  <a:lnTo>
                    <a:pt x="859980" y="794972"/>
                  </a:lnTo>
                  <a:lnTo>
                    <a:pt x="898271" y="769112"/>
                  </a:lnTo>
                  <a:lnTo>
                    <a:pt x="939847" y="748252"/>
                  </a:lnTo>
                  <a:lnTo>
                    <a:pt x="984281" y="732821"/>
                  </a:lnTo>
                  <a:lnTo>
                    <a:pt x="1031144" y="723249"/>
                  </a:lnTo>
                  <a:lnTo>
                    <a:pt x="1080007" y="719963"/>
                  </a:lnTo>
                  <a:lnTo>
                    <a:pt x="1128844" y="723249"/>
                  </a:lnTo>
                  <a:lnTo>
                    <a:pt x="1175690" y="732821"/>
                  </a:lnTo>
                  <a:lnTo>
                    <a:pt x="1220114" y="748252"/>
                  </a:lnTo>
                  <a:lnTo>
                    <a:pt x="1261688" y="769112"/>
                  </a:lnTo>
                  <a:lnTo>
                    <a:pt x="1299981" y="794972"/>
                  </a:lnTo>
                  <a:lnTo>
                    <a:pt x="1334563" y="825404"/>
                  </a:lnTo>
                  <a:lnTo>
                    <a:pt x="1365005" y="859980"/>
                  </a:lnTo>
                  <a:lnTo>
                    <a:pt x="1390875" y="898271"/>
                  </a:lnTo>
                  <a:lnTo>
                    <a:pt x="1411745" y="939847"/>
                  </a:lnTo>
                  <a:lnTo>
                    <a:pt x="1427185" y="984281"/>
                  </a:lnTo>
                  <a:lnTo>
                    <a:pt x="1436764" y="1031144"/>
                  </a:lnTo>
                  <a:lnTo>
                    <a:pt x="1440052" y="1080008"/>
                  </a:lnTo>
                  <a:lnTo>
                    <a:pt x="1436764" y="1128842"/>
                  </a:lnTo>
                  <a:lnTo>
                    <a:pt x="1427185" y="1175680"/>
                  </a:lnTo>
                  <a:lnTo>
                    <a:pt x="1411745" y="1220094"/>
                  </a:lnTo>
                  <a:lnTo>
                    <a:pt x="1390875" y="1261655"/>
                  </a:lnTo>
                  <a:lnTo>
                    <a:pt x="1365005" y="1299933"/>
                  </a:lnTo>
                  <a:lnTo>
                    <a:pt x="1334563" y="1334500"/>
                  </a:lnTo>
                  <a:lnTo>
                    <a:pt x="1299981" y="1364925"/>
                  </a:lnTo>
                  <a:lnTo>
                    <a:pt x="1261688" y="1390781"/>
                  </a:lnTo>
                  <a:lnTo>
                    <a:pt x="1220114" y="1411638"/>
                  </a:lnTo>
                  <a:lnTo>
                    <a:pt x="1175690" y="1427067"/>
                  </a:lnTo>
                  <a:lnTo>
                    <a:pt x="1128844" y="1436639"/>
                  </a:lnTo>
                  <a:lnTo>
                    <a:pt x="1080007" y="1439926"/>
                  </a:lnTo>
                  <a:lnTo>
                    <a:pt x="1031144" y="1436639"/>
                  </a:lnTo>
                  <a:lnTo>
                    <a:pt x="984281" y="1427067"/>
                  </a:lnTo>
                  <a:lnTo>
                    <a:pt x="939847" y="1411638"/>
                  </a:lnTo>
                  <a:lnTo>
                    <a:pt x="898271" y="1390781"/>
                  </a:lnTo>
                  <a:lnTo>
                    <a:pt x="859980" y="1364925"/>
                  </a:lnTo>
                  <a:lnTo>
                    <a:pt x="825404" y="1334500"/>
                  </a:lnTo>
                  <a:lnTo>
                    <a:pt x="794972" y="1299933"/>
                  </a:lnTo>
                  <a:lnTo>
                    <a:pt x="769112" y="1261655"/>
                  </a:lnTo>
                  <a:lnTo>
                    <a:pt x="748252" y="1220094"/>
                  </a:lnTo>
                  <a:lnTo>
                    <a:pt x="732821" y="1175680"/>
                  </a:lnTo>
                  <a:lnTo>
                    <a:pt x="723249" y="1128842"/>
                  </a:lnTo>
                  <a:lnTo>
                    <a:pt x="719963" y="1080008"/>
                  </a:lnTo>
                  <a:close/>
                </a:path>
                <a:path w="2160270" h="2160270">
                  <a:moveTo>
                    <a:pt x="900049" y="1080008"/>
                  </a:moveTo>
                  <a:lnTo>
                    <a:pt x="906473" y="1032149"/>
                  </a:lnTo>
                  <a:lnTo>
                    <a:pt x="924607" y="989155"/>
                  </a:lnTo>
                  <a:lnTo>
                    <a:pt x="952738" y="952738"/>
                  </a:lnTo>
                  <a:lnTo>
                    <a:pt x="989155" y="924607"/>
                  </a:lnTo>
                  <a:lnTo>
                    <a:pt x="1032149" y="906473"/>
                  </a:lnTo>
                  <a:lnTo>
                    <a:pt x="1080007" y="900049"/>
                  </a:lnTo>
                  <a:lnTo>
                    <a:pt x="1127866" y="906473"/>
                  </a:lnTo>
                  <a:lnTo>
                    <a:pt x="1170860" y="924607"/>
                  </a:lnTo>
                  <a:lnTo>
                    <a:pt x="1207277" y="952738"/>
                  </a:lnTo>
                  <a:lnTo>
                    <a:pt x="1235408" y="989155"/>
                  </a:lnTo>
                  <a:lnTo>
                    <a:pt x="1253542" y="1032149"/>
                  </a:lnTo>
                  <a:lnTo>
                    <a:pt x="1259967" y="1080008"/>
                  </a:lnTo>
                  <a:lnTo>
                    <a:pt x="1253542" y="1127866"/>
                  </a:lnTo>
                  <a:lnTo>
                    <a:pt x="1235408" y="1170860"/>
                  </a:lnTo>
                  <a:lnTo>
                    <a:pt x="1207277" y="1207277"/>
                  </a:lnTo>
                  <a:lnTo>
                    <a:pt x="1170860" y="1235408"/>
                  </a:lnTo>
                  <a:lnTo>
                    <a:pt x="1127866" y="1253542"/>
                  </a:lnTo>
                  <a:lnTo>
                    <a:pt x="1080007" y="1259967"/>
                  </a:lnTo>
                  <a:lnTo>
                    <a:pt x="1032149" y="1253542"/>
                  </a:lnTo>
                  <a:lnTo>
                    <a:pt x="989155" y="1235408"/>
                  </a:lnTo>
                  <a:lnTo>
                    <a:pt x="952738" y="1207277"/>
                  </a:lnTo>
                  <a:lnTo>
                    <a:pt x="924607" y="1170860"/>
                  </a:lnTo>
                  <a:lnTo>
                    <a:pt x="906473" y="1127866"/>
                  </a:lnTo>
                  <a:lnTo>
                    <a:pt x="900049" y="108000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373617" y="3765550"/>
              <a:ext cx="110489" cy="118745"/>
            </a:xfrm>
            <a:custGeom>
              <a:avLst/>
              <a:gdLst/>
              <a:ahLst/>
              <a:cxnLst/>
              <a:rect l="l" t="t" r="r" b="b"/>
              <a:pathLst>
                <a:path w="110490" h="118745">
                  <a:moveTo>
                    <a:pt x="82296" y="0"/>
                  </a:moveTo>
                  <a:lnTo>
                    <a:pt x="55117" y="30987"/>
                  </a:lnTo>
                  <a:lnTo>
                    <a:pt x="27939" y="0"/>
                  </a:lnTo>
                  <a:lnTo>
                    <a:pt x="0" y="24637"/>
                  </a:lnTo>
                  <a:lnTo>
                    <a:pt x="30352" y="59055"/>
                  </a:lnTo>
                  <a:lnTo>
                    <a:pt x="0" y="93599"/>
                  </a:lnTo>
                  <a:lnTo>
                    <a:pt x="27939" y="118237"/>
                  </a:lnTo>
                  <a:lnTo>
                    <a:pt x="55117" y="87249"/>
                  </a:lnTo>
                  <a:lnTo>
                    <a:pt x="82296" y="118237"/>
                  </a:lnTo>
                  <a:lnTo>
                    <a:pt x="110235" y="93599"/>
                  </a:lnTo>
                  <a:lnTo>
                    <a:pt x="79882" y="59055"/>
                  </a:lnTo>
                  <a:lnTo>
                    <a:pt x="110235" y="24637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73617" y="3765550"/>
              <a:ext cx="110489" cy="118745"/>
            </a:xfrm>
            <a:custGeom>
              <a:avLst/>
              <a:gdLst/>
              <a:ahLst/>
              <a:cxnLst/>
              <a:rect l="l" t="t" r="r" b="b"/>
              <a:pathLst>
                <a:path w="110490" h="118745">
                  <a:moveTo>
                    <a:pt x="0" y="24637"/>
                  </a:moveTo>
                  <a:lnTo>
                    <a:pt x="27939" y="0"/>
                  </a:lnTo>
                  <a:lnTo>
                    <a:pt x="55117" y="30987"/>
                  </a:lnTo>
                  <a:lnTo>
                    <a:pt x="82296" y="0"/>
                  </a:lnTo>
                  <a:lnTo>
                    <a:pt x="110235" y="24637"/>
                  </a:lnTo>
                  <a:lnTo>
                    <a:pt x="79882" y="59055"/>
                  </a:lnTo>
                  <a:lnTo>
                    <a:pt x="110235" y="93599"/>
                  </a:lnTo>
                  <a:lnTo>
                    <a:pt x="82296" y="118237"/>
                  </a:lnTo>
                  <a:lnTo>
                    <a:pt x="55117" y="87249"/>
                  </a:lnTo>
                  <a:lnTo>
                    <a:pt x="27939" y="118237"/>
                  </a:lnTo>
                  <a:lnTo>
                    <a:pt x="0" y="93599"/>
                  </a:lnTo>
                  <a:lnTo>
                    <a:pt x="30352" y="59055"/>
                  </a:lnTo>
                  <a:lnTo>
                    <a:pt x="0" y="2463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36356" y="3829050"/>
              <a:ext cx="497205" cy="691515"/>
            </a:xfrm>
            <a:custGeom>
              <a:avLst/>
              <a:gdLst/>
              <a:ahLst/>
              <a:cxnLst/>
              <a:rect l="l" t="t" r="r" b="b"/>
              <a:pathLst>
                <a:path w="497204" h="691514">
                  <a:moveTo>
                    <a:pt x="136906" y="511301"/>
                  </a:moveTo>
                  <a:lnTo>
                    <a:pt x="0" y="691388"/>
                  </a:lnTo>
                </a:path>
                <a:path w="497204" h="691514">
                  <a:moveTo>
                    <a:pt x="290829" y="336169"/>
                  </a:moveTo>
                  <a:lnTo>
                    <a:pt x="137795" y="511429"/>
                  </a:lnTo>
                </a:path>
                <a:path w="497204" h="691514">
                  <a:moveTo>
                    <a:pt x="367029" y="201041"/>
                  </a:moveTo>
                  <a:lnTo>
                    <a:pt x="280543" y="351663"/>
                  </a:lnTo>
                </a:path>
                <a:path w="497204" h="691514">
                  <a:moveTo>
                    <a:pt x="433577" y="86613"/>
                  </a:moveTo>
                  <a:lnTo>
                    <a:pt x="368426" y="199136"/>
                  </a:lnTo>
                </a:path>
                <a:path w="497204" h="691514">
                  <a:moveTo>
                    <a:pt x="496950" y="0"/>
                  </a:moveTo>
                  <a:lnTo>
                    <a:pt x="431800" y="92201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44459" y="4649216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37846" y="0"/>
                  </a:moveTo>
                  <a:lnTo>
                    <a:pt x="25273" y="14096"/>
                  </a:lnTo>
                  <a:lnTo>
                    <a:pt x="12826" y="0"/>
                  </a:lnTo>
                  <a:lnTo>
                    <a:pt x="0" y="11302"/>
                  </a:lnTo>
                  <a:lnTo>
                    <a:pt x="13843" y="27177"/>
                  </a:lnTo>
                  <a:lnTo>
                    <a:pt x="0" y="42925"/>
                  </a:lnTo>
                  <a:lnTo>
                    <a:pt x="12826" y="54228"/>
                  </a:lnTo>
                  <a:lnTo>
                    <a:pt x="25273" y="40131"/>
                  </a:lnTo>
                  <a:lnTo>
                    <a:pt x="37846" y="54228"/>
                  </a:lnTo>
                  <a:lnTo>
                    <a:pt x="50673" y="42925"/>
                  </a:lnTo>
                  <a:lnTo>
                    <a:pt x="36703" y="27177"/>
                  </a:lnTo>
                  <a:lnTo>
                    <a:pt x="50673" y="11302"/>
                  </a:lnTo>
                  <a:lnTo>
                    <a:pt x="3784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4459" y="4649216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0" y="11302"/>
                  </a:moveTo>
                  <a:lnTo>
                    <a:pt x="12826" y="0"/>
                  </a:lnTo>
                  <a:lnTo>
                    <a:pt x="25273" y="14096"/>
                  </a:lnTo>
                  <a:lnTo>
                    <a:pt x="37846" y="0"/>
                  </a:lnTo>
                  <a:lnTo>
                    <a:pt x="50673" y="11302"/>
                  </a:lnTo>
                  <a:lnTo>
                    <a:pt x="36703" y="27177"/>
                  </a:lnTo>
                  <a:lnTo>
                    <a:pt x="50673" y="42925"/>
                  </a:lnTo>
                  <a:lnTo>
                    <a:pt x="37846" y="54228"/>
                  </a:lnTo>
                  <a:lnTo>
                    <a:pt x="25273" y="40131"/>
                  </a:lnTo>
                  <a:lnTo>
                    <a:pt x="12826" y="54228"/>
                  </a:lnTo>
                  <a:lnTo>
                    <a:pt x="0" y="42925"/>
                  </a:lnTo>
                  <a:lnTo>
                    <a:pt x="13843" y="27177"/>
                  </a:lnTo>
                  <a:lnTo>
                    <a:pt x="0" y="1130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50047" y="4513707"/>
              <a:ext cx="194310" cy="182880"/>
            </a:xfrm>
            <a:custGeom>
              <a:avLst/>
              <a:gdLst/>
              <a:ahLst/>
              <a:cxnLst/>
              <a:rect l="l" t="t" r="r" b="b"/>
              <a:pathLst>
                <a:path w="194309" h="182879">
                  <a:moveTo>
                    <a:pt x="193801" y="0"/>
                  </a:moveTo>
                  <a:lnTo>
                    <a:pt x="0" y="18288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18450" y="4484243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37846" y="0"/>
                  </a:moveTo>
                  <a:lnTo>
                    <a:pt x="25400" y="14096"/>
                  </a:lnTo>
                  <a:lnTo>
                    <a:pt x="12953" y="0"/>
                  </a:lnTo>
                  <a:lnTo>
                    <a:pt x="0" y="11302"/>
                  </a:lnTo>
                  <a:lnTo>
                    <a:pt x="13970" y="27050"/>
                  </a:lnTo>
                  <a:lnTo>
                    <a:pt x="0" y="42925"/>
                  </a:lnTo>
                  <a:lnTo>
                    <a:pt x="12953" y="54228"/>
                  </a:lnTo>
                  <a:lnTo>
                    <a:pt x="25400" y="40131"/>
                  </a:lnTo>
                  <a:lnTo>
                    <a:pt x="37846" y="54228"/>
                  </a:lnTo>
                  <a:lnTo>
                    <a:pt x="50800" y="42925"/>
                  </a:lnTo>
                  <a:lnTo>
                    <a:pt x="36829" y="27050"/>
                  </a:lnTo>
                  <a:lnTo>
                    <a:pt x="50800" y="11302"/>
                  </a:lnTo>
                  <a:lnTo>
                    <a:pt x="3784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18450" y="4484243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0" y="11302"/>
                  </a:moveTo>
                  <a:lnTo>
                    <a:pt x="12953" y="0"/>
                  </a:lnTo>
                  <a:lnTo>
                    <a:pt x="25400" y="14096"/>
                  </a:lnTo>
                  <a:lnTo>
                    <a:pt x="37846" y="0"/>
                  </a:lnTo>
                  <a:lnTo>
                    <a:pt x="50800" y="11302"/>
                  </a:lnTo>
                  <a:lnTo>
                    <a:pt x="36829" y="27050"/>
                  </a:lnTo>
                  <a:lnTo>
                    <a:pt x="50800" y="42925"/>
                  </a:lnTo>
                  <a:lnTo>
                    <a:pt x="37846" y="54228"/>
                  </a:lnTo>
                  <a:lnTo>
                    <a:pt x="25400" y="40131"/>
                  </a:lnTo>
                  <a:lnTo>
                    <a:pt x="12953" y="54228"/>
                  </a:lnTo>
                  <a:lnTo>
                    <a:pt x="0" y="42925"/>
                  </a:lnTo>
                  <a:lnTo>
                    <a:pt x="13970" y="27050"/>
                  </a:lnTo>
                  <a:lnTo>
                    <a:pt x="0" y="1130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02143" y="4372737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37846" y="0"/>
                  </a:moveTo>
                  <a:lnTo>
                    <a:pt x="25400" y="14224"/>
                  </a:lnTo>
                  <a:lnTo>
                    <a:pt x="12953" y="0"/>
                  </a:lnTo>
                  <a:lnTo>
                    <a:pt x="0" y="11302"/>
                  </a:lnTo>
                  <a:lnTo>
                    <a:pt x="13970" y="27177"/>
                  </a:lnTo>
                  <a:lnTo>
                    <a:pt x="0" y="43052"/>
                  </a:lnTo>
                  <a:lnTo>
                    <a:pt x="12953" y="54356"/>
                  </a:lnTo>
                  <a:lnTo>
                    <a:pt x="25400" y="40131"/>
                  </a:lnTo>
                  <a:lnTo>
                    <a:pt x="37846" y="54356"/>
                  </a:lnTo>
                  <a:lnTo>
                    <a:pt x="50800" y="43052"/>
                  </a:lnTo>
                  <a:lnTo>
                    <a:pt x="36829" y="27177"/>
                  </a:lnTo>
                  <a:lnTo>
                    <a:pt x="50800" y="11302"/>
                  </a:lnTo>
                  <a:lnTo>
                    <a:pt x="3784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02143" y="4372737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0" y="11302"/>
                  </a:moveTo>
                  <a:lnTo>
                    <a:pt x="12953" y="0"/>
                  </a:lnTo>
                  <a:lnTo>
                    <a:pt x="25400" y="14224"/>
                  </a:lnTo>
                  <a:lnTo>
                    <a:pt x="37846" y="0"/>
                  </a:lnTo>
                  <a:lnTo>
                    <a:pt x="50800" y="11302"/>
                  </a:lnTo>
                  <a:lnTo>
                    <a:pt x="36829" y="27177"/>
                  </a:lnTo>
                  <a:lnTo>
                    <a:pt x="50800" y="43052"/>
                  </a:lnTo>
                  <a:lnTo>
                    <a:pt x="37846" y="54356"/>
                  </a:lnTo>
                  <a:lnTo>
                    <a:pt x="25400" y="40131"/>
                  </a:lnTo>
                  <a:lnTo>
                    <a:pt x="12953" y="54356"/>
                  </a:lnTo>
                  <a:lnTo>
                    <a:pt x="0" y="43052"/>
                  </a:lnTo>
                  <a:lnTo>
                    <a:pt x="13970" y="27177"/>
                  </a:lnTo>
                  <a:lnTo>
                    <a:pt x="0" y="1130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84312" y="4271772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37846" y="0"/>
                  </a:moveTo>
                  <a:lnTo>
                    <a:pt x="25400" y="14223"/>
                  </a:lnTo>
                  <a:lnTo>
                    <a:pt x="12954" y="0"/>
                  </a:lnTo>
                  <a:lnTo>
                    <a:pt x="0" y="11429"/>
                  </a:lnTo>
                  <a:lnTo>
                    <a:pt x="13970" y="27177"/>
                  </a:lnTo>
                  <a:lnTo>
                    <a:pt x="0" y="43052"/>
                  </a:lnTo>
                  <a:lnTo>
                    <a:pt x="12954" y="54355"/>
                  </a:lnTo>
                  <a:lnTo>
                    <a:pt x="25400" y="40258"/>
                  </a:lnTo>
                  <a:lnTo>
                    <a:pt x="37846" y="54355"/>
                  </a:lnTo>
                  <a:lnTo>
                    <a:pt x="50800" y="43052"/>
                  </a:lnTo>
                  <a:lnTo>
                    <a:pt x="36830" y="27177"/>
                  </a:lnTo>
                  <a:lnTo>
                    <a:pt x="50800" y="11429"/>
                  </a:lnTo>
                  <a:lnTo>
                    <a:pt x="3784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84312" y="4271772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0" y="11429"/>
                  </a:moveTo>
                  <a:lnTo>
                    <a:pt x="12954" y="0"/>
                  </a:lnTo>
                  <a:lnTo>
                    <a:pt x="25400" y="14223"/>
                  </a:lnTo>
                  <a:lnTo>
                    <a:pt x="37846" y="0"/>
                  </a:lnTo>
                  <a:lnTo>
                    <a:pt x="50800" y="11429"/>
                  </a:lnTo>
                  <a:lnTo>
                    <a:pt x="36830" y="27177"/>
                  </a:lnTo>
                  <a:lnTo>
                    <a:pt x="50800" y="43052"/>
                  </a:lnTo>
                  <a:lnTo>
                    <a:pt x="37846" y="54355"/>
                  </a:lnTo>
                  <a:lnTo>
                    <a:pt x="25400" y="40258"/>
                  </a:lnTo>
                  <a:lnTo>
                    <a:pt x="12954" y="54355"/>
                  </a:lnTo>
                  <a:lnTo>
                    <a:pt x="0" y="43052"/>
                  </a:lnTo>
                  <a:lnTo>
                    <a:pt x="13970" y="27177"/>
                  </a:lnTo>
                  <a:lnTo>
                    <a:pt x="0" y="1142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11133" y="3934587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37846" y="0"/>
                  </a:moveTo>
                  <a:lnTo>
                    <a:pt x="25400" y="14224"/>
                  </a:lnTo>
                  <a:lnTo>
                    <a:pt x="12826" y="0"/>
                  </a:lnTo>
                  <a:lnTo>
                    <a:pt x="0" y="11302"/>
                  </a:lnTo>
                  <a:lnTo>
                    <a:pt x="13970" y="27177"/>
                  </a:lnTo>
                  <a:lnTo>
                    <a:pt x="0" y="43052"/>
                  </a:lnTo>
                  <a:lnTo>
                    <a:pt x="12826" y="54356"/>
                  </a:lnTo>
                  <a:lnTo>
                    <a:pt x="25400" y="40131"/>
                  </a:lnTo>
                  <a:lnTo>
                    <a:pt x="37846" y="54356"/>
                  </a:lnTo>
                  <a:lnTo>
                    <a:pt x="50673" y="43052"/>
                  </a:lnTo>
                  <a:lnTo>
                    <a:pt x="36702" y="27177"/>
                  </a:lnTo>
                  <a:lnTo>
                    <a:pt x="50673" y="11302"/>
                  </a:lnTo>
                  <a:lnTo>
                    <a:pt x="3784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311133" y="3934587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0" y="11302"/>
                  </a:moveTo>
                  <a:lnTo>
                    <a:pt x="12826" y="0"/>
                  </a:lnTo>
                  <a:lnTo>
                    <a:pt x="25400" y="14224"/>
                  </a:lnTo>
                  <a:lnTo>
                    <a:pt x="37846" y="0"/>
                  </a:lnTo>
                  <a:lnTo>
                    <a:pt x="50673" y="11302"/>
                  </a:lnTo>
                  <a:lnTo>
                    <a:pt x="36702" y="27177"/>
                  </a:lnTo>
                  <a:lnTo>
                    <a:pt x="50673" y="43052"/>
                  </a:lnTo>
                  <a:lnTo>
                    <a:pt x="37846" y="54356"/>
                  </a:lnTo>
                  <a:lnTo>
                    <a:pt x="25400" y="40131"/>
                  </a:lnTo>
                  <a:lnTo>
                    <a:pt x="12826" y="54356"/>
                  </a:lnTo>
                  <a:lnTo>
                    <a:pt x="0" y="43052"/>
                  </a:lnTo>
                  <a:lnTo>
                    <a:pt x="13970" y="27177"/>
                  </a:lnTo>
                  <a:lnTo>
                    <a:pt x="0" y="1130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86419" y="4150741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37846" y="0"/>
                  </a:moveTo>
                  <a:lnTo>
                    <a:pt x="25273" y="14223"/>
                  </a:lnTo>
                  <a:lnTo>
                    <a:pt x="12826" y="0"/>
                  </a:lnTo>
                  <a:lnTo>
                    <a:pt x="0" y="11302"/>
                  </a:lnTo>
                  <a:lnTo>
                    <a:pt x="13843" y="27177"/>
                  </a:lnTo>
                  <a:lnTo>
                    <a:pt x="0" y="43052"/>
                  </a:lnTo>
                  <a:lnTo>
                    <a:pt x="12826" y="54355"/>
                  </a:lnTo>
                  <a:lnTo>
                    <a:pt x="25273" y="40131"/>
                  </a:lnTo>
                  <a:lnTo>
                    <a:pt x="37846" y="54355"/>
                  </a:lnTo>
                  <a:lnTo>
                    <a:pt x="50673" y="43052"/>
                  </a:lnTo>
                  <a:lnTo>
                    <a:pt x="36702" y="27177"/>
                  </a:lnTo>
                  <a:lnTo>
                    <a:pt x="50673" y="11302"/>
                  </a:lnTo>
                  <a:lnTo>
                    <a:pt x="3784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86419" y="4150741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0" y="11302"/>
                  </a:moveTo>
                  <a:lnTo>
                    <a:pt x="12826" y="0"/>
                  </a:lnTo>
                  <a:lnTo>
                    <a:pt x="25273" y="14223"/>
                  </a:lnTo>
                  <a:lnTo>
                    <a:pt x="37846" y="0"/>
                  </a:lnTo>
                  <a:lnTo>
                    <a:pt x="50673" y="11302"/>
                  </a:lnTo>
                  <a:lnTo>
                    <a:pt x="36702" y="27177"/>
                  </a:lnTo>
                  <a:lnTo>
                    <a:pt x="50673" y="43052"/>
                  </a:lnTo>
                  <a:lnTo>
                    <a:pt x="37846" y="54355"/>
                  </a:lnTo>
                  <a:lnTo>
                    <a:pt x="25273" y="40131"/>
                  </a:lnTo>
                  <a:lnTo>
                    <a:pt x="12826" y="54355"/>
                  </a:lnTo>
                  <a:lnTo>
                    <a:pt x="0" y="43052"/>
                  </a:lnTo>
                  <a:lnTo>
                    <a:pt x="13843" y="27177"/>
                  </a:lnTo>
                  <a:lnTo>
                    <a:pt x="0" y="1130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52586" y="4025646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37846" y="0"/>
                  </a:moveTo>
                  <a:lnTo>
                    <a:pt x="25273" y="14223"/>
                  </a:lnTo>
                  <a:lnTo>
                    <a:pt x="12827" y="0"/>
                  </a:lnTo>
                  <a:lnTo>
                    <a:pt x="0" y="11302"/>
                  </a:lnTo>
                  <a:lnTo>
                    <a:pt x="13970" y="27177"/>
                  </a:lnTo>
                  <a:lnTo>
                    <a:pt x="0" y="43052"/>
                  </a:lnTo>
                  <a:lnTo>
                    <a:pt x="12827" y="54355"/>
                  </a:lnTo>
                  <a:lnTo>
                    <a:pt x="25273" y="40131"/>
                  </a:lnTo>
                  <a:lnTo>
                    <a:pt x="37846" y="54355"/>
                  </a:lnTo>
                  <a:lnTo>
                    <a:pt x="50673" y="43052"/>
                  </a:lnTo>
                  <a:lnTo>
                    <a:pt x="36703" y="27177"/>
                  </a:lnTo>
                  <a:lnTo>
                    <a:pt x="50673" y="11302"/>
                  </a:lnTo>
                  <a:lnTo>
                    <a:pt x="3784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52586" y="4025646"/>
              <a:ext cx="50800" cy="54610"/>
            </a:xfrm>
            <a:custGeom>
              <a:avLst/>
              <a:gdLst/>
              <a:ahLst/>
              <a:cxnLst/>
              <a:rect l="l" t="t" r="r" b="b"/>
              <a:pathLst>
                <a:path w="50800" h="54610">
                  <a:moveTo>
                    <a:pt x="0" y="11302"/>
                  </a:moveTo>
                  <a:lnTo>
                    <a:pt x="12827" y="0"/>
                  </a:lnTo>
                  <a:lnTo>
                    <a:pt x="25273" y="14223"/>
                  </a:lnTo>
                  <a:lnTo>
                    <a:pt x="37846" y="0"/>
                  </a:lnTo>
                  <a:lnTo>
                    <a:pt x="50673" y="11302"/>
                  </a:lnTo>
                  <a:lnTo>
                    <a:pt x="36703" y="27177"/>
                  </a:lnTo>
                  <a:lnTo>
                    <a:pt x="50673" y="43052"/>
                  </a:lnTo>
                  <a:lnTo>
                    <a:pt x="37846" y="54355"/>
                  </a:lnTo>
                  <a:lnTo>
                    <a:pt x="25273" y="40131"/>
                  </a:lnTo>
                  <a:lnTo>
                    <a:pt x="12827" y="54355"/>
                  </a:lnTo>
                  <a:lnTo>
                    <a:pt x="0" y="43052"/>
                  </a:lnTo>
                  <a:lnTo>
                    <a:pt x="13970" y="27177"/>
                  </a:lnTo>
                  <a:lnTo>
                    <a:pt x="0" y="1130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7000748" y="2534538"/>
            <a:ext cx="2983230" cy="2606675"/>
          </a:xfrm>
          <a:custGeom>
            <a:avLst/>
            <a:gdLst/>
            <a:ahLst/>
            <a:cxnLst/>
            <a:rect l="l" t="t" r="r" b="b"/>
            <a:pathLst>
              <a:path w="2983229" h="2606675">
                <a:moveTo>
                  <a:pt x="76200" y="76200"/>
                </a:move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28575" y="76200"/>
                </a:lnTo>
                <a:lnTo>
                  <a:pt x="28575" y="2556002"/>
                </a:lnTo>
                <a:lnTo>
                  <a:pt x="47625" y="2556002"/>
                </a:lnTo>
                <a:lnTo>
                  <a:pt x="47625" y="76200"/>
                </a:lnTo>
                <a:lnTo>
                  <a:pt x="76200" y="76200"/>
                </a:lnTo>
                <a:close/>
              </a:path>
              <a:path w="2983229" h="2606675">
                <a:moveTo>
                  <a:pt x="2983103" y="2568321"/>
                </a:moveTo>
                <a:lnTo>
                  <a:pt x="2964053" y="2558796"/>
                </a:lnTo>
                <a:lnTo>
                  <a:pt x="2906903" y="2530221"/>
                </a:lnTo>
                <a:lnTo>
                  <a:pt x="2906903" y="2558796"/>
                </a:lnTo>
                <a:lnTo>
                  <a:pt x="31115" y="2558796"/>
                </a:lnTo>
                <a:lnTo>
                  <a:pt x="31115" y="2577846"/>
                </a:lnTo>
                <a:lnTo>
                  <a:pt x="2906903" y="2577846"/>
                </a:lnTo>
                <a:lnTo>
                  <a:pt x="2906903" y="2606421"/>
                </a:lnTo>
                <a:lnTo>
                  <a:pt x="2964053" y="2577846"/>
                </a:lnTo>
                <a:lnTo>
                  <a:pt x="2983103" y="25683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996805" y="4911090"/>
            <a:ext cx="3200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1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73240" y="2152345"/>
            <a:ext cx="3257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2</a:t>
            </a:r>
            <a:endParaRPr sz="2175" baseline="-15325">
              <a:latin typeface="Cambria Math"/>
              <a:cs typeface="Cambria Math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1290" y="1495678"/>
            <a:ext cx="2172716" cy="3972687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2991993" y="1303019"/>
            <a:ext cx="2980690" cy="4330065"/>
          </a:xfrm>
          <a:custGeom>
            <a:avLst/>
            <a:gdLst/>
            <a:ahLst/>
            <a:cxnLst/>
            <a:rect l="l" t="t" r="r" b="b"/>
            <a:pathLst>
              <a:path w="2980690" h="4330065">
                <a:moveTo>
                  <a:pt x="2980436" y="4291533"/>
                </a:moveTo>
                <a:lnTo>
                  <a:pt x="2961462" y="4282059"/>
                </a:lnTo>
                <a:lnTo>
                  <a:pt x="2904236" y="4253484"/>
                </a:lnTo>
                <a:lnTo>
                  <a:pt x="2904236" y="4282059"/>
                </a:lnTo>
                <a:lnTo>
                  <a:pt x="47625" y="4282059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28575" y="76200"/>
                </a:lnTo>
                <a:lnTo>
                  <a:pt x="28575" y="4282059"/>
                </a:lnTo>
                <a:lnTo>
                  <a:pt x="28448" y="4282059"/>
                </a:lnTo>
                <a:lnTo>
                  <a:pt x="28448" y="4301058"/>
                </a:lnTo>
                <a:lnTo>
                  <a:pt x="2904236" y="4301058"/>
                </a:lnTo>
                <a:lnTo>
                  <a:pt x="2904236" y="4329633"/>
                </a:lnTo>
                <a:lnTo>
                  <a:pt x="2961386" y="4301058"/>
                </a:lnTo>
                <a:lnTo>
                  <a:pt x="2980436" y="42915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985002" y="5406339"/>
            <a:ext cx="3200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1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70961" y="913257"/>
            <a:ext cx="3257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2</a:t>
            </a:r>
            <a:endParaRPr sz="2175" baseline="-153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73240" y="2152345"/>
            <a:ext cx="3257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2</a:t>
            </a:r>
            <a:endParaRPr sz="2175" baseline="-15325">
              <a:latin typeface="Cambria Math"/>
              <a:cs typeface="Cambria Math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536308" y="2564892"/>
            <a:ext cx="2256790" cy="3051810"/>
            <a:chOff x="6536308" y="2564892"/>
            <a:chExt cx="2256790" cy="3051810"/>
          </a:xfrm>
        </p:grpSpPr>
        <p:sp>
          <p:nvSpPr>
            <p:cNvPr id="4" name="object 4"/>
            <p:cNvSpPr/>
            <p:nvPr/>
          </p:nvSpPr>
          <p:spPr>
            <a:xfrm>
              <a:off x="6542658" y="4601845"/>
              <a:ext cx="1008380" cy="1008380"/>
            </a:xfrm>
            <a:custGeom>
              <a:avLst/>
              <a:gdLst/>
              <a:ahLst/>
              <a:cxnLst/>
              <a:rect l="l" t="t" r="r" b="b"/>
              <a:pathLst>
                <a:path w="1008379" h="1008379">
                  <a:moveTo>
                    <a:pt x="504063" y="0"/>
                  </a:moveTo>
                  <a:lnTo>
                    <a:pt x="455518" y="2306"/>
                  </a:lnTo>
                  <a:lnTo>
                    <a:pt x="408279" y="9084"/>
                  </a:lnTo>
                  <a:lnTo>
                    <a:pt x="362557" y="20123"/>
                  </a:lnTo>
                  <a:lnTo>
                    <a:pt x="318563" y="35211"/>
                  </a:lnTo>
                  <a:lnTo>
                    <a:pt x="276508" y="54139"/>
                  </a:lnTo>
                  <a:lnTo>
                    <a:pt x="236604" y="76695"/>
                  </a:lnTo>
                  <a:lnTo>
                    <a:pt x="199061" y="102668"/>
                  </a:lnTo>
                  <a:lnTo>
                    <a:pt x="164091" y="131847"/>
                  </a:lnTo>
                  <a:lnTo>
                    <a:pt x="131905" y="164022"/>
                  </a:lnTo>
                  <a:lnTo>
                    <a:pt x="102715" y="198981"/>
                  </a:lnTo>
                  <a:lnTo>
                    <a:pt x="76731" y="236513"/>
                  </a:lnTo>
                  <a:lnTo>
                    <a:pt x="54166" y="276408"/>
                  </a:lnTo>
                  <a:lnTo>
                    <a:pt x="35229" y="318454"/>
                  </a:lnTo>
                  <a:lnTo>
                    <a:pt x="20133" y="362441"/>
                  </a:lnTo>
                  <a:lnTo>
                    <a:pt x="9089" y="408157"/>
                  </a:lnTo>
                  <a:lnTo>
                    <a:pt x="2307" y="455392"/>
                  </a:lnTo>
                  <a:lnTo>
                    <a:pt x="0" y="503935"/>
                  </a:lnTo>
                  <a:lnTo>
                    <a:pt x="2307" y="552479"/>
                  </a:lnTo>
                  <a:lnTo>
                    <a:pt x="9089" y="599716"/>
                  </a:lnTo>
                  <a:lnTo>
                    <a:pt x="20133" y="645435"/>
                  </a:lnTo>
                  <a:lnTo>
                    <a:pt x="35229" y="689426"/>
                  </a:lnTo>
                  <a:lnTo>
                    <a:pt x="54166" y="731476"/>
                  </a:lnTo>
                  <a:lnTo>
                    <a:pt x="76731" y="771376"/>
                  </a:lnTo>
                  <a:lnTo>
                    <a:pt x="102715" y="808914"/>
                  </a:lnTo>
                  <a:lnTo>
                    <a:pt x="131905" y="843878"/>
                  </a:lnTo>
                  <a:lnTo>
                    <a:pt x="164091" y="876058"/>
                  </a:lnTo>
                  <a:lnTo>
                    <a:pt x="199061" y="905243"/>
                  </a:lnTo>
                  <a:lnTo>
                    <a:pt x="236604" y="931221"/>
                  </a:lnTo>
                  <a:lnTo>
                    <a:pt x="276508" y="953782"/>
                  </a:lnTo>
                  <a:lnTo>
                    <a:pt x="318563" y="972714"/>
                  </a:lnTo>
                  <a:lnTo>
                    <a:pt x="362557" y="987807"/>
                  </a:lnTo>
                  <a:lnTo>
                    <a:pt x="408279" y="998848"/>
                  </a:lnTo>
                  <a:lnTo>
                    <a:pt x="455518" y="1005628"/>
                  </a:lnTo>
                  <a:lnTo>
                    <a:pt x="504063" y="1007935"/>
                  </a:lnTo>
                  <a:lnTo>
                    <a:pt x="552606" y="1005628"/>
                  </a:lnTo>
                  <a:lnTo>
                    <a:pt x="599841" y="998848"/>
                  </a:lnTo>
                  <a:lnTo>
                    <a:pt x="645557" y="987807"/>
                  </a:lnTo>
                  <a:lnTo>
                    <a:pt x="689544" y="972714"/>
                  </a:lnTo>
                  <a:lnTo>
                    <a:pt x="731590" y="953782"/>
                  </a:lnTo>
                  <a:lnTo>
                    <a:pt x="771485" y="931221"/>
                  </a:lnTo>
                  <a:lnTo>
                    <a:pt x="809017" y="905243"/>
                  </a:lnTo>
                  <a:lnTo>
                    <a:pt x="843976" y="876058"/>
                  </a:lnTo>
                  <a:lnTo>
                    <a:pt x="876151" y="843878"/>
                  </a:lnTo>
                  <a:lnTo>
                    <a:pt x="905330" y="808914"/>
                  </a:lnTo>
                  <a:lnTo>
                    <a:pt x="931303" y="771376"/>
                  </a:lnTo>
                  <a:lnTo>
                    <a:pt x="953859" y="731476"/>
                  </a:lnTo>
                  <a:lnTo>
                    <a:pt x="972787" y="689426"/>
                  </a:lnTo>
                  <a:lnTo>
                    <a:pt x="987875" y="645435"/>
                  </a:lnTo>
                  <a:lnTo>
                    <a:pt x="998914" y="599716"/>
                  </a:lnTo>
                  <a:lnTo>
                    <a:pt x="1005692" y="552479"/>
                  </a:lnTo>
                  <a:lnTo>
                    <a:pt x="1007999" y="503935"/>
                  </a:lnTo>
                  <a:lnTo>
                    <a:pt x="1005692" y="455392"/>
                  </a:lnTo>
                  <a:lnTo>
                    <a:pt x="998914" y="408157"/>
                  </a:lnTo>
                  <a:lnTo>
                    <a:pt x="987875" y="362441"/>
                  </a:lnTo>
                  <a:lnTo>
                    <a:pt x="972787" y="318454"/>
                  </a:lnTo>
                  <a:lnTo>
                    <a:pt x="953859" y="276408"/>
                  </a:lnTo>
                  <a:lnTo>
                    <a:pt x="931303" y="236513"/>
                  </a:lnTo>
                  <a:lnTo>
                    <a:pt x="905330" y="198981"/>
                  </a:lnTo>
                  <a:lnTo>
                    <a:pt x="876151" y="164022"/>
                  </a:lnTo>
                  <a:lnTo>
                    <a:pt x="843976" y="131847"/>
                  </a:lnTo>
                  <a:lnTo>
                    <a:pt x="809017" y="102668"/>
                  </a:lnTo>
                  <a:lnTo>
                    <a:pt x="771485" y="76695"/>
                  </a:lnTo>
                  <a:lnTo>
                    <a:pt x="731590" y="54139"/>
                  </a:lnTo>
                  <a:lnTo>
                    <a:pt x="689544" y="35211"/>
                  </a:lnTo>
                  <a:lnTo>
                    <a:pt x="645557" y="20123"/>
                  </a:lnTo>
                  <a:lnTo>
                    <a:pt x="599841" y="9084"/>
                  </a:lnTo>
                  <a:lnTo>
                    <a:pt x="552606" y="2306"/>
                  </a:lnTo>
                  <a:lnTo>
                    <a:pt x="50406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42658" y="4601845"/>
              <a:ext cx="1008380" cy="1008380"/>
            </a:xfrm>
            <a:custGeom>
              <a:avLst/>
              <a:gdLst/>
              <a:ahLst/>
              <a:cxnLst/>
              <a:rect l="l" t="t" r="r" b="b"/>
              <a:pathLst>
                <a:path w="1008379" h="1008379">
                  <a:moveTo>
                    <a:pt x="0" y="503935"/>
                  </a:moveTo>
                  <a:lnTo>
                    <a:pt x="2307" y="455392"/>
                  </a:lnTo>
                  <a:lnTo>
                    <a:pt x="9089" y="408157"/>
                  </a:lnTo>
                  <a:lnTo>
                    <a:pt x="20133" y="362441"/>
                  </a:lnTo>
                  <a:lnTo>
                    <a:pt x="35229" y="318454"/>
                  </a:lnTo>
                  <a:lnTo>
                    <a:pt x="54166" y="276408"/>
                  </a:lnTo>
                  <a:lnTo>
                    <a:pt x="76731" y="236513"/>
                  </a:lnTo>
                  <a:lnTo>
                    <a:pt x="102715" y="198981"/>
                  </a:lnTo>
                  <a:lnTo>
                    <a:pt x="131905" y="164022"/>
                  </a:lnTo>
                  <a:lnTo>
                    <a:pt x="164091" y="131847"/>
                  </a:lnTo>
                  <a:lnTo>
                    <a:pt x="199061" y="102668"/>
                  </a:lnTo>
                  <a:lnTo>
                    <a:pt x="236604" y="76695"/>
                  </a:lnTo>
                  <a:lnTo>
                    <a:pt x="276508" y="54139"/>
                  </a:lnTo>
                  <a:lnTo>
                    <a:pt x="318563" y="35211"/>
                  </a:lnTo>
                  <a:lnTo>
                    <a:pt x="362557" y="20123"/>
                  </a:lnTo>
                  <a:lnTo>
                    <a:pt x="408279" y="9084"/>
                  </a:lnTo>
                  <a:lnTo>
                    <a:pt x="455518" y="2306"/>
                  </a:lnTo>
                  <a:lnTo>
                    <a:pt x="504063" y="0"/>
                  </a:lnTo>
                  <a:lnTo>
                    <a:pt x="552606" y="2306"/>
                  </a:lnTo>
                  <a:lnTo>
                    <a:pt x="599841" y="9084"/>
                  </a:lnTo>
                  <a:lnTo>
                    <a:pt x="645557" y="20123"/>
                  </a:lnTo>
                  <a:lnTo>
                    <a:pt x="689544" y="35211"/>
                  </a:lnTo>
                  <a:lnTo>
                    <a:pt x="731590" y="54139"/>
                  </a:lnTo>
                  <a:lnTo>
                    <a:pt x="771485" y="76695"/>
                  </a:lnTo>
                  <a:lnTo>
                    <a:pt x="809017" y="102668"/>
                  </a:lnTo>
                  <a:lnTo>
                    <a:pt x="843976" y="131847"/>
                  </a:lnTo>
                  <a:lnTo>
                    <a:pt x="876151" y="164022"/>
                  </a:lnTo>
                  <a:lnTo>
                    <a:pt x="905330" y="198981"/>
                  </a:lnTo>
                  <a:lnTo>
                    <a:pt x="931303" y="236513"/>
                  </a:lnTo>
                  <a:lnTo>
                    <a:pt x="953859" y="276408"/>
                  </a:lnTo>
                  <a:lnTo>
                    <a:pt x="972787" y="318454"/>
                  </a:lnTo>
                  <a:lnTo>
                    <a:pt x="987875" y="362441"/>
                  </a:lnTo>
                  <a:lnTo>
                    <a:pt x="998914" y="408157"/>
                  </a:lnTo>
                  <a:lnTo>
                    <a:pt x="1005692" y="455392"/>
                  </a:lnTo>
                  <a:lnTo>
                    <a:pt x="1007999" y="503935"/>
                  </a:lnTo>
                  <a:lnTo>
                    <a:pt x="1005692" y="552479"/>
                  </a:lnTo>
                  <a:lnTo>
                    <a:pt x="998914" y="599716"/>
                  </a:lnTo>
                  <a:lnTo>
                    <a:pt x="987875" y="645435"/>
                  </a:lnTo>
                  <a:lnTo>
                    <a:pt x="972787" y="689426"/>
                  </a:lnTo>
                  <a:lnTo>
                    <a:pt x="953859" y="731476"/>
                  </a:lnTo>
                  <a:lnTo>
                    <a:pt x="931303" y="771376"/>
                  </a:lnTo>
                  <a:lnTo>
                    <a:pt x="905330" y="808914"/>
                  </a:lnTo>
                  <a:lnTo>
                    <a:pt x="876151" y="843878"/>
                  </a:lnTo>
                  <a:lnTo>
                    <a:pt x="843976" y="876058"/>
                  </a:lnTo>
                  <a:lnTo>
                    <a:pt x="809017" y="905243"/>
                  </a:lnTo>
                  <a:lnTo>
                    <a:pt x="771485" y="931221"/>
                  </a:lnTo>
                  <a:lnTo>
                    <a:pt x="731590" y="953782"/>
                  </a:lnTo>
                  <a:lnTo>
                    <a:pt x="689544" y="972714"/>
                  </a:lnTo>
                  <a:lnTo>
                    <a:pt x="645557" y="987807"/>
                  </a:lnTo>
                  <a:lnTo>
                    <a:pt x="599841" y="998848"/>
                  </a:lnTo>
                  <a:lnTo>
                    <a:pt x="552606" y="1005628"/>
                  </a:lnTo>
                  <a:lnTo>
                    <a:pt x="504063" y="1007935"/>
                  </a:lnTo>
                  <a:lnTo>
                    <a:pt x="455518" y="1005628"/>
                  </a:lnTo>
                  <a:lnTo>
                    <a:pt x="408279" y="998848"/>
                  </a:lnTo>
                  <a:lnTo>
                    <a:pt x="362557" y="987807"/>
                  </a:lnTo>
                  <a:lnTo>
                    <a:pt x="318563" y="972714"/>
                  </a:lnTo>
                  <a:lnTo>
                    <a:pt x="276508" y="953782"/>
                  </a:lnTo>
                  <a:lnTo>
                    <a:pt x="236604" y="931221"/>
                  </a:lnTo>
                  <a:lnTo>
                    <a:pt x="199061" y="905243"/>
                  </a:lnTo>
                  <a:lnTo>
                    <a:pt x="164091" y="876058"/>
                  </a:lnTo>
                  <a:lnTo>
                    <a:pt x="131905" y="843878"/>
                  </a:lnTo>
                  <a:lnTo>
                    <a:pt x="102715" y="808914"/>
                  </a:lnTo>
                  <a:lnTo>
                    <a:pt x="76731" y="771376"/>
                  </a:lnTo>
                  <a:lnTo>
                    <a:pt x="54166" y="731476"/>
                  </a:lnTo>
                  <a:lnTo>
                    <a:pt x="35229" y="689426"/>
                  </a:lnTo>
                  <a:lnTo>
                    <a:pt x="20133" y="645435"/>
                  </a:lnTo>
                  <a:lnTo>
                    <a:pt x="9089" y="599716"/>
                  </a:lnTo>
                  <a:lnTo>
                    <a:pt x="2307" y="552479"/>
                  </a:lnTo>
                  <a:lnTo>
                    <a:pt x="0" y="503935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6732" y="2571242"/>
              <a:ext cx="2160270" cy="2160270"/>
            </a:xfrm>
            <a:custGeom>
              <a:avLst/>
              <a:gdLst/>
              <a:ahLst/>
              <a:cxnLst/>
              <a:rect l="l" t="t" r="r" b="b"/>
              <a:pathLst>
                <a:path w="2160270" h="2160270">
                  <a:moveTo>
                    <a:pt x="0" y="1080008"/>
                  </a:moveTo>
                  <a:lnTo>
                    <a:pt x="1052" y="1031896"/>
                  </a:lnTo>
                  <a:lnTo>
                    <a:pt x="4179" y="984324"/>
                  </a:lnTo>
                  <a:lnTo>
                    <a:pt x="9338" y="937335"/>
                  </a:lnTo>
                  <a:lnTo>
                    <a:pt x="16484" y="890973"/>
                  </a:lnTo>
                  <a:lnTo>
                    <a:pt x="25573" y="845282"/>
                  </a:lnTo>
                  <a:lnTo>
                    <a:pt x="36562" y="800306"/>
                  </a:lnTo>
                  <a:lnTo>
                    <a:pt x="49407" y="756088"/>
                  </a:lnTo>
                  <a:lnTo>
                    <a:pt x="64063" y="712673"/>
                  </a:lnTo>
                  <a:lnTo>
                    <a:pt x="80488" y="670105"/>
                  </a:lnTo>
                  <a:lnTo>
                    <a:pt x="98637" y="628426"/>
                  </a:lnTo>
                  <a:lnTo>
                    <a:pt x="118466" y="587682"/>
                  </a:lnTo>
                  <a:lnTo>
                    <a:pt x="139931" y="547916"/>
                  </a:lnTo>
                  <a:lnTo>
                    <a:pt x="162988" y="509172"/>
                  </a:lnTo>
                  <a:lnTo>
                    <a:pt x="187594" y="471494"/>
                  </a:lnTo>
                  <a:lnTo>
                    <a:pt x="213705" y="434926"/>
                  </a:lnTo>
                  <a:lnTo>
                    <a:pt x="241277" y="399511"/>
                  </a:lnTo>
                  <a:lnTo>
                    <a:pt x="270265" y="365294"/>
                  </a:lnTo>
                  <a:lnTo>
                    <a:pt x="300627" y="332318"/>
                  </a:lnTo>
                  <a:lnTo>
                    <a:pt x="332318" y="300627"/>
                  </a:lnTo>
                  <a:lnTo>
                    <a:pt x="365294" y="270265"/>
                  </a:lnTo>
                  <a:lnTo>
                    <a:pt x="399511" y="241277"/>
                  </a:lnTo>
                  <a:lnTo>
                    <a:pt x="434926" y="213705"/>
                  </a:lnTo>
                  <a:lnTo>
                    <a:pt x="471494" y="187594"/>
                  </a:lnTo>
                  <a:lnTo>
                    <a:pt x="509172" y="162988"/>
                  </a:lnTo>
                  <a:lnTo>
                    <a:pt x="547916" y="139931"/>
                  </a:lnTo>
                  <a:lnTo>
                    <a:pt x="587682" y="118466"/>
                  </a:lnTo>
                  <a:lnTo>
                    <a:pt x="628426" y="98637"/>
                  </a:lnTo>
                  <a:lnTo>
                    <a:pt x="670105" y="80488"/>
                  </a:lnTo>
                  <a:lnTo>
                    <a:pt x="712673" y="64063"/>
                  </a:lnTo>
                  <a:lnTo>
                    <a:pt x="756088" y="49407"/>
                  </a:lnTo>
                  <a:lnTo>
                    <a:pt x="800306" y="36562"/>
                  </a:lnTo>
                  <a:lnTo>
                    <a:pt x="845282" y="25573"/>
                  </a:lnTo>
                  <a:lnTo>
                    <a:pt x="890973" y="16484"/>
                  </a:lnTo>
                  <a:lnTo>
                    <a:pt x="937335" y="9338"/>
                  </a:lnTo>
                  <a:lnTo>
                    <a:pt x="984324" y="4179"/>
                  </a:lnTo>
                  <a:lnTo>
                    <a:pt x="1031896" y="1052"/>
                  </a:lnTo>
                  <a:lnTo>
                    <a:pt x="1080008" y="0"/>
                  </a:lnTo>
                  <a:lnTo>
                    <a:pt x="1128109" y="1052"/>
                  </a:lnTo>
                  <a:lnTo>
                    <a:pt x="1175673" y="4179"/>
                  </a:lnTo>
                  <a:lnTo>
                    <a:pt x="1222654" y="9338"/>
                  </a:lnTo>
                  <a:lnTo>
                    <a:pt x="1269009" y="16484"/>
                  </a:lnTo>
                  <a:lnTo>
                    <a:pt x="1314695" y="25573"/>
                  </a:lnTo>
                  <a:lnTo>
                    <a:pt x="1359666" y="36562"/>
                  </a:lnTo>
                  <a:lnTo>
                    <a:pt x="1403879" y="49407"/>
                  </a:lnTo>
                  <a:lnTo>
                    <a:pt x="1447291" y="64063"/>
                  </a:lnTo>
                  <a:lnTo>
                    <a:pt x="1489857" y="80488"/>
                  </a:lnTo>
                  <a:lnTo>
                    <a:pt x="1531534" y="98637"/>
                  </a:lnTo>
                  <a:lnTo>
                    <a:pt x="1572277" y="118466"/>
                  </a:lnTo>
                  <a:lnTo>
                    <a:pt x="1612042" y="139931"/>
                  </a:lnTo>
                  <a:lnTo>
                    <a:pt x="1650786" y="162988"/>
                  </a:lnTo>
                  <a:lnTo>
                    <a:pt x="1688465" y="187594"/>
                  </a:lnTo>
                  <a:lnTo>
                    <a:pt x="1725035" y="213705"/>
                  </a:lnTo>
                  <a:lnTo>
                    <a:pt x="1760451" y="241277"/>
                  </a:lnTo>
                  <a:lnTo>
                    <a:pt x="1794670" y="270265"/>
                  </a:lnTo>
                  <a:lnTo>
                    <a:pt x="1827649" y="300627"/>
                  </a:lnTo>
                  <a:lnTo>
                    <a:pt x="1859342" y="332318"/>
                  </a:lnTo>
                  <a:lnTo>
                    <a:pt x="1889706" y="365294"/>
                  </a:lnTo>
                  <a:lnTo>
                    <a:pt x="1918698" y="399511"/>
                  </a:lnTo>
                  <a:lnTo>
                    <a:pt x="1946272" y="434926"/>
                  </a:lnTo>
                  <a:lnTo>
                    <a:pt x="1972387" y="471494"/>
                  </a:lnTo>
                  <a:lnTo>
                    <a:pt x="1996996" y="509172"/>
                  </a:lnTo>
                  <a:lnTo>
                    <a:pt x="2020057" y="547916"/>
                  </a:lnTo>
                  <a:lnTo>
                    <a:pt x="2041526" y="587682"/>
                  </a:lnTo>
                  <a:lnTo>
                    <a:pt x="2061358" y="628426"/>
                  </a:lnTo>
                  <a:lnTo>
                    <a:pt x="2079510" y="670105"/>
                  </a:lnTo>
                  <a:lnTo>
                    <a:pt x="2095938" y="712673"/>
                  </a:lnTo>
                  <a:lnTo>
                    <a:pt x="2110597" y="756088"/>
                  </a:lnTo>
                  <a:lnTo>
                    <a:pt x="2123445" y="800306"/>
                  </a:lnTo>
                  <a:lnTo>
                    <a:pt x="2134436" y="845282"/>
                  </a:lnTo>
                  <a:lnTo>
                    <a:pt x="2143527" y="890973"/>
                  </a:lnTo>
                  <a:lnTo>
                    <a:pt x="2150675" y="937335"/>
                  </a:lnTo>
                  <a:lnTo>
                    <a:pt x="2155835" y="984324"/>
                  </a:lnTo>
                  <a:lnTo>
                    <a:pt x="2158963" y="1031896"/>
                  </a:lnTo>
                  <a:lnTo>
                    <a:pt x="2160016" y="1080008"/>
                  </a:lnTo>
                  <a:lnTo>
                    <a:pt x="2158963" y="1128109"/>
                  </a:lnTo>
                  <a:lnTo>
                    <a:pt x="2155835" y="1175673"/>
                  </a:lnTo>
                  <a:lnTo>
                    <a:pt x="2150675" y="1222654"/>
                  </a:lnTo>
                  <a:lnTo>
                    <a:pt x="2143527" y="1269009"/>
                  </a:lnTo>
                  <a:lnTo>
                    <a:pt x="2134436" y="1314695"/>
                  </a:lnTo>
                  <a:lnTo>
                    <a:pt x="2123445" y="1359666"/>
                  </a:lnTo>
                  <a:lnTo>
                    <a:pt x="2110597" y="1403879"/>
                  </a:lnTo>
                  <a:lnTo>
                    <a:pt x="2095938" y="1447291"/>
                  </a:lnTo>
                  <a:lnTo>
                    <a:pt x="2079510" y="1489857"/>
                  </a:lnTo>
                  <a:lnTo>
                    <a:pt x="2061358" y="1531534"/>
                  </a:lnTo>
                  <a:lnTo>
                    <a:pt x="2041526" y="1572277"/>
                  </a:lnTo>
                  <a:lnTo>
                    <a:pt x="2020057" y="1612042"/>
                  </a:lnTo>
                  <a:lnTo>
                    <a:pt x="1996996" y="1650786"/>
                  </a:lnTo>
                  <a:lnTo>
                    <a:pt x="1972387" y="1688465"/>
                  </a:lnTo>
                  <a:lnTo>
                    <a:pt x="1946272" y="1725035"/>
                  </a:lnTo>
                  <a:lnTo>
                    <a:pt x="1918698" y="1760451"/>
                  </a:lnTo>
                  <a:lnTo>
                    <a:pt x="1889706" y="1794670"/>
                  </a:lnTo>
                  <a:lnTo>
                    <a:pt x="1859342" y="1827649"/>
                  </a:lnTo>
                  <a:lnTo>
                    <a:pt x="1827649" y="1859342"/>
                  </a:lnTo>
                  <a:lnTo>
                    <a:pt x="1794670" y="1889706"/>
                  </a:lnTo>
                  <a:lnTo>
                    <a:pt x="1760451" y="1918698"/>
                  </a:lnTo>
                  <a:lnTo>
                    <a:pt x="1725035" y="1946272"/>
                  </a:lnTo>
                  <a:lnTo>
                    <a:pt x="1688465" y="1972387"/>
                  </a:lnTo>
                  <a:lnTo>
                    <a:pt x="1650786" y="1996996"/>
                  </a:lnTo>
                  <a:lnTo>
                    <a:pt x="1612042" y="2020057"/>
                  </a:lnTo>
                  <a:lnTo>
                    <a:pt x="1572277" y="2041526"/>
                  </a:lnTo>
                  <a:lnTo>
                    <a:pt x="1531534" y="2061358"/>
                  </a:lnTo>
                  <a:lnTo>
                    <a:pt x="1489857" y="2079510"/>
                  </a:lnTo>
                  <a:lnTo>
                    <a:pt x="1447291" y="2095938"/>
                  </a:lnTo>
                  <a:lnTo>
                    <a:pt x="1403879" y="2110597"/>
                  </a:lnTo>
                  <a:lnTo>
                    <a:pt x="1359666" y="2123445"/>
                  </a:lnTo>
                  <a:lnTo>
                    <a:pt x="1314695" y="2134436"/>
                  </a:lnTo>
                  <a:lnTo>
                    <a:pt x="1269009" y="2143527"/>
                  </a:lnTo>
                  <a:lnTo>
                    <a:pt x="1222654" y="2150675"/>
                  </a:lnTo>
                  <a:lnTo>
                    <a:pt x="1175673" y="2155835"/>
                  </a:lnTo>
                  <a:lnTo>
                    <a:pt x="1128109" y="2158963"/>
                  </a:lnTo>
                  <a:lnTo>
                    <a:pt x="1080008" y="2160016"/>
                  </a:lnTo>
                  <a:lnTo>
                    <a:pt x="1031896" y="2158963"/>
                  </a:lnTo>
                  <a:lnTo>
                    <a:pt x="984324" y="2155835"/>
                  </a:lnTo>
                  <a:lnTo>
                    <a:pt x="937335" y="2150675"/>
                  </a:lnTo>
                  <a:lnTo>
                    <a:pt x="890973" y="2143527"/>
                  </a:lnTo>
                  <a:lnTo>
                    <a:pt x="845282" y="2134436"/>
                  </a:lnTo>
                  <a:lnTo>
                    <a:pt x="800306" y="2123445"/>
                  </a:lnTo>
                  <a:lnTo>
                    <a:pt x="756088" y="2110597"/>
                  </a:lnTo>
                  <a:lnTo>
                    <a:pt x="712673" y="2095938"/>
                  </a:lnTo>
                  <a:lnTo>
                    <a:pt x="670105" y="2079510"/>
                  </a:lnTo>
                  <a:lnTo>
                    <a:pt x="628426" y="2061358"/>
                  </a:lnTo>
                  <a:lnTo>
                    <a:pt x="587682" y="2041526"/>
                  </a:lnTo>
                  <a:lnTo>
                    <a:pt x="547916" y="2020057"/>
                  </a:lnTo>
                  <a:lnTo>
                    <a:pt x="509172" y="1996996"/>
                  </a:lnTo>
                  <a:lnTo>
                    <a:pt x="471494" y="1972387"/>
                  </a:lnTo>
                  <a:lnTo>
                    <a:pt x="434926" y="1946272"/>
                  </a:lnTo>
                  <a:lnTo>
                    <a:pt x="399511" y="1918698"/>
                  </a:lnTo>
                  <a:lnTo>
                    <a:pt x="365294" y="1889706"/>
                  </a:lnTo>
                  <a:lnTo>
                    <a:pt x="332318" y="1859342"/>
                  </a:lnTo>
                  <a:lnTo>
                    <a:pt x="300627" y="1827649"/>
                  </a:lnTo>
                  <a:lnTo>
                    <a:pt x="270265" y="1794670"/>
                  </a:lnTo>
                  <a:lnTo>
                    <a:pt x="241277" y="1760451"/>
                  </a:lnTo>
                  <a:lnTo>
                    <a:pt x="213705" y="1725035"/>
                  </a:lnTo>
                  <a:lnTo>
                    <a:pt x="187594" y="1688465"/>
                  </a:lnTo>
                  <a:lnTo>
                    <a:pt x="162988" y="1650786"/>
                  </a:lnTo>
                  <a:lnTo>
                    <a:pt x="139931" y="1612042"/>
                  </a:lnTo>
                  <a:lnTo>
                    <a:pt x="118466" y="1572277"/>
                  </a:lnTo>
                  <a:lnTo>
                    <a:pt x="98637" y="1531534"/>
                  </a:lnTo>
                  <a:lnTo>
                    <a:pt x="80488" y="1489857"/>
                  </a:lnTo>
                  <a:lnTo>
                    <a:pt x="64063" y="1447291"/>
                  </a:lnTo>
                  <a:lnTo>
                    <a:pt x="49407" y="1403879"/>
                  </a:lnTo>
                  <a:lnTo>
                    <a:pt x="36562" y="1359666"/>
                  </a:lnTo>
                  <a:lnTo>
                    <a:pt x="25573" y="1314695"/>
                  </a:lnTo>
                  <a:lnTo>
                    <a:pt x="16484" y="1269009"/>
                  </a:lnTo>
                  <a:lnTo>
                    <a:pt x="9338" y="1222654"/>
                  </a:lnTo>
                  <a:lnTo>
                    <a:pt x="4179" y="1175673"/>
                  </a:lnTo>
                  <a:lnTo>
                    <a:pt x="1052" y="1128109"/>
                  </a:lnTo>
                  <a:lnTo>
                    <a:pt x="0" y="1080008"/>
                  </a:lnTo>
                  <a:close/>
                </a:path>
                <a:path w="2160270" h="2160270">
                  <a:moveTo>
                    <a:pt x="179959" y="1080008"/>
                  </a:moveTo>
                  <a:lnTo>
                    <a:pt x="181206" y="1032207"/>
                  </a:lnTo>
                  <a:lnTo>
                    <a:pt x="184907" y="985057"/>
                  </a:lnTo>
                  <a:lnTo>
                    <a:pt x="191000" y="938618"/>
                  </a:lnTo>
                  <a:lnTo>
                    <a:pt x="199423" y="892954"/>
                  </a:lnTo>
                  <a:lnTo>
                    <a:pt x="210112" y="848126"/>
                  </a:lnTo>
                  <a:lnTo>
                    <a:pt x="223006" y="804197"/>
                  </a:lnTo>
                  <a:lnTo>
                    <a:pt x="238043" y="761229"/>
                  </a:lnTo>
                  <a:lnTo>
                    <a:pt x="255161" y="719283"/>
                  </a:lnTo>
                  <a:lnTo>
                    <a:pt x="274296" y="678423"/>
                  </a:lnTo>
                  <a:lnTo>
                    <a:pt x="295388" y="638710"/>
                  </a:lnTo>
                  <a:lnTo>
                    <a:pt x="318374" y="600207"/>
                  </a:lnTo>
                  <a:lnTo>
                    <a:pt x="343191" y="562975"/>
                  </a:lnTo>
                  <a:lnTo>
                    <a:pt x="369778" y="527078"/>
                  </a:lnTo>
                  <a:lnTo>
                    <a:pt x="398072" y="492576"/>
                  </a:lnTo>
                  <a:lnTo>
                    <a:pt x="428012" y="459534"/>
                  </a:lnTo>
                  <a:lnTo>
                    <a:pt x="459534" y="428012"/>
                  </a:lnTo>
                  <a:lnTo>
                    <a:pt x="492576" y="398072"/>
                  </a:lnTo>
                  <a:lnTo>
                    <a:pt x="527078" y="369778"/>
                  </a:lnTo>
                  <a:lnTo>
                    <a:pt x="562975" y="343191"/>
                  </a:lnTo>
                  <a:lnTo>
                    <a:pt x="600207" y="318374"/>
                  </a:lnTo>
                  <a:lnTo>
                    <a:pt x="638710" y="295388"/>
                  </a:lnTo>
                  <a:lnTo>
                    <a:pt x="678423" y="274296"/>
                  </a:lnTo>
                  <a:lnTo>
                    <a:pt x="719283" y="255161"/>
                  </a:lnTo>
                  <a:lnTo>
                    <a:pt x="761229" y="238043"/>
                  </a:lnTo>
                  <a:lnTo>
                    <a:pt x="804197" y="223006"/>
                  </a:lnTo>
                  <a:lnTo>
                    <a:pt x="848126" y="210112"/>
                  </a:lnTo>
                  <a:lnTo>
                    <a:pt x="892954" y="199423"/>
                  </a:lnTo>
                  <a:lnTo>
                    <a:pt x="938618" y="191000"/>
                  </a:lnTo>
                  <a:lnTo>
                    <a:pt x="985057" y="184907"/>
                  </a:lnTo>
                  <a:lnTo>
                    <a:pt x="1032207" y="181206"/>
                  </a:lnTo>
                  <a:lnTo>
                    <a:pt x="1080008" y="179959"/>
                  </a:lnTo>
                  <a:lnTo>
                    <a:pt x="1127807" y="181206"/>
                  </a:lnTo>
                  <a:lnTo>
                    <a:pt x="1174957" y="184907"/>
                  </a:lnTo>
                  <a:lnTo>
                    <a:pt x="1221393" y="191000"/>
                  </a:lnTo>
                  <a:lnTo>
                    <a:pt x="1267055" y="199423"/>
                  </a:lnTo>
                  <a:lnTo>
                    <a:pt x="1311880" y="210112"/>
                  </a:lnTo>
                  <a:lnTo>
                    <a:pt x="1355806" y="223006"/>
                  </a:lnTo>
                  <a:lnTo>
                    <a:pt x="1398770" y="238043"/>
                  </a:lnTo>
                  <a:lnTo>
                    <a:pt x="1440711" y="255161"/>
                  </a:lnTo>
                  <a:lnTo>
                    <a:pt x="1481566" y="274296"/>
                  </a:lnTo>
                  <a:lnTo>
                    <a:pt x="1521274" y="295388"/>
                  </a:lnTo>
                  <a:lnTo>
                    <a:pt x="1559772" y="318374"/>
                  </a:lnTo>
                  <a:lnTo>
                    <a:pt x="1596998" y="343191"/>
                  </a:lnTo>
                  <a:lnTo>
                    <a:pt x="1632889" y="369778"/>
                  </a:lnTo>
                  <a:lnTo>
                    <a:pt x="1667384" y="398072"/>
                  </a:lnTo>
                  <a:lnTo>
                    <a:pt x="1700421" y="428012"/>
                  </a:lnTo>
                  <a:lnTo>
                    <a:pt x="1731937" y="459534"/>
                  </a:lnTo>
                  <a:lnTo>
                    <a:pt x="1761870" y="492576"/>
                  </a:lnTo>
                  <a:lnTo>
                    <a:pt x="1790158" y="527078"/>
                  </a:lnTo>
                  <a:lnTo>
                    <a:pt x="1816739" y="562975"/>
                  </a:lnTo>
                  <a:lnTo>
                    <a:pt x="1841551" y="600207"/>
                  </a:lnTo>
                  <a:lnTo>
                    <a:pt x="1864531" y="638710"/>
                  </a:lnTo>
                  <a:lnTo>
                    <a:pt x="1885618" y="678423"/>
                  </a:lnTo>
                  <a:lnTo>
                    <a:pt x="1904748" y="719283"/>
                  </a:lnTo>
                  <a:lnTo>
                    <a:pt x="1921861" y="761229"/>
                  </a:lnTo>
                  <a:lnTo>
                    <a:pt x="1936894" y="804197"/>
                  </a:lnTo>
                  <a:lnTo>
                    <a:pt x="1949785" y="848126"/>
                  </a:lnTo>
                  <a:lnTo>
                    <a:pt x="1960471" y="892954"/>
                  </a:lnTo>
                  <a:lnTo>
                    <a:pt x="1968891" y="938618"/>
                  </a:lnTo>
                  <a:lnTo>
                    <a:pt x="1974982" y="985057"/>
                  </a:lnTo>
                  <a:lnTo>
                    <a:pt x="1978682" y="1032207"/>
                  </a:lnTo>
                  <a:lnTo>
                    <a:pt x="1979930" y="1080008"/>
                  </a:lnTo>
                  <a:lnTo>
                    <a:pt x="1978682" y="1127807"/>
                  </a:lnTo>
                  <a:lnTo>
                    <a:pt x="1974982" y="1174957"/>
                  </a:lnTo>
                  <a:lnTo>
                    <a:pt x="1968891" y="1221393"/>
                  </a:lnTo>
                  <a:lnTo>
                    <a:pt x="1960471" y="1267055"/>
                  </a:lnTo>
                  <a:lnTo>
                    <a:pt x="1949785" y="1311880"/>
                  </a:lnTo>
                  <a:lnTo>
                    <a:pt x="1936894" y="1355806"/>
                  </a:lnTo>
                  <a:lnTo>
                    <a:pt x="1921861" y="1398770"/>
                  </a:lnTo>
                  <a:lnTo>
                    <a:pt x="1904748" y="1440711"/>
                  </a:lnTo>
                  <a:lnTo>
                    <a:pt x="1885618" y="1481566"/>
                  </a:lnTo>
                  <a:lnTo>
                    <a:pt x="1864531" y="1521274"/>
                  </a:lnTo>
                  <a:lnTo>
                    <a:pt x="1841551" y="1559772"/>
                  </a:lnTo>
                  <a:lnTo>
                    <a:pt x="1816739" y="1596998"/>
                  </a:lnTo>
                  <a:lnTo>
                    <a:pt x="1790158" y="1632889"/>
                  </a:lnTo>
                  <a:lnTo>
                    <a:pt x="1761870" y="1667384"/>
                  </a:lnTo>
                  <a:lnTo>
                    <a:pt x="1731937" y="1700421"/>
                  </a:lnTo>
                  <a:lnTo>
                    <a:pt x="1700421" y="1731937"/>
                  </a:lnTo>
                  <a:lnTo>
                    <a:pt x="1667384" y="1761870"/>
                  </a:lnTo>
                  <a:lnTo>
                    <a:pt x="1632889" y="1790158"/>
                  </a:lnTo>
                  <a:lnTo>
                    <a:pt x="1596998" y="1816739"/>
                  </a:lnTo>
                  <a:lnTo>
                    <a:pt x="1559772" y="1841551"/>
                  </a:lnTo>
                  <a:lnTo>
                    <a:pt x="1521274" y="1864531"/>
                  </a:lnTo>
                  <a:lnTo>
                    <a:pt x="1481566" y="1885618"/>
                  </a:lnTo>
                  <a:lnTo>
                    <a:pt x="1440711" y="1904748"/>
                  </a:lnTo>
                  <a:lnTo>
                    <a:pt x="1398770" y="1921861"/>
                  </a:lnTo>
                  <a:lnTo>
                    <a:pt x="1355806" y="1936894"/>
                  </a:lnTo>
                  <a:lnTo>
                    <a:pt x="1311880" y="1949785"/>
                  </a:lnTo>
                  <a:lnTo>
                    <a:pt x="1267055" y="1960471"/>
                  </a:lnTo>
                  <a:lnTo>
                    <a:pt x="1221393" y="1968891"/>
                  </a:lnTo>
                  <a:lnTo>
                    <a:pt x="1174957" y="1974982"/>
                  </a:lnTo>
                  <a:lnTo>
                    <a:pt x="1127807" y="1978682"/>
                  </a:lnTo>
                  <a:lnTo>
                    <a:pt x="1080008" y="1979930"/>
                  </a:lnTo>
                  <a:lnTo>
                    <a:pt x="1032207" y="1978682"/>
                  </a:lnTo>
                  <a:lnTo>
                    <a:pt x="985057" y="1974982"/>
                  </a:lnTo>
                  <a:lnTo>
                    <a:pt x="938618" y="1968891"/>
                  </a:lnTo>
                  <a:lnTo>
                    <a:pt x="892954" y="1960471"/>
                  </a:lnTo>
                  <a:lnTo>
                    <a:pt x="848126" y="1949785"/>
                  </a:lnTo>
                  <a:lnTo>
                    <a:pt x="804197" y="1936894"/>
                  </a:lnTo>
                  <a:lnTo>
                    <a:pt x="761229" y="1921861"/>
                  </a:lnTo>
                  <a:lnTo>
                    <a:pt x="719283" y="1904748"/>
                  </a:lnTo>
                  <a:lnTo>
                    <a:pt x="678423" y="1885618"/>
                  </a:lnTo>
                  <a:lnTo>
                    <a:pt x="638710" y="1864531"/>
                  </a:lnTo>
                  <a:lnTo>
                    <a:pt x="600207" y="1841551"/>
                  </a:lnTo>
                  <a:lnTo>
                    <a:pt x="562975" y="1816739"/>
                  </a:lnTo>
                  <a:lnTo>
                    <a:pt x="527078" y="1790158"/>
                  </a:lnTo>
                  <a:lnTo>
                    <a:pt x="492576" y="1761870"/>
                  </a:lnTo>
                  <a:lnTo>
                    <a:pt x="459534" y="1731937"/>
                  </a:lnTo>
                  <a:lnTo>
                    <a:pt x="428012" y="1700421"/>
                  </a:lnTo>
                  <a:lnTo>
                    <a:pt x="398072" y="1667384"/>
                  </a:lnTo>
                  <a:lnTo>
                    <a:pt x="369778" y="1632889"/>
                  </a:lnTo>
                  <a:lnTo>
                    <a:pt x="343191" y="1596998"/>
                  </a:lnTo>
                  <a:lnTo>
                    <a:pt x="318374" y="1559772"/>
                  </a:lnTo>
                  <a:lnTo>
                    <a:pt x="295388" y="1521274"/>
                  </a:lnTo>
                  <a:lnTo>
                    <a:pt x="274296" y="1481566"/>
                  </a:lnTo>
                  <a:lnTo>
                    <a:pt x="255161" y="1440711"/>
                  </a:lnTo>
                  <a:lnTo>
                    <a:pt x="238043" y="1398770"/>
                  </a:lnTo>
                  <a:lnTo>
                    <a:pt x="223006" y="1355806"/>
                  </a:lnTo>
                  <a:lnTo>
                    <a:pt x="210112" y="1311880"/>
                  </a:lnTo>
                  <a:lnTo>
                    <a:pt x="199423" y="1267055"/>
                  </a:lnTo>
                  <a:lnTo>
                    <a:pt x="191000" y="1221393"/>
                  </a:lnTo>
                  <a:lnTo>
                    <a:pt x="184907" y="1174957"/>
                  </a:lnTo>
                  <a:lnTo>
                    <a:pt x="181206" y="1127807"/>
                  </a:lnTo>
                  <a:lnTo>
                    <a:pt x="179959" y="1080008"/>
                  </a:lnTo>
                  <a:close/>
                </a:path>
                <a:path w="2160270" h="2160270">
                  <a:moveTo>
                    <a:pt x="359918" y="1080008"/>
                  </a:moveTo>
                  <a:lnTo>
                    <a:pt x="361449" y="1032668"/>
                  </a:lnTo>
                  <a:lnTo>
                    <a:pt x="365982" y="986147"/>
                  </a:lnTo>
                  <a:lnTo>
                    <a:pt x="373420" y="940538"/>
                  </a:lnTo>
                  <a:lnTo>
                    <a:pt x="383669" y="895937"/>
                  </a:lnTo>
                  <a:lnTo>
                    <a:pt x="396634" y="852439"/>
                  </a:lnTo>
                  <a:lnTo>
                    <a:pt x="412219" y="810137"/>
                  </a:lnTo>
                  <a:lnTo>
                    <a:pt x="430330" y="769128"/>
                  </a:lnTo>
                  <a:lnTo>
                    <a:pt x="450873" y="729506"/>
                  </a:lnTo>
                  <a:lnTo>
                    <a:pt x="473751" y="691365"/>
                  </a:lnTo>
                  <a:lnTo>
                    <a:pt x="498870" y="654801"/>
                  </a:lnTo>
                  <a:lnTo>
                    <a:pt x="526135" y="619909"/>
                  </a:lnTo>
                  <a:lnTo>
                    <a:pt x="555451" y="586783"/>
                  </a:lnTo>
                  <a:lnTo>
                    <a:pt x="586723" y="555518"/>
                  </a:lnTo>
                  <a:lnTo>
                    <a:pt x="619857" y="526210"/>
                  </a:lnTo>
                  <a:lnTo>
                    <a:pt x="654757" y="498952"/>
                  </a:lnTo>
                  <a:lnTo>
                    <a:pt x="691328" y="473840"/>
                  </a:lnTo>
                  <a:lnTo>
                    <a:pt x="729475" y="450969"/>
                  </a:lnTo>
                  <a:lnTo>
                    <a:pt x="769104" y="430433"/>
                  </a:lnTo>
                  <a:lnTo>
                    <a:pt x="810119" y="412328"/>
                  </a:lnTo>
                  <a:lnTo>
                    <a:pt x="852426" y="396747"/>
                  </a:lnTo>
                  <a:lnTo>
                    <a:pt x="895929" y="383787"/>
                  </a:lnTo>
                  <a:lnTo>
                    <a:pt x="940533" y="373542"/>
                  </a:lnTo>
                  <a:lnTo>
                    <a:pt x="986145" y="366107"/>
                  </a:lnTo>
                  <a:lnTo>
                    <a:pt x="1032668" y="361576"/>
                  </a:lnTo>
                  <a:lnTo>
                    <a:pt x="1080008" y="360045"/>
                  </a:lnTo>
                  <a:lnTo>
                    <a:pt x="1127347" y="361576"/>
                  </a:lnTo>
                  <a:lnTo>
                    <a:pt x="1173868" y="366107"/>
                  </a:lnTo>
                  <a:lnTo>
                    <a:pt x="1219477" y="373542"/>
                  </a:lnTo>
                  <a:lnTo>
                    <a:pt x="1264078" y="383787"/>
                  </a:lnTo>
                  <a:lnTo>
                    <a:pt x="1307576" y="396748"/>
                  </a:lnTo>
                  <a:lnTo>
                    <a:pt x="1349878" y="412328"/>
                  </a:lnTo>
                  <a:lnTo>
                    <a:pt x="1390887" y="430433"/>
                  </a:lnTo>
                  <a:lnTo>
                    <a:pt x="1430509" y="450969"/>
                  </a:lnTo>
                  <a:lnTo>
                    <a:pt x="1468650" y="473840"/>
                  </a:lnTo>
                  <a:lnTo>
                    <a:pt x="1505214" y="498952"/>
                  </a:lnTo>
                  <a:lnTo>
                    <a:pt x="1540106" y="526210"/>
                  </a:lnTo>
                  <a:lnTo>
                    <a:pt x="1573232" y="555518"/>
                  </a:lnTo>
                  <a:lnTo>
                    <a:pt x="1604497" y="586783"/>
                  </a:lnTo>
                  <a:lnTo>
                    <a:pt x="1633805" y="619909"/>
                  </a:lnTo>
                  <a:lnTo>
                    <a:pt x="1661063" y="654801"/>
                  </a:lnTo>
                  <a:lnTo>
                    <a:pt x="1686175" y="691365"/>
                  </a:lnTo>
                  <a:lnTo>
                    <a:pt x="1709046" y="729506"/>
                  </a:lnTo>
                  <a:lnTo>
                    <a:pt x="1729582" y="769128"/>
                  </a:lnTo>
                  <a:lnTo>
                    <a:pt x="1747687" y="810137"/>
                  </a:lnTo>
                  <a:lnTo>
                    <a:pt x="1763267" y="852439"/>
                  </a:lnTo>
                  <a:lnTo>
                    <a:pt x="1776228" y="895937"/>
                  </a:lnTo>
                  <a:lnTo>
                    <a:pt x="1786473" y="940538"/>
                  </a:lnTo>
                  <a:lnTo>
                    <a:pt x="1793908" y="986147"/>
                  </a:lnTo>
                  <a:lnTo>
                    <a:pt x="1798439" y="1032668"/>
                  </a:lnTo>
                  <a:lnTo>
                    <a:pt x="1799971" y="1080008"/>
                  </a:lnTo>
                  <a:lnTo>
                    <a:pt x="1798439" y="1127347"/>
                  </a:lnTo>
                  <a:lnTo>
                    <a:pt x="1793908" y="1173868"/>
                  </a:lnTo>
                  <a:lnTo>
                    <a:pt x="1786473" y="1219477"/>
                  </a:lnTo>
                  <a:lnTo>
                    <a:pt x="1776228" y="1264078"/>
                  </a:lnTo>
                  <a:lnTo>
                    <a:pt x="1763268" y="1307576"/>
                  </a:lnTo>
                  <a:lnTo>
                    <a:pt x="1747687" y="1349878"/>
                  </a:lnTo>
                  <a:lnTo>
                    <a:pt x="1729582" y="1390887"/>
                  </a:lnTo>
                  <a:lnTo>
                    <a:pt x="1709046" y="1430509"/>
                  </a:lnTo>
                  <a:lnTo>
                    <a:pt x="1686175" y="1468650"/>
                  </a:lnTo>
                  <a:lnTo>
                    <a:pt x="1661063" y="1505214"/>
                  </a:lnTo>
                  <a:lnTo>
                    <a:pt x="1633805" y="1540106"/>
                  </a:lnTo>
                  <a:lnTo>
                    <a:pt x="1604497" y="1573232"/>
                  </a:lnTo>
                  <a:lnTo>
                    <a:pt x="1573232" y="1604497"/>
                  </a:lnTo>
                  <a:lnTo>
                    <a:pt x="1540106" y="1633805"/>
                  </a:lnTo>
                  <a:lnTo>
                    <a:pt x="1505214" y="1661063"/>
                  </a:lnTo>
                  <a:lnTo>
                    <a:pt x="1468650" y="1686175"/>
                  </a:lnTo>
                  <a:lnTo>
                    <a:pt x="1430509" y="1709046"/>
                  </a:lnTo>
                  <a:lnTo>
                    <a:pt x="1390887" y="1729582"/>
                  </a:lnTo>
                  <a:lnTo>
                    <a:pt x="1349878" y="1747687"/>
                  </a:lnTo>
                  <a:lnTo>
                    <a:pt x="1307576" y="1763268"/>
                  </a:lnTo>
                  <a:lnTo>
                    <a:pt x="1264078" y="1776228"/>
                  </a:lnTo>
                  <a:lnTo>
                    <a:pt x="1219477" y="1786473"/>
                  </a:lnTo>
                  <a:lnTo>
                    <a:pt x="1173868" y="1793908"/>
                  </a:lnTo>
                  <a:lnTo>
                    <a:pt x="1127347" y="1798439"/>
                  </a:lnTo>
                  <a:lnTo>
                    <a:pt x="1080008" y="1799971"/>
                  </a:lnTo>
                  <a:lnTo>
                    <a:pt x="1032668" y="1798439"/>
                  </a:lnTo>
                  <a:lnTo>
                    <a:pt x="986145" y="1793908"/>
                  </a:lnTo>
                  <a:lnTo>
                    <a:pt x="940533" y="1786473"/>
                  </a:lnTo>
                  <a:lnTo>
                    <a:pt x="895929" y="1776228"/>
                  </a:lnTo>
                  <a:lnTo>
                    <a:pt x="852426" y="1763268"/>
                  </a:lnTo>
                  <a:lnTo>
                    <a:pt x="810119" y="1747687"/>
                  </a:lnTo>
                  <a:lnTo>
                    <a:pt x="769104" y="1729582"/>
                  </a:lnTo>
                  <a:lnTo>
                    <a:pt x="729475" y="1709046"/>
                  </a:lnTo>
                  <a:lnTo>
                    <a:pt x="691328" y="1686175"/>
                  </a:lnTo>
                  <a:lnTo>
                    <a:pt x="654757" y="1661063"/>
                  </a:lnTo>
                  <a:lnTo>
                    <a:pt x="619857" y="1633805"/>
                  </a:lnTo>
                  <a:lnTo>
                    <a:pt x="586723" y="1604497"/>
                  </a:lnTo>
                  <a:lnTo>
                    <a:pt x="555451" y="1573232"/>
                  </a:lnTo>
                  <a:lnTo>
                    <a:pt x="526135" y="1540106"/>
                  </a:lnTo>
                  <a:lnTo>
                    <a:pt x="498870" y="1505214"/>
                  </a:lnTo>
                  <a:lnTo>
                    <a:pt x="473751" y="1468650"/>
                  </a:lnTo>
                  <a:lnTo>
                    <a:pt x="450873" y="1430509"/>
                  </a:lnTo>
                  <a:lnTo>
                    <a:pt x="430330" y="1390887"/>
                  </a:lnTo>
                  <a:lnTo>
                    <a:pt x="412219" y="1349878"/>
                  </a:lnTo>
                  <a:lnTo>
                    <a:pt x="396634" y="1307576"/>
                  </a:lnTo>
                  <a:lnTo>
                    <a:pt x="383669" y="1264078"/>
                  </a:lnTo>
                  <a:lnTo>
                    <a:pt x="373420" y="1219477"/>
                  </a:lnTo>
                  <a:lnTo>
                    <a:pt x="365982" y="1173868"/>
                  </a:lnTo>
                  <a:lnTo>
                    <a:pt x="361449" y="1127347"/>
                  </a:lnTo>
                  <a:lnTo>
                    <a:pt x="359918" y="1080008"/>
                  </a:lnTo>
                  <a:close/>
                </a:path>
                <a:path w="2160270" h="2160270">
                  <a:moveTo>
                    <a:pt x="540003" y="1080008"/>
                  </a:moveTo>
                  <a:lnTo>
                    <a:pt x="542210" y="1030862"/>
                  </a:lnTo>
                  <a:lnTo>
                    <a:pt x="548701" y="982952"/>
                  </a:lnTo>
                  <a:lnTo>
                    <a:pt x="559287" y="936467"/>
                  </a:lnTo>
                  <a:lnTo>
                    <a:pt x="573777" y="891599"/>
                  </a:lnTo>
                  <a:lnTo>
                    <a:pt x="591982" y="848538"/>
                  </a:lnTo>
                  <a:lnTo>
                    <a:pt x="613711" y="807475"/>
                  </a:lnTo>
                  <a:lnTo>
                    <a:pt x="638772" y="768601"/>
                  </a:lnTo>
                  <a:lnTo>
                    <a:pt x="666977" y="732106"/>
                  </a:lnTo>
                  <a:lnTo>
                    <a:pt x="698134" y="698182"/>
                  </a:lnTo>
                  <a:lnTo>
                    <a:pt x="732054" y="667019"/>
                  </a:lnTo>
                  <a:lnTo>
                    <a:pt x="768545" y="638807"/>
                  </a:lnTo>
                  <a:lnTo>
                    <a:pt x="807418" y="613739"/>
                  </a:lnTo>
                  <a:lnTo>
                    <a:pt x="848483" y="592003"/>
                  </a:lnTo>
                  <a:lnTo>
                    <a:pt x="891548" y="573792"/>
                  </a:lnTo>
                  <a:lnTo>
                    <a:pt x="936423" y="559296"/>
                  </a:lnTo>
                  <a:lnTo>
                    <a:pt x="982918" y="548705"/>
                  </a:lnTo>
                  <a:lnTo>
                    <a:pt x="1030843" y="542211"/>
                  </a:lnTo>
                  <a:lnTo>
                    <a:pt x="1080008" y="540004"/>
                  </a:lnTo>
                  <a:lnTo>
                    <a:pt x="1129153" y="542211"/>
                  </a:lnTo>
                  <a:lnTo>
                    <a:pt x="1177063" y="548705"/>
                  </a:lnTo>
                  <a:lnTo>
                    <a:pt x="1223548" y="559296"/>
                  </a:lnTo>
                  <a:lnTo>
                    <a:pt x="1268416" y="573792"/>
                  </a:lnTo>
                  <a:lnTo>
                    <a:pt x="1311477" y="592003"/>
                  </a:lnTo>
                  <a:lnTo>
                    <a:pt x="1352540" y="613739"/>
                  </a:lnTo>
                  <a:lnTo>
                    <a:pt x="1391414" y="638807"/>
                  </a:lnTo>
                  <a:lnTo>
                    <a:pt x="1427909" y="667019"/>
                  </a:lnTo>
                  <a:lnTo>
                    <a:pt x="1461833" y="698182"/>
                  </a:lnTo>
                  <a:lnTo>
                    <a:pt x="1492996" y="732106"/>
                  </a:lnTo>
                  <a:lnTo>
                    <a:pt x="1521208" y="768601"/>
                  </a:lnTo>
                  <a:lnTo>
                    <a:pt x="1546276" y="807475"/>
                  </a:lnTo>
                  <a:lnTo>
                    <a:pt x="1568012" y="848538"/>
                  </a:lnTo>
                  <a:lnTo>
                    <a:pt x="1586223" y="891599"/>
                  </a:lnTo>
                  <a:lnTo>
                    <a:pt x="1600719" y="936467"/>
                  </a:lnTo>
                  <a:lnTo>
                    <a:pt x="1611310" y="982952"/>
                  </a:lnTo>
                  <a:lnTo>
                    <a:pt x="1617804" y="1030862"/>
                  </a:lnTo>
                  <a:lnTo>
                    <a:pt x="1620012" y="1080008"/>
                  </a:lnTo>
                  <a:lnTo>
                    <a:pt x="1617804" y="1129153"/>
                  </a:lnTo>
                  <a:lnTo>
                    <a:pt x="1611310" y="1177063"/>
                  </a:lnTo>
                  <a:lnTo>
                    <a:pt x="1600719" y="1223548"/>
                  </a:lnTo>
                  <a:lnTo>
                    <a:pt x="1586223" y="1268416"/>
                  </a:lnTo>
                  <a:lnTo>
                    <a:pt x="1568012" y="1311477"/>
                  </a:lnTo>
                  <a:lnTo>
                    <a:pt x="1546276" y="1352540"/>
                  </a:lnTo>
                  <a:lnTo>
                    <a:pt x="1521208" y="1391414"/>
                  </a:lnTo>
                  <a:lnTo>
                    <a:pt x="1492996" y="1427909"/>
                  </a:lnTo>
                  <a:lnTo>
                    <a:pt x="1461833" y="1461833"/>
                  </a:lnTo>
                  <a:lnTo>
                    <a:pt x="1427909" y="1492996"/>
                  </a:lnTo>
                  <a:lnTo>
                    <a:pt x="1391414" y="1521208"/>
                  </a:lnTo>
                  <a:lnTo>
                    <a:pt x="1352540" y="1546276"/>
                  </a:lnTo>
                  <a:lnTo>
                    <a:pt x="1311477" y="1568012"/>
                  </a:lnTo>
                  <a:lnTo>
                    <a:pt x="1268416" y="1586223"/>
                  </a:lnTo>
                  <a:lnTo>
                    <a:pt x="1223548" y="1600719"/>
                  </a:lnTo>
                  <a:lnTo>
                    <a:pt x="1177063" y="1611310"/>
                  </a:lnTo>
                  <a:lnTo>
                    <a:pt x="1129153" y="1617804"/>
                  </a:lnTo>
                  <a:lnTo>
                    <a:pt x="1080008" y="1620012"/>
                  </a:lnTo>
                  <a:lnTo>
                    <a:pt x="1030843" y="1617804"/>
                  </a:lnTo>
                  <a:lnTo>
                    <a:pt x="982918" y="1611310"/>
                  </a:lnTo>
                  <a:lnTo>
                    <a:pt x="936423" y="1600719"/>
                  </a:lnTo>
                  <a:lnTo>
                    <a:pt x="891548" y="1586223"/>
                  </a:lnTo>
                  <a:lnTo>
                    <a:pt x="848483" y="1568012"/>
                  </a:lnTo>
                  <a:lnTo>
                    <a:pt x="807418" y="1546276"/>
                  </a:lnTo>
                  <a:lnTo>
                    <a:pt x="768545" y="1521208"/>
                  </a:lnTo>
                  <a:lnTo>
                    <a:pt x="732054" y="1492996"/>
                  </a:lnTo>
                  <a:lnTo>
                    <a:pt x="698134" y="1461833"/>
                  </a:lnTo>
                  <a:lnTo>
                    <a:pt x="666977" y="1427909"/>
                  </a:lnTo>
                  <a:lnTo>
                    <a:pt x="638772" y="1391414"/>
                  </a:lnTo>
                  <a:lnTo>
                    <a:pt x="613711" y="1352540"/>
                  </a:lnTo>
                  <a:lnTo>
                    <a:pt x="591982" y="1311477"/>
                  </a:lnTo>
                  <a:lnTo>
                    <a:pt x="573777" y="1268416"/>
                  </a:lnTo>
                  <a:lnTo>
                    <a:pt x="559287" y="1223548"/>
                  </a:lnTo>
                  <a:lnTo>
                    <a:pt x="548701" y="1177063"/>
                  </a:lnTo>
                  <a:lnTo>
                    <a:pt x="542210" y="1129153"/>
                  </a:lnTo>
                  <a:lnTo>
                    <a:pt x="540003" y="1080008"/>
                  </a:lnTo>
                  <a:close/>
                </a:path>
                <a:path w="2160270" h="2160270">
                  <a:moveTo>
                    <a:pt x="719963" y="1080008"/>
                  </a:moveTo>
                  <a:lnTo>
                    <a:pt x="723249" y="1031144"/>
                  </a:lnTo>
                  <a:lnTo>
                    <a:pt x="732821" y="984281"/>
                  </a:lnTo>
                  <a:lnTo>
                    <a:pt x="748252" y="939847"/>
                  </a:lnTo>
                  <a:lnTo>
                    <a:pt x="769112" y="898270"/>
                  </a:lnTo>
                  <a:lnTo>
                    <a:pt x="794972" y="859980"/>
                  </a:lnTo>
                  <a:lnTo>
                    <a:pt x="825404" y="825404"/>
                  </a:lnTo>
                  <a:lnTo>
                    <a:pt x="859980" y="794972"/>
                  </a:lnTo>
                  <a:lnTo>
                    <a:pt x="898271" y="769111"/>
                  </a:lnTo>
                  <a:lnTo>
                    <a:pt x="939847" y="748252"/>
                  </a:lnTo>
                  <a:lnTo>
                    <a:pt x="984281" y="732821"/>
                  </a:lnTo>
                  <a:lnTo>
                    <a:pt x="1031144" y="723249"/>
                  </a:lnTo>
                  <a:lnTo>
                    <a:pt x="1080008" y="719963"/>
                  </a:lnTo>
                  <a:lnTo>
                    <a:pt x="1128842" y="723249"/>
                  </a:lnTo>
                  <a:lnTo>
                    <a:pt x="1175680" y="732821"/>
                  </a:lnTo>
                  <a:lnTo>
                    <a:pt x="1220094" y="748252"/>
                  </a:lnTo>
                  <a:lnTo>
                    <a:pt x="1261655" y="769112"/>
                  </a:lnTo>
                  <a:lnTo>
                    <a:pt x="1299933" y="794972"/>
                  </a:lnTo>
                  <a:lnTo>
                    <a:pt x="1334500" y="825404"/>
                  </a:lnTo>
                  <a:lnTo>
                    <a:pt x="1364925" y="859980"/>
                  </a:lnTo>
                  <a:lnTo>
                    <a:pt x="1390781" y="898271"/>
                  </a:lnTo>
                  <a:lnTo>
                    <a:pt x="1411638" y="939847"/>
                  </a:lnTo>
                  <a:lnTo>
                    <a:pt x="1427067" y="984281"/>
                  </a:lnTo>
                  <a:lnTo>
                    <a:pt x="1436639" y="1031144"/>
                  </a:lnTo>
                  <a:lnTo>
                    <a:pt x="1439926" y="1080008"/>
                  </a:lnTo>
                  <a:lnTo>
                    <a:pt x="1436639" y="1128842"/>
                  </a:lnTo>
                  <a:lnTo>
                    <a:pt x="1427067" y="1175680"/>
                  </a:lnTo>
                  <a:lnTo>
                    <a:pt x="1411638" y="1220094"/>
                  </a:lnTo>
                  <a:lnTo>
                    <a:pt x="1390781" y="1261655"/>
                  </a:lnTo>
                  <a:lnTo>
                    <a:pt x="1364925" y="1299933"/>
                  </a:lnTo>
                  <a:lnTo>
                    <a:pt x="1334500" y="1334500"/>
                  </a:lnTo>
                  <a:lnTo>
                    <a:pt x="1299933" y="1364925"/>
                  </a:lnTo>
                  <a:lnTo>
                    <a:pt x="1261655" y="1390781"/>
                  </a:lnTo>
                  <a:lnTo>
                    <a:pt x="1220094" y="1411638"/>
                  </a:lnTo>
                  <a:lnTo>
                    <a:pt x="1175680" y="1427067"/>
                  </a:lnTo>
                  <a:lnTo>
                    <a:pt x="1128842" y="1436639"/>
                  </a:lnTo>
                  <a:lnTo>
                    <a:pt x="1080008" y="1439926"/>
                  </a:lnTo>
                  <a:lnTo>
                    <a:pt x="1031144" y="1436639"/>
                  </a:lnTo>
                  <a:lnTo>
                    <a:pt x="984281" y="1427067"/>
                  </a:lnTo>
                  <a:lnTo>
                    <a:pt x="939847" y="1411638"/>
                  </a:lnTo>
                  <a:lnTo>
                    <a:pt x="898271" y="1390781"/>
                  </a:lnTo>
                  <a:lnTo>
                    <a:pt x="859980" y="1364925"/>
                  </a:lnTo>
                  <a:lnTo>
                    <a:pt x="825404" y="1334500"/>
                  </a:lnTo>
                  <a:lnTo>
                    <a:pt x="794972" y="1299933"/>
                  </a:lnTo>
                  <a:lnTo>
                    <a:pt x="769112" y="1261655"/>
                  </a:lnTo>
                  <a:lnTo>
                    <a:pt x="748252" y="1220094"/>
                  </a:lnTo>
                  <a:lnTo>
                    <a:pt x="732821" y="1175680"/>
                  </a:lnTo>
                  <a:lnTo>
                    <a:pt x="723249" y="1128842"/>
                  </a:lnTo>
                  <a:lnTo>
                    <a:pt x="719963" y="1080008"/>
                  </a:lnTo>
                  <a:close/>
                </a:path>
                <a:path w="2160270" h="2160270">
                  <a:moveTo>
                    <a:pt x="899922" y="1080008"/>
                  </a:moveTo>
                  <a:lnTo>
                    <a:pt x="906356" y="1032149"/>
                  </a:lnTo>
                  <a:lnTo>
                    <a:pt x="924512" y="989155"/>
                  </a:lnTo>
                  <a:lnTo>
                    <a:pt x="952674" y="952738"/>
                  </a:lnTo>
                  <a:lnTo>
                    <a:pt x="989123" y="924607"/>
                  </a:lnTo>
                  <a:lnTo>
                    <a:pt x="1032140" y="906473"/>
                  </a:lnTo>
                  <a:lnTo>
                    <a:pt x="1080008" y="900049"/>
                  </a:lnTo>
                  <a:lnTo>
                    <a:pt x="1127866" y="906473"/>
                  </a:lnTo>
                  <a:lnTo>
                    <a:pt x="1170860" y="924607"/>
                  </a:lnTo>
                  <a:lnTo>
                    <a:pt x="1207277" y="952738"/>
                  </a:lnTo>
                  <a:lnTo>
                    <a:pt x="1235408" y="989155"/>
                  </a:lnTo>
                  <a:lnTo>
                    <a:pt x="1253542" y="1032149"/>
                  </a:lnTo>
                  <a:lnTo>
                    <a:pt x="1259967" y="1080008"/>
                  </a:lnTo>
                  <a:lnTo>
                    <a:pt x="1253542" y="1127866"/>
                  </a:lnTo>
                  <a:lnTo>
                    <a:pt x="1235408" y="1170860"/>
                  </a:lnTo>
                  <a:lnTo>
                    <a:pt x="1207277" y="1207277"/>
                  </a:lnTo>
                  <a:lnTo>
                    <a:pt x="1170860" y="1235408"/>
                  </a:lnTo>
                  <a:lnTo>
                    <a:pt x="1127866" y="1253542"/>
                  </a:lnTo>
                  <a:lnTo>
                    <a:pt x="1080008" y="1259967"/>
                  </a:lnTo>
                  <a:lnTo>
                    <a:pt x="1032140" y="1253542"/>
                  </a:lnTo>
                  <a:lnTo>
                    <a:pt x="989123" y="1235408"/>
                  </a:lnTo>
                  <a:lnTo>
                    <a:pt x="952674" y="1207277"/>
                  </a:lnTo>
                  <a:lnTo>
                    <a:pt x="924512" y="1170860"/>
                  </a:lnTo>
                  <a:lnTo>
                    <a:pt x="906356" y="1127866"/>
                  </a:lnTo>
                  <a:lnTo>
                    <a:pt x="899922" y="108000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45463" y="3586162"/>
              <a:ext cx="113410" cy="1214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3058" y="4582414"/>
              <a:ext cx="111506" cy="1143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065264" y="4585461"/>
            <a:ext cx="351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20061" dirty="0">
                <a:latin typeface="Cambria Math"/>
                <a:cs typeface="Cambria Math"/>
              </a:rPr>
              <a:t>𝒂</a:t>
            </a:r>
            <a:r>
              <a:rPr sz="2700" spc="7" baseline="-20061" dirty="0">
                <a:latin typeface="Cambria Math"/>
                <a:cs typeface="Cambria Math"/>
              </a:rPr>
              <a:t> </a:t>
            </a:r>
            <a:r>
              <a:rPr sz="1300" spc="-50" dirty="0">
                <a:latin typeface="Cambria Math"/>
                <a:cs typeface="Cambria Math"/>
              </a:rPr>
              <a:t>∗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000748" y="2534538"/>
            <a:ext cx="2201545" cy="3077210"/>
          </a:xfrm>
          <a:custGeom>
            <a:avLst/>
            <a:gdLst/>
            <a:ahLst/>
            <a:cxnLst/>
            <a:rect l="l" t="t" r="r" b="b"/>
            <a:pathLst>
              <a:path w="2201545" h="3077210">
                <a:moveTo>
                  <a:pt x="636270" y="2869311"/>
                </a:moveTo>
                <a:lnTo>
                  <a:pt x="619125" y="2869311"/>
                </a:lnTo>
                <a:lnTo>
                  <a:pt x="619125" y="3077006"/>
                </a:lnTo>
                <a:lnTo>
                  <a:pt x="636270" y="3077006"/>
                </a:lnTo>
                <a:lnTo>
                  <a:pt x="636270" y="2869311"/>
                </a:lnTo>
                <a:close/>
              </a:path>
              <a:path w="2201545" h="3077210">
                <a:moveTo>
                  <a:pt x="684784" y="2869311"/>
                </a:moveTo>
                <a:lnTo>
                  <a:pt x="667639" y="2869311"/>
                </a:lnTo>
                <a:lnTo>
                  <a:pt x="667639" y="3077006"/>
                </a:lnTo>
                <a:lnTo>
                  <a:pt x="684784" y="3077006"/>
                </a:lnTo>
                <a:lnTo>
                  <a:pt x="684784" y="2869311"/>
                </a:lnTo>
                <a:close/>
              </a:path>
              <a:path w="2201545" h="3077210">
                <a:moveTo>
                  <a:pt x="898398" y="2869311"/>
                </a:moveTo>
                <a:lnTo>
                  <a:pt x="881253" y="2869311"/>
                </a:lnTo>
                <a:lnTo>
                  <a:pt x="881253" y="3077006"/>
                </a:lnTo>
                <a:lnTo>
                  <a:pt x="898398" y="3077006"/>
                </a:lnTo>
                <a:lnTo>
                  <a:pt x="898398" y="2869311"/>
                </a:lnTo>
                <a:close/>
              </a:path>
              <a:path w="2201545" h="3077210">
                <a:moveTo>
                  <a:pt x="946912" y="2869311"/>
                </a:moveTo>
                <a:lnTo>
                  <a:pt x="929767" y="2869311"/>
                </a:lnTo>
                <a:lnTo>
                  <a:pt x="929767" y="3077006"/>
                </a:lnTo>
                <a:lnTo>
                  <a:pt x="946912" y="3077006"/>
                </a:lnTo>
                <a:lnTo>
                  <a:pt x="946912" y="2869311"/>
                </a:lnTo>
                <a:close/>
              </a:path>
              <a:path w="2201545" h="3077210">
                <a:moveTo>
                  <a:pt x="2201164" y="2561971"/>
                </a:moveTo>
                <a:lnTo>
                  <a:pt x="2182114" y="2552446"/>
                </a:lnTo>
                <a:lnTo>
                  <a:pt x="2124964" y="2523871"/>
                </a:lnTo>
                <a:lnTo>
                  <a:pt x="2124964" y="2552446"/>
                </a:lnTo>
                <a:lnTo>
                  <a:pt x="47625" y="2552446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28575" y="76200"/>
                </a:lnTo>
                <a:lnTo>
                  <a:pt x="28575" y="2556002"/>
                </a:lnTo>
                <a:lnTo>
                  <a:pt x="41148" y="2556002"/>
                </a:lnTo>
                <a:lnTo>
                  <a:pt x="41148" y="2571496"/>
                </a:lnTo>
                <a:lnTo>
                  <a:pt x="2124964" y="2571496"/>
                </a:lnTo>
                <a:lnTo>
                  <a:pt x="2124964" y="2600071"/>
                </a:lnTo>
                <a:lnTo>
                  <a:pt x="2182114" y="2571496"/>
                </a:lnTo>
                <a:lnTo>
                  <a:pt x="2201164" y="25619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963027" y="5445353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75498" y="4813664"/>
            <a:ext cx="2106930" cy="81915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588135">
              <a:lnSpc>
                <a:spcPct val="100000"/>
              </a:lnSpc>
              <a:spcBef>
                <a:spcPts val="990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1</a:t>
            </a:r>
            <a:endParaRPr sz="2175" baseline="-15325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795"/>
              </a:spcBef>
            </a:pPr>
            <a:r>
              <a:rPr sz="1800" dirty="0">
                <a:latin typeface="Cambria Math"/>
                <a:cs typeface="Cambria Math"/>
              </a:rPr>
              <a:t>𝒂</a:t>
            </a:r>
            <a:r>
              <a:rPr sz="1800" spc="90" dirty="0">
                <a:latin typeface="Cambria Math"/>
                <a:cs typeface="Cambria Math"/>
              </a:rPr>
              <a:t>  </a:t>
            </a:r>
            <a:r>
              <a:rPr sz="1950" baseline="29914" dirty="0">
                <a:latin typeface="Cambria Math"/>
                <a:cs typeface="Cambria Math"/>
              </a:rPr>
              <a:t>2</a:t>
            </a:r>
            <a:r>
              <a:rPr sz="1950" spc="465" baseline="29914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𝑎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950" baseline="27777" dirty="0">
                <a:latin typeface="Cambria Math"/>
                <a:cs typeface="Cambria Math"/>
              </a:rPr>
              <a:t>2</a:t>
            </a:r>
            <a:r>
              <a:rPr sz="1950" spc="277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30" dirty="0">
                <a:latin typeface="Cambria Math"/>
                <a:cs typeface="Cambria Math"/>
              </a:rPr>
              <a:t> </a:t>
            </a:r>
            <a:r>
              <a:rPr sz="1800" spc="55" dirty="0">
                <a:latin typeface="Cambria Math"/>
                <a:cs typeface="Cambria Math"/>
              </a:rPr>
              <a:t>𝑎</a:t>
            </a:r>
            <a:r>
              <a:rPr sz="1950" spc="82" baseline="-14957" dirty="0">
                <a:latin typeface="Cambria Math"/>
                <a:cs typeface="Cambria Math"/>
              </a:rPr>
              <a:t>2</a:t>
            </a:r>
            <a:r>
              <a:rPr sz="1950" spc="82" baseline="27777" dirty="0">
                <a:latin typeface="Cambria Math"/>
                <a:cs typeface="Cambria Math"/>
              </a:rPr>
              <a:t>2</a:t>
            </a:r>
            <a:r>
              <a:rPr sz="1950" spc="450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≤</a:t>
            </a:r>
            <a:r>
              <a:rPr sz="1800" spc="12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𝑐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01003" y="4398086"/>
            <a:ext cx="7327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solução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762242" y="4573651"/>
            <a:ext cx="845185" cy="986155"/>
            <a:chOff x="6762242" y="4573651"/>
            <a:chExt cx="845185" cy="986155"/>
          </a:xfrm>
        </p:grpSpPr>
        <p:sp>
          <p:nvSpPr>
            <p:cNvPr id="15" name="object 15"/>
            <p:cNvSpPr/>
            <p:nvPr/>
          </p:nvSpPr>
          <p:spPr>
            <a:xfrm>
              <a:off x="6762242" y="4573651"/>
              <a:ext cx="447675" cy="85090"/>
            </a:xfrm>
            <a:custGeom>
              <a:avLst/>
              <a:gdLst/>
              <a:ahLst/>
              <a:cxnLst/>
              <a:rect l="l" t="t" r="r" b="b"/>
              <a:pathLst>
                <a:path w="447675" h="85089">
                  <a:moveTo>
                    <a:pt x="370433" y="56629"/>
                  </a:moveTo>
                  <a:lnTo>
                    <a:pt x="367537" y="84962"/>
                  </a:lnTo>
                  <a:lnTo>
                    <a:pt x="438802" y="57912"/>
                  </a:lnTo>
                  <a:lnTo>
                    <a:pt x="383031" y="57912"/>
                  </a:lnTo>
                  <a:lnTo>
                    <a:pt x="370433" y="56629"/>
                  </a:lnTo>
                  <a:close/>
                </a:path>
                <a:path w="447675" h="85089">
                  <a:moveTo>
                    <a:pt x="372378" y="37587"/>
                  </a:moveTo>
                  <a:lnTo>
                    <a:pt x="370433" y="56629"/>
                  </a:lnTo>
                  <a:lnTo>
                    <a:pt x="383031" y="57912"/>
                  </a:lnTo>
                  <a:lnTo>
                    <a:pt x="384936" y="38862"/>
                  </a:lnTo>
                  <a:lnTo>
                    <a:pt x="372378" y="37587"/>
                  </a:lnTo>
                  <a:close/>
                </a:path>
                <a:path w="447675" h="85089">
                  <a:moveTo>
                    <a:pt x="375284" y="9143"/>
                  </a:moveTo>
                  <a:lnTo>
                    <a:pt x="372378" y="37587"/>
                  </a:lnTo>
                  <a:lnTo>
                    <a:pt x="384936" y="38862"/>
                  </a:lnTo>
                  <a:lnTo>
                    <a:pt x="383031" y="57912"/>
                  </a:lnTo>
                  <a:lnTo>
                    <a:pt x="438802" y="57912"/>
                  </a:lnTo>
                  <a:lnTo>
                    <a:pt x="447166" y="54737"/>
                  </a:lnTo>
                  <a:lnTo>
                    <a:pt x="375284" y="9143"/>
                  </a:lnTo>
                  <a:close/>
                </a:path>
                <a:path w="447675" h="85089">
                  <a:moveTo>
                    <a:pt x="1904" y="0"/>
                  </a:moveTo>
                  <a:lnTo>
                    <a:pt x="0" y="18923"/>
                  </a:lnTo>
                  <a:lnTo>
                    <a:pt x="370433" y="56629"/>
                  </a:lnTo>
                  <a:lnTo>
                    <a:pt x="372378" y="37587"/>
                  </a:lnTo>
                  <a:lnTo>
                    <a:pt x="1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72350" y="5504892"/>
              <a:ext cx="228600" cy="48260"/>
            </a:xfrm>
            <a:custGeom>
              <a:avLst/>
              <a:gdLst/>
              <a:ahLst/>
              <a:cxnLst/>
              <a:rect l="l" t="t" r="r" b="b"/>
              <a:pathLst>
                <a:path w="228600" h="48260">
                  <a:moveTo>
                    <a:pt x="0" y="557"/>
                  </a:moveTo>
                  <a:lnTo>
                    <a:pt x="20116" y="0"/>
                  </a:lnTo>
                  <a:lnTo>
                    <a:pt x="46634" y="1978"/>
                  </a:lnTo>
                  <a:lnTo>
                    <a:pt x="85953" y="8997"/>
                  </a:lnTo>
                  <a:lnTo>
                    <a:pt x="144475" y="23564"/>
                  </a:lnTo>
                  <a:lnTo>
                    <a:pt x="228600" y="48182"/>
                  </a:lnTo>
                </a:path>
              </a:pathLst>
            </a:custGeom>
            <a:ln w="127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586864" y="2534539"/>
            <a:ext cx="2781300" cy="3190875"/>
            <a:chOff x="1586864" y="2534539"/>
            <a:chExt cx="2781300" cy="3190875"/>
          </a:xfrm>
        </p:grpSpPr>
        <p:sp>
          <p:nvSpPr>
            <p:cNvPr id="18" name="object 18"/>
            <p:cNvSpPr/>
            <p:nvPr/>
          </p:nvSpPr>
          <p:spPr>
            <a:xfrm>
              <a:off x="1800732" y="2558542"/>
              <a:ext cx="2160270" cy="2160270"/>
            </a:xfrm>
            <a:custGeom>
              <a:avLst/>
              <a:gdLst/>
              <a:ahLst/>
              <a:cxnLst/>
              <a:rect l="l" t="t" r="r" b="b"/>
              <a:pathLst>
                <a:path w="2160270" h="2160270">
                  <a:moveTo>
                    <a:pt x="0" y="1080008"/>
                  </a:moveTo>
                  <a:lnTo>
                    <a:pt x="1052" y="1031896"/>
                  </a:lnTo>
                  <a:lnTo>
                    <a:pt x="4179" y="984324"/>
                  </a:lnTo>
                  <a:lnTo>
                    <a:pt x="9338" y="937335"/>
                  </a:lnTo>
                  <a:lnTo>
                    <a:pt x="16484" y="890973"/>
                  </a:lnTo>
                  <a:lnTo>
                    <a:pt x="25573" y="845282"/>
                  </a:lnTo>
                  <a:lnTo>
                    <a:pt x="36562" y="800306"/>
                  </a:lnTo>
                  <a:lnTo>
                    <a:pt x="49407" y="756088"/>
                  </a:lnTo>
                  <a:lnTo>
                    <a:pt x="64063" y="712673"/>
                  </a:lnTo>
                  <a:lnTo>
                    <a:pt x="80488" y="670105"/>
                  </a:lnTo>
                  <a:lnTo>
                    <a:pt x="98637" y="628426"/>
                  </a:lnTo>
                  <a:lnTo>
                    <a:pt x="118466" y="587682"/>
                  </a:lnTo>
                  <a:lnTo>
                    <a:pt x="139931" y="547916"/>
                  </a:lnTo>
                  <a:lnTo>
                    <a:pt x="162988" y="509172"/>
                  </a:lnTo>
                  <a:lnTo>
                    <a:pt x="187594" y="471494"/>
                  </a:lnTo>
                  <a:lnTo>
                    <a:pt x="213705" y="434926"/>
                  </a:lnTo>
                  <a:lnTo>
                    <a:pt x="241277" y="399511"/>
                  </a:lnTo>
                  <a:lnTo>
                    <a:pt x="270265" y="365294"/>
                  </a:lnTo>
                  <a:lnTo>
                    <a:pt x="300627" y="332318"/>
                  </a:lnTo>
                  <a:lnTo>
                    <a:pt x="332318" y="300627"/>
                  </a:lnTo>
                  <a:lnTo>
                    <a:pt x="365294" y="270265"/>
                  </a:lnTo>
                  <a:lnTo>
                    <a:pt x="399511" y="241277"/>
                  </a:lnTo>
                  <a:lnTo>
                    <a:pt x="434926" y="213705"/>
                  </a:lnTo>
                  <a:lnTo>
                    <a:pt x="471494" y="187594"/>
                  </a:lnTo>
                  <a:lnTo>
                    <a:pt x="509172" y="162988"/>
                  </a:lnTo>
                  <a:lnTo>
                    <a:pt x="547916" y="139931"/>
                  </a:lnTo>
                  <a:lnTo>
                    <a:pt x="587682" y="118466"/>
                  </a:lnTo>
                  <a:lnTo>
                    <a:pt x="628426" y="98637"/>
                  </a:lnTo>
                  <a:lnTo>
                    <a:pt x="670105" y="80488"/>
                  </a:lnTo>
                  <a:lnTo>
                    <a:pt x="712673" y="64063"/>
                  </a:lnTo>
                  <a:lnTo>
                    <a:pt x="756088" y="49407"/>
                  </a:lnTo>
                  <a:lnTo>
                    <a:pt x="800306" y="36562"/>
                  </a:lnTo>
                  <a:lnTo>
                    <a:pt x="845282" y="25573"/>
                  </a:lnTo>
                  <a:lnTo>
                    <a:pt x="890973" y="16484"/>
                  </a:lnTo>
                  <a:lnTo>
                    <a:pt x="937335" y="9338"/>
                  </a:lnTo>
                  <a:lnTo>
                    <a:pt x="984324" y="4179"/>
                  </a:lnTo>
                  <a:lnTo>
                    <a:pt x="1031896" y="1052"/>
                  </a:lnTo>
                  <a:lnTo>
                    <a:pt x="1080008" y="0"/>
                  </a:lnTo>
                  <a:lnTo>
                    <a:pt x="1128109" y="1052"/>
                  </a:lnTo>
                  <a:lnTo>
                    <a:pt x="1175673" y="4179"/>
                  </a:lnTo>
                  <a:lnTo>
                    <a:pt x="1222654" y="9338"/>
                  </a:lnTo>
                  <a:lnTo>
                    <a:pt x="1269009" y="16484"/>
                  </a:lnTo>
                  <a:lnTo>
                    <a:pt x="1314695" y="25573"/>
                  </a:lnTo>
                  <a:lnTo>
                    <a:pt x="1359666" y="36562"/>
                  </a:lnTo>
                  <a:lnTo>
                    <a:pt x="1403879" y="49407"/>
                  </a:lnTo>
                  <a:lnTo>
                    <a:pt x="1447291" y="64063"/>
                  </a:lnTo>
                  <a:lnTo>
                    <a:pt x="1489857" y="80488"/>
                  </a:lnTo>
                  <a:lnTo>
                    <a:pt x="1531534" y="98637"/>
                  </a:lnTo>
                  <a:lnTo>
                    <a:pt x="1572277" y="118466"/>
                  </a:lnTo>
                  <a:lnTo>
                    <a:pt x="1612042" y="139931"/>
                  </a:lnTo>
                  <a:lnTo>
                    <a:pt x="1650786" y="162988"/>
                  </a:lnTo>
                  <a:lnTo>
                    <a:pt x="1688465" y="187594"/>
                  </a:lnTo>
                  <a:lnTo>
                    <a:pt x="1725035" y="213705"/>
                  </a:lnTo>
                  <a:lnTo>
                    <a:pt x="1760451" y="241277"/>
                  </a:lnTo>
                  <a:lnTo>
                    <a:pt x="1794670" y="270265"/>
                  </a:lnTo>
                  <a:lnTo>
                    <a:pt x="1827649" y="300627"/>
                  </a:lnTo>
                  <a:lnTo>
                    <a:pt x="1859342" y="332318"/>
                  </a:lnTo>
                  <a:lnTo>
                    <a:pt x="1889706" y="365294"/>
                  </a:lnTo>
                  <a:lnTo>
                    <a:pt x="1918698" y="399511"/>
                  </a:lnTo>
                  <a:lnTo>
                    <a:pt x="1946272" y="434926"/>
                  </a:lnTo>
                  <a:lnTo>
                    <a:pt x="1972387" y="471494"/>
                  </a:lnTo>
                  <a:lnTo>
                    <a:pt x="1996996" y="509172"/>
                  </a:lnTo>
                  <a:lnTo>
                    <a:pt x="2020057" y="547916"/>
                  </a:lnTo>
                  <a:lnTo>
                    <a:pt x="2041526" y="587682"/>
                  </a:lnTo>
                  <a:lnTo>
                    <a:pt x="2061358" y="628426"/>
                  </a:lnTo>
                  <a:lnTo>
                    <a:pt x="2079510" y="670105"/>
                  </a:lnTo>
                  <a:lnTo>
                    <a:pt x="2095938" y="712673"/>
                  </a:lnTo>
                  <a:lnTo>
                    <a:pt x="2110597" y="756088"/>
                  </a:lnTo>
                  <a:lnTo>
                    <a:pt x="2123445" y="800306"/>
                  </a:lnTo>
                  <a:lnTo>
                    <a:pt x="2134436" y="845282"/>
                  </a:lnTo>
                  <a:lnTo>
                    <a:pt x="2143527" y="890973"/>
                  </a:lnTo>
                  <a:lnTo>
                    <a:pt x="2150675" y="937335"/>
                  </a:lnTo>
                  <a:lnTo>
                    <a:pt x="2155835" y="984324"/>
                  </a:lnTo>
                  <a:lnTo>
                    <a:pt x="2158963" y="1031896"/>
                  </a:lnTo>
                  <a:lnTo>
                    <a:pt x="2160016" y="1080008"/>
                  </a:lnTo>
                  <a:lnTo>
                    <a:pt x="2158963" y="1128109"/>
                  </a:lnTo>
                  <a:lnTo>
                    <a:pt x="2155835" y="1175673"/>
                  </a:lnTo>
                  <a:lnTo>
                    <a:pt x="2150675" y="1222654"/>
                  </a:lnTo>
                  <a:lnTo>
                    <a:pt x="2143527" y="1269009"/>
                  </a:lnTo>
                  <a:lnTo>
                    <a:pt x="2134436" y="1314695"/>
                  </a:lnTo>
                  <a:lnTo>
                    <a:pt x="2123445" y="1359666"/>
                  </a:lnTo>
                  <a:lnTo>
                    <a:pt x="2110597" y="1403879"/>
                  </a:lnTo>
                  <a:lnTo>
                    <a:pt x="2095938" y="1447291"/>
                  </a:lnTo>
                  <a:lnTo>
                    <a:pt x="2079510" y="1489857"/>
                  </a:lnTo>
                  <a:lnTo>
                    <a:pt x="2061358" y="1531534"/>
                  </a:lnTo>
                  <a:lnTo>
                    <a:pt x="2041526" y="1572277"/>
                  </a:lnTo>
                  <a:lnTo>
                    <a:pt x="2020057" y="1612042"/>
                  </a:lnTo>
                  <a:lnTo>
                    <a:pt x="1996996" y="1650786"/>
                  </a:lnTo>
                  <a:lnTo>
                    <a:pt x="1972387" y="1688465"/>
                  </a:lnTo>
                  <a:lnTo>
                    <a:pt x="1946272" y="1725035"/>
                  </a:lnTo>
                  <a:lnTo>
                    <a:pt x="1918698" y="1760451"/>
                  </a:lnTo>
                  <a:lnTo>
                    <a:pt x="1889706" y="1794670"/>
                  </a:lnTo>
                  <a:lnTo>
                    <a:pt x="1859342" y="1827649"/>
                  </a:lnTo>
                  <a:lnTo>
                    <a:pt x="1827649" y="1859342"/>
                  </a:lnTo>
                  <a:lnTo>
                    <a:pt x="1794670" y="1889706"/>
                  </a:lnTo>
                  <a:lnTo>
                    <a:pt x="1760451" y="1918698"/>
                  </a:lnTo>
                  <a:lnTo>
                    <a:pt x="1725035" y="1946272"/>
                  </a:lnTo>
                  <a:lnTo>
                    <a:pt x="1688465" y="1972387"/>
                  </a:lnTo>
                  <a:lnTo>
                    <a:pt x="1650786" y="1996996"/>
                  </a:lnTo>
                  <a:lnTo>
                    <a:pt x="1612042" y="2020057"/>
                  </a:lnTo>
                  <a:lnTo>
                    <a:pt x="1572277" y="2041526"/>
                  </a:lnTo>
                  <a:lnTo>
                    <a:pt x="1531534" y="2061358"/>
                  </a:lnTo>
                  <a:lnTo>
                    <a:pt x="1489857" y="2079510"/>
                  </a:lnTo>
                  <a:lnTo>
                    <a:pt x="1447291" y="2095938"/>
                  </a:lnTo>
                  <a:lnTo>
                    <a:pt x="1403879" y="2110597"/>
                  </a:lnTo>
                  <a:lnTo>
                    <a:pt x="1359666" y="2123445"/>
                  </a:lnTo>
                  <a:lnTo>
                    <a:pt x="1314695" y="2134436"/>
                  </a:lnTo>
                  <a:lnTo>
                    <a:pt x="1269009" y="2143527"/>
                  </a:lnTo>
                  <a:lnTo>
                    <a:pt x="1222654" y="2150675"/>
                  </a:lnTo>
                  <a:lnTo>
                    <a:pt x="1175673" y="2155835"/>
                  </a:lnTo>
                  <a:lnTo>
                    <a:pt x="1128109" y="2158963"/>
                  </a:lnTo>
                  <a:lnTo>
                    <a:pt x="1080008" y="2160016"/>
                  </a:lnTo>
                  <a:lnTo>
                    <a:pt x="1031896" y="2158963"/>
                  </a:lnTo>
                  <a:lnTo>
                    <a:pt x="984324" y="2155835"/>
                  </a:lnTo>
                  <a:lnTo>
                    <a:pt x="937335" y="2150675"/>
                  </a:lnTo>
                  <a:lnTo>
                    <a:pt x="890973" y="2143527"/>
                  </a:lnTo>
                  <a:lnTo>
                    <a:pt x="845282" y="2134436"/>
                  </a:lnTo>
                  <a:lnTo>
                    <a:pt x="800306" y="2123445"/>
                  </a:lnTo>
                  <a:lnTo>
                    <a:pt x="756088" y="2110597"/>
                  </a:lnTo>
                  <a:lnTo>
                    <a:pt x="712673" y="2095938"/>
                  </a:lnTo>
                  <a:lnTo>
                    <a:pt x="670105" y="2079510"/>
                  </a:lnTo>
                  <a:lnTo>
                    <a:pt x="628426" y="2061358"/>
                  </a:lnTo>
                  <a:lnTo>
                    <a:pt x="587682" y="2041526"/>
                  </a:lnTo>
                  <a:lnTo>
                    <a:pt x="547916" y="2020057"/>
                  </a:lnTo>
                  <a:lnTo>
                    <a:pt x="509172" y="1996996"/>
                  </a:lnTo>
                  <a:lnTo>
                    <a:pt x="471494" y="1972387"/>
                  </a:lnTo>
                  <a:lnTo>
                    <a:pt x="434926" y="1946272"/>
                  </a:lnTo>
                  <a:lnTo>
                    <a:pt x="399511" y="1918698"/>
                  </a:lnTo>
                  <a:lnTo>
                    <a:pt x="365294" y="1889706"/>
                  </a:lnTo>
                  <a:lnTo>
                    <a:pt x="332318" y="1859342"/>
                  </a:lnTo>
                  <a:lnTo>
                    <a:pt x="300627" y="1827649"/>
                  </a:lnTo>
                  <a:lnTo>
                    <a:pt x="270265" y="1794670"/>
                  </a:lnTo>
                  <a:lnTo>
                    <a:pt x="241277" y="1760451"/>
                  </a:lnTo>
                  <a:lnTo>
                    <a:pt x="213705" y="1725035"/>
                  </a:lnTo>
                  <a:lnTo>
                    <a:pt x="187594" y="1688465"/>
                  </a:lnTo>
                  <a:lnTo>
                    <a:pt x="162988" y="1650786"/>
                  </a:lnTo>
                  <a:lnTo>
                    <a:pt x="139931" y="1612042"/>
                  </a:lnTo>
                  <a:lnTo>
                    <a:pt x="118466" y="1572277"/>
                  </a:lnTo>
                  <a:lnTo>
                    <a:pt x="98637" y="1531534"/>
                  </a:lnTo>
                  <a:lnTo>
                    <a:pt x="80488" y="1489857"/>
                  </a:lnTo>
                  <a:lnTo>
                    <a:pt x="64063" y="1447291"/>
                  </a:lnTo>
                  <a:lnTo>
                    <a:pt x="49407" y="1403879"/>
                  </a:lnTo>
                  <a:lnTo>
                    <a:pt x="36562" y="1359666"/>
                  </a:lnTo>
                  <a:lnTo>
                    <a:pt x="25573" y="1314695"/>
                  </a:lnTo>
                  <a:lnTo>
                    <a:pt x="16484" y="1269009"/>
                  </a:lnTo>
                  <a:lnTo>
                    <a:pt x="9338" y="1222654"/>
                  </a:lnTo>
                  <a:lnTo>
                    <a:pt x="4179" y="1175673"/>
                  </a:lnTo>
                  <a:lnTo>
                    <a:pt x="1052" y="1128109"/>
                  </a:lnTo>
                  <a:lnTo>
                    <a:pt x="0" y="1080008"/>
                  </a:lnTo>
                  <a:close/>
                </a:path>
                <a:path w="2160270" h="2160270">
                  <a:moveTo>
                    <a:pt x="179959" y="1080008"/>
                  </a:moveTo>
                  <a:lnTo>
                    <a:pt x="181206" y="1032207"/>
                  </a:lnTo>
                  <a:lnTo>
                    <a:pt x="184907" y="985057"/>
                  </a:lnTo>
                  <a:lnTo>
                    <a:pt x="191000" y="938618"/>
                  </a:lnTo>
                  <a:lnTo>
                    <a:pt x="199423" y="892954"/>
                  </a:lnTo>
                  <a:lnTo>
                    <a:pt x="210112" y="848126"/>
                  </a:lnTo>
                  <a:lnTo>
                    <a:pt x="223006" y="804197"/>
                  </a:lnTo>
                  <a:lnTo>
                    <a:pt x="238043" y="761229"/>
                  </a:lnTo>
                  <a:lnTo>
                    <a:pt x="255161" y="719283"/>
                  </a:lnTo>
                  <a:lnTo>
                    <a:pt x="274296" y="678423"/>
                  </a:lnTo>
                  <a:lnTo>
                    <a:pt x="295388" y="638710"/>
                  </a:lnTo>
                  <a:lnTo>
                    <a:pt x="318374" y="600207"/>
                  </a:lnTo>
                  <a:lnTo>
                    <a:pt x="343191" y="562975"/>
                  </a:lnTo>
                  <a:lnTo>
                    <a:pt x="369778" y="527078"/>
                  </a:lnTo>
                  <a:lnTo>
                    <a:pt x="398072" y="492576"/>
                  </a:lnTo>
                  <a:lnTo>
                    <a:pt x="428012" y="459534"/>
                  </a:lnTo>
                  <a:lnTo>
                    <a:pt x="459534" y="428012"/>
                  </a:lnTo>
                  <a:lnTo>
                    <a:pt x="492576" y="398072"/>
                  </a:lnTo>
                  <a:lnTo>
                    <a:pt x="527078" y="369778"/>
                  </a:lnTo>
                  <a:lnTo>
                    <a:pt x="562975" y="343191"/>
                  </a:lnTo>
                  <a:lnTo>
                    <a:pt x="600207" y="318374"/>
                  </a:lnTo>
                  <a:lnTo>
                    <a:pt x="638710" y="295388"/>
                  </a:lnTo>
                  <a:lnTo>
                    <a:pt x="678423" y="274296"/>
                  </a:lnTo>
                  <a:lnTo>
                    <a:pt x="719283" y="255161"/>
                  </a:lnTo>
                  <a:lnTo>
                    <a:pt x="761229" y="238043"/>
                  </a:lnTo>
                  <a:lnTo>
                    <a:pt x="804197" y="223006"/>
                  </a:lnTo>
                  <a:lnTo>
                    <a:pt x="848126" y="210112"/>
                  </a:lnTo>
                  <a:lnTo>
                    <a:pt x="892954" y="199423"/>
                  </a:lnTo>
                  <a:lnTo>
                    <a:pt x="938618" y="191000"/>
                  </a:lnTo>
                  <a:lnTo>
                    <a:pt x="985057" y="184907"/>
                  </a:lnTo>
                  <a:lnTo>
                    <a:pt x="1032207" y="181206"/>
                  </a:lnTo>
                  <a:lnTo>
                    <a:pt x="1080008" y="179959"/>
                  </a:lnTo>
                  <a:lnTo>
                    <a:pt x="1127807" y="181206"/>
                  </a:lnTo>
                  <a:lnTo>
                    <a:pt x="1174957" y="184907"/>
                  </a:lnTo>
                  <a:lnTo>
                    <a:pt x="1221393" y="191000"/>
                  </a:lnTo>
                  <a:lnTo>
                    <a:pt x="1267055" y="199423"/>
                  </a:lnTo>
                  <a:lnTo>
                    <a:pt x="1311880" y="210112"/>
                  </a:lnTo>
                  <a:lnTo>
                    <a:pt x="1355806" y="223006"/>
                  </a:lnTo>
                  <a:lnTo>
                    <a:pt x="1398770" y="238043"/>
                  </a:lnTo>
                  <a:lnTo>
                    <a:pt x="1440711" y="255161"/>
                  </a:lnTo>
                  <a:lnTo>
                    <a:pt x="1481566" y="274296"/>
                  </a:lnTo>
                  <a:lnTo>
                    <a:pt x="1521274" y="295388"/>
                  </a:lnTo>
                  <a:lnTo>
                    <a:pt x="1559772" y="318374"/>
                  </a:lnTo>
                  <a:lnTo>
                    <a:pt x="1596998" y="343191"/>
                  </a:lnTo>
                  <a:lnTo>
                    <a:pt x="1632889" y="369778"/>
                  </a:lnTo>
                  <a:lnTo>
                    <a:pt x="1667384" y="398072"/>
                  </a:lnTo>
                  <a:lnTo>
                    <a:pt x="1700421" y="428012"/>
                  </a:lnTo>
                  <a:lnTo>
                    <a:pt x="1731937" y="459534"/>
                  </a:lnTo>
                  <a:lnTo>
                    <a:pt x="1761870" y="492576"/>
                  </a:lnTo>
                  <a:lnTo>
                    <a:pt x="1790158" y="527078"/>
                  </a:lnTo>
                  <a:lnTo>
                    <a:pt x="1816739" y="562975"/>
                  </a:lnTo>
                  <a:lnTo>
                    <a:pt x="1841551" y="600207"/>
                  </a:lnTo>
                  <a:lnTo>
                    <a:pt x="1864531" y="638710"/>
                  </a:lnTo>
                  <a:lnTo>
                    <a:pt x="1885618" y="678423"/>
                  </a:lnTo>
                  <a:lnTo>
                    <a:pt x="1904748" y="719283"/>
                  </a:lnTo>
                  <a:lnTo>
                    <a:pt x="1921861" y="761229"/>
                  </a:lnTo>
                  <a:lnTo>
                    <a:pt x="1936894" y="804197"/>
                  </a:lnTo>
                  <a:lnTo>
                    <a:pt x="1949785" y="848126"/>
                  </a:lnTo>
                  <a:lnTo>
                    <a:pt x="1960471" y="892954"/>
                  </a:lnTo>
                  <a:lnTo>
                    <a:pt x="1968891" y="938618"/>
                  </a:lnTo>
                  <a:lnTo>
                    <a:pt x="1974982" y="985057"/>
                  </a:lnTo>
                  <a:lnTo>
                    <a:pt x="1978682" y="1032207"/>
                  </a:lnTo>
                  <a:lnTo>
                    <a:pt x="1979930" y="1080008"/>
                  </a:lnTo>
                  <a:lnTo>
                    <a:pt x="1978682" y="1127807"/>
                  </a:lnTo>
                  <a:lnTo>
                    <a:pt x="1974982" y="1174957"/>
                  </a:lnTo>
                  <a:lnTo>
                    <a:pt x="1968891" y="1221393"/>
                  </a:lnTo>
                  <a:lnTo>
                    <a:pt x="1960471" y="1267055"/>
                  </a:lnTo>
                  <a:lnTo>
                    <a:pt x="1949785" y="1311880"/>
                  </a:lnTo>
                  <a:lnTo>
                    <a:pt x="1936894" y="1355806"/>
                  </a:lnTo>
                  <a:lnTo>
                    <a:pt x="1921861" y="1398770"/>
                  </a:lnTo>
                  <a:lnTo>
                    <a:pt x="1904748" y="1440711"/>
                  </a:lnTo>
                  <a:lnTo>
                    <a:pt x="1885618" y="1481566"/>
                  </a:lnTo>
                  <a:lnTo>
                    <a:pt x="1864531" y="1521274"/>
                  </a:lnTo>
                  <a:lnTo>
                    <a:pt x="1841551" y="1559772"/>
                  </a:lnTo>
                  <a:lnTo>
                    <a:pt x="1816739" y="1596998"/>
                  </a:lnTo>
                  <a:lnTo>
                    <a:pt x="1790158" y="1632889"/>
                  </a:lnTo>
                  <a:lnTo>
                    <a:pt x="1761870" y="1667384"/>
                  </a:lnTo>
                  <a:lnTo>
                    <a:pt x="1731937" y="1700421"/>
                  </a:lnTo>
                  <a:lnTo>
                    <a:pt x="1700421" y="1731937"/>
                  </a:lnTo>
                  <a:lnTo>
                    <a:pt x="1667384" y="1761870"/>
                  </a:lnTo>
                  <a:lnTo>
                    <a:pt x="1632889" y="1790158"/>
                  </a:lnTo>
                  <a:lnTo>
                    <a:pt x="1596998" y="1816739"/>
                  </a:lnTo>
                  <a:lnTo>
                    <a:pt x="1559772" y="1841551"/>
                  </a:lnTo>
                  <a:lnTo>
                    <a:pt x="1521274" y="1864531"/>
                  </a:lnTo>
                  <a:lnTo>
                    <a:pt x="1481566" y="1885618"/>
                  </a:lnTo>
                  <a:lnTo>
                    <a:pt x="1440711" y="1904748"/>
                  </a:lnTo>
                  <a:lnTo>
                    <a:pt x="1398770" y="1921861"/>
                  </a:lnTo>
                  <a:lnTo>
                    <a:pt x="1355806" y="1936894"/>
                  </a:lnTo>
                  <a:lnTo>
                    <a:pt x="1311880" y="1949785"/>
                  </a:lnTo>
                  <a:lnTo>
                    <a:pt x="1267055" y="1960471"/>
                  </a:lnTo>
                  <a:lnTo>
                    <a:pt x="1221393" y="1968891"/>
                  </a:lnTo>
                  <a:lnTo>
                    <a:pt x="1174957" y="1974982"/>
                  </a:lnTo>
                  <a:lnTo>
                    <a:pt x="1127807" y="1978682"/>
                  </a:lnTo>
                  <a:lnTo>
                    <a:pt x="1080008" y="1979930"/>
                  </a:lnTo>
                  <a:lnTo>
                    <a:pt x="1032207" y="1978682"/>
                  </a:lnTo>
                  <a:lnTo>
                    <a:pt x="985057" y="1974982"/>
                  </a:lnTo>
                  <a:lnTo>
                    <a:pt x="938618" y="1968891"/>
                  </a:lnTo>
                  <a:lnTo>
                    <a:pt x="892954" y="1960471"/>
                  </a:lnTo>
                  <a:lnTo>
                    <a:pt x="848126" y="1949785"/>
                  </a:lnTo>
                  <a:lnTo>
                    <a:pt x="804197" y="1936894"/>
                  </a:lnTo>
                  <a:lnTo>
                    <a:pt x="761229" y="1921861"/>
                  </a:lnTo>
                  <a:lnTo>
                    <a:pt x="719283" y="1904748"/>
                  </a:lnTo>
                  <a:lnTo>
                    <a:pt x="678423" y="1885618"/>
                  </a:lnTo>
                  <a:lnTo>
                    <a:pt x="638710" y="1864531"/>
                  </a:lnTo>
                  <a:lnTo>
                    <a:pt x="600207" y="1841551"/>
                  </a:lnTo>
                  <a:lnTo>
                    <a:pt x="562975" y="1816739"/>
                  </a:lnTo>
                  <a:lnTo>
                    <a:pt x="527078" y="1790158"/>
                  </a:lnTo>
                  <a:lnTo>
                    <a:pt x="492576" y="1761870"/>
                  </a:lnTo>
                  <a:lnTo>
                    <a:pt x="459534" y="1731937"/>
                  </a:lnTo>
                  <a:lnTo>
                    <a:pt x="428012" y="1700421"/>
                  </a:lnTo>
                  <a:lnTo>
                    <a:pt x="398072" y="1667384"/>
                  </a:lnTo>
                  <a:lnTo>
                    <a:pt x="369778" y="1632889"/>
                  </a:lnTo>
                  <a:lnTo>
                    <a:pt x="343191" y="1596998"/>
                  </a:lnTo>
                  <a:lnTo>
                    <a:pt x="318374" y="1559772"/>
                  </a:lnTo>
                  <a:lnTo>
                    <a:pt x="295388" y="1521274"/>
                  </a:lnTo>
                  <a:lnTo>
                    <a:pt x="274296" y="1481566"/>
                  </a:lnTo>
                  <a:lnTo>
                    <a:pt x="255161" y="1440711"/>
                  </a:lnTo>
                  <a:lnTo>
                    <a:pt x="238043" y="1398770"/>
                  </a:lnTo>
                  <a:lnTo>
                    <a:pt x="223006" y="1355806"/>
                  </a:lnTo>
                  <a:lnTo>
                    <a:pt x="210112" y="1311880"/>
                  </a:lnTo>
                  <a:lnTo>
                    <a:pt x="199423" y="1267055"/>
                  </a:lnTo>
                  <a:lnTo>
                    <a:pt x="191000" y="1221393"/>
                  </a:lnTo>
                  <a:lnTo>
                    <a:pt x="184907" y="1174957"/>
                  </a:lnTo>
                  <a:lnTo>
                    <a:pt x="181206" y="1127807"/>
                  </a:lnTo>
                  <a:lnTo>
                    <a:pt x="179959" y="1080008"/>
                  </a:lnTo>
                  <a:close/>
                </a:path>
                <a:path w="2160270" h="2160270">
                  <a:moveTo>
                    <a:pt x="359918" y="1080008"/>
                  </a:moveTo>
                  <a:lnTo>
                    <a:pt x="361449" y="1032668"/>
                  </a:lnTo>
                  <a:lnTo>
                    <a:pt x="365982" y="986147"/>
                  </a:lnTo>
                  <a:lnTo>
                    <a:pt x="373420" y="940538"/>
                  </a:lnTo>
                  <a:lnTo>
                    <a:pt x="383669" y="895937"/>
                  </a:lnTo>
                  <a:lnTo>
                    <a:pt x="396634" y="852439"/>
                  </a:lnTo>
                  <a:lnTo>
                    <a:pt x="412219" y="810137"/>
                  </a:lnTo>
                  <a:lnTo>
                    <a:pt x="430330" y="769128"/>
                  </a:lnTo>
                  <a:lnTo>
                    <a:pt x="450873" y="729506"/>
                  </a:lnTo>
                  <a:lnTo>
                    <a:pt x="473751" y="691365"/>
                  </a:lnTo>
                  <a:lnTo>
                    <a:pt x="498870" y="654801"/>
                  </a:lnTo>
                  <a:lnTo>
                    <a:pt x="526135" y="619909"/>
                  </a:lnTo>
                  <a:lnTo>
                    <a:pt x="555451" y="586783"/>
                  </a:lnTo>
                  <a:lnTo>
                    <a:pt x="586723" y="555518"/>
                  </a:lnTo>
                  <a:lnTo>
                    <a:pt x="619857" y="526210"/>
                  </a:lnTo>
                  <a:lnTo>
                    <a:pt x="654757" y="498952"/>
                  </a:lnTo>
                  <a:lnTo>
                    <a:pt x="691328" y="473840"/>
                  </a:lnTo>
                  <a:lnTo>
                    <a:pt x="729475" y="450969"/>
                  </a:lnTo>
                  <a:lnTo>
                    <a:pt x="769104" y="430433"/>
                  </a:lnTo>
                  <a:lnTo>
                    <a:pt x="810119" y="412328"/>
                  </a:lnTo>
                  <a:lnTo>
                    <a:pt x="852426" y="396747"/>
                  </a:lnTo>
                  <a:lnTo>
                    <a:pt x="895929" y="383787"/>
                  </a:lnTo>
                  <a:lnTo>
                    <a:pt x="940533" y="373542"/>
                  </a:lnTo>
                  <a:lnTo>
                    <a:pt x="986145" y="366107"/>
                  </a:lnTo>
                  <a:lnTo>
                    <a:pt x="1032668" y="361576"/>
                  </a:lnTo>
                  <a:lnTo>
                    <a:pt x="1080008" y="360045"/>
                  </a:lnTo>
                  <a:lnTo>
                    <a:pt x="1127347" y="361576"/>
                  </a:lnTo>
                  <a:lnTo>
                    <a:pt x="1173868" y="366107"/>
                  </a:lnTo>
                  <a:lnTo>
                    <a:pt x="1219477" y="373542"/>
                  </a:lnTo>
                  <a:lnTo>
                    <a:pt x="1264078" y="383787"/>
                  </a:lnTo>
                  <a:lnTo>
                    <a:pt x="1307576" y="396748"/>
                  </a:lnTo>
                  <a:lnTo>
                    <a:pt x="1349878" y="412328"/>
                  </a:lnTo>
                  <a:lnTo>
                    <a:pt x="1390887" y="430433"/>
                  </a:lnTo>
                  <a:lnTo>
                    <a:pt x="1430509" y="450969"/>
                  </a:lnTo>
                  <a:lnTo>
                    <a:pt x="1468650" y="473840"/>
                  </a:lnTo>
                  <a:lnTo>
                    <a:pt x="1505214" y="498952"/>
                  </a:lnTo>
                  <a:lnTo>
                    <a:pt x="1540106" y="526210"/>
                  </a:lnTo>
                  <a:lnTo>
                    <a:pt x="1573232" y="555518"/>
                  </a:lnTo>
                  <a:lnTo>
                    <a:pt x="1604497" y="586783"/>
                  </a:lnTo>
                  <a:lnTo>
                    <a:pt x="1633805" y="619909"/>
                  </a:lnTo>
                  <a:lnTo>
                    <a:pt x="1661063" y="654801"/>
                  </a:lnTo>
                  <a:lnTo>
                    <a:pt x="1686175" y="691365"/>
                  </a:lnTo>
                  <a:lnTo>
                    <a:pt x="1709046" y="729506"/>
                  </a:lnTo>
                  <a:lnTo>
                    <a:pt x="1729582" y="769128"/>
                  </a:lnTo>
                  <a:lnTo>
                    <a:pt x="1747687" y="810137"/>
                  </a:lnTo>
                  <a:lnTo>
                    <a:pt x="1763268" y="852439"/>
                  </a:lnTo>
                  <a:lnTo>
                    <a:pt x="1776228" y="895937"/>
                  </a:lnTo>
                  <a:lnTo>
                    <a:pt x="1786473" y="940538"/>
                  </a:lnTo>
                  <a:lnTo>
                    <a:pt x="1793908" y="986147"/>
                  </a:lnTo>
                  <a:lnTo>
                    <a:pt x="1798439" y="1032668"/>
                  </a:lnTo>
                  <a:lnTo>
                    <a:pt x="1799970" y="1080008"/>
                  </a:lnTo>
                  <a:lnTo>
                    <a:pt x="1798439" y="1127347"/>
                  </a:lnTo>
                  <a:lnTo>
                    <a:pt x="1793908" y="1173868"/>
                  </a:lnTo>
                  <a:lnTo>
                    <a:pt x="1786473" y="1219477"/>
                  </a:lnTo>
                  <a:lnTo>
                    <a:pt x="1776228" y="1264078"/>
                  </a:lnTo>
                  <a:lnTo>
                    <a:pt x="1763268" y="1307576"/>
                  </a:lnTo>
                  <a:lnTo>
                    <a:pt x="1747687" y="1349878"/>
                  </a:lnTo>
                  <a:lnTo>
                    <a:pt x="1729582" y="1390887"/>
                  </a:lnTo>
                  <a:lnTo>
                    <a:pt x="1709046" y="1430509"/>
                  </a:lnTo>
                  <a:lnTo>
                    <a:pt x="1686175" y="1468650"/>
                  </a:lnTo>
                  <a:lnTo>
                    <a:pt x="1661063" y="1505214"/>
                  </a:lnTo>
                  <a:lnTo>
                    <a:pt x="1633805" y="1540106"/>
                  </a:lnTo>
                  <a:lnTo>
                    <a:pt x="1604497" y="1573232"/>
                  </a:lnTo>
                  <a:lnTo>
                    <a:pt x="1573232" y="1604497"/>
                  </a:lnTo>
                  <a:lnTo>
                    <a:pt x="1540106" y="1633805"/>
                  </a:lnTo>
                  <a:lnTo>
                    <a:pt x="1505214" y="1661063"/>
                  </a:lnTo>
                  <a:lnTo>
                    <a:pt x="1468650" y="1686175"/>
                  </a:lnTo>
                  <a:lnTo>
                    <a:pt x="1430509" y="1709046"/>
                  </a:lnTo>
                  <a:lnTo>
                    <a:pt x="1390887" y="1729582"/>
                  </a:lnTo>
                  <a:lnTo>
                    <a:pt x="1349878" y="1747687"/>
                  </a:lnTo>
                  <a:lnTo>
                    <a:pt x="1307576" y="1763268"/>
                  </a:lnTo>
                  <a:lnTo>
                    <a:pt x="1264078" y="1776228"/>
                  </a:lnTo>
                  <a:lnTo>
                    <a:pt x="1219477" y="1786473"/>
                  </a:lnTo>
                  <a:lnTo>
                    <a:pt x="1173868" y="1793908"/>
                  </a:lnTo>
                  <a:lnTo>
                    <a:pt x="1127347" y="1798439"/>
                  </a:lnTo>
                  <a:lnTo>
                    <a:pt x="1080008" y="1799971"/>
                  </a:lnTo>
                  <a:lnTo>
                    <a:pt x="1032668" y="1798439"/>
                  </a:lnTo>
                  <a:lnTo>
                    <a:pt x="986145" y="1793908"/>
                  </a:lnTo>
                  <a:lnTo>
                    <a:pt x="940533" y="1786473"/>
                  </a:lnTo>
                  <a:lnTo>
                    <a:pt x="895929" y="1776228"/>
                  </a:lnTo>
                  <a:lnTo>
                    <a:pt x="852426" y="1763268"/>
                  </a:lnTo>
                  <a:lnTo>
                    <a:pt x="810119" y="1747687"/>
                  </a:lnTo>
                  <a:lnTo>
                    <a:pt x="769104" y="1729582"/>
                  </a:lnTo>
                  <a:lnTo>
                    <a:pt x="729475" y="1709046"/>
                  </a:lnTo>
                  <a:lnTo>
                    <a:pt x="691328" y="1686175"/>
                  </a:lnTo>
                  <a:lnTo>
                    <a:pt x="654757" y="1661063"/>
                  </a:lnTo>
                  <a:lnTo>
                    <a:pt x="619857" y="1633805"/>
                  </a:lnTo>
                  <a:lnTo>
                    <a:pt x="586723" y="1604497"/>
                  </a:lnTo>
                  <a:lnTo>
                    <a:pt x="555451" y="1573232"/>
                  </a:lnTo>
                  <a:lnTo>
                    <a:pt x="526135" y="1540106"/>
                  </a:lnTo>
                  <a:lnTo>
                    <a:pt x="498870" y="1505214"/>
                  </a:lnTo>
                  <a:lnTo>
                    <a:pt x="473751" y="1468650"/>
                  </a:lnTo>
                  <a:lnTo>
                    <a:pt x="450873" y="1430509"/>
                  </a:lnTo>
                  <a:lnTo>
                    <a:pt x="430330" y="1390887"/>
                  </a:lnTo>
                  <a:lnTo>
                    <a:pt x="412219" y="1349878"/>
                  </a:lnTo>
                  <a:lnTo>
                    <a:pt x="396634" y="1307576"/>
                  </a:lnTo>
                  <a:lnTo>
                    <a:pt x="383669" y="1264078"/>
                  </a:lnTo>
                  <a:lnTo>
                    <a:pt x="373420" y="1219477"/>
                  </a:lnTo>
                  <a:lnTo>
                    <a:pt x="365982" y="1173868"/>
                  </a:lnTo>
                  <a:lnTo>
                    <a:pt x="361449" y="1127347"/>
                  </a:lnTo>
                  <a:lnTo>
                    <a:pt x="359918" y="1080008"/>
                  </a:lnTo>
                  <a:close/>
                </a:path>
                <a:path w="2160270" h="2160270">
                  <a:moveTo>
                    <a:pt x="540004" y="1080008"/>
                  </a:moveTo>
                  <a:lnTo>
                    <a:pt x="542210" y="1030862"/>
                  </a:lnTo>
                  <a:lnTo>
                    <a:pt x="548701" y="982952"/>
                  </a:lnTo>
                  <a:lnTo>
                    <a:pt x="559287" y="936467"/>
                  </a:lnTo>
                  <a:lnTo>
                    <a:pt x="573777" y="891599"/>
                  </a:lnTo>
                  <a:lnTo>
                    <a:pt x="591982" y="848538"/>
                  </a:lnTo>
                  <a:lnTo>
                    <a:pt x="613711" y="807475"/>
                  </a:lnTo>
                  <a:lnTo>
                    <a:pt x="638772" y="768601"/>
                  </a:lnTo>
                  <a:lnTo>
                    <a:pt x="666977" y="732106"/>
                  </a:lnTo>
                  <a:lnTo>
                    <a:pt x="698134" y="698182"/>
                  </a:lnTo>
                  <a:lnTo>
                    <a:pt x="732054" y="667019"/>
                  </a:lnTo>
                  <a:lnTo>
                    <a:pt x="768545" y="638807"/>
                  </a:lnTo>
                  <a:lnTo>
                    <a:pt x="807418" y="613739"/>
                  </a:lnTo>
                  <a:lnTo>
                    <a:pt x="848483" y="592003"/>
                  </a:lnTo>
                  <a:lnTo>
                    <a:pt x="891548" y="573792"/>
                  </a:lnTo>
                  <a:lnTo>
                    <a:pt x="936423" y="559296"/>
                  </a:lnTo>
                  <a:lnTo>
                    <a:pt x="982918" y="548705"/>
                  </a:lnTo>
                  <a:lnTo>
                    <a:pt x="1030843" y="542211"/>
                  </a:lnTo>
                  <a:lnTo>
                    <a:pt x="1080008" y="540004"/>
                  </a:lnTo>
                  <a:lnTo>
                    <a:pt x="1129153" y="542211"/>
                  </a:lnTo>
                  <a:lnTo>
                    <a:pt x="1177063" y="548705"/>
                  </a:lnTo>
                  <a:lnTo>
                    <a:pt x="1223548" y="559296"/>
                  </a:lnTo>
                  <a:lnTo>
                    <a:pt x="1268416" y="573792"/>
                  </a:lnTo>
                  <a:lnTo>
                    <a:pt x="1311477" y="592003"/>
                  </a:lnTo>
                  <a:lnTo>
                    <a:pt x="1352540" y="613739"/>
                  </a:lnTo>
                  <a:lnTo>
                    <a:pt x="1391414" y="638807"/>
                  </a:lnTo>
                  <a:lnTo>
                    <a:pt x="1427909" y="667019"/>
                  </a:lnTo>
                  <a:lnTo>
                    <a:pt x="1461833" y="698182"/>
                  </a:lnTo>
                  <a:lnTo>
                    <a:pt x="1492996" y="732106"/>
                  </a:lnTo>
                  <a:lnTo>
                    <a:pt x="1521208" y="768601"/>
                  </a:lnTo>
                  <a:lnTo>
                    <a:pt x="1546276" y="807475"/>
                  </a:lnTo>
                  <a:lnTo>
                    <a:pt x="1568012" y="848538"/>
                  </a:lnTo>
                  <a:lnTo>
                    <a:pt x="1586223" y="891599"/>
                  </a:lnTo>
                  <a:lnTo>
                    <a:pt x="1600719" y="936467"/>
                  </a:lnTo>
                  <a:lnTo>
                    <a:pt x="1611310" y="982952"/>
                  </a:lnTo>
                  <a:lnTo>
                    <a:pt x="1617804" y="1030862"/>
                  </a:lnTo>
                  <a:lnTo>
                    <a:pt x="1620012" y="1080008"/>
                  </a:lnTo>
                  <a:lnTo>
                    <a:pt x="1617804" y="1129153"/>
                  </a:lnTo>
                  <a:lnTo>
                    <a:pt x="1611310" y="1177063"/>
                  </a:lnTo>
                  <a:lnTo>
                    <a:pt x="1600719" y="1223548"/>
                  </a:lnTo>
                  <a:lnTo>
                    <a:pt x="1586223" y="1268416"/>
                  </a:lnTo>
                  <a:lnTo>
                    <a:pt x="1568012" y="1311477"/>
                  </a:lnTo>
                  <a:lnTo>
                    <a:pt x="1546276" y="1352540"/>
                  </a:lnTo>
                  <a:lnTo>
                    <a:pt x="1521208" y="1391414"/>
                  </a:lnTo>
                  <a:lnTo>
                    <a:pt x="1492996" y="1427909"/>
                  </a:lnTo>
                  <a:lnTo>
                    <a:pt x="1461833" y="1461833"/>
                  </a:lnTo>
                  <a:lnTo>
                    <a:pt x="1427909" y="1492996"/>
                  </a:lnTo>
                  <a:lnTo>
                    <a:pt x="1391414" y="1521208"/>
                  </a:lnTo>
                  <a:lnTo>
                    <a:pt x="1352540" y="1546276"/>
                  </a:lnTo>
                  <a:lnTo>
                    <a:pt x="1311477" y="1568012"/>
                  </a:lnTo>
                  <a:lnTo>
                    <a:pt x="1268416" y="1586223"/>
                  </a:lnTo>
                  <a:lnTo>
                    <a:pt x="1223548" y="1600719"/>
                  </a:lnTo>
                  <a:lnTo>
                    <a:pt x="1177063" y="1611310"/>
                  </a:lnTo>
                  <a:lnTo>
                    <a:pt x="1129153" y="1617804"/>
                  </a:lnTo>
                  <a:lnTo>
                    <a:pt x="1080008" y="1620012"/>
                  </a:lnTo>
                  <a:lnTo>
                    <a:pt x="1030843" y="1617804"/>
                  </a:lnTo>
                  <a:lnTo>
                    <a:pt x="982918" y="1611310"/>
                  </a:lnTo>
                  <a:lnTo>
                    <a:pt x="936423" y="1600719"/>
                  </a:lnTo>
                  <a:lnTo>
                    <a:pt x="891548" y="1586223"/>
                  </a:lnTo>
                  <a:lnTo>
                    <a:pt x="848483" y="1568012"/>
                  </a:lnTo>
                  <a:lnTo>
                    <a:pt x="807418" y="1546276"/>
                  </a:lnTo>
                  <a:lnTo>
                    <a:pt x="768545" y="1521208"/>
                  </a:lnTo>
                  <a:lnTo>
                    <a:pt x="732054" y="1492996"/>
                  </a:lnTo>
                  <a:lnTo>
                    <a:pt x="698134" y="1461833"/>
                  </a:lnTo>
                  <a:lnTo>
                    <a:pt x="666977" y="1427909"/>
                  </a:lnTo>
                  <a:lnTo>
                    <a:pt x="638772" y="1391414"/>
                  </a:lnTo>
                  <a:lnTo>
                    <a:pt x="613711" y="1352540"/>
                  </a:lnTo>
                  <a:lnTo>
                    <a:pt x="591982" y="1311477"/>
                  </a:lnTo>
                  <a:lnTo>
                    <a:pt x="573777" y="1268416"/>
                  </a:lnTo>
                  <a:lnTo>
                    <a:pt x="559287" y="1223548"/>
                  </a:lnTo>
                  <a:lnTo>
                    <a:pt x="548701" y="1177063"/>
                  </a:lnTo>
                  <a:lnTo>
                    <a:pt x="542210" y="1129153"/>
                  </a:lnTo>
                  <a:lnTo>
                    <a:pt x="540004" y="1080008"/>
                  </a:lnTo>
                  <a:close/>
                </a:path>
                <a:path w="2160270" h="2160270">
                  <a:moveTo>
                    <a:pt x="719963" y="1080008"/>
                  </a:moveTo>
                  <a:lnTo>
                    <a:pt x="723249" y="1031144"/>
                  </a:lnTo>
                  <a:lnTo>
                    <a:pt x="732821" y="984281"/>
                  </a:lnTo>
                  <a:lnTo>
                    <a:pt x="748252" y="939847"/>
                  </a:lnTo>
                  <a:lnTo>
                    <a:pt x="769112" y="898270"/>
                  </a:lnTo>
                  <a:lnTo>
                    <a:pt x="794972" y="859980"/>
                  </a:lnTo>
                  <a:lnTo>
                    <a:pt x="825404" y="825404"/>
                  </a:lnTo>
                  <a:lnTo>
                    <a:pt x="859980" y="794972"/>
                  </a:lnTo>
                  <a:lnTo>
                    <a:pt x="898271" y="769111"/>
                  </a:lnTo>
                  <a:lnTo>
                    <a:pt x="939847" y="748252"/>
                  </a:lnTo>
                  <a:lnTo>
                    <a:pt x="984281" y="732821"/>
                  </a:lnTo>
                  <a:lnTo>
                    <a:pt x="1031144" y="723249"/>
                  </a:lnTo>
                  <a:lnTo>
                    <a:pt x="1080008" y="719963"/>
                  </a:lnTo>
                  <a:lnTo>
                    <a:pt x="1128842" y="723249"/>
                  </a:lnTo>
                  <a:lnTo>
                    <a:pt x="1175680" y="732821"/>
                  </a:lnTo>
                  <a:lnTo>
                    <a:pt x="1220094" y="748252"/>
                  </a:lnTo>
                  <a:lnTo>
                    <a:pt x="1261655" y="769112"/>
                  </a:lnTo>
                  <a:lnTo>
                    <a:pt x="1299933" y="794972"/>
                  </a:lnTo>
                  <a:lnTo>
                    <a:pt x="1334500" y="825404"/>
                  </a:lnTo>
                  <a:lnTo>
                    <a:pt x="1364925" y="859980"/>
                  </a:lnTo>
                  <a:lnTo>
                    <a:pt x="1390781" y="898271"/>
                  </a:lnTo>
                  <a:lnTo>
                    <a:pt x="1411638" y="939847"/>
                  </a:lnTo>
                  <a:lnTo>
                    <a:pt x="1427067" y="984281"/>
                  </a:lnTo>
                  <a:lnTo>
                    <a:pt x="1436639" y="1031144"/>
                  </a:lnTo>
                  <a:lnTo>
                    <a:pt x="1439926" y="1080008"/>
                  </a:lnTo>
                  <a:lnTo>
                    <a:pt x="1436639" y="1128842"/>
                  </a:lnTo>
                  <a:lnTo>
                    <a:pt x="1427067" y="1175680"/>
                  </a:lnTo>
                  <a:lnTo>
                    <a:pt x="1411638" y="1220094"/>
                  </a:lnTo>
                  <a:lnTo>
                    <a:pt x="1390781" y="1261655"/>
                  </a:lnTo>
                  <a:lnTo>
                    <a:pt x="1364925" y="1299933"/>
                  </a:lnTo>
                  <a:lnTo>
                    <a:pt x="1334500" y="1334500"/>
                  </a:lnTo>
                  <a:lnTo>
                    <a:pt x="1299933" y="1364925"/>
                  </a:lnTo>
                  <a:lnTo>
                    <a:pt x="1261655" y="1390781"/>
                  </a:lnTo>
                  <a:lnTo>
                    <a:pt x="1220094" y="1411638"/>
                  </a:lnTo>
                  <a:lnTo>
                    <a:pt x="1175680" y="1427067"/>
                  </a:lnTo>
                  <a:lnTo>
                    <a:pt x="1128842" y="1436639"/>
                  </a:lnTo>
                  <a:lnTo>
                    <a:pt x="1080008" y="1439926"/>
                  </a:lnTo>
                  <a:lnTo>
                    <a:pt x="1031144" y="1436639"/>
                  </a:lnTo>
                  <a:lnTo>
                    <a:pt x="984281" y="1427067"/>
                  </a:lnTo>
                  <a:lnTo>
                    <a:pt x="939847" y="1411638"/>
                  </a:lnTo>
                  <a:lnTo>
                    <a:pt x="898271" y="1390781"/>
                  </a:lnTo>
                  <a:lnTo>
                    <a:pt x="859980" y="1364925"/>
                  </a:lnTo>
                  <a:lnTo>
                    <a:pt x="825404" y="1334500"/>
                  </a:lnTo>
                  <a:lnTo>
                    <a:pt x="794972" y="1299933"/>
                  </a:lnTo>
                  <a:lnTo>
                    <a:pt x="769112" y="1261655"/>
                  </a:lnTo>
                  <a:lnTo>
                    <a:pt x="748252" y="1220094"/>
                  </a:lnTo>
                  <a:lnTo>
                    <a:pt x="732821" y="1175680"/>
                  </a:lnTo>
                  <a:lnTo>
                    <a:pt x="723249" y="1128842"/>
                  </a:lnTo>
                  <a:lnTo>
                    <a:pt x="719963" y="1080008"/>
                  </a:lnTo>
                  <a:close/>
                </a:path>
                <a:path w="2160270" h="2160270">
                  <a:moveTo>
                    <a:pt x="899922" y="1080008"/>
                  </a:moveTo>
                  <a:lnTo>
                    <a:pt x="906356" y="1032149"/>
                  </a:lnTo>
                  <a:lnTo>
                    <a:pt x="924512" y="989155"/>
                  </a:lnTo>
                  <a:lnTo>
                    <a:pt x="952674" y="952738"/>
                  </a:lnTo>
                  <a:lnTo>
                    <a:pt x="989123" y="924607"/>
                  </a:lnTo>
                  <a:lnTo>
                    <a:pt x="1032140" y="906473"/>
                  </a:lnTo>
                  <a:lnTo>
                    <a:pt x="1080008" y="900049"/>
                  </a:lnTo>
                  <a:lnTo>
                    <a:pt x="1127866" y="906473"/>
                  </a:lnTo>
                  <a:lnTo>
                    <a:pt x="1170860" y="924607"/>
                  </a:lnTo>
                  <a:lnTo>
                    <a:pt x="1207277" y="952738"/>
                  </a:lnTo>
                  <a:lnTo>
                    <a:pt x="1235408" y="989155"/>
                  </a:lnTo>
                  <a:lnTo>
                    <a:pt x="1253542" y="1032149"/>
                  </a:lnTo>
                  <a:lnTo>
                    <a:pt x="1259967" y="1080008"/>
                  </a:lnTo>
                  <a:lnTo>
                    <a:pt x="1253542" y="1127866"/>
                  </a:lnTo>
                  <a:lnTo>
                    <a:pt x="1235408" y="1170860"/>
                  </a:lnTo>
                  <a:lnTo>
                    <a:pt x="1207277" y="1207277"/>
                  </a:lnTo>
                  <a:lnTo>
                    <a:pt x="1170860" y="1235408"/>
                  </a:lnTo>
                  <a:lnTo>
                    <a:pt x="1127866" y="1253542"/>
                  </a:lnTo>
                  <a:lnTo>
                    <a:pt x="1080008" y="1259967"/>
                  </a:lnTo>
                  <a:lnTo>
                    <a:pt x="1032140" y="1253542"/>
                  </a:lnTo>
                  <a:lnTo>
                    <a:pt x="989123" y="1235408"/>
                  </a:lnTo>
                  <a:lnTo>
                    <a:pt x="952674" y="1207277"/>
                  </a:lnTo>
                  <a:lnTo>
                    <a:pt x="924512" y="1170860"/>
                  </a:lnTo>
                  <a:lnTo>
                    <a:pt x="906356" y="1127866"/>
                  </a:lnTo>
                  <a:lnTo>
                    <a:pt x="899922" y="108000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9463" y="3573462"/>
              <a:ext cx="113411" cy="12141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593214" y="4496816"/>
              <a:ext cx="1222375" cy="1222375"/>
            </a:xfrm>
            <a:custGeom>
              <a:avLst/>
              <a:gdLst/>
              <a:ahLst/>
              <a:cxnLst/>
              <a:rect l="l" t="t" r="r" b="b"/>
              <a:pathLst>
                <a:path w="1222375" h="1222375">
                  <a:moveTo>
                    <a:pt x="610997" y="0"/>
                  </a:moveTo>
                  <a:lnTo>
                    <a:pt x="0" y="610869"/>
                  </a:lnTo>
                  <a:lnTo>
                    <a:pt x="610997" y="1221866"/>
                  </a:lnTo>
                  <a:lnTo>
                    <a:pt x="1221867" y="610869"/>
                  </a:lnTo>
                  <a:lnTo>
                    <a:pt x="61099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93214" y="4496816"/>
              <a:ext cx="1222375" cy="1222375"/>
            </a:xfrm>
            <a:custGeom>
              <a:avLst/>
              <a:gdLst/>
              <a:ahLst/>
              <a:cxnLst/>
              <a:rect l="l" t="t" r="r" b="b"/>
              <a:pathLst>
                <a:path w="1222375" h="1222375">
                  <a:moveTo>
                    <a:pt x="610997" y="0"/>
                  </a:moveTo>
                  <a:lnTo>
                    <a:pt x="1221867" y="610869"/>
                  </a:lnTo>
                  <a:lnTo>
                    <a:pt x="610997" y="1221866"/>
                  </a:lnTo>
                  <a:lnTo>
                    <a:pt x="0" y="610869"/>
                  </a:lnTo>
                  <a:lnTo>
                    <a:pt x="610997" y="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172081" y="2534538"/>
              <a:ext cx="2195830" cy="2600325"/>
            </a:xfrm>
            <a:custGeom>
              <a:avLst/>
              <a:gdLst/>
              <a:ahLst/>
              <a:cxnLst/>
              <a:rect l="l" t="t" r="r" b="b"/>
              <a:pathLst>
                <a:path w="2195829" h="2600325">
                  <a:moveTo>
                    <a:pt x="2195703" y="2561971"/>
                  </a:moveTo>
                  <a:lnTo>
                    <a:pt x="2176653" y="2552446"/>
                  </a:lnTo>
                  <a:lnTo>
                    <a:pt x="2119503" y="2523871"/>
                  </a:lnTo>
                  <a:lnTo>
                    <a:pt x="2119503" y="2552446"/>
                  </a:lnTo>
                  <a:lnTo>
                    <a:pt x="47625" y="2552446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2556002"/>
                  </a:lnTo>
                  <a:lnTo>
                    <a:pt x="35687" y="2556002"/>
                  </a:lnTo>
                  <a:lnTo>
                    <a:pt x="35687" y="2571496"/>
                  </a:lnTo>
                  <a:lnTo>
                    <a:pt x="2119503" y="2571496"/>
                  </a:lnTo>
                  <a:lnTo>
                    <a:pt x="2119503" y="2600071"/>
                  </a:lnTo>
                  <a:lnTo>
                    <a:pt x="2176653" y="2571496"/>
                  </a:lnTo>
                  <a:lnTo>
                    <a:pt x="2195703" y="25619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52268" y="4452239"/>
              <a:ext cx="111506" cy="1143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734818" y="5415026"/>
              <a:ext cx="328295" cy="208279"/>
            </a:xfrm>
            <a:custGeom>
              <a:avLst/>
              <a:gdLst/>
              <a:ahLst/>
              <a:cxnLst/>
              <a:rect l="l" t="t" r="r" b="b"/>
              <a:pathLst>
                <a:path w="328294" h="208279">
                  <a:moveTo>
                    <a:pt x="17145" y="0"/>
                  </a:moveTo>
                  <a:lnTo>
                    <a:pt x="0" y="0"/>
                  </a:lnTo>
                  <a:lnTo>
                    <a:pt x="0" y="207759"/>
                  </a:lnTo>
                  <a:lnTo>
                    <a:pt x="17145" y="207759"/>
                  </a:lnTo>
                  <a:lnTo>
                    <a:pt x="17145" y="0"/>
                  </a:lnTo>
                  <a:close/>
                </a:path>
                <a:path w="328294" h="208279">
                  <a:moveTo>
                    <a:pt x="65659" y="0"/>
                  </a:moveTo>
                  <a:lnTo>
                    <a:pt x="48514" y="0"/>
                  </a:lnTo>
                  <a:lnTo>
                    <a:pt x="48514" y="207759"/>
                  </a:lnTo>
                  <a:lnTo>
                    <a:pt x="65659" y="207759"/>
                  </a:lnTo>
                  <a:lnTo>
                    <a:pt x="65659" y="0"/>
                  </a:lnTo>
                  <a:close/>
                </a:path>
                <a:path w="328294" h="208279">
                  <a:moveTo>
                    <a:pt x="279273" y="0"/>
                  </a:moveTo>
                  <a:lnTo>
                    <a:pt x="262128" y="0"/>
                  </a:lnTo>
                  <a:lnTo>
                    <a:pt x="262128" y="207759"/>
                  </a:lnTo>
                  <a:lnTo>
                    <a:pt x="279273" y="207759"/>
                  </a:lnTo>
                  <a:lnTo>
                    <a:pt x="279273" y="0"/>
                  </a:lnTo>
                  <a:close/>
                </a:path>
                <a:path w="328294" h="208279">
                  <a:moveTo>
                    <a:pt x="327787" y="0"/>
                  </a:moveTo>
                  <a:lnTo>
                    <a:pt x="310642" y="0"/>
                  </a:lnTo>
                  <a:lnTo>
                    <a:pt x="310642" y="207759"/>
                  </a:lnTo>
                  <a:lnTo>
                    <a:pt x="327787" y="207759"/>
                  </a:lnTo>
                  <a:lnTo>
                    <a:pt x="3277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043683" y="2152345"/>
            <a:ext cx="3257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2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72764" y="5452059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516630" y="5415026"/>
            <a:ext cx="319405" cy="208279"/>
          </a:xfrm>
          <a:custGeom>
            <a:avLst/>
            <a:gdLst/>
            <a:ahLst/>
            <a:cxnLst/>
            <a:rect l="l" t="t" r="r" b="b"/>
            <a:pathLst>
              <a:path w="319404" h="208279">
                <a:moveTo>
                  <a:pt x="17145" y="0"/>
                </a:moveTo>
                <a:lnTo>
                  <a:pt x="0" y="0"/>
                </a:lnTo>
                <a:lnTo>
                  <a:pt x="0" y="207759"/>
                </a:lnTo>
                <a:lnTo>
                  <a:pt x="17145" y="207759"/>
                </a:lnTo>
                <a:lnTo>
                  <a:pt x="17145" y="0"/>
                </a:lnTo>
                <a:close/>
              </a:path>
              <a:path w="319404" h="208279">
                <a:moveTo>
                  <a:pt x="318897" y="0"/>
                </a:moveTo>
                <a:lnTo>
                  <a:pt x="301752" y="0"/>
                </a:lnTo>
                <a:lnTo>
                  <a:pt x="301752" y="207759"/>
                </a:lnTo>
                <a:lnTo>
                  <a:pt x="318897" y="207759"/>
                </a:lnTo>
                <a:lnTo>
                  <a:pt x="3188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673221" y="5452059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469129" y="5415026"/>
            <a:ext cx="17145" cy="20827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59"/>
                </a:lnTo>
                <a:lnTo>
                  <a:pt x="17145" y="207759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162805" y="5415026"/>
            <a:ext cx="17145" cy="208279"/>
          </a:xfrm>
          <a:custGeom>
            <a:avLst/>
            <a:gdLst/>
            <a:ahLst/>
            <a:cxnLst/>
            <a:rect l="l" t="t" r="r" b="b"/>
            <a:pathLst>
              <a:path w="17145" h="208279">
                <a:moveTo>
                  <a:pt x="17145" y="0"/>
                </a:moveTo>
                <a:lnTo>
                  <a:pt x="0" y="0"/>
                </a:lnTo>
                <a:lnTo>
                  <a:pt x="0" y="207759"/>
                </a:lnTo>
                <a:lnTo>
                  <a:pt x="17145" y="207759"/>
                </a:lnTo>
                <a:lnTo>
                  <a:pt x="17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322826" y="5452059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89808" y="4766023"/>
            <a:ext cx="2216785" cy="87820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R="316865" algn="r">
              <a:lnSpc>
                <a:spcPct val="100000"/>
              </a:lnSpc>
              <a:spcBef>
                <a:spcPts val="1235"/>
              </a:spcBef>
            </a:pPr>
            <a:r>
              <a:rPr sz="2000" spc="-25" dirty="0">
                <a:latin typeface="Cambria Math"/>
                <a:cs typeface="Cambria Math"/>
              </a:rPr>
              <a:t>𝑎</a:t>
            </a:r>
            <a:r>
              <a:rPr sz="2175" spc="-37" baseline="-15325" dirty="0">
                <a:latin typeface="Cambria Math"/>
                <a:cs typeface="Cambria Math"/>
              </a:rPr>
              <a:t>1</a:t>
            </a:r>
            <a:endParaRPr sz="2175" baseline="-15325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015"/>
              </a:spcBef>
              <a:tabLst>
                <a:tab pos="464184" algn="l"/>
                <a:tab pos="772160" algn="l"/>
                <a:tab pos="1123315" algn="l"/>
                <a:tab pos="1787525" algn="l"/>
              </a:tabLst>
            </a:pPr>
            <a:r>
              <a:rPr sz="1800" spc="-50" dirty="0">
                <a:latin typeface="Cambria Math"/>
                <a:cs typeface="Cambria Math"/>
              </a:rPr>
              <a:t>𝒂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=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𝑎</a:t>
            </a:r>
            <a:r>
              <a:rPr sz="1800" dirty="0">
                <a:latin typeface="Cambria Math"/>
                <a:cs typeface="Cambria Math"/>
              </a:rPr>
              <a:t>	+</a:t>
            </a:r>
            <a:r>
              <a:rPr sz="1800" spc="85" dirty="0">
                <a:latin typeface="Cambria Math"/>
                <a:cs typeface="Cambria Math"/>
              </a:rPr>
              <a:t>  </a:t>
            </a:r>
            <a:r>
              <a:rPr sz="1800" spc="-50" dirty="0">
                <a:latin typeface="Cambria Math"/>
                <a:cs typeface="Cambria Math"/>
              </a:rPr>
              <a:t>𝑎</a:t>
            </a:r>
            <a:r>
              <a:rPr sz="1800" dirty="0">
                <a:latin typeface="Cambria Math"/>
                <a:cs typeface="Cambria Math"/>
              </a:rPr>
              <a:t>	≤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𝑐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89990" y="4177665"/>
            <a:ext cx="1056640" cy="476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775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solução</a:t>
            </a:r>
            <a:endParaRPr sz="1800">
              <a:latin typeface="Calibri"/>
              <a:cs typeface="Calibri"/>
            </a:endParaRPr>
          </a:p>
          <a:p>
            <a:pPr marR="30480" algn="r">
              <a:lnSpc>
                <a:spcPts val="1775"/>
              </a:lnSpc>
            </a:pPr>
            <a:r>
              <a:rPr sz="2700" baseline="-20061" dirty="0">
                <a:latin typeface="Cambria Math"/>
                <a:cs typeface="Cambria Math"/>
              </a:rPr>
              <a:t>𝒂</a:t>
            </a:r>
            <a:r>
              <a:rPr sz="2700" spc="7" baseline="-20061" dirty="0">
                <a:latin typeface="Cambria Math"/>
                <a:cs typeface="Cambria Math"/>
              </a:rPr>
              <a:t> </a:t>
            </a:r>
            <a:r>
              <a:rPr sz="1300" spc="-50" dirty="0">
                <a:latin typeface="Cambria Math"/>
                <a:cs typeface="Cambria Math"/>
              </a:rPr>
              <a:t>∗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780794" y="4360290"/>
            <a:ext cx="897890" cy="1188720"/>
            <a:chOff x="1780794" y="4360290"/>
            <a:chExt cx="897890" cy="1188720"/>
          </a:xfrm>
        </p:grpSpPr>
        <p:sp>
          <p:nvSpPr>
            <p:cNvPr id="35" name="object 35"/>
            <p:cNvSpPr/>
            <p:nvPr/>
          </p:nvSpPr>
          <p:spPr>
            <a:xfrm>
              <a:off x="1780794" y="4360290"/>
              <a:ext cx="377825" cy="158115"/>
            </a:xfrm>
            <a:custGeom>
              <a:avLst/>
              <a:gdLst/>
              <a:ahLst/>
              <a:cxnLst/>
              <a:rect l="l" t="t" r="r" b="b"/>
              <a:pathLst>
                <a:path w="377825" h="158114">
                  <a:moveTo>
                    <a:pt x="303098" y="131319"/>
                  </a:moveTo>
                  <a:lnTo>
                    <a:pt x="293116" y="157987"/>
                  </a:lnTo>
                  <a:lnTo>
                    <a:pt x="377825" y="149097"/>
                  </a:lnTo>
                  <a:lnTo>
                    <a:pt x="365413" y="135762"/>
                  </a:lnTo>
                  <a:lnTo>
                    <a:pt x="314960" y="135762"/>
                  </a:lnTo>
                  <a:lnTo>
                    <a:pt x="303098" y="131319"/>
                  </a:lnTo>
                  <a:close/>
                </a:path>
                <a:path w="377825" h="158114">
                  <a:moveTo>
                    <a:pt x="309803" y="113409"/>
                  </a:moveTo>
                  <a:lnTo>
                    <a:pt x="303098" y="131319"/>
                  </a:lnTo>
                  <a:lnTo>
                    <a:pt x="314960" y="135762"/>
                  </a:lnTo>
                  <a:lnTo>
                    <a:pt x="321691" y="117855"/>
                  </a:lnTo>
                  <a:lnTo>
                    <a:pt x="309803" y="113409"/>
                  </a:lnTo>
                  <a:close/>
                </a:path>
                <a:path w="377825" h="158114">
                  <a:moveTo>
                    <a:pt x="319786" y="86740"/>
                  </a:moveTo>
                  <a:lnTo>
                    <a:pt x="309803" y="113409"/>
                  </a:lnTo>
                  <a:lnTo>
                    <a:pt x="321691" y="117855"/>
                  </a:lnTo>
                  <a:lnTo>
                    <a:pt x="314960" y="135762"/>
                  </a:lnTo>
                  <a:lnTo>
                    <a:pt x="365413" y="135762"/>
                  </a:lnTo>
                  <a:lnTo>
                    <a:pt x="319786" y="86740"/>
                  </a:lnTo>
                  <a:close/>
                </a:path>
                <a:path w="377825" h="158114">
                  <a:moveTo>
                    <a:pt x="6604" y="0"/>
                  </a:moveTo>
                  <a:lnTo>
                    <a:pt x="0" y="17779"/>
                  </a:lnTo>
                  <a:lnTo>
                    <a:pt x="303098" y="131319"/>
                  </a:lnTo>
                  <a:lnTo>
                    <a:pt x="309803" y="113409"/>
                  </a:lnTo>
                  <a:lnTo>
                    <a:pt x="66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443352" y="5494097"/>
              <a:ext cx="228600" cy="48260"/>
            </a:xfrm>
            <a:custGeom>
              <a:avLst/>
              <a:gdLst/>
              <a:ahLst/>
              <a:cxnLst/>
              <a:rect l="l" t="t" r="r" b="b"/>
              <a:pathLst>
                <a:path w="228600" h="48260">
                  <a:moveTo>
                    <a:pt x="0" y="557"/>
                  </a:moveTo>
                  <a:lnTo>
                    <a:pt x="20116" y="0"/>
                  </a:lnTo>
                  <a:lnTo>
                    <a:pt x="46634" y="1978"/>
                  </a:lnTo>
                  <a:lnTo>
                    <a:pt x="85953" y="8997"/>
                  </a:lnTo>
                  <a:lnTo>
                    <a:pt x="144475" y="23564"/>
                  </a:lnTo>
                  <a:lnTo>
                    <a:pt x="228600" y="48182"/>
                  </a:lnTo>
                </a:path>
              </a:pathLst>
            </a:custGeom>
            <a:ln w="127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77284" y="2963583"/>
          <a:ext cx="3552823" cy="2005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0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0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9050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9050">
                      <a:solidFill>
                        <a:srgbClr val="41709C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2230" marB="0">
                    <a:lnL w="1905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905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9050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28575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905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905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28575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9050">
                      <a:solidFill>
                        <a:srgbClr val="41709C"/>
                      </a:solidFill>
                      <a:prstDash val="solid"/>
                    </a:lnT>
                    <a:lnB w="1905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9050">
                      <a:solidFill>
                        <a:srgbClr val="41709C"/>
                      </a:solidFill>
                      <a:prstDash val="solid"/>
                    </a:lnT>
                    <a:lnB w="19050">
                      <a:solidFill>
                        <a:srgbClr val="41709C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9050">
                      <a:solidFill>
                        <a:srgbClr val="41709C"/>
                      </a:solidFill>
                      <a:prstDash val="solid"/>
                    </a:lnR>
                    <a:lnT w="28575">
                      <a:solidFill>
                        <a:srgbClr val="41709C"/>
                      </a:solidFill>
                      <a:prstDash val="solid"/>
                    </a:lnT>
                    <a:lnB w="1905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1905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9050">
                      <a:solidFill>
                        <a:srgbClr val="41709C"/>
                      </a:solidFill>
                      <a:prstDash val="solid"/>
                    </a:lnT>
                    <a:lnB w="1905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28575">
                      <a:solidFill>
                        <a:srgbClr val="41709C"/>
                      </a:solidFill>
                      <a:prstDash val="solid"/>
                    </a:lnT>
                    <a:lnB w="1905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905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905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9050">
                      <a:solidFill>
                        <a:srgbClr val="41709C"/>
                      </a:solidFill>
                      <a:prstDash val="solid"/>
                    </a:lnR>
                    <a:lnT w="1905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41709C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1905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905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905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9050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1905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41709C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9050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1905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41709C"/>
                      </a:solidFill>
                      <a:prstDash val="soli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Fold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41709C"/>
                      </a:solidFill>
                      <a:prstDash val="solid"/>
                    </a:lnL>
                    <a:lnR w="12700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41709C"/>
                      </a:solidFill>
                      <a:prstDash val="solid"/>
                    </a:lnT>
                    <a:lnB w="12700">
                      <a:solidFill>
                        <a:srgbClr val="41709C"/>
                      </a:solidFill>
                      <a:prstDash val="soli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854185" y="4157624"/>
            <a:ext cx="1073150" cy="769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2600"/>
              </a:lnSpc>
              <a:spcBef>
                <a:spcPts val="100"/>
              </a:spcBef>
            </a:pPr>
            <a:r>
              <a:rPr sz="1600" spc="-25" dirty="0">
                <a:latin typeface="Calibri"/>
                <a:cs typeface="Calibri"/>
              </a:rPr>
              <a:t>Treinamento </a:t>
            </a:r>
            <a:r>
              <a:rPr sz="1600" spc="-10" dirty="0">
                <a:latin typeface="Calibri"/>
                <a:cs typeface="Calibri"/>
              </a:rPr>
              <a:t>Validação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73421" y="2526919"/>
            <a:ext cx="1373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-25" dirty="0">
                <a:latin typeface="Calibri"/>
                <a:cs typeface="Calibri"/>
              </a:rPr>
              <a:t>Total</a:t>
            </a:r>
            <a:r>
              <a:rPr sz="1800" b="0" spc="-35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de</a:t>
            </a:r>
            <a:r>
              <a:rPr sz="1800" b="0" spc="-30" dirty="0">
                <a:latin typeface="Calibri"/>
                <a:cs typeface="Calibri"/>
              </a:rPr>
              <a:t> </a:t>
            </a:r>
            <a:r>
              <a:rPr sz="1800" b="0" spc="-10" dirty="0">
                <a:latin typeface="Calibri"/>
                <a:cs typeface="Calibri"/>
              </a:rPr>
              <a:t>dados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83634" y="2795397"/>
            <a:ext cx="3553460" cy="76200"/>
          </a:xfrm>
          <a:custGeom>
            <a:avLst/>
            <a:gdLst/>
            <a:ahLst/>
            <a:cxnLst/>
            <a:rect l="l" t="t" r="r" b="b"/>
            <a:pathLst>
              <a:path w="355345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1275"/>
                </a:lnTo>
                <a:lnTo>
                  <a:pt x="63500" y="41275"/>
                </a:lnTo>
                <a:lnTo>
                  <a:pt x="63500" y="34925"/>
                </a:lnTo>
                <a:lnTo>
                  <a:pt x="76200" y="34925"/>
                </a:lnTo>
                <a:lnTo>
                  <a:pt x="76200" y="0"/>
                </a:lnTo>
                <a:close/>
              </a:path>
              <a:path w="3553459" h="76200">
                <a:moveTo>
                  <a:pt x="3477260" y="0"/>
                </a:moveTo>
                <a:lnTo>
                  <a:pt x="3477260" y="76200"/>
                </a:lnTo>
                <a:lnTo>
                  <a:pt x="3547110" y="41275"/>
                </a:lnTo>
                <a:lnTo>
                  <a:pt x="3489960" y="41275"/>
                </a:lnTo>
                <a:lnTo>
                  <a:pt x="3489960" y="34925"/>
                </a:lnTo>
                <a:lnTo>
                  <a:pt x="3547110" y="34925"/>
                </a:lnTo>
                <a:lnTo>
                  <a:pt x="3477260" y="0"/>
                </a:lnTo>
                <a:close/>
              </a:path>
              <a:path w="3553459" h="76200">
                <a:moveTo>
                  <a:pt x="76200" y="34925"/>
                </a:moveTo>
                <a:lnTo>
                  <a:pt x="63500" y="34925"/>
                </a:lnTo>
                <a:lnTo>
                  <a:pt x="63500" y="41275"/>
                </a:lnTo>
                <a:lnTo>
                  <a:pt x="76200" y="41275"/>
                </a:lnTo>
                <a:lnTo>
                  <a:pt x="76200" y="34925"/>
                </a:lnTo>
                <a:close/>
              </a:path>
              <a:path w="3553459" h="76200">
                <a:moveTo>
                  <a:pt x="3477260" y="34925"/>
                </a:moveTo>
                <a:lnTo>
                  <a:pt x="76200" y="34925"/>
                </a:lnTo>
                <a:lnTo>
                  <a:pt x="76200" y="41275"/>
                </a:lnTo>
                <a:lnTo>
                  <a:pt x="3477260" y="41275"/>
                </a:lnTo>
                <a:lnTo>
                  <a:pt x="3477260" y="34925"/>
                </a:lnTo>
                <a:close/>
              </a:path>
              <a:path w="3553459" h="76200">
                <a:moveTo>
                  <a:pt x="3547110" y="34925"/>
                </a:moveTo>
                <a:lnTo>
                  <a:pt x="3489960" y="34925"/>
                </a:lnTo>
                <a:lnTo>
                  <a:pt x="3489960" y="41275"/>
                </a:lnTo>
                <a:lnTo>
                  <a:pt x="3547110" y="41275"/>
                </a:lnTo>
                <a:lnTo>
                  <a:pt x="3553460" y="38100"/>
                </a:lnTo>
                <a:lnTo>
                  <a:pt x="3547110" y="349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8441435" y="4630407"/>
            <a:ext cx="339725" cy="314960"/>
            <a:chOff x="8441435" y="4630407"/>
            <a:chExt cx="339725" cy="314960"/>
          </a:xfrm>
        </p:grpSpPr>
        <p:sp>
          <p:nvSpPr>
            <p:cNvPr id="7" name="object 7"/>
            <p:cNvSpPr/>
            <p:nvPr/>
          </p:nvSpPr>
          <p:spPr>
            <a:xfrm>
              <a:off x="8447785" y="4636757"/>
              <a:ext cx="327025" cy="302260"/>
            </a:xfrm>
            <a:custGeom>
              <a:avLst/>
              <a:gdLst/>
              <a:ahLst/>
              <a:cxnLst/>
              <a:rect l="l" t="t" r="r" b="b"/>
              <a:pathLst>
                <a:path w="327025" h="302260">
                  <a:moveTo>
                    <a:pt x="326720" y="0"/>
                  </a:moveTo>
                  <a:lnTo>
                    <a:pt x="0" y="0"/>
                  </a:lnTo>
                  <a:lnTo>
                    <a:pt x="0" y="301637"/>
                  </a:lnTo>
                  <a:lnTo>
                    <a:pt x="326720" y="301637"/>
                  </a:lnTo>
                  <a:lnTo>
                    <a:pt x="326720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47785" y="4636757"/>
              <a:ext cx="327025" cy="302260"/>
            </a:xfrm>
            <a:custGeom>
              <a:avLst/>
              <a:gdLst/>
              <a:ahLst/>
              <a:cxnLst/>
              <a:rect l="l" t="t" r="r" b="b"/>
              <a:pathLst>
                <a:path w="327025" h="302260">
                  <a:moveTo>
                    <a:pt x="0" y="301637"/>
                  </a:moveTo>
                  <a:lnTo>
                    <a:pt x="326720" y="301637"/>
                  </a:lnTo>
                  <a:lnTo>
                    <a:pt x="326720" y="0"/>
                  </a:lnTo>
                  <a:lnTo>
                    <a:pt x="0" y="0"/>
                  </a:lnTo>
                  <a:lnTo>
                    <a:pt x="0" y="30163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441435" y="4260964"/>
            <a:ext cx="341630" cy="314960"/>
            <a:chOff x="8441435" y="4260964"/>
            <a:chExt cx="341630" cy="314960"/>
          </a:xfrm>
        </p:grpSpPr>
        <p:sp>
          <p:nvSpPr>
            <p:cNvPr id="10" name="object 10"/>
            <p:cNvSpPr/>
            <p:nvPr/>
          </p:nvSpPr>
          <p:spPr>
            <a:xfrm>
              <a:off x="8447785" y="4267314"/>
              <a:ext cx="328930" cy="302260"/>
            </a:xfrm>
            <a:custGeom>
              <a:avLst/>
              <a:gdLst/>
              <a:ahLst/>
              <a:cxnLst/>
              <a:rect l="l" t="t" r="r" b="b"/>
              <a:pathLst>
                <a:path w="328929" h="302260">
                  <a:moveTo>
                    <a:pt x="328333" y="0"/>
                  </a:moveTo>
                  <a:lnTo>
                    <a:pt x="0" y="0"/>
                  </a:lnTo>
                  <a:lnTo>
                    <a:pt x="0" y="301637"/>
                  </a:lnTo>
                  <a:lnTo>
                    <a:pt x="328333" y="301637"/>
                  </a:lnTo>
                  <a:lnTo>
                    <a:pt x="328333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47785" y="4267314"/>
              <a:ext cx="328930" cy="302260"/>
            </a:xfrm>
            <a:custGeom>
              <a:avLst/>
              <a:gdLst/>
              <a:ahLst/>
              <a:cxnLst/>
              <a:rect l="l" t="t" r="r" b="b"/>
              <a:pathLst>
                <a:path w="328929" h="302260">
                  <a:moveTo>
                    <a:pt x="0" y="301637"/>
                  </a:moveTo>
                  <a:lnTo>
                    <a:pt x="328333" y="301637"/>
                  </a:lnTo>
                  <a:lnTo>
                    <a:pt x="328333" y="0"/>
                  </a:lnTo>
                  <a:lnTo>
                    <a:pt x="0" y="0"/>
                  </a:lnTo>
                  <a:lnTo>
                    <a:pt x="0" y="301637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23769" y="2983814"/>
            <a:ext cx="13754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Treinamento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31389" y="3278886"/>
            <a:ext cx="1377950" cy="160909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155"/>
              </a:spcBef>
            </a:pPr>
            <a:r>
              <a:rPr sz="1800" spc="-10" dirty="0">
                <a:latin typeface="Calibri"/>
                <a:cs typeface="Calibri"/>
              </a:rPr>
              <a:t>Treinamento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800" spc="-10" dirty="0">
                <a:latin typeface="Calibri"/>
                <a:cs typeface="Calibri"/>
              </a:rPr>
              <a:t>Treinamento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800" spc="-10" dirty="0">
                <a:latin typeface="Calibri"/>
                <a:cs typeface="Calibri"/>
              </a:rPr>
              <a:t>Treinamento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800" spc="-10" dirty="0">
                <a:latin typeface="Calibri"/>
                <a:cs typeface="Calibri"/>
              </a:rPr>
              <a:t>Treinamento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61917" y="1500505"/>
            <a:ext cx="3985895" cy="2315845"/>
            <a:chOff x="3661917" y="1500505"/>
            <a:chExt cx="3985895" cy="2315845"/>
          </a:xfrm>
        </p:grpSpPr>
        <p:sp>
          <p:nvSpPr>
            <p:cNvPr id="3" name="object 3"/>
            <p:cNvSpPr/>
            <p:nvPr/>
          </p:nvSpPr>
          <p:spPr>
            <a:xfrm>
              <a:off x="3668267" y="1506855"/>
              <a:ext cx="3925570" cy="1797685"/>
            </a:xfrm>
            <a:custGeom>
              <a:avLst/>
              <a:gdLst/>
              <a:ahLst/>
              <a:cxnLst/>
              <a:rect l="l" t="t" r="r" b="b"/>
              <a:pathLst>
                <a:path w="3925570" h="1797685">
                  <a:moveTo>
                    <a:pt x="0" y="0"/>
                  </a:moveTo>
                  <a:lnTo>
                    <a:pt x="35887" y="47225"/>
                  </a:lnTo>
                  <a:lnTo>
                    <a:pt x="71773" y="94422"/>
                  </a:lnTo>
                  <a:lnTo>
                    <a:pt x="107658" y="141560"/>
                  </a:lnTo>
                  <a:lnTo>
                    <a:pt x="143540" y="188611"/>
                  </a:lnTo>
                  <a:lnTo>
                    <a:pt x="179418" y="235546"/>
                  </a:lnTo>
                  <a:lnTo>
                    <a:pt x="215292" y="282336"/>
                  </a:lnTo>
                  <a:lnTo>
                    <a:pt x="251161" y="328952"/>
                  </a:lnTo>
                  <a:lnTo>
                    <a:pt x="287023" y="375364"/>
                  </a:lnTo>
                  <a:lnTo>
                    <a:pt x="322878" y="421545"/>
                  </a:lnTo>
                  <a:lnTo>
                    <a:pt x="358725" y="467464"/>
                  </a:lnTo>
                  <a:lnTo>
                    <a:pt x="394563" y="513094"/>
                  </a:lnTo>
                  <a:lnTo>
                    <a:pt x="430391" y="558404"/>
                  </a:lnTo>
                  <a:lnTo>
                    <a:pt x="466209" y="603367"/>
                  </a:lnTo>
                  <a:lnTo>
                    <a:pt x="502015" y="647952"/>
                  </a:lnTo>
                  <a:lnTo>
                    <a:pt x="537808" y="692132"/>
                  </a:lnTo>
                  <a:lnTo>
                    <a:pt x="573588" y="735876"/>
                  </a:lnTo>
                  <a:lnTo>
                    <a:pt x="609353" y="779157"/>
                  </a:lnTo>
                  <a:lnTo>
                    <a:pt x="645103" y="821945"/>
                  </a:lnTo>
                  <a:lnTo>
                    <a:pt x="680837" y="864211"/>
                  </a:lnTo>
                  <a:lnTo>
                    <a:pt x="716554" y="905926"/>
                  </a:lnTo>
                  <a:lnTo>
                    <a:pt x="752253" y="947061"/>
                  </a:lnTo>
                  <a:lnTo>
                    <a:pt x="787933" y="987588"/>
                  </a:lnTo>
                  <a:lnTo>
                    <a:pt x="823594" y="1027477"/>
                  </a:lnTo>
                  <a:lnTo>
                    <a:pt x="859233" y="1066699"/>
                  </a:lnTo>
                  <a:lnTo>
                    <a:pt x="894852" y="1105225"/>
                  </a:lnTo>
                  <a:lnTo>
                    <a:pt x="930448" y="1143027"/>
                  </a:lnTo>
                  <a:lnTo>
                    <a:pt x="966020" y="1180074"/>
                  </a:lnTo>
                  <a:lnTo>
                    <a:pt x="1001568" y="1216340"/>
                  </a:lnTo>
                  <a:lnTo>
                    <a:pt x="1037092" y="1251793"/>
                  </a:lnTo>
                  <a:lnTo>
                    <a:pt x="1072589" y="1286406"/>
                  </a:lnTo>
                  <a:lnTo>
                    <a:pt x="1108059" y="1320149"/>
                  </a:lnTo>
                  <a:lnTo>
                    <a:pt x="1143502" y="1352994"/>
                  </a:lnTo>
                  <a:lnTo>
                    <a:pt x="1178915" y="1384911"/>
                  </a:lnTo>
                  <a:lnTo>
                    <a:pt x="1214300" y="1415872"/>
                  </a:lnTo>
                  <a:lnTo>
                    <a:pt x="1249653" y="1445847"/>
                  </a:lnTo>
                  <a:lnTo>
                    <a:pt x="1284975" y="1474807"/>
                  </a:lnTo>
                  <a:lnTo>
                    <a:pt x="1320265" y="1502724"/>
                  </a:lnTo>
                  <a:lnTo>
                    <a:pt x="1355522" y="1529569"/>
                  </a:lnTo>
                  <a:lnTo>
                    <a:pt x="1390745" y="1555312"/>
                  </a:lnTo>
                  <a:lnTo>
                    <a:pt x="1425933" y="1579924"/>
                  </a:lnTo>
                  <a:lnTo>
                    <a:pt x="1461085" y="1603378"/>
                  </a:lnTo>
                  <a:lnTo>
                    <a:pt x="1496200" y="1625643"/>
                  </a:lnTo>
                  <a:lnTo>
                    <a:pt x="1531277" y="1646690"/>
                  </a:lnTo>
                  <a:lnTo>
                    <a:pt x="1566316" y="1666491"/>
                  </a:lnTo>
                  <a:lnTo>
                    <a:pt x="1601315" y="1685017"/>
                  </a:lnTo>
                  <a:lnTo>
                    <a:pt x="1636274" y="1702239"/>
                  </a:lnTo>
                  <a:lnTo>
                    <a:pt x="1671192" y="1718127"/>
                  </a:lnTo>
                  <a:lnTo>
                    <a:pt x="1740900" y="1745788"/>
                  </a:lnTo>
                  <a:lnTo>
                    <a:pt x="1810432" y="1767768"/>
                  </a:lnTo>
                  <a:lnTo>
                    <a:pt x="1879782" y="1783835"/>
                  </a:lnTo>
                  <a:lnTo>
                    <a:pt x="1948941" y="1793757"/>
                  </a:lnTo>
                  <a:lnTo>
                    <a:pt x="2017903" y="1797304"/>
                  </a:lnTo>
                  <a:lnTo>
                    <a:pt x="2052928" y="1796595"/>
                  </a:lnTo>
                  <a:lnTo>
                    <a:pt x="2122825" y="1790165"/>
                  </a:lnTo>
                  <a:lnTo>
                    <a:pt x="2192523" y="1777254"/>
                  </a:lnTo>
                  <a:lnTo>
                    <a:pt x="2262028" y="1758106"/>
                  </a:lnTo>
                  <a:lnTo>
                    <a:pt x="2331349" y="1732966"/>
                  </a:lnTo>
                  <a:lnTo>
                    <a:pt x="2400492" y="1702078"/>
                  </a:lnTo>
                  <a:lnTo>
                    <a:pt x="2435000" y="1684555"/>
                  </a:lnTo>
                  <a:lnTo>
                    <a:pt x="2469466" y="1665687"/>
                  </a:lnTo>
                  <a:lnTo>
                    <a:pt x="2503892" y="1645505"/>
                  </a:lnTo>
                  <a:lnTo>
                    <a:pt x="2538278" y="1624038"/>
                  </a:lnTo>
                  <a:lnTo>
                    <a:pt x="2572625" y="1601318"/>
                  </a:lnTo>
                  <a:lnTo>
                    <a:pt x="2606935" y="1577376"/>
                  </a:lnTo>
                  <a:lnTo>
                    <a:pt x="2641208" y="1552241"/>
                  </a:lnTo>
                  <a:lnTo>
                    <a:pt x="2675445" y="1525944"/>
                  </a:lnTo>
                  <a:lnTo>
                    <a:pt x="2709647" y="1498516"/>
                  </a:lnTo>
                  <a:lnTo>
                    <a:pt x="2743815" y="1469988"/>
                  </a:lnTo>
                  <a:lnTo>
                    <a:pt x="2777950" y="1440390"/>
                  </a:lnTo>
                  <a:lnTo>
                    <a:pt x="2812053" y="1409752"/>
                  </a:lnTo>
                  <a:lnTo>
                    <a:pt x="2846124" y="1378106"/>
                  </a:lnTo>
                  <a:lnTo>
                    <a:pt x="2880166" y="1345481"/>
                  </a:lnTo>
                  <a:lnTo>
                    <a:pt x="2914178" y="1311909"/>
                  </a:lnTo>
                  <a:lnTo>
                    <a:pt x="2948162" y="1277419"/>
                  </a:lnTo>
                  <a:lnTo>
                    <a:pt x="2982118" y="1242044"/>
                  </a:lnTo>
                  <a:lnTo>
                    <a:pt x="3016048" y="1205812"/>
                  </a:lnTo>
                  <a:lnTo>
                    <a:pt x="3049953" y="1168755"/>
                  </a:lnTo>
                  <a:lnTo>
                    <a:pt x="3083832" y="1130903"/>
                  </a:lnTo>
                  <a:lnTo>
                    <a:pt x="3117688" y="1092287"/>
                  </a:lnTo>
                  <a:lnTo>
                    <a:pt x="3151522" y="1052937"/>
                  </a:lnTo>
                  <a:lnTo>
                    <a:pt x="3185333" y="1012885"/>
                  </a:lnTo>
                  <a:lnTo>
                    <a:pt x="3219124" y="972159"/>
                  </a:lnTo>
                  <a:lnTo>
                    <a:pt x="3252895" y="930792"/>
                  </a:lnTo>
                  <a:lnTo>
                    <a:pt x="3286647" y="888814"/>
                  </a:lnTo>
                  <a:lnTo>
                    <a:pt x="3320380" y="846255"/>
                  </a:lnTo>
                  <a:lnTo>
                    <a:pt x="3354097" y="803146"/>
                  </a:lnTo>
                  <a:lnTo>
                    <a:pt x="3387797" y="759517"/>
                  </a:lnTo>
                  <a:lnTo>
                    <a:pt x="3421483" y="715400"/>
                  </a:lnTo>
                  <a:lnTo>
                    <a:pt x="3455154" y="670823"/>
                  </a:lnTo>
                  <a:lnTo>
                    <a:pt x="3488811" y="625819"/>
                  </a:lnTo>
                  <a:lnTo>
                    <a:pt x="3522456" y="580418"/>
                  </a:lnTo>
                  <a:lnTo>
                    <a:pt x="3556090" y="534650"/>
                  </a:lnTo>
                  <a:lnTo>
                    <a:pt x="3589713" y="488546"/>
                  </a:lnTo>
                  <a:lnTo>
                    <a:pt x="3623326" y="442137"/>
                  </a:lnTo>
                  <a:lnTo>
                    <a:pt x="3656931" y="395452"/>
                  </a:lnTo>
                  <a:lnTo>
                    <a:pt x="3690528" y="348523"/>
                  </a:lnTo>
                  <a:lnTo>
                    <a:pt x="3724118" y="301381"/>
                  </a:lnTo>
                  <a:lnTo>
                    <a:pt x="3757703" y="254055"/>
                  </a:lnTo>
                  <a:lnTo>
                    <a:pt x="3791282" y="206576"/>
                  </a:lnTo>
                  <a:lnTo>
                    <a:pt x="3824858" y="158976"/>
                  </a:lnTo>
                  <a:lnTo>
                    <a:pt x="3858430" y="111284"/>
                  </a:lnTo>
                  <a:lnTo>
                    <a:pt x="3892000" y="63531"/>
                  </a:lnTo>
                  <a:lnTo>
                    <a:pt x="3925570" y="1574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84015" y="1822196"/>
              <a:ext cx="3957320" cy="1971675"/>
            </a:xfrm>
            <a:custGeom>
              <a:avLst/>
              <a:gdLst/>
              <a:ahLst/>
              <a:cxnLst/>
              <a:rect l="l" t="t" r="r" b="b"/>
              <a:pathLst>
                <a:path w="3957320" h="1971675">
                  <a:moveTo>
                    <a:pt x="0" y="0"/>
                  </a:moveTo>
                  <a:lnTo>
                    <a:pt x="32899" y="41665"/>
                  </a:lnTo>
                  <a:lnTo>
                    <a:pt x="65804" y="83313"/>
                  </a:lnTo>
                  <a:lnTo>
                    <a:pt x="98722" y="124924"/>
                  </a:lnTo>
                  <a:lnTo>
                    <a:pt x="131659" y="166480"/>
                  </a:lnTo>
                  <a:lnTo>
                    <a:pt x="164620" y="207964"/>
                  </a:lnTo>
                  <a:lnTo>
                    <a:pt x="197613" y="249357"/>
                  </a:lnTo>
                  <a:lnTo>
                    <a:pt x="230643" y="290641"/>
                  </a:lnTo>
                  <a:lnTo>
                    <a:pt x="263717" y="331798"/>
                  </a:lnTo>
                  <a:lnTo>
                    <a:pt x="296840" y="372811"/>
                  </a:lnTo>
                  <a:lnTo>
                    <a:pt x="330020" y="413660"/>
                  </a:lnTo>
                  <a:lnTo>
                    <a:pt x="363262" y="454329"/>
                  </a:lnTo>
                  <a:lnTo>
                    <a:pt x="396572" y="494798"/>
                  </a:lnTo>
                  <a:lnTo>
                    <a:pt x="429957" y="535050"/>
                  </a:lnTo>
                  <a:lnTo>
                    <a:pt x="463424" y="575067"/>
                  </a:lnTo>
                  <a:lnTo>
                    <a:pt x="496977" y="614830"/>
                  </a:lnTo>
                  <a:lnTo>
                    <a:pt x="530624" y="654322"/>
                  </a:lnTo>
                  <a:lnTo>
                    <a:pt x="564371" y="693524"/>
                  </a:lnTo>
                  <a:lnTo>
                    <a:pt x="598223" y="732418"/>
                  </a:lnTo>
                  <a:lnTo>
                    <a:pt x="632188" y="770987"/>
                  </a:lnTo>
                  <a:lnTo>
                    <a:pt x="666271" y="809213"/>
                  </a:lnTo>
                  <a:lnTo>
                    <a:pt x="700479" y="847076"/>
                  </a:lnTo>
                  <a:lnTo>
                    <a:pt x="734817" y="884559"/>
                  </a:lnTo>
                  <a:lnTo>
                    <a:pt x="769293" y="921644"/>
                  </a:lnTo>
                  <a:lnTo>
                    <a:pt x="803912" y="958314"/>
                  </a:lnTo>
                  <a:lnTo>
                    <a:pt x="838680" y="994549"/>
                  </a:lnTo>
                  <a:lnTo>
                    <a:pt x="873604" y="1030332"/>
                  </a:lnTo>
                  <a:lnTo>
                    <a:pt x="908691" y="1065644"/>
                  </a:lnTo>
                  <a:lnTo>
                    <a:pt x="943945" y="1100468"/>
                  </a:lnTo>
                  <a:lnTo>
                    <a:pt x="979374" y="1134786"/>
                  </a:lnTo>
                  <a:lnTo>
                    <a:pt x="1014983" y="1168579"/>
                  </a:lnTo>
                  <a:lnTo>
                    <a:pt x="1050780" y="1201829"/>
                  </a:lnTo>
                  <a:lnTo>
                    <a:pt x="1086770" y="1234519"/>
                  </a:lnTo>
                  <a:lnTo>
                    <a:pt x="1122959" y="1266630"/>
                  </a:lnTo>
                  <a:lnTo>
                    <a:pt x="1159353" y="1298144"/>
                  </a:lnTo>
                  <a:lnTo>
                    <a:pt x="1195960" y="1329043"/>
                  </a:lnTo>
                  <a:lnTo>
                    <a:pt x="1232785" y="1359310"/>
                  </a:lnTo>
                  <a:lnTo>
                    <a:pt x="1269834" y="1388925"/>
                  </a:lnTo>
                  <a:lnTo>
                    <a:pt x="1307113" y="1417871"/>
                  </a:lnTo>
                  <a:lnTo>
                    <a:pt x="1344629" y="1446129"/>
                  </a:lnTo>
                  <a:lnTo>
                    <a:pt x="1382388" y="1473683"/>
                  </a:lnTo>
                  <a:lnTo>
                    <a:pt x="1420397" y="1500512"/>
                  </a:lnTo>
                  <a:lnTo>
                    <a:pt x="1458661" y="1526601"/>
                  </a:lnTo>
                  <a:lnTo>
                    <a:pt x="1497186" y="1551930"/>
                  </a:lnTo>
                  <a:lnTo>
                    <a:pt x="1535980" y="1576481"/>
                  </a:lnTo>
                  <a:lnTo>
                    <a:pt x="1575048" y="1600237"/>
                  </a:lnTo>
                  <a:lnTo>
                    <a:pt x="1614396" y="1623179"/>
                  </a:lnTo>
                  <a:lnTo>
                    <a:pt x="1654030" y="1645289"/>
                  </a:lnTo>
                  <a:lnTo>
                    <a:pt x="1693958" y="1666549"/>
                  </a:lnTo>
                  <a:lnTo>
                    <a:pt x="1734185" y="1686940"/>
                  </a:lnTo>
                  <a:lnTo>
                    <a:pt x="1778332" y="1708136"/>
                  </a:lnTo>
                  <a:lnTo>
                    <a:pt x="1822833" y="1728304"/>
                  </a:lnTo>
                  <a:lnTo>
                    <a:pt x="1867679" y="1747469"/>
                  </a:lnTo>
                  <a:lnTo>
                    <a:pt x="1912864" y="1765652"/>
                  </a:lnTo>
                  <a:lnTo>
                    <a:pt x="1958379" y="1782879"/>
                  </a:lnTo>
                  <a:lnTo>
                    <a:pt x="2004215" y="1799172"/>
                  </a:lnTo>
                  <a:lnTo>
                    <a:pt x="2050365" y="1814554"/>
                  </a:lnTo>
                  <a:lnTo>
                    <a:pt x="2096821" y="1829048"/>
                  </a:lnTo>
                  <a:lnTo>
                    <a:pt x="2143575" y="1842679"/>
                  </a:lnTo>
                  <a:lnTo>
                    <a:pt x="2190618" y="1855469"/>
                  </a:lnTo>
                  <a:lnTo>
                    <a:pt x="2237942" y="1867442"/>
                  </a:lnTo>
                  <a:lnTo>
                    <a:pt x="2285540" y="1878621"/>
                  </a:lnTo>
                  <a:lnTo>
                    <a:pt x="2333404" y="1889030"/>
                  </a:lnTo>
                  <a:lnTo>
                    <a:pt x="2381525" y="1898691"/>
                  </a:lnTo>
                  <a:lnTo>
                    <a:pt x="2429895" y="1907629"/>
                  </a:lnTo>
                  <a:lnTo>
                    <a:pt x="2478507" y="1915866"/>
                  </a:lnTo>
                  <a:lnTo>
                    <a:pt x="2527352" y="1923426"/>
                  </a:lnTo>
                  <a:lnTo>
                    <a:pt x="2576422" y="1930331"/>
                  </a:lnTo>
                  <a:lnTo>
                    <a:pt x="2625709" y="1936607"/>
                  </a:lnTo>
                  <a:lnTo>
                    <a:pt x="2675206" y="1942275"/>
                  </a:lnTo>
                  <a:lnTo>
                    <a:pt x="2724904" y="1947359"/>
                  </a:lnTo>
                  <a:lnTo>
                    <a:pt x="2774794" y="1951883"/>
                  </a:lnTo>
                  <a:lnTo>
                    <a:pt x="2824870" y="1955870"/>
                  </a:lnTo>
                  <a:lnTo>
                    <a:pt x="2875123" y="1959343"/>
                  </a:lnTo>
                  <a:lnTo>
                    <a:pt x="2925545" y="1962325"/>
                  </a:lnTo>
                  <a:lnTo>
                    <a:pt x="2976127" y="1964840"/>
                  </a:lnTo>
                  <a:lnTo>
                    <a:pt x="3026863" y="1966911"/>
                  </a:lnTo>
                  <a:lnTo>
                    <a:pt x="3077743" y="1968562"/>
                  </a:lnTo>
                  <a:lnTo>
                    <a:pt x="3128760" y="1969816"/>
                  </a:lnTo>
                  <a:lnTo>
                    <a:pt x="3179905" y="1970696"/>
                  </a:lnTo>
                  <a:lnTo>
                    <a:pt x="3231172" y="1971226"/>
                  </a:lnTo>
                  <a:lnTo>
                    <a:pt x="3282551" y="1971428"/>
                  </a:lnTo>
                  <a:lnTo>
                    <a:pt x="3334034" y="1971327"/>
                  </a:lnTo>
                  <a:lnTo>
                    <a:pt x="3385614" y="1970945"/>
                  </a:lnTo>
                  <a:lnTo>
                    <a:pt x="3437283" y="1970306"/>
                  </a:lnTo>
                  <a:lnTo>
                    <a:pt x="3489032" y="1969433"/>
                  </a:lnTo>
                  <a:lnTo>
                    <a:pt x="3540853" y="1968350"/>
                  </a:lnTo>
                  <a:lnTo>
                    <a:pt x="3592739" y="1967080"/>
                  </a:lnTo>
                  <a:lnTo>
                    <a:pt x="3644681" y="1965646"/>
                  </a:lnTo>
                  <a:lnTo>
                    <a:pt x="3696671" y="1964072"/>
                  </a:lnTo>
                  <a:lnTo>
                    <a:pt x="3748702" y="1962380"/>
                  </a:lnTo>
                  <a:lnTo>
                    <a:pt x="3800765" y="1960595"/>
                  </a:lnTo>
                  <a:lnTo>
                    <a:pt x="3852852" y="1958739"/>
                  </a:lnTo>
                  <a:lnTo>
                    <a:pt x="3904955" y="1956837"/>
                  </a:lnTo>
                  <a:lnTo>
                    <a:pt x="3957066" y="1954910"/>
                  </a:lnTo>
                </a:path>
              </a:pathLst>
            </a:custGeom>
            <a:ln w="12700">
              <a:solidFill>
                <a:srgbClr val="000000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84015" y="1837944"/>
              <a:ext cx="3957320" cy="1971675"/>
            </a:xfrm>
            <a:custGeom>
              <a:avLst/>
              <a:gdLst/>
              <a:ahLst/>
              <a:cxnLst/>
              <a:rect l="l" t="t" r="r" b="b"/>
              <a:pathLst>
                <a:path w="3957320" h="1971675">
                  <a:moveTo>
                    <a:pt x="3957066" y="0"/>
                  </a:moveTo>
                  <a:lnTo>
                    <a:pt x="3924166" y="41665"/>
                  </a:lnTo>
                  <a:lnTo>
                    <a:pt x="3891261" y="83313"/>
                  </a:lnTo>
                  <a:lnTo>
                    <a:pt x="3858343" y="124924"/>
                  </a:lnTo>
                  <a:lnTo>
                    <a:pt x="3825406" y="166480"/>
                  </a:lnTo>
                  <a:lnTo>
                    <a:pt x="3792445" y="207964"/>
                  </a:lnTo>
                  <a:lnTo>
                    <a:pt x="3759452" y="249357"/>
                  </a:lnTo>
                  <a:lnTo>
                    <a:pt x="3726422" y="290641"/>
                  </a:lnTo>
                  <a:lnTo>
                    <a:pt x="3693348" y="331798"/>
                  </a:lnTo>
                  <a:lnTo>
                    <a:pt x="3660225" y="372811"/>
                  </a:lnTo>
                  <a:lnTo>
                    <a:pt x="3627045" y="413660"/>
                  </a:lnTo>
                  <a:lnTo>
                    <a:pt x="3593803" y="454329"/>
                  </a:lnTo>
                  <a:lnTo>
                    <a:pt x="3560493" y="494798"/>
                  </a:lnTo>
                  <a:lnTo>
                    <a:pt x="3527108" y="535050"/>
                  </a:lnTo>
                  <a:lnTo>
                    <a:pt x="3493641" y="575067"/>
                  </a:lnTo>
                  <a:lnTo>
                    <a:pt x="3460088" y="614830"/>
                  </a:lnTo>
                  <a:lnTo>
                    <a:pt x="3426441" y="654322"/>
                  </a:lnTo>
                  <a:lnTo>
                    <a:pt x="3392694" y="693524"/>
                  </a:lnTo>
                  <a:lnTo>
                    <a:pt x="3358842" y="732418"/>
                  </a:lnTo>
                  <a:lnTo>
                    <a:pt x="3324877" y="770987"/>
                  </a:lnTo>
                  <a:lnTo>
                    <a:pt x="3290794" y="809213"/>
                  </a:lnTo>
                  <a:lnTo>
                    <a:pt x="3256586" y="847076"/>
                  </a:lnTo>
                  <a:lnTo>
                    <a:pt x="3222248" y="884559"/>
                  </a:lnTo>
                  <a:lnTo>
                    <a:pt x="3187772" y="921644"/>
                  </a:lnTo>
                  <a:lnTo>
                    <a:pt x="3153153" y="958314"/>
                  </a:lnTo>
                  <a:lnTo>
                    <a:pt x="3118385" y="994549"/>
                  </a:lnTo>
                  <a:lnTo>
                    <a:pt x="3083461" y="1030332"/>
                  </a:lnTo>
                  <a:lnTo>
                    <a:pt x="3048374" y="1065644"/>
                  </a:lnTo>
                  <a:lnTo>
                    <a:pt x="3013120" y="1100468"/>
                  </a:lnTo>
                  <a:lnTo>
                    <a:pt x="2977691" y="1134786"/>
                  </a:lnTo>
                  <a:lnTo>
                    <a:pt x="2942082" y="1168579"/>
                  </a:lnTo>
                  <a:lnTo>
                    <a:pt x="2906285" y="1201829"/>
                  </a:lnTo>
                  <a:lnTo>
                    <a:pt x="2870295" y="1234519"/>
                  </a:lnTo>
                  <a:lnTo>
                    <a:pt x="2834106" y="1266630"/>
                  </a:lnTo>
                  <a:lnTo>
                    <a:pt x="2797712" y="1298144"/>
                  </a:lnTo>
                  <a:lnTo>
                    <a:pt x="2761105" y="1329043"/>
                  </a:lnTo>
                  <a:lnTo>
                    <a:pt x="2724280" y="1359310"/>
                  </a:lnTo>
                  <a:lnTo>
                    <a:pt x="2687231" y="1388925"/>
                  </a:lnTo>
                  <a:lnTo>
                    <a:pt x="2649952" y="1417871"/>
                  </a:lnTo>
                  <a:lnTo>
                    <a:pt x="2612436" y="1446129"/>
                  </a:lnTo>
                  <a:lnTo>
                    <a:pt x="2574677" y="1473683"/>
                  </a:lnTo>
                  <a:lnTo>
                    <a:pt x="2536668" y="1500512"/>
                  </a:lnTo>
                  <a:lnTo>
                    <a:pt x="2498404" y="1526601"/>
                  </a:lnTo>
                  <a:lnTo>
                    <a:pt x="2459879" y="1551930"/>
                  </a:lnTo>
                  <a:lnTo>
                    <a:pt x="2421085" y="1576481"/>
                  </a:lnTo>
                  <a:lnTo>
                    <a:pt x="2382017" y="1600237"/>
                  </a:lnTo>
                  <a:lnTo>
                    <a:pt x="2342669" y="1623179"/>
                  </a:lnTo>
                  <a:lnTo>
                    <a:pt x="2303035" y="1645289"/>
                  </a:lnTo>
                  <a:lnTo>
                    <a:pt x="2263107" y="1666549"/>
                  </a:lnTo>
                  <a:lnTo>
                    <a:pt x="2222881" y="1686940"/>
                  </a:lnTo>
                  <a:lnTo>
                    <a:pt x="2178733" y="1708136"/>
                  </a:lnTo>
                  <a:lnTo>
                    <a:pt x="2134232" y="1728304"/>
                  </a:lnTo>
                  <a:lnTo>
                    <a:pt x="2089386" y="1747469"/>
                  </a:lnTo>
                  <a:lnTo>
                    <a:pt x="2044201" y="1765652"/>
                  </a:lnTo>
                  <a:lnTo>
                    <a:pt x="1998686" y="1782879"/>
                  </a:lnTo>
                  <a:lnTo>
                    <a:pt x="1952850" y="1799172"/>
                  </a:lnTo>
                  <a:lnTo>
                    <a:pt x="1906700" y="1814554"/>
                  </a:lnTo>
                  <a:lnTo>
                    <a:pt x="1860244" y="1829048"/>
                  </a:lnTo>
                  <a:lnTo>
                    <a:pt x="1813490" y="1842679"/>
                  </a:lnTo>
                  <a:lnTo>
                    <a:pt x="1766447" y="1855469"/>
                  </a:lnTo>
                  <a:lnTo>
                    <a:pt x="1719123" y="1867442"/>
                  </a:lnTo>
                  <a:lnTo>
                    <a:pt x="1671525" y="1878621"/>
                  </a:lnTo>
                  <a:lnTo>
                    <a:pt x="1623661" y="1889030"/>
                  </a:lnTo>
                  <a:lnTo>
                    <a:pt x="1575540" y="1898691"/>
                  </a:lnTo>
                  <a:lnTo>
                    <a:pt x="1527170" y="1907629"/>
                  </a:lnTo>
                  <a:lnTo>
                    <a:pt x="1478558" y="1915866"/>
                  </a:lnTo>
                  <a:lnTo>
                    <a:pt x="1429713" y="1923426"/>
                  </a:lnTo>
                  <a:lnTo>
                    <a:pt x="1380643" y="1930331"/>
                  </a:lnTo>
                  <a:lnTo>
                    <a:pt x="1331356" y="1936607"/>
                  </a:lnTo>
                  <a:lnTo>
                    <a:pt x="1281859" y="1942275"/>
                  </a:lnTo>
                  <a:lnTo>
                    <a:pt x="1232161" y="1947359"/>
                  </a:lnTo>
                  <a:lnTo>
                    <a:pt x="1182271" y="1951883"/>
                  </a:lnTo>
                  <a:lnTo>
                    <a:pt x="1132195" y="1955870"/>
                  </a:lnTo>
                  <a:lnTo>
                    <a:pt x="1081942" y="1959343"/>
                  </a:lnTo>
                  <a:lnTo>
                    <a:pt x="1031520" y="1962325"/>
                  </a:lnTo>
                  <a:lnTo>
                    <a:pt x="980938" y="1964840"/>
                  </a:lnTo>
                  <a:lnTo>
                    <a:pt x="930202" y="1966911"/>
                  </a:lnTo>
                  <a:lnTo>
                    <a:pt x="879322" y="1968562"/>
                  </a:lnTo>
                  <a:lnTo>
                    <a:pt x="828305" y="1969816"/>
                  </a:lnTo>
                  <a:lnTo>
                    <a:pt x="777160" y="1970696"/>
                  </a:lnTo>
                  <a:lnTo>
                    <a:pt x="725893" y="1971226"/>
                  </a:lnTo>
                  <a:lnTo>
                    <a:pt x="674514" y="1971428"/>
                  </a:lnTo>
                  <a:lnTo>
                    <a:pt x="623031" y="1971327"/>
                  </a:lnTo>
                  <a:lnTo>
                    <a:pt x="571451" y="1970945"/>
                  </a:lnTo>
                  <a:lnTo>
                    <a:pt x="519782" y="1970306"/>
                  </a:lnTo>
                  <a:lnTo>
                    <a:pt x="468033" y="1969433"/>
                  </a:lnTo>
                  <a:lnTo>
                    <a:pt x="416212" y="1968350"/>
                  </a:lnTo>
                  <a:lnTo>
                    <a:pt x="364326" y="1967080"/>
                  </a:lnTo>
                  <a:lnTo>
                    <a:pt x="312384" y="1965646"/>
                  </a:lnTo>
                  <a:lnTo>
                    <a:pt x="260394" y="1964072"/>
                  </a:lnTo>
                  <a:lnTo>
                    <a:pt x="208363" y="1962380"/>
                  </a:lnTo>
                  <a:lnTo>
                    <a:pt x="156300" y="1960595"/>
                  </a:lnTo>
                  <a:lnTo>
                    <a:pt x="104213" y="1958739"/>
                  </a:lnTo>
                  <a:lnTo>
                    <a:pt x="52110" y="1956837"/>
                  </a:lnTo>
                  <a:lnTo>
                    <a:pt x="0" y="195491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3483483" y="1192275"/>
            <a:ext cx="4425315" cy="2742565"/>
          </a:xfrm>
          <a:custGeom>
            <a:avLst/>
            <a:gdLst/>
            <a:ahLst/>
            <a:cxnLst/>
            <a:rect l="l" t="t" r="r" b="b"/>
            <a:pathLst>
              <a:path w="4425315" h="2742565">
                <a:moveTo>
                  <a:pt x="4424807" y="2699639"/>
                </a:moveTo>
                <a:lnTo>
                  <a:pt x="4396308" y="2685415"/>
                </a:lnTo>
                <a:lnTo>
                  <a:pt x="4339082" y="2656840"/>
                </a:lnTo>
                <a:lnTo>
                  <a:pt x="4339082" y="2685415"/>
                </a:lnTo>
                <a:lnTo>
                  <a:pt x="57150" y="2685415"/>
                </a:lnTo>
                <a:lnTo>
                  <a:pt x="57150" y="85725"/>
                </a:lnTo>
                <a:lnTo>
                  <a:pt x="85725" y="85725"/>
                </a:lnTo>
                <a:lnTo>
                  <a:pt x="78600" y="71501"/>
                </a:lnTo>
                <a:lnTo>
                  <a:pt x="42799" y="0"/>
                </a:lnTo>
                <a:lnTo>
                  <a:pt x="0" y="85725"/>
                </a:lnTo>
                <a:lnTo>
                  <a:pt x="28575" y="85725"/>
                </a:lnTo>
                <a:lnTo>
                  <a:pt x="28575" y="2700020"/>
                </a:lnTo>
                <a:lnTo>
                  <a:pt x="32766" y="2700020"/>
                </a:lnTo>
                <a:lnTo>
                  <a:pt x="32766" y="2713990"/>
                </a:lnTo>
                <a:lnTo>
                  <a:pt x="4339082" y="2713990"/>
                </a:lnTo>
                <a:lnTo>
                  <a:pt x="4339082" y="2742565"/>
                </a:lnTo>
                <a:lnTo>
                  <a:pt x="4396143" y="2713990"/>
                </a:lnTo>
                <a:lnTo>
                  <a:pt x="4424807" y="26996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99375" y="1507997"/>
            <a:ext cx="169798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Erro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estimação </a:t>
            </a:r>
            <a:r>
              <a:rPr sz="1800" dirty="0">
                <a:latin typeface="Calibri"/>
                <a:cs typeface="Calibri"/>
              </a:rPr>
              <a:t>ou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variância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22492" y="1278382"/>
            <a:ext cx="0" cy="3672204"/>
          </a:xfrm>
          <a:custGeom>
            <a:avLst/>
            <a:gdLst/>
            <a:ahLst/>
            <a:cxnLst/>
            <a:rect l="l" t="t" r="r" b="b"/>
            <a:pathLst>
              <a:path h="3672204">
                <a:moveTo>
                  <a:pt x="0" y="3671951"/>
                </a:moveTo>
                <a:lnTo>
                  <a:pt x="0" y="0"/>
                </a:lnTo>
              </a:path>
            </a:pathLst>
          </a:custGeom>
          <a:ln w="28575">
            <a:solidFill>
              <a:srgbClr val="5B9BD4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93665" y="3938142"/>
            <a:ext cx="1997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Ponto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balanço </a:t>
            </a:r>
            <a:r>
              <a:rPr sz="1800" dirty="0">
                <a:latin typeface="Calibri"/>
                <a:cs typeface="Calibri"/>
              </a:rPr>
              <a:t>entre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 </a:t>
            </a:r>
            <a:r>
              <a:rPr sz="1800" spc="-10" dirty="0">
                <a:latin typeface="Calibri"/>
                <a:cs typeface="Calibri"/>
              </a:rPr>
              <a:t>variância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10705" y="3165424"/>
            <a:ext cx="1993264" cy="157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Erro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aproximação</a:t>
            </a:r>
            <a:endParaRPr sz="1800">
              <a:latin typeface="Calibri"/>
              <a:cs typeface="Calibri"/>
            </a:endParaRPr>
          </a:p>
          <a:p>
            <a:pPr marR="2540" algn="ctr">
              <a:lnSpc>
                <a:spcPct val="100000"/>
              </a:lnSpc>
              <a:spcBef>
                <a:spcPts val="30"/>
              </a:spcBef>
            </a:pPr>
            <a:r>
              <a:rPr sz="1800" dirty="0">
                <a:latin typeface="Calibri"/>
                <a:cs typeface="Calibri"/>
              </a:rPr>
              <a:t>ou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bias</a:t>
            </a:r>
            <a:r>
              <a:rPr sz="1950" spc="-30" baseline="27777" dirty="0">
                <a:latin typeface="Cambria Math"/>
                <a:cs typeface="Cambria Math"/>
              </a:rPr>
              <a:t>2</a:t>
            </a:r>
            <a:endParaRPr sz="1950" baseline="27777">
              <a:latin typeface="Cambria Math"/>
              <a:cs typeface="Cambria Math"/>
            </a:endParaRPr>
          </a:p>
          <a:p>
            <a:pPr marL="501650" marR="66040" algn="ctr">
              <a:lnSpc>
                <a:spcPct val="100000"/>
              </a:lnSpc>
              <a:spcBef>
                <a:spcPts val="1350"/>
              </a:spcBef>
            </a:pPr>
            <a:r>
              <a:rPr sz="1800" spc="-10" dirty="0">
                <a:latin typeface="Calibri"/>
                <a:cs typeface="Calibri"/>
              </a:rPr>
              <a:t>Complexidade </a:t>
            </a:r>
            <a:r>
              <a:rPr sz="1800" dirty="0">
                <a:latin typeface="Calibri"/>
                <a:cs typeface="Calibri"/>
              </a:rPr>
              <a:t>ou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flexibilidade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modelo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93210" y="312420"/>
            <a:ext cx="4361815" cy="3450590"/>
            <a:chOff x="3593210" y="312420"/>
            <a:chExt cx="4361815" cy="3450590"/>
          </a:xfrm>
        </p:grpSpPr>
        <p:sp>
          <p:nvSpPr>
            <p:cNvPr id="12" name="object 12"/>
            <p:cNvSpPr/>
            <p:nvPr/>
          </p:nvSpPr>
          <p:spPr>
            <a:xfrm>
              <a:off x="4176267" y="1506473"/>
              <a:ext cx="3771900" cy="2250440"/>
            </a:xfrm>
            <a:custGeom>
              <a:avLst/>
              <a:gdLst/>
              <a:ahLst/>
              <a:cxnLst/>
              <a:rect l="l" t="t" r="r" b="b"/>
              <a:pathLst>
                <a:path w="3771900" h="2250440">
                  <a:moveTo>
                    <a:pt x="3397250" y="440309"/>
                  </a:moveTo>
                  <a:lnTo>
                    <a:pt x="3456582" y="416040"/>
                  </a:lnTo>
                  <a:lnTo>
                    <a:pt x="3514725" y="392487"/>
                  </a:lnTo>
                  <a:lnTo>
                    <a:pt x="3570485" y="370378"/>
                  </a:lnTo>
                  <a:lnTo>
                    <a:pt x="3622675" y="350440"/>
                  </a:lnTo>
                  <a:lnTo>
                    <a:pt x="3670101" y="333402"/>
                  </a:lnTo>
                  <a:lnTo>
                    <a:pt x="3711575" y="319990"/>
                  </a:lnTo>
                  <a:lnTo>
                    <a:pt x="3745904" y="310933"/>
                  </a:lnTo>
                  <a:lnTo>
                    <a:pt x="3771900" y="306959"/>
                  </a:lnTo>
                </a:path>
                <a:path w="3771900" h="2250440">
                  <a:moveTo>
                    <a:pt x="2921000" y="2250059"/>
                  </a:moveTo>
                  <a:lnTo>
                    <a:pt x="2957413" y="2224659"/>
                  </a:lnTo>
                  <a:lnTo>
                    <a:pt x="2994377" y="2199259"/>
                  </a:lnTo>
                  <a:lnTo>
                    <a:pt x="3032440" y="2173859"/>
                  </a:lnTo>
                  <a:lnTo>
                    <a:pt x="3072152" y="2148459"/>
                  </a:lnTo>
                  <a:lnTo>
                    <a:pt x="3114064" y="2123059"/>
                  </a:lnTo>
                  <a:lnTo>
                    <a:pt x="3158725" y="2097659"/>
                  </a:lnTo>
                  <a:lnTo>
                    <a:pt x="3206684" y="2072259"/>
                  </a:lnTo>
                  <a:lnTo>
                    <a:pt x="3258493" y="2046859"/>
                  </a:lnTo>
                  <a:lnTo>
                    <a:pt x="3314700" y="2021459"/>
                  </a:lnTo>
                </a:path>
                <a:path w="3771900" h="2250440">
                  <a:moveTo>
                    <a:pt x="0" y="630809"/>
                  </a:moveTo>
                  <a:lnTo>
                    <a:pt x="604520" y="0"/>
                  </a:lnTo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93211" y="312419"/>
              <a:ext cx="1236980" cy="375920"/>
            </a:xfrm>
            <a:custGeom>
              <a:avLst/>
              <a:gdLst/>
              <a:ahLst/>
              <a:cxnLst/>
              <a:rect l="l" t="t" r="r" b="b"/>
              <a:pathLst>
                <a:path w="1236979" h="375920">
                  <a:moveTo>
                    <a:pt x="53086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365760"/>
                  </a:lnTo>
                  <a:lnTo>
                    <a:pt x="0" y="375920"/>
                  </a:lnTo>
                  <a:lnTo>
                    <a:pt x="53086" y="375920"/>
                  </a:lnTo>
                  <a:lnTo>
                    <a:pt x="53086" y="365760"/>
                  </a:lnTo>
                  <a:lnTo>
                    <a:pt x="20701" y="365760"/>
                  </a:lnTo>
                  <a:lnTo>
                    <a:pt x="20701" y="10160"/>
                  </a:lnTo>
                  <a:lnTo>
                    <a:pt x="53086" y="10160"/>
                  </a:lnTo>
                  <a:lnTo>
                    <a:pt x="53086" y="0"/>
                  </a:lnTo>
                  <a:close/>
                </a:path>
                <a:path w="1236979" h="375920">
                  <a:moveTo>
                    <a:pt x="153924" y="59182"/>
                  </a:moveTo>
                  <a:lnTo>
                    <a:pt x="151130" y="50038"/>
                  </a:lnTo>
                  <a:lnTo>
                    <a:pt x="134696" y="56451"/>
                  </a:lnTo>
                  <a:lnTo>
                    <a:pt x="120269" y="66509"/>
                  </a:lnTo>
                  <a:lnTo>
                    <a:pt x="97409" y="97536"/>
                  </a:lnTo>
                  <a:lnTo>
                    <a:pt x="83286" y="139293"/>
                  </a:lnTo>
                  <a:lnTo>
                    <a:pt x="78613" y="188214"/>
                  </a:lnTo>
                  <a:lnTo>
                    <a:pt x="79781" y="213410"/>
                  </a:lnTo>
                  <a:lnTo>
                    <a:pt x="89166" y="258749"/>
                  </a:lnTo>
                  <a:lnTo>
                    <a:pt x="107835" y="296087"/>
                  </a:lnTo>
                  <a:lnTo>
                    <a:pt x="151130" y="326263"/>
                  </a:lnTo>
                  <a:lnTo>
                    <a:pt x="153924" y="316992"/>
                  </a:lnTo>
                  <a:lnTo>
                    <a:pt x="141224" y="310451"/>
                  </a:lnTo>
                  <a:lnTo>
                    <a:pt x="130187" y="300901"/>
                  </a:lnTo>
                  <a:lnTo>
                    <a:pt x="106934" y="254723"/>
                  </a:lnTo>
                  <a:lnTo>
                    <a:pt x="99936" y="212432"/>
                  </a:lnTo>
                  <a:lnTo>
                    <a:pt x="99060" y="188087"/>
                  </a:lnTo>
                  <a:lnTo>
                    <a:pt x="99936" y="163982"/>
                  </a:lnTo>
                  <a:lnTo>
                    <a:pt x="106934" y="121602"/>
                  </a:lnTo>
                  <a:lnTo>
                    <a:pt x="130187" y="75349"/>
                  </a:lnTo>
                  <a:lnTo>
                    <a:pt x="141224" y="65760"/>
                  </a:lnTo>
                  <a:lnTo>
                    <a:pt x="153924" y="59182"/>
                  </a:lnTo>
                  <a:close/>
                </a:path>
                <a:path w="1236979" h="375920">
                  <a:moveTo>
                    <a:pt x="1236853" y="188087"/>
                  </a:moveTo>
                  <a:lnTo>
                    <a:pt x="1232103" y="139293"/>
                  </a:lnTo>
                  <a:lnTo>
                    <a:pt x="1217930" y="97536"/>
                  </a:lnTo>
                  <a:lnTo>
                    <a:pt x="1195082" y="66509"/>
                  </a:lnTo>
                  <a:lnTo>
                    <a:pt x="1164336" y="50038"/>
                  </a:lnTo>
                  <a:lnTo>
                    <a:pt x="1161542" y="59182"/>
                  </a:lnTo>
                  <a:lnTo>
                    <a:pt x="1174178" y="65760"/>
                  </a:lnTo>
                  <a:lnTo>
                    <a:pt x="1185227" y="75349"/>
                  </a:lnTo>
                  <a:lnTo>
                    <a:pt x="1208506" y="121602"/>
                  </a:lnTo>
                  <a:lnTo>
                    <a:pt x="1215415" y="163982"/>
                  </a:lnTo>
                  <a:lnTo>
                    <a:pt x="1216279" y="188214"/>
                  </a:lnTo>
                  <a:lnTo>
                    <a:pt x="1215415" y="212432"/>
                  </a:lnTo>
                  <a:lnTo>
                    <a:pt x="1208506" y="254723"/>
                  </a:lnTo>
                  <a:lnTo>
                    <a:pt x="1185227" y="300901"/>
                  </a:lnTo>
                  <a:lnTo>
                    <a:pt x="1161542" y="316992"/>
                  </a:lnTo>
                  <a:lnTo>
                    <a:pt x="1164336" y="326263"/>
                  </a:lnTo>
                  <a:lnTo>
                    <a:pt x="1207490" y="296087"/>
                  </a:lnTo>
                  <a:lnTo>
                    <a:pt x="1226185" y="258749"/>
                  </a:lnTo>
                  <a:lnTo>
                    <a:pt x="1235659" y="213410"/>
                  </a:lnTo>
                  <a:lnTo>
                    <a:pt x="1236853" y="1880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605529" y="1111122"/>
            <a:ext cx="412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Erro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61255" y="312419"/>
            <a:ext cx="53340" cy="375920"/>
          </a:xfrm>
          <a:custGeom>
            <a:avLst/>
            <a:gdLst/>
            <a:ahLst/>
            <a:cxnLst/>
            <a:rect l="l" t="t" r="r" b="b"/>
            <a:pathLst>
              <a:path w="53339" h="375920">
                <a:moveTo>
                  <a:pt x="53086" y="0"/>
                </a:moveTo>
                <a:lnTo>
                  <a:pt x="0" y="0"/>
                </a:lnTo>
                <a:lnTo>
                  <a:pt x="0" y="10160"/>
                </a:lnTo>
                <a:lnTo>
                  <a:pt x="32512" y="10160"/>
                </a:lnTo>
                <a:lnTo>
                  <a:pt x="32512" y="365760"/>
                </a:lnTo>
                <a:lnTo>
                  <a:pt x="0" y="365760"/>
                </a:lnTo>
                <a:lnTo>
                  <a:pt x="0" y="375920"/>
                </a:lnTo>
                <a:lnTo>
                  <a:pt x="53086" y="375920"/>
                </a:lnTo>
                <a:lnTo>
                  <a:pt x="53086" y="365760"/>
                </a:lnTo>
                <a:lnTo>
                  <a:pt x="53086" y="10160"/>
                </a:lnTo>
                <a:lnTo>
                  <a:pt x="53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365119" y="324739"/>
            <a:ext cx="530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8620" algn="l"/>
              </a:tabLst>
            </a:pPr>
            <a:r>
              <a:rPr sz="1800" b="0" spc="-50" dirty="0">
                <a:latin typeface="Cambria Math"/>
                <a:cs typeface="Cambria Math"/>
              </a:rPr>
              <a:t>𝐸</a:t>
            </a:r>
            <a:r>
              <a:rPr sz="1800" b="0" dirty="0">
                <a:latin typeface="Cambria Math"/>
                <a:cs typeface="Cambria Math"/>
              </a:rPr>
              <a:t>	</a:t>
            </a:r>
            <a:r>
              <a:rPr sz="1800" b="0" spc="-50" dirty="0"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61942" y="432943"/>
            <a:ext cx="47942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65" dirty="0">
                <a:latin typeface="Cambria Math"/>
                <a:cs typeface="Cambria Math"/>
              </a:rPr>
              <a:t>𝑛𝑜𝑖𝑠𝑦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80103" y="324739"/>
            <a:ext cx="371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−</a:t>
            </a:r>
            <a:r>
              <a:rPr sz="1800" spc="500" dirty="0">
                <a:latin typeface="Cambria Math"/>
                <a:cs typeface="Cambria Math"/>
              </a:rPr>
              <a:t> </a:t>
            </a:r>
            <a:r>
              <a:rPr sz="1800" spc="-1250" dirty="0">
                <a:latin typeface="Cambria Math"/>
                <a:cs typeface="Cambria Math"/>
              </a:rPr>
              <a:t>𝑦</a:t>
            </a:r>
            <a:r>
              <a:rPr sz="1800" spc="-555" dirty="0">
                <a:latin typeface="Cambria Math"/>
                <a:cs typeface="Cambria Math"/>
              </a:rPr>
              <a:t>ො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37557" y="234823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65140" y="324739"/>
            <a:ext cx="3790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bias</a:t>
            </a:r>
            <a:r>
              <a:rPr sz="1950" baseline="27777" dirty="0">
                <a:latin typeface="Cambria Math"/>
                <a:cs typeface="Cambria Math"/>
              </a:rPr>
              <a:t>2</a:t>
            </a:r>
            <a:r>
              <a:rPr sz="1950" spc="292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variância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erro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irredutível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82770" y="1195578"/>
            <a:ext cx="894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Erro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total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516249" y="4891404"/>
            <a:ext cx="4379595" cy="114300"/>
          </a:xfrm>
          <a:custGeom>
            <a:avLst/>
            <a:gdLst/>
            <a:ahLst/>
            <a:cxnLst/>
            <a:rect l="l" t="t" r="r" b="b"/>
            <a:pathLst>
              <a:path w="4379595" h="114300">
                <a:moveTo>
                  <a:pt x="2206244" y="38100"/>
                </a:moveTo>
                <a:lnTo>
                  <a:pt x="114300" y="38100"/>
                </a:lnTo>
                <a:lnTo>
                  <a:pt x="114300" y="0"/>
                </a:ln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2206244" y="76200"/>
                </a:lnTo>
                <a:lnTo>
                  <a:pt x="2206244" y="38100"/>
                </a:lnTo>
                <a:close/>
              </a:path>
              <a:path w="4379595" h="114300">
                <a:moveTo>
                  <a:pt x="4379341" y="57150"/>
                </a:moveTo>
                <a:lnTo>
                  <a:pt x="4341241" y="38100"/>
                </a:lnTo>
                <a:lnTo>
                  <a:pt x="4265041" y="0"/>
                </a:lnTo>
                <a:lnTo>
                  <a:pt x="4265041" y="38100"/>
                </a:lnTo>
                <a:lnTo>
                  <a:pt x="2207133" y="38100"/>
                </a:lnTo>
                <a:lnTo>
                  <a:pt x="2207133" y="76200"/>
                </a:lnTo>
                <a:lnTo>
                  <a:pt x="4265041" y="76200"/>
                </a:lnTo>
                <a:lnTo>
                  <a:pt x="4265041" y="114300"/>
                </a:lnTo>
                <a:lnTo>
                  <a:pt x="4341241" y="76200"/>
                </a:lnTo>
                <a:lnTo>
                  <a:pt x="4379341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684778" y="4974463"/>
            <a:ext cx="1878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Região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subajuste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80353" y="4974463"/>
            <a:ext cx="20694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Região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sobreajuste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281678" y="703198"/>
            <a:ext cx="502920" cy="577215"/>
          </a:xfrm>
          <a:custGeom>
            <a:avLst/>
            <a:gdLst/>
            <a:ahLst/>
            <a:cxnLst/>
            <a:rect l="l" t="t" r="r" b="b"/>
            <a:pathLst>
              <a:path w="502920" h="577215">
                <a:moveTo>
                  <a:pt x="0" y="0"/>
                </a:moveTo>
                <a:lnTo>
                  <a:pt x="502793" y="577214"/>
                </a:lnTo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61917" y="1500505"/>
            <a:ext cx="3985895" cy="2315845"/>
            <a:chOff x="3661917" y="1500505"/>
            <a:chExt cx="3985895" cy="2315845"/>
          </a:xfrm>
        </p:grpSpPr>
        <p:sp>
          <p:nvSpPr>
            <p:cNvPr id="3" name="object 3"/>
            <p:cNvSpPr/>
            <p:nvPr/>
          </p:nvSpPr>
          <p:spPr>
            <a:xfrm>
              <a:off x="3668267" y="1506855"/>
              <a:ext cx="3925570" cy="1797685"/>
            </a:xfrm>
            <a:custGeom>
              <a:avLst/>
              <a:gdLst/>
              <a:ahLst/>
              <a:cxnLst/>
              <a:rect l="l" t="t" r="r" b="b"/>
              <a:pathLst>
                <a:path w="3925570" h="1797685">
                  <a:moveTo>
                    <a:pt x="0" y="0"/>
                  </a:moveTo>
                  <a:lnTo>
                    <a:pt x="35887" y="47225"/>
                  </a:lnTo>
                  <a:lnTo>
                    <a:pt x="71773" y="94422"/>
                  </a:lnTo>
                  <a:lnTo>
                    <a:pt x="107658" y="141560"/>
                  </a:lnTo>
                  <a:lnTo>
                    <a:pt x="143540" y="188611"/>
                  </a:lnTo>
                  <a:lnTo>
                    <a:pt x="179418" y="235546"/>
                  </a:lnTo>
                  <a:lnTo>
                    <a:pt x="215292" y="282336"/>
                  </a:lnTo>
                  <a:lnTo>
                    <a:pt x="251161" y="328952"/>
                  </a:lnTo>
                  <a:lnTo>
                    <a:pt x="287023" y="375364"/>
                  </a:lnTo>
                  <a:lnTo>
                    <a:pt x="322878" y="421545"/>
                  </a:lnTo>
                  <a:lnTo>
                    <a:pt x="358725" y="467464"/>
                  </a:lnTo>
                  <a:lnTo>
                    <a:pt x="394563" y="513094"/>
                  </a:lnTo>
                  <a:lnTo>
                    <a:pt x="430391" y="558404"/>
                  </a:lnTo>
                  <a:lnTo>
                    <a:pt x="466209" y="603367"/>
                  </a:lnTo>
                  <a:lnTo>
                    <a:pt x="502015" y="647952"/>
                  </a:lnTo>
                  <a:lnTo>
                    <a:pt x="537808" y="692132"/>
                  </a:lnTo>
                  <a:lnTo>
                    <a:pt x="573588" y="735876"/>
                  </a:lnTo>
                  <a:lnTo>
                    <a:pt x="609353" y="779157"/>
                  </a:lnTo>
                  <a:lnTo>
                    <a:pt x="645103" y="821945"/>
                  </a:lnTo>
                  <a:lnTo>
                    <a:pt x="680837" y="864211"/>
                  </a:lnTo>
                  <a:lnTo>
                    <a:pt x="716554" y="905926"/>
                  </a:lnTo>
                  <a:lnTo>
                    <a:pt x="752253" y="947061"/>
                  </a:lnTo>
                  <a:lnTo>
                    <a:pt x="787933" y="987588"/>
                  </a:lnTo>
                  <a:lnTo>
                    <a:pt x="823594" y="1027477"/>
                  </a:lnTo>
                  <a:lnTo>
                    <a:pt x="859233" y="1066699"/>
                  </a:lnTo>
                  <a:lnTo>
                    <a:pt x="894852" y="1105225"/>
                  </a:lnTo>
                  <a:lnTo>
                    <a:pt x="930448" y="1143027"/>
                  </a:lnTo>
                  <a:lnTo>
                    <a:pt x="966020" y="1180074"/>
                  </a:lnTo>
                  <a:lnTo>
                    <a:pt x="1001568" y="1216340"/>
                  </a:lnTo>
                  <a:lnTo>
                    <a:pt x="1037092" y="1251793"/>
                  </a:lnTo>
                  <a:lnTo>
                    <a:pt x="1072589" y="1286406"/>
                  </a:lnTo>
                  <a:lnTo>
                    <a:pt x="1108059" y="1320149"/>
                  </a:lnTo>
                  <a:lnTo>
                    <a:pt x="1143502" y="1352994"/>
                  </a:lnTo>
                  <a:lnTo>
                    <a:pt x="1178915" y="1384911"/>
                  </a:lnTo>
                  <a:lnTo>
                    <a:pt x="1214300" y="1415872"/>
                  </a:lnTo>
                  <a:lnTo>
                    <a:pt x="1249653" y="1445847"/>
                  </a:lnTo>
                  <a:lnTo>
                    <a:pt x="1284975" y="1474807"/>
                  </a:lnTo>
                  <a:lnTo>
                    <a:pt x="1320265" y="1502724"/>
                  </a:lnTo>
                  <a:lnTo>
                    <a:pt x="1355522" y="1529569"/>
                  </a:lnTo>
                  <a:lnTo>
                    <a:pt x="1390745" y="1555312"/>
                  </a:lnTo>
                  <a:lnTo>
                    <a:pt x="1425933" y="1579924"/>
                  </a:lnTo>
                  <a:lnTo>
                    <a:pt x="1461085" y="1603378"/>
                  </a:lnTo>
                  <a:lnTo>
                    <a:pt x="1496200" y="1625643"/>
                  </a:lnTo>
                  <a:lnTo>
                    <a:pt x="1531277" y="1646690"/>
                  </a:lnTo>
                  <a:lnTo>
                    <a:pt x="1566316" y="1666491"/>
                  </a:lnTo>
                  <a:lnTo>
                    <a:pt x="1601315" y="1685017"/>
                  </a:lnTo>
                  <a:lnTo>
                    <a:pt x="1636274" y="1702239"/>
                  </a:lnTo>
                  <a:lnTo>
                    <a:pt x="1671192" y="1718127"/>
                  </a:lnTo>
                  <a:lnTo>
                    <a:pt x="1740900" y="1745788"/>
                  </a:lnTo>
                  <a:lnTo>
                    <a:pt x="1810432" y="1767768"/>
                  </a:lnTo>
                  <a:lnTo>
                    <a:pt x="1879782" y="1783835"/>
                  </a:lnTo>
                  <a:lnTo>
                    <a:pt x="1948941" y="1793757"/>
                  </a:lnTo>
                  <a:lnTo>
                    <a:pt x="2017903" y="1797304"/>
                  </a:lnTo>
                  <a:lnTo>
                    <a:pt x="2052928" y="1796595"/>
                  </a:lnTo>
                  <a:lnTo>
                    <a:pt x="2122825" y="1790165"/>
                  </a:lnTo>
                  <a:lnTo>
                    <a:pt x="2192523" y="1777254"/>
                  </a:lnTo>
                  <a:lnTo>
                    <a:pt x="2262028" y="1758106"/>
                  </a:lnTo>
                  <a:lnTo>
                    <a:pt x="2331349" y="1732966"/>
                  </a:lnTo>
                  <a:lnTo>
                    <a:pt x="2400492" y="1702078"/>
                  </a:lnTo>
                  <a:lnTo>
                    <a:pt x="2435000" y="1684555"/>
                  </a:lnTo>
                  <a:lnTo>
                    <a:pt x="2469466" y="1665687"/>
                  </a:lnTo>
                  <a:lnTo>
                    <a:pt x="2503892" y="1645505"/>
                  </a:lnTo>
                  <a:lnTo>
                    <a:pt x="2538278" y="1624038"/>
                  </a:lnTo>
                  <a:lnTo>
                    <a:pt x="2572625" y="1601318"/>
                  </a:lnTo>
                  <a:lnTo>
                    <a:pt x="2606935" y="1577376"/>
                  </a:lnTo>
                  <a:lnTo>
                    <a:pt x="2641208" y="1552241"/>
                  </a:lnTo>
                  <a:lnTo>
                    <a:pt x="2675445" y="1525944"/>
                  </a:lnTo>
                  <a:lnTo>
                    <a:pt x="2709647" y="1498516"/>
                  </a:lnTo>
                  <a:lnTo>
                    <a:pt x="2743815" y="1469988"/>
                  </a:lnTo>
                  <a:lnTo>
                    <a:pt x="2777950" y="1440390"/>
                  </a:lnTo>
                  <a:lnTo>
                    <a:pt x="2812053" y="1409752"/>
                  </a:lnTo>
                  <a:lnTo>
                    <a:pt x="2846124" y="1378106"/>
                  </a:lnTo>
                  <a:lnTo>
                    <a:pt x="2880166" y="1345481"/>
                  </a:lnTo>
                  <a:lnTo>
                    <a:pt x="2914178" y="1311909"/>
                  </a:lnTo>
                  <a:lnTo>
                    <a:pt x="2948162" y="1277419"/>
                  </a:lnTo>
                  <a:lnTo>
                    <a:pt x="2982118" y="1242044"/>
                  </a:lnTo>
                  <a:lnTo>
                    <a:pt x="3016048" y="1205812"/>
                  </a:lnTo>
                  <a:lnTo>
                    <a:pt x="3049953" y="1168755"/>
                  </a:lnTo>
                  <a:lnTo>
                    <a:pt x="3083832" y="1130903"/>
                  </a:lnTo>
                  <a:lnTo>
                    <a:pt x="3117688" y="1092287"/>
                  </a:lnTo>
                  <a:lnTo>
                    <a:pt x="3151522" y="1052937"/>
                  </a:lnTo>
                  <a:lnTo>
                    <a:pt x="3185333" y="1012885"/>
                  </a:lnTo>
                  <a:lnTo>
                    <a:pt x="3219124" y="972159"/>
                  </a:lnTo>
                  <a:lnTo>
                    <a:pt x="3252895" y="930792"/>
                  </a:lnTo>
                  <a:lnTo>
                    <a:pt x="3286647" y="888814"/>
                  </a:lnTo>
                  <a:lnTo>
                    <a:pt x="3320380" y="846255"/>
                  </a:lnTo>
                  <a:lnTo>
                    <a:pt x="3354097" y="803146"/>
                  </a:lnTo>
                  <a:lnTo>
                    <a:pt x="3387797" y="759517"/>
                  </a:lnTo>
                  <a:lnTo>
                    <a:pt x="3421483" y="715400"/>
                  </a:lnTo>
                  <a:lnTo>
                    <a:pt x="3455154" y="670823"/>
                  </a:lnTo>
                  <a:lnTo>
                    <a:pt x="3488811" y="625819"/>
                  </a:lnTo>
                  <a:lnTo>
                    <a:pt x="3522456" y="580418"/>
                  </a:lnTo>
                  <a:lnTo>
                    <a:pt x="3556090" y="534650"/>
                  </a:lnTo>
                  <a:lnTo>
                    <a:pt x="3589713" y="488546"/>
                  </a:lnTo>
                  <a:lnTo>
                    <a:pt x="3623326" y="442137"/>
                  </a:lnTo>
                  <a:lnTo>
                    <a:pt x="3656931" y="395452"/>
                  </a:lnTo>
                  <a:lnTo>
                    <a:pt x="3690528" y="348523"/>
                  </a:lnTo>
                  <a:lnTo>
                    <a:pt x="3724118" y="301381"/>
                  </a:lnTo>
                  <a:lnTo>
                    <a:pt x="3757703" y="254055"/>
                  </a:lnTo>
                  <a:lnTo>
                    <a:pt x="3791282" y="206576"/>
                  </a:lnTo>
                  <a:lnTo>
                    <a:pt x="3824858" y="158976"/>
                  </a:lnTo>
                  <a:lnTo>
                    <a:pt x="3858430" y="111284"/>
                  </a:lnTo>
                  <a:lnTo>
                    <a:pt x="3892000" y="63531"/>
                  </a:lnTo>
                  <a:lnTo>
                    <a:pt x="3925570" y="1574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84015" y="1822196"/>
              <a:ext cx="3957320" cy="1971675"/>
            </a:xfrm>
            <a:custGeom>
              <a:avLst/>
              <a:gdLst/>
              <a:ahLst/>
              <a:cxnLst/>
              <a:rect l="l" t="t" r="r" b="b"/>
              <a:pathLst>
                <a:path w="3957320" h="1971675">
                  <a:moveTo>
                    <a:pt x="0" y="0"/>
                  </a:moveTo>
                  <a:lnTo>
                    <a:pt x="32899" y="41665"/>
                  </a:lnTo>
                  <a:lnTo>
                    <a:pt x="65804" y="83313"/>
                  </a:lnTo>
                  <a:lnTo>
                    <a:pt x="98722" y="124924"/>
                  </a:lnTo>
                  <a:lnTo>
                    <a:pt x="131659" y="166480"/>
                  </a:lnTo>
                  <a:lnTo>
                    <a:pt x="164620" y="207964"/>
                  </a:lnTo>
                  <a:lnTo>
                    <a:pt x="197613" y="249357"/>
                  </a:lnTo>
                  <a:lnTo>
                    <a:pt x="230643" y="290641"/>
                  </a:lnTo>
                  <a:lnTo>
                    <a:pt x="263717" y="331798"/>
                  </a:lnTo>
                  <a:lnTo>
                    <a:pt x="296840" y="372811"/>
                  </a:lnTo>
                  <a:lnTo>
                    <a:pt x="330020" y="413660"/>
                  </a:lnTo>
                  <a:lnTo>
                    <a:pt x="363262" y="454329"/>
                  </a:lnTo>
                  <a:lnTo>
                    <a:pt x="396572" y="494798"/>
                  </a:lnTo>
                  <a:lnTo>
                    <a:pt x="429957" y="535050"/>
                  </a:lnTo>
                  <a:lnTo>
                    <a:pt x="463424" y="575067"/>
                  </a:lnTo>
                  <a:lnTo>
                    <a:pt x="496977" y="614830"/>
                  </a:lnTo>
                  <a:lnTo>
                    <a:pt x="530624" y="654322"/>
                  </a:lnTo>
                  <a:lnTo>
                    <a:pt x="564371" y="693524"/>
                  </a:lnTo>
                  <a:lnTo>
                    <a:pt x="598223" y="732418"/>
                  </a:lnTo>
                  <a:lnTo>
                    <a:pt x="632188" y="770987"/>
                  </a:lnTo>
                  <a:lnTo>
                    <a:pt x="666271" y="809213"/>
                  </a:lnTo>
                  <a:lnTo>
                    <a:pt x="700479" y="847076"/>
                  </a:lnTo>
                  <a:lnTo>
                    <a:pt x="734817" y="884559"/>
                  </a:lnTo>
                  <a:lnTo>
                    <a:pt x="769293" y="921644"/>
                  </a:lnTo>
                  <a:lnTo>
                    <a:pt x="803912" y="958314"/>
                  </a:lnTo>
                  <a:lnTo>
                    <a:pt x="838680" y="994549"/>
                  </a:lnTo>
                  <a:lnTo>
                    <a:pt x="873604" y="1030332"/>
                  </a:lnTo>
                  <a:lnTo>
                    <a:pt x="908691" y="1065644"/>
                  </a:lnTo>
                  <a:lnTo>
                    <a:pt x="943945" y="1100468"/>
                  </a:lnTo>
                  <a:lnTo>
                    <a:pt x="979374" y="1134786"/>
                  </a:lnTo>
                  <a:lnTo>
                    <a:pt x="1014983" y="1168579"/>
                  </a:lnTo>
                  <a:lnTo>
                    <a:pt x="1050780" y="1201829"/>
                  </a:lnTo>
                  <a:lnTo>
                    <a:pt x="1086770" y="1234519"/>
                  </a:lnTo>
                  <a:lnTo>
                    <a:pt x="1122959" y="1266630"/>
                  </a:lnTo>
                  <a:lnTo>
                    <a:pt x="1159353" y="1298144"/>
                  </a:lnTo>
                  <a:lnTo>
                    <a:pt x="1195960" y="1329043"/>
                  </a:lnTo>
                  <a:lnTo>
                    <a:pt x="1232785" y="1359310"/>
                  </a:lnTo>
                  <a:lnTo>
                    <a:pt x="1269834" y="1388925"/>
                  </a:lnTo>
                  <a:lnTo>
                    <a:pt x="1307113" y="1417871"/>
                  </a:lnTo>
                  <a:lnTo>
                    <a:pt x="1344629" y="1446129"/>
                  </a:lnTo>
                  <a:lnTo>
                    <a:pt x="1382388" y="1473683"/>
                  </a:lnTo>
                  <a:lnTo>
                    <a:pt x="1420397" y="1500512"/>
                  </a:lnTo>
                  <a:lnTo>
                    <a:pt x="1458661" y="1526601"/>
                  </a:lnTo>
                  <a:lnTo>
                    <a:pt x="1497186" y="1551930"/>
                  </a:lnTo>
                  <a:lnTo>
                    <a:pt x="1535980" y="1576481"/>
                  </a:lnTo>
                  <a:lnTo>
                    <a:pt x="1575048" y="1600237"/>
                  </a:lnTo>
                  <a:lnTo>
                    <a:pt x="1614396" y="1623179"/>
                  </a:lnTo>
                  <a:lnTo>
                    <a:pt x="1654030" y="1645289"/>
                  </a:lnTo>
                  <a:lnTo>
                    <a:pt x="1693958" y="1666549"/>
                  </a:lnTo>
                  <a:lnTo>
                    <a:pt x="1734185" y="1686940"/>
                  </a:lnTo>
                  <a:lnTo>
                    <a:pt x="1778332" y="1708136"/>
                  </a:lnTo>
                  <a:lnTo>
                    <a:pt x="1822833" y="1728304"/>
                  </a:lnTo>
                  <a:lnTo>
                    <a:pt x="1867679" y="1747469"/>
                  </a:lnTo>
                  <a:lnTo>
                    <a:pt x="1912864" y="1765652"/>
                  </a:lnTo>
                  <a:lnTo>
                    <a:pt x="1958379" y="1782879"/>
                  </a:lnTo>
                  <a:lnTo>
                    <a:pt x="2004215" y="1799172"/>
                  </a:lnTo>
                  <a:lnTo>
                    <a:pt x="2050365" y="1814554"/>
                  </a:lnTo>
                  <a:lnTo>
                    <a:pt x="2096821" y="1829048"/>
                  </a:lnTo>
                  <a:lnTo>
                    <a:pt x="2143575" y="1842679"/>
                  </a:lnTo>
                  <a:lnTo>
                    <a:pt x="2190618" y="1855469"/>
                  </a:lnTo>
                  <a:lnTo>
                    <a:pt x="2237942" y="1867442"/>
                  </a:lnTo>
                  <a:lnTo>
                    <a:pt x="2285540" y="1878621"/>
                  </a:lnTo>
                  <a:lnTo>
                    <a:pt x="2333404" y="1889030"/>
                  </a:lnTo>
                  <a:lnTo>
                    <a:pt x="2381525" y="1898691"/>
                  </a:lnTo>
                  <a:lnTo>
                    <a:pt x="2429895" y="1907629"/>
                  </a:lnTo>
                  <a:lnTo>
                    <a:pt x="2478507" y="1915866"/>
                  </a:lnTo>
                  <a:lnTo>
                    <a:pt x="2527352" y="1923426"/>
                  </a:lnTo>
                  <a:lnTo>
                    <a:pt x="2576422" y="1930331"/>
                  </a:lnTo>
                  <a:lnTo>
                    <a:pt x="2625709" y="1936607"/>
                  </a:lnTo>
                  <a:lnTo>
                    <a:pt x="2675206" y="1942275"/>
                  </a:lnTo>
                  <a:lnTo>
                    <a:pt x="2724904" y="1947359"/>
                  </a:lnTo>
                  <a:lnTo>
                    <a:pt x="2774794" y="1951883"/>
                  </a:lnTo>
                  <a:lnTo>
                    <a:pt x="2824870" y="1955870"/>
                  </a:lnTo>
                  <a:lnTo>
                    <a:pt x="2875123" y="1959343"/>
                  </a:lnTo>
                  <a:lnTo>
                    <a:pt x="2925545" y="1962325"/>
                  </a:lnTo>
                  <a:lnTo>
                    <a:pt x="2976127" y="1964840"/>
                  </a:lnTo>
                  <a:lnTo>
                    <a:pt x="3026863" y="1966911"/>
                  </a:lnTo>
                  <a:lnTo>
                    <a:pt x="3077743" y="1968562"/>
                  </a:lnTo>
                  <a:lnTo>
                    <a:pt x="3128760" y="1969816"/>
                  </a:lnTo>
                  <a:lnTo>
                    <a:pt x="3179905" y="1970696"/>
                  </a:lnTo>
                  <a:lnTo>
                    <a:pt x="3231172" y="1971226"/>
                  </a:lnTo>
                  <a:lnTo>
                    <a:pt x="3282551" y="1971428"/>
                  </a:lnTo>
                  <a:lnTo>
                    <a:pt x="3334034" y="1971327"/>
                  </a:lnTo>
                  <a:lnTo>
                    <a:pt x="3385614" y="1970945"/>
                  </a:lnTo>
                  <a:lnTo>
                    <a:pt x="3437283" y="1970306"/>
                  </a:lnTo>
                  <a:lnTo>
                    <a:pt x="3489032" y="1969433"/>
                  </a:lnTo>
                  <a:lnTo>
                    <a:pt x="3540853" y="1968350"/>
                  </a:lnTo>
                  <a:lnTo>
                    <a:pt x="3592739" y="1967080"/>
                  </a:lnTo>
                  <a:lnTo>
                    <a:pt x="3644681" y="1965646"/>
                  </a:lnTo>
                  <a:lnTo>
                    <a:pt x="3696671" y="1964072"/>
                  </a:lnTo>
                  <a:lnTo>
                    <a:pt x="3748702" y="1962380"/>
                  </a:lnTo>
                  <a:lnTo>
                    <a:pt x="3800765" y="1960595"/>
                  </a:lnTo>
                  <a:lnTo>
                    <a:pt x="3852852" y="1958739"/>
                  </a:lnTo>
                  <a:lnTo>
                    <a:pt x="3904955" y="1956837"/>
                  </a:lnTo>
                  <a:lnTo>
                    <a:pt x="3957066" y="1954910"/>
                  </a:lnTo>
                </a:path>
              </a:pathLst>
            </a:custGeom>
            <a:ln w="12700">
              <a:solidFill>
                <a:srgbClr val="000000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84015" y="1837944"/>
              <a:ext cx="3957320" cy="1971675"/>
            </a:xfrm>
            <a:custGeom>
              <a:avLst/>
              <a:gdLst/>
              <a:ahLst/>
              <a:cxnLst/>
              <a:rect l="l" t="t" r="r" b="b"/>
              <a:pathLst>
                <a:path w="3957320" h="1971675">
                  <a:moveTo>
                    <a:pt x="3957066" y="0"/>
                  </a:moveTo>
                  <a:lnTo>
                    <a:pt x="3924166" y="41665"/>
                  </a:lnTo>
                  <a:lnTo>
                    <a:pt x="3891261" y="83313"/>
                  </a:lnTo>
                  <a:lnTo>
                    <a:pt x="3858343" y="124924"/>
                  </a:lnTo>
                  <a:lnTo>
                    <a:pt x="3825406" y="166480"/>
                  </a:lnTo>
                  <a:lnTo>
                    <a:pt x="3792445" y="207964"/>
                  </a:lnTo>
                  <a:lnTo>
                    <a:pt x="3759452" y="249357"/>
                  </a:lnTo>
                  <a:lnTo>
                    <a:pt x="3726422" y="290641"/>
                  </a:lnTo>
                  <a:lnTo>
                    <a:pt x="3693348" y="331798"/>
                  </a:lnTo>
                  <a:lnTo>
                    <a:pt x="3660225" y="372811"/>
                  </a:lnTo>
                  <a:lnTo>
                    <a:pt x="3627045" y="413660"/>
                  </a:lnTo>
                  <a:lnTo>
                    <a:pt x="3593803" y="454329"/>
                  </a:lnTo>
                  <a:lnTo>
                    <a:pt x="3560493" y="494798"/>
                  </a:lnTo>
                  <a:lnTo>
                    <a:pt x="3527108" y="535050"/>
                  </a:lnTo>
                  <a:lnTo>
                    <a:pt x="3493641" y="575067"/>
                  </a:lnTo>
                  <a:lnTo>
                    <a:pt x="3460088" y="614830"/>
                  </a:lnTo>
                  <a:lnTo>
                    <a:pt x="3426441" y="654322"/>
                  </a:lnTo>
                  <a:lnTo>
                    <a:pt x="3392694" y="693524"/>
                  </a:lnTo>
                  <a:lnTo>
                    <a:pt x="3358842" y="732418"/>
                  </a:lnTo>
                  <a:lnTo>
                    <a:pt x="3324877" y="770987"/>
                  </a:lnTo>
                  <a:lnTo>
                    <a:pt x="3290794" y="809213"/>
                  </a:lnTo>
                  <a:lnTo>
                    <a:pt x="3256586" y="847076"/>
                  </a:lnTo>
                  <a:lnTo>
                    <a:pt x="3222248" y="884559"/>
                  </a:lnTo>
                  <a:lnTo>
                    <a:pt x="3187772" y="921644"/>
                  </a:lnTo>
                  <a:lnTo>
                    <a:pt x="3153153" y="958314"/>
                  </a:lnTo>
                  <a:lnTo>
                    <a:pt x="3118385" y="994549"/>
                  </a:lnTo>
                  <a:lnTo>
                    <a:pt x="3083461" y="1030332"/>
                  </a:lnTo>
                  <a:lnTo>
                    <a:pt x="3048374" y="1065644"/>
                  </a:lnTo>
                  <a:lnTo>
                    <a:pt x="3013120" y="1100468"/>
                  </a:lnTo>
                  <a:lnTo>
                    <a:pt x="2977691" y="1134786"/>
                  </a:lnTo>
                  <a:lnTo>
                    <a:pt x="2942082" y="1168579"/>
                  </a:lnTo>
                  <a:lnTo>
                    <a:pt x="2906285" y="1201829"/>
                  </a:lnTo>
                  <a:lnTo>
                    <a:pt x="2870295" y="1234519"/>
                  </a:lnTo>
                  <a:lnTo>
                    <a:pt x="2834106" y="1266630"/>
                  </a:lnTo>
                  <a:lnTo>
                    <a:pt x="2797712" y="1298144"/>
                  </a:lnTo>
                  <a:lnTo>
                    <a:pt x="2761105" y="1329043"/>
                  </a:lnTo>
                  <a:lnTo>
                    <a:pt x="2724280" y="1359310"/>
                  </a:lnTo>
                  <a:lnTo>
                    <a:pt x="2687231" y="1388925"/>
                  </a:lnTo>
                  <a:lnTo>
                    <a:pt x="2649952" y="1417871"/>
                  </a:lnTo>
                  <a:lnTo>
                    <a:pt x="2612436" y="1446129"/>
                  </a:lnTo>
                  <a:lnTo>
                    <a:pt x="2574677" y="1473683"/>
                  </a:lnTo>
                  <a:lnTo>
                    <a:pt x="2536668" y="1500512"/>
                  </a:lnTo>
                  <a:lnTo>
                    <a:pt x="2498404" y="1526601"/>
                  </a:lnTo>
                  <a:lnTo>
                    <a:pt x="2459879" y="1551930"/>
                  </a:lnTo>
                  <a:lnTo>
                    <a:pt x="2421085" y="1576481"/>
                  </a:lnTo>
                  <a:lnTo>
                    <a:pt x="2382017" y="1600237"/>
                  </a:lnTo>
                  <a:lnTo>
                    <a:pt x="2342669" y="1623179"/>
                  </a:lnTo>
                  <a:lnTo>
                    <a:pt x="2303035" y="1645289"/>
                  </a:lnTo>
                  <a:lnTo>
                    <a:pt x="2263107" y="1666549"/>
                  </a:lnTo>
                  <a:lnTo>
                    <a:pt x="2222881" y="1686940"/>
                  </a:lnTo>
                  <a:lnTo>
                    <a:pt x="2178733" y="1708136"/>
                  </a:lnTo>
                  <a:lnTo>
                    <a:pt x="2134232" y="1728304"/>
                  </a:lnTo>
                  <a:lnTo>
                    <a:pt x="2089386" y="1747469"/>
                  </a:lnTo>
                  <a:lnTo>
                    <a:pt x="2044201" y="1765652"/>
                  </a:lnTo>
                  <a:lnTo>
                    <a:pt x="1998686" y="1782879"/>
                  </a:lnTo>
                  <a:lnTo>
                    <a:pt x="1952850" y="1799172"/>
                  </a:lnTo>
                  <a:lnTo>
                    <a:pt x="1906700" y="1814554"/>
                  </a:lnTo>
                  <a:lnTo>
                    <a:pt x="1860244" y="1829048"/>
                  </a:lnTo>
                  <a:lnTo>
                    <a:pt x="1813490" y="1842679"/>
                  </a:lnTo>
                  <a:lnTo>
                    <a:pt x="1766447" y="1855469"/>
                  </a:lnTo>
                  <a:lnTo>
                    <a:pt x="1719123" y="1867442"/>
                  </a:lnTo>
                  <a:lnTo>
                    <a:pt x="1671525" y="1878621"/>
                  </a:lnTo>
                  <a:lnTo>
                    <a:pt x="1623661" y="1889030"/>
                  </a:lnTo>
                  <a:lnTo>
                    <a:pt x="1575540" y="1898691"/>
                  </a:lnTo>
                  <a:lnTo>
                    <a:pt x="1527170" y="1907629"/>
                  </a:lnTo>
                  <a:lnTo>
                    <a:pt x="1478558" y="1915866"/>
                  </a:lnTo>
                  <a:lnTo>
                    <a:pt x="1429713" y="1923426"/>
                  </a:lnTo>
                  <a:lnTo>
                    <a:pt x="1380643" y="1930331"/>
                  </a:lnTo>
                  <a:lnTo>
                    <a:pt x="1331356" y="1936607"/>
                  </a:lnTo>
                  <a:lnTo>
                    <a:pt x="1281859" y="1942275"/>
                  </a:lnTo>
                  <a:lnTo>
                    <a:pt x="1232161" y="1947359"/>
                  </a:lnTo>
                  <a:lnTo>
                    <a:pt x="1182271" y="1951883"/>
                  </a:lnTo>
                  <a:lnTo>
                    <a:pt x="1132195" y="1955870"/>
                  </a:lnTo>
                  <a:lnTo>
                    <a:pt x="1081942" y="1959343"/>
                  </a:lnTo>
                  <a:lnTo>
                    <a:pt x="1031520" y="1962325"/>
                  </a:lnTo>
                  <a:lnTo>
                    <a:pt x="980938" y="1964840"/>
                  </a:lnTo>
                  <a:lnTo>
                    <a:pt x="930202" y="1966911"/>
                  </a:lnTo>
                  <a:lnTo>
                    <a:pt x="879322" y="1968562"/>
                  </a:lnTo>
                  <a:lnTo>
                    <a:pt x="828305" y="1969816"/>
                  </a:lnTo>
                  <a:lnTo>
                    <a:pt x="777160" y="1970696"/>
                  </a:lnTo>
                  <a:lnTo>
                    <a:pt x="725893" y="1971226"/>
                  </a:lnTo>
                  <a:lnTo>
                    <a:pt x="674514" y="1971428"/>
                  </a:lnTo>
                  <a:lnTo>
                    <a:pt x="623031" y="1971327"/>
                  </a:lnTo>
                  <a:lnTo>
                    <a:pt x="571451" y="1970945"/>
                  </a:lnTo>
                  <a:lnTo>
                    <a:pt x="519782" y="1970306"/>
                  </a:lnTo>
                  <a:lnTo>
                    <a:pt x="468033" y="1969433"/>
                  </a:lnTo>
                  <a:lnTo>
                    <a:pt x="416212" y="1968350"/>
                  </a:lnTo>
                  <a:lnTo>
                    <a:pt x="364326" y="1967080"/>
                  </a:lnTo>
                  <a:lnTo>
                    <a:pt x="312384" y="1965646"/>
                  </a:lnTo>
                  <a:lnTo>
                    <a:pt x="260394" y="1964072"/>
                  </a:lnTo>
                  <a:lnTo>
                    <a:pt x="208363" y="1962380"/>
                  </a:lnTo>
                  <a:lnTo>
                    <a:pt x="156300" y="1960595"/>
                  </a:lnTo>
                  <a:lnTo>
                    <a:pt x="104213" y="1958739"/>
                  </a:lnTo>
                  <a:lnTo>
                    <a:pt x="52110" y="1956837"/>
                  </a:lnTo>
                  <a:lnTo>
                    <a:pt x="0" y="1954910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3483483" y="1192275"/>
            <a:ext cx="4425315" cy="2742565"/>
          </a:xfrm>
          <a:custGeom>
            <a:avLst/>
            <a:gdLst/>
            <a:ahLst/>
            <a:cxnLst/>
            <a:rect l="l" t="t" r="r" b="b"/>
            <a:pathLst>
              <a:path w="4425315" h="2742565">
                <a:moveTo>
                  <a:pt x="4424807" y="2699639"/>
                </a:moveTo>
                <a:lnTo>
                  <a:pt x="4396308" y="2685415"/>
                </a:lnTo>
                <a:lnTo>
                  <a:pt x="4339082" y="2656840"/>
                </a:lnTo>
                <a:lnTo>
                  <a:pt x="4339082" y="2685415"/>
                </a:lnTo>
                <a:lnTo>
                  <a:pt x="57150" y="2685415"/>
                </a:lnTo>
                <a:lnTo>
                  <a:pt x="57150" y="85725"/>
                </a:lnTo>
                <a:lnTo>
                  <a:pt x="85725" y="85725"/>
                </a:lnTo>
                <a:lnTo>
                  <a:pt x="78600" y="71501"/>
                </a:lnTo>
                <a:lnTo>
                  <a:pt x="42799" y="0"/>
                </a:lnTo>
                <a:lnTo>
                  <a:pt x="0" y="85725"/>
                </a:lnTo>
                <a:lnTo>
                  <a:pt x="28575" y="85725"/>
                </a:lnTo>
                <a:lnTo>
                  <a:pt x="28575" y="2700020"/>
                </a:lnTo>
                <a:lnTo>
                  <a:pt x="32766" y="2700020"/>
                </a:lnTo>
                <a:lnTo>
                  <a:pt x="32766" y="2713990"/>
                </a:lnTo>
                <a:lnTo>
                  <a:pt x="4339082" y="2713990"/>
                </a:lnTo>
                <a:lnTo>
                  <a:pt x="4339082" y="2742565"/>
                </a:lnTo>
                <a:lnTo>
                  <a:pt x="4396143" y="2713990"/>
                </a:lnTo>
                <a:lnTo>
                  <a:pt x="4424807" y="26996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99375" y="1507997"/>
            <a:ext cx="169798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Erro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estimação </a:t>
            </a:r>
            <a:r>
              <a:rPr sz="1800" dirty="0">
                <a:latin typeface="Calibri"/>
                <a:cs typeface="Calibri"/>
              </a:rPr>
              <a:t>ou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variância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22492" y="1278382"/>
            <a:ext cx="0" cy="3672204"/>
          </a:xfrm>
          <a:custGeom>
            <a:avLst/>
            <a:gdLst/>
            <a:ahLst/>
            <a:cxnLst/>
            <a:rect l="l" t="t" r="r" b="b"/>
            <a:pathLst>
              <a:path h="3672204">
                <a:moveTo>
                  <a:pt x="0" y="3671951"/>
                </a:moveTo>
                <a:lnTo>
                  <a:pt x="0" y="0"/>
                </a:lnTo>
              </a:path>
            </a:pathLst>
          </a:custGeom>
          <a:ln w="28575">
            <a:solidFill>
              <a:srgbClr val="5B9BD4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93665" y="3938142"/>
            <a:ext cx="1997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Ponto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balanço </a:t>
            </a:r>
            <a:r>
              <a:rPr sz="1800" dirty="0">
                <a:latin typeface="Calibri"/>
                <a:cs typeface="Calibri"/>
              </a:rPr>
              <a:t>entre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 </a:t>
            </a:r>
            <a:r>
              <a:rPr sz="1800" spc="-10" dirty="0">
                <a:latin typeface="Calibri"/>
                <a:cs typeface="Calibri"/>
              </a:rPr>
              <a:t>variância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10705" y="3165424"/>
            <a:ext cx="1993264" cy="157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Erro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aproximação</a:t>
            </a:r>
            <a:endParaRPr sz="1800">
              <a:latin typeface="Calibri"/>
              <a:cs typeface="Calibri"/>
            </a:endParaRPr>
          </a:p>
          <a:p>
            <a:pPr marR="2540" algn="ctr">
              <a:lnSpc>
                <a:spcPct val="100000"/>
              </a:lnSpc>
              <a:spcBef>
                <a:spcPts val="30"/>
              </a:spcBef>
            </a:pPr>
            <a:r>
              <a:rPr sz="1800" dirty="0">
                <a:latin typeface="Calibri"/>
                <a:cs typeface="Calibri"/>
              </a:rPr>
              <a:t>ou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bias</a:t>
            </a:r>
            <a:r>
              <a:rPr sz="1950" spc="-30" baseline="27777" dirty="0">
                <a:latin typeface="Cambria Math"/>
                <a:cs typeface="Cambria Math"/>
              </a:rPr>
              <a:t>2</a:t>
            </a:r>
            <a:endParaRPr sz="1950" baseline="27777">
              <a:latin typeface="Cambria Math"/>
              <a:cs typeface="Cambria Math"/>
            </a:endParaRPr>
          </a:p>
          <a:p>
            <a:pPr marL="501650" marR="66040" algn="ctr">
              <a:lnSpc>
                <a:spcPct val="100000"/>
              </a:lnSpc>
              <a:spcBef>
                <a:spcPts val="1350"/>
              </a:spcBef>
            </a:pPr>
            <a:r>
              <a:rPr sz="1800" spc="-10" dirty="0">
                <a:latin typeface="Calibri"/>
                <a:cs typeface="Calibri"/>
              </a:rPr>
              <a:t>Complexidade </a:t>
            </a:r>
            <a:r>
              <a:rPr sz="1800" dirty="0">
                <a:latin typeface="Calibri"/>
                <a:cs typeface="Calibri"/>
              </a:rPr>
              <a:t>ou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flexibilidade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modelo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93210" y="312420"/>
            <a:ext cx="4361815" cy="3450590"/>
            <a:chOff x="3593210" y="312420"/>
            <a:chExt cx="4361815" cy="3450590"/>
          </a:xfrm>
        </p:grpSpPr>
        <p:sp>
          <p:nvSpPr>
            <p:cNvPr id="12" name="object 12"/>
            <p:cNvSpPr/>
            <p:nvPr/>
          </p:nvSpPr>
          <p:spPr>
            <a:xfrm>
              <a:off x="4176267" y="1506473"/>
              <a:ext cx="3771900" cy="2250440"/>
            </a:xfrm>
            <a:custGeom>
              <a:avLst/>
              <a:gdLst/>
              <a:ahLst/>
              <a:cxnLst/>
              <a:rect l="l" t="t" r="r" b="b"/>
              <a:pathLst>
                <a:path w="3771900" h="2250440">
                  <a:moveTo>
                    <a:pt x="3397250" y="440309"/>
                  </a:moveTo>
                  <a:lnTo>
                    <a:pt x="3456582" y="416040"/>
                  </a:lnTo>
                  <a:lnTo>
                    <a:pt x="3514725" y="392487"/>
                  </a:lnTo>
                  <a:lnTo>
                    <a:pt x="3570485" y="370378"/>
                  </a:lnTo>
                  <a:lnTo>
                    <a:pt x="3622675" y="350440"/>
                  </a:lnTo>
                  <a:lnTo>
                    <a:pt x="3670101" y="333402"/>
                  </a:lnTo>
                  <a:lnTo>
                    <a:pt x="3711575" y="319990"/>
                  </a:lnTo>
                  <a:lnTo>
                    <a:pt x="3745904" y="310933"/>
                  </a:lnTo>
                  <a:lnTo>
                    <a:pt x="3771900" y="306959"/>
                  </a:lnTo>
                </a:path>
                <a:path w="3771900" h="2250440">
                  <a:moveTo>
                    <a:pt x="2921000" y="2250059"/>
                  </a:moveTo>
                  <a:lnTo>
                    <a:pt x="2957413" y="2224659"/>
                  </a:lnTo>
                  <a:lnTo>
                    <a:pt x="2994377" y="2199259"/>
                  </a:lnTo>
                  <a:lnTo>
                    <a:pt x="3032440" y="2173859"/>
                  </a:lnTo>
                  <a:lnTo>
                    <a:pt x="3072152" y="2148459"/>
                  </a:lnTo>
                  <a:lnTo>
                    <a:pt x="3114064" y="2123059"/>
                  </a:lnTo>
                  <a:lnTo>
                    <a:pt x="3158725" y="2097659"/>
                  </a:lnTo>
                  <a:lnTo>
                    <a:pt x="3206684" y="2072259"/>
                  </a:lnTo>
                  <a:lnTo>
                    <a:pt x="3258493" y="2046859"/>
                  </a:lnTo>
                  <a:lnTo>
                    <a:pt x="3314700" y="2021459"/>
                  </a:lnTo>
                </a:path>
                <a:path w="3771900" h="2250440">
                  <a:moveTo>
                    <a:pt x="0" y="630809"/>
                  </a:moveTo>
                  <a:lnTo>
                    <a:pt x="604520" y="0"/>
                  </a:lnTo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93211" y="312419"/>
              <a:ext cx="1236980" cy="375920"/>
            </a:xfrm>
            <a:custGeom>
              <a:avLst/>
              <a:gdLst/>
              <a:ahLst/>
              <a:cxnLst/>
              <a:rect l="l" t="t" r="r" b="b"/>
              <a:pathLst>
                <a:path w="1236979" h="375920">
                  <a:moveTo>
                    <a:pt x="53086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365760"/>
                  </a:lnTo>
                  <a:lnTo>
                    <a:pt x="0" y="375920"/>
                  </a:lnTo>
                  <a:lnTo>
                    <a:pt x="53086" y="375920"/>
                  </a:lnTo>
                  <a:lnTo>
                    <a:pt x="53086" y="365760"/>
                  </a:lnTo>
                  <a:lnTo>
                    <a:pt x="20701" y="365760"/>
                  </a:lnTo>
                  <a:lnTo>
                    <a:pt x="20701" y="10160"/>
                  </a:lnTo>
                  <a:lnTo>
                    <a:pt x="53086" y="10160"/>
                  </a:lnTo>
                  <a:lnTo>
                    <a:pt x="53086" y="0"/>
                  </a:lnTo>
                  <a:close/>
                </a:path>
                <a:path w="1236979" h="375920">
                  <a:moveTo>
                    <a:pt x="153924" y="59182"/>
                  </a:moveTo>
                  <a:lnTo>
                    <a:pt x="151130" y="50038"/>
                  </a:lnTo>
                  <a:lnTo>
                    <a:pt x="134696" y="56451"/>
                  </a:lnTo>
                  <a:lnTo>
                    <a:pt x="120269" y="66509"/>
                  </a:lnTo>
                  <a:lnTo>
                    <a:pt x="97409" y="97536"/>
                  </a:lnTo>
                  <a:lnTo>
                    <a:pt x="83286" y="139293"/>
                  </a:lnTo>
                  <a:lnTo>
                    <a:pt x="78613" y="188214"/>
                  </a:lnTo>
                  <a:lnTo>
                    <a:pt x="79781" y="213410"/>
                  </a:lnTo>
                  <a:lnTo>
                    <a:pt x="89166" y="258749"/>
                  </a:lnTo>
                  <a:lnTo>
                    <a:pt x="107835" y="296087"/>
                  </a:lnTo>
                  <a:lnTo>
                    <a:pt x="151130" y="326263"/>
                  </a:lnTo>
                  <a:lnTo>
                    <a:pt x="153924" y="316992"/>
                  </a:lnTo>
                  <a:lnTo>
                    <a:pt x="141224" y="310451"/>
                  </a:lnTo>
                  <a:lnTo>
                    <a:pt x="130187" y="300901"/>
                  </a:lnTo>
                  <a:lnTo>
                    <a:pt x="106934" y="254723"/>
                  </a:lnTo>
                  <a:lnTo>
                    <a:pt x="99936" y="212432"/>
                  </a:lnTo>
                  <a:lnTo>
                    <a:pt x="99060" y="188087"/>
                  </a:lnTo>
                  <a:lnTo>
                    <a:pt x="99936" y="163982"/>
                  </a:lnTo>
                  <a:lnTo>
                    <a:pt x="106934" y="121602"/>
                  </a:lnTo>
                  <a:lnTo>
                    <a:pt x="130187" y="75349"/>
                  </a:lnTo>
                  <a:lnTo>
                    <a:pt x="141224" y="65760"/>
                  </a:lnTo>
                  <a:lnTo>
                    <a:pt x="153924" y="59182"/>
                  </a:lnTo>
                  <a:close/>
                </a:path>
                <a:path w="1236979" h="375920">
                  <a:moveTo>
                    <a:pt x="1236853" y="188087"/>
                  </a:moveTo>
                  <a:lnTo>
                    <a:pt x="1232103" y="139293"/>
                  </a:lnTo>
                  <a:lnTo>
                    <a:pt x="1217930" y="97536"/>
                  </a:lnTo>
                  <a:lnTo>
                    <a:pt x="1195082" y="66509"/>
                  </a:lnTo>
                  <a:lnTo>
                    <a:pt x="1164336" y="50038"/>
                  </a:lnTo>
                  <a:lnTo>
                    <a:pt x="1161542" y="59182"/>
                  </a:lnTo>
                  <a:lnTo>
                    <a:pt x="1174178" y="65760"/>
                  </a:lnTo>
                  <a:lnTo>
                    <a:pt x="1185227" y="75349"/>
                  </a:lnTo>
                  <a:lnTo>
                    <a:pt x="1208506" y="121602"/>
                  </a:lnTo>
                  <a:lnTo>
                    <a:pt x="1215415" y="163982"/>
                  </a:lnTo>
                  <a:lnTo>
                    <a:pt x="1216279" y="188214"/>
                  </a:lnTo>
                  <a:lnTo>
                    <a:pt x="1215415" y="212432"/>
                  </a:lnTo>
                  <a:lnTo>
                    <a:pt x="1208506" y="254723"/>
                  </a:lnTo>
                  <a:lnTo>
                    <a:pt x="1185227" y="300901"/>
                  </a:lnTo>
                  <a:lnTo>
                    <a:pt x="1161542" y="316992"/>
                  </a:lnTo>
                  <a:lnTo>
                    <a:pt x="1164336" y="326263"/>
                  </a:lnTo>
                  <a:lnTo>
                    <a:pt x="1207490" y="296087"/>
                  </a:lnTo>
                  <a:lnTo>
                    <a:pt x="1226185" y="258749"/>
                  </a:lnTo>
                  <a:lnTo>
                    <a:pt x="1235659" y="213410"/>
                  </a:lnTo>
                  <a:lnTo>
                    <a:pt x="1236853" y="1880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605529" y="1111122"/>
            <a:ext cx="412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Erro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61255" y="312419"/>
            <a:ext cx="53340" cy="375920"/>
          </a:xfrm>
          <a:custGeom>
            <a:avLst/>
            <a:gdLst/>
            <a:ahLst/>
            <a:cxnLst/>
            <a:rect l="l" t="t" r="r" b="b"/>
            <a:pathLst>
              <a:path w="53339" h="375920">
                <a:moveTo>
                  <a:pt x="53086" y="0"/>
                </a:moveTo>
                <a:lnTo>
                  <a:pt x="0" y="0"/>
                </a:lnTo>
                <a:lnTo>
                  <a:pt x="0" y="10160"/>
                </a:lnTo>
                <a:lnTo>
                  <a:pt x="32512" y="10160"/>
                </a:lnTo>
                <a:lnTo>
                  <a:pt x="32512" y="365760"/>
                </a:lnTo>
                <a:lnTo>
                  <a:pt x="0" y="365760"/>
                </a:lnTo>
                <a:lnTo>
                  <a:pt x="0" y="375920"/>
                </a:lnTo>
                <a:lnTo>
                  <a:pt x="53086" y="375920"/>
                </a:lnTo>
                <a:lnTo>
                  <a:pt x="53086" y="365760"/>
                </a:lnTo>
                <a:lnTo>
                  <a:pt x="53086" y="10160"/>
                </a:lnTo>
                <a:lnTo>
                  <a:pt x="53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365119" y="324739"/>
            <a:ext cx="530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8620" algn="l"/>
              </a:tabLst>
            </a:pPr>
            <a:r>
              <a:rPr sz="1800" b="0" spc="-50" dirty="0">
                <a:latin typeface="Cambria Math"/>
                <a:cs typeface="Cambria Math"/>
              </a:rPr>
              <a:t>𝐸</a:t>
            </a:r>
            <a:r>
              <a:rPr sz="1800" b="0" dirty="0">
                <a:latin typeface="Cambria Math"/>
                <a:cs typeface="Cambria Math"/>
              </a:rPr>
              <a:t>	</a:t>
            </a:r>
            <a:r>
              <a:rPr sz="1800" b="0" spc="-50" dirty="0"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61942" y="432943"/>
            <a:ext cx="47942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65" dirty="0">
                <a:latin typeface="Cambria Math"/>
                <a:cs typeface="Cambria Math"/>
              </a:rPr>
              <a:t>𝑛𝑜𝑖𝑠𝑦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80103" y="324739"/>
            <a:ext cx="371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−</a:t>
            </a:r>
            <a:r>
              <a:rPr sz="1800" spc="500" dirty="0">
                <a:latin typeface="Cambria Math"/>
                <a:cs typeface="Cambria Math"/>
              </a:rPr>
              <a:t> </a:t>
            </a:r>
            <a:r>
              <a:rPr sz="1800" spc="-1250" dirty="0">
                <a:latin typeface="Cambria Math"/>
                <a:cs typeface="Cambria Math"/>
              </a:rPr>
              <a:t>𝑦</a:t>
            </a:r>
            <a:r>
              <a:rPr sz="1800" spc="-555" dirty="0">
                <a:latin typeface="Cambria Math"/>
                <a:cs typeface="Cambria Math"/>
              </a:rPr>
              <a:t>ො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37557" y="234823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65140" y="324739"/>
            <a:ext cx="3790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bias</a:t>
            </a:r>
            <a:r>
              <a:rPr sz="1950" baseline="27777" dirty="0">
                <a:latin typeface="Cambria Math"/>
                <a:cs typeface="Cambria Math"/>
              </a:rPr>
              <a:t>2</a:t>
            </a:r>
            <a:r>
              <a:rPr sz="1950" spc="292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variância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erro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irredutível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82770" y="1195578"/>
            <a:ext cx="894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Erro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total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516249" y="4891404"/>
            <a:ext cx="4379595" cy="114300"/>
          </a:xfrm>
          <a:custGeom>
            <a:avLst/>
            <a:gdLst/>
            <a:ahLst/>
            <a:cxnLst/>
            <a:rect l="l" t="t" r="r" b="b"/>
            <a:pathLst>
              <a:path w="4379595" h="114300">
                <a:moveTo>
                  <a:pt x="2206244" y="38100"/>
                </a:moveTo>
                <a:lnTo>
                  <a:pt x="114300" y="38100"/>
                </a:lnTo>
                <a:lnTo>
                  <a:pt x="114300" y="0"/>
                </a:ln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2206244" y="76200"/>
                </a:lnTo>
                <a:lnTo>
                  <a:pt x="2206244" y="38100"/>
                </a:lnTo>
                <a:close/>
              </a:path>
              <a:path w="4379595" h="114300">
                <a:moveTo>
                  <a:pt x="4379341" y="57150"/>
                </a:moveTo>
                <a:lnTo>
                  <a:pt x="4341241" y="38100"/>
                </a:lnTo>
                <a:lnTo>
                  <a:pt x="4265041" y="0"/>
                </a:lnTo>
                <a:lnTo>
                  <a:pt x="4265041" y="38100"/>
                </a:lnTo>
                <a:lnTo>
                  <a:pt x="2207133" y="38100"/>
                </a:lnTo>
                <a:lnTo>
                  <a:pt x="2207133" y="76200"/>
                </a:lnTo>
                <a:lnTo>
                  <a:pt x="4265041" y="76200"/>
                </a:lnTo>
                <a:lnTo>
                  <a:pt x="4265041" y="114300"/>
                </a:lnTo>
                <a:lnTo>
                  <a:pt x="4341241" y="76200"/>
                </a:lnTo>
                <a:lnTo>
                  <a:pt x="4379341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684778" y="4974463"/>
            <a:ext cx="1878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Região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subajuste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80353" y="4974463"/>
            <a:ext cx="20694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Região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sobreajuste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281678" y="703198"/>
            <a:ext cx="502920" cy="577215"/>
          </a:xfrm>
          <a:custGeom>
            <a:avLst/>
            <a:gdLst/>
            <a:ahLst/>
            <a:cxnLst/>
            <a:rect l="l" t="t" r="r" b="b"/>
            <a:pathLst>
              <a:path w="502920" h="577215">
                <a:moveTo>
                  <a:pt x="0" y="0"/>
                </a:moveTo>
                <a:lnTo>
                  <a:pt x="502793" y="577214"/>
                </a:lnTo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852159" y="5385434"/>
            <a:ext cx="1623695" cy="1123950"/>
          </a:xfrm>
          <a:custGeom>
            <a:avLst/>
            <a:gdLst/>
            <a:ahLst/>
            <a:cxnLst/>
            <a:rect l="l" t="t" r="r" b="b"/>
            <a:pathLst>
              <a:path w="1623695" h="1123950">
                <a:moveTo>
                  <a:pt x="1061592" y="0"/>
                </a:moveTo>
                <a:lnTo>
                  <a:pt x="1061592" y="280911"/>
                </a:lnTo>
                <a:lnTo>
                  <a:pt x="0" y="280911"/>
                </a:lnTo>
                <a:lnTo>
                  <a:pt x="0" y="842683"/>
                </a:lnTo>
                <a:lnTo>
                  <a:pt x="1061592" y="842683"/>
                </a:lnTo>
                <a:lnTo>
                  <a:pt x="1061592" y="1123581"/>
                </a:lnTo>
                <a:lnTo>
                  <a:pt x="1623440" y="561797"/>
                </a:lnTo>
                <a:lnTo>
                  <a:pt x="106159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005321" y="5645911"/>
            <a:ext cx="10369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Variância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viés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029836" y="5385434"/>
            <a:ext cx="1544320" cy="1123950"/>
          </a:xfrm>
          <a:custGeom>
            <a:avLst/>
            <a:gdLst/>
            <a:ahLst/>
            <a:cxnLst/>
            <a:rect l="l" t="t" r="r" b="b"/>
            <a:pathLst>
              <a:path w="1544320" h="1123950">
                <a:moveTo>
                  <a:pt x="561721" y="0"/>
                </a:moveTo>
                <a:lnTo>
                  <a:pt x="0" y="561797"/>
                </a:lnTo>
                <a:lnTo>
                  <a:pt x="561721" y="1123581"/>
                </a:lnTo>
                <a:lnTo>
                  <a:pt x="561721" y="842683"/>
                </a:lnTo>
                <a:lnTo>
                  <a:pt x="1544320" y="842683"/>
                </a:lnTo>
                <a:lnTo>
                  <a:pt x="1544320" y="280911"/>
                </a:lnTo>
                <a:lnTo>
                  <a:pt x="561721" y="280911"/>
                </a:lnTo>
                <a:lnTo>
                  <a:pt x="561721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445634" y="5645911"/>
            <a:ext cx="9925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+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Viés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Variância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43373" y="6434124"/>
            <a:ext cx="2242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Flexibilidade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modelo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712205" y="5324728"/>
            <a:ext cx="1270" cy="1123950"/>
          </a:xfrm>
          <a:custGeom>
            <a:avLst/>
            <a:gdLst/>
            <a:ahLst/>
            <a:cxnLst/>
            <a:rect l="l" t="t" r="r" b="b"/>
            <a:pathLst>
              <a:path w="1270" h="1123950">
                <a:moveTo>
                  <a:pt x="889" y="1123505"/>
                </a:moveTo>
                <a:lnTo>
                  <a:pt x="0" y="0"/>
                </a:lnTo>
              </a:path>
            </a:pathLst>
          </a:custGeom>
          <a:ln w="28575">
            <a:solidFill>
              <a:srgbClr val="5B9BD4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86985" y="1017905"/>
            <a:ext cx="3195955" cy="3388995"/>
            <a:chOff x="4586985" y="1017905"/>
            <a:chExt cx="3195955" cy="3388995"/>
          </a:xfrm>
        </p:grpSpPr>
        <p:sp>
          <p:nvSpPr>
            <p:cNvPr id="3" name="object 3"/>
            <p:cNvSpPr/>
            <p:nvPr/>
          </p:nvSpPr>
          <p:spPr>
            <a:xfrm>
              <a:off x="4622926" y="1032891"/>
              <a:ext cx="3106420" cy="3367404"/>
            </a:xfrm>
            <a:custGeom>
              <a:avLst/>
              <a:gdLst/>
              <a:ahLst/>
              <a:cxnLst/>
              <a:rect l="l" t="t" r="r" b="b"/>
              <a:pathLst>
                <a:path w="3106420" h="3367404">
                  <a:moveTo>
                    <a:pt x="0" y="1683639"/>
                  </a:moveTo>
                  <a:lnTo>
                    <a:pt x="686" y="1633095"/>
                  </a:lnTo>
                  <a:lnTo>
                    <a:pt x="2732" y="1582922"/>
                  </a:lnTo>
                  <a:lnTo>
                    <a:pt x="6119" y="1533140"/>
                  </a:lnTo>
                  <a:lnTo>
                    <a:pt x="10828" y="1483770"/>
                  </a:lnTo>
                  <a:lnTo>
                    <a:pt x="16839" y="1434832"/>
                  </a:lnTo>
                  <a:lnTo>
                    <a:pt x="24132" y="1386348"/>
                  </a:lnTo>
                  <a:lnTo>
                    <a:pt x="32690" y="1338339"/>
                  </a:lnTo>
                  <a:lnTo>
                    <a:pt x="42493" y="1290824"/>
                  </a:lnTo>
                  <a:lnTo>
                    <a:pt x="53520" y="1243826"/>
                  </a:lnTo>
                  <a:lnTo>
                    <a:pt x="65754" y="1197365"/>
                  </a:lnTo>
                  <a:lnTo>
                    <a:pt x="79175" y="1151461"/>
                  </a:lnTo>
                  <a:lnTo>
                    <a:pt x="93764" y="1106135"/>
                  </a:lnTo>
                  <a:lnTo>
                    <a:pt x="109501" y="1061409"/>
                  </a:lnTo>
                  <a:lnTo>
                    <a:pt x="126368" y="1017304"/>
                  </a:lnTo>
                  <a:lnTo>
                    <a:pt x="144345" y="973839"/>
                  </a:lnTo>
                  <a:lnTo>
                    <a:pt x="163412" y="931036"/>
                  </a:lnTo>
                  <a:lnTo>
                    <a:pt x="183552" y="888916"/>
                  </a:lnTo>
                  <a:lnTo>
                    <a:pt x="204743" y="847499"/>
                  </a:lnTo>
                  <a:lnTo>
                    <a:pt x="226968" y="806806"/>
                  </a:lnTo>
                  <a:lnTo>
                    <a:pt x="250207" y="766859"/>
                  </a:lnTo>
                  <a:lnTo>
                    <a:pt x="274441" y="727678"/>
                  </a:lnTo>
                  <a:lnTo>
                    <a:pt x="299650" y="689283"/>
                  </a:lnTo>
                  <a:lnTo>
                    <a:pt x="325816" y="651697"/>
                  </a:lnTo>
                  <a:lnTo>
                    <a:pt x="352919" y="614938"/>
                  </a:lnTo>
                  <a:lnTo>
                    <a:pt x="380940" y="579029"/>
                  </a:lnTo>
                  <a:lnTo>
                    <a:pt x="409859" y="543990"/>
                  </a:lnTo>
                  <a:lnTo>
                    <a:pt x="439658" y="509842"/>
                  </a:lnTo>
                  <a:lnTo>
                    <a:pt x="470318" y="476606"/>
                  </a:lnTo>
                  <a:lnTo>
                    <a:pt x="501818" y="444302"/>
                  </a:lnTo>
                  <a:lnTo>
                    <a:pt x="534140" y="412952"/>
                  </a:lnTo>
                  <a:lnTo>
                    <a:pt x="567265" y="382576"/>
                  </a:lnTo>
                  <a:lnTo>
                    <a:pt x="601173" y="353196"/>
                  </a:lnTo>
                  <a:lnTo>
                    <a:pt x="635846" y="324831"/>
                  </a:lnTo>
                  <a:lnTo>
                    <a:pt x="671263" y="297503"/>
                  </a:lnTo>
                  <a:lnTo>
                    <a:pt x="707406" y="271233"/>
                  </a:lnTo>
                  <a:lnTo>
                    <a:pt x="744256" y="246041"/>
                  </a:lnTo>
                  <a:lnTo>
                    <a:pt x="781793" y="221948"/>
                  </a:lnTo>
                  <a:lnTo>
                    <a:pt x="819998" y="198975"/>
                  </a:lnTo>
                  <a:lnTo>
                    <a:pt x="858852" y="177144"/>
                  </a:lnTo>
                  <a:lnTo>
                    <a:pt x="898336" y="156474"/>
                  </a:lnTo>
                  <a:lnTo>
                    <a:pt x="938430" y="136986"/>
                  </a:lnTo>
                  <a:lnTo>
                    <a:pt x="979115" y="118702"/>
                  </a:lnTo>
                  <a:lnTo>
                    <a:pt x="1020373" y="101643"/>
                  </a:lnTo>
                  <a:lnTo>
                    <a:pt x="1062183" y="85828"/>
                  </a:lnTo>
                  <a:lnTo>
                    <a:pt x="1104527" y="71279"/>
                  </a:lnTo>
                  <a:lnTo>
                    <a:pt x="1147385" y="58017"/>
                  </a:lnTo>
                  <a:lnTo>
                    <a:pt x="1190738" y="46063"/>
                  </a:lnTo>
                  <a:lnTo>
                    <a:pt x="1234567" y="35437"/>
                  </a:lnTo>
                  <a:lnTo>
                    <a:pt x="1278853" y="26160"/>
                  </a:lnTo>
                  <a:lnTo>
                    <a:pt x="1323576" y="18253"/>
                  </a:lnTo>
                  <a:lnTo>
                    <a:pt x="1368718" y="11738"/>
                  </a:lnTo>
                  <a:lnTo>
                    <a:pt x="1414258" y="6633"/>
                  </a:lnTo>
                  <a:lnTo>
                    <a:pt x="1460179" y="2962"/>
                  </a:lnTo>
                  <a:lnTo>
                    <a:pt x="1506460" y="744"/>
                  </a:lnTo>
                  <a:lnTo>
                    <a:pt x="1553083" y="0"/>
                  </a:lnTo>
                  <a:lnTo>
                    <a:pt x="1599698" y="744"/>
                  </a:lnTo>
                  <a:lnTo>
                    <a:pt x="1645973" y="2962"/>
                  </a:lnTo>
                  <a:lnTo>
                    <a:pt x="1691887" y="6633"/>
                  </a:lnTo>
                  <a:lnTo>
                    <a:pt x="1737422" y="11738"/>
                  </a:lnTo>
                  <a:lnTo>
                    <a:pt x="1782557" y="18253"/>
                  </a:lnTo>
                  <a:lnTo>
                    <a:pt x="1827275" y="26160"/>
                  </a:lnTo>
                  <a:lnTo>
                    <a:pt x="1871555" y="35437"/>
                  </a:lnTo>
                  <a:lnTo>
                    <a:pt x="1915379" y="46063"/>
                  </a:lnTo>
                  <a:lnTo>
                    <a:pt x="1958728" y="58017"/>
                  </a:lnTo>
                  <a:lnTo>
                    <a:pt x="2001581" y="71279"/>
                  </a:lnTo>
                  <a:lnTo>
                    <a:pt x="2043920" y="85828"/>
                  </a:lnTo>
                  <a:lnTo>
                    <a:pt x="2085726" y="101643"/>
                  </a:lnTo>
                  <a:lnTo>
                    <a:pt x="2126979" y="118702"/>
                  </a:lnTo>
                  <a:lnTo>
                    <a:pt x="2167661" y="136986"/>
                  </a:lnTo>
                  <a:lnTo>
                    <a:pt x="2207751" y="156474"/>
                  </a:lnTo>
                  <a:lnTo>
                    <a:pt x="2247231" y="177144"/>
                  </a:lnTo>
                  <a:lnTo>
                    <a:pt x="2286082" y="198975"/>
                  </a:lnTo>
                  <a:lnTo>
                    <a:pt x="2324284" y="221948"/>
                  </a:lnTo>
                  <a:lnTo>
                    <a:pt x="2361818" y="246041"/>
                  </a:lnTo>
                  <a:lnTo>
                    <a:pt x="2398664" y="271233"/>
                  </a:lnTo>
                  <a:lnTo>
                    <a:pt x="2434805" y="297503"/>
                  </a:lnTo>
                  <a:lnTo>
                    <a:pt x="2470220" y="324831"/>
                  </a:lnTo>
                  <a:lnTo>
                    <a:pt x="2504890" y="353196"/>
                  </a:lnTo>
                  <a:lnTo>
                    <a:pt x="2538796" y="382576"/>
                  </a:lnTo>
                  <a:lnTo>
                    <a:pt x="2571918" y="412952"/>
                  </a:lnTo>
                  <a:lnTo>
                    <a:pt x="2604239" y="444302"/>
                  </a:lnTo>
                  <a:lnTo>
                    <a:pt x="2635737" y="476606"/>
                  </a:lnTo>
                  <a:lnTo>
                    <a:pt x="2666395" y="509842"/>
                  </a:lnTo>
                  <a:lnTo>
                    <a:pt x="2696192" y="543990"/>
                  </a:lnTo>
                  <a:lnTo>
                    <a:pt x="2725110" y="579029"/>
                  </a:lnTo>
                  <a:lnTo>
                    <a:pt x="2753130" y="614938"/>
                  </a:lnTo>
                  <a:lnTo>
                    <a:pt x="2780231" y="651697"/>
                  </a:lnTo>
                  <a:lnTo>
                    <a:pt x="2806396" y="689283"/>
                  </a:lnTo>
                  <a:lnTo>
                    <a:pt x="2831604" y="727678"/>
                  </a:lnTo>
                  <a:lnTo>
                    <a:pt x="2855837" y="766859"/>
                  </a:lnTo>
                  <a:lnTo>
                    <a:pt x="2879075" y="806806"/>
                  </a:lnTo>
                  <a:lnTo>
                    <a:pt x="2901299" y="847499"/>
                  </a:lnTo>
                  <a:lnTo>
                    <a:pt x="2922490" y="888916"/>
                  </a:lnTo>
                  <a:lnTo>
                    <a:pt x="2942629" y="931036"/>
                  </a:lnTo>
                  <a:lnTo>
                    <a:pt x="2961696" y="973839"/>
                  </a:lnTo>
                  <a:lnTo>
                    <a:pt x="2979672" y="1017304"/>
                  </a:lnTo>
                  <a:lnTo>
                    <a:pt x="2996538" y="1061409"/>
                  </a:lnTo>
                  <a:lnTo>
                    <a:pt x="3012275" y="1106135"/>
                  </a:lnTo>
                  <a:lnTo>
                    <a:pt x="3026864" y="1151461"/>
                  </a:lnTo>
                  <a:lnTo>
                    <a:pt x="3040284" y="1197365"/>
                  </a:lnTo>
                  <a:lnTo>
                    <a:pt x="3052518" y="1243826"/>
                  </a:lnTo>
                  <a:lnTo>
                    <a:pt x="3063546" y="1290824"/>
                  </a:lnTo>
                  <a:lnTo>
                    <a:pt x="3073348" y="1338339"/>
                  </a:lnTo>
                  <a:lnTo>
                    <a:pt x="3081906" y="1386348"/>
                  </a:lnTo>
                  <a:lnTo>
                    <a:pt x="3089200" y="1434832"/>
                  </a:lnTo>
                  <a:lnTo>
                    <a:pt x="3095210" y="1483770"/>
                  </a:lnTo>
                  <a:lnTo>
                    <a:pt x="3099919" y="1533140"/>
                  </a:lnTo>
                  <a:lnTo>
                    <a:pt x="3103306" y="1582922"/>
                  </a:lnTo>
                  <a:lnTo>
                    <a:pt x="3105352" y="1633095"/>
                  </a:lnTo>
                  <a:lnTo>
                    <a:pt x="3106039" y="1683639"/>
                  </a:lnTo>
                  <a:lnTo>
                    <a:pt x="3105352" y="1734175"/>
                  </a:lnTo>
                  <a:lnTo>
                    <a:pt x="3103306" y="1784342"/>
                  </a:lnTo>
                  <a:lnTo>
                    <a:pt x="3099919" y="1834118"/>
                  </a:lnTo>
                  <a:lnTo>
                    <a:pt x="3095210" y="1883483"/>
                  </a:lnTo>
                  <a:lnTo>
                    <a:pt x="3089200" y="1932416"/>
                  </a:lnTo>
                  <a:lnTo>
                    <a:pt x="3081906" y="1980896"/>
                  </a:lnTo>
                  <a:lnTo>
                    <a:pt x="3073348" y="2028901"/>
                  </a:lnTo>
                  <a:lnTo>
                    <a:pt x="3063546" y="2076412"/>
                  </a:lnTo>
                  <a:lnTo>
                    <a:pt x="3052518" y="2123407"/>
                  </a:lnTo>
                  <a:lnTo>
                    <a:pt x="3040284" y="2169866"/>
                  </a:lnTo>
                  <a:lnTo>
                    <a:pt x="3026864" y="2215767"/>
                  </a:lnTo>
                  <a:lnTo>
                    <a:pt x="3012275" y="2261091"/>
                  </a:lnTo>
                  <a:lnTo>
                    <a:pt x="2996538" y="2305815"/>
                  </a:lnTo>
                  <a:lnTo>
                    <a:pt x="2979672" y="2349919"/>
                  </a:lnTo>
                  <a:lnTo>
                    <a:pt x="2961696" y="2393383"/>
                  </a:lnTo>
                  <a:lnTo>
                    <a:pt x="2942629" y="2436185"/>
                  </a:lnTo>
                  <a:lnTo>
                    <a:pt x="2922490" y="2478305"/>
                  </a:lnTo>
                  <a:lnTo>
                    <a:pt x="2901299" y="2519722"/>
                  </a:lnTo>
                  <a:lnTo>
                    <a:pt x="2879075" y="2560414"/>
                  </a:lnTo>
                  <a:lnTo>
                    <a:pt x="2855837" y="2600362"/>
                  </a:lnTo>
                  <a:lnTo>
                    <a:pt x="2831604" y="2639544"/>
                  </a:lnTo>
                  <a:lnTo>
                    <a:pt x="2806396" y="2677939"/>
                  </a:lnTo>
                  <a:lnTo>
                    <a:pt x="2780231" y="2715527"/>
                  </a:lnTo>
                  <a:lnTo>
                    <a:pt x="2753130" y="2752286"/>
                  </a:lnTo>
                  <a:lnTo>
                    <a:pt x="2725110" y="2788196"/>
                  </a:lnTo>
                  <a:lnTo>
                    <a:pt x="2696192" y="2823237"/>
                  </a:lnTo>
                  <a:lnTo>
                    <a:pt x="2666395" y="2857386"/>
                  </a:lnTo>
                  <a:lnTo>
                    <a:pt x="2635737" y="2890624"/>
                  </a:lnTo>
                  <a:lnTo>
                    <a:pt x="2604239" y="2922930"/>
                  </a:lnTo>
                  <a:lnTo>
                    <a:pt x="2571918" y="2954282"/>
                  </a:lnTo>
                  <a:lnTo>
                    <a:pt x="2538796" y="2984660"/>
                  </a:lnTo>
                  <a:lnTo>
                    <a:pt x="2504890" y="3014043"/>
                  </a:lnTo>
                  <a:lnTo>
                    <a:pt x="2470220" y="3042409"/>
                  </a:lnTo>
                  <a:lnTo>
                    <a:pt x="2434805" y="3069740"/>
                  </a:lnTo>
                  <a:lnTo>
                    <a:pt x="2398664" y="3096012"/>
                  </a:lnTo>
                  <a:lnTo>
                    <a:pt x="2361818" y="3121207"/>
                  </a:lnTo>
                  <a:lnTo>
                    <a:pt x="2324284" y="3145302"/>
                  </a:lnTo>
                  <a:lnTo>
                    <a:pt x="2286082" y="3168277"/>
                  </a:lnTo>
                  <a:lnTo>
                    <a:pt x="2247231" y="3190111"/>
                  </a:lnTo>
                  <a:lnTo>
                    <a:pt x="2207751" y="3210783"/>
                  </a:lnTo>
                  <a:lnTo>
                    <a:pt x="2167661" y="3230272"/>
                  </a:lnTo>
                  <a:lnTo>
                    <a:pt x="2126979" y="3248558"/>
                  </a:lnTo>
                  <a:lnTo>
                    <a:pt x="2085726" y="3265620"/>
                  </a:lnTo>
                  <a:lnTo>
                    <a:pt x="2043920" y="3281437"/>
                  </a:lnTo>
                  <a:lnTo>
                    <a:pt x="2001581" y="3295987"/>
                  </a:lnTo>
                  <a:lnTo>
                    <a:pt x="1958728" y="3309251"/>
                  </a:lnTo>
                  <a:lnTo>
                    <a:pt x="1915379" y="3321207"/>
                  </a:lnTo>
                  <a:lnTo>
                    <a:pt x="1871555" y="3331835"/>
                  </a:lnTo>
                  <a:lnTo>
                    <a:pt x="1827275" y="3341113"/>
                  </a:lnTo>
                  <a:lnTo>
                    <a:pt x="1782557" y="3349021"/>
                  </a:lnTo>
                  <a:lnTo>
                    <a:pt x="1737422" y="3355538"/>
                  </a:lnTo>
                  <a:lnTo>
                    <a:pt x="1691887" y="3360643"/>
                  </a:lnTo>
                  <a:lnTo>
                    <a:pt x="1645973" y="3364315"/>
                  </a:lnTo>
                  <a:lnTo>
                    <a:pt x="1599698" y="3366533"/>
                  </a:lnTo>
                  <a:lnTo>
                    <a:pt x="1553083" y="3367278"/>
                  </a:lnTo>
                  <a:lnTo>
                    <a:pt x="1506460" y="3366533"/>
                  </a:lnTo>
                  <a:lnTo>
                    <a:pt x="1460179" y="3364315"/>
                  </a:lnTo>
                  <a:lnTo>
                    <a:pt x="1414258" y="3360643"/>
                  </a:lnTo>
                  <a:lnTo>
                    <a:pt x="1368718" y="3355538"/>
                  </a:lnTo>
                  <a:lnTo>
                    <a:pt x="1323576" y="3349021"/>
                  </a:lnTo>
                  <a:lnTo>
                    <a:pt x="1278853" y="3341113"/>
                  </a:lnTo>
                  <a:lnTo>
                    <a:pt x="1234567" y="3331835"/>
                  </a:lnTo>
                  <a:lnTo>
                    <a:pt x="1190738" y="3321207"/>
                  </a:lnTo>
                  <a:lnTo>
                    <a:pt x="1147385" y="3309251"/>
                  </a:lnTo>
                  <a:lnTo>
                    <a:pt x="1104527" y="3295987"/>
                  </a:lnTo>
                  <a:lnTo>
                    <a:pt x="1062183" y="3281437"/>
                  </a:lnTo>
                  <a:lnTo>
                    <a:pt x="1020373" y="3265620"/>
                  </a:lnTo>
                  <a:lnTo>
                    <a:pt x="979115" y="3248558"/>
                  </a:lnTo>
                  <a:lnTo>
                    <a:pt x="938430" y="3230272"/>
                  </a:lnTo>
                  <a:lnTo>
                    <a:pt x="898336" y="3210783"/>
                  </a:lnTo>
                  <a:lnTo>
                    <a:pt x="858852" y="3190111"/>
                  </a:lnTo>
                  <a:lnTo>
                    <a:pt x="819998" y="3168277"/>
                  </a:lnTo>
                  <a:lnTo>
                    <a:pt x="781793" y="3145302"/>
                  </a:lnTo>
                  <a:lnTo>
                    <a:pt x="744256" y="3121207"/>
                  </a:lnTo>
                  <a:lnTo>
                    <a:pt x="707406" y="3096012"/>
                  </a:lnTo>
                  <a:lnTo>
                    <a:pt x="671263" y="3069740"/>
                  </a:lnTo>
                  <a:lnTo>
                    <a:pt x="635846" y="3042409"/>
                  </a:lnTo>
                  <a:lnTo>
                    <a:pt x="601173" y="3014043"/>
                  </a:lnTo>
                  <a:lnTo>
                    <a:pt x="567265" y="2984660"/>
                  </a:lnTo>
                  <a:lnTo>
                    <a:pt x="534140" y="2954282"/>
                  </a:lnTo>
                  <a:lnTo>
                    <a:pt x="501818" y="2922930"/>
                  </a:lnTo>
                  <a:lnTo>
                    <a:pt x="470318" y="2890624"/>
                  </a:lnTo>
                  <a:lnTo>
                    <a:pt x="439658" y="2857386"/>
                  </a:lnTo>
                  <a:lnTo>
                    <a:pt x="409859" y="2823237"/>
                  </a:lnTo>
                  <a:lnTo>
                    <a:pt x="380940" y="2788196"/>
                  </a:lnTo>
                  <a:lnTo>
                    <a:pt x="352919" y="2752286"/>
                  </a:lnTo>
                  <a:lnTo>
                    <a:pt x="325816" y="2715527"/>
                  </a:lnTo>
                  <a:lnTo>
                    <a:pt x="299650" y="2677939"/>
                  </a:lnTo>
                  <a:lnTo>
                    <a:pt x="274441" y="2639544"/>
                  </a:lnTo>
                  <a:lnTo>
                    <a:pt x="250207" y="2600362"/>
                  </a:lnTo>
                  <a:lnTo>
                    <a:pt x="226968" y="2560414"/>
                  </a:lnTo>
                  <a:lnTo>
                    <a:pt x="204743" y="2519722"/>
                  </a:lnTo>
                  <a:lnTo>
                    <a:pt x="183552" y="2478305"/>
                  </a:lnTo>
                  <a:lnTo>
                    <a:pt x="163412" y="2436185"/>
                  </a:lnTo>
                  <a:lnTo>
                    <a:pt x="144345" y="2393383"/>
                  </a:lnTo>
                  <a:lnTo>
                    <a:pt x="126368" y="2349919"/>
                  </a:lnTo>
                  <a:lnTo>
                    <a:pt x="109501" y="2305815"/>
                  </a:lnTo>
                  <a:lnTo>
                    <a:pt x="93764" y="2261091"/>
                  </a:lnTo>
                  <a:lnTo>
                    <a:pt x="79175" y="2215767"/>
                  </a:lnTo>
                  <a:lnTo>
                    <a:pt x="65754" y="2169866"/>
                  </a:lnTo>
                  <a:lnTo>
                    <a:pt x="53520" y="2123407"/>
                  </a:lnTo>
                  <a:lnTo>
                    <a:pt x="42493" y="2076412"/>
                  </a:lnTo>
                  <a:lnTo>
                    <a:pt x="32690" y="2028901"/>
                  </a:lnTo>
                  <a:lnTo>
                    <a:pt x="24132" y="1980896"/>
                  </a:lnTo>
                  <a:lnTo>
                    <a:pt x="16839" y="1932416"/>
                  </a:lnTo>
                  <a:lnTo>
                    <a:pt x="10828" y="1883483"/>
                  </a:lnTo>
                  <a:lnTo>
                    <a:pt x="6119" y="1834118"/>
                  </a:lnTo>
                  <a:lnTo>
                    <a:pt x="2732" y="1784342"/>
                  </a:lnTo>
                  <a:lnTo>
                    <a:pt x="686" y="1734175"/>
                  </a:lnTo>
                  <a:lnTo>
                    <a:pt x="0" y="1683639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86985" y="1017905"/>
              <a:ext cx="3195955" cy="1684020"/>
            </a:xfrm>
            <a:custGeom>
              <a:avLst/>
              <a:gdLst/>
              <a:ahLst/>
              <a:cxnLst/>
              <a:rect l="l" t="t" r="r" b="b"/>
              <a:pathLst>
                <a:path w="3195954" h="1684020">
                  <a:moveTo>
                    <a:pt x="3195700" y="0"/>
                  </a:moveTo>
                  <a:lnTo>
                    <a:pt x="0" y="0"/>
                  </a:lnTo>
                  <a:lnTo>
                    <a:pt x="0" y="1683639"/>
                  </a:lnTo>
                  <a:lnTo>
                    <a:pt x="3195700" y="1683639"/>
                  </a:lnTo>
                  <a:lnTo>
                    <a:pt x="3195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462017" y="2455291"/>
            <a:ext cx="3554095" cy="3190240"/>
            <a:chOff x="4462017" y="2455291"/>
            <a:chExt cx="3554095" cy="3190240"/>
          </a:xfrm>
        </p:grpSpPr>
        <p:sp>
          <p:nvSpPr>
            <p:cNvPr id="6" name="object 6"/>
            <p:cNvSpPr/>
            <p:nvPr/>
          </p:nvSpPr>
          <p:spPr>
            <a:xfrm>
              <a:off x="4462018" y="2455290"/>
              <a:ext cx="3554095" cy="3065780"/>
            </a:xfrm>
            <a:custGeom>
              <a:avLst/>
              <a:gdLst/>
              <a:ahLst/>
              <a:cxnLst/>
              <a:rect l="l" t="t" r="r" b="b"/>
              <a:pathLst>
                <a:path w="3554095" h="3065779">
                  <a:moveTo>
                    <a:pt x="3554095" y="3027299"/>
                  </a:moveTo>
                  <a:lnTo>
                    <a:pt x="3477895" y="2989072"/>
                  </a:lnTo>
                  <a:lnTo>
                    <a:pt x="3477844" y="3017621"/>
                  </a:lnTo>
                  <a:lnTo>
                    <a:pt x="39154" y="3009049"/>
                  </a:lnTo>
                  <a:lnTo>
                    <a:pt x="47713" y="76161"/>
                  </a:lnTo>
                  <a:lnTo>
                    <a:pt x="76200" y="76200"/>
                  </a:lnTo>
                  <a:lnTo>
                    <a:pt x="69824" y="63373"/>
                  </a:lnTo>
                  <a:lnTo>
                    <a:pt x="38354" y="0"/>
                  </a:lnTo>
                  <a:lnTo>
                    <a:pt x="0" y="76073"/>
                  </a:lnTo>
                  <a:lnTo>
                    <a:pt x="28663" y="76123"/>
                  </a:lnTo>
                  <a:lnTo>
                    <a:pt x="20066" y="3023870"/>
                  </a:lnTo>
                  <a:lnTo>
                    <a:pt x="26035" y="3023920"/>
                  </a:lnTo>
                  <a:lnTo>
                    <a:pt x="26035" y="3028061"/>
                  </a:lnTo>
                  <a:lnTo>
                    <a:pt x="3477806" y="3036671"/>
                  </a:lnTo>
                  <a:lnTo>
                    <a:pt x="3477768" y="3065272"/>
                  </a:lnTo>
                  <a:lnTo>
                    <a:pt x="3535197" y="3036697"/>
                  </a:lnTo>
                  <a:lnTo>
                    <a:pt x="3554095" y="3027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49139" y="2729484"/>
              <a:ext cx="3134995" cy="2608580"/>
            </a:xfrm>
            <a:custGeom>
              <a:avLst/>
              <a:gdLst/>
              <a:ahLst/>
              <a:cxnLst/>
              <a:rect l="l" t="t" r="r" b="b"/>
              <a:pathLst>
                <a:path w="3134995" h="2608579">
                  <a:moveTo>
                    <a:pt x="0" y="0"/>
                  </a:moveTo>
                  <a:lnTo>
                    <a:pt x="6896" y="57255"/>
                  </a:lnTo>
                  <a:lnTo>
                    <a:pt x="13808" y="114212"/>
                  </a:lnTo>
                  <a:lnTo>
                    <a:pt x="20760" y="170566"/>
                  </a:lnTo>
                  <a:lnTo>
                    <a:pt x="27775" y="226011"/>
                  </a:lnTo>
                  <a:lnTo>
                    <a:pt x="34877" y="280241"/>
                  </a:lnTo>
                  <a:lnTo>
                    <a:pt x="42089" y="332951"/>
                  </a:lnTo>
                  <a:lnTo>
                    <a:pt x="49436" y="383835"/>
                  </a:lnTo>
                  <a:lnTo>
                    <a:pt x="56940" y="432588"/>
                  </a:lnTo>
                  <a:lnTo>
                    <a:pt x="64626" y="478904"/>
                  </a:lnTo>
                  <a:lnTo>
                    <a:pt x="72517" y="522477"/>
                  </a:lnTo>
                  <a:lnTo>
                    <a:pt x="83581" y="578892"/>
                  </a:lnTo>
                  <a:lnTo>
                    <a:pt x="94254" y="628951"/>
                  </a:lnTo>
                  <a:lnTo>
                    <a:pt x="105047" y="674307"/>
                  </a:lnTo>
                  <a:lnTo>
                    <a:pt x="116471" y="716612"/>
                  </a:lnTo>
                  <a:lnTo>
                    <a:pt x="129037" y="757520"/>
                  </a:lnTo>
                  <a:lnTo>
                    <a:pt x="143256" y="798684"/>
                  </a:lnTo>
                  <a:lnTo>
                    <a:pt x="159638" y="841755"/>
                  </a:lnTo>
                  <a:lnTo>
                    <a:pt x="177499" y="885678"/>
                  </a:lnTo>
                  <a:lnTo>
                    <a:pt x="196152" y="928630"/>
                  </a:lnTo>
                  <a:lnTo>
                    <a:pt x="216112" y="971118"/>
                  </a:lnTo>
                  <a:lnTo>
                    <a:pt x="237891" y="1013648"/>
                  </a:lnTo>
                  <a:lnTo>
                    <a:pt x="262003" y="1056726"/>
                  </a:lnTo>
                  <a:lnTo>
                    <a:pt x="288961" y="1100860"/>
                  </a:lnTo>
                  <a:lnTo>
                    <a:pt x="319277" y="1146555"/>
                  </a:lnTo>
                  <a:lnTo>
                    <a:pt x="345143" y="1183028"/>
                  </a:lnTo>
                  <a:lnTo>
                    <a:pt x="372745" y="1219925"/>
                  </a:lnTo>
                  <a:lnTo>
                    <a:pt x="402025" y="1257304"/>
                  </a:lnTo>
                  <a:lnTo>
                    <a:pt x="432923" y="1295223"/>
                  </a:lnTo>
                  <a:lnTo>
                    <a:pt x="465380" y="1333738"/>
                  </a:lnTo>
                  <a:lnTo>
                    <a:pt x="499335" y="1372907"/>
                  </a:lnTo>
                  <a:lnTo>
                    <a:pt x="534730" y="1412788"/>
                  </a:lnTo>
                  <a:lnTo>
                    <a:pt x="571505" y="1453439"/>
                  </a:lnTo>
                  <a:lnTo>
                    <a:pt x="609600" y="1494916"/>
                  </a:lnTo>
                  <a:lnTo>
                    <a:pt x="642446" y="1530459"/>
                  </a:lnTo>
                  <a:lnTo>
                    <a:pt x="677386" y="1568047"/>
                  </a:lnTo>
                  <a:lnTo>
                    <a:pt x="713996" y="1607090"/>
                  </a:lnTo>
                  <a:lnTo>
                    <a:pt x="751851" y="1647002"/>
                  </a:lnTo>
                  <a:lnTo>
                    <a:pt x="790525" y="1687195"/>
                  </a:lnTo>
                  <a:lnTo>
                    <a:pt x="829595" y="1727080"/>
                  </a:lnTo>
                  <a:lnTo>
                    <a:pt x="868634" y="1766070"/>
                  </a:lnTo>
                  <a:lnTo>
                    <a:pt x="907220" y="1803577"/>
                  </a:lnTo>
                  <a:lnTo>
                    <a:pt x="944925" y="1839012"/>
                  </a:lnTo>
                  <a:lnTo>
                    <a:pt x="981327" y="1871788"/>
                  </a:lnTo>
                  <a:lnTo>
                    <a:pt x="1016000" y="1901316"/>
                  </a:lnTo>
                  <a:lnTo>
                    <a:pt x="1060589" y="1936343"/>
                  </a:lnTo>
                  <a:lnTo>
                    <a:pt x="1102492" y="1966071"/>
                  </a:lnTo>
                  <a:lnTo>
                    <a:pt x="1142643" y="1991774"/>
                  </a:lnTo>
                  <a:lnTo>
                    <a:pt x="1181973" y="2014727"/>
                  </a:lnTo>
                  <a:lnTo>
                    <a:pt x="1221416" y="2036204"/>
                  </a:lnTo>
                  <a:lnTo>
                    <a:pt x="1261905" y="2057479"/>
                  </a:lnTo>
                  <a:lnTo>
                    <a:pt x="1304374" y="2079825"/>
                  </a:lnTo>
                  <a:lnTo>
                    <a:pt x="1349756" y="2104516"/>
                  </a:lnTo>
                  <a:lnTo>
                    <a:pt x="1392959" y="2128455"/>
                  </a:lnTo>
                  <a:lnTo>
                    <a:pt x="1438306" y="2153294"/>
                  </a:lnTo>
                  <a:lnTo>
                    <a:pt x="1485260" y="2178675"/>
                  </a:lnTo>
                  <a:lnTo>
                    <a:pt x="1533283" y="2204238"/>
                  </a:lnTo>
                  <a:lnTo>
                    <a:pt x="1581838" y="2229623"/>
                  </a:lnTo>
                  <a:lnTo>
                    <a:pt x="1630388" y="2254471"/>
                  </a:lnTo>
                  <a:lnTo>
                    <a:pt x="1678395" y="2278421"/>
                  </a:lnTo>
                  <a:lnTo>
                    <a:pt x="1725323" y="2301116"/>
                  </a:lnTo>
                  <a:lnTo>
                    <a:pt x="1770634" y="2322195"/>
                  </a:lnTo>
                  <a:lnTo>
                    <a:pt x="1819606" y="2344236"/>
                  </a:lnTo>
                  <a:lnTo>
                    <a:pt x="1867042" y="2364986"/>
                  </a:lnTo>
                  <a:lnTo>
                    <a:pt x="1913455" y="2384533"/>
                  </a:lnTo>
                  <a:lnTo>
                    <a:pt x="1959356" y="2402966"/>
                  </a:lnTo>
                  <a:lnTo>
                    <a:pt x="2005256" y="2420376"/>
                  </a:lnTo>
                  <a:lnTo>
                    <a:pt x="2051669" y="2436852"/>
                  </a:lnTo>
                  <a:lnTo>
                    <a:pt x="2099105" y="2452482"/>
                  </a:lnTo>
                  <a:lnTo>
                    <a:pt x="2148078" y="2467355"/>
                  </a:lnTo>
                  <a:lnTo>
                    <a:pt x="2198781" y="2481428"/>
                  </a:lnTo>
                  <a:lnTo>
                    <a:pt x="2250880" y="2494595"/>
                  </a:lnTo>
                  <a:lnTo>
                    <a:pt x="2303950" y="2506854"/>
                  </a:lnTo>
                  <a:lnTo>
                    <a:pt x="2357564" y="2518203"/>
                  </a:lnTo>
                  <a:lnTo>
                    <a:pt x="2411297" y="2528642"/>
                  </a:lnTo>
                  <a:lnTo>
                    <a:pt x="2464724" y="2538168"/>
                  </a:lnTo>
                  <a:lnTo>
                    <a:pt x="2517419" y="2546780"/>
                  </a:lnTo>
                  <a:lnTo>
                    <a:pt x="2568956" y="2554478"/>
                  </a:lnTo>
                  <a:lnTo>
                    <a:pt x="2687361" y="2567146"/>
                  </a:lnTo>
                  <a:lnTo>
                    <a:pt x="2815732" y="2576195"/>
                  </a:lnTo>
                  <a:lnTo>
                    <a:pt x="2918696" y="2581624"/>
                  </a:lnTo>
                  <a:lnTo>
                    <a:pt x="2960878" y="2583434"/>
                  </a:lnTo>
                  <a:lnTo>
                    <a:pt x="3020409" y="2592556"/>
                  </a:lnTo>
                  <a:lnTo>
                    <a:pt x="3063366" y="2603452"/>
                  </a:lnTo>
                  <a:lnTo>
                    <a:pt x="3098609" y="2607990"/>
                  </a:lnTo>
                  <a:lnTo>
                    <a:pt x="3134994" y="2598039"/>
                  </a:lnTo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47488" y="2549296"/>
              <a:ext cx="3246755" cy="3089910"/>
            </a:xfrm>
            <a:custGeom>
              <a:avLst/>
              <a:gdLst/>
              <a:ahLst/>
              <a:cxnLst/>
              <a:rect l="l" t="t" r="r" b="b"/>
              <a:pathLst>
                <a:path w="3246754" h="3089910">
                  <a:moveTo>
                    <a:pt x="1415161" y="2788259"/>
                  </a:moveTo>
                  <a:lnTo>
                    <a:pt x="1913229" y="2788259"/>
                  </a:lnTo>
                  <a:lnTo>
                    <a:pt x="1913229" y="1546479"/>
                  </a:lnTo>
                  <a:lnTo>
                    <a:pt x="1415161" y="1546479"/>
                  </a:lnTo>
                  <a:lnTo>
                    <a:pt x="1415161" y="2788259"/>
                  </a:lnTo>
                  <a:close/>
                </a:path>
                <a:path w="3246754" h="3089910">
                  <a:moveTo>
                    <a:pt x="2767711" y="3089503"/>
                  </a:moveTo>
                  <a:lnTo>
                    <a:pt x="3246551" y="3089503"/>
                  </a:lnTo>
                  <a:lnTo>
                    <a:pt x="3246551" y="80746"/>
                  </a:lnTo>
                  <a:lnTo>
                    <a:pt x="2767711" y="80746"/>
                  </a:lnTo>
                  <a:lnTo>
                    <a:pt x="2767711" y="3089503"/>
                  </a:lnTo>
                  <a:close/>
                </a:path>
                <a:path w="3246754" h="3089910">
                  <a:moveTo>
                    <a:pt x="0" y="1241780"/>
                  </a:moveTo>
                  <a:lnTo>
                    <a:pt x="449986" y="1241780"/>
                  </a:lnTo>
                  <a:lnTo>
                    <a:pt x="449986" y="0"/>
                  </a:lnTo>
                  <a:lnTo>
                    <a:pt x="0" y="0"/>
                  </a:lnTo>
                  <a:lnTo>
                    <a:pt x="0" y="124178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996173" y="2591511"/>
            <a:ext cx="70167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Erro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validação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47000" y="2831464"/>
            <a:ext cx="292100" cy="108585"/>
            <a:chOff x="7747000" y="2831464"/>
            <a:chExt cx="292100" cy="108585"/>
          </a:xfrm>
        </p:grpSpPr>
        <p:sp>
          <p:nvSpPr>
            <p:cNvPr id="11" name="object 11"/>
            <p:cNvSpPr/>
            <p:nvPr/>
          </p:nvSpPr>
          <p:spPr>
            <a:xfrm>
              <a:off x="7753350" y="2837814"/>
              <a:ext cx="279400" cy="95885"/>
            </a:xfrm>
            <a:custGeom>
              <a:avLst/>
              <a:gdLst/>
              <a:ahLst/>
              <a:cxnLst/>
              <a:rect l="l" t="t" r="r" b="b"/>
              <a:pathLst>
                <a:path w="279400" h="95885">
                  <a:moveTo>
                    <a:pt x="279400" y="0"/>
                  </a:moveTo>
                  <a:lnTo>
                    <a:pt x="206962" y="18650"/>
                  </a:lnTo>
                  <a:lnTo>
                    <a:pt x="160654" y="34464"/>
                  </a:lnTo>
                  <a:lnTo>
                    <a:pt x="109690" y="53274"/>
                  </a:lnTo>
                  <a:lnTo>
                    <a:pt x="55621" y="74080"/>
                  </a:lnTo>
                  <a:lnTo>
                    <a:pt x="0" y="95885"/>
                  </a:lnTo>
                  <a:lnTo>
                    <a:pt x="279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53350" y="2837814"/>
              <a:ext cx="279400" cy="95885"/>
            </a:xfrm>
            <a:custGeom>
              <a:avLst/>
              <a:gdLst/>
              <a:ahLst/>
              <a:cxnLst/>
              <a:rect l="l" t="t" r="r" b="b"/>
              <a:pathLst>
                <a:path w="279400" h="95885">
                  <a:moveTo>
                    <a:pt x="0" y="95885"/>
                  </a:moveTo>
                  <a:lnTo>
                    <a:pt x="55621" y="74080"/>
                  </a:lnTo>
                  <a:lnTo>
                    <a:pt x="109690" y="53274"/>
                  </a:lnTo>
                  <a:lnTo>
                    <a:pt x="160654" y="34464"/>
                  </a:lnTo>
                  <a:lnTo>
                    <a:pt x="206962" y="18650"/>
                  </a:lnTo>
                  <a:lnTo>
                    <a:pt x="247062" y="6829"/>
                  </a:lnTo>
                  <a:lnTo>
                    <a:pt x="279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883397" y="4477003"/>
            <a:ext cx="92646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Erro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treinamento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487539" y="3751834"/>
            <a:ext cx="749935" cy="1496695"/>
            <a:chOff x="7487539" y="3751834"/>
            <a:chExt cx="749935" cy="1496695"/>
          </a:xfrm>
        </p:grpSpPr>
        <p:sp>
          <p:nvSpPr>
            <p:cNvPr id="15" name="object 15"/>
            <p:cNvSpPr/>
            <p:nvPr/>
          </p:nvSpPr>
          <p:spPr>
            <a:xfrm>
              <a:off x="7493889" y="4667377"/>
              <a:ext cx="410209" cy="574675"/>
            </a:xfrm>
            <a:custGeom>
              <a:avLst/>
              <a:gdLst/>
              <a:ahLst/>
              <a:cxnLst/>
              <a:rect l="l" t="t" r="r" b="b"/>
              <a:pathLst>
                <a:path w="410209" h="574675">
                  <a:moveTo>
                    <a:pt x="0" y="574294"/>
                  </a:moveTo>
                  <a:lnTo>
                    <a:pt x="40995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84719" y="3751834"/>
              <a:ext cx="452755" cy="393700"/>
            </a:xfrm>
            <a:custGeom>
              <a:avLst/>
              <a:gdLst/>
              <a:ahLst/>
              <a:cxnLst/>
              <a:rect l="l" t="t" r="r" b="b"/>
              <a:pathLst>
                <a:path w="452754" h="393700">
                  <a:moveTo>
                    <a:pt x="378451" y="45243"/>
                  </a:moveTo>
                  <a:lnTo>
                    <a:pt x="0" y="371729"/>
                  </a:lnTo>
                  <a:lnTo>
                    <a:pt x="18669" y="393446"/>
                  </a:lnTo>
                  <a:lnTo>
                    <a:pt x="397161" y="66924"/>
                  </a:lnTo>
                  <a:lnTo>
                    <a:pt x="378451" y="45243"/>
                  </a:lnTo>
                  <a:close/>
                </a:path>
                <a:path w="452754" h="393700">
                  <a:moveTo>
                    <a:pt x="437802" y="35814"/>
                  </a:moveTo>
                  <a:lnTo>
                    <a:pt x="389381" y="35814"/>
                  </a:lnTo>
                  <a:lnTo>
                    <a:pt x="408050" y="57531"/>
                  </a:lnTo>
                  <a:lnTo>
                    <a:pt x="397161" y="66924"/>
                  </a:lnTo>
                  <a:lnTo>
                    <a:pt x="415798" y="88519"/>
                  </a:lnTo>
                  <a:lnTo>
                    <a:pt x="437802" y="35814"/>
                  </a:lnTo>
                  <a:close/>
                </a:path>
                <a:path w="452754" h="393700">
                  <a:moveTo>
                    <a:pt x="389381" y="35814"/>
                  </a:moveTo>
                  <a:lnTo>
                    <a:pt x="378451" y="45243"/>
                  </a:lnTo>
                  <a:lnTo>
                    <a:pt x="397161" y="66924"/>
                  </a:lnTo>
                  <a:lnTo>
                    <a:pt x="408050" y="57531"/>
                  </a:lnTo>
                  <a:lnTo>
                    <a:pt x="389381" y="35814"/>
                  </a:lnTo>
                  <a:close/>
                </a:path>
                <a:path w="452754" h="393700">
                  <a:moveTo>
                    <a:pt x="452754" y="0"/>
                  </a:moveTo>
                  <a:lnTo>
                    <a:pt x="359790" y="23622"/>
                  </a:lnTo>
                  <a:lnTo>
                    <a:pt x="378451" y="45243"/>
                  </a:lnTo>
                  <a:lnTo>
                    <a:pt x="389381" y="35814"/>
                  </a:lnTo>
                  <a:lnTo>
                    <a:pt x="437802" y="35814"/>
                  </a:lnTo>
                  <a:lnTo>
                    <a:pt x="452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003540" y="5520029"/>
            <a:ext cx="13093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904" marR="5080" indent="-24384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Complexibilidade </a:t>
            </a:r>
            <a:r>
              <a:rPr sz="1400" b="1" dirty="0">
                <a:latin typeface="Calibri"/>
                <a:cs typeface="Calibri"/>
              </a:rPr>
              <a:t>do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modelo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22056" y="3512058"/>
            <a:ext cx="902969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95885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Calibri"/>
                <a:cs typeface="Calibri"/>
              </a:rPr>
              <a:t>Variância Sobreajuste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79547" y="5000371"/>
            <a:ext cx="114935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Região</a:t>
            </a:r>
            <a:r>
              <a:rPr sz="1400" b="1" spc="-7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ótima, </a:t>
            </a:r>
            <a:r>
              <a:rPr sz="1400" b="1" dirty="0">
                <a:latin typeface="Calibri"/>
                <a:cs typeface="Calibri"/>
              </a:rPr>
              <a:t>ambos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os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erros </a:t>
            </a:r>
            <a:r>
              <a:rPr sz="1400" b="1" dirty="0">
                <a:latin typeface="Calibri"/>
                <a:cs typeface="Calibri"/>
              </a:rPr>
              <a:t>são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baixos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141470" y="4702936"/>
            <a:ext cx="1825625" cy="556260"/>
          </a:xfrm>
          <a:custGeom>
            <a:avLst/>
            <a:gdLst/>
            <a:ahLst/>
            <a:cxnLst/>
            <a:rect l="l" t="t" r="r" b="b"/>
            <a:pathLst>
              <a:path w="1825625" h="556260">
                <a:moveTo>
                  <a:pt x="70484" y="473710"/>
                </a:moveTo>
                <a:lnTo>
                  <a:pt x="0" y="538607"/>
                </a:lnTo>
                <a:lnTo>
                  <a:pt x="94233" y="556132"/>
                </a:lnTo>
                <a:lnTo>
                  <a:pt x="87464" y="532638"/>
                </a:lnTo>
                <a:lnTo>
                  <a:pt x="72516" y="532638"/>
                </a:lnTo>
                <a:lnTo>
                  <a:pt x="64642" y="505206"/>
                </a:lnTo>
                <a:lnTo>
                  <a:pt x="78416" y="501235"/>
                </a:lnTo>
                <a:lnTo>
                  <a:pt x="70484" y="473710"/>
                </a:lnTo>
                <a:close/>
              </a:path>
              <a:path w="1825625" h="556260">
                <a:moveTo>
                  <a:pt x="78416" y="501235"/>
                </a:moveTo>
                <a:lnTo>
                  <a:pt x="64642" y="505206"/>
                </a:lnTo>
                <a:lnTo>
                  <a:pt x="72516" y="532638"/>
                </a:lnTo>
                <a:lnTo>
                  <a:pt x="86317" y="528659"/>
                </a:lnTo>
                <a:lnTo>
                  <a:pt x="78416" y="501235"/>
                </a:lnTo>
                <a:close/>
              </a:path>
              <a:path w="1825625" h="556260">
                <a:moveTo>
                  <a:pt x="86317" y="528659"/>
                </a:moveTo>
                <a:lnTo>
                  <a:pt x="72516" y="532638"/>
                </a:lnTo>
                <a:lnTo>
                  <a:pt x="87464" y="532638"/>
                </a:lnTo>
                <a:lnTo>
                  <a:pt x="86317" y="528659"/>
                </a:lnTo>
                <a:close/>
              </a:path>
              <a:path w="1825625" h="556260">
                <a:moveTo>
                  <a:pt x="1817242" y="0"/>
                </a:moveTo>
                <a:lnTo>
                  <a:pt x="78416" y="501235"/>
                </a:lnTo>
                <a:lnTo>
                  <a:pt x="86317" y="528659"/>
                </a:lnTo>
                <a:lnTo>
                  <a:pt x="1825116" y="27431"/>
                </a:lnTo>
                <a:lnTo>
                  <a:pt x="18172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299330" y="2157222"/>
            <a:ext cx="3346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latin typeface="Calibri"/>
                <a:cs typeface="Calibri"/>
              </a:rPr>
              <a:t>Erro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00754" y="3831082"/>
            <a:ext cx="7524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0185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Calibri"/>
                <a:cs typeface="Calibri"/>
              </a:rPr>
              <a:t>Bias </a:t>
            </a:r>
            <a:r>
              <a:rPr sz="1400" b="1" spc="-10" dirty="0">
                <a:latin typeface="Calibri"/>
                <a:cs typeface="Calibri"/>
              </a:rPr>
              <a:t>Subajuste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875785" y="3159886"/>
            <a:ext cx="681990" cy="649605"/>
          </a:xfrm>
          <a:custGeom>
            <a:avLst/>
            <a:gdLst/>
            <a:ahLst/>
            <a:cxnLst/>
            <a:rect l="l" t="t" r="r" b="b"/>
            <a:pathLst>
              <a:path w="681989" h="649604">
                <a:moveTo>
                  <a:pt x="32512" y="559307"/>
                </a:moveTo>
                <a:lnTo>
                  <a:pt x="0" y="649477"/>
                </a:lnTo>
                <a:lnTo>
                  <a:pt x="91693" y="621411"/>
                </a:lnTo>
                <a:lnTo>
                  <a:pt x="81406" y="610615"/>
                </a:lnTo>
                <a:lnTo>
                  <a:pt x="61594" y="610615"/>
                </a:lnTo>
                <a:lnTo>
                  <a:pt x="41910" y="589914"/>
                </a:lnTo>
                <a:lnTo>
                  <a:pt x="52277" y="580048"/>
                </a:lnTo>
                <a:lnTo>
                  <a:pt x="32512" y="559307"/>
                </a:lnTo>
                <a:close/>
              </a:path>
              <a:path w="681989" h="649604">
                <a:moveTo>
                  <a:pt x="52277" y="580048"/>
                </a:moveTo>
                <a:lnTo>
                  <a:pt x="41910" y="589914"/>
                </a:lnTo>
                <a:lnTo>
                  <a:pt x="61594" y="610615"/>
                </a:lnTo>
                <a:lnTo>
                  <a:pt x="71984" y="600728"/>
                </a:lnTo>
                <a:lnTo>
                  <a:pt x="52277" y="580048"/>
                </a:lnTo>
                <a:close/>
              </a:path>
              <a:path w="681989" h="649604">
                <a:moveTo>
                  <a:pt x="71984" y="600728"/>
                </a:moveTo>
                <a:lnTo>
                  <a:pt x="61594" y="610615"/>
                </a:lnTo>
                <a:lnTo>
                  <a:pt x="81406" y="610615"/>
                </a:lnTo>
                <a:lnTo>
                  <a:pt x="71984" y="600728"/>
                </a:lnTo>
                <a:close/>
              </a:path>
              <a:path w="681989" h="649604">
                <a:moveTo>
                  <a:pt x="661797" y="0"/>
                </a:moveTo>
                <a:lnTo>
                  <a:pt x="52277" y="580048"/>
                </a:lnTo>
                <a:lnTo>
                  <a:pt x="71984" y="600728"/>
                </a:lnTo>
                <a:lnTo>
                  <a:pt x="681481" y="20700"/>
                </a:lnTo>
                <a:lnTo>
                  <a:pt x="6617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8589</Words>
  <Application>Microsoft Office PowerPoint</Application>
  <PresentationFormat>Widescreen</PresentationFormat>
  <Paragraphs>749</Paragraphs>
  <Slides>98</Slides>
  <Notes>1</Notes>
  <HiddenSlides>1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98</vt:i4>
      </vt:variant>
    </vt:vector>
  </HeadingPairs>
  <TitlesOfParts>
    <vt:vector size="106" baseType="lpstr">
      <vt:lpstr>Aptos</vt:lpstr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TP555 - Inteligência Artificial e Machine Learning: Regressão com Modelos Não-</vt:lpstr>
      <vt:lpstr>Até agora, usamos funções hipótese com formato de hiperplanos, e.g., retas e planos, para aproximar mapeamentos lineares entre os atributos e o valor esperado, mas e se os mapeamentos forem não lineares?</vt:lpstr>
      <vt:lpstr>O que podemos fazer quando hiperplanos não se ajustam bem aos dados?</vt:lpstr>
      <vt:lpstr>Mapeamentos não lineares</vt:lpstr>
      <vt:lpstr>Extensão para modelos não-lineares com relação aos atributos</vt:lpstr>
      <vt:lpstr>Linearização</vt:lpstr>
      <vt:lpstr>Exemplo: Linearização</vt:lpstr>
      <vt:lpstr>Regressão polinomial</vt:lpstr>
      <vt:lpstr>Regressão polinomial</vt:lpstr>
      <vt:lpstr>Regressão polinomial</vt:lpstr>
      <vt:lpstr>Regressão polinomial</vt:lpstr>
      <vt:lpstr>Porém, o desafio agora é encontrar o grau do polinômio que melhor aproxime os dados.</vt:lpstr>
      <vt:lpstr>Exemplo de regressão usando polinômio</vt:lpstr>
      <vt:lpstr>Exemplo de regressão usando polinômio</vt:lpstr>
      <vt:lpstr>Exemplo de regressão usando polinômio</vt:lpstr>
      <vt:lpstr>Regressão polinomial: Qual ordem usar?</vt:lpstr>
      <vt:lpstr>Regressão polinomial: Qual ordem usar?</vt:lpstr>
      <vt:lpstr>Regressão polinomial: Qual ordem usar?</vt:lpstr>
      <vt:lpstr>Resumo sobre subajuste e sobreajuste</vt:lpstr>
      <vt:lpstr>Resumo sobre subajuste e sobreajuste</vt:lpstr>
      <vt:lpstr>Observações quanto à regressão polinomial</vt:lpstr>
      <vt:lpstr>Observações quanto à regressão polinomial</vt:lpstr>
      <vt:lpstr>Observações quanto à regressão polinomial</vt:lpstr>
      <vt:lpstr>Erro de treinamento versus erro de validação</vt:lpstr>
      <vt:lpstr>Erro de treinamento versus erro de validação</vt:lpstr>
      <vt:lpstr>Flexibilidade e generalização de um modelo</vt:lpstr>
      <vt:lpstr>Para casa</vt:lpstr>
      <vt:lpstr>Erros envolvidos no processo de aproximação</vt:lpstr>
      <vt:lpstr>Erros envolvidos no processo de aproximação</vt:lpstr>
      <vt:lpstr>Erros envolvidos no processo de aproximação</vt:lpstr>
      <vt:lpstr>Erros envolvidos no processo de aproximação</vt:lpstr>
      <vt:lpstr>Erros envolvidos no processo de aproximação</vt:lpstr>
      <vt:lpstr>Como escolhemos a melhor hipótese?</vt:lpstr>
      <vt:lpstr>Validação cruzada</vt:lpstr>
      <vt:lpstr>Validação cruzada</vt:lpstr>
      <vt:lpstr>Validação cruzada</vt:lpstr>
      <vt:lpstr>Holdout</vt:lpstr>
      <vt:lpstr>Holdout</vt:lpstr>
      <vt:lpstr>Holdout</vt:lpstr>
      <vt:lpstr>Holdout</vt:lpstr>
      <vt:lpstr>𝑘-fold</vt:lpstr>
      <vt:lpstr>𝑘-fold</vt:lpstr>
      <vt:lpstr>𝑘-fold</vt:lpstr>
      <vt:lpstr>Leave-p-out</vt:lpstr>
      <vt:lpstr>Leave-p-out</vt:lpstr>
      <vt:lpstr>Qual estratégia utilizar?</vt:lpstr>
      <vt:lpstr>Validação cruzada para encontrar o grau do polinômio aproximador</vt:lpstr>
      <vt:lpstr>Usando holdout para encontrar o grau do polinômio aproximador</vt:lpstr>
      <vt:lpstr>Usando 𝑘-fold para encontrar o grau do polinômio aproximador</vt:lpstr>
      <vt:lpstr>Usando 𝑘-fold para encontrar o grau do polinômio aproximador</vt:lpstr>
      <vt:lpstr>Usando leave-𝑝-out para encontrar o grau do polinômio aproximador</vt:lpstr>
      <vt:lpstr>Qual grau escolher quando vários são possíveis?</vt:lpstr>
      <vt:lpstr>Qual grau escolher quando vários são possíveis?</vt:lpstr>
      <vt:lpstr>Para casa</vt:lpstr>
      <vt:lpstr>Regularização: penalizando a complexidade dos modelos</vt:lpstr>
      <vt:lpstr>Regularização: penalizando a complexidade dos modelos</vt:lpstr>
      <vt:lpstr>Regularização: penalizando a complexidade dos modelos</vt:lpstr>
      <vt:lpstr>Regularização: penalizando a complexidade dos modelos</vt:lpstr>
      <vt:lpstr>Regularização: penalizando a complexidade dos modelos</vt:lpstr>
      <vt:lpstr>Regularização: penalizando a complexidade dos modelos</vt:lpstr>
      <vt:lpstr>Regressão Ridge</vt:lpstr>
      <vt:lpstr>Regressão Ridge</vt:lpstr>
      <vt:lpstr>Regressão Ridge</vt:lpstr>
      <vt:lpstr>Regressão Ridge</vt:lpstr>
      <vt:lpstr>Regressão Ridge com gradiente descendente</vt:lpstr>
      <vt:lpstr>Regressão Ridge: Exemplo</vt:lpstr>
      <vt:lpstr>Regressão Ridge: Exemplo</vt:lpstr>
      <vt:lpstr>Regressão LASSO</vt:lpstr>
      <vt:lpstr>Regressão LASSO</vt:lpstr>
      <vt:lpstr>Regressão LASSO: Exemplo</vt:lpstr>
      <vt:lpstr>Regressão LASSO: Exemplo</vt:lpstr>
      <vt:lpstr>Regressão LASSO com gradiente descendente</vt:lpstr>
      <vt:lpstr>Apresentação do PowerPoint</vt:lpstr>
      <vt:lpstr>Vantagem da regressão LASSO sobre Ridge</vt:lpstr>
      <vt:lpstr>Vantagem da regressão LASSO sobre Ridge</vt:lpstr>
      <vt:lpstr>Por que a regressão LASSO produz modelos esparsos?</vt:lpstr>
      <vt:lpstr>Limitações</vt:lpstr>
      <vt:lpstr>Elastic-Net</vt:lpstr>
      <vt:lpstr>Quando utilizar cada tipo de regressão?</vt:lpstr>
      <vt:lpstr>Early-stopping: Parada antecipada</vt:lpstr>
      <vt:lpstr>Early-stopping: critério de parada</vt:lpstr>
      <vt:lpstr>Early-stopping: exemplo</vt:lpstr>
      <vt:lpstr>Obrigado!</vt:lpstr>
      <vt:lpstr>Apresentação do PowerPoint</vt:lpstr>
      <vt:lpstr>FIGURAS</vt:lpstr>
      <vt:lpstr>Apresentação do PowerPoint</vt:lpstr>
      <vt:lpstr>Apresentação do PowerPoint</vt:lpstr>
      <vt:lpstr>Apresentação do PowerPoint</vt:lpstr>
      <vt:lpstr>Apresentação do PowerPoint</vt:lpstr>
      <vt:lpstr>𝐽𝑒(𝑎1)</vt:lpstr>
      <vt:lpstr>𝐽𝑒(𝑎1)</vt:lpstr>
      <vt:lpstr>Apresentação do PowerPoint</vt:lpstr>
      <vt:lpstr>Apresentação do PowerPoint</vt:lpstr>
      <vt:lpstr>Apresentação do PowerPoint</vt:lpstr>
      <vt:lpstr>Total de dados</vt:lpstr>
      <vt:lpstr>𝐸 𝑦</vt:lpstr>
      <vt:lpstr>𝐸 𝑦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Felipe Augusto Pereira de Figueiredo (UGent-imec)</dc:creator>
  <cp:lastModifiedBy>Luiz Augusto Melo Pereira</cp:lastModifiedBy>
  <cp:revision>5</cp:revision>
  <dcterms:created xsi:type="dcterms:W3CDTF">2025-01-24T00:45:26Z</dcterms:created>
  <dcterms:modified xsi:type="dcterms:W3CDTF">2025-01-26T13:33:08Z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2025-01-24T00:00:00Z</vt:filetime>
  </property>
  <property fmtid="{D5CDD505-2E9C-101B-9397-08002B2CF9AE}" pid="5" name="Producer">
    <vt:lpwstr>Microsoft® PowerPoint® LTSC</vt:lpwstr>
  </property>
</Properties>
</file>