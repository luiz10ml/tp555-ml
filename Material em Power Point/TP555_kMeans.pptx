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930DBF1F-62DC-4A1E-AEAC-3D3A4514B9A4}"/>
    <pc:docChg chg="undo custSel modSld">
      <pc:chgData name="Luiz Augusto Melo Pereira" userId="4bd5ce759a66f368" providerId="LiveId" clId="{930DBF1F-62DC-4A1E-AEAC-3D3A4514B9A4}" dt="2025-01-27T18:43:40.243" v="213" actId="1076"/>
      <pc:docMkLst>
        <pc:docMk/>
      </pc:docMkLst>
      <pc:sldChg chg="modSp mod">
        <pc:chgData name="Luiz Augusto Melo Pereira" userId="4bd5ce759a66f368" providerId="LiveId" clId="{930DBF1F-62DC-4A1E-AEAC-3D3A4514B9A4}" dt="2025-01-27T18:36:35.041" v="1" actId="1076"/>
        <pc:sldMkLst>
          <pc:docMk/>
          <pc:sldMk cId="0" sldId="257"/>
        </pc:sldMkLst>
        <pc:spChg chg="mod">
          <ac:chgData name="Luiz Augusto Melo Pereira" userId="4bd5ce759a66f368" providerId="LiveId" clId="{930DBF1F-62DC-4A1E-AEAC-3D3A4514B9A4}" dt="2025-01-27T18:36:35.041" v="1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36:51.341" v="3" actId="1076"/>
        <pc:sldMkLst>
          <pc:docMk/>
          <pc:sldMk cId="0" sldId="258"/>
        </pc:sldMkLst>
        <pc:spChg chg="mod">
          <ac:chgData name="Luiz Augusto Melo Pereira" userId="4bd5ce759a66f368" providerId="LiveId" clId="{930DBF1F-62DC-4A1E-AEAC-3D3A4514B9A4}" dt="2025-01-27T18:36:51.341" v="3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36:53.949" v="5" actId="1076"/>
        <pc:sldMkLst>
          <pc:docMk/>
          <pc:sldMk cId="0" sldId="259"/>
        </pc:sldMkLst>
        <pc:spChg chg="mod">
          <ac:chgData name="Luiz Augusto Melo Pereira" userId="4bd5ce759a66f368" providerId="LiveId" clId="{930DBF1F-62DC-4A1E-AEAC-3D3A4514B9A4}" dt="2025-01-27T18:36:53.949" v="5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36:58.872" v="9" actId="1076"/>
        <pc:sldMkLst>
          <pc:docMk/>
          <pc:sldMk cId="0" sldId="260"/>
        </pc:sldMkLst>
        <pc:spChg chg="mod">
          <ac:chgData name="Luiz Augusto Melo Pereira" userId="4bd5ce759a66f368" providerId="LiveId" clId="{930DBF1F-62DC-4A1E-AEAC-3D3A4514B9A4}" dt="2025-01-27T18:36:56.981" v="7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36:58.872" v="9" actId="1076"/>
          <ac:spMkLst>
            <pc:docMk/>
            <pc:sldMk cId="0" sldId="260"/>
            <ac:spMk id="10" creationId="{00000000-0000-0000-0000-000000000000}"/>
          </ac:spMkLst>
        </pc:spChg>
      </pc:sldChg>
      <pc:sldChg chg="addSp delSp modSp mod">
        <pc:chgData name="Luiz Augusto Melo Pereira" userId="4bd5ce759a66f368" providerId="LiveId" clId="{930DBF1F-62DC-4A1E-AEAC-3D3A4514B9A4}" dt="2025-01-27T18:39:42.927" v="115" actId="1076"/>
        <pc:sldMkLst>
          <pc:docMk/>
          <pc:sldMk cId="0" sldId="261"/>
        </pc:sldMkLst>
        <pc:spChg chg="mod">
          <ac:chgData name="Luiz Augusto Melo Pereira" userId="4bd5ce759a66f368" providerId="LiveId" clId="{930DBF1F-62DC-4A1E-AEAC-3D3A4514B9A4}" dt="2025-01-27T18:39:42.927" v="115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39:11.106" v="92" actId="1035"/>
          <ac:spMkLst>
            <pc:docMk/>
            <pc:sldMk cId="0" sldId="261"/>
            <ac:spMk id="4" creationId="{00000000-0000-0000-0000-000000000000}"/>
          </ac:spMkLst>
        </pc:spChg>
        <pc:spChg chg="add del mod">
          <ac:chgData name="Luiz Augusto Melo Pereira" userId="4bd5ce759a66f368" providerId="LiveId" clId="{930DBF1F-62DC-4A1E-AEAC-3D3A4514B9A4}" dt="2025-01-27T18:38:06.112" v="55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Luiz Augusto Melo Pereira" userId="4bd5ce759a66f368" providerId="LiveId" clId="{930DBF1F-62DC-4A1E-AEAC-3D3A4514B9A4}" dt="2025-01-27T18:37:45.196" v="44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Luiz Augusto Melo Pereira" userId="4bd5ce759a66f368" providerId="LiveId" clId="{930DBF1F-62DC-4A1E-AEAC-3D3A4514B9A4}" dt="2025-01-27T18:37:46.244" v="45" actId="478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Luiz Augusto Melo Pereira" userId="4bd5ce759a66f368" providerId="LiveId" clId="{930DBF1F-62DC-4A1E-AEAC-3D3A4514B9A4}" dt="2025-01-27T18:38:12.430" v="67" actId="478"/>
          <ac:spMkLst>
            <pc:docMk/>
            <pc:sldMk cId="0" sldId="261"/>
            <ac:spMk id="8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39:37.575" v="113" actId="1035"/>
          <ac:spMkLst>
            <pc:docMk/>
            <pc:sldMk cId="0" sldId="261"/>
            <ac:spMk id="9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39:07.696" v="89" actId="1036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39:51.179" v="117" actId="1076"/>
        <pc:sldMkLst>
          <pc:docMk/>
          <pc:sldMk cId="0" sldId="262"/>
        </pc:sldMkLst>
        <pc:spChg chg="mod">
          <ac:chgData name="Luiz Augusto Melo Pereira" userId="4bd5ce759a66f368" providerId="LiveId" clId="{930DBF1F-62DC-4A1E-AEAC-3D3A4514B9A4}" dt="2025-01-27T18:39:51.179" v="117" actId="1076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Luiz Augusto Melo Pereira" userId="4bd5ce759a66f368" providerId="LiveId" clId="{930DBF1F-62DC-4A1E-AEAC-3D3A4514B9A4}" dt="2025-01-27T18:42:12.189" v="181" actId="20577"/>
        <pc:sldMkLst>
          <pc:docMk/>
          <pc:sldMk cId="0" sldId="263"/>
        </pc:sldMkLst>
        <pc:spChg chg="mod">
          <ac:chgData name="Luiz Augusto Melo Pereira" userId="4bd5ce759a66f368" providerId="LiveId" clId="{930DBF1F-62DC-4A1E-AEAC-3D3A4514B9A4}" dt="2025-01-27T18:41:07.547" v="155" actId="1035"/>
          <ac:spMkLst>
            <pc:docMk/>
            <pc:sldMk cId="0" sldId="263"/>
            <ac:spMk id="6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0:57.737" v="146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0:58.518" v="147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1:00.391" v="149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0:59.680" v="148" actId="478"/>
          <ac:spMkLst>
            <pc:docMk/>
            <pc:sldMk cId="0" sldId="263"/>
            <ac:spMk id="12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42:12.189" v="181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41:09.238" v="159" actId="1035"/>
          <ac:spMkLst>
            <pc:docMk/>
            <pc:sldMk cId="0" sldId="263"/>
            <ac:spMk id="14" creationId="{C1B2591C-3A8F-6D23-AC65-EEB7B9BA6D79}"/>
          </ac:spMkLst>
        </pc:spChg>
      </pc:sldChg>
      <pc:sldChg chg="delSp modSp mod">
        <pc:chgData name="Luiz Augusto Melo Pereira" userId="4bd5ce759a66f368" providerId="LiveId" clId="{930DBF1F-62DC-4A1E-AEAC-3D3A4514B9A4}" dt="2025-01-27T18:43:12.681" v="204" actId="20577"/>
        <pc:sldMkLst>
          <pc:docMk/>
          <pc:sldMk cId="0" sldId="264"/>
        </pc:sldMkLst>
        <pc:spChg chg="del">
          <ac:chgData name="Luiz Augusto Melo Pereira" userId="4bd5ce759a66f368" providerId="LiveId" clId="{930DBF1F-62DC-4A1E-AEAC-3D3A4514B9A4}" dt="2025-01-27T18:42:56.101" v="199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2:56.886" v="200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Luiz Augusto Melo Pereira" userId="4bd5ce759a66f368" providerId="LiveId" clId="{930DBF1F-62DC-4A1E-AEAC-3D3A4514B9A4}" dt="2025-01-27T18:42:55.458" v="198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43:12.681" v="204" actId="20577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43:37.246" v="212" actId="1076"/>
        <pc:sldMkLst>
          <pc:docMk/>
          <pc:sldMk cId="0" sldId="265"/>
        </pc:sldMkLst>
        <pc:spChg chg="mod">
          <ac:chgData name="Luiz Augusto Melo Pereira" userId="4bd5ce759a66f368" providerId="LiveId" clId="{930DBF1F-62DC-4A1E-AEAC-3D3A4514B9A4}" dt="2025-01-27T18:43:34.420" v="210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43:37.246" v="212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Luiz Augusto Melo Pereira" userId="4bd5ce759a66f368" providerId="LiveId" clId="{930DBF1F-62DC-4A1E-AEAC-3D3A4514B9A4}" dt="2025-01-27T18:43:32.442" v="208" actId="1076"/>
          <ac:spMkLst>
            <pc:docMk/>
            <pc:sldMk cId="0" sldId="265"/>
            <ac:spMk id="5" creationId="{00000000-0000-0000-0000-000000000000}"/>
          </ac:spMkLst>
        </pc:spChg>
      </pc:sldChg>
      <pc:sldChg chg="modSp mod">
        <pc:chgData name="Luiz Augusto Melo Pereira" userId="4bd5ce759a66f368" providerId="LiveId" clId="{930DBF1F-62DC-4A1E-AEAC-3D3A4514B9A4}" dt="2025-01-27T18:43:40.243" v="213" actId="1076"/>
        <pc:sldMkLst>
          <pc:docMk/>
          <pc:sldMk cId="0" sldId="266"/>
        </pc:sldMkLst>
        <pc:spChg chg="mod">
          <ac:chgData name="Luiz Augusto Melo Pereira" userId="4bd5ce759a66f368" providerId="LiveId" clId="{930DBF1F-62DC-4A1E-AEAC-3D3A4514B9A4}" dt="2025-01-27T18:43:40.243" v="213" actId="1076"/>
          <ac:spMkLst>
            <pc:docMk/>
            <pc:sldMk cId="0" sldId="26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7764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5017"/>
            <a:ext cx="10949940" cy="4800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luiz10ml/tp555-ml/blob/main/exemplos/clustering/kmeans_example.ipynb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6717" y="1021207"/>
            <a:ext cx="8340725" cy="24079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TP555</a:t>
            </a:r>
            <a:r>
              <a:rPr sz="5400" spc="-65" dirty="0"/>
              <a:t> </a:t>
            </a:r>
            <a:r>
              <a:rPr sz="5400" dirty="0"/>
              <a:t>-</a:t>
            </a:r>
            <a:r>
              <a:rPr sz="5400" spc="-45" dirty="0"/>
              <a:t> </a:t>
            </a:r>
            <a:r>
              <a:rPr sz="5400" dirty="0"/>
              <a:t>Inteligência</a:t>
            </a:r>
            <a:r>
              <a:rPr sz="5400" spc="-90" dirty="0"/>
              <a:t> </a:t>
            </a:r>
            <a:r>
              <a:rPr sz="5400" dirty="0"/>
              <a:t>Artificial</a:t>
            </a:r>
            <a:r>
              <a:rPr sz="5400" spc="-50" dirty="0"/>
              <a:t> e </a:t>
            </a:r>
            <a:r>
              <a:rPr sz="5400" dirty="0"/>
              <a:t>Machine</a:t>
            </a:r>
            <a:r>
              <a:rPr sz="5400" spc="-35" dirty="0"/>
              <a:t> </a:t>
            </a:r>
            <a:r>
              <a:rPr sz="5400" spc="-10" dirty="0"/>
              <a:t>Learning:</a:t>
            </a:r>
            <a:endParaRPr sz="5400"/>
          </a:p>
          <a:p>
            <a:pPr marL="5080" algn="ctr">
              <a:lnSpc>
                <a:spcPts val="6360"/>
              </a:lnSpc>
            </a:pPr>
            <a:r>
              <a:rPr sz="6000" i="1" spc="-45" dirty="0">
                <a:latin typeface="Calibri Light"/>
                <a:cs typeface="Calibri Light"/>
              </a:rPr>
              <a:t>k-</a:t>
            </a:r>
            <a:r>
              <a:rPr sz="6000" i="1" spc="-10" dirty="0">
                <a:latin typeface="Calibri Light"/>
                <a:cs typeface="Calibri Light"/>
              </a:rPr>
              <a:t>Médias</a:t>
            </a:r>
            <a:endParaRPr sz="60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396996"/>
            <a:ext cx="2261616" cy="2237231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1F792E8F-05C3-A47F-AEAE-400C3B6BDA0B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CE2D31E-2105-CEE2-36D0-618E3A923AAF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Recapitulando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1364615" indent="-228600">
              <a:lnSpc>
                <a:spcPts val="3030"/>
              </a:lnSpc>
              <a:spcBef>
                <a:spcPts val="47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Até</a:t>
            </a:r>
            <a:r>
              <a:rPr spc="-95" dirty="0"/>
              <a:t> </a:t>
            </a:r>
            <a:r>
              <a:rPr dirty="0"/>
              <a:t>o</a:t>
            </a:r>
            <a:r>
              <a:rPr spc="-85" dirty="0"/>
              <a:t> </a:t>
            </a:r>
            <a:r>
              <a:rPr spc="-10" dirty="0"/>
              <a:t>momento,</a:t>
            </a:r>
            <a:r>
              <a:rPr spc="-80" dirty="0"/>
              <a:t> </a:t>
            </a:r>
            <a:r>
              <a:rPr dirty="0"/>
              <a:t>todos</a:t>
            </a:r>
            <a:r>
              <a:rPr spc="-65" dirty="0"/>
              <a:t> </a:t>
            </a:r>
            <a:r>
              <a:rPr dirty="0"/>
              <a:t>os</a:t>
            </a:r>
            <a:r>
              <a:rPr spc="-95" dirty="0"/>
              <a:t> </a:t>
            </a:r>
            <a:r>
              <a:rPr dirty="0"/>
              <a:t>algoritmos</a:t>
            </a:r>
            <a:r>
              <a:rPr spc="-90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spc="-10" dirty="0"/>
              <a:t>aprendemos</a:t>
            </a:r>
            <a:r>
              <a:rPr spc="-60" dirty="0"/>
              <a:t> </a:t>
            </a:r>
            <a:r>
              <a:rPr dirty="0"/>
              <a:t>seguiam</a:t>
            </a:r>
            <a:r>
              <a:rPr spc="-90" dirty="0"/>
              <a:t> </a:t>
            </a:r>
            <a:r>
              <a:rPr spc="-50" dirty="0"/>
              <a:t>o </a:t>
            </a:r>
            <a:r>
              <a:rPr spc="-10" dirty="0"/>
              <a:t>paradigma</a:t>
            </a:r>
            <a:r>
              <a:rPr spc="-75" dirty="0"/>
              <a:t> </a:t>
            </a:r>
            <a:r>
              <a:rPr dirty="0"/>
              <a:t>do</a:t>
            </a:r>
            <a:r>
              <a:rPr spc="-85" dirty="0"/>
              <a:t> </a:t>
            </a:r>
            <a:r>
              <a:rPr spc="-10" dirty="0"/>
              <a:t>aprendizado</a:t>
            </a:r>
            <a:r>
              <a:rPr spc="-65" dirty="0"/>
              <a:t> </a:t>
            </a:r>
            <a:r>
              <a:rPr spc="-10" dirty="0"/>
              <a:t>supervisionado.</a:t>
            </a: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Hoje,</a:t>
            </a:r>
            <a:r>
              <a:rPr spc="-80" dirty="0"/>
              <a:t> </a:t>
            </a:r>
            <a:r>
              <a:rPr spc="-10" dirty="0"/>
              <a:t>falaremos</a:t>
            </a:r>
            <a:r>
              <a:rPr spc="-85" dirty="0"/>
              <a:t> </a:t>
            </a:r>
            <a:r>
              <a:rPr dirty="0"/>
              <a:t>sobre</a:t>
            </a:r>
            <a:r>
              <a:rPr spc="-75" dirty="0"/>
              <a:t> </a:t>
            </a:r>
            <a:r>
              <a:rPr b="1" i="1" spc="-10" dirty="0">
                <a:latin typeface="Calibri"/>
                <a:cs typeface="Calibri"/>
              </a:rPr>
              <a:t>clustering</a:t>
            </a:r>
            <a:r>
              <a:rPr spc="-10" dirty="0"/>
              <a:t>,</a:t>
            </a:r>
            <a:r>
              <a:rPr spc="-80" dirty="0"/>
              <a:t> </a:t>
            </a:r>
            <a:r>
              <a:rPr dirty="0"/>
              <a:t>que</a:t>
            </a:r>
            <a:r>
              <a:rPr spc="-70" dirty="0"/>
              <a:t> </a:t>
            </a:r>
            <a:r>
              <a:rPr dirty="0"/>
              <a:t>são</a:t>
            </a:r>
            <a:r>
              <a:rPr spc="-85" dirty="0"/>
              <a:t> </a:t>
            </a:r>
            <a:r>
              <a:rPr dirty="0"/>
              <a:t>algoritmos</a:t>
            </a:r>
            <a:r>
              <a:rPr spc="-80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b="1" i="1" spc="-10" dirty="0">
                <a:latin typeface="Calibri"/>
                <a:cs typeface="Calibri"/>
              </a:rPr>
              <a:t>aprendizado</a:t>
            </a:r>
            <a:r>
              <a:rPr b="1" i="1" spc="-80" dirty="0">
                <a:latin typeface="Calibri"/>
                <a:cs typeface="Calibri"/>
              </a:rPr>
              <a:t> </a:t>
            </a:r>
            <a:r>
              <a:rPr b="1" i="1" spc="-20" dirty="0">
                <a:latin typeface="Calibri"/>
                <a:cs typeface="Calibri"/>
              </a:rPr>
              <a:t>não- </a:t>
            </a:r>
            <a:r>
              <a:rPr b="1" i="1" spc="-10" dirty="0">
                <a:latin typeface="Calibri"/>
                <a:cs typeface="Calibri"/>
              </a:rPr>
              <a:t>supervisionado</a:t>
            </a:r>
            <a:r>
              <a:rPr b="1" i="1" spc="-65" dirty="0">
                <a:latin typeface="Calibri"/>
                <a:cs typeface="Calibri"/>
              </a:rPr>
              <a:t> </a:t>
            </a:r>
            <a:r>
              <a:rPr dirty="0"/>
              <a:t>que</a:t>
            </a:r>
            <a:r>
              <a:rPr spc="-75" dirty="0"/>
              <a:t> </a:t>
            </a:r>
            <a:r>
              <a:rPr dirty="0"/>
              <a:t>visam</a:t>
            </a:r>
            <a:r>
              <a:rPr spc="-65" dirty="0"/>
              <a:t> </a:t>
            </a:r>
            <a:r>
              <a:rPr dirty="0"/>
              <a:t>criar</a:t>
            </a:r>
            <a:r>
              <a:rPr spc="-75" dirty="0"/>
              <a:t> </a:t>
            </a:r>
            <a:r>
              <a:rPr spc="-10" dirty="0"/>
              <a:t>agrupamentos</a:t>
            </a:r>
            <a:r>
              <a:rPr spc="-6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dados</a:t>
            </a:r>
            <a:r>
              <a:rPr spc="-60" dirty="0"/>
              <a:t> </a:t>
            </a:r>
            <a:r>
              <a:rPr dirty="0"/>
              <a:t>(chamados</a:t>
            </a:r>
            <a:r>
              <a:rPr spc="-55" dirty="0"/>
              <a:t> </a:t>
            </a:r>
            <a:r>
              <a:rPr spc="-25" dirty="0"/>
              <a:t>de </a:t>
            </a:r>
            <a:r>
              <a:rPr b="1" i="1" spc="-10" dirty="0">
                <a:latin typeface="Calibri"/>
                <a:cs typeface="Calibri"/>
              </a:rPr>
              <a:t>clusters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dirty="0"/>
              <a:t>ou</a:t>
            </a:r>
            <a:r>
              <a:rPr spc="-75" dirty="0"/>
              <a:t> </a:t>
            </a:r>
            <a:r>
              <a:rPr b="1" i="1" dirty="0">
                <a:latin typeface="Calibri"/>
                <a:cs typeface="Calibri"/>
              </a:rPr>
              <a:t>grupos</a:t>
            </a:r>
            <a:r>
              <a:rPr dirty="0"/>
              <a:t>)</a:t>
            </a:r>
            <a:r>
              <a:rPr spc="-80" dirty="0"/>
              <a:t> </a:t>
            </a:r>
            <a:r>
              <a:rPr dirty="0"/>
              <a:t>segundo</a:t>
            </a:r>
            <a:r>
              <a:rPr spc="-45" dirty="0"/>
              <a:t> </a:t>
            </a:r>
            <a:r>
              <a:rPr dirty="0"/>
              <a:t>seu</a:t>
            </a:r>
            <a:r>
              <a:rPr spc="-75" dirty="0"/>
              <a:t> </a:t>
            </a:r>
            <a:r>
              <a:rPr dirty="0"/>
              <a:t>grau</a:t>
            </a:r>
            <a:r>
              <a:rPr spc="-7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semelhança.</a:t>
            </a:r>
          </a:p>
          <a:p>
            <a:pPr marL="241300" indent="-228600">
              <a:lnSpc>
                <a:spcPts val="319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Em</a:t>
            </a:r>
            <a:r>
              <a:rPr spc="-85" dirty="0"/>
              <a:t> </a:t>
            </a:r>
            <a:r>
              <a:rPr dirty="0"/>
              <a:t>seguida,</a:t>
            </a:r>
            <a:r>
              <a:rPr spc="-65" dirty="0"/>
              <a:t> </a:t>
            </a:r>
            <a:r>
              <a:rPr spc="-10" dirty="0"/>
              <a:t>aprenderemos</a:t>
            </a:r>
            <a:r>
              <a:rPr spc="-65" dirty="0"/>
              <a:t> </a:t>
            </a:r>
            <a:r>
              <a:rPr dirty="0"/>
              <a:t>sobre</a:t>
            </a:r>
            <a:r>
              <a:rPr spc="-65" dirty="0"/>
              <a:t> </a:t>
            </a:r>
            <a:r>
              <a:rPr dirty="0"/>
              <a:t>o</a:t>
            </a:r>
            <a:r>
              <a:rPr spc="-85" dirty="0"/>
              <a:t> </a:t>
            </a:r>
            <a:r>
              <a:rPr dirty="0"/>
              <a:t>algoritmo</a:t>
            </a:r>
            <a:r>
              <a:rPr spc="-90" dirty="0"/>
              <a:t> </a:t>
            </a:r>
            <a:r>
              <a:rPr dirty="0"/>
              <a:t>chamado</a:t>
            </a:r>
            <a:r>
              <a:rPr spc="-70" dirty="0"/>
              <a:t> </a:t>
            </a:r>
            <a:r>
              <a:rPr dirty="0"/>
              <a:t>de</a:t>
            </a:r>
            <a:r>
              <a:rPr spc="-110" dirty="0"/>
              <a:t> </a:t>
            </a:r>
            <a:r>
              <a:rPr b="1" i="1" spc="-20" dirty="0">
                <a:latin typeface="Calibri"/>
                <a:cs typeface="Calibri"/>
              </a:rPr>
              <a:t>k-</a:t>
            </a:r>
            <a:r>
              <a:rPr b="1" i="1" dirty="0">
                <a:latin typeface="Calibri"/>
                <a:cs typeface="Calibri"/>
              </a:rPr>
              <a:t>Médias</a:t>
            </a:r>
            <a:r>
              <a:rPr b="1" i="1" spc="-70" dirty="0">
                <a:latin typeface="Calibri"/>
                <a:cs typeface="Calibri"/>
              </a:rPr>
              <a:t> </a:t>
            </a:r>
            <a:r>
              <a:rPr spc="-25" dirty="0"/>
              <a:t>(ou</a:t>
            </a:r>
          </a:p>
          <a:p>
            <a:pPr marL="241300">
              <a:lnSpc>
                <a:spcPts val="3190"/>
              </a:lnSpc>
            </a:pPr>
            <a:r>
              <a:rPr b="1" i="1" spc="-20" dirty="0">
                <a:latin typeface="Calibri"/>
                <a:cs typeface="Calibri"/>
              </a:rPr>
              <a:t>k-</a:t>
            </a:r>
            <a:r>
              <a:rPr b="1" i="1" dirty="0">
                <a:latin typeface="Calibri"/>
                <a:cs typeface="Calibri"/>
              </a:rPr>
              <a:t>Means</a:t>
            </a:r>
            <a:r>
              <a:rPr dirty="0"/>
              <a:t>,</a:t>
            </a:r>
            <a:r>
              <a:rPr spc="-50" dirty="0"/>
              <a:t> </a:t>
            </a:r>
            <a:r>
              <a:rPr dirty="0"/>
              <a:t>em</a:t>
            </a:r>
            <a:r>
              <a:rPr spc="-70" dirty="0"/>
              <a:t> </a:t>
            </a:r>
            <a:r>
              <a:rPr dirty="0"/>
              <a:t>inglês)</a:t>
            </a:r>
            <a:r>
              <a:rPr spc="-55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dirty="0"/>
              <a:t>é</a:t>
            </a:r>
            <a:r>
              <a:rPr spc="-65" dirty="0"/>
              <a:t> </a:t>
            </a:r>
            <a:r>
              <a:rPr dirty="0"/>
              <a:t>um</a:t>
            </a:r>
            <a:r>
              <a:rPr spc="-50" dirty="0"/>
              <a:t> </a:t>
            </a:r>
            <a:r>
              <a:rPr dirty="0"/>
              <a:t>dos</a:t>
            </a:r>
            <a:r>
              <a:rPr spc="-50" dirty="0"/>
              <a:t> </a:t>
            </a:r>
            <a:r>
              <a:rPr dirty="0"/>
              <a:t>algoritmos</a:t>
            </a:r>
            <a:r>
              <a:rPr spc="-60" dirty="0"/>
              <a:t> </a:t>
            </a:r>
            <a:r>
              <a:rPr dirty="0"/>
              <a:t>mais</a:t>
            </a:r>
            <a:r>
              <a:rPr spc="-70" dirty="0"/>
              <a:t> </a:t>
            </a:r>
            <a:r>
              <a:rPr dirty="0"/>
              <a:t>simples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b="1" i="1" spc="-10" dirty="0">
                <a:latin typeface="Calibri"/>
                <a:cs typeface="Calibri"/>
              </a:rPr>
              <a:t>clustering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3605276"/>
            <a:ext cx="10643870" cy="3011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fazer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tivermos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sobre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</a:t>
            </a:r>
            <a:r>
              <a:rPr sz="2800" dirty="0">
                <a:latin typeface="Calibri"/>
                <a:cs typeface="Calibri"/>
              </a:rPr>
              <a:t>rótulos)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pertencem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entrada?</a:t>
            </a:r>
            <a:endParaRPr sz="2800" dirty="0">
              <a:latin typeface="Calibri"/>
              <a:cs typeface="Calibri"/>
            </a:endParaRPr>
          </a:p>
          <a:p>
            <a:pPr marL="241300" marR="29845" indent="-228600">
              <a:lnSpc>
                <a:spcPts val="303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Veremos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informações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úteis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obtidas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exemplos </a:t>
            </a:r>
            <a:r>
              <a:rPr sz="2800" dirty="0">
                <a:latin typeface="Calibri"/>
                <a:cs typeface="Calibri"/>
              </a:rPr>
              <a:t>cujas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conhecidas.</a:t>
            </a:r>
            <a:endParaRPr sz="2800" dirty="0">
              <a:latin typeface="Calibri"/>
              <a:cs typeface="Calibri"/>
            </a:endParaRPr>
          </a:p>
          <a:p>
            <a:pPr marL="241300" marR="22860" indent="-228600">
              <a:lnSpc>
                <a:spcPct val="90000"/>
              </a:lnSpc>
              <a:spcBef>
                <a:spcPts val="9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Enquanto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supervisionado</a:t>
            </a:r>
            <a:r>
              <a:rPr sz="2800" b="1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concentra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indução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classificadores</a:t>
            </a:r>
            <a:r>
              <a:rPr sz="2800" spc="-10" dirty="0">
                <a:latin typeface="Calibri"/>
                <a:cs typeface="Calibri"/>
              </a:rPr>
              <a:t>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spc="-10" dirty="0">
                <a:latin typeface="Calibri"/>
                <a:cs typeface="Calibri"/>
              </a:rPr>
              <a:t>supervisionado</a:t>
            </a:r>
            <a:r>
              <a:rPr sz="2800" b="1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interessado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b="1" i="1" dirty="0">
                <a:latin typeface="Calibri"/>
                <a:cs typeface="Calibri"/>
              </a:rPr>
              <a:t>descobrir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propriedades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úteis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disponíveis.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5055" y="1347216"/>
            <a:ext cx="2487168" cy="202996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04078" y="1937131"/>
            <a:ext cx="7493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clustering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9137" y="1347216"/>
            <a:ext cx="2507807" cy="202996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725667" y="2217420"/>
            <a:ext cx="707390" cy="594360"/>
            <a:chOff x="5725667" y="2217420"/>
            <a:chExt cx="707390" cy="594360"/>
          </a:xfrm>
        </p:grpSpPr>
        <p:sp>
          <p:nvSpPr>
            <p:cNvPr id="8" name="object 8"/>
            <p:cNvSpPr/>
            <p:nvPr/>
          </p:nvSpPr>
          <p:spPr>
            <a:xfrm>
              <a:off x="5731763" y="2223516"/>
              <a:ext cx="695325" cy="582295"/>
            </a:xfrm>
            <a:custGeom>
              <a:avLst/>
              <a:gdLst/>
              <a:ahLst/>
              <a:cxnLst/>
              <a:rect l="l" t="t" r="r" b="b"/>
              <a:pathLst>
                <a:path w="695325" h="582294">
                  <a:moveTo>
                    <a:pt x="403860" y="0"/>
                  </a:moveTo>
                  <a:lnTo>
                    <a:pt x="403860" y="145542"/>
                  </a:lnTo>
                  <a:lnTo>
                    <a:pt x="0" y="145542"/>
                  </a:lnTo>
                  <a:lnTo>
                    <a:pt x="0" y="436625"/>
                  </a:lnTo>
                  <a:lnTo>
                    <a:pt x="403860" y="436625"/>
                  </a:lnTo>
                  <a:lnTo>
                    <a:pt x="403860" y="582168"/>
                  </a:lnTo>
                  <a:lnTo>
                    <a:pt x="694944" y="291084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31763" y="2223516"/>
              <a:ext cx="695325" cy="582295"/>
            </a:xfrm>
            <a:custGeom>
              <a:avLst/>
              <a:gdLst/>
              <a:ahLst/>
              <a:cxnLst/>
              <a:rect l="l" t="t" r="r" b="b"/>
              <a:pathLst>
                <a:path w="695325" h="582294">
                  <a:moveTo>
                    <a:pt x="0" y="145542"/>
                  </a:moveTo>
                  <a:lnTo>
                    <a:pt x="403860" y="145542"/>
                  </a:lnTo>
                  <a:lnTo>
                    <a:pt x="403860" y="0"/>
                  </a:lnTo>
                  <a:lnTo>
                    <a:pt x="694944" y="291084"/>
                  </a:lnTo>
                  <a:lnTo>
                    <a:pt x="403860" y="582168"/>
                  </a:lnTo>
                  <a:lnTo>
                    <a:pt x="403860" y="436625"/>
                  </a:lnTo>
                  <a:lnTo>
                    <a:pt x="0" y="436625"/>
                  </a:lnTo>
                  <a:lnTo>
                    <a:pt x="0" y="145542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Motivação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4039361"/>
            <a:ext cx="9952355" cy="2688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0" dirty="0">
                <a:latin typeface="Calibri"/>
                <a:cs typeface="Calibri"/>
              </a:rPr>
              <a:t>Talvez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paradigma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procura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grupos</a:t>
            </a:r>
            <a:r>
              <a:rPr sz="2800" b="1" i="1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(chamados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clusters</a:t>
            </a:r>
            <a:r>
              <a:rPr sz="2800" spc="-10" dirty="0">
                <a:latin typeface="Calibri"/>
                <a:cs typeface="Calibri"/>
              </a:rPr>
              <a:t>)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spc="-20" dirty="0">
                <a:latin typeface="Calibri"/>
                <a:cs typeface="Calibri"/>
              </a:rPr>
              <a:t>exemplos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semelhantes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ts val="3329"/>
              </a:lnSpc>
              <a:spcBef>
                <a:spcPts val="3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centroides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desses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clusters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como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ts val="281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centros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Bayesianas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radial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(RBF),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estimativas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desconhecidos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ausentes),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0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spc="-10" dirty="0">
                <a:latin typeface="Calibri"/>
                <a:cs typeface="Calibri"/>
              </a:rPr>
              <a:t>ferramentas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multidimensionais,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845"/>
              </a:lnSpc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auxiliares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criação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classificadores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simples.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6240" y="1278570"/>
            <a:ext cx="3764432" cy="2810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Identificação</a:t>
            </a:r>
            <a:r>
              <a:rPr spc="-60" dirty="0"/>
              <a:t> </a:t>
            </a:r>
            <a:r>
              <a:rPr dirty="0"/>
              <a:t>de</a:t>
            </a:r>
            <a:r>
              <a:rPr spc="-60" dirty="0"/>
              <a:t> </a:t>
            </a:r>
            <a:r>
              <a:rPr spc="-10" dirty="0"/>
              <a:t>clusters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210165" cy="2626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fundamental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aprendizado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não-</a:t>
            </a:r>
            <a:r>
              <a:rPr sz="2800" b="1" i="1" spc="-10" dirty="0">
                <a:latin typeface="Calibri"/>
                <a:cs typeface="Calibri"/>
              </a:rPr>
              <a:t>supervisionado</a:t>
            </a:r>
            <a:r>
              <a:rPr sz="2800" b="1" i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spc="-10" dirty="0">
                <a:latin typeface="Calibri"/>
                <a:cs typeface="Calibri"/>
              </a:rPr>
              <a:t>identificação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clusters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45720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Nessa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tarefa,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entrada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vetores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(i.e., </a:t>
            </a:r>
            <a:r>
              <a:rPr sz="2800" spc="-20" dirty="0">
                <a:latin typeface="Calibri"/>
                <a:cs typeface="Calibri"/>
              </a:rPr>
              <a:t>exemplos),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mas</a:t>
            </a:r>
            <a:r>
              <a:rPr sz="2800" b="1" i="1" spc="-5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sem</a:t>
            </a:r>
            <a:r>
              <a:rPr sz="2800" b="1" i="1" spc="-5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rótulos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saída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clusters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pertencem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dos </a:t>
            </a:r>
            <a:r>
              <a:rPr sz="2800" spc="-10" dirty="0">
                <a:latin typeface="Calibri"/>
                <a:cs typeface="Calibri"/>
              </a:rPr>
              <a:t>exemplos.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8991" y="4579620"/>
            <a:ext cx="2487168" cy="20284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667125" y="5169534"/>
            <a:ext cx="749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clustering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3064" y="4579620"/>
            <a:ext cx="2506292" cy="20284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688079" y="5449823"/>
            <a:ext cx="707390" cy="593090"/>
            <a:chOff x="3688079" y="5449823"/>
            <a:chExt cx="707390" cy="593090"/>
          </a:xfrm>
        </p:grpSpPr>
        <p:sp>
          <p:nvSpPr>
            <p:cNvPr id="8" name="object 8"/>
            <p:cNvSpPr/>
            <p:nvPr/>
          </p:nvSpPr>
          <p:spPr>
            <a:xfrm>
              <a:off x="3694175" y="5455919"/>
              <a:ext cx="695325" cy="581025"/>
            </a:xfrm>
            <a:custGeom>
              <a:avLst/>
              <a:gdLst/>
              <a:ahLst/>
              <a:cxnLst/>
              <a:rect l="l" t="t" r="r" b="b"/>
              <a:pathLst>
                <a:path w="695325" h="581025">
                  <a:moveTo>
                    <a:pt x="404622" y="0"/>
                  </a:moveTo>
                  <a:lnTo>
                    <a:pt x="404622" y="145160"/>
                  </a:lnTo>
                  <a:lnTo>
                    <a:pt x="0" y="145160"/>
                  </a:lnTo>
                  <a:lnTo>
                    <a:pt x="0" y="435482"/>
                  </a:lnTo>
                  <a:lnTo>
                    <a:pt x="404622" y="435482"/>
                  </a:lnTo>
                  <a:lnTo>
                    <a:pt x="404622" y="580643"/>
                  </a:lnTo>
                  <a:lnTo>
                    <a:pt x="694944" y="290321"/>
                  </a:lnTo>
                  <a:lnTo>
                    <a:pt x="404622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94175" y="5455919"/>
              <a:ext cx="695325" cy="581025"/>
            </a:xfrm>
            <a:custGeom>
              <a:avLst/>
              <a:gdLst/>
              <a:ahLst/>
              <a:cxnLst/>
              <a:rect l="l" t="t" r="r" b="b"/>
              <a:pathLst>
                <a:path w="695325" h="581025">
                  <a:moveTo>
                    <a:pt x="0" y="145160"/>
                  </a:moveTo>
                  <a:lnTo>
                    <a:pt x="404622" y="145160"/>
                  </a:lnTo>
                  <a:lnTo>
                    <a:pt x="404622" y="0"/>
                  </a:lnTo>
                  <a:lnTo>
                    <a:pt x="694944" y="290321"/>
                  </a:lnTo>
                  <a:lnTo>
                    <a:pt x="404622" y="580643"/>
                  </a:lnTo>
                  <a:lnTo>
                    <a:pt x="404622" y="435482"/>
                  </a:lnTo>
                  <a:lnTo>
                    <a:pt x="0" y="435482"/>
                  </a:lnTo>
                  <a:lnTo>
                    <a:pt x="0" y="145160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307960" y="4873244"/>
            <a:ext cx="45593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marR="66675" indent="1905"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OBS</a:t>
            </a:r>
            <a:r>
              <a:rPr sz="1800" dirty="0">
                <a:latin typeface="Calibri"/>
                <a:cs typeface="Calibri"/>
              </a:rPr>
              <a:t>.: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identificação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visual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clusters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um </a:t>
            </a:r>
            <a:r>
              <a:rPr sz="1800" dirty="0">
                <a:latin typeface="Calibri"/>
                <a:cs typeface="Calibri"/>
              </a:rPr>
              <a:t>espaço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bidimensional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fácil,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quatro</a:t>
            </a:r>
            <a:r>
              <a:rPr sz="1800" spc="-25" dirty="0">
                <a:latin typeface="Calibri"/>
                <a:cs typeface="Calibri"/>
              </a:rPr>
              <a:t> ou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dimensões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já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não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é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possível.</a:t>
            </a:r>
            <a:endParaRPr sz="1800" dirty="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Nesses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casos,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apenas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algoritmos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identificação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clusters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conseguem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agrupar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dados.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80" dirty="0"/>
              <a:t> </a:t>
            </a:r>
            <a:r>
              <a:rPr spc="-10" dirty="0"/>
              <a:t>representar</a:t>
            </a:r>
            <a:r>
              <a:rPr spc="-100" dirty="0"/>
              <a:t> </a:t>
            </a:r>
            <a:r>
              <a:rPr dirty="0"/>
              <a:t>os</a:t>
            </a:r>
            <a:r>
              <a:rPr spc="-45" dirty="0"/>
              <a:t> </a:t>
            </a:r>
            <a:r>
              <a:rPr spc="-10" dirty="0"/>
              <a:t>clusters?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0895" y="1456922"/>
            <a:ext cx="10946130" cy="35947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1334770" indent="-228600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realizar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identificação,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decidir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clusters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serão representados.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Existem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opções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localização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clusters,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tamanhos,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abordagem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centroides</a:t>
            </a:r>
            <a:r>
              <a:rPr sz="2600" b="1" i="1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(i.e.,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centros)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clusters.</a:t>
            </a:r>
            <a:endParaRPr sz="2600" dirty="0">
              <a:latin typeface="Calibri"/>
              <a:cs typeface="Calibri"/>
            </a:endParaRPr>
          </a:p>
          <a:p>
            <a:pPr marL="241300" marR="817880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numéricos,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centroide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obtido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através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médias </a:t>
            </a:r>
            <a:r>
              <a:rPr sz="2600" b="1" i="1" dirty="0">
                <a:latin typeface="Calibri"/>
                <a:cs typeface="Calibri"/>
              </a:rPr>
              <a:t>individuais</a:t>
            </a:r>
            <a:r>
              <a:rPr sz="2600" b="1" i="1" spc="-1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dos</a:t>
            </a:r>
            <a:r>
              <a:rPr sz="2600" b="1" i="1" spc="-1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atributos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87375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suponhamos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seguintes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vetores</a:t>
            </a:r>
            <a:r>
              <a:rPr sz="2600" b="1" i="1" spc="-5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atributos</a:t>
            </a:r>
            <a:r>
              <a:rPr sz="2600" b="1" i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espaço </a:t>
            </a:r>
            <a:r>
              <a:rPr sz="2600" dirty="0">
                <a:latin typeface="Calibri"/>
                <a:cs typeface="Calibri"/>
              </a:rPr>
              <a:t>bidimensional: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(2,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5),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(1,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4),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(3,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6).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Nesse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centroide</a:t>
            </a:r>
            <a:r>
              <a:rPr sz="2600" b="1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representado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vetor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(2,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5),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pois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4"/>
              <p:cNvSpPr txBox="1"/>
              <p:nvPr/>
            </p:nvSpPr>
            <p:spPr>
              <a:xfrm>
                <a:off x="1374394" y="5181600"/>
                <a:ext cx="7464806" cy="490968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41300" indent="-228600">
                  <a:lnSpc>
                    <a:spcPct val="100000"/>
                  </a:lnSpc>
                  <a:spcBef>
                    <a:spcPts val="95"/>
                  </a:spcBef>
                  <a:buFont typeface="Wingdings"/>
                  <a:buChar char=""/>
                  <a:tabLst>
                    <a:tab pos="2413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média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40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>
                    <a:latin typeface="Calibri"/>
                    <a:cs typeface="Calibri"/>
                  </a:rPr>
                  <a:t>primeiro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spc="-10" dirty="0" err="1">
                    <a:latin typeface="Calibri"/>
                    <a:cs typeface="Calibri"/>
                  </a:rPr>
                  <a:t>atributo</a:t>
                </a:r>
                <a:r>
                  <a:rPr lang="pt-BR" sz="2200" spc="-45" dirty="0">
                    <a:latin typeface="Calibri"/>
                    <a:cs typeface="Calibri"/>
                  </a:rPr>
                  <a:t> </a:t>
                </a:r>
                <a:r>
                  <a:rPr lang="pt-BR" sz="2200" spc="-50" dirty="0">
                    <a:latin typeface="Calibri"/>
                    <a:cs typeface="Calibri"/>
                  </a:rPr>
                  <a:t>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200" b="0" i="1" spc="-5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2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2+1+3</m:t>
                        </m:r>
                      </m:num>
                      <m:den>
                        <m:r>
                          <a:rPr lang="pt-BR" sz="2200" b="0" i="1" spc="-50" smtClean="0"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den>
                    </m:f>
                    <m:r>
                      <a:rPr lang="pt-BR" sz="2200" b="0" i="1" spc="-50" smtClean="0">
                        <a:latin typeface="Cambria Math" panose="02040503050406030204" pitchFamily="18" charset="0"/>
                        <a:cs typeface="Calibri"/>
                      </a:rPr>
                      <m:t>=2</m:t>
                    </m:r>
                  </m:oMath>
                </a14:m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94" y="5181600"/>
                <a:ext cx="7464806" cy="490968"/>
              </a:xfrm>
              <a:prstGeom prst="rect">
                <a:avLst/>
              </a:prstGeom>
              <a:blipFill>
                <a:blip r:embed="rId2"/>
                <a:stretch>
                  <a:fillRect l="-1959" b="-19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1348994" y="5867400"/>
                <a:ext cx="5105400" cy="49577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266700" indent="-228600">
                  <a:lnSpc>
                    <a:spcPct val="100000"/>
                  </a:lnSpc>
                  <a:spcBef>
                    <a:spcPts val="95"/>
                  </a:spcBef>
                  <a:buFont typeface="Wingdings"/>
                  <a:buChar char=""/>
                  <a:tabLst>
                    <a:tab pos="266700" algn="l"/>
                  </a:tabLst>
                </a:pPr>
                <a:r>
                  <a:rPr lang="pt-BR" sz="2200" dirty="0">
                    <a:latin typeface="Calibri"/>
                    <a:cs typeface="Calibri"/>
                  </a:rPr>
                  <a:t>A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média</a:t>
                </a:r>
                <a:r>
                  <a:rPr lang="pt-BR" sz="2200" spc="-3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do</a:t>
                </a:r>
                <a:r>
                  <a:rPr lang="pt-BR" sz="2200" spc="-30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segundo</a:t>
                </a:r>
                <a:r>
                  <a:rPr lang="pt-BR" sz="2200" spc="-10" dirty="0">
                    <a:latin typeface="Calibri"/>
                    <a:cs typeface="Calibri"/>
                  </a:rPr>
                  <a:t> atributo</a:t>
                </a:r>
                <a:r>
                  <a:rPr lang="pt-BR" sz="2200" spc="-25" dirty="0">
                    <a:latin typeface="Calibri"/>
                    <a:cs typeface="Calibri"/>
                  </a:rPr>
                  <a:t> </a:t>
                </a:r>
                <a:r>
                  <a:rPr lang="pt-BR" sz="2200" dirty="0">
                    <a:latin typeface="Calibri"/>
                    <a:cs typeface="Calibri"/>
                  </a:rPr>
                  <a:t>é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5+4+6</m:t>
                        </m:r>
                      </m:num>
                      <m:den>
                        <m:r>
                          <a:rPr lang="pt-BR" sz="2200" b="0" i="1" smtClean="0">
                            <a:latin typeface="Cambria Math" panose="02040503050406030204" pitchFamily="18" charset="0"/>
                            <a:cs typeface="Calibri"/>
                          </a:rPr>
                          <m:t>3</m:t>
                        </m:r>
                      </m:den>
                    </m:f>
                    <m:r>
                      <a:rPr lang="pt-BR" sz="2200" b="0" i="1" smtClean="0">
                        <a:latin typeface="Cambria Math" panose="02040503050406030204" pitchFamily="18" charset="0"/>
                        <a:cs typeface="Calibri"/>
                      </a:rPr>
                      <m:t>=5</m:t>
                    </m:r>
                  </m:oMath>
                </a14:m>
                <a:r>
                  <a:rPr lang="pt-BR" sz="2200" spc="-20" dirty="0">
                    <a:latin typeface="Calibri"/>
                    <a:cs typeface="Calibri"/>
                  </a:rPr>
                  <a:t> </a:t>
                </a:r>
                <a:endParaRPr sz="22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994" y="5867400"/>
                <a:ext cx="5105400" cy="495777"/>
              </a:xfrm>
              <a:prstGeom prst="rect">
                <a:avLst/>
              </a:prstGeom>
              <a:blipFill>
                <a:blip r:embed="rId3"/>
                <a:stretch>
                  <a:fillRect l="-2387" b="-197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916939" y="6459814"/>
            <a:ext cx="10655935" cy="3981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3005"/>
              </a:lnSpc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forem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numéricos,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devemos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transformá-</a:t>
            </a:r>
            <a:r>
              <a:rPr sz="2600" dirty="0">
                <a:latin typeface="Calibri"/>
                <a:cs typeface="Calibri"/>
              </a:rPr>
              <a:t>los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numéricos.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60" dirty="0"/>
              <a:t> </a:t>
            </a:r>
            <a:r>
              <a:rPr dirty="0"/>
              <a:t>devem</a:t>
            </a:r>
            <a:r>
              <a:rPr spc="-30" dirty="0"/>
              <a:t> </a:t>
            </a:r>
            <a:r>
              <a:rPr dirty="0"/>
              <a:t>ser</a:t>
            </a:r>
            <a:r>
              <a:rPr spc="-25" dirty="0"/>
              <a:t> </a:t>
            </a:r>
            <a:r>
              <a:rPr dirty="0"/>
              <a:t>os</a:t>
            </a:r>
            <a:r>
              <a:rPr spc="-25" dirty="0"/>
              <a:t> </a:t>
            </a:r>
            <a:r>
              <a:rPr spc="-10" dirty="0"/>
              <a:t>clusters?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30756"/>
            <a:ext cx="10901045" cy="51117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850265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não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devem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se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sobrepor</a:t>
            </a:r>
            <a:r>
              <a:rPr sz="2600" dirty="0">
                <a:latin typeface="Calibri"/>
                <a:cs typeface="Calibri"/>
              </a:rPr>
              <a:t>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pertencer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e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 </a:t>
            </a:r>
            <a:r>
              <a:rPr sz="2600" spc="-10" dirty="0">
                <a:latin typeface="Calibri"/>
                <a:cs typeface="Calibri"/>
              </a:rPr>
              <a:t>cluster.</a:t>
            </a:r>
            <a:endParaRPr sz="2600" dirty="0">
              <a:latin typeface="Calibri"/>
              <a:cs typeface="Calibri"/>
            </a:endParaRPr>
          </a:p>
          <a:p>
            <a:pPr marL="241300" marR="800100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Porém,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dentro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mesmo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cluster,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devem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relativamente </a:t>
            </a:r>
            <a:r>
              <a:rPr sz="2600" dirty="0">
                <a:latin typeface="Calibri"/>
                <a:cs typeface="Calibri"/>
              </a:rPr>
              <a:t>próximos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distantes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Aí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surge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dúvida.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clusters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contém?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acima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conseguimos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identificar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três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clusters.</a:t>
            </a:r>
            <a:endParaRPr sz="2600" dirty="0">
              <a:latin typeface="Calibri"/>
              <a:cs typeface="Calibri"/>
            </a:endParaRPr>
          </a:p>
          <a:p>
            <a:pPr marL="241300" marR="135382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entanto,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opções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existentes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não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única possibilidade:</a:t>
            </a:r>
            <a:endParaRPr sz="2600" dirty="0">
              <a:latin typeface="Calibri"/>
              <a:cs typeface="Calibri"/>
            </a:endParaRPr>
          </a:p>
          <a:p>
            <a:pPr marL="698500" marR="100330" lvl="1" indent="-228600">
              <a:lnSpc>
                <a:spcPts val="2110"/>
              </a:lnSpc>
              <a:spcBef>
                <a:spcPts val="50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extremo,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conjunto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dados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pensado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formando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grande cluster;</a:t>
            </a:r>
            <a:endParaRPr sz="2200" dirty="0">
              <a:latin typeface="Calibri"/>
              <a:cs typeface="Calibri"/>
            </a:endParaRPr>
          </a:p>
          <a:p>
            <a:pPr marL="698500" marR="474345" lvl="1" indent="-2286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dirty="0">
                <a:latin typeface="Calibri"/>
                <a:cs typeface="Calibri"/>
              </a:rPr>
              <a:t>no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outro,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cada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visto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representando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seu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próprio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cluster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um </a:t>
            </a:r>
            <a:r>
              <a:rPr sz="2200" dirty="0">
                <a:latin typeface="Calibri"/>
                <a:cs typeface="Calibri"/>
              </a:rPr>
              <a:t>único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exemplo.</a:t>
            </a:r>
            <a:endParaRPr sz="22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00"/>
              </a:spcBef>
              <a:buFont typeface="Wingdings"/>
              <a:buChar char="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Implementações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práticas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geralmente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evitam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esse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problema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pedindo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usuário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forneça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número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2435" y="86868"/>
            <a:ext cx="2177796" cy="16017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Medindo</a:t>
            </a:r>
            <a:r>
              <a:rPr spc="-20" dirty="0"/>
              <a:t> </a:t>
            </a:r>
            <a:r>
              <a:rPr spc="-10" dirty="0"/>
              <a:t>distâncias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447800"/>
            <a:ext cx="10837545" cy="2826287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492759" indent="-228600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Algoritmos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identificação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clusters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geralmente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precisam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 </a:t>
            </a:r>
            <a:r>
              <a:rPr sz="2600" dirty="0">
                <a:latin typeface="Calibri"/>
                <a:cs typeface="Calibri"/>
              </a:rPr>
              <a:t>mecanismo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avaliar</a:t>
            </a:r>
            <a:r>
              <a:rPr sz="2600" b="1" i="1" spc="-4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a</a:t>
            </a:r>
            <a:r>
              <a:rPr sz="2600" b="1" i="1" spc="-35" dirty="0">
                <a:latin typeface="Calibri"/>
                <a:cs typeface="Calibri"/>
              </a:rPr>
              <a:t> </a:t>
            </a:r>
            <a:r>
              <a:rPr sz="2600" b="1" i="1" dirty="0">
                <a:latin typeface="Calibri"/>
                <a:cs typeface="Calibri"/>
              </a:rPr>
              <a:t>distância</a:t>
            </a:r>
            <a:r>
              <a:rPr sz="2600" b="1" i="1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centroide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 </a:t>
            </a:r>
            <a:r>
              <a:rPr sz="2600" spc="-10" dirty="0">
                <a:latin typeface="Calibri"/>
                <a:cs typeface="Calibri"/>
              </a:rPr>
              <a:t>cluster.</a:t>
            </a:r>
            <a:endParaRPr sz="2600" dirty="0">
              <a:latin typeface="Calibri"/>
              <a:cs typeface="Calibri"/>
            </a:endParaRPr>
          </a:p>
          <a:p>
            <a:pPr marL="241300" marR="222250" indent="-228600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Uma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isso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quando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contínuos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b="1" i="1" spc="-10" dirty="0">
                <a:latin typeface="Calibri"/>
                <a:cs typeface="Calibri"/>
              </a:rPr>
              <a:t>distância </a:t>
            </a:r>
            <a:r>
              <a:rPr sz="2600" b="1" i="1" dirty="0">
                <a:latin typeface="Calibri"/>
                <a:cs typeface="Calibri"/>
              </a:rPr>
              <a:t>euclidiana</a:t>
            </a:r>
            <a:r>
              <a:rPr sz="2600" b="1" i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entre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vetores.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Para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atributos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discretos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mistura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ambos,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usamos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equação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calcular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distâncias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3"/>
              <p:cNvSpPr txBox="1"/>
              <p:nvPr/>
            </p:nvSpPr>
            <p:spPr>
              <a:xfrm>
                <a:off x="775016" y="5943600"/>
                <a:ext cx="11121390" cy="777135"/>
              </a:xfrm>
              <a:prstGeom prst="rect">
                <a:avLst/>
              </a:prstGeom>
            </p:spPr>
            <p:txBody>
              <a:bodyPr vert="horz" wrap="square" lIns="0" tIns="58419" rIns="0" bIns="0" rtlCol="0">
                <a:spAutoFit/>
              </a:bodyPr>
              <a:lstStyle/>
              <a:p>
                <a:pPr marL="88900" marR="55880">
                  <a:lnSpc>
                    <a:spcPts val="2800"/>
                  </a:lnSpc>
                  <a:spcBef>
                    <a:spcPts val="459"/>
                  </a:spcBef>
                  <a:tabLst>
                    <a:tab pos="826135" algn="l"/>
                    <a:tab pos="1737995" algn="l"/>
                    <a:tab pos="4507230" algn="l"/>
                    <a:tab pos="5067935" algn="l"/>
                    <a:tab pos="5419090" algn="l"/>
                    <a:tab pos="5977890" algn="l"/>
                    <a:tab pos="6453505" algn="l"/>
                    <a:tab pos="7543165" algn="l"/>
                  </a:tabLst>
                </a:pPr>
                <a:r>
                  <a:rPr lang="pt-BR" sz="2600" dirty="0">
                    <a:latin typeface="Calibri"/>
                    <a:cs typeface="Calibri"/>
                  </a:rPr>
                  <a:t>onde</a:t>
                </a:r>
                <a:r>
                  <a:rPr lang="pt-BR" sz="2600" spc="-4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mbria Math"/>
                    <a:cs typeface="Cambria Math"/>
                  </a:rPr>
                  <a:t>𝐾</a:t>
                </a:r>
                <a:r>
                  <a:rPr lang="pt-BR" sz="2600" spc="70" dirty="0">
                    <a:latin typeface="Cambria Math"/>
                    <a:cs typeface="Cambria Math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é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o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número</a:t>
                </a:r>
                <a:r>
                  <a:rPr lang="pt-BR" sz="2600" spc="-4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de</a:t>
                </a:r>
                <a:r>
                  <a:rPr lang="pt-BR" sz="2600" spc="-35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atributos,</a:t>
                </a:r>
                <a:r>
                  <a:rPr lang="pt-BR" sz="2600" spc="-20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spc="30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r>
                      <a:rPr lang="pt-BR" sz="2850" i="1" spc="44" baseline="-16081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850" i="1" spc="44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6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spc="9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spc="65" dirty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600" i="1" spc="-14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i="1" spc="-37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600" i="1" spc="-50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600" i="1" spc="-50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−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i="1" spc="-37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850" i="1" baseline="27777" dirty="0" smtClean="0">
                        <a:latin typeface="Cambria Math" panose="02040503050406030204" pitchFamily="18" charset="0"/>
                        <a:cs typeface="Cambria Math"/>
                      </a:rPr>
                      <m:t>2</m:t>
                    </m:r>
                    <m:r>
                      <a:rPr lang="pt-BR" sz="2850" i="1" spc="390" baseline="27777" dirty="0" smtClean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atributos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contínuos </a:t>
                </a:r>
                <a:r>
                  <a:rPr lang="pt-BR" sz="2600" dirty="0">
                    <a:latin typeface="Calibri"/>
                    <a:cs typeface="Calibri"/>
                  </a:rPr>
                  <a:t>e</a:t>
                </a:r>
                <a:r>
                  <a:rPr lang="pt-BR" sz="2600" spc="-25" dirty="0">
                    <a:latin typeface="Calibri"/>
                    <a:cs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spc="30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r>
                      <a:rPr lang="pt-BR" sz="2850" i="1" spc="44" baseline="-16081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850" i="1" spc="44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6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spc="9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spc="65" dirty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600" i="1" spc="-13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0 </m:t>
                    </m:r>
                  </m:oMath>
                </a14:m>
                <a:r>
                  <a:rPr lang="pt-BR" sz="2600" dirty="0">
                    <a:latin typeface="Cambria Math"/>
                    <a:cs typeface="Cambria Math"/>
                  </a:rPr>
                  <a:t>se</a:t>
                </a:r>
                <a:r>
                  <a:rPr lang="pt-BR" sz="2600" spc="-10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baseline="-16081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b="0" i="1" dirty="0" smtClean="0">
                        <a:latin typeface="Cambria Math" panose="02040503050406030204" pitchFamily="18" charset="0"/>
                        <a:cs typeface="Cambria Math"/>
                      </a:rPr>
                      <m:t>=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baseline="-16081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i="1" spc="509" baseline="-16081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libri"/>
                      </a:rPr>
                      <m:t>𝑒</m:t>
                    </m:r>
                    <m:r>
                      <a:rPr lang="pt-BR" sz="2600" i="1" spc="-10" dirty="0">
                        <a:latin typeface="Cambria Math" panose="02040503050406030204" pitchFamily="18" charset="0"/>
                        <a:cs typeface="Calibri"/>
                      </a:rPr>
                      <m:t> </m:t>
                    </m:r>
                    <m:r>
                      <a:rPr lang="pt-BR" sz="2600" i="1" spc="30" dirty="0" smtClean="0">
                        <a:latin typeface="Cambria Math" panose="02040503050406030204" pitchFamily="18" charset="0"/>
                        <a:cs typeface="Cambria Math"/>
                      </a:rPr>
                      <m:t>𝑑</m:t>
                    </m:r>
                    <m:r>
                      <a:rPr lang="pt-BR" sz="2850" i="1" spc="44" baseline="-16081" dirty="0" smtClean="0">
                        <a:latin typeface="Cambria Math" panose="02040503050406030204" pitchFamily="18" charset="0"/>
                        <a:cs typeface="Cambria Math"/>
                      </a:rPr>
                      <m:t>𝑎</m:t>
                    </m:r>
                    <m:r>
                      <a:rPr lang="pt-BR" sz="2850" i="1" spc="44" dirty="0">
                        <a:latin typeface="Cambria Math" panose="02040503050406030204" pitchFamily="18" charset="0"/>
                        <a:cs typeface="Cambria Math"/>
                      </a:rPr>
                      <m:t>(</m:t>
                    </m:r>
                    <m:r>
                      <a:rPr lang="pt-BR" sz="2600" i="1" spc="65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spc="9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spc="65" dirty="0">
                        <a:latin typeface="Cambria Math" panose="02040503050406030204" pitchFamily="18" charset="0"/>
                        <a:cs typeface="Cambria Math"/>
                      </a:rPr>
                      <m:t>,</m:t>
                    </m:r>
                    <m:r>
                      <a:rPr lang="pt-BR" sz="2600" i="1" spc="-13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  <m:r>
                      <a:rPr lang="pt-BR" sz="2600" i="1" spc="-25" dirty="0" smtClean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spc="-37" baseline="-16081" dirty="0" smtClean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i="1" spc="-37" dirty="0" smtClean="0">
                        <a:latin typeface="Cambria Math" panose="02040503050406030204" pitchFamily="18" charset="0"/>
                        <a:cs typeface="Cambria Math"/>
                      </a:rPr>
                      <m:t>)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=1</m:t>
                    </m:r>
                    <m:r>
                      <a:rPr lang="pt-BR" sz="2600" i="1" spc="-10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600" dirty="0">
                    <a:latin typeface="Cambria Math"/>
                    <a:cs typeface="Cambria Math"/>
                  </a:rPr>
                  <a:t>se</a:t>
                </a:r>
                <a:r>
                  <a:rPr lang="pt-BR" sz="2600" spc="-20" dirty="0">
                    <a:latin typeface="Cambria Math"/>
                    <a:cs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pt-BR" sz="2600" i="1" dirty="0" smtClean="0">
                        <a:latin typeface="Cambria Math" panose="02040503050406030204" pitchFamily="18" charset="0"/>
                        <a:cs typeface="Cambria Math"/>
                      </a:rPr>
                      <m:t>𝑥</m:t>
                    </m:r>
                    <m:r>
                      <a:rPr lang="pt-BR" sz="2850" i="1" baseline="-16081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≠</m:t>
                    </m:r>
                    <m:r>
                      <a:rPr lang="pt-BR" sz="2600" i="1" dirty="0">
                        <a:latin typeface="Cambria Math" panose="02040503050406030204" pitchFamily="18" charset="0"/>
                        <a:cs typeface="Cambria Math"/>
                      </a:rPr>
                      <m:t>𝑦</m:t>
                    </m:r>
                    <m:r>
                      <a:rPr lang="pt-BR" sz="2850" i="1" baseline="-16081" dirty="0">
                        <a:latin typeface="Cambria Math" panose="02040503050406030204" pitchFamily="18" charset="0"/>
                        <a:cs typeface="Cambria Math"/>
                      </a:rPr>
                      <m:t>𝑖</m:t>
                    </m:r>
                    <m:r>
                      <a:rPr lang="pt-BR" sz="2850" i="1" spc="487" baseline="-16081" dirty="0">
                        <a:latin typeface="Cambria Math" panose="02040503050406030204" pitchFamily="18" charset="0"/>
                        <a:cs typeface="Cambria Math"/>
                      </a:rPr>
                      <m:t> </m:t>
                    </m:r>
                  </m:oMath>
                </a14:m>
                <a:r>
                  <a:rPr lang="pt-BR" sz="2600" dirty="0">
                    <a:latin typeface="Calibri"/>
                    <a:cs typeface="Calibri"/>
                  </a:rPr>
                  <a:t>para</a:t>
                </a:r>
                <a:r>
                  <a:rPr lang="pt-BR" sz="2600" spc="-10" dirty="0">
                    <a:latin typeface="Calibri"/>
                    <a:cs typeface="Calibri"/>
                  </a:rPr>
                  <a:t> </a:t>
                </a:r>
                <a:r>
                  <a:rPr lang="pt-BR" sz="2600" dirty="0">
                    <a:latin typeface="Calibri"/>
                    <a:cs typeface="Calibri"/>
                  </a:rPr>
                  <a:t>atributos</a:t>
                </a:r>
                <a:r>
                  <a:rPr lang="pt-BR" sz="2600" spc="-30" dirty="0">
                    <a:latin typeface="Calibri"/>
                    <a:cs typeface="Calibri"/>
                  </a:rPr>
                  <a:t> </a:t>
                </a:r>
                <a:r>
                  <a:rPr lang="pt-BR" sz="2600" spc="-10" dirty="0">
                    <a:latin typeface="Calibri"/>
                    <a:cs typeface="Calibri"/>
                  </a:rPr>
                  <a:t>discretos.</a:t>
                </a:r>
                <a:endParaRPr sz="26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16" y="5943600"/>
                <a:ext cx="11121390" cy="777135"/>
              </a:xfrm>
              <a:prstGeom prst="rect">
                <a:avLst/>
              </a:prstGeom>
              <a:blipFill>
                <a:blip r:embed="rId2"/>
                <a:stretch>
                  <a:fillRect l="-986" t="-12598" r="-1479" b="-267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1B2591C-3A8F-6D23-AC65-EEB7B9BA6D79}"/>
                  </a:ext>
                </a:extLst>
              </p:cNvPr>
              <p:cNvSpPr txBox="1"/>
              <p:nvPr/>
            </p:nvSpPr>
            <p:spPr>
              <a:xfrm>
                <a:off x="4375048" y="4343400"/>
                <a:ext cx="3441904" cy="1436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ra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C1B2591C-3A8F-6D23-AC65-EEB7B9BA6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48" y="4343400"/>
                <a:ext cx="3441904" cy="14368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75" dirty="0"/>
              <a:t> </a:t>
            </a:r>
            <a:r>
              <a:rPr dirty="0"/>
              <a:t>qual</a:t>
            </a:r>
            <a:r>
              <a:rPr spc="-70" dirty="0"/>
              <a:t> </a:t>
            </a:r>
            <a:r>
              <a:rPr dirty="0"/>
              <a:t>cluster</a:t>
            </a:r>
            <a:r>
              <a:rPr spc="-70" dirty="0"/>
              <a:t> </a:t>
            </a:r>
            <a:r>
              <a:rPr dirty="0"/>
              <a:t>um</a:t>
            </a:r>
            <a:r>
              <a:rPr spc="-85" dirty="0"/>
              <a:t> </a:t>
            </a:r>
            <a:r>
              <a:rPr dirty="0"/>
              <a:t>exemplo</a:t>
            </a:r>
            <a:r>
              <a:rPr spc="-70" dirty="0"/>
              <a:t> </a:t>
            </a:r>
            <a:r>
              <a:rPr dirty="0"/>
              <a:t>deve</a:t>
            </a:r>
            <a:r>
              <a:rPr spc="-60" dirty="0"/>
              <a:t> </a:t>
            </a:r>
            <a:r>
              <a:rPr spc="-10" dirty="0"/>
              <a:t>pertencer?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6"/>
              <p:cNvSpPr txBox="1"/>
              <p:nvPr/>
            </p:nvSpPr>
            <p:spPr>
              <a:xfrm>
                <a:off x="916939" y="2057400"/>
                <a:ext cx="10826750" cy="329385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17500" indent="-228600">
                  <a:lnSpc>
                    <a:spcPts val="3195"/>
                  </a:lnSpc>
                  <a:spcBef>
                    <a:spcPts val="95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sz="2800" spc="-20" dirty="0">
                    <a:latin typeface="Calibri"/>
                    <a:cs typeface="Calibri"/>
                  </a:rPr>
                  <a:t>Vamos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supor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que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existam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𝑁</a:t>
                </a:r>
                <a:r>
                  <a:rPr sz="2800" spc="-5" dirty="0">
                    <a:latin typeface="Cambria Math"/>
                    <a:cs typeface="Cambria Math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clusters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cujos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centroides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são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denotados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por</a:t>
                </a:r>
                <a:endParaRPr sz="2800" dirty="0">
                  <a:latin typeface="Calibri"/>
                  <a:cs typeface="Calibri"/>
                </a:endParaRPr>
              </a:p>
              <a:p>
                <a:pPr marL="317500">
                  <a:lnSpc>
                    <a:spcPts val="3195"/>
                  </a:lnSpc>
                  <a:tabLst>
                    <a:tab pos="1658620" algn="l"/>
                    <a:tab pos="24034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pc="80" dirty="0" smtClean="0">
                          <a:latin typeface="Cambria Math" panose="02040503050406030204" pitchFamily="18" charset="0"/>
                          <a:cs typeface="Cambria Math"/>
                        </a:rPr>
                        <m:t>𝒄</m:t>
                      </m:r>
                      <m:r>
                        <a:rPr lang="pt-BR" sz="3075" i="1" spc="120" baseline="-16260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800" i="1" spc="80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800" i="1" spc="-17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∀</m:t>
                      </m:r>
                      <m:r>
                        <a:rPr lang="pt-BR" sz="2800" i="1" dirty="0">
                          <a:latin typeface="Cambria Math" panose="02040503050406030204" pitchFamily="18" charset="0"/>
                          <a:cs typeface="Cambria Math"/>
                        </a:rPr>
                        <m:t>𝑖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∈</m:t>
                      </m:r>
                      <m:r>
                        <a:rPr lang="pt-BR" sz="2800" i="1" spc="-50" dirty="0">
                          <a:latin typeface="Cambria Math" panose="02040503050406030204" pitchFamily="18" charset="0"/>
                          <a:cs typeface="Cambria Math"/>
                        </a:rPr>
                        <m:t>(</m:t>
                      </m:r>
                      <m:r>
                        <a:rPr lang="pt-BR" sz="2800" i="1" spc="-20" dirty="0" smtClean="0">
                          <a:latin typeface="Cambria Math" panose="02040503050406030204" pitchFamily="18" charset="0"/>
                          <a:cs typeface="Cambria Math"/>
                        </a:rPr>
                        <m:t>1</m:t>
                      </m:r>
                      <m:r>
                        <a:rPr lang="pt-BR" sz="2800" i="1" spc="-20" dirty="0">
                          <a:latin typeface="Cambria Math" panose="02040503050406030204" pitchFamily="18" charset="0"/>
                          <a:cs typeface="Cambria Math"/>
                        </a:rPr>
                        <m:t>,</m:t>
                      </m:r>
                      <m:r>
                        <a:rPr lang="pt-BR" sz="2800" i="1" spc="-140" dirty="0">
                          <a:latin typeface="Cambria Math" panose="02040503050406030204" pitchFamily="18" charset="0"/>
                          <a:cs typeface="Cambria Math"/>
                        </a:rPr>
                        <m:t> 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𝑁</m:t>
                      </m:r>
                      <m:r>
                        <a:rPr lang="pt-BR" sz="2800" i="1" spc="-50" dirty="0" smtClean="0">
                          <a:latin typeface="Cambria Math" panose="02040503050406030204" pitchFamily="18" charset="0"/>
                          <a:cs typeface="Cambria Math"/>
                        </a:rPr>
                        <m:t>).</m:t>
                      </m:r>
                    </m:oMath>
                  </m:oMathPara>
                </a14:m>
                <a:endParaRPr sz="2800" dirty="0">
                  <a:latin typeface="Calibri"/>
                  <a:cs typeface="Calibri"/>
                </a:endParaRPr>
              </a:p>
              <a:p>
                <a:pPr marL="317500" indent="-228600">
                  <a:lnSpc>
                    <a:spcPct val="100000"/>
                  </a:lnSpc>
                  <a:spcBef>
                    <a:spcPts val="660"/>
                  </a:spcBef>
                  <a:buFont typeface="Arial"/>
                  <a:buChar char="•"/>
                  <a:tabLst>
                    <a:tab pos="317500" algn="l"/>
                    <a:tab pos="6429375" algn="l"/>
                    <a:tab pos="7287259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Um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20" dirty="0">
                    <a:latin typeface="Calibri"/>
                    <a:cs typeface="Calibri"/>
                  </a:rPr>
                  <a:t>exemplo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𝒙</a:t>
                </a:r>
                <a:r>
                  <a:rPr sz="2800" spc="-55" dirty="0">
                    <a:latin typeface="Cambria Math"/>
                    <a:cs typeface="Cambria Math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tem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uma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certa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spc="-10" dirty="0" err="1">
                    <a:latin typeface="Calibri"/>
                    <a:cs typeface="Calibri"/>
                  </a:rPr>
                  <a:t>distância</a:t>
                </a:r>
                <a:r>
                  <a:rPr sz="2800" spc="-30" dirty="0">
                    <a:latin typeface="Calibri"/>
                    <a:cs typeface="Calibri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𝑑</a:t>
                </a:r>
                <a:r>
                  <a:rPr lang="pt-BR" sz="2800" spc="-50" dirty="0">
                    <a:latin typeface="Cambria Math"/>
                    <a:cs typeface="Cambria Math"/>
                  </a:rPr>
                  <a:t>(</a:t>
                </a:r>
                <a:r>
                  <a:rPr sz="2800" spc="-20" dirty="0">
                    <a:latin typeface="Cambria Math"/>
                    <a:cs typeface="Cambria Math"/>
                  </a:rPr>
                  <a:t>𝒙,</a:t>
                </a:r>
                <a:r>
                  <a:rPr sz="2800" spc="-140" dirty="0">
                    <a:latin typeface="Cambria Math"/>
                    <a:cs typeface="Cambria Math"/>
                  </a:rPr>
                  <a:t> </a:t>
                </a:r>
                <a:r>
                  <a:rPr sz="2800" spc="-25" dirty="0">
                    <a:latin typeface="Cambria Math"/>
                    <a:cs typeface="Cambria Math"/>
                  </a:rPr>
                  <a:t>𝒄</a:t>
                </a:r>
                <a:r>
                  <a:rPr sz="3075" spc="-37" baseline="-16260" dirty="0">
                    <a:latin typeface="Cambria Math"/>
                    <a:cs typeface="Cambria Math"/>
                  </a:rPr>
                  <a:t>𝑖</a:t>
                </a:r>
                <a:r>
                  <a:rPr lang="pt-BR" sz="3075" spc="-37" dirty="0">
                    <a:latin typeface="Cambria Math"/>
                    <a:cs typeface="Cambria Math"/>
                  </a:rPr>
                  <a:t>)</a:t>
                </a:r>
                <a:r>
                  <a:rPr sz="3075" baseline="-16260" dirty="0">
                    <a:latin typeface="Cambria Math"/>
                    <a:cs typeface="Cambria Math"/>
                  </a:rPr>
                  <a:t>	</a:t>
                </a:r>
                <a:r>
                  <a:rPr sz="2800" dirty="0">
                    <a:latin typeface="Calibri"/>
                    <a:cs typeface="Calibri"/>
                  </a:rPr>
                  <a:t>para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cada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centroide.</a:t>
                </a:r>
                <a:endParaRPr sz="2800" dirty="0">
                  <a:latin typeface="Calibri"/>
                  <a:cs typeface="Calibri"/>
                </a:endParaRPr>
              </a:p>
              <a:p>
                <a:pPr marL="317500" indent="-228600">
                  <a:lnSpc>
                    <a:spcPts val="3304"/>
                  </a:lnSpc>
                  <a:spcBef>
                    <a:spcPts val="985"/>
                  </a:spcBef>
                  <a:buFont typeface="Arial"/>
                  <a:buChar char="•"/>
                  <a:tabLst>
                    <a:tab pos="317500" algn="l"/>
                    <a:tab pos="1115695" algn="l"/>
                    <a:tab pos="2050414" algn="l"/>
                  </a:tabLst>
                </a:pPr>
                <a:r>
                  <a:rPr sz="2800" dirty="0">
                    <a:latin typeface="Calibri"/>
                    <a:cs typeface="Calibri"/>
                  </a:rPr>
                  <a:t>Se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𝑑</a:t>
                </a:r>
                <a:r>
                  <a:rPr lang="pt-BR" sz="2800" spc="-50" dirty="0">
                    <a:latin typeface="Cambria Math"/>
                    <a:cs typeface="Cambria Math"/>
                  </a:rPr>
                  <a:t>(</a:t>
                </a:r>
                <a:r>
                  <a:rPr sz="2800" spc="-20" dirty="0">
                    <a:latin typeface="Cambria Math"/>
                    <a:cs typeface="Cambria Math"/>
                  </a:rPr>
                  <a:t>𝒙,</a:t>
                </a:r>
                <a:r>
                  <a:rPr sz="2800" spc="-145" dirty="0">
                    <a:latin typeface="Cambria Math"/>
                    <a:cs typeface="Cambria Math"/>
                  </a:rPr>
                  <a:t> </a:t>
                </a:r>
                <a:r>
                  <a:rPr sz="2800" spc="35" dirty="0">
                    <a:latin typeface="Cambria Math"/>
                    <a:cs typeface="Cambria Math"/>
                  </a:rPr>
                  <a:t>𝒄</a:t>
                </a:r>
                <a:r>
                  <a:rPr sz="3075" spc="52" baseline="-16260" dirty="0">
                    <a:latin typeface="Cambria Math"/>
                    <a:cs typeface="Cambria Math"/>
                  </a:rPr>
                  <a:t>𝑝</a:t>
                </a:r>
                <a:r>
                  <a:rPr lang="pt-BR" sz="3075" spc="52" dirty="0">
                    <a:latin typeface="Cambria Math"/>
                    <a:cs typeface="Cambria Math"/>
                  </a:rPr>
                  <a:t>)</a:t>
                </a:r>
                <a:r>
                  <a:rPr sz="2800" dirty="0">
                    <a:latin typeface="Calibri"/>
                    <a:cs typeface="Calibri"/>
                  </a:rPr>
                  <a:t>é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menor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dessas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distâncias,</a:t>
                </a:r>
                <a:r>
                  <a:rPr sz="2800" spc="-4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então,</a:t>
                </a:r>
                <a:r>
                  <a:rPr sz="2800" spc="-7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é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natural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colocarmos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-50" dirty="0">
                    <a:latin typeface="Cambria Math"/>
                    <a:cs typeface="Cambria Math"/>
                  </a:rPr>
                  <a:t>𝒙</a:t>
                </a:r>
                <a:endParaRPr sz="2800" dirty="0">
                  <a:latin typeface="Cambria Math"/>
                  <a:cs typeface="Cambria Math"/>
                </a:endParaRPr>
              </a:p>
              <a:p>
                <a:pPr marL="317500">
                  <a:lnSpc>
                    <a:spcPts val="3304"/>
                  </a:lnSpc>
                </a:pPr>
                <a:r>
                  <a:rPr sz="2800" dirty="0">
                    <a:latin typeface="Calibri"/>
                    <a:cs typeface="Calibri"/>
                  </a:rPr>
                  <a:t>como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pertencente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ao</a:t>
                </a:r>
                <a:r>
                  <a:rPr sz="2800" spc="-5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centroide</a:t>
                </a:r>
                <a:r>
                  <a:rPr sz="2800" spc="-65" dirty="0">
                    <a:latin typeface="Calibri"/>
                    <a:cs typeface="Calibri"/>
                  </a:rPr>
                  <a:t> </a:t>
                </a:r>
                <a:r>
                  <a:rPr sz="2800" spc="85" dirty="0">
                    <a:latin typeface="Cambria Math"/>
                    <a:cs typeface="Cambria Math"/>
                  </a:rPr>
                  <a:t>𝒄</a:t>
                </a:r>
                <a:r>
                  <a:rPr sz="3075" spc="127" baseline="-16260" dirty="0">
                    <a:latin typeface="Cambria Math"/>
                    <a:cs typeface="Cambria Math"/>
                  </a:rPr>
                  <a:t>𝑝</a:t>
                </a:r>
                <a:r>
                  <a:rPr sz="2800" spc="85" dirty="0">
                    <a:latin typeface="Calibri"/>
                    <a:cs typeface="Calibri"/>
                  </a:rPr>
                  <a:t>,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ou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seja,</a:t>
                </a:r>
                <a:r>
                  <a:rPr sz="2800" spc="-6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o</a:t>
                </a:r>
                <a:r>
                  <a:rPr sz="2800" spc="-5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mbria Math"/>
                    <a:cs typeface="Cambria Math"/>
                  </a:rPr>
                  <a:t>𝑝</a:t>
                </a:r>
                <a:r>
                  <a:rPr sz="2800" dirty="0">
                    <a:latin typeface="Calibri"/>
                    <a:cs typeface="Calibri"/>
                  </a:rPr>
                  <a:t>-ésimo</a:t>
                </a:r>
                <a:r>
                  <a:rPr sz="2800" spc="-35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cluster.</a:t>
                </a:r>
                <a:endParaRPr sz="2800" dirty="0">
                  <a:latin typeface="Calibri"/>
                  <a:cs typeface="Calibri"/>
                </a:endParaRPr>
              </a:p>
              <a:p>
                <a:pPr marL="317500" marR="366395" indent="-228600">
                  <a:lnSpc>
                    <a:spcPts val="3020"/>
                  </a:lnSpc>
                  <a:spcBef>
                    <a:spcPts val="1175"/>
                  </a:spcBef>
                  <a:buFont typeface="Arial"/>
                  <a:buChar char="•"/>
                  <a:tabLst>
                    <a:tab pos="317500" algn="l"/>
                  </a:tabLst>
                </a:pPr>
                <a:r>
                  <a:rPr sz="2800" spc="-25" dirty="0">
                    <a:latin typeface="Calibri"/>
                    <a:cs typeface="Calibri"/>
                  </a:rPr>
                  <a:t>Portanto,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escolhemos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b="1" i="1" dirty="0">
                    <a:latin typeface="Calibri"/>
                    <a:cs typeface="Calibri"/>
                  </a:rPr>
                  <a:t>menor</a:t>
                </a:r>
                <a:r>
                  <a:rPr sz="2800" b="1" i="1" spc="-85" dirty="0">
                    <a:latin typeface="Calibri"/>
                    <a:cs typeface="Calibri"/>
                  </a:rPr>
                  <a:t> </a:t>
                </a:r>
                <a:r>
                  <a:rPr sz="2800" b="1" i="1" spc="-10" dirty="0">
                    <a:latin typeface="Calibri"/>
                    <a:cs typeface="Calibri"/>
                  </a:rPr>
                  <a:t>distância</a:t>
                </a:r>
                <a:r>
                  <a:rPr sz="2800" b="1" i="1" spc="-9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para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definir</a:t>
                </a:r>
                <a:r>
                  <a:rPr sz="2800" spc="-8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a</a:t>
                </a:r>
                <a:r>
                  <a:rPr sz="2800" spc="-100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qual</a:t>
                </a:r>
                <a:r>
                  <a:rPr sz="2800" spc="-75" dirty="0">
                    <a:latin typeface="Calibri"/>
                    <a:cs typeface="Calibri"/>
                  </a:rPr>
                  <a:t> </a:t>
                </a:r>
                <a:r>
                  <a:rPr sz="2800" dirty="0">
                    <a:latin typeface="Calibri"/>
                    <a:cs typeface="Calibri"/>
                  </a:rPr>
                  <a:t>cluster</a:t>
                </a:r>
                <a:r>
                  <a:rPr sz="2800" spc="-80" dirty="0">
                    <a:latin typeface="Calibri"/>
                    <a:cs typeface="Calibri"/>
                  </a:rPr>
                  <a:t> </a:t>
                </a:r>
                <a:r>
                  <a:rPr sz="2800" spc="-25" dirty="0">
                    <a:latin typeface="Calibri"/>
                    <a:cs typeface="Calibri"/>
                  </a:rPr>
                  <a:t>um </a:t>
                </a:r>
                <a:r>
                  <a:rPr sz="2800" spc="-20" dirty="0">
                    <a:latin typeface="Calibri"/>
                    <a:cs typeface="Calibri"/>
                  </a:rPr>
                  <a:t>exemplo</a:t>
                </a:r>
                <a:r>
                  <a:rPr sz="2800" spc="-90" dirty="0">
                    <a:latin typeface="Calibri"/>
                    <a:cs typeface="Calibri"/>
                  </a:rPr>
                  <a:t> </a:t>
                </a:r>
                <a:r>
                  <a:rPr sz="2800" spc="-10" dirty="0">
                    <a:latin typeface="Calibri"/>
                    <a:cs typeface="Calibri"/>
                  </a:rPr>
                  <a:t>pertence.</a:t>
                </a:r>
                <a:endParaRPr sz="2800" dirty="0">
                  <a:latin typeface="Calibri"/>
                  <a:cs typeface="Calibri"/>
                </a:endParaRPr>
              </a:p>
            </p:txBody>
          </p:sp>
        </mc:Choice>
        <mc:Fallback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939" y="2057400"/>
                <a:ext cx="10826750" cy="3293850"/>
              </a:xfrm>
              <a:prstGeom prst="rect">
                <a:avLst/>
              </a:prstGeom>
              <a:blipFill>
                <a:blip r:embed="rId2"/>
                <a:stretch>
                  <a:fillRect l="-1014" t="-4074" r="-282" b="-5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k-Means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827"/>
            <a:ext cx="10910570" cy="17729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talvez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"𝑘"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solicitado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número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clusters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parâmetro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usuário.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pseudocódigo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380431"/>
            <a:ext cx="10763250" cy="11347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garantidamente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chega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situação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exemplo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cluster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próximo,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deste </a:t>
            </a:r>
            <a:r>
              <a:rPr sz="2800" spc="-20" dirty="0">
                <a:latin typeface="Calibri"/>
                <a:cs typeface="Calibri"/>
              </a:rPr>
              <a:t>momento,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centroides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8735" y="3543300"/>
            <a:ext cx="8671560" cy="181546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65"/>
              </a:spcBef>
            </a:pPr>
            <a:r>
              <a:rPr sz="1600" b="1" spc="-10" dirty="0">
                <a:latin typeface="Calibri"/>
                <a:cs typeface="Calibri"/>
              </a:rPr>
              <a:t>Entradas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conjunto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exemplos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número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clusters,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mbria Math"/>
                <a:cs typeface="Cambria Math"/>
              </a:rPr>
              <a:t>𝑘</a:t>
            </a:r>
            <a:r>
              <a:rPr sz="1600" spc="-25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434975" indent="-343535">
              <a:lnSpc>
                <a:spcPct val="100000"/>
              </a:lnSpc>
              <a:buAutoNum type="arabicPeriod"/>
              <a:tabLst>
                <a:tab pos="434975" algn="l"/>
                <a:tab pos="435609" algn="l"/>
              </a:tabLst>
            </a:pPr>
            <a:r>
              <a:rPr sz="1600" b="1" dirty="0">
                <a:latin typeface="Calibri"/>
                <a:cs typeface="Calibri"/>
              </a:rPr>
              <a:t>Defina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𝑘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centroides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iniciais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centroides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representam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definem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número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clusters).</a:t>
            </a:r>
            <a:endParaRPr sz="1600" dirty="0">
              <a:latin typeface="Calibri"/>
              <a:cs typeface="Calibri"/>
            </a:endParaRPr>
          </a:p>
          <a:p>
            <a:pPr marL="434975" indent="-343535">
              <a:lnSpc>
                <a:spcPct val="100000"/>
              </a:lnSpc>
              <a:buAutoNum type="arabicPeriod"/>
              <a:tabLst>
                <a:tab pos="434975" algn="l"/>
                <a:tab pos="435609" algn="l"/>
              </a:tabLst>
            </a:pPr>
            <a:r>
              <a:rPr sz="1600" b="1" spc="-10" dirty="0">
                <a:latin typeface="Calibri"/>
                <a:cs typeface="Calibri"/>
              </a:rPr>
              <a:t>Repita</a:t>
            </a:r>
            <a:endParaRPr sz="1600" dirty="0">
              <a:latin typeface="Calibri"/>
              <a:cs typeface="Calibri"/>
            </a:endParaRPr>
          </a:p>
          <a:p>
            <a:pPr marL="892175" marR="787400" lvl="1" indent="-342900">
              <a:lnSpc>
                <a:spcPct val="100000"/>
              </a:lnSpc>
              <a:buAutoNum type="alphaLcParenR"/>
              <a:tabLst>
                <a:tab pos="892175" algn="l"/>
                <a:tab pos="892810" algn="l"/>
              </a:tabLst>
            </a:pPr>
            <a:r>
              <a:rPr sz="1600" dirty="0">
                <a:latin typeface="Calibri"/>
                <a:cs typeface="Calibri"/>
              </a:rPr>
              <a:t>Calcule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distância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exemplo,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𝒙,</a:t>
            </a:r>
            <a:r>
              <a:rPr sz="1600" spc="-45" dirty="0">
                <a:latin typeface="Cambria Math"/>
                <a:cs typeface="Cambria Math"/>
              </a:rPr>
              <a:t> </a:t>
            </a:r>
            <a:r>
              <a:rPr sz="1600" dirty="0">
                <a:latin typeface="Calibri"/>
                <a:cs typeface="Calibri"/>
              </a:rPr>
              <a:t>para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mbria Math"/>
                <a:cs typeface="Cambria Math"/>
              </a:rPr>
              <a:t>𝑘</a:t>
            </a:r>
            <a:r>
              <a:rPr sz="1600" spc="20" dirty="0">
                <a:latin typeface="Cambria Math"/>
                <a:cs typeface="Cambria Math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centroides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atribua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cada </a:t>
            </a:r>
            <a:r>
              <a:rPr sz="1600" spc="-10" dirty="0">
                <a:latin typeface="Calibri"/>
                <a:cs typeface="Calibri"/>
              </a:rPr>
              <a:t>exemplo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cluster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próximo.</a:t>
            </a:r>
            <a:endParaRPr sz="1600" dirty="0">
              <a:latin typeface="Calibri"/>
              <a:cs typeface="Calibri"/>
            </a:endParaRPr>
          </a:p>
          <a:p>
            <a:pPr marL="892175" lvl="1" indent="-343535">
              <a:lnSpc>
                <a:spcPct val="100000"/>
              </a:lnSpc>
              <a:buAutoNum type="alphaLcParenR"/>
              <a:tabLst>
                <a:tab pos="892175" algn="l"/>
                <a:tab pos="892810" algn="l"/>
              </a:tabLst>
            </a:pPr>
            <a:r>
              <a:rPr sz="1600" dirty="0">
                <a:latin typeface="Calibri"/>
                <a:cs typeface="Calibri"/>
              </a:rPr>
              <a:t>Calcule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novo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centroide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cada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cluster.</a:t>
            </a:r>
            <a:endParaRPr sz="1600" dirty="0">
              <a:latin typeface="Calibri"/>
              <a:cs typeface="Calibri"/>
            </a:endParaRPr>
          </a:p>
          <a:p>
            <a:pPr marL="434975" indent="-343535">
              <a:lnSpc>
                <a:spcPct val="100000"/>
              </a:lnSpc>
              <a:buAutoNum type="arabicPeriod"/>
              <a:tabLst>
                <a:tab pos="434975" algn="l"/>
                <a:tab pos="435609" algn="l"/>
              </a:tabLst>
            </a:pPr>
            <a:r>
              <a:rPr sz="1600" b="1" dirty="0">
                <a:latin typeface="Calibri"/>
                <a:cs typeface="Calibri"/>
              </a:rPr>
              <a:t>Enquanto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posições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centroides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continuarem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mudando.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Como</a:t>
            </a:r>
            <a:r>
              <a:rPr spc="-70" dirty="0"/>
              <a:t> </a:t>
            </a:r>
            <a:r>
              <a:rPr dirty="0"/>
              <a:t>inicializar</a:t>
            </a:r>
            <a:r>
              <a:rPr spc="-25" dirty="0"/>
              <a:t> </a:t>
            </a:r>
            <a:r>
              <a:rPr dirty="0"/>
              <a:t>os</a:t>
            </a:r>
            <a:r>
              <a:rPr spc="-35" dirty="0"/>
              <a:t> </a:t>
            </a:r>
            <a:r>
              <a:rPr spc="-10" dirty="0"/>
              <a:t>centroides?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600200"/>
            <a:ext cx="10949940" cy="4800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339725" indent="-228600" algn="just">
              <a:lnSpc>
                <a:spcPct val="899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O</a:t>
            </a:r>
            <a:r>
              <a:rPr spc="-90" dirty="0"/>
              <a:t> </a:t>
            </a:r>
            <a:r>
              <a:rPr spc="-10" dirty="0"/>
              <a:t>procedimento</a:t>
            </a:r>
            <a:r>
              <a:rPr spc="-55" dirty="0"/>
              <a:t> </a:t>
            </a:r>
            <a:r>
              <a:rPr dirty="0"/>
              <a:t>mais</a:t>
            </a:r>
            <a:r>
              <a:rPr spc="-70" dirty="0"/>
              <a:t> </a:t>
            </a:r>
            <a:r>
              <a:rPr dirty="0"/>
              <a:t>simples</a:t>
            </a:r>
            <a:r>
              <a:rPr spc="-75" dirty="0"/>
              <a:t> </a:t>
            </a:r>
            <a:r>
              <a:rPr dirty="0"/>
              <a:t>para</a:t>
            </a:r>
            <a:r>
              <a:rPr spc="-85" dirty="0"/>
              <a:t> </a:t>
            </a:r>
            <a:r>
              <a:rPr spc="-10" dirty="0"/>
              <a:t>inicializar</a:t>
            </a:r>
            <a:r>
              <a:rPr spc="-75" dirty="0"/>
              <a:t> </a:t>
            </a:r>
            <a:r>
              <a:rPr dirty="0"/>
              <a:t>os</a:t>
            </a:r>
            <a:r>
              <a:rPr spc="-85" dirty="0"/>
              <a:t> </a:t>
            </a:r>
            <a:r>
              <a:rPr spc="-10" dirty="0"/>
              <a:t>centroides</a:t>
            </a:r>
            <a:r>
              <a:rPr spc="-60" dirty="0"/>
              <a:t> </a:t>
            </a:r>
            <a:r>
              <a:rPr dirty="0"/>
              <a:t>é</a:t>
            </a:r>
            <a:r>
              <a:rPr spc="-80" dirty="0"/>
              <a:t> </a:t>
            </a:r>
            <a:r>
              <a:rPr dirty="0"/>
              <a:t>escolher</a:t>
            </a:r>
            <a:r>
              <a:rPr spc="-50" dirty="0"/>
              <a:t> </a:t>
            </a:r>
            <a:r>
              <a:rPr spc="-50" dirty="0">
                <a:latin typeface="Cambria Math"/>
                <a:cs typeface="Cambria Math"/>
              </a:rPr>
              <a:t>𝑘 </a:t>
            </a:r>
            <a:r>
              <a:rPr spc="-20" dirty="0"/>
              <a:t>exemplos</a:t>
            </a:r>
            <a:r>
              <a:rPr spc="-65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10" dirty="0"/>
              <a:t>treinamento</a:t>
            </a:r>
            <a:r>
              <a:rPr spc="-45" dirty="0"/>
              <a:t> </a:t>
            </a:r>
            <a:r>
              <a:rPr spc="-10" dirty="0"/>
              <a:t>aleatórios</a:t>
            </a:r>
            <a:r>
              <a:rPr spc="-90" dirty="0"/>
              <a:t> </a:t>
            </a:r>
            <a:r>
              <a:rPr dirty="0"/>
              <a:t>e</a:t>
            </a:r>
            <a:r>
              <a:rPr spc="-70" dirty="0"/>
              <a:t> </a:t>
            </a:r>
            <a:r>
              <a:rPr dirty="0"/>
              <a:t>os</a:t>
            </a:r>
            <a:r>
              <a:rPr spc="-65" dirty="0"/>
              <a:t> </a:t>
            </a:r>
            <a:r>
              <a:rPr spc="-10" dirty="0"/>
              <a:t>considerar</a:t>
            </a:r>
            <a:r>
              <a:rPr spc="-40" dirty="0"/>
              <a:t> </a:t>
            </a:r>
            <a:r>
              <a:rPr dirty="0"/>
              <a:t>como</a:t>
            </a:r>
            <a:r>
              <a:rPr spc="-75" dirty="0"/>
              <a:t> </a:t>
            </a:r>
            <a:r>
              <a:rPr dirty="0"/>
              <a:t>os</a:t>
            </a:r>
            <a:r>
              <a:rPr spc="-65" dirty="0"/>
              <a:t> </a:t>
            </a:r>
            <a:r>
              <a:rPr spc="-10" dirty="0"/>
              <a:t>centroides iniciais.</a:t>
            </a: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Os</a:t>
            </a:r>
            <a:r>
              <a:rPr spc="-80" dirty="0"/>
              <a:t> </a:t>
            </a:r>
            <a:r>
              <a:rPr spc="-10" dirty="0"/>
              <a:t>clusters</a:t>
            </a:r>
            <a:r>
              <a:rPr spc="-70" dirty="0"/>
              <a:t> </a:t>
            </a:r>
            <a:r>
              <a:rPr dirty="0"/>
              <a:t>iniciais</a:t>
            </a:r>
            <a:r>
              <a:rPr spc="-70" dirty="0"/>
              <a:t> </a:t>
            </a:r>
            <a:r>
              <a:rPr dirty="0"/>
              <a:t>são</a:t>
            </a:r>
            <a:r>
              <a:rPr spc="-80" dirty="0"/>
              <a:t> </a:t>
            </a:r>
            <a:r>
              <a:rPr dirty="0"/>
              <a:t>então</a:t>
            </a:r>
            <a:r>
              <a:rPr spc="-80" dirty="0"/>
              <a:t> </a:t>
            </a:r>
            <a:r>
              <a:rPr dirty="0"/>
              <a:t>criados</a:t>
            </a:r>
            <a:r>
              <a:rPr spc="-70" dirty="0"/>
              <a:t> </a:t>
            </a:r>
            <a:r>
              <a:rPr dirty="0"/>
              <a:t>associando</a:t>
            </a:r>
            <a:r>
              <a:rPr spc="-70" dirty="0"/>
              <a:t> </a:t>
            </a:r>
            <a:r>
              <a:rPr dirty="0"/>
              <a:t>cada</a:t>
            </a:r>
            <a:r>
              <a:rPr spc="-85" dirty="0"/>
              <a:t> </a:t>
            </a:r>
            <a:r>
              <a:rPr dirty="0"/>
              <a:t>um</a:t>
            </a:r>
            <a:r>
              <a:rPr spc="-80" dirty="0"/>
              <a:t> </a:t>
            </a:r>
            <a:r>
              <a:rPr dirty="0"/>
              <a:t>dos</a:t>
            </a:r>
            <a:r>
              <a:rPr spc="-70" dirty="0"/>
              <a:t> </a:t>
            </a:r>
            <a:r>
              <a:rPr spc="-20" dirty="0"/>
              <a:t>exemplos</a:t>
            </a:r>
            <a:r>
              <a:rPr spc="-70" dirty="0"/>
              <a:t> </a:t>
            </a:r>
            <a:r>
              <a:rPr spc="-25" dirty="0"/>
              <a:t>ao </a:t>
            </a:r>
            <a:r>
              <a:rPr dirty="0"/>
              <a:t>seu</a:t>
            </a:r>
            <a:r>
              <a:rPr spc="-70" dirty="0"/>
              <a:t> </a:t>
            </a:r>
            <a:r>
              <a:rPr spc="-10" dirty="0"/>
              <a:t>centroide</a:t>
            </a:r>
            <a:r>
              <a:rPr spc="-55" dirty="0"/>
              <a:t> </a:t>
            </a:r>
            <a:r>
              <a:rPr dirty="0"/>
              <a:t>mais</a:t>
            </a:r>
            <a:r>
              <a:rPr spc="-70" dirty="0"/>
              <a:t> </a:t>
            </a:r>
            <a:r>
              <a:rPr spc="-10" dirty="0"/>
              <a:t>próximo.</a:t>
            </a:r>
          </a:p>
          <a:p>
            <a:pPr marL="241300" marR="723265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O</a:t>
            </a:r>
            <a:r>
              <a:rPr spc="-75" dirty="0"/>
              <a:t> </a:t>
            </a:r>
            <a:r>
              <a:rPr dirty="0"/>
              <a:t>número</a:t>
            </a:r>
            <a:r>
              <a:rPr spc="-4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spc="-20" dirty="0"/>
              <a:t>transferências</a:t>
            </a:r>
            <a:r>
              <a:rPr spc="-3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um</a:t>
            </a:r>
            <a:r>
              <a:rPr spc="-45" dirty="0"/>
              <a:t> </a:t>
            </a:r>
            <a:r>
              <a:rPr spc="-20" dirty="0"/>
              <a:t>exemplo</a:t>
            </a:r>
            <a:r>
              <a:rPr spc="-65" dirty="0"/>
              <a:t> </a:t>
            </a:r>
            <a:r>
              <a:rPr dirty="0"/>
              <a:t>de</a:t>
            </a:r>
            <a:r>
              <a:rPr spc="-65" dirty="0"/>
              <a:t> </a:t>
            </a:r>
            <a:r>
              <a:rPr dirty="0"/>
              <a:t>um</a:t>
            </a:r>
            <a:r>
              <a:rPr spc="-60" dirty="0"/>
              <a:t> </a:t>
            </a:r>
            <a:r>
              <a:rPr dirty="0"/>
              <a:t>cluster</a:t>
            </a:r>
            <a:r>
              <a:rPr spc="-55" dirty="0"/>
              <a:t> </a:t>
            </a:r>
            <a:r>
              <a:rPr dirty="0"/>
              <a:t>para</a:t>
            </a:r>
            <a:r>
              <a:rPr spc="-65" dirty="0"/>
              <a:t> </a:t>
            </a:r>
            <a:r>
              <a:rPr spc="-10" dirty="0"/>
              <a:t>outro </a:t>
            </a:r>
            <a:r>
              <a:rPr dirty="0"/>
              <a:t>depende</a:t>
            </a:r>
            <a:r>
              <a:rPr spc="-65" dirty="0"/>
              <a:t> </a:t>
            </a:r>
            <a:r>
              <a:rPr dirty="0"/>
              <a:t>dos</a:t>
            </a:r>
            <a:r>
              <a:rPr spc="-90" dirty="0"/>
              <a:t> </a:t>
            </a:r>
            <a:r>
              <a:rPr spc="-10" dirty="0"/>
              <a:t>centroides</a:t>
            </a:r>
            <a:r>
              <a:rPr spc="-65" dirty="0"/>
              <a:t> </a:t>
            </a:r>
            <a:r>
              <a:rPr spc="-10" dirty="0"/>
              <a:t>iniciais.</a:t>
            </a:r>
          </a:p>
          <a:p>
            <a:pPr marL="241300" marR="324485" indent="-228600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Se</a:t>
            </a:r>
            <a:r>
              <a:rPr spc="-85" dirty="0"/>
              <a:t> </a:t>
            </a:r>
            <a:r>
              <a:rPr dirty="0"/>
              <a:t>os</a:t>
            </a:r>
            <a:r>
              <a:rPr spc="-80" dirty="0"/>
              <a:t> </a:t>
            </a:r>
            <a:r>
              <a:rPr spc="-10" dirty="0"/>
              <a:t>centroides</a:t>
            </a:r>
            <a:r>
              <a:rPr spc="-65" dirty="0"/>
              <a:t> </a:t>
            </a:r>
            <a:r>
              <a:rPr dirty="0"/>
              <a:t>iniciais</a:t>
            </a:r>
            <a:r>
              <a:rPr spc="-70" dirty="0"/>
              <a:t> </a:t>
            </a:r>
            <a:r>
              <a:rPr dirty="0"/>
              <a:t>já</a:t>
            </a:r>
            <a:r>
              <a:rPr spc="-85" dirty="0"/>
              <a:t> </a:t>
            </a:r>
            <a:r>
              <a:rPr spc="-10" dirty="0"/>
              <a:t>forem</a:t>
            </a:r>
            <a:r>
              <a:rPr spc="-85" dirty="0"/>
              <a:t> </a:t>
            </a:r>
            <a:r>
              <a:rPr spc="-10" dirty="0"/>
              <a:t>perfeitos,</a:t>
            </a:r>
            <a:r>
              <a:rPr spc="-80" dirty="0"/>
              <a:t> </a:t>
            </a:r>
            <a:r>
              <a:rPr dirty="0"/>
              <a:t>nenhum</a:t>
            </a:r>
            <a:r>
              <a:rPr spc="-50" dirty="0"/>
              <a:t> </a:t>
            </a:r>
            <a:r>
              <a:rPr spc="-20" dirty="0"/>
              <a:t>exemplo</a:t>
            </a:r>
            <a:r>
              <a:rPr spc="-80" dirty="0"/>
              <a:t> </a:t>
            </a:r>
            <a:r>
              <a:rPr dirty="0"/>
              <a:t>precisa</a:t>
            </a:r>
            <a:r>
              <a:rPr spc="-75" dirty="0"/>
              <a:t> </a:t>
            </a:r>
            <a:r>
              <a:rPr spc="-25" dirty="0"/>
              <a:t>ser </a:t>
            </a:r>
            <a:r>
              <a:rPr dirty="0"/>
              <a:t>atribuído</a:t>
            </a:r>
            <a:r>
              <a:rPr spc="-50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outro</a:t>
            </a:r>
            <a:r>
              <a:rPr spc="-55" dirty="0"/>
              <a:t> </a:t>
            </a:r>
            <a:r>
              <a:rPr dirty="0"/>
              <a:t>cluster</a:t>
            </a:r>
            <a:r>
              <a:rPr spc="-70" dirty="0"/>
              <a:t> </a:t>
            </a:r>
            <a:r>
              <a:rPr dirty="0"/>
              <a:t>e</a:t>
            </a:r>
            <a:r>
              <a:rPr spc="-80" dirty="0"/>
              <a:t> </a:t>
            </a:r>
            <a:r>
              <a:rPr dirty="0"/>
              <a:t>o</a:t>
            </a:r>
            <a:r>
              <a:rPr spc="-75" dirty="0"/>
              <a:t> </a:t>
            </a:r>
            <a:r>
              <a:rPr dirty="0"/>
              <a:t>algoritmo</a:t>
            </a:r>
            <a:r>
              <a:rPr spc="-70" dirty="0"/>
              <a:t> </a:t>
            </a:r>
            <a:r>
              <a:rPr dirty="0"/>
              <a:t>é</a:t>
            </a:r>
            <a:r>
              <a:rPr spc="-80" dirty="0"/>
              <a:t> </a:t>
            </a:r>
            <a:r>
              <a:rPr spc="-10" dirty="0"/>
              <a:t>encerado.</a:t>
            </a:r>
          </a:p>
          <a:p>
            <a:pPr marL="241300" marR="718185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pc="-25" dirty="0"/>
              <a:t>Portanto,</a:t>
            </a:r>
            <a:r>
              <a:rPr spc="-5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inicialização</a:t>
            </a:r>
            <a:r>
              <a:rPr spc="-65" dirty="0"/>
              <a:t> </a:t>
            </a:r>
            <a:r>
              <a:rPr dirty="0"/>
              <a:t>é</a:t>
            </a:r>
            <a:r>
              <a:rPr spc="-75" dirty="0"/>
              <a:t> </a:t>
            </a:r>
            <a:r>
              <a:rPr spc="-10" dirty="0"/>
              <a:t>importante</a:t>
            </a:r>
            <a:r>
              <a:rPr spc="-60" dirty="0"/>
              <a:t> </a:t>
            </a:r>
            <a:r>
              <a:rPr dirty="0"/>
              <a:t>no</a:t>
            </a:r>
            <a:r>
              <a:rPr spc="-70" dirty="0"/>
              <a:t> </a:t>
            </a:r>
            <a:r>
              <a:rPr dirty="0"/>
              <a:t>sentido</a:t>
            </a:r>
            <a:r>
              <a:rPr spc="-4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que</a:t>
            </a:r>
            <a:r>
              <a:rPr spc="-55" dirty="0"/>
              <a:t> </a:t>
            </a:r>
            <a:r>
              <a:rPr dirty="0"/>
              <a:t>um</a:t>
            </a:r>
            <a:r>
              <a:rPr spc="-70" dirty="0"/>
              <a:t> </a:t>
            </a:r>
            <a:r>
              <a:rPr dirty="0"/>
              <a:t>ponto</a:t>
            </a:r>
            <a:r>
              <a:rPr spc="-55" dirty="0"/>
              <a:t> </a:t>
            </a:r>
            <a:r>
              <a:rPr spc="-25" dirty="0"/>
              <a:t>de </a:t>
            </a:r>
            <a:r>
              <a:rPr dirty="0"/>
              <a:t>partida</a:t>
            </a:r>
            <a:r>
              <a:rPr spc="-70" dirty="0"/>
              <a:t> </a:t>
            </a:r>
            <a:r>
              <a:rPr dirty="0"/>
              <a:t>melhor</a:t>
            </a:r>
            <a:r>
              <a:rPr spc="-65" dirty="0"/>
              <a:t> </a:t>
            </a:r>
            <a:r>
              <a:rPr spc="-25" dirty="0"/>
              <a:t>garante</a:t>
            </a:r>
            <a:r>
              <a:rPr spc="-100" dirty="0"/>
              <a:t> </a:t>
            </a:r>
            <a:r>
              <a:rPr dirty="0"/>
              <a:t>que</a:t>
            </a:r>
            <a:r>
              <a:rPr spc="-6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solução</a:t>
            </a:r>
            <a:r>
              <a:rPr spc="-65" dirty="0"/>
              <a:t> </a:t>
            </a:r>
            <a:r>
              <a:rPr dirty="0"/>
              <a:t>seja</a:t>
            </a:r>
            <a:r>
              <a:rPr spc="-80" dirty="0"/>
              <a:t> </a:t>
            </a:r>
            <a:r>
              <a:rPr spc="-10" dirty="0"/>
              <a:t>encontrada</a:t>
            </a:r>
            <a:r>
              <a:rPr spc="-55" dirty="0"/>
              <a:t> </a:t>
            </a:r>
            <a:r>
              <a:rPr dirty="0"/>
              <a:t>mais</a:t>
            </a:r>
            <a:r>
              <a:rPr spc="-120" dirty="0"/>
              <a:t> </a:t>
            </a:r>
            <a:r>
              <a:rPr spc="-10" dirty="0"/>
              <a:t>rápido.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SciKit-</a:t>
            </a:r>
            <a:r>
              <a:rPr dirty="0"/>
              <a:t>Learn:</a:t>
            </a:r>
            <a:r>
              <a:rPr spc="35" dirty="0"/>
              <a:t> </a:t>
            </a:r>
            <a:r>
              <a:rPr spc="-10" dirty="0"/>
              <a:t>k-Means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351" y="2443471"/>
            <a:ext cx="4171541" cy="269783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6580" y="2432650"/>
            <a:ext cx="4174707" cy="26994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07533" y="2922219"/>
            <a:ext cx="9391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k-Means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10200" y="3299459"/>
            <a:ext cx="934719" cy="635635"/>
            <a:chOff x="5410200" y="3299459"/>
            <a:chExt cx="934719" cy="635635"/>
          </a:xfrm>
        </p:grpSpPr>
        <p:sp>
          <p:nvSpPr>
            <p:cNvPr id="7" name="object 7"/>
            <p:cNvSpPr/>
            <p:nvPr/>
          </p:nvSpPr>
          <p:spPr>
            <a:xfrm>
              <a:off x="5416295" y="3305555"/>
              <a:ext cx="922019" cy="623570"/>
            </a:xfrm>
            <a:custGeom>
              <a:avLst/>
              <a:gdLst/>
              <a:ahLst/>
              <a:cxnLst/>
              <a:rect l="l" t="t" r="r" b="b"/>
              <a:pathLst>
                <a:path w="922020" h="623570">
                  <a:moveTo>
                    <a:pt x="610362" y="0"/>
                  </a:moveTo>
                  <a:lnTo>
                    <a:pt x="610362" y="155829"/>
                  </a:lnTo>
                  <a:lnTo>
                    <a:pt x="0" y="155829"/>
                  </a:lnTo>
                  <a:lnTo>
                    <a:pt x="0" y="467487"/>
                  </a:lnTo>
                  <a:lnTo>
                    <a:pt x="610362" y="467487"/>
                  </a:lnTo>
                  <a:lnTo>
                    <a:pt x="610362" y="623316"/>
                  </a:lnTo>
                  <a:lnTo>
                    <a:pt x="922019" y="311658"/>
                  </a:lnTo>
                  <a:lnTo>
                    <a:pt x="610362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6295" y="3305555"/>
              <a:ext cx="922019" cy="623570"/>
            </a:xfrm>
            <a:custGeom>
              <a:avLst/>
              <a:gdLst/>
              <a:ahLst/>
              <a:cxnLst/>
              <a:rect l="l" t="t" r="r" b="b"/>
              <a:pathLst>
                <a:path w="922020" h="623570">
                  <a:moveTo>
                    <a:pt x="0" y="155829"/>
                  </a:moveTo>
                  <a:lnTo>
                    <a:pt x="610362" y="155829"/>
                  </a:lnTo>
                  <a:lnTo>
                    <a:pt x="610362" y="0"/>
                  </a:lnTo>
                  <a:lnTo>
                    <a:pt x="922019" y="311658"/>
                  </a:lnTo>
                  <a:lnTo>
                    <a:pt x="610362" y="623316"/>
                  </a:lnTo>
                  <a:lnTo>
                    <a:pt x="610362" y="467487"/>
                  </a:lnTo>
                  <a:lnTo>
                    <a:pt x="0" y="467487"/>
                  </a:lnTo>
                  <a:lnTo>
                    <a:pt x="0" y="155829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91659" y="5730341"/>
            <a:ext cx="312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Exemplo:</a:t>
            </a:r>
            <a:r>
              <a:rPr sz="1800" u="sng" spc="-5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kmeans_example.ipynb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267" y="2616530"/>
            <a:ext cx="340296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0351" y="416051"/>
            <a:ext cx="2656332" cy="26563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020" y="1295526"/>
            <a:ext cx="2359151" cy="40733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49183" y="324169"/>
            <a:ext cx="3238500" cy="310178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9764" y="3805428"/>
            <a:ext cx="3166872" cy="2897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048" y="3425952"/>
            <a:ext cx="3108960" cy="31074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1132</Words>
  <Application>Microsoft Office PowerPoint</Application>
  <PresentationFormat>Widescreen</PresentationFormat>
  <Paragraphs>85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Wingdings</vt:lpstr>
      <vt:lpstr>Office Theme</vt:lpstr>
      <vt:lpstr>TP555 - Inteligência Artificial e Machine Learning: k-Médias</vt:lpstr>
      <vt:lpstr>Recapitulando</vt:lpstr>
      <vt:lpstr>Motivação</vt:lpstr>
      <vt:lpstr>Motivação</vt:lpstr>
      <vt:lpstr>Identificação de clusters</vt:lpstr>
      <vt:lpstr>Como representar os clusters?</vt:lpstr>
      <vt:lpstr>Como devem ser os clusters?</vt:lpstr>
      <vt:lpstr>Medindo distâncias</vt:lpstr>
      <vt:lpstr>A qual cluster um exemplo deve pertencer?</vt:lpstr>
      <vt:lpstr>k-Means</vt:lpstr>
      <vt:lpstr>Como inicializar os centroides?</vt:lpstr>
      <vt:lpstr>SciKit-Learn: k-Means</vt:lpstr>
      <vt:lpstr>Obrigado!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2025-01-25T01:23:51Z</dcterms:created>
  <dcterms:modified xsi:type="dcterms:W3CDTF">2025-01-27T18:43:48Z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2013</vt:lpwstr>
  </property>
</Properties>
</file>