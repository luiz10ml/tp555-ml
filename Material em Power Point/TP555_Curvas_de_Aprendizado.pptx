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954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iz Augusto Melo Pereira" userId="4bd5ce759a66f368" providerId="LiveId" clId="{AE804087-8B5C-4833-B107-AC49707B4D22}"/>
    <pc:docChg chg="modSld">
      <pc:chgData name="Luiz Augusto Melo Pereira" userId="4bd5ce759a66f368" providerId="LiveId" clId="{AE804087-8B5C-4833-B107-AC49707B4D22}" dt="2025-01-28T14:19:21.893" v="1" actId="207"/>
      <pc:docMkLst>
        <pc:docMk/>
      </pc:docMkLst>
      <pc:sldChg chg="modSp mod">
        <pc:chgData name="Luiz Augusto Melo Pereira" userId="4bd5ce759a66f368" providerId="LiveId" clId="{AE804087-8B5C-4833-B107-AC49707B4D22}" dt="2025-01-28T14:19:21.893" v="1" actId="207"/>
        <pc:sldMkLst>
          <pc:docMk/>
          <pc:sldMk cId="0" sldId="260"/>
        </pc:sldMkLst>
        <pc:spChg chg="mod">
          <ac:chgData name="Luiz Augusto Melo Pereira" userId="4bd5ce759a66f368" providerId="LiveId" clId="{AE804087-8B5C-4833-B107-AC49707B4D22}" dt="2025-01-28T14:19:21.893" v="1" actId="207"/>
          <ac:spMkLst>
            <pc:docMk/>
            <pc:sldMk cId="0" sldId="260"/>
            <ac:spMk id="7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 u="sng">
                <a:solidFill>
                  <a:srgbClr val="0462C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1/28/2025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1/28/2025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1/28/2025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939" y="124155"/>
            <a:ext cx="10516870" cy="11827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939" y="1793493"/>
            <a:ext cx="9617710" cy="21164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 u="sng">
                <a:solidFill>
                  <a:srgbClr val="0462C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hyperlink" Target="mailto:felipe.figueiredo@inatel.br" TargetMode="External"/><Relationship Id="rId4" Type="http://schemas.openxmlformats.org/officeDocument/2006/relationships/hyperlink" Target="mailto:luiz.melo@inatel.br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github/luiz10ml/tp555-ml/blob/main/exemplos/non-linear-regression/curvas_de_aprendizado.ipynb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github/luiz10ml/tp555-ml/blob/main/exemplos/non-linear-regression/curvas_de_aprendizado.ipynb" TargetMode="External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github/luiz10ml/tp555-ml/blob/main/exemplos/non-linear-regression/curvas_de_aprendizado.ipynb" TargetMode="External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github/luiz10ml/tp555-ml/blob/main/exemplos/non-linear-regression/curvas_de_aprendizado.ipynb" TargetMode="External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stackoverflow.com/questions/4617365/what-is-a-learning-curve-in-machine-learning" TargetMode="External"/><Relationship Id="rId2" Type="http://schemas.openxmlformats.org/officeDocument/2006/relationships/hyperlink" Target="https://scikit-learn.org/stable/modules/learning_curve.html#learning-curve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5685" y="907237"/>
            <a:ext cx="8340090" cy="2408555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marL="12700" marR="5080" algn="ctr">
              <a:lnSpc>
                <a:spcPts val="5830"/>
              </a:lnSpc>
              <a:spcBef>
                <a:spcPts val="835"/>
              </a:spcBef>
            </a:pPr>
            <a:r>
              <a:rPr sz="5400" dirty="0"/>
              <a:t>TP555</a:t>
            </a:r>
            <a:r>
              <a:rPr sz="5400" spc="-60" dirty="0"/>
              <a:t> </a:t>
            </a:r>
            <a:r>
              <a:rPr sz="5400" dirty="0"/>
              <a:t>-</a:t>
            </a:r>
            <a:r>
              <a:rPr sz="5400" spc="-45" dirty="0"/>
              <a:t> </a:t>
            </a:r>
            <a:r>
              <a:rPr sz="5400" dirty="0"/>
              <a:t>Inteligência</a:t>
            </a:r>
            <a:r>
              <a:rPr sz="5400" spc="-100" dirty="0"/>
              <a:t> </a:t>
            </a:r>
            <a:r>
              <a:rPr sz="5400" dirty="0"/>
              <a:t>Artificial</a:t>
            </a:r>
            <a:r>
              <a:rPr sz="5400" spc="-65" dirty="0"/>
              <a:t> </a:t>
            </a:r>
            <a:r>
              <a:rPr sz="5400" spc="-50" dirty="0"/>
              <a:t>e </a:t>
            </a:r>
            <a:r>
              <a:rPr sz="5400" dirty="0"/>
              <a:t>Machine</a:t>
            </a:r>
            <a:r>
              <a:rPr sz="5400" spc="-30" dirty="0"/>
              <a:t> </a:t>
            </a:r>
            <a:r>
              <a:rPr sz="5400" spc="-10" dirty="0"/>
              <a:t>Learning:</a:t>
            </a:r>
            <a:endParaRPr sz="5400"/>
          </a:p>
          <a:p>
            <a:pPr marL="7620" algn="ctr">
              <a:lnSpc>
                <a:spcPts val="6365"/>
              </a:lnSpc>
            </a:pPr>
            <a:r>
              <a:rPr sz="6000" i="1" dirty="0">
                <a:latin typeface="Calibri Light"/>
                <a:cs typeface="Calibri Light"/>
              </a:rPr>
              <a:t>Curvas</a:t>
            </a:r>
            <a:r>
              <a:rPr sz="6000" i="1" spc="-229" dirty="0">
                <a:latin typeface="Calibri Light"/>
                <a:cs typeface="Calibri Light"/>
              </a:rPr>
              <a:t> </a:t>
            </a:r>
            <a:r>
              <a:rPr sz="6000" i="1" dirty="0">
                <a:latin typeface="Calibri Light"/>
                <a:cs typeface="Calibri Light"/>
              </a:rPr>
              <a:t>de</a:t>
            </a:r>
            <a:r>
              <a:rPr sz="6000" i="1" spc="-200" dirty="0">
                <a:latin typeface="Calibri Light"/>
                <a:cs typeface="Calibri Light"/>
              </a:rPr>
              <a:t> </a:t>
            </a:r>
            <a:r>
              <a:rPr sz="6000" i="1" spc="-10" dirty="0">
                <a:latin typeface="Calibri Light"/>
                <a:cs typeface="Calibri Light"/>
              </a:rPr>
              <a:t>aprendizado</a:t>
            </a:r>
            <a:endParaRPr sz="6000">
              <a:latin typeface="Calibri Light"/>
              <a:cs typeface="Calibri Ligh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3425" y="5557413"/>
            <a:ext cx="2178223" cy="61895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65319" y="3396386"/>
            <a:ext cx="2165576" cy="2237104"/>
          </a:xfrm>
          <a:prstGeom prst="rect">
            <a:avLst/>
          </a:prstGeom>
        </p:spPr>
      </p:pic>
      <p:sp>
        <p:nvSpPr>
          <p:cNvPr id="6" name="object 3">
            <a:extLst>
              <a:ext uri="{FF2B5EF4-FFF2-40B4-BE49-F238E27FC236}">
                <a16:creationId xmlns:a16="http://schemas.microsoft.com/office/drawing/2014/main" id="{E8B84E17-5700-596B-D117-DD5E77AD4F27}"/>
              </a:ext>
            </a:extLst>
          </p:cNvPr>
          <p:cNvSpPr txBox="1"/>
          <p:nvPr/>
        </p:nvSpPr>
        <p:spPr>
          <a:xfrm>
            <a:off x="4193222" y="6176369"/>
            <a:ext cx="3805554" cy="6070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pt-BR" sz="2000" b="1" dirty="0">
                <a:latin typeface="Calibri"/>
                <a:cs typeface="Calibri"/>
              </a:rPr>
              <a:t>Prof. Dr. Luiz Augusto Melo Pereira</a:t>
            </a:r>
            <a:endParaRPr sz="2000" b="1" dirty="0">
              <a:latin typeface="Calibri"/>
              <a:cs typeface="Calibri"/>
            </a:endParaRPr>
          </a:p>
          <a:p>
            <a:pPr marL="12700" algn="ctr">
              <a:lnSpc>
                <a:spcPct val="100000"/>
              </a:lnSpc>
              <a:spcBef>
                <a:spcPts val="10"/>
              </a:spcBef>
            </a:pPr>
            <a:r>
              <a:rPr lang="pt-BR" spc="-10" dirty="0">
                <a:latin typeface="Calibri"/>
                <a:cs typeface="Calibri"/>
                <a:hlinkClick r:id="rId4"/>
              </a:rPr>
              <a:t>luiz</a:t>
            </a:r>
            <a:r>
              <a:rPr lang="pt-BR" sz="1800" spc="-10" dirty="0">
                <a:latin typeface="Calibri"/>
                <a:cs typeface="Calibri"/>
                <a:hlinkClick r:id="rId4"/>
              </a:rPr>
              <a:t>.melo@inatel.br</a:t>
            </a:r>
            <a:endParaRPr lang="pt-BR" sz="1800" dirty="0">
              <a:latin typeface="Calibri"/>
              <a:cs typeface="Calibri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E5865B25-C1F8-6C8F-A9D5-33DE6AC4A514}"/>
              </a:ext>
            </a:extLst>
          </p:cNvPr>
          <p:cNvSpPr txBox="1"/>
          <p:nvPr/>
        </p:nvSpPr>
        <p:spPr>
          <a:xfrm>
            <a:off x="7137790" y="3972006"/>
            <a:ext cx="512512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Calibri"/>
                <a:cs typeface="Calibri"/>
              </a:rPr>
              <a:t>Esse material foi desenvolvido e gentilmente cedido </a:t>
            </a:r>
          </a:p>
          <a:p>
            <a:r>
              <a:rPr lang="pt-BR" dirty="0">
                <a:latin typeface="Calibri"/>
                <a:cs typeface="Calibri"/>
              </a:rPr>
              <a:t>pelo Prof. Dr. Felipe Augusto Pereira de Figueiredo, </a:t>
            </a:r>
          </a:p>
          <a:p>
            <a:r>
              <a:rPr lang="pt-BR" dirty="0">
                <a:latin typeface="Calibri"/>
                <a:cs typeface="Calibri"/>
              </a:rPr>
              <a:t>do Inatel.</a:t>
            </a:r>
            <a:r>
              <a:rPr lang="pt-BR" sz="1800" spc="-10" dirty="0">
                <a:latin typeface="Calibri"/>
                <a:cs typeface="Calibri"/>
              </a:rPr>
              <a:t>(</a:t>
            </a:r>
            <a:r>
              <a:rPr lang="pt-BR" sz="1800" spc="-10" dirty="0">
                <a:latin typeface="Calibri"/>
                <a:cs typeface="Calibri"/>
                <a:hlinkClick r:id="rId5"/>
              </a:rPr>
              <a:t>felipe.figueiredo@inatel.br</a:t>
            </a:r>
            <a:r>
              <a:rPr lang="pt-BR" sz="1800" spc="-10" dirty="0">
                <a:latin typeface="Calibri"/>
                <a:cs typeface="Calibri"/>
              </a:rPr>
              <a:t>)</a:t>
            </a:r>
            <a:endParaRPr lang="pt-BR" sz="1800" dirty="0">
              <a:latin typeface="Calibri"/>
              <a:cs typeface="Calibri"/>
            </a:endParaRPr>
          </a:p>
          <a:p>
            <a:endParaRPr lang="pt-BR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474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Curvas</a:t>
            </a:r>
            <a:r>
              <a:rPr spc="-45" dirty="0"/>
              <a:t> </a:t>
            </a:r>
            <a:r>
              <a:rPr dirty="0"/>
              <a:t>de</a:t>
            </a:r>
            <a:r>
              <a:rPr spc="-20" dirty="0"/>
              <a:t> </a:t>
            </a:r>
            <a:r>
              <a:rPr spc="-10" dirty="0"/>
              <a:t>Aprendizado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327149"/>
            <a:ext cx="11028045" cy="5351780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241300" marR="566420" indent="-228600">
              <a:lnSpc>
                <a:spcPct val="80000"/>
              </a:lnSpc>
              <a:spcBef>
                <a:spcPts val="765"/>
              </a:spcBef>
              <a:buFont typeface="Arial"/>
              <a:buChar char="•"/>
              <a:tabLst>
                <a:tab pos="241300" algn="l"/>
              </a:tabLst>
            </a:pPr>
            <a:r>
              <a:rPr sz="2800" b="1" i="1" dirty="0">
                <a:latin typeface="Calibri"/>
                <a:cs typeface="Calibri"/>
              </a:rPr>
              <a:t>Curvas</a:t>
            </a:r>
            <a:r>
              <a:rPr sz="2800" b="1" i="1" spc="-7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de</a:t>
            </a:r>
            <a:r>
              <a:rPr sz="2800" b="1" i="1" spc="-6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aprendizado</a:t>
            </a:r>
            <a:r>
              <a:rPr sz="2800" spc="-10" dirty="0">
                <a:latin typeface="Calibri"/>
                <a:cs typeface="Calibri"/>
              </a:rPr>
              <a:t>: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são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gráficos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comparam</a:t>
            </a:r>
            <a:r>
              <a:rPr sz="2800" b="1" i="1" spc="-8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o</a:t>
            </a:r>
            <a:r>
              <a:rPr sz="2800" b="1" i="1" spc="-8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desempenho</a:t>
            </a:r>
            <a:r>
              <a:rPr sz="2800" b="1" i="1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25" dirty="0">
                <a:solidFill>
                  <a:srgbClr val="00AF50"/>
                </a:solidFill>
                <a:latin typeface="Calibri"/>
                <a:cs typeface="Calibri"/>
              </a:rPr>
              <a:t>do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modelo</a:t>
            </a:r>
            <a:r>
              <a:rPr sz="2800" b="1" i="1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nos</a:t>
            </a:r>
            <a:r>
              <a:rPr sz="2800" b="1" i="1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conjuntos</a:t>
            </a:r>
            <a:r>
              <a:rPr sz="2800" b="1" i="1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2800" b="1" i="1" spc="-4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treinamento</a:t>
            </a:r>
            <a:r>
              <a:rPr sz="2800" b="1" i="1" spc="-4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e</a:t>
            </a:r>
            <a:r>
              <a:rPr sz="2800" b="1" i="1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2800" b="1" i="1" spc="-4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20" dirty="0">
                <a:solidFill>
                  <a:srgbClr val="00AF50"/>
                </a:solidFill>
                <a:latin typeface="Calibri"/>
                <a:cs typeface="Calibri"/>
              </a:rPr>
              <a:t>validação</a:t>
            </a:r>
            <a:r>
              <a:rPr sz="2800" b="1" i="1" spc="-14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EF"/>
                </a:solidFill>
                <a:latin typeface="Calibri"/>
                <a:cs typeface="Calibri"/>
              </a:rPr>
              <a:t>em</a:t>
            </a:r>
            <a:r>
              <a:rPr sz="2800" b="1" i="1" spc="-4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EF"/>
                </a:solidFill>
                <a:latin typeface="Calibri"/>
                <a:cs typeface="Calibri"/>
              </a:rPr>
              <a:t>função</a:t>
            </a:r>
            <a:r>
              <a:rPr sz="2800" b="1" i="1" spc="-6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800" b="1" i="1" spc="-25" dirty="0">
                <a:solidFill>
                  <a:srgbClr val="00AFEF"/>
                </a:solidFill>
                <a:latin typeface="Calibri"/>
                <a:cs typeface="Calibri"/>
              </a:rPr>
              <a:t>do </a:t>
            </a:r>
            <a:r>
              <a:rPr sz="2800" b="1" i="1" dirty="0">
                <a:solidFill>
                  <a:srgbClr val="00AFEF"/>
                </a:solidFill>
                <a:latin typeface="Calibri"/>
                <a:cs typeface="Calibri"/>
              </a:rPr>
              <a:t>tamanho</a:t>
            </a:r>
            <a:r>
              <a:rPr sz="2800" b="1" i="1" spc="-6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EF"/>
                </a:solidFill>
                <a:latin typeface="Calibri"/>
                <a:cs typeface="Calibri"/>
              </a:rPr>
              <a:t>do</a:t>
            </a:r>
            <a:r>
              <a:rPr sz="2800" b="1" i="1" spc="-5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EF"/>
                </a:solidFill>
                <a:latin typeface="Calibri"/>
                <a:cs typeface="Calibri"/>
              </a:rPr>
              <a:t>conjunto</a:t>
            </a:r>
            <a:r>
              <a:rPr sz="2800" b="1" i="1" spc="-9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EF"/>
                </a:solidFill>
                <a:latin typeface="Calibri"/>
                <a:cs typeface="Calibri"/>
              </a:rPr>
              <a:t>de</a:t>
            </a:r>
            <a:r>
              <a:rPr sz="2800" b="1" i="1" spc="-5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EF"/>
                </a:solidFill>
                <a:latin typeface="Calibri"/>
                <a:cs typeface="Calibri"/>
              </a:rPr>
              <a:t>treinamento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>
              <a:latin typeface="Calibri"/>
              <a:cs typeface="Calibri"/>
            </a:endParaRPr>
          </a:p>
          <a:p>
            <a:pPr marL="698500" lvl="1" indent="-229235">
              <a:lnSpc>
                <a:spcPts val="2825"/>
              </a:lnSpc>
              <a:buFont typeface="Wingdings"/>
              <a:buChar char=""/>
              <a:tabLst>
                <a:tab pos="699135" algn="l"/>
              </a:tabLst>
            </a:pPr>
            <a:r>
              <a:rPr sz="2400" b="1" dirty="0">
                <a:latin typeface="Calibri"/>
                <a:cs typeface="Calibri"/>
              </a:rPr>
              <a:t>OBS</a:t>
            </a:r>
            <a:r>
              <a:rPr sz="2400" dirty="0">
                <a:latin typeface="Calibri"/>
                <a:cs typeface="Calibri"/>
              </a:rPr>
              <a:t>.: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tamanho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conjunto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validação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permanece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constante.</a:t>
            </a:r>
            <a:endParaRPr sz="2400">
              <a:latin typeface="Calibri"/>
              <a:cs typeface="Calibri"/>
            </a:endParaRPr>
          </a:p>
          <a:p>
            <a:pPr marL="241300" marR="5080" indent="-228600">
              <a:lnSpc>
                <a:spcPct val="80000"/>
              </a:lnSpc>
              <a:spcBef>
                <a:spcPts val="98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São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ferramentas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úteis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avaliar</a:t>
            </a:r>
            <a:r>
              <a:rPr sz="2800" b="1" i="1" spc="-6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o</a:t>
            </a:r>
            <a:r>
              <a:rPr sz="2800" b="1" i="1" spc="-7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desempenho</a:t>
            </a:r>
            <a:r>
              <a:rPr sz="2800" b="1" i="1" spc="-6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do</a:t>
            </a:r>
            <a:r>
              <a:rPr sz="2800" b="1" i="1" spc="-7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modelo</a:t>
            </a:r>
            <a:r>
              <a:rPr sz="2800" b="1" i="1" spc="-55" dirty="0">
                <a:latin typeface="Calibri"/>
                <a:cs typeface="Calibri"/>
              </a:rPr>
              <a:t> </a:t>
            </a:r>
            <a:r>
              <a:rPr sz="2800" b="1" i="1" spc="-25" dirty="0">
                <a:latin typeface="Calibri"/>
                <a:cs typeface="Calibri"/>
              </a:rPr>
              <a:t>de </a:t>
            </a:r>
            <a:r>
              <a:rPr sz="2800" b="1" i="1" spc="-10" dirty="0">
                <a:latin typeface="Calibri"/>
                <a:cs typeface="Calibri"/>
              </a:rPr>
              <a:t>aprendizado</a:t>
            </a:r>
            <a:r>
              <a:rPr sz="2800" b="1" i="1" spc="-5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de</a:t>
            </a:r>
            <a:r>
              <a:rPr sz="2800" b="1" i="1" spc="-6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máquina</a:t>
            </a:r>
            <a:r>
              <a:rPr sz="2800" b="1" i="1" spc="-6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à</a:t>
            </a:r>
            <a:r>
              <a:rPr sz="2800" b="1" i="1" spc="-7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medida</a:t>
            </a:r>
            <a:r>
              <a:rPr sz="2800" b="1" i="1" spc="-5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que</a:t>
            </a:r>
            <a:r>
              <a:rPr sz="2800" b="1" i="1" spc="-5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mais</a:t>
            </a:r>
            <a:r>
              <a:rPr sz="2800" b="1" i="1" spc="-6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dados</a:t>
            </a:r>
            <a:r>
              <a:rPr sz="2800" b="1" i="1" spc="-7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são</a:t>
            </a:r>
            <a:r>
              <a:rPr sz="2800" b="1" i="1" spc="-7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fornecidos</a:t>
            </a:r>
            <a:r>
              <a:rPr sz="2800" b="1" i="1" spc="-5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para</a:t>
            </a:r>
            <a:r>
              <a:rPr sz="2800" b="1" i="1" spc="-60" dirty="0">
                <a:latin typeface="Calibri"/>
                <a:cs typeface="Calibri"/>
              </a:rPr>
              <a:t> </a:t>
            </a:r>
            <a:r>
              <a:rPr sz="2800" b="1" i="1" spc="-50" dirty="0">
                <a:latin typeface="Calibri"/>
                <a:cs typeface="Calibri"/>
              </a:rPr>
              <a:t>o </a:t>
            </a:r>
            <a:r>
              <a:rPr sz="2800" b="1" i="1" spc="-10" dirty="0">
                <a:latin typeface="Calibri"/>
                <a:cs typeface="Calibri"/>
              </a:rPr>
              <a:t>treinamento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>
              <a:latin typeface="Calibri"/>
              <a:cs typeface="Calibri"/>
            </a:endParaRPr>
          </a:p>
          <a:p>
            <a:pPr marL="241300" indent="-228600">
              <a:lnSpc>
                <a:spcPts val="3329"/>
              </a:lnSpc>
              <a:spcBef>
                <a:spcPts val="32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Essa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comparação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normalmente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usada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avaliar:</a:t>
            </a:r>
            <a:endParaRPr sz="2800">
              <a:latin typeface="Calibri"/>
              <a:cs typeface="Calibri"/>
            </a:endParaRPr>
          </a:p>
          <a:p>
            <a:pPr marL="698500" marR="97790" lvl="1" indent="-228600">
              <a:lnSpc>
                <a:spcPct val="80100"/>
              </a:lnSpc>
              <a:spcBef>
                <a:spcPts val="545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Qual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é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melhor</a:t>
            </a:r>
            <a:r>
              <a:rPr sz="2400" b="1" i="1" spc="-2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nível</a:t>
            </a:r>
            <a:r>
              <a:rPr sz="2400" b="1" i="1" spc="-2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de</a:t>
            </a:r>
            <a:r>
              <a:rPr sz="2400" b="1" i="1" spc="-30" dirty="0">
                <a:latin typeface="Calibri"/>
                <a:cs typeface="Calibri"/>
              </a:rPr>
              <a:t> </a:t>
            </a:r>
            <a:r>
              <a:rPr sz="2400" b="1" i="1" spc="-10" dirty="0">
                <a:latin typeface="Calibri"/>
                <a:cs typeface="Calibri"/>
              </a:rPr>
              <a:t>complexidade</a:t>
            </a:r>
            <a:r>
              <a:rPr sz="2400" b="1" i="1" spc="-5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de</a:t>
            </a:r>
            <a:r>
              <a:rPr sz="2400" b="1" i="1" spc="-2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um</a:t>
            </a:r>
            <a:r>
              <a:rPr sz="2400" b="1" i="1" spc="-2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modelo</a:t>
            </a:r>
            <a:r>
              <a:rPr sz="2400" b="1" i="1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(no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caso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polinômios,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sua </a:t>
            </a:r>
            <a:r>
              <a:rPr sz="2400" dirty="0">
                <a:latin typeface="Calibri"/>
                <a:cs typeface="Calibri"/>
              </a:rPr>
              <a:t>ordem).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Em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outras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palavras,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são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usadas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determinar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ponto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equilíbrio </a:t>
            </a:r>
            <a:r>
              <a:rPr sz="2400" dirty="0">
                <a:latin typeface="Calibri"/>
                <a:cs typeface="Calibri"/>
              </a:rPr>
              <a:t>entre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erros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variância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(sobreajuste)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viés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(subajuste).</a:t>
            </a:r>
            <a:endParaRPr sz="2400">
              <a:latin typeface="Calibri"/>
              <a:cs typeface="Calibri"/>
            </a:endParaRPr>
          </a:p>
          <a:p>
            <a:pPr marL="698500" marR="119380" lvl="1" indent="-228600">
              <a:lnSpc>
                <a:spcPts val="2300"/>
              </a:lnSpc>
              <a:spcBef>
                <a:spcPts val="489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quanto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modelo</a:t>
            </a:r>
            <a:r>
              <a:rPr sz="2400" b="1" i="1" spc="-4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se</a:t>
            </a:r>
            <a:r>
              <a:rPr sz="2400" b="1" i="1" spc="-2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beneficia</a:t>
            </a:r>
            <a:r>
              <a:rPr sz="2400" b="1" i="1" spc="-4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de</a:t>
            </a:r>
            <a:r>
              <a:rPr sz="2400" b="1" i="1" spc="-3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mais</a:t>
            </a:r>
            <a:r>
              <a:rPr sz="2400" b="1" i="1" spc="-3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dados</a:t>
            </a:r>
            <a:r>
              <a:rPr sz="2400" b="1" i="1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(por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exemplo,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temos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"dados </a:t>
            </a:r>
            <a:r>
              <a:rPr sz="2400" dirty="0">
                <a:latin typeface="Calibri"/>
                <a:cs typeface="Calibri"/>
              </a:rPr>
              <a:t>suficientes"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desempenho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modelo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ficará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melhor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aumentarmos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20" dirty="0">
                <a:latin typeface="Calibri"/>
                <a:cs typeface="Calibri"/>
              </a:rPr>
              <a:t> base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dados).</a:t>
            </a:r>
            <a:endParaRPr sz="2400">
              <a:latin typeface="Calibri"/>
              <a:cs typeface="Calibri"/>
            </a:endParaRPr>
          </a:p>
          <a:p>
            <a:pPr marL="698500" lvl="1" indent="-229235">
              <a:lnSpc>
                <a:spcPts val="2825"/>
              </a:lnSpc>
              <a:buFont typeface="Wingdings"/>
              <a:buChar char="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Podemos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também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usar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curvas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otimização</a:t>
            </a:r>
            <a:r>
              <a:rPr sz="2400" b="1" i="1" spc="-4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dos</a:t>
            </a:r>
            <a:r>
              <a:rPr sz="2400" b="1" i="1" spc="-4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hiperparâmetros</a:t>
            </a:r>
            <a:r>
              <a:rPr sz="2400" b="1" i="1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modelo.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9885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Curvas</a:t>
            </a:r>
            <a:r>
              <a:rPr spc="-85" dirty="0"/>
              <a:t> </a:t>
            </a:r>
            <a:r>
              <a:rPr dirty="0"/>
              <a:t>de</a:t>
            </a:r>
            <a:r>
              <a:rPr spc="-65" dirty="0"/>
              <a:t> </a:t>
            </a:r>
            <a:r>
              <a:rPr dirty="0"/>
              <a:t>Aprendizado:</a:t>
            </a:r>
            <a:r>
              <a:rPr spc="-75" dirty="0"/>
              <a:t> </a:t>
            </a:r>
            <a:r>
              <a:rPr spc="-10" dirty="0"/>
              <a:t>Exemplo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39194" y="1548941"/>
            <a:ext cx="2913610" cy="281649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16939" y="4383785"/>
            <a:ext cx="10791190" cy="1946275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241300" marR="5080" indent="-228600">
              <a:lnSpc>
                <a:spcPts val="3030"/>
              </a:lnSpc>
              <a:spcBef>
                <a:spcPts val="47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Caso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não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conhecêssemos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mapeamento</a:t>
            </a:r>
            <a:r>
              <a:rPr sz="2800" b="1" i="1" spc="-7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verdadeiro</a:t>
            </a:r>
            <a:r>
              <a:rPr sz="2800" b="1" i="1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dados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ruidosos </a:t>
            </a:r>
            <a:r>
              <a:rPr sz="2800" dirty="0">
                <a:latin typeface="Calibri"/>
                <a:cs typeface="Calibri"/>
              </a:rPr>
              <a:t>da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figura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acima,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qual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ordem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polinômio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melhor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aproximaria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o </a:t>
            </a:r>
            <a:r>
              <a:rPr sz="2800" b="1" i="1" spc="-10" dirty="0">
                <a:latin typeface="Calibri"/>
                <a:cs typeface="Calibri"/>
              </a:rPr>
              <a:t>mapeamento</a:t>
            </a:r>
            <a:r>
              <a:rPr sz="2800" spc="-10" dirty="0">
                <a:latin typeface="Calibri"/>
                <a:cs typeface="Calibri"/>
              </a:rPr>
              <a:t>?</a:t>
            </a:r>
            <a:endParaRPr sz="2800">
              <a:latin typeface="Calibri"/>
              <a:cs typeface="Calibri"/>
            </a:endParaRPr>
          </a:p>
          <a:p>
            <a:pPr marL="698500" marR="412750" lvl="1" indent="-228600">
              <a:lnSpc>
                <a:spcPts val="2590"/>
              </a:lnSpc>
              <a:spcBef>
                <a:spcPts val="515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Além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validação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cruzada,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podemos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usar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chamadas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curvas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aprendizado </a:t>
            </a:r>
            <a:r>
              <a:rPr sz="2400" dirty="0">
                <a:latin typeface="Calibri"/>
                <a:cs typeface="Calibri"/>
              </a:rPr>
              <a:t>para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encontrar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ordem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polinômio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aproximador.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661529" y="1714880"/>
            <a:ext cx="14700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Calibri"/>
                <a:cs typeface="Calibri"/>
              </a:rPr>
              <a:t>Polinômio</a:t>
            </a:r>
            <a:r>
              <a:rPr sz="1200" b="1" spc="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de</a:t>
            </a:r>
            <a:r>
              <a:rPr sz="1200" b="1" spc="-1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ordem</a:t>
            </a:r>
            <a:r>
              <a:rPr sz="1200" b="1" spc="-15" dirty="0">
                <a:latin typeface="Calibri"/>
                <a:cs typeface="Calibri"/>
              </a:rPr>
              <a:t> </a:t>
            </a:r>
            <a:r>
              <a:rPr sz="1200" b="1" spc="-25" dirty="0">
                <a:latin typeface="Calibri"/>
                <a:cs typeface="Calibri"/>
              </a:rPr>
              <a:t>2.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175881" y="1958085"/>
            <a:ext cx="1277620" cy="480059"/>
          </a:xfrm>
          <a:custGeom>
            <a:avLst/>
            <a:gdLst/>
            <a:ahLst/>
            <a:cxnLst/>
            <a:rect l="l" t="t" r="r" b="b"/>
            <a:pathLst>
              <a:path w="1277620" h="480060">
                <a:moveTo>
                  <a:pt x="1204779" y="32843"/>
                </a:moveTo>
                <a:lnTo>
                  <a:pt x="0" y="473837"/>
                </a:lnTo>
                <a:lnTo>
                  <a:pt x="2159" y="479805"/>
                </a:lnTo>
                <a:lnTo>
                  <a:pt x="1206957" y="38805"/>
                </a:lnTo>
                <a:lnTo>
                  <a:pt x="1204779" y="32843"/>
                </a:lnTo>
                <a:close/>
              </a:path>
              <a:path w="1277620" h="480060">
                <a:moveTo>
                  <a:pt x="1259736" y="28448"/>
                </a:moveTo>
                <a:lnTo>
                  <a:pt x="1216787" y="28448"/>
                </a:lnTo>
                <a:lnTo>
                  <a:pt x="1218946" y="34416"/>
                </a:lnTo>
                <a:lnTo>
                  <a:pt x="1206957" y="38805"/>
                </a:lnTo>
                <a:lnTo>
                  <a:pt x="1218946" y="71627"/>
                </a:lnTo>
                <a:lnTo>
                  <a:pt x="1259736" y="28448"/>
                </a:lnTo>
                <a:close/>
              </a:path>
              <a:path w="1277620" h="480060">
                <a:moveTo>
                  <a:pt x="1216787" y="28448"/>
                </a:moveTo>
                <a:lnTo>
                  <a:pt x="1204779" y="32843"/>
                </a:lnTo>
                <a:lnTo>
                  <a:pt x="1206957" y="38805"/>
                </a:lnTo>
                <a:lnTo>
                  <a:pt x="1218946" y="34416"/>
                </a:lnTo>
                <a:lnTo>
                  <a:pt x="1216787" y="28448"/>
                </a:lnTo>
                <a:close/>
              </a:path>
              <a:path w="1277620" h="480060">
                <a:moveTo>
                  <a:pt x="1192784" y="0"/>
                </a:moveTo>
                <a:lnTo>
                  <a:pt x="1204779" y="32843"/>
                </a:lnTo>
                <a:lnTo>
                  <a:pt x="1216787" y="28448"/>
                </a:lnTo>
                <a:lnTo>
                  <a:pt x="1259736" y="28448"/>
                </a:lnTo>
                <a:lnTo>
                  <a:pt x="1277493" y="9651"/>
                </a:lnTo>
                <a:lnTo>
                  <a:pt x="11927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617202" y="6606337"/>
            <a:ext cx="248539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u="sng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Exemplo:</a:t>
            </a:r>
            <a:r>
              <a:rPr sz="1200" u="sng" spc="-3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sz="12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curvas_de_aprendizado.ipynb</a:t>
            </a:r>
            <a:endParaRPr sz="1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Curvas</a:t>
            </a:r>
            <a:r>
              <a:rPr spc="-90" dirty="0"/>
              <a:t> </a:t>
            </a:r>
            <a:r>
              <a:rPr dirty="0"/>
              <a:t>de</a:t>
            </a:r>
            <a:r>
              <a:rPr spc="-70" dirty="0"/>
              <a:t> </a:t>
            </a:r>
            <a:r>
              <a:rPr dirty="0"/>
              <a:t>Aprendizado:</a:t>
            </a:r>
            <a:r>
              <a:rPr spc="-100" dirty="0"/>
              <a:t> </a:t>
            </a:r>
            <a:r>
              <a:rPr i="1" spc="-35" dirty="0">
                <a:latin typeface="Calibri Light"/>
                <a:cs typeface="Calibri Light"/>
              </a:rPr>
              <a:t>Polinômio</a:t>
            </a:r>
            <a:r>
              <a:rPr i="1" spc="-165" dirty="0">
                <a:latin typeface="Calibri Light"/>
                <a:cs typeface="Calibri Light"/>
              </a:rPr>
              <a:t> </a:t>
            </a:r>
            <a:r>
              <a:rPr i="1" dirty="0">
                <a:latin typeface="Calibri Light"/>
                <a:cs typeface="Calibri Light"/>
              </a:rPr>
              <a:t>de</a:t>
            </a:r>
            <a:r>
              <a:rPr i="1" spc="-145" dirty="0">
                <a:latin typeface="Calibri Light"/>
                <a:cs typeface="Calibri Light"/>
              </a:rPr>
              <a:t> </a:t>
            </a:r>
            <a:r>
              <a:rPr i="1" spc="-10" dirty="0">
                <a:latin typeface="Calibri Light"/>
                <a:cs typeface="Calibri Light"/>
              </a:rPr>
              <a:t>ordem</a:t>
            </a:r>
            <a:r>
              <a:rPr i="1" spc="-190" dirty="0">
                <a:latin typeface="Calibri Light"/>
                <a:cs typeface="Calibri Light"/>
              </a:rPr>
              <a:t> </a:t>
            </a:r>
            <a:r>
              <a:rPr i="1" spc="-50" dirty="0">
                <a:latin typeface="Calibri Light"/>
                <a:cs typeface="Calibri Light"/>
              </a:rPr>
              <a:t>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3346450"/>
            <a:ext cx="10947400" cy="3077210"/>
          </a:xfrm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marL="241300" marR="189230" indent="-228600">
              <a:lnSpc>
                <a:spcPct val="70000"/>
              </a:lnSpc>
              <a:spcBef>
                <a:spcPts val="960"/>
              </a:spcBef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Com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1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2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exemplos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conjunto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treinamento,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modelo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ajusta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perfeitamente </a:t>
            </a:r>
            <a:r>
              <a:rPr sz="2400" dirty="0">
                <a:latin typeface="Calibri"/>
                <a:cs typeface="Calibri"/>
              </a:rPr>
              <a:t>(reta),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porém,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conforme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número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exemplos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aumenta,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é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impossível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ele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se </a:t>
            </a:r>
            <a:r>
              <a:rPr sz="2400" dirty="0">
                <a:latin typeface="Calibri"/>
                <a:cs typeface="Calibri"/>
              </a:rPr>
              <a:t>ajustar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(dados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não-</a:t>
            </a:r>
            <a:r>
              <a:rPr sz="2400" dirty="0">
                <a:latin typeface="Calibri"/>
                <a:cs typeface="Calibri"/>
              </a:rPr>
              <a:t>lineares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ruído).</a:t>
            </a:r>
            <a:endParaRPr sz="2400" dirty="0">
              <a:latin typeface="Calibri"/>
              <a:cs typeface="Calibri"/>
            </a:endParaRPr>
          </a:p>
          <a:p>
            <a:pPr marL="241300" marR="793115" indent="-228600">
              <a:lnSpc>
                <a:spcPct val="70100"/>
              </a:lnSpc>
              <a:spcBef>
                <a:spcPts val="994"/>
              </a:spcBef>
              <a:buFont typeface="Arial"/>
              <a:buChar char="•"/>
              <a:tabLst>
                <a:tab pos="241300" algn="l"/>
              </a:tabLst>
            </a:pPr>
            <a:r>
              <a:rPr sz="2400" b="1" i="1" dirty="0">
                <a:latin typeface="Calibri"/>
                <a:cs typeface="Calibri"/>
              </a:rPr>
              <a:t>Erro</a:t>
            </a:r>
            <a:r>
              <a:rPr sz="2400" b="1" i="1" spc="-2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nos</a:t>
            </a:r>
            <a:r>
              <a:rPr sz="2400" b="1" i="1" spc="-3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exemplos</a:t>
            </a:r>
            <a:r>
              <a:rPr sz="2400" b="1" i="1" spc="-4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de</a:t>
            </a:r>
            <a:r>
              <a:rPr sz="2400" b="1" i="1" spc="-5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treinamento</a:t>
            </a:r>
            <a:r>
              <a:rPr sz="2400" b="1" i="1" spc="-2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aumenta</a:t>
            </a:r>
            <a:r>
              <a:rPr sz="2400" b="1" i="1" spc="-5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até</a:t>
            </a:r>
            <a:r>
              <a:rPr sz="2400" b="1" i="1" spc="-3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atingir</a:t>
            </a:r>
            <a:r>
              <a:rPr sz="2400" b="1" i="1" spc="-3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um</a:t>
            </a:r>
            <a:r>
              <a:rPr sz="2400" b="1" i="1" spc="-3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platô</a:t>
            </a:r>
            <a:r>
              <a:rPr sz="2400" b="1" i="1" spc="-5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e</a:t>
            </a:r>
            <a:r>
              <a:rPr sz="2400" b="1" i="1" spc="-5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não</a:t>
            </a:r>
            <a:r>
              <a:rPr sz="2400" b="1" i="1" spc="-30" dirty="0">
                <a:latin typeface="Calibri"/>
                <a:cs typeface="Calibri"/>
              </a:rPr>
              <a:t> </a:t>
            </a:r>
            <a:r>
              <a:rPr sz="2400" b="1" i="1" spc="-10" dirty="0">
                <a:latin typeface="Calibri"/>
                <a:cs typeface="Calibri"/>
              </a:rPr>
              <a:t>diminui </a:t>
            </a:r>
            <a:r>
              <a:rPr sz="2400" b="1" i="1" dirty="0">
                <a:latin typeface="Calibri"/>
                <a:cs typeface="Calibri"/>
              </a:rPr>
              <a:t>mesmo</a:t>
            </a:r>
            <a:r>
              <a:rPr sz="2400" b="1" i="1" spc="-6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com</a:t>
            </a:r>
            <a:r>
              <a:rPr sz="2400" b="1" i="1" spc="-3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o</a:t>
            </a:r>
            <a:r>
              <a:rPr sz="2400" b="1" i="1" spc="-3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aumento</a:t>
            </a:r>
            <a:r>
              <a:rPr sz="2400" b="1" i="1" spc="-5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do</a:t>
            </a:r>
            <a:r>
              <a:rPr sz="2400" b="1" i="1" spc="-2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conjunto</a:t>
            </a:r>
            <a:r>
              <a:rPr sz="2400" b="1" i="1" spc="-1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de</a:t>
            </a:r>
            <a:r>
              <a:rPr sz="2400" b="1" i="1" spc="-35" dirty="0">
                <a:latin typeface="Calibri"/>
                <a:cs typeface="Calibri"/>
              </a:rPr>
              <a:t> </a:t>
            </a:r>
            <a:r>
              <a:rPr sz="2400" b="1" i="1" spc="-10" dirty="0">
                <a:latin typeface="Calibri"/>
                <a:cs typeface="Calibri"/>
              </a:rPr>
              <a:t>treinamento</a:t>
            </a:r>
            <a:r>
              <a:rPr sz="2400" spc="-10" dirty="0">
                <a:latin typeface="Calibri"/>
                <a:cs typeface="Calibri"/>
              </a:rPr>
              <a:t>,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pois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modelo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não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tem </a:t>
            </a:r>
            <a:r>
              <a:rPr sz="2400" spc="-10" dirty="0">
                <a:latin typeface="Calibri"/>
                <a:cs typeface="Calibri"/>
              </a:rPr>
              <a:t>flexibilidade.</a:t>
            </a:r>
            <a:endParaRPr sz="2400" dirty="0">
              <a:latin typeface="Calibri"/>
              <a:cs typeface="Calibri"/>
            </a:endParaRPr>
          </a:p>
          <a:p>
            <a:pPr marL="241300" marR="242570" indent="-228600">
              <a:lnSpc>
                <a:spcPct val="70000"/>
              </a:lnSpc>
              <a:spcBef>
                <a:spcPts val="1010"/>
              </a:spcBef>
              <a:buFont typeface="Arial"/>
              <a:buChar char="•"/>
              <a:tabLst>
                <a:tab pos="241300" algn="l"/>
              </a:tabLst>
            </a:pPr>
            <a:r>
              <a:rPr sz="2400" b="1" i="1" dirty="0">
                <a:latin typeface="Calibri"/>
                <a:cs typeface="Calibri"/>
              </a:rPr>
              <a:t>Erro</a:t>
            </a:r>
            <a:r>
              <a:rPr sz="2400" b="1" i="1" spc="-1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de</a:t>
            </a:r>
            <a:r>
              <a:rPr sz="2400" b="1" i="1" spc="-3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validação</a:t>
            </a:r>
            <a:r>
              <a:rPr sz="2400" b="1" i="1" spc="-5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é</a:t>
            </a:r>
            <a:r>
              <a:rPr sz="2400" b="1" i="1" spc="-3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alto</a:t>
            </a:r>
            <a:r>
              <a:rPr sz="2400" b="1" i="1" spc="-2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quando</a:t>
            </a:r>
            <a:r>
              <a:rPr sz="2400" b="1" i="1" spc="-4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o</a:t>
            </a:r>
            <a:r>
              <a:rPr sz="2400" b="1" i="1" spc="-2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modelo</a:t>
            </a:r>
            <a:r>
              <a:rPr sz="2400" b="1" i="1" spc="-3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é</a:t>
            </a:r>
            <a:r>
              <a:rPr sz="2400" b="1" i="1" spc="-2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treinado</a:t>
            </a:r>
            <a:r>
              <a:rPr sz="2400" b="1" i="1" spc="-2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com</a:t>
            </a:r>
            <a:r>
              <a:rPr sz="2400" b="1" i="1" spc="-2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poucos</a:t>
            </a:r>
            <a:r>
              <a:rPr sz="2400" b="1" i="1" spc="-25" dirty="0">
                <a:latin typeface="Calibri"/>
                <a:cs typeface="Calibri"/>
              </a:rPr>
              <a:t> </a:t>
            </a:r>
            <a:r>
              <a:rPr sz="2400" b="1" i="1" spc="-20" dirty="0">
                <a:latin typeface="Calibri"/>
                <a:cs typeface="Calibri"/>
              </a:rPr>
              <a:t>exemplos</a:t>
            </a:r>
            <a:r>
              <a:rPr sz="2400" spc="-20" dirty="0">
                <a:latin typeface="Calibri"/>
                <a:cs typeface="Calibri"/>
              </a:rPr>
              <a:t>,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porém, </a:t>
            </a:r>
            <a:r>
              <a:rPr sz="2400" b="1" i="1" dirty="0">
                <a:latin typeface="Calibri"/>
                <a:cs typeface="Calibri"/>
              </a:rPr>
              <a:t>diminui</a:t>
            </a:r>
            <a:r>
              <a:rPr sz="2400" b="1" i="1" spc="-6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conforme</a:t>
            </a:r>
            <a:r>
              <a:rPr sz="2400" b="1" i="1" spc="-3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o</a:t>
            </a:r>
            <a:r>
              <a:rPr sz="2400" b="1" i="1" spc="-4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conjunto</a:t>
            </a:r>
            <a:r>
              <a:rPr sz="2400" b="1" i="1" spc="-2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de</a:t>
            </a:r>
            <a:r>
              <a:rPr sz="2400" b="1" i="1" spc="-5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treinamento</a:t>
            </a:r>
            <a:r>
              <a:rPr sz="2400" b="1" i="1" spc="-35" dirty="0">
                <a:latin typeface="Calibri"/>
                <a:cs typeface="Calibri"/>
              </a:rPr>
              <a:t> </a:t>
            </a:r>
            <a:r>
              <a:rPr sz="2400" b="1" i="1" spc="-10" dirty="0">
                <a:latin typeface="Calibri"/>
                <a:cs typeface="Calibri"/>
              </a:rPr>
              <a:t>aumenta</a:t>
            </a:r>
            <a:r>
              <a:rPr sz="2400" spc="-10" dirty="0">
                <a:latin typeface="Calibri"/>
                <a:cs typeface="Calibri"/>
              </a:rPr>
              <a:t>,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terminando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em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um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platô </a:t>
            </a:r>
            <a:r>
              <a:rPr sz="2400" dirty="0">
                <a:latin typeface="Calibri"/>
                <a:cs typeface="Calibri"/>
              </a:rPr>
              <a:t>próximo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erro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treinamento.</a:t>
            </a:r>
            <a:endParaRPr sz="24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135"/>
              </a:spcBef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Essas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curvas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são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típicas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um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modelo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está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subajustando</a:t>
            </a:r>
            <a:r>
              <a:rPr sz="2400" b="1" i="1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(erros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altos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próximos).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6939" y="6414922"/>
            <a:ext cx="57277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sz="2400" b="1" dirty="0">
                <a:latin typeface="Calibri"/>
                <a:cs typeface="Calibri"/>
              </a:rPr>
              <a:t>O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que</a:t>
            </a:r>
            <a:r>
              <a:rPr sz="2400" b="1" spc="-1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fazer?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Aumentar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ordem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modelo.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214562" y="938212"/>
            <a:ext cx="8277225" cy="2431415"/>
            <a:chOff x="2214562" y="938212"/>
            <a:chExt cx="8277225" cy="243141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76865" y="1040144"/>
              <a:ext cx="8214584" cy="2272514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228850" y="952500"/>
              <a:ext cx="2804160" cy="2402840"/>
            </a:xfrm>
            <a:custGeom>
              <a:avLst/>
              <a:gdLst/>
              <a:ahLst/>
              <a:cxnLst/>
              <a:rect l="l" t="t" r="r" b="b"/>
              <a:pathLst>
                <a:path w="2804160" h="2402840">
                  <a:moveTo>
                    <a:pt x="0" y="2402332"/>
                  </a:moveTo>
                  <a:lnTo>
                    <a:pt x="2803652" y="2402332"/>
                  </a:lnTo>
                  <a:lnTo>
                    <a:pt x="2803652" y="0"/>
                  </a:lnTo>
                  <a:lnTo>
                    <a:pt x="0" y="0"/>
                  </a:lnTo>
                  <a:lnTo>
                    <a:pt x="0" y="2402332"/>
                  </a:lnTo>
                  <a:close/>
                </a:path>
              </a:pathLst>
            </a:custGeom>
            <a:ln w="2857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9617202" y="6606337"/>
            <a:ext cx="248539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u="sng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Exemplo:</a:t>
            </a:r>
            <a:r>
              <a:rPr sz="1200" u="sng" spc="-3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sz="12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curvas_de_aprendizado.ipynb</a:t>
            </a:r>
            <a:endParaRPr sz="1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Curvas</a:t>
            </a:r>
            <a:r>
              <a:rPr spc="-90" dirty="0"/>
              <a:t> </a:t>
            </a:r>
            <a:r>
              <a:rPr dirty="0"/>
              <a:t>de</a:t>
            </a:r>
            <a:r>
              <a:rPr spc="-75" dirty="0"/>
              <a:t> </a:t>
            </a:r>
            <a:r>
              <a:rPr dirty="0"/>
              <a:t>Aprendizado:</a:t>
            </a:r>
            <a:r>
              <a:rPr spc="-100" dirty="0"/>
              <a:t> </a:t>
            </a:r>
            <a:r>
              <a:rPr i="1" spc="-35" dirty="0">
                <a:latin typeface="Calibri Light"/>
                <a:cs typeface="Calibri Light"/>
              </a:rPr>
              <a:t>Polinômio</a:t>
            </a:r>
            <a:r>
              <a:rPr i="1" spc="-165" dirty="0">
                <a:latin typeface="Calibri Light"/>
                <a:cs typeface="Calibri Light"/>
              </a:rPr>
              <a:t> </a:t>
            </a:r>
            <a:r>
              <a:rPr i="1" dirty="0">
                <a:latin typeface="Calibri Light"/>
                <a:cs typeface="Calibri Light"/>
              </a:rPr>
              <a:t>de</a:t>
            </a:r>
            <a:r>
              <a:rPr i="1" spc="-145" dirty="0">
                <a:latin typeface="Calibri Light"/>
                <a:cs typeface="Calibri Light"/>
              </a:rPr>
              <a:t> </a:t>
            </a:r>
            <a:r>
              <a:rPr i="1" dirty="0">
                <a:latin typeface="Calibri Light"/>
                <a:cs typeface="Calibri Light"/>
              </a:rPr>
              <a:t>ordem</a:t>
            </a:r>
            <a:r>
              <a:rPr i="1" spc="-190" dirty="0">
                <a:latin typeface="Calibri Light"/>
                <a:cs typeface="Calibri Light"/>
              </a:rPr>
              <a:t> </a:t>
            </a:r>
            <a:r>
              <a:rPr i="1" spc="-25" dirty="0">
                <a:latin typeface="Calibri Light"/>
                <a:cs typeface="Calibri Light"/>
              </a:rPr>
              <a:t>20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3404318"/>
            <a:ext cx="10824845" cy="3016885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525"/>
              </a:spcBef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erro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treinamento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é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menor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modelo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polinômio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ordem</a:t>
            </a:r>
            <a:r>
              <a:rPr sz="2400" spc="-25" dirty="0">
                <a:latin typeface="Calibri"/>
                <a:cs typeface="Calibri"/>
              </a:rPr>
              <a:t> 1.</a:t>
            </a:r>
            <a:endParaRPr sz="2400" dirty="0">
              <a:latin typeface="Calibri"/>
              <a:cs typeface="Calibri"/>
            </a:endParaRPr>
          </a:p>
          <a:p>
            <a:pPr marL="241300" marR="721360" indent="-228600">
              <a:lnSpc>
                <a:spcPts val="2300"/>
              </a:lnSpc>
              <a:spcBef>
                <a:spcPts val="980"/>
              </a:spcBef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Porém,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há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uma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diferença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considerável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entre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curvas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erro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treinamento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e </a:t>
            </a:r>
            <a:r>
              <a:rPr sz="2400" spc="-10" dirty="0">
                <a:latin typeface="Calibri"/>
                <a:cs typeface="Calibri"/>
              </a:rPr>
              <a:t>validação.</a:t>
            </a:r>
            <a:endParaRPr sz="2400" dirty="0">
              <a:latin typeface="Calibri"/>
              <a:cs typeface="Calibri"/>
            </a:endParaRPr>
          </a:p>
          <a:p>
            <a:pPr marL="241300" marR="5080" indent="-228600">
              <a:lnSpc>
                <a:spcPct val="80000"/>
              </a:lnSpc>
              <a:spcBef>
                <a:spcPts val="1035"/>
              </a:spcBef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Isso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significa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modelo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tem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um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desempenho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melhor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conjunto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treinamento </a:t>
            </a:r>
            <a:r>
              <a:rPr sz="2400" dirty="0">
                <a:latin typeface="Calibri"/>
                <a:cs typeface="Calibri"/>
              </a:rPr>
              <a:t>do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conjunto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validação,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indicando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ele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está</a:t>
            </a:r>
            <a:r>
              <a:rPr sz="2400" spc="-114" dirty="0">
                <a:latin typeface="Calibri"/>
                <a:cs typeface="Calibri"/>
              </a:rPr>
              <a:t> </a:t>
            </a:r>
            <a:r>
              <a:rPr sz="2400" b="1" i="1" spc="-10" dirty="0">
                <a:latin typeface="Calibri"/>
                <a:cs typeface="Calibri"/>
              </a:rPr>
              <a:t>sobreajustando</a:t>
            </a:r>
            <a:r>
              <a:rPr sz="2400" spc="-1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420"/>
              </a:spcBef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performance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modelo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melhora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caso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conjunto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treinamento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aumente.</a:t>
            </a:r>
            <a:endParaRPr sz="24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40"/>
              </a:spcBef>
              <a:buFont typeface="Wingdings"/>
              <a:buChar char=""/>
              <a:tabLst>
                <a:tab pos="699135" algn="l"/>
              </a:tabLst>
            </a:pPr>
            <a:r>
              <a:rPr sz="2000" dirty="0">
                <a:latin typeface="Calibri"/>
                <a:cs typeface="Calibri"/>
              </a:rPr>
              <a:t>Com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um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conjunto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maior,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tendência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é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que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ambos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erros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convirjam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para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MSE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mínimo.</a:t>
            </a:r>
            <a:endParaRPr sz="20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405"/>
              </a:spcBef>
              <a:buFont typeface="Arial"/>
              <a:buChar char="•"/>
              <a:tabLst>
                <a:tab pos="241300" algn="l"/>
              </a:tabLst>
            </a:pPr>
            <a:r>
              <a:rPr sz="2400" b="1" dirty="0">
                <a:latin typeface="Calibri"/>
                <a:cs typeface="Calibri"/>
              </a:rPr>
              <a:t>O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que</a:t>
            </a:r>
            <a:r>
              <a:rPr sz="2400" b="1" spc="-1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fazer?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Diminuir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ordem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modelo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aumentar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conjunto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treinamento.</a:t>
            </a:r>
            <a:endParaRPr sz="2400" dirty="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078978" y="954341"/>
            <a:ext cx="8315959" cy="2335530"/>
            <a:chOff x="2078978" y="954341"/>
            <a:chExt cx="8315959" cy="233553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78978" y="1001876"/>
              <a:ext cx="8142293" cy="2252546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7528686" y="968628"/>
              <a:ext cx="2851785" cy="2306955"/>
            </a:xfrm>
            <a:custGeom>
              <a:avLst/>
              <a:gdLst/>
              <a:ahLst/>
              <a:cxnLst/>
              <a:rect l="l" t="t" r="r" b="b"/>
              <a:pathLst>
                <a:path w="2851784" h="2306954">
                  <a:moveTo>
                    <a:pt x="0" y="2306574"/>
                  </a:moveTo>
                  <a:lnTo>
                    <a:pt x="2851530" y="2306574"/>
                  </a:lnTo>
                  <a:lnTo>
                    <a:pt x="2851530" y="0"/>
                  </a:lnTo>
                  <a:lnTo>
                    <a:pt x="0" y="0"/>
                  </a:lnTo>
                  <a:lnTo>
                    <a:pt x="0" y="2306574"/>
                  </a:lnTo>
                  <a:close/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9617202" y="6644437"/>
            <a:ext cx="2485390" cy="1560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b="1" u="sng" dirty="0">
                <a:solidFill>
                  <a:srgbClr val="0000FF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Exemplo:</a:t>
            </a:r>
            <a:r>
              <a:rPr sz="1200" b="1" u="sng" spc="-35" dirty="0">
                <a:solidFill>
                  <a:schemeClr val="tx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1200" u="sng" spc="-10" dirty="0">
                <a:solidFill>
                  <a:srgbClr val="0000FF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curvas_de_aprendizado.ipynb</a:t>
            </a:r>
            <a:endParaRPr sz="1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Curvas</a:t>
            </a:r>
            <a:r>
              <a:rPr spc="-90" dirty="0"/>
              <a:t> </a:t>
            </a:r>
            <a:r>
              <a:rPr dirty="0"/>
              <a:t>de</a:t>
            </a:r>
            <a:r>
              <a:rPr spc="-75" dirty="0"/>
              <a:t> </a:t>
            </a:r>
            <a:r>
              <a:rPr dirty="0"/>
              <a:t>Aprendizado:</a:t>
            </a:r>
            <a:r>
              <a:rPr spc="-100" dirty="0"/>
              <a:t> </a:t>
            </a:r>
            <a:r>
              <a:rPr i="1" spc="-35" dirty="0">
                <a:latin typeface="Calibri Light"/>
                <a:cs typeface="Calibri Light"/>
              </a:rPr>
              <a:t>Polinômio</a:t>
            </a:r>
            <a:r>
              <a:rPr i="1" spc="-165" dirty="0">
                <a:latin typeface="Calibri Light"/>
                <a:cs typeface="Calibri Light"/>
              </a:rPr>
              <a:t> </a:t>
            </a:r>
            <a:r>
              <a:rPr i="1" dirty="0">
                <a:latin typeface="Calibri Light"/>
                <a:cs typeface="Calibri Light"/>
              </a:rPr>
              <a:t>de</a:t>
            </a:r>
            <a:r>
              <a:rPr i="1" spc="-145" dirty="0">
                <a:latin typeface="Calibri Light"/>
                <a:cs typeface="Calibri Light"/>
              </a:rPr>
              <a:t> </a:t>
            </a:r>
            <a:r>
              <a:rPr i="1" dirty="0">
                <a:latin typeface="Calibri Light"/>
                <a:cs typeface="Calibri Light"/>
              </a:rPr>
              <a:t>ordem</a:t>
            </a:r>
            <a:r>
              <a:rPr i="1" spc="-190" dirty="0">
                <a:latin typeface="Calibri Light"/>
                <a:cs typeface="Calibri Light"/>
              </a:rPr>
              <a:t> </a:t>
            </a:r>
            <a:r>
              <a:rPr i="1" spc="-50" dirty="0">
                <a:latin typeface="Calibri Light"/>
                <a:cs typeface="Calibri Light"/>
              </a:rPr>
              <a:t>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3436746"/>
            <a:ext cx="10840720" cy="3272790"/>
          </a:xfrm>
          <a:prstGeom prst="rect">
            <a:avLst/>
          </a:prstGeom>
        </p:spPr>
        <p:txBody>
          <a:bodyPr vert="horz" wrap="square" lIns="0" tIns="132080" rIns="0" bIns="0" rtlCol="0">
            <a:spAutoFit/>
          </a:bodyPr>
          <a:lstStyle/>
          <a:p>
            <a:pPr marL="241300" marR="5080" indent="-228600">
              <a:lnSpc>
                <a:spcPct val="70000"/>
              </a:lnSpc>
              <a:spcBef>
                <a:spcPts val="1040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A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diferença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entre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os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erros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diminui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com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aumento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do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conjunto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treinamento </a:t>
            </a:r>
            <a:r>
              <a:rPr sz="2600" dirty="0">
                <a:latin typeface="Calibri"/>
                <a:cs typeface="Calibri"/>
              </a:rPr>
              <a:t>se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tornando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pequena.</a:t>
            </a:r>
            <a:endParaRPr sz="2600" dirty="0">
              <a:latin typeface="Calibri"/>
              <a:cs typeface="Calibri"/>
            </a:endParaRPr>
          </a:p>
          <a:p>
            <a:pPr marL="241300" marR="62230" indent="-228600">
              <a:lnSpc>
                <a:spcPct val="70100"/>
              </a:lnSpc>
              <a:spcBef>
                <a:spcPts val="990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30" dirty="0">
                <a:latin typeface="Calibri"/>
                <a:cs typeface="Calibri"/>
              </a:rPr>
              <a:t>Tanto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erro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treinamento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quanto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validação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são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menores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do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com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50" dirty="0">
                <a:latin typeface="Calibri"/>
                <a:cs typeface="Calibri"/>
              </a:rPr>
              <a:t>o </a:t>
            </a:r>
            <a:r>
              <a:rPr sz="2600" dirty="0">
                <a:latin typeface="Calibri"/>
                <a:cs typeface="Calibri"/>
              </a:rPr>
              <a:t>modelo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com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polinômio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ordem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1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(i.e.,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reta).</a:t>
            </a:r>
            <a:endParaRPr sz="2600" dirty="0">
              <a:latin typeface="Calibri"/>
              <a:cs typeface="Calibri"/>
            </a:endParaRPr>
          </a:p>
          <a:p>
            <a:pPr marL="184785" indent="-172720">
              <a:lnSpc>
                <a:spcPts val="2100"/>
              </a:lnSpc>
              <a:buFont typeface="Arial"/>
              <a:buChar char="•"/>
              <a:tabLst>
                <a:tab pos="185420" algn="l"/>
              </a:tabLst>
            </a:pPr>
            <a:r>
              <a:rPr sz="2600" dirty="0">
                <a:latin typeface="Calibri"/>
                <a:cs typeface="Calibri"/>
              </a:rPr>
              <a:t>Isso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é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indicação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um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modelo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está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ajustando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bem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aos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dados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de</a:t>
            </a:r>
            <a:endParaRPr sz="2600" dirty="0">
              <a:latin typeface="Calibri"/>
              <a:cs typeface="Calibri"/>
            </a:endParaRPr>
          </a:p>
          <a:p>
            <a:pPr marL="184785" marR="207645">
              <a:lnSpc>
                <a:spcPts val="2500"/>
              </a:lnSpc>
              <a:spcBef>
                <a:spcPts val="290"/>
              </a:spcBef>
            </a:pPr>
            <a:r>
              <a:rPr sz="2600" dirty="0">
                <a:latin typeface="Calibri"/>
                <a:cs typeface="Calibri"/>
              </a:rPr>
              <a:t>treinamento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(i.e.,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flexibilidade)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é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capaz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generalizar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bem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para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os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dados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de </a:t>
            </a:r>
            <a:r>
              <a:rPr sz="2600" spc="-10" dirty="0">
                <a:latin typeface="Calibri"/>
                <a:cs typeface="Calibri"/>
              </a:rPr>
              <a:t>validação.</a:t>
            </a:r>
            <a:endParaRPr sz="2600" dirty="0">
              <a:latin typeface="Calibri"/>
              <a:cs typeface="Calibri"/>
            </a:endParaRPr>
          </a:p>
          <a:p>
            <a:pPr marL="184785" marR="504825" indent="-172720">
              <a:lnSpc>
                <a:spcPct val="80000"/>
              </a:lnSpc>
              <a:spcBef>
                <a:spcPts val="20"/>
              </a:spcBef>
              <a:buFont typeface="Arial"/>
              <a:buChar char="•"/>
              <a:tabLst>
                <a:tab pos="185420" algn="l"/>
              </a:tabLst>
            </a:pPr>
            <a:r>
              <a:rPr sz="2600" dirty="0">
                <a:latin typeface="Calibri"/>
                <a:cs typeface="Calibri"/>
              </a:rPr>
              <a:t>Aumentar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conjunto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treinamento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faz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com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diferença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entre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duas </a:t>
            </a:r>
            <a:r>
              <a:rPr sz="2600" dirty="0">
                <a:latin typeface="Calibri"/>
                <a:cs typeface="Calibri"/>
              </a:rPr>
              <a:t>curvas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torne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ainda</a:t>
            </a:r>
            <a:r>
              <a:rPr sz="2600" spc="-10" dirty="0">
                <a:latin typeface="Calibri"/>
                <a:cs typeface="Calibri"/>
              </a:rPr>
              <a:t> menor.</a:t>
            </a:r>
            <a:endParaRPr sz="2600" dirty="0">
              <a:latin typeface="Calibri"/>
              <a:cs typeface="Calibri"/>
            </a:endParaRPr>
          </a:p>
          <a:p>
            <a:pPr marL="184785" indent="-172720">
              <a:lnSpc>
                <a:spcPts val="2495"/>
              </a:lnSpc>
              <a:buFont typeface="Arial"/>
              <a:buChar char="•"/>
              <a:tabLst>
                <a:tab pos="185420" algn="l"/>
              </a:tabLst>
            </a:pPr>
            <a:r>
              <a:rPr sz="2600" b="1" dirty="0">
                <a:latin typeface="Calibri"/>
                <a:cs typeface="Calibri"/>
              </a:rPr>
              <a:t>O</a:t>
            </a:r>
            <a:r>
              <a:rPr sz="2600" b="1" spc="-4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que</a:t>
            </a:r>
            <a:r>
              <a:rPr sz="2600" b="1" spc="-30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fazer?</a:t>
            </a:r>
            <a:r>
              <a:rPr sz="2600" b="1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Escolher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esta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ordem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polinômio.</a:t>
            </a:r>
            <a:endParaRPr sz="2600" dirty="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013827" y="1055814"/>
            <a:ext cx="8142605" cy="2335530"/>
            <a:chOff x="2013827" y="1055814"/>
            <a:chExt cx="8142605" cy="233553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13827" y="1103349"/>
              <a:ext cx="8142293" cy="2252546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720336" y="1070102"/>
              <a:ext cx="2851785" cy="2306955"/>
            </a:xfrm>
            <a:custGeom>
              <a:avLst/>
              <a:gdLst/>
              <a:ahLst/>
              <a:cxnLst/>
              <a:rect l="l" t="t" r="r" b="b"/>
              <a:pathLst>
                <a:path w="2851784" h="2306954">
                  <a:moveTo>
                    <a:pt x="0" y="2306574"/>
                  </a:moveTo>
                  <a:lnTo>
                    <a:pt x="2851531" y="2306574"/>
                  </a:lnTo>
                  <a:lnTo>
                    <a:pt x="2851531" y="0"/>
                  </a:lnTo>
                  <a:lnTo>
                    <a:pt x="0" y="0"/>
                  </a:lnTo>
                  <a:lnTo>
                    <a:pt x="0" y="2306574"/>
                  </a:lnTo>
                  <a:close/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9617202" y="6644437"/>
            <a:ext cx="2485390" cy="1560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u="sng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Exemplo:</a:t>
            </a:r>
            <a:r>
              <a:rPr sz="1200" u="sng" spc="-3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sz="12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curvas_de_aprendizado.ipynb</a:t>
            </a:r>
            <a:endParaRPr sz="1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9885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0" dirty="0"/>
              <a:t>Referências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12700" marR="606425">
              <a:lnSpc>
                <a:spcPts val="3030"/>
              </a:lnSpc>
              <a:spcBef>
                <a:spcPts val="470"/>
              </a:spcBef>
              <a:buAutoNum type="arabicPlain"/>
              <a:tabLst>
                <a:tab pos="494030" algn="l"/>
              </a:tabLst>
            </a:pPr>
            <a:r>
              <a:rPr u="none" spc="-20" dirty="0">
                <a:solidFill>
                  <a:srgbClr val="000000"/>
                </a:solidFill>
              </a:rPr>
              <a:t>“learning-</a:t>
            </a:r>
            <a:r>
              <a:rPr u="none" spc="-30" dirty="0">
                <a:solidFill>
                  <a:srgbClr val="000000"/>
                </a:solidFill>
              </a:rPr>
              <a:t>curve”,</a:t>
            </a:r>
            <a:r>
              <a:rPr u="none" spc="-55" dirty="0">
                <a:solidFill>
                  <a:srgbClr val="000000"/>
                </a:solidFill>
              </a:rPr>
              <a:t> </a:t>
            </a:r>
            <a:r>
              <a:rPr spc="-10" dirty="0">
                <a:hlinkClick r:id="rId2"/>
              </a:rPr>
              <a:t>https://scikit-</a:t>
            </a:r>
            <a:r>
              <a:rPr u="none" spc="-10" dirty="0"/>
              <a:t> </a:t>
            </a:r>
            <a:r>
              <a:rPr spc="-25" dirty="0">
                <a:hlinkClick r:id="rId2"/>
              </a:rPr>
              <a:t>learn.org/stable/modules/learning_curve.html#learning-</a:t>
            </a:r>
            <a:r>
              <a:rPr spc="-10" dirty="0">
                <a:hlinkClick r:id="rId2"/>
              </a:rPr>
              <a:t>curve</a:t>
            </a:r>
          </a:p>
          <a:p>
            <a:pPr marL="12700" marR="5080">
              <a:lnSpc>
                <a:spcPts val="3020"/>
              </a:lnSpc>
              <a:spcBef>
                <a:spcPts val="1005"/>
              </a:spcBef>
              <a:buAutoNum type="arabicPlain"/>
              <a:tabLst>
                <a:tab pos="494030" algn="l"/>
              </a:tabLst>
            </a:pPr>
            <a:r>
              <a:rPr u="none" spc="-25" dirty="0">
                <a:solidFill>
                  <a:srgbClr val="000000"/>
                </a:solidFill>
              </a:rPr>
              <a:t>“what-is-</a:t>
            </a:r>
            <a:r>
              <a:rPr u="none" spc="-20" dirty="0">
                <a:solidFill>
                  <a:srgbClr val="000000"/>
                </a:solidFill>
              </a:rPr>
              <a:t>a-learning-curve-</a:t>
            </a:r>
            <a:r>
              <a:rPr u="none" spc="-10" dirty="0">
                <a:solidFill>
                  <a:srgbClr val="000000"/>
                </a:solidFill>
              </a:rPr>
              <a:t>in-</a:t>
            </a:r>
            <a:r>
              <a:rPr u="none" spc="-20" dirty="0">
                <a:solidFill>
                  <a:srgbClr val="000000"/>
                </a:solidFill>
              </a:rPr>
              <a:t>machine-</a:t>
            </a:r>
            <a:r>
              <a:rPr u="none" spc="-10" dirty="0">
                <a:solidFill>
                  <a:srgbClr val="000000"/>
                </a:solidFill>
              </a:rPr>
              <a:t>learning”, </a:t>
            </a:r>
            <a:r>
              <a:rPr spc="-30" dirty="0">
                <a:hlinkClick r:id="rId3"/>
              </a:rPr>
              <a:t>https://stackoverflow.com/questions/4617365/what-</a:t>
            </a:r>
            <a:r>
              <a:rPr spc="-10" dirty="0">
                <a:hlinkClick r:id="rId3"/>
              </a:rPr>
              <a:t>is-</a:t>
            </a:r>
            <a:r>
              <a:rPr spc="-20" dirty="0">
                <a:hlinkClick r:id="rId3"/>
              </a:rPr>
              <a:t>a-</a:t>
            </a:r>
            <a:r>
              <a:rPr spc="-10" dirty="0">
                <a:hlinkClick r:id="rId3"/>
              </a:rPr>
              <a:t>learning-</a:t>
            </a:r>
            <a:r>
              <a:rPr u="none" spc="-10" dirty="0"/>
              <a:t> </a:t>
            </a:r>
            <a:r>
              <a:rPr spc="-25" dirty="0">
                <a:hlinkClick r:id="rId3"/>
              </a:rPr>
              <a:t>curve-in-machine-</a:t>
            </a:r>
            <a:r>
              <a:rPr spc="-10" dirty="0">
                <a:hlinkClick r:id="rId3"/>
              </a:rPr>
              <a:t>learning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Words>711</Words>
  <Application>Microsoft Office PowerPoint</Application>
  <PresentationFormat>Widescreen</PresentationFormat>
  <Paragraphs>46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Wingdings</vt:lpstr>
      <vt:lpstr>Office Theme</vt:lpstr>
      <vt:lpstr>TP555 - Inteligência Artificial e Machine Learning: Curvas de aprendizado</vt:lpstr>
      <vt:lpstr>Curvas de Aprendizado</vt:lpstr>
      <vt:lpstr>Curvas de Aprendizado: Exemplo</vt:lpstr>
      <vt:lpstr>Curvas de Aprendizado: Polinômio de ordem 1</vt:lpstr>
      <vt:lpstr>Curvas de Aprendizado: Polinômio de ordem 20</vt:lpstr>
      <vt:lpstr>Curvas de Aprendizado: Polinômio de ordem 2</vt:lpstr>
      <vt:lpstr>Referências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Felipe Augusto Pereira de Figueiredo</dc:creator>
  <cp:lastModifiedBy>Luiz Augusto Melo Pereira</cp:lastModifiedBy>
  <cp:revision>1</cp:revision>
  <dcterms:created xsi:type="dcterms:W3CDTF">2025-01-24T01:14:23Z</dcterms:created>
  <dcterms:modified xsi:type="dcterms:W3CDTF">2025-01-28T14:19:29Z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2024-09-11T00:00:00Z</vt:filetime>
  </property>
  <property fmtid="{D5CDD505-2E9C-101B-9397-08002B2CF9AE}" pid="3" name="Creator">
    <vt:lpwstr>Microsoft® PowerPoint® LTSC</vt:lpwstr>
  </property>
  <property fmtid="{D5CDD505-2E9C-101B-9397-08002B2CF9AE}" pid="4" name="LastSaved">
    <vt:filetime>2025-01-24T00:00:00Z</vt:filetime>
  </property>
  <property fmtid="{D5CDD505-2E9C-101B-9397-08002B2CF9AE}" pid="5" name="Producer">
    <vt:lpwstr>Microsoft® PowerPoint® LTSC</vt:lpwstr>
  </property>
</Properties>
</file>