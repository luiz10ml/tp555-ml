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Augusto Melo Pereira" userId="4bd5ce759a66f368" providerId="LiveId" clId="{FC585462-60BC-4767-B567-92F6F81F079F}"/>
    <pc:docChg chg="undo custSel modSld sldOrd">
      <pc:chgData name="Luiz Augusto Melo Pereira" userId="4bd5ce759a66f368" providerId="LiveId" clId="{FC585462-60BC-4767-B567-92F6F81F079F}" dt="2025-01-27T17:39:22.044" v="612" actId="1076"/>
      <pc:docMkLst>
        <pc:docMk/>
      </pc:docMkLst>
      <pc:sldChg chg="modSp mod">
        <pc:chgData name="Luiz Augusto Melo Pereira" userId="4bd5ce759a66f368" providerId="LiveId" clId="{FC585462-60BC-4767-B567-92F6F81F079F}" dt="2025-01-27T17:15:45.453" v="1" actId="1076"/>
        <pc:sldMkLst>
          <pc:docMk/>
          <pc:sldMk cId="0" sldId="258"/>
        </pc:sldMkLst>
        <pc:spChg chg="mod">
          <ac:chgData name="Luiz Augusto Melo Pereira" userId="4bd5ce759a66f368" providerId="LiveId" clId="{FC585462-60BC-4767-B567-92F6F81F079F}" dt="2025-01-27T17:15:45.453" v="1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15:48.019" v="3" actId="1076"/>
        <pc:sldMkLst>
          <pc:docMk/>
          <pc:sldMk cId="0" sldId="259"/>
        </pc:sldMkLst>
        <pc:spChg chg="mod">
          <ac:chgData name="Luiz Augusto Melo Pereira" userId="4bd5ce759a66f368" providerId="LiveId" clId="{FC585462-60BC-4767-B567-92F6F81F079F}" dt="2025-01-27T17:15:48.019" v="3" actId="1076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FC585462-60BC-4767-B567-92F6F81F079F}" dt="2025-01-27T17:19:49.758" v="119" actId="20577"/>
        <pc:sldMkLst>
          <pc:docMk/>
          <pc:sldMk cId="0" sldId="260"/>
        </pc:sldMkLst>
        <pc:spChg chg="del">
          <ac:chgData name="Luiz Augusto Melo Pereira" userId="4bd5ce759a66f368" providerId="LiveId" clId="{FC585462-60BC-4767-B567-92F6F81F079F}" dt="2025-01-27T17:18:27.111" v="94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Luiz Augusto Melo Pereira" userId="4bd5ce759a66f368" providerId="LiveId" clId="{FC585462-60BC-4767-B567-92F6F81F079F}" dt="2025-01-27T17:18:22.881" v="90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Luiz Augusto Melo Pereira" userId="4bd5ce759a66f368" providerId="LiveId" clId="{FC585462-60BC-4767-B567-92F6F81F079F}" dt="2025-01-27T17:18:21.959" v="89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Luiz Augusto Melo Pereira" userId="4bd5ce759a66f368" providerId="LiveId" clId="{FC585462-60BC-4767-B567-92F6F81F079F}" dt="2025-01-27T17:18:20.712" v="88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Luiz Augusto Melo Pereira" userId="4bd5ce759a66f368" providerId="LiveId" clId="{FC585462-60BC-4767-B567-92F6F81F079F}" dt="2025-01-27T17:18:23.670" v="91" actId="478"/>
          <ac:spMkLst>
            <pc:docMk/>
            <pc:sldMk cId="0" sldId="260"/>
            <ac:spMk id="7" creationId="{00000000-0000-0000-0000-000000000000}"/>
          </ac:spMkLst>
        </pc:spChg>
        <pc:spChg chg="mod">
          <ac:chgData name="Luiz Augusto Melo Pereira" userId="4bd5ce759a66f368" providerId="LiveId" clId="{FC585462-60BC-4767-B567-92F6F81F079F}" dt="2025-01-27T17:19:49.758" v="119" actId="20577"/>
          <ac:spMkLst>
            <pc:docMk/>
            <pc:sldMk cId="0" sldId="260"/>
            <ac:spMk id="8" creationId="{00000000-0000-0000-0000-000000000000}"/>
          </ac:spMkLst>
        </pc:spChg>
        <pc:spChg chg="add del mod">
          <ac:chgData name="Luiz Augusto Melo Pereira" userId="4bd5ce759a66f368" providerId="LiveId" clId="{FC585462-60BC-4767-B567-92F6F81F079F}" dt="2025-01-27T17:16:08.520" v="9" actId="22"/>
          <ac:spMkLst>
            <pc:docMk/>
            <pc:sldMk cId="0" sldId="260"/>
            <ac:spMk id="11" creationId="{B081A2BD-F80C-4675-7A84-5DBC52DC0509}"/>
          </ac:spMkLst>
        </pc:spChg>
        <pc:picChg chg="mod">
          <ac:chgData name="Luiz Augusto Melo Pereira" userId="4bd5ce759a66f368" providerId="LiveId" clId="{FC585462-60BC-4767-B567-92F6F81F079F}" dt="2025-01-27T17:19:38.565" v="116" actId="14100"/>
          <ac:picMkLst>
            <pc:docMk/>
            <pc:sldMk cId="0" sldId="260"/>
            <ac:picMk id="9" creationId="{00000000-0000-0000-0000-000000000000}"/>
          </ac:picMkLst>
        </pc:picChg>
      </pc:sldChg>
      <pc:sldChg chg="modSp mod">
        <pc:chgData name="Luiz Augusto Melo Pereira" userId="4bd5ce759a66f368" providerId="LiveId" clId="{FC585462-60BC-4767-B567-92F6F81F079F}" dt="2025-01-27T17:20:03.866" v="121" actId="1076"/>
        <pc:sldMkLst>
          <pc:docMk/>
          <pc:sldMk cId="0" sldId="261"/>
        </pc:sldMkLst>
        <pc:spChg chg="mod">
          <ac:chgData name="Luiz Augusto Melo Pereira" userId="4bd5ce759a66f368" providerId="LiveId" clId="{FC585462-60BC-4767-B567-92F6F81F079F}" dt="2025-01-27T17:20:03.866" v="121" actId="1076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 ord">
        <pc:chgData name="Luiz Augusto Melo Pereira" userId="4bd5ce759a66f368" providerId="LiveId" clId="{FC585462-60BC-4767-B567-92F6F81F079F}" dt="2025-01-27T17:22:54.725" v="185" actId="1076"/>
        <pc:sldMkLst>
          <pc:docMk/>
          <pc:sldMk cId="0" sldId="262"/>
        </pc:sldMkLst>
        <pc:spChg chg="add del mod">
          <ac:chgData name="Luiz Augusto Melo Pereira" userId="4bd5ce759a66f368" providerId="LiveId" clId="{FC585462-60BC-4767-B567-92F6F81F079F}" dt="2025-01-27T17:22:19.045" v="176" actId="478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Luiz Augusto Melo Pereira" userId="4bd5ce759a66f368" providerId="LiveId" clId="{FC585462-60BC-4767-B567-92F6F81F079F}" dt="2025-01-27T17:20:34.055" v="139" actId="767"/>
          <ac:spMkLst>
            <pc:docMk/>
            <pc:sldMk cId="0" sldId="262"/>
            <ac:spMk id="5" creationId="{AD1C4250-F58D-FA8E-ED56-B00A2AAF513D}"/>
          </ac:spMkLst>
        </pc:spChg>
        <pc:spChg chg="add mod">
          <ac:chgData name="Luiz Augusto Melo Pereira" userId="4bd5ce759a66f368" providerId="LiveId" clId="{FC585462-60BC-4767-B567-92F6F81F079F}" dt="2025-01-27T17:22:54.725" v="185" actId="1076"/>
          <ac:spMkLst>
            <pc:docMk/>
            <pc:sldMk cId="0" sldId="262"/>
            <ac:spMk id="6" creationId="{C0DB1B85-7689-C6E3-7527-13C4DF5D9CA2}"/>
          </ac:spMkLst>
        </pc:spChg>
        <pc:spChg chg="add del mod">
          <ac:chgData name="Luiz Augusto Melo Pereira" userId="4bd5ce759a66f368" providerId="LiveId" clId="{FC585462-60BC-4767-B567-92F6F81F079F}" dt="2025-01-27T17:22:21.250" v="177" actId="478"/>
          <ac:spMkLst>
            <pc:docMk/>
            <pc:sldMk cId="0" sldId="262"/>
            <ac:spMk id="8" creationId="{236EF1FF-2702-5D3B-6A94-3459CEE0E2B1}"/>
          </ac:spMkLst>
        </pc:spChg>
      </pc:sldChg>
      <pc:sldChg chg="addSp delSp modSp mod">
        <pc:chgData name="Luiz Augusto Melo Pereira" userId="4bd5ce759a66f368" providerId="LiveId" clId="{FC585462-60BC-4767-B567-92F6F81F079F}" dt="2025-01-27T17:25:02.495" v="231" actId="6549"/>
        <pc:sldMkLst>
          <pc:docMk/>
          <pc:sldMk cId="0" sldId="263"/>
        </pc:sldMkLst>
        <pc:spChg chg="del mod">
          <ac:chgData name="Luiz Augusto Melo Pereira" userId="4bd5ce759a66f368" providerId="LiveId" clId="{FC585462-60BC-4767-B567-92F6F81F079F}" dt="2025-01-27T17:24:15.028" v="215" actId="478"/>
          <ac:spMkLst>
            <pc:docMk/>
            <pc:sldMk cId="0" sldId="263"/>
            <ac:spMk id="3" creationId="{00000000-0000-0000-0000-000000000000}"/>
          </ac:spMkLst>
        </pc:spChg>
        <pc:spChg chg="add mod">
          <ac:chgData name="Luiz Augusto Melo Pereira" userId="4bd5ce759a66f368" providerId="LiveId" clId="{FC585462-60BC-4767-B567-92F6F81F079F}" dt="2025-01-27T17:25:02.495" v="231" actId="6549"/>
          <ac:spMkLst>
            <pc:docMk/>
            <pc:sldMk cId="0" sldId="263"/>
            <ac:spMk id="5" creationId="{35E635E2-B810-0118-6154-5DA3CF260125}"/>
          </ac:spMkLst>
        </pc:spChg>
        <pc:spChg chg="add del mod">
          <ac:chgData name="Luiz Augusto Melo Pereira" userId="4bd5ce759a66f368" providerId="LiveId" clId="{FC585462-60BC-4767-B567-92F6F81F079F}" dt="2025-01-27T17:24:17.127" v="216" actId="478"/>
          <ac:spMkLst>
            <pc:docMk/>
            <pc:sldMk cId="0" sldId="263"/>
            <ac:spMk id="7" creationId="{B6FEE790-8504-35A6-0D2D-A6B5472BD87B}"/>
          </ac:spMkLst>
        </pc:spChg>
      </pc:sldChg>
      <pc:sldChg chg="delSp modSp mod">
        <pc:chgData name="Luiz Augusto Melo Pereira" userId="4bd5ce759a66f368" providerId="LiveId" clId="{FC585462-60BC-4767-B567-92F6F81F079F}" dt="2025-01-27T17:25:29.456" v="242" actId="552"/>
        <pc:sldMkLst>
          <pc:docMk/>
          <pc:sldMk cId="0" sldId="264"/>
        </pc:sldMkLst>
        <pc:spChg chg="mod">
          <ac:chgData name="Luiz Augusto Melo Pereira" userId="4bd5ce759a66f368" providerId="LiveId" clId="{FC585462-60BC-4767-B567-92F6F81F079F}" dt="2025-01-27T17:25:29.456" v="242" actId="552"/>
          <ac:spMkLst>
            <pc:docMk/>
            <pc:sldMk cId="0" sldId="264"/>
            <ac:spMk id="3" creationId="{00000000-0000-0000-0000-000000000000}"/>
          </ac:spMkLst>
        </pc:spChg>
        <pc:spChg chg="del">
          <ac:chgData name="Luiz Augusto Melo Pereira" userId="4bd5ce759a66f368" providerId="LiveId" clId="{FC585462-60BC-4767-B567-92F6F81F079F}" dt="2025-01-27T17:25:23.441" v="240" actId="478"/>
          <ac:spMkLst>
            <pc:docMk/>
            <pc:sldMk cId="0" sldId="264"/>
            <ac:spMk id="12" creationId="{00000000-0000-0000-0000-000000000000}"/>
          </ac:spMkLst>
        </pc:spChg>
        <pc:spChg chg="mod">
          <ac:chgData name="Luiz Augusto Melo Pereira" userId="4bd5ce759a66f368" providerId="LiveId" clId="{FC585462-60BC-4767-B567-92F6F81F079F}" dt="2025-01-27T17:25:29.456" v="242" actId="552"/>
          <ac:spMkLst>
            <pc:docMk/>
            <pc:sldMk cId="0" sldId="264"/>
            <ac:spMk id="13" creationId="{00000000-0000-0000-0000-000000000000}"/>
          </ac:spMkLst>
        </pc:spChg>
        <pc:spChg chg="mod">
          <ac:chgData name="Luiz Augusto Melo Pereira" userId="4bd5ce759a66f368" providerId="LiveId" clId="{FC585462-60BC-4767-B567-92F6F81F079F}" dt="2025-01-27T17:25:12.742" v="233" actId="1076"/>
          <ac:spMkLst>
            <pc:docMk/>
            <pc:sldMk cId="0" sldId="264"/>
            <ac:spMk id="15" creationId="{B16B2660-38CD-A198-7931-C4A4E7E41524}"/>
          </ac:spMkLst>
        </pc:spChg>
      </pc:sldChg>
      <pc:sldChg chg="addSp delSp modSp mod">
        <pc:chgData name="Luiz Augusto Melo Pereira" userId="4bd5ce759a66f368" providerId="LiveId" clId="{FC585462-60BC-4767-B567-92F6F81F079F}" dt="2025-01-27T17:25:38.934" v="246" actId="1076"/>
        <pc:sldMkLst>
          <pc:docMk/>
          <pc:sldMk cId="0" sldId="265"/>
        </pc:sldMkLst>
        <pc:spChg chg="add del mod">
          <ac:chgData name="Luiz Augusto Melo Pereira" userId="4bd5ce759a66f368" providerId="LiveId" clId="{FC585462-60BC-4767-B567-92F6F81F079F}" dt="2025-01-27T17:25:38.934" v="246" actId="1076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25:41.958" v="248" actId="1076"/>
        <pc:sldMkLst>
          <pc:docMk/>
          <pc:sldMk cId="0" sldId="266"/>
        </pc:sldMkLst>
        <pc:spChg chg="mod">
          <ac:chgData name="Luiz Augusto Melo Pereira" userId="4bd5ce759a66f368" providerId="LiveId" clId="{FC585462-60BC-4767-B567-92F6F81F079F}" dt="2025-01-27T17:25:41.958" v="248" actId="1076"/>
          <ac:spMkLst>
            <pc:docMk/>
            <pc:sldMk cId="0" sldId="266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FC585462-60BC-4767-B567-92F6F81F079F}" dt="2025-01-27T17:27:55.467" v="296" actId="12789"/>
        <pc:sldMkLst>
          <pc:docMk/>
          <pc:sldMk cId="0" sldId="267"/>
        </pc:sldMkLst>
        <pc:spChg chg="del mod">
          <ac:chgData name="Luiz Augusto Melo Pereira" userId="4bd5ce759a66f368" providerId="LiveId" clId="{FC585462-60BC-4767-B567-92F6F81F079F}" dt="2025-01-27T17:26:31.716" v="270" actId="478"/>
          <ac:spMkLst>
            <pc:docMk/>
            <pc:sldMk cId="0" sldId="267"/>
            <ac:spMk id="3" creationId="{00000000-0000-0000-0000-000000000000}"/>
          </ac:spMkLst>
        </pc:spChg>
        <pc:spChg chg="add mod">
          <ac:chgData name="Luiz Augusto Melo Pereira" userId="4bd5ce759a66f368" providerId="LiveId" clId="{FC585462-60BC-4767-B567-92F6F81F079F}" dt="2025-01-27T17:27:55.467" v="296" actId="12789"/>
          <ac:spMkLst>
            <pc:docMk/>
            <pc:sldMk cId="0" sldId="267"/>
            <ac:spMk id="5" creationId="{ECF0AA6E-8E63-FFCA-D8A2-FDC1B3E68219}"/>
          </ac:spMkLst>
        </pc:spChg>
        <pc:spChg chg="add del mod">
          <ac:chgData name="Luiz Augusto Melo Pereira" userId="4bd5ce759a66f368" providerId="LiveId" clId="{FC585462-60BC-4767-B567-92F6F81F079F}" dt="2025-01-27T17:26:33.680" v="271" actId="478"/>
          <ac:spMkLst>
            <pc:docMk/>
            <pc:sldMk cId="0" sldId="267"/>
            <ac:spMk id="7" creationId="{B9A1CEB6-F23B-4ED0-9209-3C26D783CBEF}"/>
          </ac:spMkLst>
        </pc:spChg>
      </pc:sldChg>
      <pc:sldChg chg="modSp mod">
        <pc:chgData name="Luiz Augusto Melo Pereira" userId="4bd5ce759a66f368" providerId="LiveId" clId="{FC585462-60BC-4767-B567-92F6F81F079F}" dt="2025-01-27T17:28:02.840" v="298" actId="1076"/>
        <pc:sldMkLst>
          <pc:docMk/>
          <pc:sldMk cId="0" sldId="268"/>
        </pc:sldMkLst>
        <pc:spChg chg="mod">
          <ac:chgData name="Luiz Augusto Melo Pereira" userId="4bd5ce759a66f368" providerId="LiveId" clId="{FC585462-60BC-4767-B567-92F6F81F079F}" dt="2025-01-27T17:28:02.840" v="298" actId="1076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28:09.407" v="300" actId="1076"/>
        <pc:sldMkLst>
          <pc:docMk/>
          <pc:sldMk cId="0" sldId="269"/>
        </pc:sldMkLst>
        <pc:spChg chg="mod">
          <ac:chgData name="Luiz Augusto Melo Pereira" userId="4bd5ce759a66f368" providerId="LiveId" clId="{FC585462-60BC-4767-B567-92F6F81F079F}" dt="2025-01-27T17:28:09.407" v="300" actId="1076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28:12.463" v="302" actId="1076"/>
        <pc:sldMkLst>
          <pc:docMk/>
          <pc:sldMk cId="0" sldId="270"/>
        </pc:sldMkLst>
        <pc:spChg chg="mod">
          <ac:chgData name="Luiz Augusto Melo Pereira" userId="4bd5ce759a66f368" providerId="LiveId" clId="{FC585462-60BC-4767-B567-92F6F81F079F}" dt="2025-01-27T17:28:12.463" v="302" actId="1076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28:15.419" v="304" actId="1076"/>
        <pc:sldMkLst>
          <pc:docMk/>
          <pc:sldMk cId="0" sldId="271"/>
        </pc:sldMkLst>
        <pc:spChg chg="mod">
          <ac:chgData name="Luiz Augusto Melo Pereira" userId="4bd5ce759a66f368" providerId="LiveId" clId="{FC585462-60BC-4767-B567-92F6F81F079F}" dt="2025-01-27T17:28:15.419" v="304" actId="1076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28:18.812" v="306" actId="1076"/>
        <pc:sldMkLst>
          <pc:docMk/>
          <pc:sldMk cId="0" sldId="272"/>
        </pc:sldMkLst>
        <pc:spChg chg="mod">
          <ac:chgData name="Luiz Augusto Melo Pereira" userId="4bd5ce759a66f368" providerId="LiveId" clId="{FC585462-60BC-4767-B567-92F6F81F079F}" dt="2025-01-27T17:28:18.812" v="306" actId="1076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28:21.639" v="308" actId="1076"/>
        <pc:sldMkLst>
          <pc:docMk/>
          <pc:sldMk cId="0" sldId="273"/>
        </pc:sldMkLst>
        <pc:spChg chg="mod">
          <ac:chgData name="Luiz Augusto Melo Pereira" userId="4bd5ce759a66f368" providerId="LiveId" clId="{FC585462-60BC-4767-B567-92F6F81F079F}" dt="2025-01-27T17:28:21.639" v="308" actId="1076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28:24.274" v="310" actId="1076"/>
        <pc:sldMkLst>
          <pc:docMk/>
          <pc:sldMk cId="0" sldId="274"/>
        </pc:sldMkLst>
        <pc:spChg chg="mod">
          <ac:chgData name="Luiz Augusto Melo Pereira" userId="4bd5ce759a66f368" providerId="LiveId" clId="{FC585462-60BC-4767-B567-92F6F81F079F}" dt="2025-01-27T17:28:24.274" v="310" actId="1076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28:29.841" v="312" actId="1076"/>
        <pc:sldMkLst>
          <pc:docMk/>
          <pc:sldMk cId="0" sldId="275"/>
        </pc:sldMkLst>
        <pc:spChg chg="mod">
          <ac:chgData name="Luiz Augusto Melo Pereira" userId="4bd5ce759a66f368" providerId="LiveId" clId="{FC585462-60BC-4767-B567-92F6F81F079F}" dt="2025-01-27T17:28:29.841" v="312" actId="1076"/>
          <ac:spMkLst>
            <pc:docMk/>
            <pc:sldMk cId="0" sldId="275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FC585462-60BC-4767-B567-92F6F81F079F}" dt="2025-01-27T17:31:05.175" v="391" actId="552"/>
        <pc:sldMkLst>
          <pc:docMk/>
          <pc:sldMk cId="0" sldId="276"/>
        </pc:sldMkLst>
        <pc:spChg chg="mod">
          <ac:chgData name="Luiz Augusto Melo Pereira" userId="4bd5ce759a66f368" providerId="LiveId" clId="{FC585462-60BC-4767-B567-92F6F81F079F}" dt="2025-01-27T17:30:35.864" v="375" actId="21"/>
          <ac:spMkLst>
            <pc:docMk/>
            <pc:sldMk cId="0" sldId="276"/>
            <ac:spMk id="3" creationId="{00000000-0000-0000-0000-000000000000}"/>
          </ac:spMkLst>
        </pc:spChg>
        <pc:spChg chg="add del mod">
          <ac:chgData name="Luiz Augusto Melo Pereira" userId="4bd5ce759a66f368" providerId="LiveId" clId="{FC585462-60BC-4767-B567-92F6F81F079F}" dt="2025-01-27T17:28:55.082" v="320"/>
          <ac:spMkLst>
            <pc:docMk/>
            <pc:sldMk cId="0" sldId="276"/>
            <ac:spMk id="5" creationId="{47B68585-FE37-9904-7531-2592F892201A}"/>
          </ac:spMkLst>
        </pc:spChg>
        <pc:spChg chg="add mod">
          <ac:chgData name="Luiz Augusto Melo Pereira" userId="4bd5ce759a66f368" providerId="LiveId" clId="{FC585462-60BC-4767-B567-92F6F81F079F}" dt="2025-01-27T17:31:05.175" v="391" actId="552"/>
          <ac:spMkLst>
            <pc:docMk/>
            <pc:sldMk cId="0" sldId="276"/>
            <ac:spMk id="6" creationId="{A0546E44-6BAC-FB7D-2BB5-9D932C65A87A}"/>
          </ac:spMkLst>
        </pc:spChg>
        <pc:spChg chg="add mod">
          <ac:chgData name="Luiz Augusto Melo Pereira" userId="4bd5ce759a66f368" providerId="LiveId" clId="{FC585462-60BC-4767-B567-92F6F81F079F}" dt="2025-01-27T17:31:05.175" v="391" actId="552"/>
          <ac:spMkLst>
            <pc:docMk/>
            <pc:sldMk cId="0" sldId="276"/>
            <ac:spMk id="7" creationId="{EB8DB9C0-02F0-56BD-EC47-149E6B6B5DB1}"/>
          </ac:spMkLst>
        </pc:spChg>
        <pc:spChg chg="add mod">
          <ac:chgData name="Luiz Augusto Melo Pereira" userId="4bd5ce759a66f368" providerId="LiveId" clId="{FC585462-60BC-4767-B567-92F6F81F079F}" dt="2025-01-27T17:31:05.175" v="391" actId="552"/>
          <ac:spMkLst>
            <pc:docMk/>
            <pc:sldMk cId="0" sldId="276"/>
            <ac:spMk id="8" creationId="{0DE8389E-5E08-C40D-0292-3873AB0CDE09}"/>
          </ac:spMkLst>
        </pc:spChg>
      </pc:sldChg>
      <pc:sldChg chg="modSp mod">
        <pc:chgData name="Luiz Augusto Melo Pereira" userId="4bd5ce759a66f368" providerId="LiveId" clId="{FC585462-60BC-4767-B567-92F6F81F079F}" dt="2025-01-27T17:31:34.320" v="393" actId="1076"/>
        <pc:sldMkLst>
          <pc:docMk/>
          <pc:sldMk cId="0" sldId="278"/>
        </pc:sldMkLst>
        <pc:spChg chg="mod">
          <ac:chgData name="Luiz Augusto Melo Pereira" userId="4bd5ce759a66f368" providerId="LiveId" clId="{FC585462-60BC-4767-B567-92F6F81F079F}" dt="2025-01-27T17:31:34.320" v="393" actId="1076"/>
          <ac:spMkLst>
            <pc:docMk/>
            <pc:sldMk cId="0" sldId="27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31:39.411" v="395" actId="1076"/>
        <pc:sldMkLst>
          <pc:docMk/>
          <pc:sldMk cId="0" sldId="279"/>
        </pc:sldMkLst>
        <pc:spChg chg="mod">
          <ac:chgData name="Luiz Augusto Melo Pereira" userId="4bd5ce759a66f368" providerId="LiveId" clId="{FC585462-60BC-4767-B567-92F6F81F079F}" dt="2025-01-27T17:31:39.411" v="395" actId="1076"/>
          <ac:spMkLst>
            <pc:docMk/>
            <pc:sldMk cId="0" sldId="27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31:41.921" v="397" actId="1076"/>
        <pc:sldMkLst>
          <pc:docMk/>
          <pc:sldMk cId="0" sldId="280"/>
        </pc:sldMkLst>
        <pc:spChg chg="mod">
          <ac:chgData name="Luiz Augusto Melo Pereira" userId="4bd5ce759a66f368" providerId="LiveId" clId="{FC585462-60BC-4767-B567-92F6F81F079F}" dt="2025-01-27T17:31:41.921" v="397" actId="1076"/>
          <ac:spMkLst>
            <pc:docMk/>
            <pc:sldMk cId="0" sldId="280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31:45.629" v="399" actId="1076"/>
        <pc:sldMkLst>
          <pc:docMk/>
          <pc:sldMk cId="0" sldId="281"/>
        </pc:sldMkLst>
        <pc:spChg chg="mod">
          <ac:chgData name="Luiz Augusto Melo Pereira" userId="4bd5ce759a66f368" providerId="LiveId" clId="{FC585462-60BC-4767-B567-92F6F81F079F}" dt="2025-01-27T17:31:45.629" v="399" actId="1076"/>
          <ac:spMkLst>
            <pc:docMk/>
            <pc:sldMk cId="0" sldId="281"/>
            <ac:spMk id="4" creationId="{00000000-0000-0000-0000-000000000000}"/>
          </ac:spMkLst>
        </pc:spChg>
      </pc:sldChg>
      <pc:sldChg chg="delSp modSp mod">
        <pc:chgData name="Luiz Augusto Melo Pereira" userId="4bd5ce759a66f368" providerId="LiveId" clId="{FC585462-60BC-4767-B567-92F6F81F079F}" dt="2025-01-27T17:33:52.522" v="454" actId="20577"/>
        <pc:sldMkLst>
          <pc:docMk/>
          <pc:sldMk cId="0" sldId="282"/>
        </pc:sldMkLst>
        <pc:spChg chg="del">
          <ac:chgData name="Luiz Augusto Melo Pereira" userId="4bd5ce759a66f368" providerId="LiveId" clId="{FC585462-60BC-4767-B567-92F6F81F079F}" dt="2025-01-27T17:32:35.931" v="429" actId="478"/>
          <ac:spMkLst>
            <pc:docMk/>
            <pc:sldMk cId="0" sldId="282"/>
            <ac:spMk id="3" creationId="{00000000-0000-0000-0000-000000000000}"/>
          </ac:spMkLst>
        </pc:spChg>
        <pc:spChg chg="del">
          <ac:chgData name="Luiz Augusto Melo Pereira" userId="4bd5ce759a66f368" providerId="LiveId" clId="{FC585462-60BC-4767-B567-92F6F81F079F}" dt="2025-01-27T17:32:36.919" v="430" actId="478"/>
          <ac:spMkLst>
            <pc:docMk/>
            <pc:sldMk cId="0" sldId="282"/>
            <ac:spMk id="4" creationId="{00000000-0000-0000-0000-000000000000}"/>
          </ac:spMkLst>
        </pc:spChg>
        <pc:spChg chg="del">
          <ac:chgData name="Luiz Augusto Melo Pereira" userId="4bd5ce759a66f368" providerId="LiveId" clId="{FC585462-60BC-4767-B567-92F6F81F079F}" dt="2025-01-27T17:32:38.119" v="432" actId="478"/>
          <ac:spMkLst>
            <pc:docMk/>
            <pc:sldMk cId="0" sldId="282"/>
            <ac:spMk id="5" creationId="{00000000-0000-0000-0000-000000000000}"/>
          </ac:spMkLst>
        </pc:spChg>
        <pc:spChg chg="del">
          <ac:chgData name="Luiz Augusto Melo Pereira" userId="4bd5ce759a66f368" providerId="LiveId" clId="{FC585462-60BC-4767-B567-92F6F81F079F}" dt="2025-01-27T17:32:37.566" v="431" actId="478"/>
          <ac:spMkLst>
            <pc:docMk/>
            <pc:sldMk cId="0" sldId="282"/>
            <ac:spMk id="6" creationId="{00000000-0000-0000-0000-000000000000}"/>
          </ac:spMkLst>
        </pc:spChg>
        <pc:spChg chg="del">
          <ac:chgData name="Luiz Augusto Melo Pereira" userId="4bd5ce759a66f368" providerId="LiveId" clId="{FC585462-60BC-4767-B567-92F6F81F079F}" dt="2025-01-27T17:32:38.629" v="433" actId="478"/>
          <ac:spMkLst>
            <pc:docMk/>
            <pc:sldMk cId="0" sldId="282"/>
            <ac:spMk id="7" creationId="{00000000-0000-0000-0000-000000000000}"/>
          </ac:spMkLst>
        </pc:spChg>
        <pc:spChg chg="mod">
          <ac:chgData name="Luiz Augusto Melo Pereira" userId="4bd5ce759a66f368" providerId="LiveId" clId="{FC585462-60BC-4767-B567-92F6F81F079F}" dt="2025-01-27T17:33:52.522" v="454" actId="20577"/>
          <ac:spMkLst>
            <pc:docMk/>
            <pc:sldMk cId="0" sldId="282"/>
            <ac:spMk id="8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34:03.425" v="458" actId="1076"/>
        <pc:sldMkLst>
          <pc:docMk/>
          <pc:sldMk cId="0" sldId="283"/>
        </pc:sldMkLst>
        <pc:spChg chg="mod">
          <ac:chgData name="Luiz Augusto Melo Pereira" userId="4bd5ce759a66f368" providerId="LiveId" clId="{FC585462-60BC-4767-B567-92F6F81F079F}" dt="2025-01-27T17:34:03.425" v="458" actId="1076"/>
          <ac:spMkLst>
            <pc:docMk/>
            <pc:sldMk cId="0" sldId="283"/>
            <ac:spMk id="5" creationId="{00000000-0000-0000-0000-000000000000}"/>
          </ac:spMkLst>
        </pc:spChg>
        <pc:spChg chg="mod">
          <ac:chgData name="Luiz Augusto Melo Pereira" userId="4bd5ce759a66f368" providerId="LiveId" clId="{FC585462-60BC-4767-B567-92F6F81F079F}" dt="2025-01-27T17:34:00.927" v="456" actId="1076"/>
          <ac:spMkLst>
            <pc:docMk/>
            <pc:sldMk cId="0" sldId="283"/>
            <ac:spMk id="1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34:10.070" v="464" actId="1076"/>
        <pc:sldMkLst>
          <pc:docMk/>
          <pc:sldMk cId="0" sldId="284"/>
        </pc:sldMkLst>
        <pc:spChg chg="mod">
          <ac:chgData name="Luiz Augusto Melo Pereira" userId="4bd5ce759a66f368" providerId="LiveId" clId="{FC585462-60BC-4767-B567-92F6F81F079F}" dt="2025-01-27T17:34:06.628" v="460" actId="1076"/>
          <ac:spMkLst>
            <pc:docMk/>
            <pc:sldMk cId="0" sldId="284"/>
            <ac:spMk id="3" creationId="{00000000-0000-0000-0000-000000000000}"/>
          </ac:spMkLst>
        </pc:spChg>
        <pc:spChg chg="mod">
          <ac:chgData name="Luiz Augusto Melo Pereira" userId="4bd5ce759a66f368" providerId="LiveId" clId="{FC585462-60BC-4767-B567-92F6F81F079F}" dt="2025-01-27T17:34:10.070" v="464" actId="1076"/>
          <ac:spMkLst>
            <pc:docMk/>
            <pc:sldMk cId="0" sldId="284"/>
            <ac:spMk id="11" creationId="{00000000-0000-0000-0000-000000000000}"/>
          </ac:spMkLst>
        </pc:spChg>
        <pc:spChg chg="mod">
          <ac:chgData name="Luiz Augusto Melo Pereira" userId="4bd5ce759a66f368" providerId="LiveId" clId="{FC585462-60BC-4767-B567-92F6F81F079F}" dt="2025-01-27T17:34:08.388" v="462" actId="1076"/>
          <ac:spMkLst>
            <pc:docMk/>
            <pc:sldMk cId="0" sldId="284"/>
            <ac:spMk id="20" creationId="{7A62FE2A-39E5-2413-D6A1-34C5AB415192}"/>
          </ac:spMkLst>
        </pc:spChg>
      </pc:sldChg>
      <pc:sldChg chg="modSp mod">
        <pc:chgData name="Luiz Augusto Melo Pereira" userId="4bd5ce759a66f368" providerId="LiveId" clId="{FC585462-60BC-4767-B567-92F6F81F079F}" dt="2025-01-27T17:34:13.558" v="466" actId="1076"/>
        <pc:sldMkLst>
          <pc:docMk/>
          <pc:sldMk cId="0" sldId="285"/>
        </pc:sldMkLst>
        <pc:spChg chg="mod">
          <ac:chgData name="Luiz Augusto Melo Pereira" userId="4bd5ce759a66f368" providerId="LiveId" clId="{FC585462-60BC-4767-B567-92F6F81F079F}" dt="2025-01-27T17:34:13.558" v="466" actId="1076"/>
          <ac:spMkLst>
            <pc:docMk/>
            <pc:sldMk cId="0" sldId="28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34:19.487" v="468" actId="1076"/>
        <pc:sldMkLst>
          <pc:docMk/>
          <pc:sldMk cId="0" sldId="286"/>
        </pc:sldMkLst>
        <pc:spChg chg="mod">
          <ac:chgData name="Luiz Augusto Melo Pereira" userId="4bd5ce759a66f368" providerId="LiveId" clId="{FC585462-60BC-4767-B567-92F6F81F079F}" dt="2025-01-27T17:34:19.487" v="468" actId="1076"/>
          <ac:spMkLst>
            <pc:docMk/>
            <pc:sldMk cId="0" sldId="286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FC585462-60BC-4767-B567-92F6F81F079F}" dt="2025-01-27T17:35:25.949" v="499" actId="1076"/>
        <pc:sldMkLst>
          <pc:docMk/>
          <pc:sldMk cId="0" sldId="287"/>
        </pc:sldMkLst>
        <pc:spChg chg="mod">
          <ac:chgData name="Luiz Augusto Melo Pereira" userId="4bd5ce759a66f368" providerId="LiveId" clId="{FC585462-60BC-4767-B567-92F6F81F079F}" dt="2025-01-27T17:34:22.836" v="470" actId="1076"/>
          <ac:spMkLst>
            <pc:docMk/>
            <pc:sldMk cId="0" sldId="287"/>
            <ac:spMk id="3" creationId="{00000000-0000-0000-0000-000000000000}"/>
          </ac:spMkLst>
        </pc:spChg>
        <pc:spChg chg="del">
          <ac:chgData name="Luiz Augusto Melo Pereira" userId="4bd5ce759a66f368" providerId="LiveId" clId="{FC585462-60BC-4767-B567-92F6F81F079F}" dt="2025-01-27T17:35:18.450" v="496" actId="478"/>
          <ac:spMkLst>
            <pc:docMk/>
            <pc:sldMk cId="0" sldId="287"/>
            <ac:spMk id="10" creationId="{00000000-0000-0000-0000-000000000000}"/>
          </ac:spMkLst>
        </pc:spChg>
        <pc:spChg chg="del">
          <ac:chgData name="Luiz Augusto Melo Pereira" userId="4bd5ce759a66f368" providerId="LiveId" clId="{FC585462-60BC-4767-B567-92F6F81F079F}" dt="2025-01-27T17:35:19.473" v="497" actId="478"/>
          <ac:spMkLst>
            <pc:docMk/>
            <pc:sldMk cId="0" sldId="287"/>
            <ac:spMk id="11" creationId="{00000000-0000-0000-0000-000000000000}"/>
          </ac:spMkLst>
        </pc:spChg>
        <pc:spChg chg="del">
          <ac:chgData name="Luiz Augusto Melo Pereira" userId="4bd5ce759a66f368" providerId="LiveId" clId="{FC585462-60BC-4767-B567-92F6F81F079F}" dt="2025-01-27T17:35:18.450" v="496" actId="478"/>
          <ac:spMkLst>
            <pc:docMk/>
            <pc:sldMk cId="0" sldId="287"/>
            <ac:spMk id="12" creationId="{00000000-0000-0000-0000-000000000000}"/>
          </ac:spMkLst>
        </pc:spChg>
        <pc:spChg chg="mod">
          <ac:chgData name="Luiz Augusto Melo Pereira" userId="4bd5ce759a66f368" providerId="LiveId" clId="{FC585462-60BC-4767-B567-92F6F81F079F}" dt="2025-01-27T17:35:25.949" v="499" actId="1076"/>
          <ac:spMkLst>
            <pc:docMk/>
            <pc:sldMk cId="0" sldId="287"/>
            <ac:spMk id="1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35:29.844" v="501" actId="1076"/>
        <pc:sldMkLst>
          <pc:docMk/>
          <pc:sldMk cId="0" sldId="288"/>
        </pc:sldMkLst>
        <pc:spChg chg="mod">
          <ac:chgData name="Luiz Augusto Melo Pereira" userId="4bd5ce759a66f368" providerId="LiveId" clId="{FC585462-60BC-4767-B567-92F6F81F079F}" dt="2025-01-27T17:35:29.844" v="501" actId="1076"/>
          <ac:spMkLst>
            <pc:docMk/>
            <pc:sldMk cId="0" sldId="28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35:33.263" v="503" actId="1076"/>
        <pc:sldMkLst>
          <pc:docMk/>
          <pc:sldMk cId="0" sldId="289"/>
        </pc:sldMkLst>
        <pc:spChg chg="mod">
          <ac:chgData name="Luiz Augusto Melo Pereira" userId="4bd5ce759a66f368" providerId="LiveId" clId="{FC585462-60BC-4767-B567-92F6F81F079F}" dt="2025-01-27T17:35:33.263" v="503" actId="1076"/>
          <ac:spMkLst>
            <pc:docMk/>
            <pc:sldMk cId="0" sldId="28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FC585462-60BC-4767-B567-92F6F81F079F}" dt="2025-01-27T17:35:37.129" v="505" actId="1076"/>
        <pc:sldMkLst>
          <pc:docMk/>
          <pc:sldMk cId="0" sldId="290"/>
        </pc:sldMkLst>
        <pc:spChg chg="mod">
          <ac:chgData name="Luiz Augusto Melo Pereira" userId="4bd5ce759a66f368" providerId="LiveId" clId="{FC585462-60BC-4767-B567-92F6F81F079F}" dt="2025-01-27T17:35:37.129" v="505" actId="1076"/>
          <ac:spMkLst>
            <pc:docMk/>
            <pc:sldMk cId="0" sldId="290"/>
            <ac:spMk id="21" creationId="{00000000-0000-0000-0000-000000000000}"/>
          </ac:spMkLst>
        </pc:spChg>
      </pc:sldChg>
      <pc:sldChg chg="delSp modSp mod">
        <pc:chgData name="Luiz Augusto Melo Pereira" userId="4bd5ce759a66f368" providerId="LiveId" clId="{FC585462-60BC-4767-B567-92F6F81F079F}" dt="2025-01-27T17:39:13.286" v="610" actId="20577"/>
        <pc:sldMkLst>
          <pc:docMk/>
          <pc:sldMk cId="0" sldId="291"/>
        </pc:sldMkLst>
        <pc:spChg chg="del">
          <ac:chgData name="Luiz Augusto Melo Pereira" userId="4bd5ce759a66f368" providerId="LiveId" clId="{FC585462-60BC-4767-B567-92F6F81F079F}" dt="2025-01-27T17:35:59.260" v="513" actId="478"/>
          <ac:spMkLst>
            <pc:docMk/>
            <pc:sldMk cId="0" sldId="291"/>
            <ac:spMk id="3" creationId="{00000000-0000-0000-0000-000000000000}"/>
          </ac:spMkLst>
        </pc:spChg>
        <pc:spChg chg="del">
          <ac:chgData name="Luiz Augusto Melo Pereira" userId="4bd5ce759a66f368" providerId="LiveId" clId="{FC585462-60BC-4767-B567-92F6F81F079F}" dt="2025-01-27T17:36:11.192" v="519" actId="478"/>
          <ac:spMkLst>
            <pc:docMk/>
            <pc:sldMk cId="0" sldId="291"/>
            <ac:spMk id="4" creationId="{00000000-0000-0000-0000-000000000000}"/>
          </ac:spMkLst>
        </pc:spChg>
        <pc:spChg chg="del">
          <ac:chgData name="Luiz Augusto Melo Pereira" userId="4bd5ce759a66f368" providerId="LiveId" clId="{FC585462-60BC-4767-B567-92F6F81F079F}" dt="2025-01-27T17:36:36.332" v="533" actId="478"/>
          <ac:spMkLst>
            <pc:docMk/>
            <pc:sldMk cId="0" sldId="291"/>
            <ac:spMk id="5" creationId="{00000000-0000-0000-0000-000000000000}"/>
          </ac:spMkLst>
        </pc:spChg>
        <pc:spChg chg="mod">
          <ac:chgData name="Luiz Augusto Melo Pereira" userId="4bd5ce759a66f368" providerId="LiveId" clId="{FC585462-60BC-4767-B567-92F6F81F079F}" dt="2025-01-27T17:39:13.286" v="610" actId="20577"/>
          <ac:spMkLst>
            <pc:docMk/>
            <pc:sldMk cId="0" sldId="291"/>
            <ac:spMk id="6" creationId="{00000000-0000-0000-0000-000000000000}"/>
          </ac:spMkLst>
        </pc:spChg>
        <pc:spChg chg="mod">
          <ac:chgData name="Luiz Augusto Melo Pereira" userId="4bd5ce759a66f368" providerId="LiveId" clId="{FC585462-60BC-4767-B567-92F6F81F079F}" dt="2025-01-27T17:38:58.592" v="608" actId="1076"/>
          <ac:spMkLst>
            <pc:docMk/>
            <pc:sldMk cId="0" sldId="291"/>
            <ac:spMk id="14" creationId="{00000000-0000-0000-0000-000000000000}"/>
          </ac:spMkLst>
        </pc:spChg>
        <pc:spChg chg="mod">
          <ac:chgData name="Luiz Augusto Melo Pereira" userId="4bd5ce759a66f368" providerId="LiveId" clId="{FC585462-60BC-4767-B567-92F6F81F079F}" dt="2025-01-27T17:38:54.930" v="606" actId="1035"/>
          <ac:spMkLst>
            <pc:docMk/>
            <pc:sldMk cId="0" sldId="291"/>
            <ac:spMk id="15" creationId="{11147318-3130-19F0-1C72-A01B1A4FD51D}"/>
          </ac:spMkLst>
        </pc:spChg>
      </pc:sldChg>
      <pc:sldChg chg="modSp mod">
        <pc:chgData name="Luiz Augusto Melo Pereira" userId="4bd5ce759a66f368" providerId="LiveId" clId="{FC585462-60BC-4767-B567-92F6F81F079F}" dt="2025-01-27T17:39:22.044" v="612" actId="1076"/>
        <pc:sldMkLst>
          <pc:docMk/>
          <pc:sldMk cId="0" sldId="292"/>
        </pc:sldMkLst>
        <pc:spChg chg="mod">
          <ac:chgData name="Luiz Augusto Melo Pereira" userId="4bd5ce759a66f368" providerId="LiveId" clId="{FC585462-60BC-4767-B567-92F6F81F079F}" dt="2025-01-27T17:39:22.044" v="612" actId="1076"/>
          <ac:spMkLst>
            <pc:docMk/>
            <pc:sldMk cId="0" sldId="292"/>
            <ac:spMk id="2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7924"/>
            <a:ext cx="9779000" cy="1301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1539" y="1793493"/>
            <a:ext cx="11073765" cy="4676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.figueiredo@inatel.br" TargetMode="External"/><Relationship Id="rId4" Type="http://schemas.openxmlformats.org/officeDocument/2006/relationships/hyperlink" Target="mailto:luiz.melo@inatel.b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github/luiz10ml/tp555-ml/blob/main/exemplos/classification/kNN/knn_classification_2_classes.ipynb" TargetMode="External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classification/kNN/knn_regression.ipynb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6717" y="1021207"/>
            <a:ext cx="8340725" cy="240792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 algn="ctr">
              <a:lnSpc>
                <a:spcPts val="5830"/>
              </a:lnSpc>
              <a:spcBef>
                <a:spcPts val="835"/>
              </a:spcBef>
            </a:pPr>
            <a:r>
              <a:rPr sz="5400" dirty="0"/>
              <a:t>TP555</a:t>
            </a:r>
            <a:r>
              <a:rPr sz="5400" spc="-65" dirty="0"/>
              <a:t> </a:t>
            </a:r>
            <a:r>
              <a:rPr sz="5400" dirty="0"/>
              <a:t>-</a:t>
            </a:r>
            <a:r>
              <a:rPr sz="5400" spc="-45" dirty="0"/>
              <a:t> </a:t>
            </a:r>
            <a:r>
              <a:rPr sz="5400" dirty="0"/>
              <a:t>Inteligência</a:t>
            </a:r>
            <a:r>
              <a:rPr sz="5400" spc="-90" dirty="0"/>
              <a:t> </a:t>
            </a:r>
            <a:r>
              <a:rPr sz="5400" dirty="0"/>
              <a:t>Artificial</a:t>
            </a:r>
            <a:r>
              <a:rPr sz="5400" spc="-50" dirty="0"/>
              <a:t> e </a:t>
            </a:r>
            <a:r>
              <a:rPr sz="5400" dirty="0"/>
              <a:t>Machine</a:t>
            </a:r>
            <a:r>
              <a:rPr sz="5400" spc="-35" dirty="0"/>
              <a:t> </a:t>
            </a:r>
            <a:r>
              <a:rPr sz="5400" spc="-10" dirty="0"/>
              <a:t>Learning:</a:t>
            </a:r>
            <a:endParaRPr sz="5400"/>
          </a:p>
          <a:p>
            <a:pPr marL="4445" algn="ctr">
              <a:lnSpc>
                <a:spcPts val="6360"/>
              </a:lnSpc>
            </a:pPr>
            <a:r>
              <a:rPr sz="6000" i="1" spc="-45" dirty="0">
                <a:latin typeface="Calibri Light"/>
                <a:cs typeface="Calibri Light"/>
              </a:rPr>
              <a:t>k-</a:t>
            </a:r>
            <a:r>
              <a:rPr sz="6000" i="1" spc="-20" dirty="0">
                <a:latin typeface="Calibri Light"/>
                <a:cs typeface="Calibri Light"/>
              </a:rPr>
              <a:t>Vizinhos</a:t>
            </a:r>
            <a:r>
              <a:rPr sz="6000" i="1" spc="-265" dirty="0">
                <a:latin typeface="Calibri Light"/>
                <a:cs typeface="Calibri Light"/>
              </a:rPr>
              <a:t> </a:t>
            </a:r>
            <a:r>
              <a:rPr sz="6000" i="1" dirty="0">
                <a:latin typeface="Calibri Light"/>
                <a:cs typeface="Calibri Light"/>
              </a:rPr>
              <a:t>mais</a:t>
            </a:r>
            <a:r>
              <a:rPr sz="6000" i="1" spc="-235" dirty="0">
                <a:latin typeface="Calibri Light"/>
                <a:cs typeface="Calibri Light"/>
              </a:rPr>
              <a:t> </a:t>
            </a:r>
            <a:r>
              <a:rPr sz="6000" i="1" spc="-10" dirty="0">
                <a:latin typeface="Calibri Light"/>
                <a:cs typeface="Calibri Light"/>
              </a:rPr>
              <a:t>Próximos</a:t>
            </a:r>
            <a:endParaRPr sz="60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425" y="5557413"/>
            <a:ext cx="2178223" cy="6189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319" y="3396386"/>
            <a:ext cx="2261361" cy="2237104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2A5B2955-C220-C8E5-BBF3-17481524EB2B}"/>
              </a:ext>
            </a:extLst>
          </p:cNvPr>
          <p:cNvSpPr txBox="1"/>
          <p:nvPr/>
        </p:nvSpPr>
        <p:spPr>
          <a:xfrm>
            <a:off x="4193222" y="6176369"/>
            <a:ext cx="3805554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2000" b="1" dirty="0">
                <a:latin typeface="Calibri"/>
                <a:cs typeface="Calibri"/>
              </a:rPr>
              <a:t>Prof. Dr. Luiz Augusto Melo Pereira</a:t>
            </a:r>
            <a:endParaRPr sz="20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"/>
              </a:spcBef>
            </a:pPr>
            <a:r>
              <a:rPr lang="pt-BR" spc="-10" dirty="0">
                <a:latin typeface="Calibri"/>
                <a:cs typeface="Calibri"/>
                <a:hlinkClick r:id="rId4"/>
              </a:rPr>
              <a:t>luiz</a:t>
            </a:r>
            <a:r>
              <a:rPr lang="pt-BR" sz="1800" spc="-10" dirty="0">
                <a:latin typeface="Calibri"/>
                <a:cs typeface="Calibri"/>
                <a:hlinkClick r:id="rId4"/>
              </a:rPr>
              <a:t>.melo@inatel.br</a:t>
            </a:r>
            <a:endParaRPr lang="pt-BR" sz="1800" dirty="0">
              <a:latin typeface="Calibri"/>
              <a:cs typeface="Calibr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A420583-17DB-F879-A9BD-C77D120CF0FF}"/>
              </a:ext>
            </a:extLst>
          </p:cNvPr>
          <p:cNvSpPr txBox="1"/>
          <p:nvPr/>
        </p:nvSpPr>
        <p:spPr>
          <a:xfrm>
            <a:off x="7137790" y="3972006"/>
            <a:ext cx="512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"/>
                <a:cs typeface="Calibri"/>
              </a:rPr>
              <a:t>Esse material foi desenvolvido e gentilmente cedido </a:t>
            </a:r>
          </a:p>
          <a:p>
            <a:r>
              <a:rPr lang="pt-BR" dirty="0">
                <a:latin typeface="Calibri"/>
                <a:cs typeface="Calibri"/>
              </a:rPr>
              <a:t>pelo Prof. Dr. Felipe Augusto Pereira de Figueiredo, </a:t>
            </a:r>
          </a:p>
          <a:p>
            <a:r>
              <a:rPr lang="pt-BR" dirty="0">
                <a:latin typeface="Calibri"/>
                <a:cs typeface="Calibri"/>
              </a:rPr>
              <a:t>do Inatel.</a:t>
            </a:r>
            <a:r>
              <a:rPr lang="pt-BR" sz="1800" spc="-10" dirty="0">
                <a:latin typeface="Calibri"/>
                <a:cs typeface="Calibri"/>
              </a:rPr>
              <a:t>(</a:t>
            </a:r>
            <a:r>
              <a:rPr lang="pt-BR" sz="1800" spc="-10" dirty="0">
                <a:latin typeface="Calibri"/>
                <a:cs typeface="Calibri"/>
                <a:hlinkClick r:id="rId5"/>
              </a:rPr>
              <a:t>felipe.figueiredo@inatel.br</a:t>
            </a:r>
            <a:r>
              <a:rPr lang="pt-BR" sz="1800" spc="-10" dirty="0"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7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k-</a:t>
            </a:r>
            <a:r>
              <a:rPr dirty="0"/>
              <a:t>vizinhos</a:t>
            </a:r>
            <a:r>
              <a:rPr spc="-55" dirty="0"/>
              <a:t> </a:t>
            </a:r>
            <a:r>
              <a:rPr dirty="0"/>
              <a:t>mais</a:t>
            </a:r>
            <a:r>
              <a:rPr spc="-90" dirty="0"/>
              <a:t> </a:t>
            </a:r>
            <a:r>
              <a:rPr dirty="0"/>
              <a:t>próximos</a:t>
            </a:r>
            <a:r>
              <a:rPr spc="-85" dirty="0"/>
              <a:t> </a:t>
            </a:r>
            <a:r>
              <a:rPr dirty="0"/>
              <a:t>(k-</a:t>
            </a:r>
            <a:r>
              <a:rPr spc="-25" dirty="0"/>
              <a:t>NN)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04228" y="1658188"/>
            <a:ext cx="5257800" cy="23729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NN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inglês,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k- </a:t>
            </a:r>
            <a:r>
              <a:rPr sz="2800" i="1" dirty="0">
                <a:latin typeface="Calibri"/>
                <a:cs typeface="Calibri"/>
              </a:rPr>
              <a:t>Nearest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Neighbours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dos </a:t>
            </a: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aprendizado</a:t>
            </a:r>
            <a:r>
              <a:rPr sz="2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supervisionado</a:t>
            </a:r>
            <a:r>
              <a:rPr sz="2800" b="1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resolver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tanto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classificação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regressão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540" y="2253310"/>
            <a:ext cx="5864098" cy="35943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7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k-</a:t>
            </a:r>
            <a:r>
              <a:rPr dirty="0"/>
              <a:t>vizinhos</a:t>
            </a:r>
            <a:r>
              <a:rPr spc="-55" dirty="0"/>
              <a:t> </a:t>
            </a:r>
            <a:r>
              <a:rPr dirty="0"/>
              <a:t>mais</a:t>
            </a:r>
            <a:r>
              <a:rPr spc="-90" dirty="0"/>
              <a:t> </a:t>
            </a:r>
            <a:r>
              <a:rPr dirty="0"/>
              <a:t>próximos</a:t>
            </a:r>
            <a:r>
              <a:rPr spc="-85" dirty="0"/>
              <a:t> </a:t>
            </a:r>
            <a:r>
              <a:rPr dirty="0"/>
              <a:t>(k-</a:t>
            </a:r>
            <a:r>
              <a:rPr spc="-25" dirty="0"/>
              <a:t>NN)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16777" y="1658188"/>
            <a:ext cx="5704205" cy="43707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195580" indent="-229235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tipo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EC7C30"/>
                </a:solidFill>
                <a:latin typeface="Calibri"/>
                <a:cs typeface="Calibri"/>
              </a:rPr>
              <a:t>não-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paramétrico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diferentemente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até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momento</a:t>
            </a:r>
            <a:endParaRPr sz="2800" dirty="0">
              <a:latin typeface="Calibri"/>
              <a:cs typeface="Calibri"/>
            </a:endParaRPr>
          </a:p>
          <a:p>
            <a:pPr marL="698500" marR="123825" lvl="1" indent="-228600">
              <a:lnSpc>
                <a:spcPts val="2590"/>
              </a:lnSpc>
              <a:spcBef>
                <a:spcPts val="57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não</a:t>
            </a:r>
            <a:r>
              <a:rPr sz="24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há</a:t>
            </a:r>
            <a:r>
              <a:rPr sz="2400" b="1" i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um</a:t>
            </a:r>
            <a:r>
              <a:rPr sz="2400" b="1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modelo</a:t>
            </a:r>
            <a:r>
              <a:rPr sz="24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i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ser</a:t>
            </a:r>
            <a:r>
              <a:rPr sz="2400" b="1" i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treinado</a:t>
            </a:r>
            <a:r>
              <a:rPr sz="2400" b="1" i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(e.g., </a:t>
            </a:r>
            <a:r>
              <a:rPr sz="2400" dirty="0">
                <a:latin typeface="Calibri"/>
                <a:cs typeface="Calibri"/>
              </a:rPr>
              <a:t>polinômio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definido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pesos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 </a:t>
            </a:r>
            <a:r>
              <a:rPr sz="2400" spc="-10" dirty="0">
                <a:latin typeface="Calibri"/>
                <a:cs typeface="Calibri"/>
              </a:rPr>
              <a:t>Regressão/Classificação logística),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tampouco</a:t>
            </a:r>
            <a:r>
              <a:rPr sz="24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se</a:t>
            </a:r>
            <a:r>
              <a:rPr sz="24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faz</a:t>
            </a:r>
            <a:r>
              <a:rPr sz="24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qualquer</a:t>
            </a:r>
            <a:r>
              <a:rPr sz="24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suposição</a:t>
            </a:r>
            <a:r>
              <a:rPr sz="2400" b="1" i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spc="-50" dirty="0">
                <a:solidFill>
                  <a:srgbClr val="6F2F9F"/>
                </a:solidFill>
                <a:latin typeface="Calibri"/>
                <a:cs typeface="Calibri"/>
              </a:rPr>
              <a:t>a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respeito</a:t>
            </a:r>
            <a:r>
              <a:rPr sz="24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da</a:t>
            </a:r>
            <a:r>
              <a:rPr sz="24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distribuição</a:t>
            </a:r>
            <a:r>
              <a:rPr sz="2400" b="1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dos</a:t>
            </a:r>
            <a:r>
              <a:rPr sz="24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dados</a:t>
            </a:r>
            <a:r>
              <a:rPr sz="24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(e.g., </a:t>
            </a:r>
            <a:r>
              <a:rPr sz="2400" dirty="0">
                <a:latin typeface="Calibri"/>
                <a:cs typeface="Calibri"/>
              </a:rPr>
              <a:t>modelos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Naive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Bayes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Bernoulli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ou </a:t>
            </a:r>
            <a:r>
              <a:rPr sz="2400" spc="-10" dirty="0">
                <a:latin typeface="Calibri"/>
                <a:cs typeface="Calibri"/>
              </a:rPr>
              <a:t>Gaussiano).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940" y="2253310"/>
            <a:ext cx="5864098" cy="35943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7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k-</a:t>
            </a:r>
            <a:r>
              <a:rPr dirty="0"/>
              <a:t>vizinhos</a:t>
            </a:r>
            <a:r>
              <a:rPr spc="-55" dirty="0"/>
              <a:t> </a:t>
            </a:r>
            <a:r>
              <a:rPr dirty="0"/>
              <a:t>mais</a:t>
            </a:r>
            <a:r>
              <a:rPr spc="-90" dirty="0"/>
              <a:t> </a:t>
            </a:r>
            <a:r>
              <a:rPr dirty="0"/>
              <a:t>próximos</a:t>
            </a:r>
            <a:r>
              <a:rPr spc="-85" dirty="0"/>
              <a:t> </a:t>
            </a:r>
            <a:r>
              <a:rPr dirty="0"/>
              <a:t>(k-</a:t>
            </a:r>
            <a:r>
              <a:rPr spc="-25" dirty="0"/>
              <a:t>NN)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16777" y="1658188"/>
            <a:ext cx="5624830" cy="25012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134620" indent="-229235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Ele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usa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diretamente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exemplos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treinamento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tomar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decisões.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ct val="90000"/>
              </a:lnSpc>
              <a:spcBef>
                <a:spcPts val="95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única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suposição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medida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distância</a:t>
            </a:r>
            <a:r>
              <a:rPr sz="2800" b="1" i="1" spc="-7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entre</a:t>
            </a:r>
            <a:r>
              <a:rPr sz="2800" b="1" i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dois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exemplos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vetores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possa</a:t>
            </a:r>
            <a:r>
              <a:rPr sz="2800" b="1" i="1" spc="-10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ser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calculada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940" y="2253310"/>
            <a:ext cx="5864098" cy="35943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7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Funcionamento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8"/>
              <p:cNvSpPr txBox="1"/>
              <p:nvPr/>
            </p:nvSpPr>
            <p:spPr>
              <a:xfrm>
                <a:off x="5047938" y="2743200"/>
                <a:ext cx="7144062" cy="162801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28600" marR="223520" indent="-229235" algn="ctr">
                  <a:lnSpc>
                    <a:spcPts val="3200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29235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11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algoritmo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necessita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todos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os</a:t>
                </a:r>
                <a:r>
                  <a:rPr lang="pt-BR" sz="280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exemplos</a:t>
                </a:r>
                <a:r>
                  <a:rPr lang="pt-BR" sz="2800" b="1" i="1" spc="-8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800" b="1" i="1" spc="-10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treinamento</a:t>
                </a:r>
                <a:r>
                  <a:rPr lang="pt-BR" sz="2800" spc="-10" dirty="0">
                    <a:latin typeface="Calibri"/>
                    <a:cs typeface="Calibri"/>
                  </a:rPr>
                  <a:t>,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d>
                      <m:dPr>
                        <m:ctrlPr>
                          <a:rPr lang="pt-BR" sz="2800" b="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2800" i="1" spc="-50" dirty="0">
                            <a:latin typeface="Cambria Math" panose="02040503050406030204" pitchFamily="18" charset="0"/>
                            <a:cs typeface="Cambria Math"/>
                          </a:rPr>
                          <m:t>𝑖</m:t>
                        </m:r>
                      </m:e>
                    </m:d>
                    <m:r>
                      <a:rPr lang="pt-BR" sz="2800" i="1" spc="-50" dirty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sz="2800" i="1" spc="-5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pt-BR" sz="2800" i="1" spc="-50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pt-BR" sz="2800" i="1" spc="-50" dirty="0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lang="pt-BR" sz="2800" b="0" i="1" spc="-50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sz="2800" b="0" i="1" spc="-5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pc="-50" dirty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sz="2800" b="0" i="1" spc="-50" dirty="0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pt-BR" sz="2800" b="0" i="1" spc="-50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pt-BR" sz="2800" b="0" i="1" spc="-5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pt-BR" sz="2800" dirty="0">
                    <a:latin typeface="Cambria Math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2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seus </a:t>
                </a:r>
                <a:r>
                  <a:rPr lang="pt-BR" sz="2800" spc="-10" dirty="0">
                    <a:latin typeface="Calibri"/>
                    <a:cs typeface="Calibri"/>
                  </a:rPr>
                  <a:t>respectivos</a:t>
                </a:r>
                <a:r>
                  <a:rPr lang="pt-BR" sz="2800" spc="-1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rótulos,</a:t>
                </a:r>
                <a:r>
                  <a:rPr lang="pt-BR" sz="2800" spc="-1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𝑦</m:t>
                    </m:r>
                    <m:r>
                      <a:rPr lang="pt-BR" sz="28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800" i="1" spc="-50" dirty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800" i="1" spc="-10" dirty="0">
                        <a:latin typeface="Cambria Math" panose="02040503050406030204" pitchFamily="18" charset="0"/>
                        <a:cs typeface="Cambria Math"/>
                      </a:rPr>
                      <m:t>,</m:t>
                    </m:r>
                    <m:r>
                      <a:rPr lang="pt-BR" sz="2800" i="1" spc="-150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2800" i="1" dirty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800" i="1" spc="240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2800" i="1" spc="-50" dirty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</m:oMath>
                </a14:m>
                <a:endParaRPr lang="pt-BR" sz="2800" dirty="0">
                  <a:latin typeface="Cambria Math"/>
                  <a:cs typeface="Cambria Math"/>
                </a:endParaRPr>
              </a:p>
              <a:p>
                <a:pPr marL="266700" marR="17780">
                  <a:lnSpc>
                    <a:spcPts val="3010"/>
                  </a:lnSpc>
                  <a:spcBef>
                    <a:spcPts val="20"/>
                  </a:spcBef>
                </a:pPr>
                <a14:m>
                  <m:oMath xmlns:m="http://schemas.openxmlformats.org/officeDocument/2006/math">
                    <m:r>
                      <a:rPr lang="pt-BR" sz="2800" i="1" spc="-20" dirty="0" smtClean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  <m:r>
                      <a:rPr lang="pt-BR" sz="2800" i="1" spc="-20" dirty="0" smtClean="0">
                        <a:latin typeface="Cambria Math" panose="02040503050406030204" pitchFamily="18" charset="0"/>
                        <a:cs typeface="Cambria Math"/>
                      </a:rPr>
                      <m:t>, …</m:t>
                    </m:r>
                    <m:r>
                      <a:rPr lang="pt-BR" sz="2800" i="1" spc="-10" dirty="0">
                        <a:latin typeface="Cambria Math" panose="02040503050406030204" pitchFamily="18" charset="0"/>
                        <a:cs typeface="Cambria Math"/>
                      </a:rPr>
                      <m:t>,</m:t>
                    </m:r>
                    <m:r>
                      <a:rPr lang="pt-BR" sz="2800" i="1" spc="-150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2800" i="1" dirty="0">
                        <a:latin typeface="Cambria Math" panose="02040503050406030204" pitchFamily="18" charset="0"/>
                        <a:cs typeface="Cambria Math"/>
                      </a:rPr>
                      <m:t>𝑁</m:t>
                    </m:r>
                    <m:r>
                      <a:rPr lang="pt-BR" sz="2800" i="1" dirty="0">
                        <a:latin typeface="Cambria Math" panose="02040503050406030204" pitchFamily="18" charset="0"/>
                        <a:cs typeface="Cambria Math"/>
                      </a:rPr>
                      <m:t>−</m:t>
                    </m:r>
                    <m:r>
                      <a:rPr lang="pt-BR" sz="2800" i="1" dirty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  <m:r>
                      <a:rPr lang="pt-BR" sz="2800" i="1" dirty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</m:oMath>
                </a14:m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sejam</a:t>
                </a:r>
                <a:r>
                  <a:rPr lang="pt-BR" sz="2800" spc="-1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FF0000"/>
                    </a:solidFill>
                    <a:latin typeface="Calibri"/>
                    <a:cs typeface="Calibri"/>
                  </a:rPr>
                  <a:t>armazenados</a:t>
                </a:r>
                <a:r>
                  <a:rPr lang="pt-BR" sz="2800" b="1" i="1" spc="-35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25" dirty="0">
                    <a:solidFill>
                      <a:srgbClr val="FF0000"/>
                    </a:solidFill>
                    <a:latin typeface="Calibri"/>
                    <a:cs typeface="Calibri"/>
                  </a:rPr>
                  <a:t>em </a:t>
                </a:r>
                <a:r>
                  <a:rPr lang="pt-BR" sz="2800" b="1" i="1" spc="-10" dirty="0">
                    <a:solidFill>
                      <a:srgbClr val="FF0000"/>
                    </a:solidFill>
                    <a:latin typeface="Calibri"/>
                    <a:cs typeface="Calibri"/>
                  </a:rPr>
                  <a:t>memória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938" y="2743200"/>
                <a:ext cx="7144062" cy="1628010"/>
              </a:xfrm>
              <a:prstGeom prst="rect">
                <a:avLst/>
              </a:prstGeom>
              <a:blipFill>
                <a:blip r:embed="rId2"/>
                <a:stretch>
                  <a:fillRect l="-1451" t="-7116" r="-1365" b="-1236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940" y="2253310"/>
            <a:ext cx="4815998" cy="29282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Funcionamento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5628" y="1793493"/>
            <a:ext cx="5765800" cy="27565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seguida,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6FC0"/>
                </a:solidFill>
                <a:latin typeface="Calibri"/>
                <a:cs typeface="Calibri"/>
              </a:rPr>
              <a:t>exemplo</a:t>
            </a:r>
            <a:r>
              <a:rPr sz="2800" b="1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6FC0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entrada</a:t>
            </a:r>
            <a:r>
              <a:rPr sz="2800" b="1" i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inédito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𝒙′</a:t>
            </a:r>
            <a:r>
              <a:rPr sz="2800" spc="-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círculo verde),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saída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dependerá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800" b="1" i="1" spc="-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rótulos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associados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aos</a:t>
            </a:r>
            <a:endParaRPr sz="2800" dirty="0">
              <a:latin typeface="Calibri"/>
              <a:cs typeface="Calibri"/>
            </a:endParaRPr>
          </a:p>
          <a:p>
            <a:pPr marL="241300" marR="366395">
              <a:lnSpc>
                <a:spcPct val="89900"/>
              </a:lnSpc>
              <a:spcBef>
                <a:spcPts val="15"/>
              </a:spcBef>
            </a:pPr>
            <a:r>
              <a:rPr sz="2800" dirty="0">
                <a:solidFill>
                  <a:srgbClr val="6F2F9F"/>
                </a:solidFill>
                <a:latin typeface="Cambria Math"/>
                <a:cs typeface="Cambria Math"/>
              </a:rPr>
              <a:t>𝒌</a:t>
            </a:r>
            <a:r>
              <a:rPr sz="2800" spc="-5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exemplos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treinamento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mais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próximos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𝒙′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espaço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4" y="2275090"/>
            <a:ext cx="5864097" cy="35943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Funcionamento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4" y="2275090"/>
            <a:ext cx="5864097" cy="359435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0DB1B85-7689-C6E3-7527-13C4DF5D9CA2}"/>
              </a:ext>
            </a:extLst>
          </p:cNvPr>
          <p:cNvSpPr txBox="1"/>
          <p:nvPr/>
        </p:nvSpPr>
        <p:spPr>
          <a:xfrm>
            <a:off x="6096000" y="1614130"/>
            <a:ext cx="608841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0" i="0" spc="-10" dirty="0">
                <a:latin typeface="Calibri"/>
                <a:cs typeface="Calibri"/>
              </a:rPr>
              <a:t>Para</a:t>
            </a:r>
            <a:r>
              <a:rPr lang="pt-BR" sz="2800" b="0" i="0" spc="-75" dirty="0">
                <a:latin typeface="Calibri"/>
                <a:cs typeface="Calibri"/>
              </a:rPr>
              <a:t> </a:t>
            </a:r>
            <a:r>
              <a:rPr lang="pt-BR" sz="2800" spc="-10" dirty="0">
                <a:solidFill>
                  <a:srgbClr val="6F2F9F"/>
                </a:solidFill>
              </a:rPr>
              <a:t>classificação</a:t>
            </a:r>
            <a:r>
              <a:rPr lang="pt-BR" sz="2800" b="0" i="0" spc="-10" dirty="0">
                <a:latin typeface="Calibri"/>
                <a:cs typeface="Calibri"/>
              </a:rPr>
              <a:t>,</a:t>
            </a:r>
            <a:r>
              <a:rPr lang="pt-BR" sz="2800" b="0" i="0" spc="-75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a</a:t>
            </a:r>
            <a:r>
              <a:rPr lang="pt-BR" sz="2800" b="0" i="0" spc="-70" dirty="0">
                <a:latin typeface="Calibri"/>
                <a:cs typeface="Calibri"/>
              </a:rPr>
              <a:t> </a:t>
            </a:r>
            <a:r>
              <a:rPr lang="pt-BR" sz="2800" i="1" dirty="0">
                <a:solidFill>
                  <a:srgbClr val="00B050"/>
                </a:solidFill>
                <a:latin typeface="Calibri"/>
                <a:cs typeface="Calibri"/>
              </a:rPr>
              <a:t>classe mais frequente</a:t>
            </a:r>
            <a:r>
              <a:rPr lang="pt-BR" sz="2800" i="1" spc="-70" dirty="0">
                <a:solidFill>
                  <a:srgbClr val="00B050"/>
                </a:solidFill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entre</a:t>
            </a:r>
            <a:r>
              <a:rPr lang="pt-BR" sz="2800" b="0" i="0" spc="-75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os</a:t>
            </a:r>
            <a:r>
              <a:rPr lang="pt-BR" sz="2800" b="0" i="0" spc="-60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mbria Math"/>
                <a:cs typeface="Cambria Math"/>
              </a:rPr>
              <a:t>𝒌</a:t>
            </a:r>
            <a:r>
              <a:rPr lang="pt-BR" sz="2800" b="0" i="0" spc="-60" dirty="0">
                <a:latin typeface="Cambria Math"/>
                <a:cs typeface="Cambria Math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vizinhos</a:t>
            </a:r>
            <a:r>
              <a:rPr lang="pt-BR" sz="2800" b="0" i="0" spc="-55" dirty="0">
                <a:latin typeface="Calibri"/>
                <a:cs typeface="Calibri"/>
              </a:rPr>
              <a:t> </a:t>
            </a:r>
            <a:r>
              <a:rPr lang="pt-BR" sz="2800" b="0" i="0" spc="-20" dirty="0">
                <a:latin typeface="Calibri"/>
                <a:cs typeface="Calibri"/>
              </a:rPr>
              <a:t>mais </a:t>
            </a:r>
            <a:r>
              <a:rPr lang="pt-BR" sz="2800" b="0" i="0" spc="-10" dirty="0">
                <a:latin typeface="Calibri"/>
                <a:cs typeface="Calibri"/>
              </a:rPr>
              <a:t>próximos</a:t>
            </a:r>
            <a:r>
              <a:rPr lang="pt-BR" sz="2800" b="0" i="0" spc="-65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é</a:t>
            </a:r>
            <a:r>
              <a:rPr lang="pt-BR" sz="2800" b="0" i="0" spc="-80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escolhida</a:t>
            </a:r>
            <a:r>
              <a:rPr lang="pt-BR" sz="2800" b="0" i="0" spc="-60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como</a:t>
            </a:r>
            <a:r>
              <a:rPr lang="pt-BR" sz="2800" b="0" i="0" spc="-90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a</a:t>
            </a:r>
            <a:r>
              <a:rPr lang="pt-BR" sz="2800" b="0" i="0" spc="-75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classe</a:t>
            </a:r>
            <a:r>
              <a:rPr lang="pt-BR" sz="2800" b="0" i="0" spc="-85" dirty="0">
                <a:latin typeface="Calibri"/>
                <a:cs typeface="Calibri"/>
              </a:rPr>
              <a:t> </a:t>
            </a:r>
            <a:r>
              <a:rPr lang="pt-BR" sz="2800" b="0" i="0" spc="-25" dirty="0">
                <a:latin typeface="Calibri"/>
                <a:cs typeface="Calibri"/>
              </a:rPr>
              <a:t>do </a:t>
            </a:r>
            <a:r>
              <a:rPr lang="pt-BR" sz="2800" b="0" i="0" spc="-20" dirty="0">
                <a:latin typeface="Calibri"/>
                <a:cs typeface="Calibri"/>
              </a:rPr>
              <a:t>exemplo</a:t>
            </a:r>
            <a:r>
              <a:rPr lang="pt-BR" sz="2800" b="0" i="0" spc="-60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de</a:t>
            </a:r>
            <a:r>
              <a:rPr lang="pt-BR" sz="2800" b="0" i="0" spc="-65" dirty="0">
                <a:latin typeface="Calibri"/>
                <a:cs typeface="Calibri"/>
              </a:rPr>
              <a:t> </a:t>
            </a:r>
            <a:r>
              <a:rPr lang="pt-BR" sz="2800" b="0" i="0" spc="-10" dirty="0">
                <a:latin typeface="Calibri"/>
                <a:cs typeface="Calibri"/>
              </a:rPr>
              <a:t>entrada.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spc="-10" dirty="0">
                <a:latin typeface="Calibri"/>
                <a:cs typeface="Calibri"/>
              </a:rPr>
              <a:t>Para </a:t>
            </a:r>
            <a:r>
              <a:rPr lang="pt-BR" sz="2800" spc="-10" dirty="0">
                <a:solidFill>
                  <a:srgbClr val="6F2F9F"/>
                </a:solidFill>
              </a:rPr>
              <a:t>regressão</a:t>
            </a:r>
            <a:r>
              <a:rPr lang="pt-BR" sz="2800" spc="-20" dirty="0">
                <a:latin typeface="Calibri"/>
                <a:cs typeface="Calibri"/>
              </a:rPr>
              <a:t>, os valores associados aos 𝒌 vizinhos mais próximos são usados para calcular um </a:t>
            </a:r>
            <a:r>
              <a:rPr lang="pt-BR" sz="2800" i="1" spc="-20" dirty="0">
                <a:solidFill>
                  <a:srgbClr val="00B050"/>
                </a:solidFill>
                <a:latin typeface="Calibri"/>
                <a:cs typeface="Calibri"/>
              </a:rPr>
              <a:t>valor médio ou ponderado</a:t>
            </a:r>
            <a:r>
              <a:rPr lang="pt-BR" sz="2800" i="1" spc="-10" dirty="0">
                <a:solidFill>
                  <a:srgbClr val="00AF50"/>
                </a:solidFill>
              </a:rPr>
              <a:t>,</a:t>
            </a:r>
            <a:r>
              <a:rPr lang="pt-BR" sz="2800" spc="-20" dirty="0">
                <a:latin typeface="Calibri"/>
                <a:cs typeface="Calibri"/>
              </a:rPr>
              <a:t> que será a estimativa para o exemplo de entrada.</a:t>
            </a:r>
          </a:p>
          <a:p>
            <a:r>
              <a:rPr lang="pt-BR" sz="2800" spc="-20" dirty="0">
                <a:latin typeface="Calibri"/>
                <a:cs typeface="Calibri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Funcionamento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4" y="2275090"/>
            <a:ext cx="5864097" cy="359435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E635E2-B810-0118-6154-5DA3CF260125}"/>
              </a:ext>
            </a:extLst>
          </p:cNvPr>
          <p:cNvSpPr txBox="1"/>
          <p:nvPr/>
        </p:nvSpPr>
        <p:spPr>
          <a:xfrm>
            <a:off x="6096000" y="1295400"/>
            <a:ext cx="586409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Ou </a:t>
            </a:r>
            <a:r>
              <a:rPr lang="pt-BR" sz="2800" b="0" i="0" dirty="0">
                <a:latin typeface="Calibri"/>
                <a:cs typeface="Calibri"/>
              </a:rPr>
              <a:t>seja,</a:t>
            </a:r>
            <a:r>
              <a:rPr lang="pt-BR" sz="2800" b="0" i="0" spc="-40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o</a:t>
            </a:r>
            <a:r>
              <a:rPr lang="pt-BR" sz="2800" b="0" i="0" spc="-55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algoritmo</a:t>
            </a:r>
            <a:r>
              <a:rPr lang="pt-BR" sz="2800" b="0" i="0" spc="-60" dirty="0">
                <a:latin typeface="Calibri"/>
                <a:cs typeface="Calibri"/>
              </a:rPr>
              <a:t> </a:t>
            </a:r>
            <a:r>
              <a:rPr lang="pt-BR" sz="2800" b="0" i="0" spc="-25" dirty="0">
                <a:latin typeface="Calibri"/>
                <a:cs typeface="Calibri"/>
              </a:rPr>
              <a:t>usa </a:t>
            </a:r>
            <a:r>
              <a:rPr lang="pt-BR" sz="2800" i="1" dirty="0">
                <a:solidFill>
                  <a:srgbClr val="0070C0"/>
                </a:solidFill>
                <a:latin typeface="Calibri"/>
                <a:cs typeface="Calibri"/>
              </a:rPr>
              <a:t>similaridade/proximidade entre vetores de atributos</a:t>
            </a:r>
            <a:r>
              <a:rPr lang="pt-BR" sz="2800" i="1" spc="-125" dirty="0">
                <a:solidFill>
                  <a:srgbClr val="0070C0"/>
                </a:solidFill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para</a:t>
            </a:r>
            <a:r>
              <a:rPr lang="pt-BR" sz="2800" b="0" i="0" spc="-95" dirty="0">
                <a:latin typeface="Calibri"/>
                <a:cs typeface="Calibri"/>
              </a:rPr>
              <a:t> </a:t>
            </a:r>
            <a:r>
              <a:rPr lang="pt-BR" sz="2800" b="0" i="0" spc="-10" dirty="0">
                <a:latin typeface="Calibri"/>
                <a:cs typeface="Calibri"/>
              </a:rPr>
              <a:t>prever</a:t>
            </a:r>
            <a:r>
              <a:rPr lang="pt-BR" sz="2800" b="0" i="0" spc="-110" dirty="0">
                <a:latin typeface="Calibri"/>
                <a:cs typeface="Calibri"/>
              </a:rPr>
              <a:t> </a:t>
            </a:r>
            <a:r>
              <a:rPr lang="pt-BR" sz="2800" b="0" i="0" spc="-25" dirty="0">
                <a:latin typeface="Calibri"/>
                <a:cs typeface="Calibri"/>
              </a:rPr>
              <a:t>os </a:t>
            </a:r>
            <a:r>
              <a:rPr lang="pt-BR" sz="2800" b="0" i="0" dirty="0">
                <a:latin typeface="Calibri"/>
                <a:cs typeface="Calibri"/>
              </a:rPr>
              <a:t>valores</a:t>
            </a:r>
            <a:r>
              <a:rPr lang="pt-BR" sz="2800" b="0" i="0" spc="-110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de</a:t>
            </a:r>
            <a:r>
              <a:rPr lang="pt-BR" sz="2800" b="0" i="0" spc="-95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quaisquer</a:t>
            </a:r>
            <a:r>
              <a:rPr lang="pt-BR" sz="2800" b="0" i="0" spc="-75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novos</a:t>
            </a:r>
            <a:r>
              <a:rPr lang="pt-BR" sz="2800" b="0" i="0" spc="-85" dirty="0">
                <a:latin typeface="Calibri"/>
                <a:cs typeface="Calibri"/>
              </a:rPr>
              <a:t> </a:t>
            </a:r>
            <a:r>
              <a:rPr lang="pt-BR" sz="2800" b="0" i="0" spc="-10" dirty="0">
                <a:latin typeface="Calibri"/>
                <a:cs typeface="Calibri"/>
              </a:rPr>
              <a:t>exemplos.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spc="-10" dirty="0">
                <a:latin typeface="Calibri"/>
                <a:cs typeface="Calibri"/>
              </a:rPr>
              <a:t>Ou Isso significa que um novo exemplo de entrada recebe um valor de saída com base na sua </a:t>
            </a:r>
            <a:r>
              <a:rPr lang="pt-BR" sz="2800" i="1" dirty="0">
                <a:solidFill>
                  <a:srgbClr val="0070C0"/>
                </a:solidFill>
                <a:latin typeface="Calibri"/>
                <a:cs typeface="Calibri"/>
              </a:rPr>
              <a:t>proximidade</a:t>
            </a:r>
            <a:r>
              <a:rPr lang="pt-BR" sz="2800" i="1" spc="-10" dirty="0">
                <a:latin typeface="Calibri"/>
                <a:cs typeface="Calibri"/>
              </a:rPr>
              <a:t> </a:t>
            </a:r>
            <a:r>
              <a:rPr lang="pt-BR" sz="2800" i="1" dirty="0">
                <a:solidFill>
                  <a:srgbClr val="0070C0"/>
                </a:solidFill>
                <a:latin typeface="Calibri"/>
                <a:cs typeface="Calibri"/>
              </a:rPr>
              <a:t>com os exemplos do conjunto de treinamento.</a:t>
            </a:r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Funcionamento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04413" y="1472767"/>
            <a:ext cx="5420995" cy="16046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exemplo,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regressão,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nós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tomar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média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aritmética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rótulos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50"/>
                </a:solidFill>
                <a:latin typeface="Cambria Math"/>
                <a:cs typeface="Cambria Math"/>
              </a:rPr>
              <a:t>𝒌</a:t>
            </a:r>
            <a:r>
              <a:rPr sz="2800" spc="-4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vizinhos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mais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próximos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04413" y="4242255"/>
            <a:ext cx="5417820" cy="160401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63500" marR="30480">
              <a:lnSpc>
                <a:spcPct val="90000"/>
              </a:lnSpc>
              <a:spcBef>
                <a:spcPts val="430"/>
              </a:spcBef>
              <a:tabLst>
                <a:tab pos="2297430" algn="l"/>
                <a:tab pos="2647950" algn="l"/>
              </a:tabLst>
            </a:pPr>
            <a:r>
              <a:rPr sz="2800" dirty="0">
                <a:latin typeface="Calibri"/>
                <a:cs typeface="Calibri"/>
              </a:rPr>
              <a:t>onde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𝑁</a:t>
            </a:r>
            <a:r>
              <a:rPr sz="3075" baseline="-16260" dirty="0">
                <a:latin typeface="Cambria Math"/>
                <a:cs typeface="Cambria Math"/>
              </a:rPr>
              <a:t>𝑘</a:t>
            </a:r>
            <a:r>
              <a:rPr sz="2800" dirty="0">
                <a:latin typeface="Cambria Math"/>
                <a:cs typeface="Cambria Math"/>
              </a:rPr>
              <a:t>(𝒙</a:t>
            </a:r>
            <a:r>
              <a:rPr sz="3075" baseline="27100" dirty="0">
                <a:latin typeface="Cambria Math"/>
                <a:cs typeface="Cambria Math"/>
              </a:rPr>
              <a:t>′</a:t>
            </a:r>
            <a:r>
              <a:rPr sz="2800" dirty="0">
                <a:latin typeface="Cambria Math"/>
                <a:cs typeface="Cambria Math"/>
              </a:rPr>
              <a:t>)</a:t>
            </a:r>
            <a:r>
              <a:rPr sz="2800" spc="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vizinhança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65" dirty="0">
                <a:latin typeface="Cambria Math"/>
                <a:cs typeface="Cambria Math"/>
              </a:rPr>
              <a:t>𝒙</a:t>
            </a:r>
            <a:r>
              <a:rPr sz="3075" spc="97" baseline="27100" dirty="0">
                <a:latin typeface="Cambria Math"/>
                <a:cs typeface="Cambria Math"/>
              </a:rPr>
              <a:t>′</a:t>
            </a:r>
            <a:r>
              <a:rPr sz="2800" spc="65" dirty="0">
                <a:latin typeface="Calibri"/>
                <a:cs typeface="Calibri"/>
              </a:rPr>
              <a:t>, </a:t>
            </a:r>
            <a:r>
              <a:rPr sz="2800" spc="-10" dirty="0">
                <a:latin typeface="Calibri"/>
                <a:cs typeface="Calibri"/>
              </a:rPr>
              <a:t>formada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 err="1">
                <a:latin typeface="Calibri"/>
                <a:cs typeface="Calibri"/>
              </a:rPr>
              <a:t>treinamento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𝑖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correspondem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𝑘</a:t>
            </a:r>
            <a:r>
              <a:rPr sz="2800" spc="2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vizinhos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próximos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65" dirty="0">
                <a:latin typeface="Cambria Math"/>
                <a:cs typeface="Cambria Math"/>
              </a:rPr>
              <a:t>𝒙</a:t>
            </a:r>
            <a:r>
              <a:rPr sz="3075" spc="97" baseline="27100" dirty="0">
                <a:latin typeface="Cambria Math"/>
                <a:cs typeface="Cambria Math"/>
              </a:rPr>
              <a:t>′</a:t>
            </a:r>
            <a:r>
              <a:rPr sz="2800" spc="6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4" y="2275090"/>
            <a:ext cx="5864097" cy="35943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B16B2660-38CD-A198-7931-C4A4E7E41524}"/>
                  </a:ext>
                </a:extLst>
              </p:cNvPr>
              <p:cNvSpPr txBox="1"/>
              <p:nvPr/>
            </p:nvSpPr>
            <p:spPr>
              <a:xfrm>
                <a:off x="6858000" y="3103056"/>
                <a:ext cx="4434547" cy="920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9"/>
                                </m:r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B16B2660-38CD-A198-7931-C4A4E7E41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3103056"/>
                <a:ext cx="4434547" cy="9206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Funcionamento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5628" y="1793493"/>
            <a:ext cx="5380990" cy="326897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38354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classificação,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exemplo, </a:t>
            </a:r>
            <a:r>
              <a:rPr sz="2800" dirty="0">
                <a:latin typeface="Calibri"/>
                <a:cs typeface="Calibri"/>
              </a:rPr>
              <a:t>dentre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𝑘</a:t>
            </a:r>
            <a:r>
              <a:rPr sz="2800" spc="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vizinhos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próximos, escolhemos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maior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voto </a:t>
            </a:r>
            <a:r>
              <a:rPr sz="2800" spc="-10" dirty="0">
                <a:latin typeface="Calibri"/>
                <a:cs typeface="Calibri"/>
              </a:rPr>
              <a:t>majoritário).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OBS</a:t>
            </a:r>
            <a:r>
              <a:rPr sz="2800" dirty="0">
                <a:latin typeface="Calibri"/>
                <a:cs typeface="Calibri"/>
              </a:rPr>
              <a:t>.: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confundam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número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𝐾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número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vizinhos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mais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próximos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𝑘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4" y="2275090"/>
            <a:ext cx="5864097" cy="35943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k-</a:t>
            </a:r>
            <a:r>
              <a:rPr dirty="0"/>
              <a:t>Vizinhos</a:t>
            </a:r>
            <a:r>
              <a:rPr spc="-55" dirty="0"/>
              <a:t> </a:t>
            </a:r>
            <a:r>
              <a:rPr dirty="0"/>
              <a:t>mais</a:t>
            </a:r>
            <a:r>
              <a:rPr spc="-55" dirty="0"/>
              <a:t> </a:t>
            </a:r>
            <a:r>
              <a:rPr spc="-10" dirty="0"/>
              <a:t>Próximos</a:t>
            </a:r>
            <a:r>
              <a:rPr spc="-55" dirty="0"/>
              <a:t> </a:t>
            </a:r>
            <a:r>
              <a:rPr spc="-10" dirty="0"/>
              <a:t>(k-</a:t>
            </a:r>
            <a:r>
              <a:rPr spc="-25" dirty="0"/>
              <a:t>NN)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0228" y="1793493"/>
            <a:ext cx="5759450" cy="360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 indent="-228600" algn="just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25" dirty="0">
                <a:latin typeface="Calibri"/>
                <a:cs typeface="Calibri"/>
              </a:rPr>
              <a:t>Portanto,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NN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envolve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</a:t>
            </a:r>
            <a:endParaRPr sz="2800" dirty="0">
              <a:latin typeface="Calibri"/>
              <a:cs typeface="Calibri"/>
            </a:endParaRPr>
          </a:p>
          <a:p>
            <a:pPr marL="266700" algn="just">
              <a:lnSpc>
                <a:spcPts val="3195"/>
              </a:lnSpc>
            </a:pP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definição</a:t>
            </a:r>
            <a:r>
              <a:rPr sz="2800" b="1" i="1" spc="-1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de:</a:t>
            </a:r>
            <a:endParaRPr sz="2800" dirty="0">
              <a:latin typeface="Calibri"/>
              <a:cs typeface="Calibri"/>
            </a:endParaRPr>
          </a:p>
          <a:p>
            <a:pPr marL="723900" marR="46990" lvl="1" indent="-228600" algn="just">
              <a:lnSpc>
                <a:spcPts val="2590"/>
              </a:lnSpc>
              <a:spcBef>
                <a:spcPts val="570"/>
              </a:spcBef>
              <a:buFont typeface="Wingdings"/>
              <a:buChar char=""/>
              <a:tabLst>
                <a:tab pos="723900" algn="l"/>
              </a:tabLst>
            </a:pPr>
            <a:r>
              <a:rPr sz="2400" dirty="0">
                <a:latin typeface="Calibri"/>
                <a:cs typeface="Calibri"/>
              </a:rPr>
              <a:t>Uma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métrica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distância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</a:t>
            </a:r>
            <a:r>
              <a:rPr sz="2400" spc="-25" dirty="0">
                <a:latin typeface="Calibri"/>
                <a:cs typeface="Calibri"/>
              </a:rPr>
              <a:t> ser </a:t>
            </a:r>
            <a:r>
              <a:rPr sz="2400" b="1" i="1" dirty="0">
                <a:solidFill>
                  <a:srgbClr val="4471C4"/>
                </a:solidFill>
                <a:latin typeface="Calibri"/>
                <a:cs typeface="Calibri"/>
              </a:rPr>
              <a:t>calculada</a:t>
            </a:r>
            <a:r>
              <a:rPr sz="2400" b="1" i="1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471C4"/>
                </a:solidFill>
                <a:latin typeface="Calibri"/>
                <a:cs typeface="Calibri"/>
              </a:rPr>
              <a:t>no</a:t>
            </a:r>
            <a:r>
              <a:rPr sz="2400" b="1" i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471C4"/>
                </a:solidFill>
                <a:latin typeface="Calibri"/>
                <a:cs typeface="Calibri"/>
              </a:rPr>
              <a:t>espaço</a:t>
            </a:r>
            <a:r>
              <a:rPr sz="2400" b="1" i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471C4"/>
                </a:solidFill>
                <a:latin typeface="Calibri"/>
                <a:cs typeface="Calibri"/>
              </a:rPr>
              <a:t>de</a:t>
            </a:r>
            <a:r>
              <a:rPr sz="2400" b="1" i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4471C4"/>
                </a:solidFill>
                <a:latin typeface="Calibri"/>
                <a:cs typeface="Calibri"/>
              </a:rPr>
              <a:t>atributos</a:t>
            </a:r>
            <a:r>
              <a:rPr sz="2400" b="1" i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fim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identificar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vizinhos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próximos.</a:t>
            </a:r>
            <a:endParaRPr sz="2400" dirty="0">
              <a:latin typeface="Calibri"/>
              <a:cs typeface="Calibri"/>
            </a:endParaRPr>
          </a:p>
          <a:p>
            <a:pPr marL="723900" marR="30480" lvl="1" indent="-228600">
              <a:lnSpc>
                <a:spcPct val="90000"/>
              </a:lnSpc>
              <a:spcBef>
                <a:spcPts val="475"/>
              </a:spcBef>
              <a:buFont typeface="Wingdings"/>
              <a:buChar char=""/>
              <a:tabLst>
                <a:tab pos="723900" algn="l"/>
              </a:tabLst>
            </a:pPr>
            <a:r>
              <a:rPr sz="2400" dirty="0">
                <a:latin typeface="Calibri"/>
                <a:cs typeface="Calibri"/>
              </a:rPr>
              <a:t>Um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valor</a:t>
            </a:r>
            <a:r>
              <a:rPr sz="2400" b="1" i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para</a:t>
            </a:r>
            <a:r>
              <a:rPr sz="24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o</a:t>
            </a:r>
            <a:r>
              <a:rPr sz="2400" b="1" i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hiperparâmetro</a:t>
            </a:r>
            <a:r>
              <a:rPr sz="2400" b="1" i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𝒌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ou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escolha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vizinhos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levados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consideração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geração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correspondente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entrada,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65" dirty="0">
                <a:latin typeface="Cambria Math"/>
                <a:cs typeface="Cambria Math"/>
              </a:rPr>
              <a:t>𝒙</a:t>
            </a:r>
            <a:r>
              <a:rPr sz="2625" spc="97" baseline="28571" dirty="0">
                <a:latin typeface="Cambria Math"/>
                <a:cs typeface="Cambria Math"/>
              </a:rPr>
              <a:t>′</a:t>
            </a:r>
            <a:r>
              <a:rPr sz="2400" spc="6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4" y="2275090"/>
            <a:ext cx="5864097" cy="35943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k-</a:t>
            </a:r>
            <a:r>
              <a:rPr dirty="0"/>
              <a:t>Vizinhos</a:t>
            </a:r>
            <a:r>
              <a:rPr spc="-55" dirty="0"/>
              <a:t> </a:t>
            </a:r>
            <a:r>
              <a:rPr dirty="0"/>
              <a:t>mais</a:t>
            </a:r>
            <a:r>
              <a:rPr spc="-55" dirty="0"/>
              <a:t> </a:t>
            </a:r>
            <a:r>
              <a:rPr spc="-10" dirty="0"/>
              <a:t>Próximos</a:t>
            </a:r>
            <a:r>
              <a:rPr spc="-55" dirty="0"/>
              <a:t> </a:t>
            </a:r>
            <a:r>
              <a:rPr spc="-10" dirty="0"/>
              <a:t>(k-</a:t>
            </a:r>
            <a:r>
              <a:rPr spc="-25" dirty="0"/>
              <a:t>NN)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4" y="2275090"/>
            <a:ext cx="5864097" cy="359435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CF0AA6E-8E63-FFCA-D8A2-FDC1B3E68219}"/>
              </a:ext>
            </a:extLst>
          </p:cNvPr>
          <p:cNvSpPr txBox="1"/>
          <p:nvPr/>
        </p:nvSpPr>
        <p:spPr>
          <a:xfrm>
            <a:off x="6096000" y="1951673"/>
            <a:ext cx="608841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Calibri"/>
                <a:cs typeface="Calibri"/>
              </a:rPr>
              <a:t>Como 𝑘 é um </a:t>
            </a:r>
            <a:r>
              <a:rPr lang="pt-BR" sz="2800" b="1" i="1" dirty="0" err="1">
                <a:latin typeface="Calibri"/>
                <a:cs typeface="Calibri"/>
              </a:rPr>
              <a:t>hiperparâmetro</a:t>
            </a:r>
            <a:r>
              <a:rPr lang="pt-BR" sz="2800" dirty="0">
                <a:latin typeface="Calibri"/>
                <a:cs typeface="Calibri"/>
              </a:rPr>
              <a:t> do </a:t>
            </a:r>
            <a:r>
              <a:rPr lang="pt-BR" sz="2800" b="0" i="0" spc="-25" dirty="0">
                <a:latin typeface="Calibri"/>
                <a:cs typeface="Calibri"/>
              </a:rPr>
              <a:t>k- </a:t>
            </a:r>
            <a:r>
              <a:rPr lang="pt-BR" sz="2800" b="0" i="0" dirty="0">
                <a:latin typeface="Calibri"/>
                <a:cs typeface="Calibri"/>
              </a:rPr>
              <a:t>NN,</a:t>
            </a:r>
            <a:r>
              <a:rPr lang="pt-BR" sz="2800" b="0" i="0" spc="-60" dirty="0">
                <a:latin typeface="Calibri"/>
                <a:cs typeface="Calibri"/>
              </a:rPr>
              <a:t> </a:t>
            </a:r>
            <a:r>
              <a:rPr lang="pt-BR" sz="2800" b="0" i="0" spc="-10" dirty="0">
                <a:latin typeface="Calibri"/>
                <a:cs typeface="Calibri"/>
              </a:rPr>
              <a:t>devemos</a:t>
            </a:r>
            <a:r>
              <a:rPr lang="pt-BR" sz="2800" b="0" i="0" spc="-85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usar</a:t>
            </a:r>
            <a:r>
              <a:rPr lang="pt-BR" sz="2800" b="0" i="0" spc="-80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técnicas</a:t>
            </a:r>
            <a:r>
              <a:rPr lang="pt-BR" sz="2800" b="0" i="0" spc="-75" dirty="0">
                <a:latin typeface="Calibri"/>
                <a:cs typeface="Calibri"/>
              </a:rPr>
              <a:t> </a:t>
            </a:r>
            <a:r>
              <a:rPr lang="pt-BR" sz="2800" b="0" i="0" spc="-25" dirty="0">
                <a:latin typeface="Calibri"/>
                <a:cs typeface="Calibri"/>
              </a:rPr>
              <a:t>de </a:t>
            </a:r>
            <a:r>
              <a:rPr lang="pt-BR" sz="2800" i="1" dirty="0">
                <a:solidFill>
                  <a:srgbClr val="0070C0"/>
                </a:solidFill>
                <a:latin typeface="Calibri"/>
                <a:cs typeface="Calibri"/>
              </a:rPr>
              <a:t>validação cruzada </a:t>
            </a:r>
            <a:r>
              <a:rPr lang="pt-BR" sz="2800" b="0" i="0" dirty="0">
                <a:latin typeface="Calibri"/>
                <a:cs typeface="Calibri"/>
              </a:rPr>
              <a:t>para</a:t>
            </a:r>
            <a:r>
              <a:rPr lang="pt-BR" sz="2800" b="0" i="0" spc="-140" dirty="0">
                <a:latin typeface="Calibri"/>
                <a:cs typeface="Calibri"/>
              </a:rPr>
              <a:t> </a:t>
            </a:r>
            <a:r>
              <a:rPr lang="pt-BR" sz="2800" b="0" i="0" spc="-10" dirty="0">
                <a:latin typeface="Calibri"/>
                <a:cs typeface="Calibri"/>
              </a:rPr>
              <a:t>encontrar</a:t>
            </a:r>
            <a:r>
              <a:rPr lang="pt-BR" sz="2800" b="0" i="0" spc="-125" dirty="0">
                <a:latin typeface="Calibri"/>
                <a:cs typeface="Calibri"/>
              </a:rPr>
              <a:t> </a:t>
            </a:r>
            <a:r>
              <a:rPr lang="pt-BR" sz="2800" b="0" i="0" spc="-50" dirty="0">
                <a:latin typeface="Calibri"/>
                <a:cs typeface="Calibri"/>
              </a:rPr>
              <a:t>o </a:t>
            </a:r>
            <a:r>
              <a:rPr lang="pt-BR" sz="2800" b="0" i="0" dirty="0">
                <a:latin typeface="Calibri"/>
                <a:cs typeface="Calibri"/>
              </a:rPr>
              <a:t>melhor</a:t>
            </a:r>
            <a:r>
              <a:rPr lang="pt-BR" sz="2800" b="0" i="0" spc="-75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valor</a:t>
            </a:r>
            <a:r>
              <a:rPr lang="pt-BR" sz="2800" b="0" i="0" spc="-85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de</a:t>
            </a:r>
            <a:r>
              <a:rPr lang="pt-BR" sz="2800" b="0" i="0" spc="-65" dirty="0">
                <a:latin typeface="Calibri"/>
                <a:cs typeface="Calibri"/>
              </a:rPr>
              <a:t> </a:t>
            </a:r>
            <a:r>
              <a:rPr lang="pt-BR" sz="2800" b="0" i="0" spc="-25" dirty="0">
                <a:latin typeface="Cambria Math"/>
                <a:cs typeface="Cambria Math"/>
              </a:rPr>
              <a:t>𝑘</a:t>
            </a:r>
            <a:r>
              <a:rPr lang="pt-BR" sz="2800" b="0" i="0" spc="-25" dirty="0">
                <a:latin typeface="Calibri"/>
                <a:cs typeface="Calibri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  </a:t>
            </a:r>
            <a:r>
              <a:rPr lang="pt-BR" sz="2800" spc="-10" dirty="0">
                <a:latin typeface="Calibri"/>
                <a:cs typeface="Calibri"/>
              </a:rPr>
              <a:t>Podemos utilizar por exemplo </a:t>
            </a:r>
            <a:r>
              <a:rPr lang="pt-BR" sz="2800" b="1" i="1" spc="-10" dirty="0">
                <a:latin typeface="Calibri"/>
                <a:cs typeface="Calibri"/>
              </a:rPr>
              <a:t>Grid Search</a:t>
            </a:r>
            <a:r>
              <a:rPr lang="pt-BR" sz="2800" spc="-10" dirty="0">
                <a:latin typeface="Calibri"/>
                <a:cs typeface="Calibri"/>
              </a:rPr>
              <a:t> ou </a:t>
            </a:r>
            <a:r>
              <a:rPr lang="pt-BR" sz="2800" b="1" i="1" spc="-10" dirty="0">
                <a:latin typeface="Calibri"/>
                <a:cs typeface="Calibri"/>
              </a:rPr>
              <a:t>Random Search </a:t>
            </a:r>
            <a:r>
              <a:rPr lang="pt-BR" sz="2800" spc="-10" dirty="0">
                <a:latin typeface="Calibri"/>
                <a:cs typeface="Calibri"/>
              </a:rPr>
              <a:t>com </a:t>
            </a:r>
            <a:r>
              <a:rPr lang="pt-BR" sz="2800" b="1" i="1" spc="-10" dirty="0">
                <a:latin typeface="Calibri"/>
                <a:cs typeface="Calibri"/>
              </a:rPr>
              <a:t>k-</a:t>
            </a:r>
            <a:r>
              <a:rPr lang="pt-BR" sz="2800" b="1" i="1" spc="-10" dirty="0" err="1">
                <a:latin typeface="Calibri"/>
                <a:cs typeface="Calibri"/>
              </a:rPr>
              <a:t>fold</a:t>
            </a:r>
            <a:r>
              <a:rPr lang="pt-BR" sz="2800" b="1" i="1" spc="-10" dirty="0">
                <a:latin typeface="Calibri"/>
                <a:cs typeface="Calibri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k-</a:t>
            </a:r>
            <a:r>
              <a:rPr dirty="0"/>
              <a:t>Vizinhos</a:t>
            </a:r>
            <a:r>
              <a:rPr spc="-55" dirty="0"/>
              <a:t> </a:t>
            </a:r>
            <a:r>
              <a:rPr dirty="0"/>
              <a:t>mais</a:t>
            </a:r>
            <a:r>
              <a:rPr spc="-55" dirty="0"/>
              <a:t> </a:t>
            </a:r>
            <a:r>
              <a:rPr spc="-10" dirty="0"/>
              <a:t>Próximos</a:t>
            </a:r>
            <a:r>
              <a:rPr spc="-55" dirty="0"/>
              <a:t> </a:t>
            </a:r>
            <a:r>
              <a:rPr spc="-10" dirty="0"/>
              <a:t>(k-</a:t>
            </a:r>
            <a:r>
              <a:rPr spc="-25" dirty="0"/>
              <a:t>NN)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5628" y="1793493"/>
            <a:ext cx="5785485" cy="39090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Devido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suas</a:t>
            </a:r>
            <a:r>
              <a:rPr sz="2800" spc="-20" dirty="0">
                <a:latin typeface="Calibri"/>
                <a:cs typeface="Calibri"/>
              </a:rPr>
              <a:t> características,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k-</a:t>
            </a:r>
            <a:r>
              <a:rPr sz="2800" spc="-25" dirty="0">
                <a:latin typeface="Calibri"/>
                <a:cs typeface="Calibri"/>
              </a:rPr>
              <a:t>NN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algoritmo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aprendizado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competitivo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vez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elementos</a:t>
            </a:r>
            <a:r>
              <a:rPr sz="2800" b="1" i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do</a:t>
            </a:r>
            <a:r>
              <a:rPr sz="2800" b="1" i="1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modelo</a:t>
            </a:r>
            <a:r>
              <a:rPr sz="2800" b="1" i="1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são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próprios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treinamento)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competem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entre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si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pelo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direito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de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influenciar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saída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algoritmo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medida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similaridade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i="1" spc="-10" dirty="0">
                <a:latin typeface="Calibri"/>
                <a:cs typeface="Calibri"/>
              </a:rPr>
              <a:t>distância</a:t>
            </a:r>
            <a:r>
              <a:rPr sz="2800" spc="-10" dirty="0">
                <a:latin typeface="Calibri"/>
                <a:cs typeface="Calibri"/>
              </a:rPr>
              <a:t>)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novo </a:t>
            </a:r>
            <a:r>
              <a:rPr sz="2800" dirty="0">
                <a:latin typeface="Calibri"/>
                <a:cs typeface="Calibri"/>
              </a:rPr>
              <a:t>dado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4" y="2275090"/>
            <a:ext cx="5864097" cy="35943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k-</a:t>
            </a:r>
            <a:r>
              <a:rPr dirty="0"/>
              <a:t>Vizinhos</a:t>
            </a:r>
            <a:r>
              <a:rPr spc="-55" dirty="0"/>
              <a:t> </a:t>
            </a:r>
            <a:r>
              <a:rPr dirty="0"/>
              <a:t>mais</a:t>
            </a:r>
            <a:r>
              <a:rPr spc="-55" dirty="0"/>
              <a:t> </a:t>
            </a:r>
            <a:r>
              <a:rPr spc="-10" dirty="0"/>
              <a:t>Próximos</a:t>
            </a:r>
            <a:r>
              <a:rPr spc="-55" dirty="0"/>
              <a:t> </a:t>
            </a:r>
            <a:r>
              <a:rPr spc="-10" dirty="0"/>
              <a:t>(k-</a:t>
            </a:r>
            <a:r>
              <a:rPr spc="-25" dirty="0"/>
              <a:t>NN)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5628" y="1793493"/>
            <a:ext cx="5810250" cy="343725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NN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explora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ideia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conhecida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lazy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learning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vez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não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“constrói”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um</a:t>
            </a:r>
            <a:r>
              <a:rPr sz="2800" b="1" i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modelo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até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o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instante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em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que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uma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predição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006FC0"/>
                </a:solidFill>
                <a:latin typeface="Calibri"/>
                <a:cs typeface="Calibri"/>
              </a:rPr>
              <a:t>é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solicitada</a:t>
            </a:r>
            <a:r>
              <a:rPr sz="2800" spc="-10" dirty="0">
                <a:solidFill>
                  <a:srgbClr val="006FC0"/>
                </a:solidFill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207010" lvl="1" indent="-228600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Ou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não</a:t>
            </a:r>
            <a:r>
              <a:rPr sz="24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existe</a:t>
            </a:r>
            <a:r>
              <a:rPr sz="2400" b="1" i="1" spc="-2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uma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etapa</a:t>
            </a:r>
            <a:r>
              <a:rPr sz="24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explícita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EC7C30"/>
                </a:solidFill>
                <a:latin typeface="Calibri"/>
                <a:cs typeface="Calibri"/>
              </a:rPr>
              <a:t>treinamento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/aprendizado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737235" lvl="1" indent="-228600">
              <a:lnSpc>
                <a:spcPts val="2590"/>
              </a:lnSpc>
              <a:spcBef>
                <a:spcPts val="509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vez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disso,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aprendizado</a:t>
            </a:r>
            <a:r>
              <a:rPr sz="24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é </a:t>
            </a:r>
            <a:r>
              <a:rPr sz="2400" b="1" i="1" dirty="0">
                <a:solidFill>
                  <a:srgbClr val="EC7C30"/>
                </a:solidFill>
                <a:latin typeface="Calibri"/>
                <a:cs typeface="Calibri"/>
              </a:rPr>
              <a:t>adiado</a:t>
            </a:r>
            <a:r>
              <a:rPr sz="2400" b="1" i="1" spc="-6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até</a:t>
            </a:r>
            <a:r>
              <a:rPr sz="2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fase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predição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4" y="2275090"/>
            <a:ext cx="5864097" cy="35943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k-</a:t>
            </a:r>
            <a:r>
              <a:rPr dirty="0"/>
              <a:t>Vizinhos</a:t>
            </a:r>
            <a:r>
              <a:rPr spc="-55" dirty="0"/>
              <a:t> </a:t>
            </a:r>
            <a:r>
              <a:rPr dirty="0"/>
              <a:t>mais</a:t>
            </a:r>
            <a:r>
              <a:rPr spc="-55" dirty="0"/>
              <a:t> </a:t>
            </a:r>
            <a:r>
              <a:rPr spc="-10" dirty="0"/>
              <a:t>Próximos</a:t>
            </a:r>
            <a:r>
              <a:rPr spc="-55" dirty="0"/>
              <a:t> </a:t>
            </a:r>
            <a:r>
              <a:rPr spc="-10" dirty="0"/>
              <a:t>(k-</a:t>
            </a:r>
            <a:r>
              <a:rPr spc="-25" dirty="0"/>
              <a:t>NN)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5628" y="1793493"/>
            <a:ext cx="5543550" cy="314071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NN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segue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paradigma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aprendizado-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baseado</a:t>
            </a:r>
            <a:r>
              <a:rPr sz="2800" b="1" i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em</a:t>
            </a:r>
            <a:r>
              <a:rPr sz="28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exemplos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invés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treinar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20" dirty="0">
                <a:latin typeface="Calibri"/>
                <a:cs typeface="Calibri"/>
              </a:rPr>
              <a:t>treinamento,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compara</a:t>
            </a:r>
            <a:r>
              <a:rPr sz="2800" b="1" i="1" spc="-9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exemplos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entrada</a:t>
            </a:r>
            <a:r>
              <a:rPr sz="2800" b="1" i="1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com</a:t>
            </a:r>
            <a:r>
              <a:rPr sz="2800" b="1" i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os</a:t>
            </a:r>
            <a:r>
              <a:rPr sz="2800" b="1" i="1" spc="-7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4471C4"/>
                </a:solidFill>
                <a:latin typeface="Calibri"/>
                <a:cs typeface="Calibri"/>
              </a:rPr>
              <a:t>exemplos</a:t>
            </a:r>
            <a:r>
              <a:rPr sz="2800" b="1" i="1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4471C4"/>
                </a:solidFill>
                <a:latin typeface="Calibri"/>
                <a:cs typeface="Calibri"/>
              </a:rPr>
              <a:t>do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conjunto</a:t>
            </a:r>
            <a:r>
              <a:rPr sz="2800" b="1" i="1" spc="-9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4471C4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treinamento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armazenados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em</a:t>
            </a:r>
            <a:r>
              <a:rPr sz="2800" b="1" i="1" spc="-6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memória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4" y="2275090"/>
            <a:ext cx="5864097" cy="35943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Desvantagens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5628" y="1793493"/>
            <a:ext cx="5328285" cy="16046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0" dirty="0">
                <a:latin typeface="Calibri"/>
                <a:cs typeface="Calibri"/>
              </a:rPr>
              <a:t>Todos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 </a:t>
            </a:r>
            <a:r>
              <a:rPr sz="2800" dirty="0">
                <a:latin typeface="Calibri"/>
                <a:cs typeface="Calibri"/>
              </a:rPr>
              <a:t>precisam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armazenados</a:t>
            </a:r>
            <a:r>
              <a:rPr sz="2800" b="1" i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consultados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identificar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k </a:t>
            </a:r>
            <a:r>
              <a:rPr sz="2800" dirty="0">
                <a:latin typeface="Calibri"/>
                <a:cs typeface="Calibri"/>
              </a:rPr>
              <a:t>vizinhos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próximos.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4" y="2275090"/>
            <a:ext cx="5864097" cy="35943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Desvantagens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5628" y="1793493"/>
            <a:ext cx="5531485" cy="27565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Portanto,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predição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poderá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ser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demorada</a:t>
            </a:r>
            <a:r>
              <a:rPr sz="2800" b="1" i="1" spc="-114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dependendo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tamanho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treinamento,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pois </a:t>
            </a:r>
            <a:r>
              <a:rPr sz="2800" spc="-30" dirty="0">
                <a:latin typeface="Calibri"/>
                <a:cs typeface="Calibri"/>
              </a:rPr>
              <a:t>deve-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calcular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distância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entre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o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exemplo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entrada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todos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os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exemplos</a:t>
            </a:r>
            <a:r>
              <a:rPr sz="2800" b="1" i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do</a:t>
            </a:r>
            <a:r>
              <a:rPr sz="28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conjunto</a:t>
            </a:r>
            <a:r>
              <a:rPr sz="2800" b="1" i="1" spc="-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4" y="2275090"/>
            <a:ext cx="5864097" cy="359435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Desvantagens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5628" y="1793493"/>
            <a:ext cx="5764530" cy="23729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Além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vimos,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conjunto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treinamento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deve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ser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armazenado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em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memória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 </a:t>
            </a:r>
            <a:r>
              <a:rPr sz="2800" dirty="0">
                <a:latin typeface="Calibri"/>
                <a:cs typeface="Calibri"/>
              </a:rPr>
              <a:t>seja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grande,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haver </a:t>
            </a:r>
            <a:r>
              <a:rPr sz="2800" dirty="0">
                <a:latin typeface="Calibri"/>
                <a:cs typeface="Calibri"/>
              </a:rPr>
              <a:t>memória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suficiente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armazená- </a:t>
            </a:r>
            <a:r>
              <a:rPr sz="2800" spc="-25" dirty="0">
                <a:latin typeface="Calibri"/>
                <a:cs typeface="Calibri"/>
              </a:rPr>
              <a:t>lo.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4" y="2275090"/>
            <a:ext cx="5864097" cy="35943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Outras</a:t>
            </a:r>
            <a:r>
              <a:rPr spc="-120" dirty="0"/>
              <a:t> </a:t>
            </a:r>
            <a:r>
              <a:rPr spc="-10" dirty="0"/>
              <a:t>desvantagens:</a:t>
            </a:r>
            <a:r>
              <a:rPr spc="-130" dirty="0"/>
              <a:t> </a:t>
            </a:r>
            <a:r>
              <a:rPr dirty="0"/>
              <a:t>Sensibilidade</a:t>
            </a:r>
            <a:r>
              <a:rPr spc="-95" dirty="0"/>
              <a:t> </a:t>
            </a:r>
            <a:r>
              <a:rPr spc="-50" dirty="0"/>
              <a:t>à </a:t>
            </a:r>
            <a:r>
              <a:rPr spc="-10" dirty="0"/>
              <a:t>dimensionalidade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41975" y="1793493"/>
            <a:ext cx="6328410" cy="326897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83185" indent="-228600" algn="just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desempenho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NN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afetado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possui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alta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dimensionalidade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Isso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ocorre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porque,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espaços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alta </a:t>
            </a:r>
            <a:r>
              <a:rPr sz="2800" spc="-10" dirty="0">
                <a:latin typeface="Calibri"/>
                <a:cs typeface="Calibri"/>
              </a:rPr>
              <a:t>dimensão,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noção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proximidade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entre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exemplos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pode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tornar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menos significativa,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levando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resultados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menos precisos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5" y="2666758"/>
            <a:ext cx="5225159" cy="320268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Outras</a:t>
            </a:r>
            <a:r>
              <a:rPr spc="-120" dirty="0"/>
              <a:t> </a:t>
            </a:r>
            <a:r>
              <a:rPr spc="-10" dirty="0"/>
              <a:t>desvantagens:</a:t>
            </a:r>
            <a:r>
              <a:rPr spc="-130" dirty="0"/>
              <a:t> </a:t>
            </a:r>
            <a:r>
              <a:rPr dirty="0"/>
              <a:t>Sensibilidade</a:t>
            </a:r>
            <a:r>
              <a:rPr spc="-95" dirty="0"/>
              <a:t> </a:t>
            </a:r>
            <a:r>
              <a:rPr spc="-50" dirty="0"/>
              <a:t>à </a:t>
            </a:r>
            <a:r>
              <a:rPr spc="-10" dirty="0"/>
              <a:t>dimensionalidade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41975" y="1793493"/>
            <a:ext cx="6345555" cy="360616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32385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À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dimensões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aumentam,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tornam-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esparsos</a:t>
            </a:r>
            <a:r>
              <a:rPr sz="2800" spc="-10" dirty="0">
                <a:latin typeface="Calibri"/>
                <a:cs typeface="Calibri"/>
              </a:rPr>
              <a:t>, dificultando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busca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vizinhos próximos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significativos.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Esparsidade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ficam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distantes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uns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outros.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esparsidade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faz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existam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menos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pontos</a:t>
            </a:r>
            <a:r>
              <a:rPr sz="28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vizinhos</a:t>
            </a:r>
            <a:r>
              <a:rPr sz="28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dentro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6F2F9F"/>
                </a:solidFill>
                <a:latin typeface="Calibri"/>
                <a:cs typeface="Calibri"/>
              </a:rPr>
              <a:t>uma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determinada</a:t>
            </a:r>
            <a:r>
              <a:rPr sz="2800" b="1" i="1" spc="-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distância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5" y="2666758"/>
            <a:ext cx="5225159" cy="320268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Outras</a:t>
            </a:r>
            <a:r>
              <a:rPr spc="-120" dirty="0"/>
              <a:t> </a:t>
            </a:r>
            <a:r>
              <a:rPr spc="-10" dirty="0"/>
              <a:t>desvantagens:</a:t>
            </a:r>
            <a:r>
              <a:rPr spc="-130" dirty="0"/>
              <a:t> </a:t>
            </a:r>
            <a:r>
              <a:rPr dirty="0"/>
              <a:t>Sensibilidade</a:t>
            </a:r>
            <a:r>
              <a:rPr spc="-95" dirty="0"/>
              <a:t> </a:t>
            </a:r>
            <a:r>
              <a:rPr spc="-50" dirty="0"/>
              <a:t>à </a:t>
            </a:r>
            <a:r>
              <a:rPr spc="-10" dirty="0"/>
              <a:t>dimensionalidade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1678" y="0"/>
            <a:ext cx="11073765" cy="43986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4991735" marR="2413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4991735" algn="l"/>
              </a:tabLst>
            </a:pPr>
            <a:endParaRPr b="0" i="0" spc="-1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5" y="2666758"/>
            <a:ext cx="5225159" cy="320268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0546E44-6BAC-FB7D-2BB5-9D932C65A87A}"/>
              </a:ext>
            </a:extLst>
          </p:cNvPr>
          <p:cNvSpPr txBox="1"/>
          <p:nvPr/>
        </p:nvSpPr>
        <p:spPr>
          <a:xfrm>
            <a:off x="5344904" y="1193304"/>
            <a:ext cx="65422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0" i="0" dirty="0">
                <a:latin typeface="Calibri"/>
                <a:cs typeface="Calibri"/>
              </a:rPr>
              <a:t>Além</a:t>
            </a:r>
            <a:r>
              <a:rPr lang="pt-BR" sz="2800" b="0" i="0" spc="-80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disso,</a:t>
            </a:r>
            <a:r>
              <a:rPr lang="pt-BR" sz="2800" b="0" i="0" spc="-65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em</a:t>
            </a:r>
            <a:r>
              <a:rPr lang="pt-BR" sz="2800" b="0" i="0" spc="-65" dirty="0">
                <a:latin typeface="Calibri"/>
                <a:cs typeface="Calibri"/>
              </a:rPr>
              <a:t> </a:t>
            </a:r>
            <a:r>
              <a:rPr lang="pt-BR" sz="2800" dirty="0">
                <a:solidFill>
                  <a:srgbClr val="6F2F9F"/>
                </a:solidFill>
              </a:rPr>
              <a:t>espaços</a:t>
            </a:r>
            <a:r>
              <a:rPr lang="pt-BR" sz="2800" spc="-85" dirty="0">
                <a:solidFill>
                  <a:srgbClr val="6F2F9F"/>
                </a:solidFill>
              </a:rPr>
              <a:t> </a:t>
            </a:r>
            <a:r>
              <a:rPr lang="pt-BR" sz="2800" dirty="0">
                <a:solidFill>
                  <a:srgbClr val="6F2F9F"/>
                </a:solidFill>
              </a:rPr>
              <a:t>de</a:t>
            </a:r>
            <a:r>
              <a:rPr lang="pt-BR" sz="2800" spc="-90" dirty="0">
                <a:solidFill>
                  <a:srgbClr val="6F2F9F"/>
                </a:solidFill>
              </a:rPr>
              <a:t> </a:t>
            </a:r>
            <a:r>
              <a:rPr lang="pt-BR" sz="2800" spc="-20" dirty="0">
                <a:solidFill>
                  <a:srgbClr val="6F2F9F"/>
                </a:solidFill>
              </a:rPr>
              <a:t>alta</a:t>
            </a:r>
            <a:r>
              <a:rPr lang="pt-BR" sz="2800" i="1" spc="-20" dirty="0">
                <a:solidFill>
                  <a:srgbClr val="6F2F9F"/>
                </a:solidFill>
              </a:rPr>
              <a:t> </a:t>
            </a:r>
            <a:r>
              <a:rPr lang="pt-BR" sz="2800" i="1" spc="-10" dirty="0">
                <a:solidFill>
                  <a:srgbClr val="6F2F9F"/>
                </a:solidFill>
              </a:rPr>
              <a:t>dimensionalidade</a:t>
            </a:r>
            <a:r>
              <a:rPr lang="pt-BR" sz="2800" i="1" spc="-55" dirty="0">
                <a:solidFill>
                  <a:srgbClr val="6F2F9F"/>
                </a:solidFill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as</a:t>
            </a:r>
            <a:r>
              <a:rPr lang="pt-BR" sz="2800" b="0" i="0" spc="-60" dirty="0">
                <a:latin typeface="Calibri"/>
                <a:cs typeface="Calibri"/>
              </a:rPr>
              <a:t> </a:t>
            </a:r>
            <a:r>
              <a:rPr lang="pt-BR" sz="2800" spc="-10" dirty="0">
                <a:solidFill>
                  <a:srgbClr val="00AF50"/>
                </a:solidFill>
              </a:rPr>
              <a:t>distâncias</a:t>
            </a:r>
            <a:r>
              <a:rPr lang="pt-BR" sz="2800" spc="-60" dirty="0">
                <a:solidFill>
                  <a:srgbClr val="00AF50"/>
                </a:solidFill>
              </a:rPr>
              <a:t> </a:t>
            </a:r>
            <a:r>
              <a:rPr lang="pt-BR" sz="2800" b="0" i="0" spc="-10" dirty="0">
                <a:latin typeface="Calibri"/>
                <a:cs typeface="Calibri"/>
              </a:rPr>
              <a:t>entre </a:t>
            </a:r>
            <a:r>
              <a:rPr lang="pt-BR" sz="2800" b="0" i="0" dirty="0">
                <a:latin typeface="Calibri"/>
                <a:cs typeface="Calibri"/>
              </a:rPr>
              <a:t>pontos</a:t>
            </a:r>
            <a:r>
              <a:rPr lang="pt-BR" sz="2800" b="0" i="0" spc="-85" dirty="0">
                <a:latin typeface="Calibri"/>
                <a:cs typeface="Calibri"/>
              </a:rPr>
              <a:t> </a:t>
            </a:r>
            <a:r>
              <a:rPr lang="pt-BR" sz="2800" dirty="0">
                <a:solidFill>
                  <a:srgbClr val="00AF50"/>
                </a:solidFill>
              </a:rPr>
              <a:t>se</a:t>
            </a:r>
            <a:r>
              <a:rPr lang="pt-BR" sz="2800" spc="-105" dirty="0">
                <a:solidFill>
                  <a:srgbClr val="00AF50"/>
                </a:solidFill>
              </a:rPr>
              <a:t> </a:t>
            </a:r>
            <a:r>
              <a:rPr lang="pt-BR" sz="2800" dirty="0">
                <a:solidFill>
                  <a:srgbClr val="00AF50"/>
                </a:solidFill>
              </a:rPr>
              <a:t>tornam</a:t>
            </a:r>
            <a:r>
              <a:rPr lang="pt-BR" sz="2800" spc="-100" dirty="0">
                <a:solidFill>
                  <a:srgbClr val="00AF50"/>
                </a:solidFill>
              </a:rPr>
              <a:t> </a:t>
            </a:r>
            <a:r>
              <a:rPr lang="pt-BR" sz="2800" dirty="0">
                <a:solidFill>
                  <a:srgbClr val="00AF50"/>
                </a:solidFill>
              </a:rPr>
              <a:t>mais</a:t>
            </a:r>
            <a:r>
              <a:rPr lang="pt-BR" sz="2800" spc="-105" dirty="0">
                <a:solidFill>
                  <a:srgbClr val="00AF50"/>
                </a:solidFill>
              </a:rPr>
              <a:t> </a:t>
            </a:r>
            <a:r>
              <a:rPr lang="pt-BR" sz="2800" dirty="0">
                <a:solidFill>
                  <a:srgbClr val="00AF50"/>
                </a:solidFill>
              </a:rPr>
              <a:t>uniformes</a:t>
            </a:r>
            <a:r>
              <a:rPr lang="pt-BR" sz="2800" spc="-75" dirty="0">
                <a:solidFill>
                  <a:srgbClr val="00AF50"/>
                </a:solidFill>
              </a:rPr>
              <a:t> </a:t>
            </a:r>
            <a:r>
              <a:rPr lang="pt-BR" sz="2800" b="0" i="0" spc="-10" dirty="0">
                <a:latin typeface="Calibri"/>
                <a:cs typeface="Calibri"/>
              </a:rPr>
              <a:t>(i.e., </a:t>
            </a:r>
            <a:r>
              <a:rPr lang="pt-BR" sz="2800" spc="-10" dirty="0">
                <a:solidFill>
                  <a:srgbClr val="001F5F"/>
                </a:solidFill>
              </a:rPr>
              <a:t>equidistante</a:t>
            </a:r>
            <a:r>
              <a:rPr lang="pt-BR" sz="2800" b="0" i="0" spc="-10" dirty="0">
                <a:latin typeface="Calibri"/>
                <a:cs typeface="Calibri"/>
              </a:rPr>
              <a:t>),</a:t>
            </a:r>
            <a:r>
              <a:rPr lang="pt-BR" sz="2800" b="0" i="0" spc="-45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o</a:t>
            </a:r>
            <a:r>
              <a:rPr lang="pt-BR" sz="2800" b="0" i="0" spc="-70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que</a:t>
            </a:r>
            <a:r>
              <a:rPr lang="pt-BR" sz="2800" b="0" i="0" spc="-40" dirty="0">
                <a:latin typeface="Calibri"/>
                <a:cs typeface="Calibri"/>
              </a:rPr>
              <a:t> </a:t>
            </a:r>
            <a:r>
              <a:rPr lang="pt-BR" sz="2800" dirty="0">
                <a:solidFill>
                  <a:srgbClr val="EC7C30"/>
                </a:solidFill>
              </a:rPr>
              <a:t>reduz</a:t>
            </a:r>
            <a:r>
              <a:rPr lang="pt-BR" sz="2800" spc="-70" dirty="0">
                <a:solidFill>
                  <a:srgbClr val="EC7C30"/>
                </a:solidFill>
              </a:rPr>
              <a:t> </a:t>
            </a:r>
            <a:r>
              <a:rPr lang="pt-BR" sz="2800" dirty="0">
                <a:solidFill>
                  <a:srgbClr val="EC7C30"/>
                </a:solidFill>
              </a:rPr>
              <a:t>a</a:t>
            </a:r>
            <a:r>
              <a:rPr lang="pt-BR" sz="2800" spc="-60" dirty="0">
                <a:solidFill>
                  <a:srgbClr val="EC7C30"/>
                </a:solidFill>
              </a:rPr>
              <a:t> </a:t>
            </a:r>
            <a:r>
              <a:rPr lang="pt-BR" sz="2800" spc="-10" dirty="0">
                <a:solidFill>
                  <a:srgbClr val="EC7C30"/>
                </a:solidFill>
              </a:rPr>
              <a:t>relevância</a:t>
            </a:r>
            <a:r>
              <a:rPr lang="pt-BR" sz="2800" i="1" spc="-10" dirty="0">
                <a:solidFill>
                  <a:srgbClr val="EC7C30"/>
                </a:solidFill>
              </a:rPr>
              <a:t> </a:t>
            </a:r>
            <a:r>
              <a:rPr lang="pt-BR" sz="2800" i="1" dirty="0">
                <a:solidFill>
                  <a:srgbClr val="EC7C30"/>
                </a:solidFill>
              </a:rPr>
              <a:t>do</a:t>
            </a:r>
            <a:r>
              <a:rPr lang="pt-BR" sz="2800" i="1" spc="-65" dirty="0">
                <a:solidFill>
                  <a:srgbClr val="EC7C30"/>
                </a:solidFill>
              </a:rPr>
              <a:t> </a:t>
            </a:r>
            <a:r>
              <a:rPr lang="pt-BR" sz="2800" i="1" spc="-10" dirty="0">
                <a:solidFill>
                  <a:srgbClr val="EC7C30"/>
                </a:solidFill>
              </a:rPr>
              <a:t>conceito</a:t>
            </a:r>
            <a:r>
              <a:rPr lang="pt-BR" sz="2800" i="1" spc="-60" dirty="0">
                <a:solidFill>
                  <a:srgbClr val="EC7C30"/>
                </a:solidFill>
              </a:rPr>
              <a:t> </a:t>
            </a:r>
            <a:r>
              <a:rPr lang="pt-BR" sz="2800" i="1" dirty="0">
                <a:solidFill>
                  <a:srgbClr val="EC7C30"/>
                </a:solidFill>
              </a:rPr>
              <a:t>de</a:t>
            </a:r>
            <a:r>
              <a:rPr lang="pt-BR" sz="2800" i="1" spc="-55" dirty="0">
                <a:solidFill>
                  <a:srgbClr val="EC7C30"/>
                </a:solidFill>
              </a:rPr>
              <a:t> </a:t>
            </a:r>
            <a:r>
              <a:rPr lang="pt-BR" sz="2800" i="1" spc="-10" dirty="0">
                <a:solidFill>
                  <a:srgbClr val="EC7C30"/>
                </a:solidFill>
              </a:rPr>
              <a:t>vizinhança</a:t>
            </a:r>
            <a:r>
              <a:rPr lang="pt-BR" sz="2800" b="0" i="0" spc="-10" dirty="0">
                <a:latin typeface="Calibri"/>
                <a:cs typeface="Calibri"/>
              </a:rPr>
              <a:t>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B8DB9C0-02F0-56BD-EC47-149E6B6B5DB1}"/>
              </a:ext>
            </a:extLst>
          </p:cNvPr>
          <p:cNvSpPr txBox="1"/>
          <p:nvPr/>
        </p:nvSpPr>
        <p:spPr>
          <a:xfrm>
            <a:off x="5344904" y="3403346"/>
            <a:ext cx="65422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0" i="0" dirty="0">
                <a:latin typeface="Calibri"/>
                <a:cs typeface="Calibri"/>
              </a:rPr>
              <a:t>Isso</a:t>
            </a:r>
            <a:r>
              <a:rPr lang="pt-BR" sz="2800" b="0" i="0" spc="-60" dirty="0">
                <a:latin typeface="Calibri"/>
                <a:cs typeface="Calibri"/>
              </a:rPr>
              <a:t> </a:t>
            </a:r>
            <a:r>
              <a:rPr lang="pt-BR" sz="2800" b="0" i="0" spc="-10" dirty="0">
                <a:latin typeface="Calibri"/>
                <a:cs typeface="Calibri"/>
              </a:rPr>
              <a:t>degrada</a:t>
            </a:r>
            <a:r>
              <a:rPr lang="pt-BR" sz="2800" b="0" i="0" spc="-65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o</a:t>
            </a:r>
            <a:r>
              <a:rPr lang="pt-BR" sz="2800" b="0" i="0" spc="-75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desempenho</a:t>
            </a:r>
            <a:r>
              <a:rPr lang="pt-BR" sz="2800" b="0" i="0" spc="-25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do</a:t>
            </a:r>
            <a:r>
              <a:rPr lang="pt-BR" sz="2800" b="0" i="0" spc="-65" dirty="0">
                <a:latin typeface="Calibri"/>
                <a:cs typeface="Calibri"/>
              </a:rPr>
              <a:t> </a:t>
            </a:r>
            <a:r>
              <a:rPr lang="pt-BR" sz="2800" b="0" i="0" spc="-10" dirty="0">
                <a:latin typeface="Calibri"/>
                <a:cs typeface="Calibri"/>
              </a:rPr>
              <a:t>k-</a:t>
            </a:r>
            <a:r>
              <a:rPr lang="pt-BR" sz="2800" b="0" i="0" dirty="0">
                <a:latin typeface="Calibri"/>
                <a:cs typeface="Calibri"/>
              </a:rPr>
              <a:t>NN,</a:t>
            </a:r>
            <a:r>
              <a:rPr lang="pt-BR" sz="2800" b="0" i="0" spc="-40" dirty="0">
                <a:latin typeface="Calibri"/>
                <a:cs typeface="Calibri"/>
              </a:rPr>
              <a:t> </a:t>
            </a:r>
            <a:r>
              <a:rPr lang="pt-BR" sz="2800" b="0" i="0" spc="-20" dirty="0">
                <a:latin typeface="Calibri"/>
                <a:cs typeface="Calibri"/>
              </a:rPr>
              <a:t>pois </a:t>
            </a:r>
            <a:r>
              <a:rPr lang="pt-BR" sz="2800" b="0" i="0" dirty="0">
                <a:latin typeface="Calibri"/>
                <a:cs typeface="Calibri"/>
              </a:rPr>
              <a:t>sua</a:t>
            </a:r>
            <a:r>
              <a:rPr lang="pt-BR" sz="2800" b="0" i="0" spc="-65" dirty="0">
                <a:latin typeface="Calibri"/>
                <a:cs typeface="Calibri"/>
              </a:rPr>
              <a:t> </a:t>
            </a:r>
            <a:r>
              <a:rPr lang="pt-BR" sz="2800" spc="-10" dirty="0">
                <a:solidFill>
                  <a:srgbClr val="4471C4"/>
                </a:solidFill>
              </a:rPr>
              <a:t>suposição</a:t>
            </a:r>
            <a:r>
              <a:rPr lang="pt-BR" sz="2800" spc="-65" dirty="0">
                <a:solidFill>
                  <a:srgbClr val="4471C4"/>
                </a:solidFill>
              </a:rPr>
              <a:t> </a:t>
            </a:r>
            <a:r>
              <a:rPr lang="pt-BR" sz="2800" dirty="0">
                <a:solidFill>
                  <a:srgbClr val="4471C4"/>
                </a:solidFill>
              </a:rPr>
              <a:t>de</a:t>
            </a:r>
            <a:r>
              <a:rPr lang="pt-BR" sz="2800" spc="-70" dirty="0">
                <a:solidFill>
                  <a:srgbClr val="4471C4"/>
                </a:solidFill>
              </a:rPr>
              <a:t> </a:t>
            </a:r>
            <a:r>
              <a:rPr lang="pt-BR" sz="2800" dirty="0">
                <a:solidFill>
                  <a:srgbClr val="4471C4"/>
                </a:solidFill>
              </a:rPr>
              <a:t>que</a:t>
            </a:r>
            <a:r>
              <a:rPr lang="pt-BR" sz="2800" spc="-50" dirty="0">
                <a:solidFill>
                  <a:srgbClr val="4471C4"/>
                </a:solidFill>
              </a:rPr>
              <a:t> </a:t>
            </a:r>
            <a:r>
              <a:rPr lang="pt-BR" sz="2800" dirty="0">
                <a:solidFill>
                  <a:srgbClr val="4471C4"/>
                </a:solidFill>
              </a:rPr>
              <a:t>pontos</a:t>
            </a:r>
            <a:r>
              <a:rPr lang="pt-BR" sz="2800" spc="-65" dirty="0">
                <a:solidFill>
                  <a:srgbClr val="4471C4"/>
                </a:solidFill>
              </a:rPr>
              <a:t> </a:t>
            </a:r>
            <a:r>
              <a:rPr lang="pt-BR" sz="2800" spc="-10" dirty="0">
                <a:solidFill>
                  <a:srgbClr val="4471C4"/>
                </a:solidFill>
              </a:rPr>
              <a:t>próximos</a:t>
            </a:r>
            <a:r>
              <a:rPr lang="pt-BR" sz="2800" i="1" spc="-10" dirty="0">
                <a:solidFill>
                  <a:srgbClr val="4471C4"/>
                </a:solidFill>
              </a:rPr>
              <a:t> </a:t>
            </a:r>
            <a:r>
              <a:rPr lang="pt-BR" sz="2800" i="1" dirty="0">
                <a:solidFill>
                  <a:srgbClr val="4471C4"/>
                </a:solidFill>
              </a:rPr>
              <a:t>têm</a:t>
            </a:r>
            <a:r>
              <a:rPr lang="pt-BR" sz="2800" i="1" spc="-90" dirty="0">
                <a:solidFill>
                  <a:srgbClr val="4471C4"/>
                </a:solidFill>
              </a:rPr>
              <a:t> </a:t>
            </a:r>
            <a:r>
              <a:rPr lang="pt-BR" sz="2800" i="1" dirty="0">
                <a:solidFill>
                  <a:srgbClr val="4471C4"/>
                </a:solidFill>
              </a:rPr>
              <a:t>rótulos</a:t>
            </a:r>
            <a:r>
              <a:rPr lang="pt-BR" sz="2800" i="1" spc="-75" dirty="0">
                <a:solidFill>
                  <a:srgbClr val="4471C4"/>
                </a:solidFill>
              </a:rPr>
              <a:t> </a:t>
            </a:r>
            <a:r>
              <a:rPr lang="pt-BR" sz="2800" i="1" spc="-10" dirty="0">
                <a:solidFill>
                  <a:srgbClr val="4471C4"/>
                </a:solidFill>
              </a:rPr>
              <a:t>semelhantes</a:t>
            </a:r>
            <a:r>
              <a:rPr lang="pt-BR" sz="2800" i="1" spc="-65" dirty="0">
                <a:solidFill>
                  <a:srgbClr val="4471C4"/>
                </a:solidFill>
              </a:rPr>
              <a:t> </a:t>
            </a:r>
            <a:r>
              <a:rPr lang="pt-BR" sz="2800" i="1" dirty="0">
                <a:solidFill>
                  <a:srgbClr val="4471C4"/>
                </a:solidFill>
              </a:rPr>
              <a:t>pode</a:t>
            </a:r>
            <a:r>
              <a:rPr lang="pt-BR" sz="2800" i="1" spc="-85" dirty="0">
                <a:solidFill>
                  <a:srgbClr val="4471C4"/>
                </a:solidFill>
              </a:rPr>
              <a:t> </a:t>
            </a:r>
            <a:r>
              <a:rPr lang="pt-BR" sz="2800" i="1" dirty="0">
                <a:solidFill>
                  <a:srgbClr val="4471C4"/>
                </a:solidFill>
              </a:rPr>
              <a:t>não</a:t>
            </a:r>
            <a:r>
              <a:rPr lang="pt-BR" sz="2800" i="1" spc="-90" dirty="0">
                <a:solidFill>
                  <a:srgbClr val="4471C4"/>
                </a:solidFill>
              </a:rPr>
              <a:t> </a:t>
            </a:r>
            <a:r>
              <a:rPr lang="pt-BR" sz="2800" i="1" spc="-25" dirty="0">
                <a:solidFill>
                  <a:srgbClr val="4471C4"/>
                </a:solidFill>
              </a:rPr>
              <a:t>se </a:t>
            </a:r>
            <a:r>
              <a:rPr lang="pt-BR" sz="2800" i="1" dirty="0">
                <a:solidFill>
                  <a:srgbClr val="4471C4"/>
                </a:solidFill>
              </a:rPr>
              <a:t>aplicar</a:t>
            </a:r>
            <a:r>
              <a:rPr lang="pt-BR" sz="2800" i="1" spc="-65" dirty="0">
                <a:solidFill>
                  <a:srgbClr val="4471C4"/>
                </a:solidFill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em</a:t>
            </a:r>
            <a:r>
              <a:rPr lang="pt-BR" sz="2800" b="0" i="0" spc="-80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alta</a:t>
            </a:r>
            <a:r>
              <a:rPr lang="pt-BR" sz="2800" b="0" i="0" spc="-80" dirty="0">
                <a:latin typeface="Calibri"/>
                <a:cs typeface="Calibri"/>
              </a:rPr>
              <a:t> </a:t>
            </a:r>
            <a:r>
              <a:rPr lang="pt-BR" sz="2800" b="0" i="0" spc="-10" dirty="0">
                <a:latin typeface="Calibri"/>
                <a:cs typeface="Calibri"/>
              </a:rPr>
              <a:t>dimensionalidade.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DE8389E-5E08-C40D-0292-3873AB0CDE09}"/>
              </a:ext>
            </a:extLst>
          </p:cNvPr>
          <p:cNvSpPr txBox="1"/>
          <p:nvPr/>
        </p:nvSpPr>
        <p:spPr>
          <a:xfrm>
            <a:off x="5344904" y="5297031"/>
            <a:ext cx="65422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0" i="0" dirty="0">
                <a:latin typeface="Calibri"/>
                <a:cs typeface="Calibri"/>
              </a:rPr>
              <a:t>Além</a:t>
            </a:r>
            <a:r>
              <a:rPr lang="pt-BR" sz="2800" b="0" i="0" spc="-70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disso,</a:t>
            </a:r>
            <a:r>
              <a:rPr lang="pt-BR" sz="2800" b="0" i="0" spc="-55" dirty="0">
                <a:latin typeface="Calibri"/>
                <a:cs typeface="Calibri"/>
              </a:rPr>
              <a:t> </a:t>
            </a:r>
            <a:r>
              <a:rPr lang="pt-BR" sz="2800" b="0" i="0" dirty="0">
                <a:latin typeface="Calibri"/>
                <a:cs typeface="Calibri"/>
              </a:rPr>
              <a:t>o</a:t>
            </a:r>
            <a:r>
              <a:rPr lang="pt-BR" sz="2800" b="0" i="0" spc="-65" dirty="0">
                <a:latin typeface="Calibri"/>
                <a:cs typeface="Calibri"/>
              </a:rPr>
              <a:t> </a:t>
            </a:r>
            <a:r>
              <a:rPr lang="pt-BR" sz="2800" dirty="0">
                <a:solidFill>
                  <a:srgbClr val="6F2F9F"/>
                </a:solidFill>
              </a:rPr>
              <a:t>cálculo</a:t>
            </a:r>
            <a:r>
              <a:rPr lang="pt-BR" sz="2800" spc="-65" dirty="0">
                <a:solidFill>
                  <a:srgbClr val="6F2F9F"/>
                </a:solidFill>
              </a:rPr>
              <a:t> </a:t>
            </a:r>
            <a:r>
              <a:rPr lang="pt-BR" sz="2800" dirty="0">
                <a:solidFill>
                  <a:srgbClr val="6F2F9F"/>
                </a:solidFill>
              </a:rPr>
              <a:t>da</a:t>
            </a:r>
            <a:r>
              <a:rPr lang="pt-BR" sz="2800" spc="-75" dirty="0">
                <a:solidFill>
                  <a:srgbClr val="6F2F9F"/>
                </a:solidFill>
              </a:rPr>
              <a:t> </a:t>
            </a:r>
            <a:r>
              <a:rPr lang="pt-BR" sz="2800" spc="-10" dirty="0">
                <a:solidFill>
                  <a:srgbClr val="6F2F9F"/>
                </a:solidFill>
              </a:rPr>
              <a:t>distância</a:t>
            </a:r>
            <a:r>
              <a:rPr lang="pt-BR" sz="2800" spc="-75" dirty="0">
                <a:solidFill>
                  <a:srgbClr val="6F2F9F"/>
                </a:solidFill>
              </a:rPr>
              <a:t> </a:t>
            </a:r>
            <a:r>
              <a:rPr lang="pt-BR" sz="2800" spc="-25" dirty="0">
                <a:solidFill>
                  <a:srgbClr val="6F2F9F"/>
                </a:solidFill>
              </a:rPr>
              <a:t>se</a:t>
            </a:r>
            <a:r>
              <a:rPr lang="pt-BR" sz="2800" i="1" spc="-25" dirty="0">
                <a:solidFill>
                  <a:srgbClr val="6F2F9F"/>
                </a:solidFill>
              </a:rPr>
              <a:t> </a:t>
            </a:r>
            <a:r>
              <a:rPr lang="pt-BR" sz="2800" i="1" dirty="0">
                <a:solidFill>
                  <a:srgbClr val="6F2F9F"/>
                </a:solidFill>
              </a:rPr>
              <a:t>torna</a:t>
            </a:r>
            <a:r>
              <a:rPr lang="pt-BR" sz="2800" i="1" spc="-95" dirty="0">
                <a:solidFill>
                  <a:srgbClr val="6F2F9F"/>
                </a:solidFill>
              </a:rPr>
              <a:t> </a:t>
            </a:r>
            <a:r>
              <a:rPr lang="pt-BR" sz="2800" i="1" dirty="0">
                <a:solidFill>
                  <a:srgbClr val="6F2F9F"/>
                </a:solidFill>
              </a:rPr>
              <a:t>mais</a:t>
            </a:r>
            <a:r>
              <a:rPr lang="pt-BR" sz="2800" i="1" spc="-85" dirty="0">
                <a:solidFill>
                  <a:srgbClr val="6F2F9F"/>
                </a:solidFill>
              </a:rPr>
              <a:t> </a:t>
            </a:r>
            <a:r>
              <a:rPr lang="pt-BR" sz="2800" i="1" spc="-10" dirty="0">
                <a:solidFill>
                  <a:srgbClr val="6F2F9F"/>
                </a:solidFill>
              </a:rPr>
              <a:t>custoso</a:t>
            </a:r>
            <a:r>
              <a:rPr lang="pt-BR" sz="2800" i="1" spc="-90" dirty="0">
                <a:solidFill>
                  <a:srgbClr val="6F2F9F"/>
                </a:solidFill>
              </a:rPr>
              <a:t> </a:t>
            </a:r>
            <a:r>
              <a:rPr lang="pt-BR" sz="2800" i="1" spc="-10" dirty="0">
                <a:solidFill>
                  <a:srgbClr val="6F2F9F"/>
                </a:solidFill>
              </a:rPr>
              <a:t>computacionalmente</a:t>
            </a:r>
            <a:r>
              <a:rPr lang="pt-BR" sz="2800" b="0" i="0" spc="-10" dirty="0"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Outras</a:t>
            </a:r>
            <a:r>
              <a:rPr spc="-105" dirty="0"/>
              <a:t> </a:t>
            </a:r>
            <a:r>
              <a:rPr spc="-10" dirty="0"/>
              <a:t>desvantagens:</a:t>
            </a:r>
            <a:r>
              <a:rPr spc="-105" dirty="0"/>
              <a:t> </a:t>
            </a:r>
            <a:r>
              <a:rPr dirty="0"/>
              <a:t>Sensibilidade</a:t>
            </a:r>
            <a:r>
              <a:rPr spc="-6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-10" dirty="0"/>
              <a:t>dados desbalanceados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41975" y="1793493"/>
            <a:ext cx="6297930" cy="28848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estiverem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desbalanceadas,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spc="-20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NN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tornar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enviesado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em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direção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à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classe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majoritária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307975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Isso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ocorre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porque,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selecionar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i="1" spc="-50" dirty="0">
                <a:latin typeface="Calibri"/>
                <a:cs typeface="Calibri"/>
              </a:rPr>
              <a:t>k </a:t>
            </a:r>
            <a:r>
              <a:rPr sz="2800" dirty="0">
                <a:latin typeface="Calibri"/>
                <a:cs typeface="Calibri"/>
              </a:rPr>
              <a:t>vizinhos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próximos,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provável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selecionados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majoritária.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5" y="2666758"/>
            <a:ext cx="5225159" cy="320268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/>
              <a:t>Outras</a:t>
            </a:r>
            <a:r>
              <a:rPr spc="-110" dirty="0"/>
              <a:t> </a:t>
            </a:r>
            <a:r>
              <a:rPr spc="-10" dirty="0"/>
              <a:t>desvantagens:</a:t>
            </a:r>
            <a:r>
              <a:rPr spc="-105" dirty="0"/>
              <a:t> </a:t>
            </a:r>
            <a:r>
              <a:rPr dirty="0"/>
              <a:t>Necessidade</a:t>
            </a:r>
            <a:r>
              <a:rPr spc="-80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spc="-20" dirty="0"/>
              <a:t>pré- </a:t>
            </a:r>
            <a:r>
              <a:rPr dirty="0"/>
              <a:t>processamento</a:t>
            </a:r>
            <a:r>
              <a:rPr spc="-110" dirty="0"/>
              <a:t> </a:t>
            </a:r>
            <a:r>
              <a:rPr dirty="0"/>
              <a:t>de</a:t>
            </a:r>
            <a:r>
              <a:rPr spc="-95" dirty="0"/>
              <a:t> </a:t>
            </a:r>
            <a:r>
              <a:rPr spc="-10" dirty="0"/>
              <a:t>dados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41975" y="1793493"/>
            <a:ext cx="6129020" cy="28848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94615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NN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sensível</a:t>
            </a:r>
            <a:r>
              <a:rPr sz="28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com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diferentes</a:t>
            </a:r>
            <a:r>
              <a:rPr sz="2800" b="1" i="1" spc="-1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escalas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Portanto,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geral,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necessário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realizar escalonamento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normalização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ou </a:t>
            </a:r>
            <a:r>
              <a:rPr sz="2800" spc="-20" dirty="0">
                <a:latin typeface="Calibri"/>
                <a:cs typeface="Calibri"/>
              </a:rPr>
              <a:t>padronização,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garantir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atributos</a:t>
            </a:r>
            <a:r>
              <a:rPr sz="28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tenham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contribuição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similar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no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cálculo</a:t>
            </a:r>
            <a:r>
              <a:rPr sz="2800" b="1" i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da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distância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5" y="2666758"/>
            <a:ext cx="5225159" cy="320268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Métricas</a:t>
            </a:r>
            <a:r>
              <a:rPr spc="-3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spc="-10" dirty="0"/>
              <a:t>distância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27267" y="1793493"/>
            <a:ext cx="5890895" cy="28848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Definição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métrica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distância fornece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distância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entre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os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elementos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um</a:t>
            </a:r>
            <a:r>
              <a:rPr sz="28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conjunto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38735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distância</a:t>
            </a:r>
            <a:r>
              <a:rPr sz="2800" b="1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igual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zero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elementos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são</a:t>
            </a:r>
            <a:r>
              <a:rPr sz="2800" b="1" i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equivalentes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6FC0"/>
                </a:solidFill>
                <a:latin typeface="Calibri"/>
                <a:cs typeface="Calibri"/>
              </a:rPr>
              <a:t>caso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contrário,</a:t>
            </a:r>
            <a:r>
              <a:rPr sz="2800" b="1" i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os</a:t>
            </a:r>
            <a:r>
              <a:rPr sz="2800" b="1" i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elementos</a:t>
            </a:r>
            <a:r>
              <a:rPr sz="2800" b="1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são</a:t>
            </a:r>
            <a:r>
              <a:rPr sz="2800" b="1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diferentes </a:t>
            </a:r>
            <a:r>
              <a:rPr sz="2800" dirty="0">
                <a:latin typeface="Calibri"/>
                <a:cs typeface="Calibri"/>
              </a:rPr>
              <a:t>uns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outros.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5" y="2568968"/>
            <a:ext cx="5384544" cy="33004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Métricas</a:t>
            </a:r>
            <a:r>
              <a:rPr spc="-3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spc="-10" dirty="0"/>
              <a:t>distância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20258" y="1793493"/>
            <a:ext cx="6251575" cy="40373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nosso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métrica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030"/>
              </a:lnSpc>
            </a:pP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medir</a:t>
            </a:r>
            <a:r>
              <a:rPr sz="2800" b="1" i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800" b="1" i="1" spc="-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6FC0"/>
                </a:solidFill>
                <a:latin typeface="Calibri"/>
                <a:cs typeface="Calibri"/>
              </a:rPr>
              <a:t>distância</a:t>
            </a:r>
            <a:r>
              <a:rPr sz="2800" spc="-10" dirty="0">
                <a:latin typeface="Calibri"/>
                <a:cs typeface="Calibri"/>
              </a:rPr>
              <a:t>/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similaridade</a:t>
            </a:r>
            <a:r>
              <a:rPr sz="2800" b="1" i="1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</a:t>
            </a:r>
            <a:endParaRPr sz="2800" dirty="0">
              <a:latin typeface="Calibri"/>
              <a:cs typeface="Calibri"/>
            </a:endParaRPr>
          </a:p>
          <a:p>
            <a:pPr marL="241300" marR="282575">
              <a:lnSpc>
                <a:spcPct val="89800"/>
              </a:lnSpc>
              <a:spcBef>
                <a:spcPts val="180"/>
              </a:spcBef>
            </a:pPr>
            <a:r>
              <a:rPr sz="2800" dirty="0">
                <a:solidFill>
                  <a:srgbClr val="006FC0"/>
                </a:solidFill>
                <a:latin typeface="Cambria Math"/>
                <a:cs typeface="Cambria Math"/>
              </a:rPr>
              <a:t>𝑲</a:t>
            </a:r>
            <a:r>
              <a:rPr sz="2800" spc="-4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atributos</a:t>
            </a:r>
            <a:r>
              <a:rPr sz="2800" b="1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do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vetor</a:t>
            </a:r>
            <a:r>
              <a:rPr sz="2800" b="1" i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6FC0"/>
                </a:solidFill>
                <a:latin typeface="Calibri"/>
                <a:cs typeface="Calibri"/>
              </a:rPr>
              <a:t>entrada</a:t>
            </a:r>
            <a:r>
              <a:rPr sz="2800" b="1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EC7C30"/>
                </a:solidFill>
                <a:latin typeface="Cambria Math"/>
                <a:cs typeface="Cambria Math"/>
              </a:rPr>
              <a:t>𝑲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atributos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dos</a:t>
            </a:r>
            <a:r>
              <a:rPr sz="2800" b="1" i="1" spc="-9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vetores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do</a:t>
            </a:r>
            <a:r>
              <a:rPr sz="2800" b="1" i="1" spc="-10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conjunto</a:t>
            </a:r>
            <a:r>
              <a:rPr sz="2800" b="1" i="1" spc="-9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EC7C30"/>
                </a:solidFill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treinamento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Existem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várias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métricas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distância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mas </a:t>
            </a:r>
            <a:r>
              <a:rPr sz="2800" dirty="0">
                <a:latin typeface="Calibri"/>
                <a:cs typeface="Calibri"/>
              </a:rPr>
              <a:t>vamos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discutir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utilizadas </a:t>
            </a:r>
            <a:r>
              <a:rPr sz="2800" spc="-20" dirty="0">
                <a:latin typeface="Calibri"/>
                <a:cs typeface="Calibri"/>
              </a:rPr>
              <a:t>através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métrica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distância generalizada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distância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Minkowski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5" y="2568968"/>
            <a:ext cx="5384544" cy="330047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Métricas</a:t>
            </a:r>
            <a:r>
              <a:rPr spc="-30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spc="-10" dirty="0"/>
              <a:t>distância</a:t>
            </a:r>
          </a:p>
        </p:txBody>
      </p:sp>
      <p:sp>
        <p:nvSpPr>
          <p:cNvPr id="3" name="object 3"/>
          <p:cNvSpPr/>
          <p:nvPr/>
        </p:nvSpPr>
        <p:spPr>
          <a:xfrm>
            <a:off x="8452357" y="3048761"/>
            <a:ext cx="365760" cy="328930"/>
          </a:xfrm>
          <a:custGeom>
            <a:avLst/>
            <a:gdLst/>
            <a:ahLst/>
            <a:cxnLst/>
            <a:rect l="l" t="t" r="r" b="b"/>
            <a:pathLst>
              <a:path w="365759" h="328929">
                <a:moveTo>
                  <a:pt x="260476" y="0"/>
                </a:moveTo>
                <a:lnTo>
                  <a:pt x="255777" y="13335"/>
                </a:lnTo>
                <a:lnTo>
                  <a:pt x="274828" y="21597"/>
                </a:lnTo>
                <a:lnTo>
                  <a:pt x="291211" y="33051"/>
                </a:lnTo>
                <a:lnTo>
                  <a:pt x="315975" y="65532"/>
                </a:lnTo>
                <a:lnTo>
                  <a:pt x="330549" y="109219"/>
                </a:lnTo>
                <a:lnTo>
                  <a:pt x="335407" y="162813"/>
                </a:lnTo>
                <a:lnTo>
                  <a:pt x="334192" y="191845"/>
                </a:lnTo>
                <a:lnTo>
                  <a:pt x="324477" y="241859"/>
                </a:lnTo>
                <a:lnTo>
                  <a:pt x="304901" y="280965"/>
                </a:lnTo>
                <a:lnTo>
                  <a:pt x="275131" y="307306"/>
                </a:lnTo>
                <a:lnTo>
                  <a:pt x="256413" y="315595"/>
                </a:lnTo>
                <a:lnTo>
                  <a:pt x="260476" y="328929"/>
                </a:lnTo>
                <a:lnTo>
                  <a:pt x="305355" y="307895"/>
                </a:lnTo>
                <a:lnTo>
                  <a:pt x="338327" y="271525"/>
                </a:lnTo>
                <a:lnTo>
                  <a:pt x="358616" y="222678"/>
                </a:lnTo>
                <a:lnTo>
                  <a:pt x="365378" y="164591"/>
                </a:lnTo>
                <a:lnTo>
                  <a:pt x="363688" y="134417"/>
                </a:lnTo>
                <a:lnTo>
                  <a:pt x="350162" y="80974"/>
                </a:lnTo>
                <a:lnTo>
                  <a:pt x="323252" y="37468"/>
                </a:lnTo>
                <a:lnTo>
                  <a:pt x="284339" y="8616"/>
                </a:lnTo>
                <a:lnTo>
                  <a:pt x="260476" y="0"/>
                </a:lnTo>
                <a:close/>
              </a:path>
              <a:path w="365759" h="328929">
                <a:moveTo>
                  <a:pt x="104901" y="0"/>
                </a:moveTo>
                <a:lnTo>
                  <a:pt x="60182" y="21113"/>
                </a:lnTo>
                <a:lnTo>
                  <a:pt x="27177" y="57658"/>
                </a:lnTo>
                <a:lnTo>
                  <a:pt x="6826" y="106553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72" y="291621"/>
                </a:lnTo>
                <a:lnTo>
                  <a:pt x="81022" y="320335"/>
                </a:lnTo>
                <a:lnTo>
                  <a:pt x="104901" y="328929"/>
                </a:lnTo>
                <a:lnTo>
                  <a:pt x="109093" y="315595"/>
                </a:lnTo>
                <a:lnTo>
                  <a:pt x="90356" y="307306"/>
                </a:lnTo>
                <a:lnTo>
                  <a:pt x="74168" y="295767"/>
                </a:lnTo>
                <a:lnTo>
                  <a:pt x="49530" y="262889"/>
                </a:lnTo>
                <a:lnTo>
                  <a:pt x="34893" y="218186"/>
                </a:lnTo>
                <a:lnTo>
                  <a:pt x="29972" y="162813"/>
                </a:lnTo>
                <a:lnTo>
                  <a:pt x="31206" y="134790"/>
                </a:lnTo>
                <a:lnTo>
                  <a:pt x="41009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620258" y="1793493"/>
            <a:ext cx="6109335" cy="27146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  <a:tab pos="2949575" algn="l"/>
                <a:tab pos="3229610" algn="l"/>
              </a:tabLst>
            </a:pPr>
            <a:r>
              <a:rPr sz="2800" b="1" dirty="0">
                <a:latin typeface="Calibri"/>
                <a:cs typeface="Calibri"/>
              </a:rPr>
              <a:t>Distância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Minkowski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métrica </a:t>
            </a:r>
            <a:r>
              <a:rPr sz="2800" dirty="0">
                <a:latin typeface="Calibri"/>
                <a:cs typeface="Calibri"/>
              </a:rPr>
              <a:t>definda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espaço</a:t>
            </a:r>
            <a:r>
              <a:rPr sz="2800" b="1" i="1" spc="-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vetorial</a:t>
            </a:r>
            <a:r>
              <a:rPr sz="2800" b="1" i="1" spc="-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normado</a:t>
            </a:r>
            <a:r>
              <a:rPr sz="28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(ou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espaço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vetorial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b="1" i="1" dirty="0">
                <a:latin typeface="Calibri"/>
                <a:cs typeface="Calibri"/>
              </a:rPr>
              <a:t>norma</a:t>
            </a:r>
            <a:r>
              <a:rPr sz="2800" b="1" i="1" spc="-1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vetorial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𝑝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.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definida)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 </a:t>
            </a:r>
            <a:r>
              <a:rPr sz="2800" spc="-10" dirty="0">
                <a:latin typeface="Calibri"/>
                <a:cs typeface="Calibri"/>
              </a:rPr>
              <a:t>satisfaz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algumas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propriedades.</a:t>
            </a:r>
            <a:endParaRPr sz="2800" dirty="0">
              <a:latin typeface="Calibri"/>
              <a:cs typeface="Calibri"/>
            </a:endParaRPr>
          </a:p>
          <a:p>
            <a:pPr marL="698500" marR="835660" lvl="1" indent="-228600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espaço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onde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podemos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medir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o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tamanho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ou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magnitude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dos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vetores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45" y="2568968"/>
            <a:ext cx="5384544" cy="33004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68605"/>
            <a:ext cx="47898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Métricas</a:t>
            </a:r>
            <a:r>
              <a:rPr spc="-30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distância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8"/>
              <p:cNvSpPr txBox="1"/>
              <p:nvPr/>
            </p:nvSpPr>
            <p:spPr>
              <a:xfrm>
                <a:off x="837480" y="1295400"/>
                <a:ext cx="10753725" cy="4689360"/>
              </a:xfrm>
              <a:prstGeom prst="rect">
                <a:avLst/>
              </a:prstGeom>
            </p:spPr>
            <p:txBody>
              <a:bodyPr vert="horz" wrap="square" lIns="0" tIns="55244" rIns="0" bIns="0" rtlCol="0">
                <a:spAutoFit/>
              </a:bodyPr>
              <a:lstStyle/>
              <a:p>
                <a:pPr marL="304800" marR="687070" indent="-228600" algn="just">
                  <a:lnSpc>
                    <a:spcPct val="89900"/>
                  </a:lnSpc>
                  <a:spcBef>
                    <a:spcPts val="434"/>
                  </a:spcBef>
                  <a:buFont typeface="Arial"/>
                  <a:buChar char="•"/>
                  <a:tabLst>
                    <a:tab pos="3048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114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norma</a:t>
                </a:r>
                <a:r>
                  <a:rPr lang="pt-BR" sz="2800" b="1" i="1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vetorial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mbria Math"/>
                    <a:cs typeface="Cambria Math"/>
                  </a:rPr>
                  <a:t>𝑝(.</a:t>
                </a:r>
                <a:r>
                  <a:rPr lang="pt-BR" sz="2800" spc="-14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)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função</a:t>
                </a:r>
                <a:r>
                  <a:rPr lang="pt-BR" sz="2800" b="1" i="1" spc="-7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que</a:t>
                </a:r>
                <a:r>
                  <a:rPr lang="pt-BR" sz="2800" b="1" i="1" spc="-6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mapeia</a:t>
                </a:r>
                <a:r>
                  <a:rPr lang="pt-BR" sz="2800" b="1" i="1" spc="-5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um</a:t>
                </a:r>
                <a:r>
                  <a:rPr lang="pt-BR" sz="2800" b="1" i="1" spc="-6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vetor</a:t>
                </a:r>
                <a:r>
                  <a:rPr lang="pt-BR" sz="2800" b="1" i="1" spc="-4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em</a:t>
                </a:r>
                <a:r>
                  <a:rPr lang="pt-BR" sz="28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25" dirty="0">
                    <a:solidFill>
                      <a:srgbClr val="00AF50"/>
                    </a:solidFill>
                    <a:latin typeface="Calibri"/>
                    <a:cs typeface="Calibri"/>
                  </a:rPr>
                  <a:t>um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número</a:t>
                </a:r>
                <a:r>
                  <a:rPr lang="pt-BR" sz="2800" b="1" i="1" spc="-2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real</a:t>
                </a:r>
                <a:r>
                  <a:rPr lang="pt-BR" sz="2800" b="1" i="1" spc="-2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não</a:t>
                </a:r>
                <a:r>
                  <a:rPr lang="pt-BR" sz="2800" b="1" i="1" spc="-55" dirty="0">
                    <a:solidFill>
                      <a:srgbClr val="EC7C3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EC7C30"/>
                    </a:solidFill>
                    <a:latin typeface="Calibri"/>
                    <a:cs typeface="Calibri"/>
                  </a:rPr>
                  <a:t>negativo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i.e.,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ℝ</a:t>
                </a:r>
                <a:r>
                  <a:rPr lang="pt-BR" sz="3075" baseline="27100" dirty="0">
                    <a:latin typeface="Cambria Math"/>
                    <a:cs typeface="Cambria Math"/>
                  </a:rPr>
                  <a:t>𝐾×1</a:t>
                </a:r>
                <a:r>
                  <a:rPr lang="pt-BR" sz="3075" spc="577" baseline="2710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→</a:t>
                </a:r>
                <a:r>
                  <a:rPr lang="pt-BR" sz="2800" spc="12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ℝ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+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possui</a:t>
                </a:r>
                <a:r>
                  <a:rPr lang="pt-BR" sz="2800" spc="-10" dirty="0">
                    <a:latin typeface="Calibri"/>
                    <a:cs typeface="Calibri"/>
                  </a:rPr>
                  <a:t> algumas propriedades.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304800" marR="68580" indent="-228600" algn="just">
                  <a:lnSpc>
                    <a:spcPts val="3000"/>
                  </a:lnSpc>
                  <a:spcBef>
                    <a:spcPts val="1095"/>
                  </a:spcBef>
                  <a:buFont typeface="Arial"/>
                  <a:buChar char="•"/>
                  <a:tabLst>
                    <a:tab pos="3048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Sejam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2</a:t>
                </a:r>
                <a:r>
                  <a:rPr lang="pt-BR" sz="2800" spc="-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vetores,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𝒗</a:t>
                </a:r>
                <a:r>
                  <a:rPr lang="pt-BR" sz="2800" spc="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𝒖</a:t>
                </a:r>
                <a:r>
                  <a:rPr lang="pt-BR" sz="2800" spc="13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∈</a:t>
                </a:r>
                <a:r>
                  <a:rPr lang="pt-BR" sz="2800" spc="15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ℝ</a:t>
                </a:r>
                <a:r>
                  <a:rPr lang="pt-BR" sz="3075" baseline="27100" dirty="0">
                    <a:latin typeface="Cambria Math"/>
                    <a:cs typeface="Cambria Math"/>
                  </a:rPr>
                  <a:t>𝐾×1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norma</a:t>
                </a:r>
                <a:r>
                  <a:rPr lang="pt-BR" sz="2800" spc="-1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mbria Math"/>
                    <a:cs typeface="Cambria Math"/>
                  </a:rPr>
                  <a:t>𝑝(.</a:t>
                </a:r>
                <a:r>
                  <a:rPr lang="pt-BR" sz="2800" spc="-14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)</a:t>
                </a:r>
                <a:r>
                  <a:rPr lang="pt-BR" sz="2800" spc="1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dos</a:t>
                </a:r>
                <a:r>
                  <a:rPr lang="pt-BR" sz="2800" spc="-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vetores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1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uma</a:t>
                </a:r>
                <a:r>
                  <a:rPr lang="pt-BR" sz="2800" spc="-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função </a:t>
                </a:r>
                <a:r>
                  <a:rPr lang="pt-BR" sz="2800" b="1" i="1" dirty="0">
                    <a:latin typeface="Calibri"/>
                    <a:cs typeface="Calibri"/>
                  </a:rPr>
                  <a:t>com</a:t>
                </a:r>
                <a:r>
                  <a:rPr lang="pt-BR" sz="2800" b="1" i="1" spc="-8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valores</a:t>
                </a:r>
                <a:r>
                  <a:rPr lang="pt-BR" sz="2800" b="1" i="1" spc="-7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25" dirty="0">
                    <a:latin typeface="Calibri"/>
                    <a:cs typeface="Calibri"/>
                  </a:rPr>
                  <a:t>não-</a:t>
                </a:r>
                <a:r>
                  <a:rPr lang="pt-BR" sz="2800" b="1" i="1" dirty="0">
                    <a:latin typeface="Calibri"/>
                    <a:cs typeface="Calibri"/>
                  </a:rPr>
                  <a:t>negativos</a:t>
                </a:r>
                <a:r>
                  <a:rPr lang="pt-BR" sz="28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as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seguintes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propriedades: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762000" lvl="1" indent="-229235" algn="just">
                  <a:lnSpc>
                    <a:spcPct val="100000"/>
                  </a:lnSpc>
                  <a:spcBef>
                    <a:spcPts val="195"/>
                  </a:spcBef>
                  <a:buFont typeface="Wingdings"/>
                  <a:buChar char=""/>
                  <a:tabLst>
                    <a:tab pos="762635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norma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satisfaz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desigualdade</a:t>
                </a:r>
                <a:r>
                  <a:rPr lang="pt-BR" sz="24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do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triângulo</a:t>
                </a:r>
                <a:r>
                  <a:rPr lang="pt-BR" sz="2400" spc="-10" dirty="0">
                    <a:latin typeface="Calibri"/>
                    <a:cs typeface="Calibri"/>
                  </a:rPr>
                  <a:t>: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990600">
                  <a:lnSpc>
                    <a:spcPct val="100000"/>
                  </a:lnSpc>
                  <a:spcBef>
                    <a:spcPts val="295"/>
                  </a:spcBef>
                  <a:tabLst>
                    <a:tab pos="2264410" algn="l"/>
                  </a:tabLst>
                </a:pPr>
                <a:r>
                  <a:rPr lang="pt-BR" sz="2000" dirty="0">
                    <a:latin typeface="Courier New"/>
                    <a:cs typeface="Courier New"/>
                  </a:rPr>
                  <a:t>o</a:t>
                </a:r>
                <a:r>
                  <a:rPr lang="pt-BR" sz="2000" spc="-605" dirty="0">
                    <a:latin typeface="Courier New"/>
                    <a:cs typeface="Courier New"/>
                  </a:rPr>
                  <a:t>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𝑝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𝒗</m:t>
                    </m:r>
                    <m:r>
                      <a:rPr lang="pt-BR" sz="2000" i="1" dirty="0">
                        <a:latin typeface="Cambria Math" panose="02040503050406030204" pitchFamily="18" charset="0"/>
                        <a:cs typeface="Cambria Math"/>
                      </a:rPr>
                      <m:t>+</m:t>
                    </m:r>
                    <m:r>
                      <a:rPr lang="pt-BR" sz="2000" i="1" spc="-50" dirty="0" smtClean="0">
                        <a:latin typeface="Cambria Math" panose="02040503050406030204" pitchFamily="18" charset="0"/>
                        <a:cs typeface="Cambria Math"/>
                      </a:rPr>
                      <m:t>𝒖</m:t>
                    </m:r>
                    <m:r>
                      <a:rPr lang="pt-BR" sz="2000" i="1" spc="-50" dirty="0" smtClean="0">
                        <a:latin typeface="Cambria Math" panose="02040503050406030204" pitchFamily="18" charset="0"/>
                        <a:cs typeface="Cambria Math"/>
                      </a:rPr>
                      <m:t>)≤</m:t>
                    </m:r>
                    <m:r>
                      <a:rPr lang="pt-BR" sz="2000" i="1" dirty="0">
                        <a:latin typeface="Cambria Math" panose="02040503050406030204" pitchFamily="18" charset="0"/>
                        <a:cs typeface="Cambria Math"/>
                      </a:rPr>
                      <m:t>𝑝</m:t>
                    </m:r>
                    <m:r>
                      <a:rPr lang="pt-BR" sz="2000" i="1" dirty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000" i="1" dirty="0">
                        <a:latin typeface="Cambria Math" panose="02040503050406030204" pitchFamily="18" charset="0"/>
                        <a:cs typeface="Cambria Math"/>
                      </a:rPr>
                      <m:t>𝒗</m:t>
                    </m:r>
                    <m:r>
                      <a:rPr lang="pt-BR" sz="2000" i="1" dirty="0">
                        <a:latin typeface="Cambria Math" panose="02040503050406030204" pitchFamily="18" charset="0"/>
                        <a:cs typeface="Cambria Math"/>
                      </a:rPr>
                      <m:t>)+</m:t>
                    </m:r>
                    <m:r>
                      <a:rPr lang="pt-BR" sz="2000" i="1" spc="-20" dirty="0">
                        <a:latin typeface="Cambria Math" panose="02040503050406030204" pitchFamily="18" charset="0"/>
                        <a:cs typeface="Cambria Math"/>
                      </a:rPr>
                      <m:t>𝑝</m:t>
                    </m:r>
                    <m:r>
                      <a:rPr lang="pt-BR" sz="2000" i="1" spc="-20" dirty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000" i="1" spc="-20" dirty="0">
                        <a:latin typeface="Cambria Math" panose="02040503050406030204" pitchFamily="18" charset="0"/>
                        <a:cs typeface="Cambria Math"/>
                      </a:rPr>
                      <m:t>𝒖</m:t>
                    </m:r>
                    <m:r>
                      <a:rPr lang="pt-BR" sz="2000" i="1" spc="-20" dirty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</m:oMath>
                </a14:m>
                <a:endParaRPr lang="pt-BR" sz="2000" dirty="0">
                  <a:latin typeface="Cambria Math"/>
                  <a:cs typeface="Cambria Math"/>
                </a:endParaRPr>
              </a:p>
              <a:p>
                <a:pPr marL="762000" lvl="1" indent="-229235" algn="just">
                  <a:lnSpc>
                    <a:spcPct val="100000"/>
                  </a:lnSpc>
                  <a:spcBef>
                    <a:spcPts val="200"/>
                  </a:spcBef>
                  <a:buFont typeface="Wingdings"/>
                  <a:buChar char=""/>
                  <a:tabLst>
                    <a:tab pos="762635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norma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absolutamente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escalável</a:t>
                </a:r>
                <a:r>
                  <a:rPr lang="pt-BR" sz="2400" spc="-10" dirty="0">
                    <a:latin typeface="Calibri"/>
                    <a:cs typeface="Calibri"/>
                  </a:rPr>
                  <a:t>: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990600">
                  <a:lnSpc>
                    <a:spcPct val="100000"/>
                  </a:lnSpc>
                  <a:spcBef>
                    <a:spcPts val="280"/>
                  </a:spcBef>
                  <a:tabLst>
                    <a:tab pos="1938655" algn="l"/>
                    <a:tab pos="2336165" algn="l"/>
                  </a:tabLst>
                </a:pPr>
                <a:r>
                  <a:rPr lang="pt-BR" sz="2000" dirty="0">
                    <a:latin typeface="Courier New"/>
                    <a:cs typeface="Courier New"/>
                  </a:rPr>
                  <a:t>o</a:t>
                </a:r>
                <a:r>
                  <a:rPr lang="pt-BR" sz="2000" spc="-605" dirty="0">
                    <a:latin typeface="Courier New"/>
                    <a:cs typeface="Courier New"/>
                  </a:rPr>
                  <a:t>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𝑝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000" i="1" spc="-25" dirty="0" smtClean="0">
                        <a:latin typeface="Cambria Math" panose="02040503050406030204" pitchFamily="18" charset="0"/>
                        <a:cs typeface="Cambria Math"/>
                      </a:rPr>
                      <m:t>𝑎</m:t>
                    </m:r>
                    <m:r>
                      <a:rPr lang="pt-BR" sz="2000" i="1" spc="-25" dirty="0" smtClean="0">
                        <a:latin typeface="Cambria Math" panose="02040503050406030204" pitchFamily="18" charset="0"/>
                        <a:cs typeface="Cambria Math"/>
                      </a:rPr>
                      <m:t>𝒗</m:t>
                    </m:r>
                    <m:r>
                      <a:rPr lang="pt-BR" sz="2000" i="1" spc="-25" dirty="0" smtClean="0">
                        <a:latin typeface="Cambria Math" panose="02040503050406030204" pitchFamily="18" charset="0"/>
                        <a:cs typeface="Cambria Math"/>
                      </a:rPr>
                      <m:t>)=|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𝑎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|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𝑝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𝒗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), </m:t>
                    </m:r>
                  </m:oMath>
                </a14:m>
                <a:r>
                  <a:rPr lang="pt-BR" sz="2000" dirty="0">
                    <a:latin typeface="Calibri"/>
                    <a:cs typeface="Calibri"/>
                  </a:rPr>
                  <a:t>para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todo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𝑎</a:t>
                </a:r>
                <a:r>
                  <a:rPr lang="pt-BR" sz="2000" spc="135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∈</a:t>
                </a:r>
                <a:r>
                  <a:rPr lang="pt-BR" sz="2000" spc="95" dirty="0">
                    <a:latin typeface="Cambria Math"/>
                    <a:cs typeface="Cambria Math"/>
                  </a:rPr>
                  <a:t> </a:t>
                </a:r>
                <a:r>
                  <a:rPr lang="pt-BR" sz="2000" spc="-50" dirty="0">
                    <a:latin typeface="Cambria Math"/>
                    <a:cs typeface="Cambria Math"/>
                  </a:rPr>
                  <a:t>ℝ</a:t>
                </a:r>
                <a:endParaRPr lang="pt-BR" sz="2000" dirty="0">
                  <a:latin typeface="Cambria Math"/>
                  <a:cs typeface="Cambria Math"/>
                </a:endParaRPr>
              </a:p>
              <a:p>
                <a:pPr marL="762000" marR="287655" lvl="1" indent="-228600">
                  <a:lnSpc>
                    <a:spcPts val="2590"/>
                  </a:lnSpc>
                  <a:spcBef>
                    <a:spcPts val="505"/>
                  </a:spcBef>
                  <a:buFont typeface="Wingdings"/>
                  <a:buChar char=""/>
                  <a:tabLst>
                    <a:tab pos="762635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norma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positiva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definida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i.e.,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valores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são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sempre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maiores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ou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mínimo </a:t>
                </a:r>
                <a:r>
                  <a:rPr lang="pt-BR" sz="2400" dirty="0">
                    <a:latin typeface="Calibri"/>
                    <a:cs typeface="Calibri"/>
                  </a:rPr>
                  <a:t>iguais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spc="-20" dirty="0">
                    <a:latin typeface="Calibri"/>
                    <a:cs typeface="Calibri"/>
                  </a:rPr>
                  <a:t>zero: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1219200" lvl="2" indent="-229235">
                  <a:lnSpc>
                    <a:spcPct val="100000"/>
                  </a:lnSpc>
                  <a:spcBef>
                    <a:spcPts val="260"/>
                  </a:spcBef>
                  <a:buFont typeface="Courier New"/>
                  <a:buChar char="o"/>
                  <a:tabLst>
                    <a:tab pos="1219835" algn="l"/>
                    <a:tab pos="2098675" algn="l"/>
                  </a:tabLst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cs typeface="Calibri"/>
                      </a:rPr>
                      <m:t>𝑆𝑒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𝑝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000" i="1" spc="-50" dirty="0" smtClean="0">
                        <a:latin typeface="Cambria Math" panose="02040503050406030204" pitchFamily="18" charset="0"/>
                        <a:cs typeface="Cambria Math"/>
                      </a:rPr>
                      <m:t>𝒗</m:t>
                    </m:r>
                    <m:r>
                      <a:rPr lang="pt-BR" sz="2000" i="1" spc="-50" dirty="0" smtClean="0">
                        <a:latin typeface="Cambria Math" panose="02040503050406030204" pitchFamily="18" charset="0"/>
                        <a:cs typeface="Cambria Math"/>
                      </a:rPr>
                      <m:t>)=</m:t>
                    </m:r>
                    <m:r>
                      <a:rPr lang="pt-BR" sz="2000" i="1" dirty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</m:oMath>
                </a14:m>
                <a:r>
                  <a:rPr lang="pt-BR" sz="2000" dirty="0">
                    <a:latin typeface="Calibri"/>
                    <a:cs typeface="Calibri"/>
                  </a:rPr>
                  <a:t>,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então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𝒗</a:t>
                </a:r>
                <a:r>
                  <a:rPr lang="pt-BR" sz="2000" spc="85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=</a:t>
                </a:r>
                <a:r>
                  <a:rPr lang="pt-BR" sz="2000" spc="105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𝟎</a:t>
                </a:r>
                <a:r>
                  <a:rPr lang="pt-BR" sz="2000" spc="-15" dirty="0">
                    <a:latin typeface="Cambria Math"/>
                    <a:cs typeface="Cambria Math"/>
                  </a:rPr>
                  <a:t> </a:t>
                </a:r>
                <a:r>
                  <a:rPr lang="pt-BR" sz="2000" b="1" i="1" dirty="0">
                    <a:latin typeface="Calibri"/>
                    <a:cs typeface="Calibri"/>
                  </a:rPr>
                  <a:t>(vetor</a:t>
                </a:r>
                <a:r>
                  <a:rPr lang="pt-BR" sz="20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000" b="1" i="1" spc="-10" dirty="0">
                    <a:latin typeface="Calibri"/>
                    <a:cs typeface="Calibri"/>
                  </a:rPr>
                  <a:t>nulo)</a:t>
                </a:r>
                <a:r>
                  <a:rPr lang="pt-BR" sz="2000" spc="-10" dirty="0">
                    <a:latin typeface="Calibri"/>
                    <a:cs typeface="Calibri"/>
                  </a:rPr>
                  <a:t>.</a:t>
                </a:r>
                <a:endParaRPr sz="20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80" y="1295400"/>
                <a:ext cx="10753725" cy="4689360"/>
              </a:xfrm>
              <a:prstGeom prst="rect">
                <a:avLst/>
              </a:prstGeom>
              <a:blipFill>
                <a:blip r:embed="rId2"/>
                <a:stretch>
                  <a:fillRect l="-1134" t="-2341" r="-1417" b="-24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Distância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spc="-20" dirty="0"/>
              <a:t>Minkowski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21906" y="1793493"/>
            <a:ext cx="5180330" cy="12204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distância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Minkowski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ordem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𝑝</a:t>
            </a:r>
            <a:r>
              <a:rPr sz="2800" spc="-2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equação abaixo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>
              <a:xfrm>
                <a:off x="6725411" y="2592166"/>
                <a:ext cx="5180330" cy="121783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  <a:tabLst>
                    <a:tab pos="377825" algn="l"/>
                    <a:tab pos="119507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𝑑</m:t>
                      </m:r>
                      <m:d>
                        <m:dPr>
                          <m:ctrlPr>
                            <a:rPr lang="pt-BR" sz="2800" b="0" i="1" spc="-50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2800" i="1" spc="-25" dirty="0">
                              <a:latin typeface="Cambria Math" panose="02040503050406030204" pitchFamily="18" charset="0"/>
                              <a:cs typeface="Cambria Math"/>
                            </a:rPr>
                            <m:t>𝒙</m:t>
                          </m:r>
                          <m:r>
                            <a:rPr lang="pt-BR" sz="2800" i="1" spc="-25" dirty="0">
                              <a:latin typeface="Cambria Math" panose="02040503050406030204" pitchFamily="18" charset="0"/>
                              <a:cs typeface="Cambria Math"/>
                            </a:rPr>
                            <m:t>;</m:t>
                          </m:r>
                          <m:r>
                            <a:rPr lang="pt-BR" sz="2800" i="1" spc="-50" dirty="0">
                              <a:latin typeface="Cambria Math" panose="02040503050406030204" pitchFamily="18" charset="0"/>
                              <a:cs typeface="Cambria Math"/>
                            </a:rPr>
                            <m:t>𝒚</m:t>
                          </m:r>
                        </m:e>
                      </m:d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pt-BR" sz="2800" b="0" i="1" spc="-50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800" i="1" spc="-5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pt-BR" sz="2800" i="1" spc="-5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5"/>
                                    </m:rP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pt-BR" sz="2800" b="0" i="1" spc="-5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pt-BR" sz="2800" i="1" spc="-50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2800" b="0" i="1" spc="-50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800" b="0" i="1" spc="-50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800" b="0" i="1" spc="-50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pt-BR" sz="2800" b="0" i="1" spc="-50" dirty="0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BR" sz="2800" b="0" i="1" spc="-50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800" b="0" i="1" spc="-50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800" b="0" i="1" spc="-50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pt-BR" sz="2800" b="0" i="1" spc="-50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sup>
                      </m:sSup>
                      <m:r>
                        <a:rPr lang="pt-BR" sz="2800" b="0" i="1" spc="-50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sz="2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411" y="2592166"/>
                <a:ext cx="5180330" cy="12178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3"/>
          <p:cNvSpPr txBox="1"/>
          <p:nvPr/>
        </p:nvSpPr>
        <p:spPr>
          <a:xfrm>
            <a:off x="6621906" y="3752469"/>
            <a:ext cx="5283835" cy="198818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métrica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distância generalizada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podemos alterar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parâmetro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𝑝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calcular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distância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pontos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formas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diferentes.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927" y="2520363"/>
            <a:ext cx="6159371" cy="282701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Distância</a:t>
            </a:r>
            <a:r>
              <a:rPr spc="-85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spc="-10" dirty="0"/>
              <a:t>Minkowski:</a:t>
            </a:r>
            <a:r>
              <a:rPr spc="-75" dirty="0"/>
              <a:t> </a:t>
            </a:r>
            <a:r>
              <a:rPr dirty="0"/>
              <a:t>Casos</a:t>
            </a:r>
            <a:r>
              <a:rPr spc="-70" dirty="0"/>
              <a:t> </a:t>
            </a:r>
            <a:r>
              <a:rPr spc="-10" dirty="0"/>
              <a:t>particulares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3546" y="1795017"/>
            <a:ext cx="5003165" cy="8350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𝑝</a:t>
            </a:r>
            <a:r>
              <a:rPr sz="2800" spc="1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9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distância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Manhattan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3546" y="3223082"/>
            <a:ext cx="4561205" cy="8350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41300" marR="5080" indent="-228600">
              <a:lnSpc>
                <a:spcPts val="3010"/>
              </a:lnSpc>
              <a:spcBef>
                <a:spcPts val="4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𝑝</a:t>
            </a:r>
            <a:r>
              <a:rPr sz="2800" spc="1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0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2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distância Euclidiana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3"/>
              <p:cNvSpPr txBox="1"/>
              <p:nvPr/>
            </p:nvSpPr>
            <p:spPr>
              <a:xfrm>
                <a:off x="7105778" y="4191000"/>
                <a:ext cx="4185155" cy="131991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  <a:tabLst>
                    <a:tab pos="377825" algn="l"/>
                    <a:tab pos="1195070" algn="l"/>
                  </a:tabLst>
                </a:pPr>
                <a14:m>
                  <m:oMath xmlns:m="http://schemas.openxmlformats.org/officeDocument/2006/math">
                    <m:r>
                      <a:rPr lang="ar-AE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𝑑</m:t>
                    </m:r>
                    <m:d>
                      <m:dPr>
                        <m:ctrlPr>
                          <a:rPr lang="ar-AE" sz="2800" i="1" spc="-50" dirty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ar-AE" sz="2800" i="1" spc="-20" dirty="0" smtClean="0">
                            <a:latin typeface="Cambria Math" panose="02040503050406030204" pitchFamily="18" charset="0"/>
                            <a:cs typeface="Cambria Math"/>
                          </a:rPr>
                          <m:t>𝒙</m:t>
                        </m:r>
                        <m:r>
                          <a:rPr lang="ar-AE" sz="2800" i="1" spc="-20" dirty="0" smtClean="0">
                            <a:latin typeface="Cambria Math" panose="02040503050406030204" pitchFamily="18" charset="0"/>
                            <a:cs typeface="Cambria Math"/>
                          </a:rPr>
                          <m:t>;</m:t>
                        </m:r>
                        <m:r>
                          <a:rPr lang="ar-AE" sz="280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  <m:t>𝒚</m:t>
                        </m:r>
                      </m:e>
                    </m:d>
                    <m:r>
                      <a:rPr lang="ar-AE" sz="2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sz="2800" b="0" i="1" spc="-50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ar-AE" sz="2800" b="0" i="1" spc="-50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BR" sz="2800" b="0" i="1" spc="-50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800" b="0" i="1" spc="-50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5"/>
                              </m:rPr>
                              <a:rPr lang="pt-BR" sz="2800" b="0" i="1" spc="-5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pt-BR" sz="2800" b="0" i="1" spc="-50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p>
                              <m:sSupPr>
                                <m:ctrlPr>
                                  <a:rPr lang="pt-BR" sz="2800" b="0" i="1" spc="-5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ar-AE" sz="2800" b="0" i="1" spc="-5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2800" b="0" i="1" spc="-50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 b="0" i="1" spc="-50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2800" b="0" i="1" spc="-50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pt-BR" sz="2800" b="0" i="1" spc="-50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pt-BR" sz="2800" b="0" i="1" spc="-50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2800" b="0" i="1" spc="-50" dirty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pt-BR" sz="2800" b="0" i="1" spc="-50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pt-BR" sz="2800" b="0" i="1" spc="-5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  <m:r>
                      <a:rPr lang="pt-BR" sz="2800" b="0" i="1" spc="-5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ar-AE" sz="2800" dirty="0">
                    <a:latin typeface="Cambria Math"/>
                    <a:cs typeface="Cambria Math"/>
                  </a:rPr>
                  <a:t>	</a:t>
                </a:r>
                <a:endParaRPr sz="28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778" y="4191000"/>
                <a:ext cx="4185155" cy="13199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868" y="2592778"/>
            <a:ext cx="5772981" cy="26496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7A62FE2A-39E5-2413-D6A1-34C5AB415192}"/>
                  </a:ext>
                </a:extLst>
              </p:cNvPr>
              <p:cNvSpPr txBox="1"/>
              <p:nvPr/>
            </p:nvSpPr>
            <p:spPr>
              <a:xfrm>
                <a:off x="6608191" y="2344573"/>
                <a:ext cx="5180330" cy="89402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  <a:tabLst>
                    <a:tab pos="377825" algn="l"/>
                    <a:tab pos="119507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𝑑</m:t>
                      </m:r>
                      <m:d>
                        <m:dPr>
                          <m:ctrlPr>
                            <a:rPr lang="pt-BR" sz="2800" b="0" i="1" spc="-50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dPr>
                        <m:e>
                          <m:r>
                            <a:rPr lang="pt-BR" sz="2800" i="1" spc="-25" dirty="0">
                              <a:latin typeface="Cambria Math" panose="02040503050406030204" pitchFamily="18" charset="0"/>
                              <a:cs typeface="Cambria Math"/>
                            </a:rPr>
                            <m:t>𝒙</m:t>
                          </m:r>
                          <m:r>
                            <a:rPr lang="pt-BR" sz="2800" i="1" spc="-25" dirty="0">
                              <a:latin typeface="Cambria Math" panose="02040503050406030204" pitchFamily="18" charset="0"/>
                              <a:cs typeface="Cambria Math"/>
                            </a:rPr>
                            <m:t>;</m:t>
                          </m:r>
                          <m:r>
                            <a:rPr lang="pt-BR" sz="2800" i="1" spc="-50" dirty="0">
                              <a:latin typeface="Cambria Math" panose="02040503050406030204" pitchFamily="18" charset="0"/>
                              <a:cs typeface="Cambria Math"/>
                            </a:rPr>
                            <m:t>𝒚</m:t>
                          </m:r>
                        </m:e>
                      </m:d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pt-BR" sz="2800" i="1" spc="-50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800" b="0" i="1" spc="-50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sz="2800" i="1" spc="-5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2800" b="0" i="1" spc="-5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sz="2800" b="0" i="1" spc="-50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pt-BR" sz="2800" b="0" i="1" spc="-50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sz="2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20" name="object 5">
                <a:extLst>
                  <a:ext uri="{FF2B5EF4-FFF2-40B4-BE49-F238E27FC236}">
                    <a16:creationId xmlns:a16="http://schemas.microsoft.com/office/drawing/2014/main" id="{7A62FE2A-39E5-2413-D6A1-34C5AB415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191" y="2344573"/>
                <a:ext cx="5180330" cy="8940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Distância</a:t>
            </a:r>
            <a:r>
              <a:rPr spc="-125" dirty="0"/>
              <a:t> </a:t>
            </a:r>
            <a:r>
              <a:rPr spc="-10" dirty="0"/>
              <a:t>Euclidiana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93307" y="1835861"/>
            <a:ext cx="5628005" cy="2586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Mede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menor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distância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direta</a:t>
            </a:r>
            <a:r>
              <a:rPr sz="2800" b="1" i="1" spc="-7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EC7C30"/>
                </a:solidFill>
                <a:latin typeface="Calibri"/>
                <a:cs typeface="Calibri"/>
              </a:rPr>
              <a:t>entre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dois</a:t>
            </a:r>
            <a:r>
              <a:rPr sz="2800" b="1" i="1" spc="-8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EC7C30"/>
                </a:solidFill>
                <a:latin typeface="Calibri"/>
                <a:cs typeface="Calibri"/>
              </a:rPr>
              <a:t>pontos</a:t>
            </a:r>
            <a:r>
              <a:rPr sz="2800" b="1" i="1" spc="-8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espaço,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 </a:t>
            </a:r>
            <a:r>
              <a:rPr sz="2800" dirty="0">
                <a:latin typeface="Calibri"/>
                <a:cs typeface="Calibri"/>
              </a:rPr>
              <a:t>fosse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linha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reta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665" marR="1036319" indent="-228600" algn="just">
              <a:lnSpc>
                <a:spcPct val="9000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distância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Euclidiana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usada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têm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uma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relação</a:t>
            </a:r>
            <a:r>
              <a:rPr sz="2800" b="1" i="1" spc="-1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linear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469" y="2569299"/>
            <a:ext cx="5729881" cy="262988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Distância</a:t>
            </a:r>
            <a:r>
              <a:rPr spc="-125" dirty="0"/>
              <a:t> </a:t>
            </a:r>
            <a:r>
              <a:rPr spc="-10" dirty="0"/>
              <a:t>Manhattan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5628" y="1793493"/>
            <a:ext cx="5729605" cy="45478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distância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Manhattan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distância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i="1" spc="-30" dirty="0">
                <a:solidFill>
                  <a:srgbClr val="00AF50"/>
                </a:solidFill>
                <a:latin typeface="Calibri"/>
                <a:cs typeface="Calibri"/>
              </a:rPr>
              <a:t>movendo-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8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apenas</a:t>
            </a:r>
            <a:r>
              <a:rPr sz="28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ao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longo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eixos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horizontais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verticais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grade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dirty="0">
                <a:latin typeface="Calibri"/>
                <a:cs typeface="Calibri"/>
              </a:rPr>
              <a:t>cidade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(daí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nome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Manhattan).</a:t>
            </a:r>
            <a:endParaRPr sz="2800" dirty="0">
              <a:latin typeface="Calibri"/>
              <a:cs typeface="Calibri"/>
            </a:endParaRPr>
          </a:p>
          <a:p>
            <a:pPr marL="241300" marR="380365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distância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Manhattan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mais </a:t>
            </a:r>
            <a:r>
              <a:rPr sz="2800" dirty="0">
                <a:latin typeface="Calibri"/>
                <a:cs typeface="Calibri"/>
              </a:rPr>
              <a:t>adequada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não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têm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uma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relação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linear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clara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4450" indent="-228600" algn="just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Usada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movimento</a:t>
            </a:r>
            <a:r>
              <a:rPr sz="28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só</a:t>
            </a:r>
            <a:r>
              <a:rPr sz="2800" b="1" i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6F2F9F"/>
                </a:solidFill>
                <a:latin typeface="Calibri"/>
                <a:cs typeface="Calibri"/>
              </a:rPr>
              <a:t>pode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ocorrer</a:t>
            </a:r>
            <a:r>
              <a:rPr sz="28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em</a:t>
            </a:r>
            <a:r>
              <a:rPr sz="2800" b="1" i="1" spc="-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direções</a:t>
            </a:r>
            <a:r>
              <a:rPr sz="2800" b="1" i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perpendiculares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urbanas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circuitos.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469" y="2569299"/>
            <a:ext cx="5729881" cy="262988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k-</a:t>
            </a:r>
            <a:r>
              <a:rPr dirty="0"/>
              <a:t>NN</a:t>
            </a:r>
            <a:r>
              <a:rPr spc="-45" dirty="0"/>
              <a:t> </a:t>
            </a:r>
            <a:r>
              <a:rPr dirty="0"/>
              <a:t>para</a:t>
            </a:r>
            <a:r>
              <a:rPr spc="-35" dirty="0"/>
              <a:t> </a:t>
            </a:r>
            <a:r>
              <a:rPr spc="-10" dirty="0"/>
              <a:t>classificação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97558"/>
            <a:ext cx="91560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classificação,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saída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equação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939" y="3409046"/>
            <a:ext cx="10790555" cy="33210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63500" marR="55880">
              <a:lnSpc>
                <a:spcPts val="2690"/>
              </a:lnSpc>
              <a:spcBef>
                <a:spcPts val="745"/>
              </a:spcBef>
            </a:pPr>
            <a:r>
              <a:rPr sz="2800" spc="-10" dirty="0">
                <a:latin typeface="Calibri"/>
                <a:cs typeface="Calibri"/>
              </a:rPr>
              <a:t>gerada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k-</a:t>
            </a:r>
            <a:r>
              <a:rPr sz="2800" dirty="0">
                <a:latin typeface="Calibri"/>
                <a:cs typeface="Calibri"/>
              </a:rPr>
              <a:t>NN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equivale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tomar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voto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majoritário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𝑘</a:t>
            </a:r>
            <a:r>
              <a:rPr sz="2800" spc="2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vizinhos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mais </a:t>
            </a:r>
            <a:r>
              <a:rPr sz="2800" spc="-10" dirty="0">
                <a:latin typeface="Calibri"/>
                <a:cs typeface="Calibri"/>
              </a:rPr>
              <a:t>próximos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90" dirty="0">
                <a:latin typeface="Cambria Math"/>
                <a:cs typeface="Cambria Math"/>
              </a:rPr>
              <a:t>𝒙</a:t>
            </a:r>
            <a:r>
              <a:rPr sz="3075" spc="135" baseline="27100" dirty="0">
                <a:latin typeface="Cambria Math"/>
                <a:cs typeface="Cambria Math"/>
              </a:rPr>
              <a:t>′</a:t>
            </a:r>
            <a:r>
              <a:rPr sz="2800" spc="9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onde</a:t>
            </a:r>
            <a:endParaRPr sz="2800" dirty="0">
              <a:latin typeface="Calibri"/>
              <a:cs typeface="Calibri"/>
            </a:endParaRPr>
          </a:p>
          <a:p>
            <a:pPr marL="749300" indent="-229235">
              <a:lnSpc>
                <a:spcPts val="2810"/>
              </a:lnSpc>
              <a:buFont typeface="Wingdings"/>
              <a:buChar char=""/>
              <a:tabLst>
                <a:tab pos="749935" algn="l"/>
              </a:tabLst>
            </a:pPr>
            <a:r>
              <a:rPr sz="2400" dirty="0">
                <a:latin typeface="Cambria Math"/>
                <a:cs typeface="Cambria Math"/>
              </a:rPr>
              <a:t>𝑞</a:t>
            </a:r>
            <a:r>
              <a:rPr sz="2400" spc="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classes </a:t>
            </a:r>
            <a:r>
              <a:rPr sz="2400" spc="-25" dirty="0">
                <a:latin typeface="Cambria Math"/>
                <a:cs typeface="Cambria Math"/>
              </a:rPr>
              <a:t>𝑄</a:t>
            </a:r>
            <a:r>
              <a:rPr sz="2500" i="1" spc="-25" dirty="0">
                <a:latin typeface="Cambria Math"/>
                <a:cs typeface="Cambria Math"/>
              </a:rPr>
              <a:t>,</a:t>
            </a:r>
            <a:endParaRPr sz="2500" dirty="0">
              <a:latin typeface="Cambria Math"/>
              <a:cs typeface="Cambria Math"/>
            </a:endParaRPr>
          </a:p>
          <a:p>
            <a:pPr marL="749300" marR="1114425" indent="-228600">
              <a:lnSpc>
                <a:spcPts val="2300"/>
              </a:lnSpc>
              <a:spcBef>
                <a:spcPts val="515"/>
              </a:spcBef>
              <a:buFont typeface="Wingdings"/>
              <a:buChar char=""/>
              <a:tabLst>
                <a:tab pos="749935" algn="l"/>
                <a:tab pos="2969895" algn="l"/>
              </a:tabLst>
            </a:pPr>
            <a:r>
              <a:rPr sz="2400" spc="50" dirty="0">
                <a:latin typeface="Cambria Math"/>
                <a:cs typeface="Cambria Math"/>
              </a:rPr>
              <a:t>𝑁</a:t>
            </a:r>
            <a:r>
              <a:rPr sz="2625" spc="75" baseline="-15873" dirty="0">
                <a:latin typeface="Cambria Math"/>
                <a:cs typeface="Cambria Math"/>
              </a:rPr>
              <a:t>𝑘</a:t>
            </a:r>
            <a:r>
              <a:rPr sz="2400" spc="50" dirty="0">
                <a:latin typeface="Cambria Math"/>
                <a:cs typeface="Cambria Math"/>
              </a:rPr>
              <a:t>(𝒙</a:t>
            </a:r>
            <a:r>
              <a:rPr sz="2625" spc="75" baseline="28571" dirty="0">
                <a:latin typeface="Cambria Math"/>
                <a:cs typeface="Cambria Math"/>
              </a:rPr>
              <a:t>′</a:t>
            </a:r>
            <a:r>
              <a:rPr sz="2400" spc="50" dirty="0">
                <a:latin typeface="Cambria Math"/>
                <a:cs typeface="Cambria Math"/>
              </a:rPr>
              <a:t>)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𝑘</a:t>
            </a:r>
            <a:r>
              <a:rPr sz="2400" spc="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vizinhos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próximos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90" dirty="0">
                <a:latin typeface="Cambria Math"/>
                <a:cs typeface="Cambria Math"/>
              </a:rPr>
              <a:t>𝒙</a:t>
            </a:r>
            <a:r>
              <a:rPr sz="2625" spc="135" baseline="28571" dirty="0">
                <a:latin typeface="Cambria Math"/>
                <a:cs typeface="Cambria Math"/>
              </a:rPr>
              <a:t>′</a:t>
            </a:r>
            <a:r>
              <a:rPr sz="2400" spc="9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𝑘</a:t>
            </a:r>
            <a:r>
              <a:rPr sz="2400" spc="5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spc="-10" dirty="0">
                <a:latin typeface="Calibri"/>
                <a:cs typeface="Calibri"/>
              </a:rPr>
              <a:t>treinamento,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lang="pt-BR" sz="2400" spc="430" dirty="0">
                <a:latin typeface="Cambria Math"/>
                <a:cs typeface="Cambria Math"/>
              </a:rPr>
              <a:t>(</a:t>
            </a:r>
            <a:r>
              <a:rPr sz="2400" spc="-50" dirty="0">
                <a:latin typeface="Cambria Math"/>
                <a:cs typeface="Cambria Math"/>
              </a:rPr>
              <a:t>𝑖</a:t>
            </a:r>
            <a:r>
              <a:rPr lang="pt-BR" sz="2400" spc="-50" dirty="0">
                <a:latin typeface="Cambria Math"/>
                <a:cs typeface="Cambria Math"/>
              </a:rPr>
              <a:t>)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próximos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60" dirty="0">
                <a:latin typeface="Cambria Math"/>
                <a:cs typeface="Cambria Math"/>
              </a:rPr>
              <a:t>𝒙</a:t>
            </a:r>
            <a:r>
              <a:rPr sz="2625" spc="89" baseline="28571" dirty="0">
                <a:latin typeface="Cambria Math"/>
                <a:cs typeface="Cambria Math"/>
              </a:rPr>
              <a:t>′</a:t>
            </a:r>
            <a:r>
              <a:rPr sz="2400" spc="60" dirty="0">
                <a:latin typeface="Calibri"/>
                <a:cs typeface="Calibri"/>
              </a:rPr>
              <a:t>,</a:t>
            </a:r>
            <a:endParaRPr sz="2400" dirty="0">
              <a:latin typeface="Calibri"/>
              <a:cs typeface="Calibri"/>
            </a:endParaRPr>
          </a:p>
          <a:p>
            <a:pPr marL="749300" indent="-229235">
              <a:lnSpc>
                <a:spcPts val="2790"/>
              </a:lnSpc>
              <a:buFont typeface="Wingdings"/>
              <a:buChar char=""/>
              <a:tabLst>
                <a:tab pos="749935" algn="l"/>
              </a:tabLst>
            </a:pPr>
            <a:r>
              <a:rPr sz="2400" dirty="0">
                <a:latin typeface="Cambria Math"/>
                <a:cs typeface="Cambria Math"/>
              </a:rPr>
              <a:t>𝑦</a:t>
            </a:r>
            <a:r>
              <a:rPr lang="pt-BR" sz="2400" dirty="0">
                <a:latin typeface="Cambria Math"/>
                <a:cs typeface="Cambria Math"/>
              </a:rPr>
              <a:t>(</a:t>
            </a:r>
            <a:r>
              <a:rPr sz="2400" dirty="0">
                <a:latin typeface="Cambria Math"/>
                <a:cs typeface="Cambria Math"/>
              </a:rPr>
              <a:t>𝑖</a:t>
            </a:r>
            <a:r>
              <a:rPr lang="pt-BR" sz="2400" dirty="0">
                <a:latin typeface="Cambria Math"/>
                <a:cs typeface="Cambria Math"/>
              </a:rPr>
              <a:t>)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classes</a:t>
            </a:r>
            <a:r>
              <a:rPr sz="2400" spc="-10" dirty="0">
                <a:latin typeface="Calibri"/>
                <a:cs typeface="Calibri"/>
              </a:rPr>
              <a:t> correspondentes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𝑘</a:t>
            </a:r>
            <a:r>
              <a:rPr sz="2400" spc="7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vizinhos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próximos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65" dirty="0">
                <a:latin typeface="Cambria Math"/>
                <a:cs typeface="Cambria Math"/>
              </a:rPr>
              <a:t>𝒙</a:t>
            </a:r>
            <a:r>
              <a:rPr sz="2625" spc="97" baseline="28571" dirty="0">
                <a:latin typeface="Cambria Math"/>
                <a:cs typeface="Cambria Math"/>
              </a:rPr>
              <a:t>′</a:t>
            </a:r>
            <a:r>
              <a:rPr sz="2400" spc="65" dirty="0">
                <a:latin typeface="Calibri"/>
                <a:cs typeface="Calibri"/>
              </a:rPr>
              <a:t>,</a:t>
            </a:r>
            <a:endParaRPr sz="2400" dirty="0">
              <a:latin typeface="Calibri"/>
              <a:cs typeface="Calibri"/>
            </a:endParaRPr>
          </a:p>
          <a:p>
            <a:pPr marL="749300" indent="-229235">
              <a:lnSpc>
                <a:spcPts val="2840"/>
              </a:lnSpc>
              <a:buFont typeface="Wingdings"/>
              <a:buChar char=""/>
              <a:tabLst>
                <a:tab pos="749935" algn="l"/>
                <a:tab pos="1050925" algn="l"/>
                <a:tab pos="1579880" algn="l"/>
                <a:tab pos="5420995" algn="l"/>
                <a:tab pos="5966460" algn="l"/>
              </a:tabLst>
            </a:pPr>
            <a:r>
              <a:rPr sz="2400" spc="-50" dirty="0">
                <a:latin typeface="Cambria Math"/>
                <a:cs typeface="Cambria Math"/>
              </a:rPr>
              <a:t>𝛿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dirty="0">
                <a:latin typeface="Cambria Math"/>
                <a:cs typeface="Cambria Math"/>
              </a:rPr>
              <a:t>𝑖,</a:t>
            </a:r>
            <a:r>
              <a:rPr sz="2400" spc="-6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𝑗</a:t>
            </a:r>
            <a:r>
              <a:rPr lang="pt-BR" sz="2400" spc="-50" dirty="0">
                <a:latin typeface="Cambria Math"/>
                <a:cs typeface="Cambria Math"/>
              </a:rPr>
              <a:t>)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Kronecker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onde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𝛿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dirty="0">
                <a:latin typeface="Cambria Math"/>
                <a:cs typeface="Cambria Math"/>
              </a:rPr>
              <a:t>𝑖,</a:t>
            </a:r>
            <a:r>
              <a:rPr sz="2400" spc="-7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𝑗</a:t>
            </a:r>
            <a:r>
              <a:rPr lang="pt-BR" sz="2400" spc="-50" dirty="0">
                <a:latin typeface="Cambria Math"/>
                <a:cs typeface="Cambria Math"/>
              </a:rPr>
              <a:t>)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1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𝑖</a:t>
            </a:r>
            <a:r>
              <a:rPr sz="2400" spc="20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==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𝑗</a:t>
            </a:r>
            <a:r>
              <a:rPr sz="2400" spc="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contrário.</a:t>
            </a:r>
            <a:endParaRPr sz="2400" dirty="0">
              <a:latin typeface="Calibri"/>
              <a:cs typeface="Calibri"/>
            </a:endParaRPr>
          </a:p>
          <a:p>
            <a:pPr marL="292100" marR="68580" indent="-228600">
              <a:lnSpc>
                <a:spcPts val="2690"/>
              </a:lnSpc>
              <a:spcBef>
                <a:spcPts val="965"/>
              </a:spcBef>
              <a:buFont typeface="Arial"/>
              <a:buChar char="•"/>
              <a:tabLst>
                <a:tab pos="2921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resumo,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novo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90" dirty="0">
                <a:latin typeface="Cambria Math"/>
                <a:cs typeface="Cambria Math"/>
              </a:rPr>
              <a:t>𝒙</a:t>
            </a:r>
            <a:r>
              <a:rPr sz="3075" spc="135" baseline="27100" dirty="0">
                <a:latin typeface="Cambria Math"/>
                <a:cs typeface="Cambria Math"/>
              </a:rPr>
              <a:t>′</a:t>
            </a:r>
            <a:r>
              <a:rPr sz="2800" spc="9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sendo pertencente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contiver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vizinhos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spc="65" dirty="0">
                <a:latin typeface="Cambria Math"/>
                <a:cs typeface="Cambria Math"/>
              </a:rPr>
              <a:t>𝒙</a:t>
            </a:r>
            <a:r>
              <a:rPr sz="3075" spc="97" baseline="27100" dirty="0">
                <a:latin typeface="Cambria Math"/>
                <a:cs typeface="Cambria Math"/>
              </a:rPr>
              <a:t>′</a:t>
            </a:r>
            <a:r>
              <a:rPr sz="2800" spc="6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30042" y="2963672"/>
            <a:ext cx="1379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Voto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majoritário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45710" y="2851404"/>
            <a:ext cx="372110" cy="281940"/>
          </a:xfrm>
          <a:custGeom>
            <a:avLst/>
            <a:gdLst/>
            <a:ahLst/>
            <a:cxnLst/>
            <a:rect l="l" t="t" r="r" b="b"/>
            <a:pathLst>
              <a:path w="372110" h="281939">
                <a:moveTo>
                  <a:pt x="309229" y="43369"/>
                </a:moveTo>
                <a:lnTo>
                  <a:pt x="0" y="276860"/>
                </a:lnTo>
                <a:lnTo>
                  <a:pt x="3810" y="281940"/>
                </a:lnTo>
                <a:lnTo>
                  <a:pt x="313058" y="48435"/>
                </a:lnTo>
                <a:lnTo>
                  <a:pt x="309229" y="43369"/>
                </a:lnTo>
                <a:close/>
              </a:path>
              <a:path w="372110" h="281939">
                <a:moveTo>
                  <a:pt x="354287" y="35687"/>
                </a:moveTo>
                <a:lnTo>
                  <a:pt x="319404" y="35687"/>
                </a:lnTo>
                <a:lnTo>
                  <a:pt x="323214" y="40767"/>
                </a:lnTo>
                <a:lnTo>
                  <a:pt x="313058" y="48435"/>
                </a:lnTo>
                <a:lnTo>
                  <a:pt x="334137" y="76326"/>
                </a:lnTo>
                <a:lnTo>
                  <a:pt x="354287" y="35687"/>
                </a:lnTo>
                <a:close/>
              </a:path>
              <a:path w="372110" h="281939">
                <a:moveTo>
                  <a:pt x="319404" y="35687"/>
                </a:moveTo>
                <a:lnTo>
                  <a:pt x="309229" y="43369"/>
                </a:lnTo>
                <a:lnTo>
                  <a:pt x="313058" y="48435"/>
                </a:lnTo>
                <a:lnTo>
                  <a:pt x="323214" y="40767"/>
                </a:lnTo>
                <a:lnTo>
                  <a:pt x="319404" y="35687"/>
                </a:lnTo>
                <a:close/>
              </a:path>
              <a:path w="372110" h="281939">
                <a:moveTo>
                  <a:pt x="371983" y="0"/>
                </a:moveTo>
                <a:lnTo>
                  <a:pt x="288163" y="15494"/>
                </a:lnTo>
                <a:lnTo>
                  <a:pt x="309229" y="43369"/>
                </a:lnTo>
                <a:lnTo>
                  <a:pt x="319404" y="35687"/>
                </a:lnTo>
                <a:lnTo>
                  <a:pt x="354287" y="35687"/>
                </a:lnTo>
                <a:lnTo>
                  <a:pt x="3719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2C0D9B73-F15A-A576-A3FC-4C9F1F89A6EE}"/>
                  </a:ext>
                </a:extLst>
              </p:cNvPr>
              <p:cNvSpPr txBox="1"/>
              <p:nvPr/>
            </p:nvSpPr>
            <p:spPr>
              <a:xfrm>
                <a:off x="3351669" y="2058183"/>
                <a:ext cx="5785686" cy="11031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2C0D9B73-F15A-A576-A3FC-4C9F1F89A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669" y="2058183"/>
                <a:ext cx="5785686" cy="11031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7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classificação</a:t>
            </a:r>
            <a:r>
              <a:rPr spc="-40" dirty="0"/>
              <a:t> </a:t>
            </a:r>
            <a:r>
              <a:rPr dirty="0"/>
              <a:t>com</a:t>
            </a:r>
            <a:r>
              <a:rPr spc="-55" dirty="0"/>
              <a:t> </a:t>
            </a:r>
            <a:r>
              <a:rPr spc="-20" dirty="0"/>
              <a:t>k-</a:t>
            </a:r>
            <a:r>
              <a:rPr spc="-25" dirty="0"/>
              <a:t>NN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68926" y="1793493"/>
            <a:ext cx="6989445" cy="49320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lado,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teste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ponto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verde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pertencente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quadrados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azuis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dos </a:t>
            </a:r>
            <a:r>
              <a:rPr sz="2800" b="1" i="1" dirty="0">
                <a:latin typeface="Calibri"/>
                <a:cs typeface="Calibri"/>
              </a:rPr>
              <a:t>triângulos</a:t>
            </a:r>
            <a:r>
              <a:rPr sz="2800" b="1" i="1" spc="-11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vermelhos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dependendo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de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035"/>
              </a:lnSpc>
            </a:pPr>
            <a:r>
              <a:rPr sz="2800" spc="-25" dirty="0">
                <a:latin typeface="Cambria Math"/>
                <a:cs typeface="Cambria Math"/>
              </a:rPr>
              <a:t>𝑘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6223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𝑘</a:t>
            </a:r>
            <a:r>
              <a:rPr sz="2800" spc="4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(círculo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linha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sólida),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dirty="0">
                <a:latin typeface="Calibri"/>
                <a:cs typeface="Calibri"/>
              </a:rPr>
              <a:t>atribuído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triângulos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vermelhos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existem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triângulos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quadrado </a:t>
            </a:r>
            <a:r>
              <a:rPr sz="2800" dirty="0">
                <a:latin typeface="Calibri"/>
                <a:cs typeface="Calibri"/>
              </a:rPr>
              <a:t>dentro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círculo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interno.</a:t>
            </a:r>
            <a:endParaRPr sz="2800" dirty="0">
              <a:latin typeface="Calibri"/>
              <a:cs typeface="Calibri"/>
            </a:endParaRPr>
          </a:p>
          <a:p>
            <a:pPr marL="241300" marR="165735" indent="-228600">
              <a:lnSpc>
                <a:spcPct val="899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𝑘</a:t>
            </a:r>
            <a:r>
              <a:rPr sz="2800" spc="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(círculo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tracejado),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atribuído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à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quadrados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azuis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(3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quadrados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vs.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2 </a:t>
            </a:r>
            <a:r>
              <a:rPr sz="2800" dirty="0">
                <a:latin typeface="Calibri"/>
                <a:cs typeface="Calibri"/>
              </a:rPr>
              <a:t>triângulos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dentro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círculo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externo).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716" y="2444102"/>
            <a:ext cx="3624960" cy="336524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</a:t>
            </a:r>
            <a:r>
              <a:rPr spc="-7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classificação</a:t>
            </a:r>
            <a:r>
              <a:rPr spc="-40" dirty="0"/>
              <a:t> </a:t>
            </a:r>
            <a:r>
              <a:rPr dirty="0"/>
              <a:t>com</a:t>
            </a:r>
            <a:r>
              <a:rPr spc="-55" dirty="0"/>
              <a:t> </a:t>
            </a:r>
            <a:r>
              <a:rPr spc="-20" dirty="0"/>
              <a:t>k-</a:t>
            </a:r>
            <a:r>
              <a:rPr spc="-25" dirty="0"/>
              <a:t>NN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66700" marR="304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66700" algn="l"/>
              </a:tabLst>
            </a:pPr>
            <a:r>
              <a:rPr b="0" i="0" dirty="0">
                <a:latin typeface="Calibri"/>
                <a:cs typeface="Calibri"/>
              </a:rPr>
              <a:t>Uma</a:t>
            </a:r>
            <a:r>
              <a:rPr b="0" i="0" spc="-70" dirty="0">
                <a:latin typeface="Calibri"/>
                <a:cs typeface="Calibri"/>
              </a:rPr>
              <a:t> </a:t>
            </a:r>
            <a:r>
              <a:rPr b="0" i="0" spc="-20" dirty="0">
                <a:latin typeface="Calibri"/>
                <a:cs typeface="Calibri"/>
              </a:rPr>
              <a:t>desvantagem</a:t>
            </a:r>
            <a:r>
              <a:rPr b="0" i="0" spc="-6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da</a:t>
            </a:r>
            <a:r>
              <a:rPr b="0" i="0" spc="-55" dirty="0">
                <a:latin typeface="Calibri"/>
                <a:cs typeface="Calibri"/>
              </a:rPr>
              <a:t> </a:t>
            </a:r>
            <a:r>
              <a:rPr b="0" i="0" spc="-10" dirty="0">
                <a:latin typeface="Calibri"/>
                <a:cs typeface="Calibri"/>
              </a:rPr>
              <a:t>classificação</a:t>
            </a:r>
            <a:r>
              <a:rPr b="0" i="0" spc="-7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por</a:t>
            </a:r>
            <a:r>
              <a:rPr b="0" i="0" spc="-125" dirty="0">
                <a:latin typeface="Calibri"/>
                <a:cs typeface="Calibri"/>
              </a:rPr>
              <a:t> </a:t>
            </a:r>
            <a:r>
              <a:rPr spc="-10" dirty="0"/>
              <a:t>votação</a:t>
            </a:r>
            <a:r>
              <a:rPr spc="-60" dirty="0"/>
              <a:t> </a:t>
            </a:r>
            <a:r>
              <a:rPr spc="-10" dirty="0"/>
              <a:t>majoritária</a:t>
            </a:r>
            <a:r>
              <a:rPr spc="-65" dirty="0"/>
              <a:t> </a:t>
            </a:r>
            <a:r>
              <a:rPr b="0" i="0" dirty="0">
                <a:latin typeface="Calibri"/>
                <a:cs typeface="Calibri"/>
              </a:rPr>
              <a:t>ocorre</a:t>
            </a:r>
            <a:r>
              <a:rPr b="0" i="0" spc="-75" dirty="0">
                <a:latin typeface="Calibri"/>
                <a:cs typeface="Calibri"/>
              </a:rPr>
              <a:t> </a:t>
            </a:r>
            <a:r>
              <a:rPr b="0" i="0" spc="-10" dirty="0">
                <a:latin typeface="Calibri"/>
                <a:cs typeface="Calibri"/>
              </a:rPr>
              <a:t>quando </a:t>
            </a:r>
            <a:r>
              <a:rPr b="0" i="0" dirty="0">
                <a:latin typeface="Calibri"/>
                <a:cs typeface="Calibri"/>
              </a:rPr>
              <a:t>a</a:t>
            </a:r>
            <a:r>
              <a:rPr b="0" i="0" spc="-45" dirty="0"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6F2F9F"/>
                </a:solidFill>
              </a:rPr>
              <a:t>distribuição</a:t>
            </a:r>
            <a:r>
              <a:rPr spc="-40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das</a:t>
            </a:r>
            <a:r>
              <a:rPr spc="-50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classes</a:t>
            </a:r>
            <a:r>
              <a:rPr spc="-55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é</a:t>
            </a:r>
            <a:r>
              <a:rPr spc="-40" dirty="0">
                <a:solidFill>
                  <a:srgbClr val="6F2F9F"/>
                </a:solidFill>
              </a:rPr>
              <a:t> </a:t>
            </a:r>
            <a:r>
              <a:rPr spc="-10" dirty="0">
                <a:solidFill>
                  <a:srgbClr val="6F2F9F"/>
                </a:solidFill>
              </a:rPr>
              <a:t>desbalanceada</a:t>
            </a:r>
            <a:r>
              <a:rPr b="0" i="0" spc="-10" dirty="0">
                <a:latin typeface="Calibri"/>
                <a:cs typeface="Calibri"/>
              </a:rPr>
              <a:t>.</a:t>
            </a:r>
          </a:p>
          <a:p>
            <a:pPr marL="266700" marR="36195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66700" algn="l"/>
              </a:tabLst>
            </a:pPr>
            <a:r>
              <a:rPr b="0" i="0" dirty="0">
                <a:latin typeface="Calibri"/>
                <a:cs typeface="Calibri"/>
              </a:rPr>
              <a:t>Ou</a:t>
            </a:r>
            <a:r>
              <a:rPr b="0" i="0" spc="-7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seja,</a:t>
            </a:r>
            <a:r>
              <a:rPr b="0" i="0" spc="-65" dirty="0"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AF50"/>
                </a:solidFill>
              </a:rPr>
              <a:t>exemplos</a:t>
            </a:r>
            <a:r>
              <a:rPr spc="-5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de</a:t>
            </a:r>
            <a:r>
              <a:rPr spc="-8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uma</a:t>
            </a:r>
            <a:r>
              <a:rPr spc="-7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classe</a:t>
            </a:r>
            <a:r>
              <a:rPr spc="-8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mais</a:t>
            </a:r>
            <a:r>
              <a:rPr spc="-75" dirty="0">
                <a:solidFill>
                  <a:srgbClr val="00AF50"/>
                </a:solidFill>
              </a:rPr>
              <a:t> </a:t>
            </a:r>
            <a:r>
              <a:rPr spc="-10" dirty="0">
                <a:solidFill>
                  <a:srgbClr val="00AF50"/>
                </a:solidFill>
              </a:rPr>
              <a:t>frequente</a:t>
            </a:r>
            <a:r>
              <a:rPr spc="-6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tendem</a:t>
            </a:r>
            <a:r>
              <a:rPr spc="-65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a</a:t>
            </a:r>
            <a:r>
              <a:rPr spc="-80" dirty="0">
                <a:solidFill>
                  <a:srgbClr val="00AF50"/>
                </a:solidFill>
              </a:rPr>
              <a:t> </a:t>
            </a:r>
            <a:r>
              <a:rPr dirty="0">
                <a:solidFill>
                  <a:srgbClr val="00AF50"/>
                </a:solidFill>
              </a:rPr>
              <a:t>dominar</a:t>
            </a:r>
            <a:r>
              <a:rPr spc="-65" dirty="0">
                <a:solidFill>
                  <a:srgbClr val="00AF50"/>
                </a:solidFill>
              </a:rPr>
              <a:t> </a:t>
            </a:r>
            <a:r>
              <a:rPr spc="-50" dirty="0">
                <a:solidFill>
                  <a:srgbClr val="00AF50"/>
                </a:solidFill>
              </a:rPr>
              <a:t>a</a:t>
            </a:r>
            <a:r>
              <a:rPr i="1" spc="-50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predição</a:t>
            </a:r>
            <a:r>
              <a:rPr i="1" spc="-60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de</a:t>
            </a:r>
            <a:r>
              <a:rPr i="1" spc="-60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um</a:t>
            </a:r>
            <a:r>
              <a:rPr i="1" spc="-70" dirty="0">
                <a:solidFill>
                  <a:srgbClr val="00AF50"/>
                </a:solidFill>
              </a:rPr>
              <a:t> </a:t>
            </a:r>
            <a:r>
              <a:rPr i="1" spc="-20" dirty="0">
                <a:solidFill>
                  <a:srgbClr val="00AF50"/>
                </a:solidFill>
              </a:rPr>
              <a:t>exemplo</a:t>
            </a:r>
            <a:r>
              <a:rPr i="1" spc="-55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de</a:t>
            </a:r>
            <a:r>
              <a:rPr i="1" spc="-60" dirty="0">
                <a:solidFill>
                  <a:srgbClr val="00AF50"/>
                </a:solidFill>
              </a:rPr>
              <a:t> </a:t>
            </a:r>
            <a:r>
              <a:rPr i="1" spc="-10" dirty="0">
                <a:solidFill>
                  <a:srgbClr val="00AF50"/>
                </a:solidFill>
              </a:rPr>
              <a:t>entrada</a:t>
            </a:r>
            <a:r>
              <a:rPr b="0" i="0" spc="-10" dirty="0">
                <a:latin typeface="Calibri"/>
                <a:cs typeface="Calibri"/>
              </a:rPr>
              <a:t>,</a:t>
            </a:r>
            <a:r>
              <a:rPr b="0" i="0" spc="-6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pois</a:t>
            </a:r>
            <a:r>
              <a:rPr b="0" i="0" spc="-5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tendem</a:t>
            </a:r>
            <a:r>
              <a:rPr b="0" i="0" spc="-6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a</a:t>
            </a:r>
            <a:r>
              <a:rPr b="0" i="0" spc="-7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ser</a:t>
            </a:r>
            <a:r>
              <a:rPr b="0" i="0" spc="-7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comuns</a:t>
            </a:r>
            <a:r>
              <a:rPr b="0" i="0" spc="-5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entre</a:t>
            </a:r>
            <a:r>
              <a:rPr b="0" i="0" spc="-6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os</a:t>
            </a:r>
            <a:r>
              <a:rPr b="0" i="0" spc="-55" dirty="0">
                <a:latin typeface="Calibri"/>
                <a:cs typeface="Calibri"/>
              </a:rPr>
              <a:t> </a:t>
            </a:r>
            <a:r>
              <a:rPr b="0" spc="-50" dirty="0">
                <a:latin typeface="Calibri"/>
                <a:cs typeface="Calibri"/>
              </a:rPr>
              <a:t>k</a:t>
            </a:r>
            <a:r>
              <a:rPr b="0" i="1" spc="-5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vizinhos</a:t>
            </a:r>
            <a:r>
              <a:rPr b="0" i="0" spc="-5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mais</a:t>
            </a:r>
            <a:r>
              <a:rPr b="0" i="0" spc="-75" dirty="0">
                <a:latin typeface="Calibri"/>
                <a:cs typeface="Calibri"/>
              </a:rPr>
              <a:t> </a:t>
            </a:r>
            <a:r>
              <a:rPr b="0" i="0" spc="-10" dirty="0">
                <a:latin typeface="Calibri"/>
                <a:cs typeface="Calibri"/>
              </a:rPr>
              <a:t>próximos</a:t>
            </a:r>
            <a:r>
              <a:rPr b="0" i="0" spc="-5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devido</a:t>
            </a:r>
            <a:r>
              <a:rPr b="0" i="0" spc="-6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ao</a:t>
            </a:r>
            <a:r>
              <a:rPr b="0" i="0" spc="-7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seu</a:t>
            </a:r>
            <a:r>
              <a:rPr b="0" i="0" spc="-7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maior</a:t>
            </a:r>
            <a:r>
              <a:rPr b="0" i="0" spc="-65" dirty="0">
                <a:latin typeface="Calibri"/>
                <a:cs typeface="Calibri"/>
              </a:rPr>
              <a:t> </a:t>
            </a:r>
            <a:r>
              <a:rPr b="0" i="0" spc="-10" dirty="0">
                <a:latin typeface="Calibri"/>
                <a:cs typeface="Calibri"/>
              </a:rPr>
              <a:t>número.</a:t>
            </a:r>
          </a:p>
          <a:p>
            <a:pPr marL="266700" marR="661035" indent="-228600">
              <a:lnSpc>
                <a:spcPct val="90000"/>
              </a:lnSpc>
              <a:spcBef>
                <a:spcPts val="965"/>
              </a:spcBef>
              <a:buFont typeface="Arial"/>
              <a:buChar char="•"/>
              <a:tabLst>
                <a:tab pos="266700" algn="l"/>
              </a:tabLst>
            </a:pPr>
            <a:r>
              <a:rPr b="0" i="0" spc="-20" dirty="0">
                <a:latin typeface="Calibri"/>
                <a:cs typeface="Calibri"/>
              </a:rPr>
              <a:t>Portanto,</a:t>
            </a:r>
            <a:r>
              <a:rPr b="0" i="0" spc="-10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nestas</a:t>
            </a:r>
            <a:r>
              <a:rPr b="0" i="0" spc="-90" dirty="0">
                <a:latin typeface="Calibri"/>
                <a:cs typeface="Calibri"/>
              </a:rPr>
              <a:t> </a:t>
            </a:r>
            <a:r>
              <a:rPr b="0" i="0" spc="-10" dirty="0">
                <a:latin typeface="Calibri"/>
                <a:cs typeface="Calibri"/>
              </a:rPr>
              <a:t>circunstâncias,</a:t>
            </a:r>
            <a:r>
              <a:rPr b="0" i="0" spc="-8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uma</a:t>
            </a:r>
            <a:r>
              <a:rPr b="0" i="0" spc="-10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técnica</a:t>
            </a:r>
            <a:r>
              <a:rPr b="0" i="0" spc="-114" dirty="0">
                <a:latin typeface="Calibri"/>
                <a:cs typeface="Calibri"/>
              </a:rPr>
              <a:t> </a:t>
            </a:r>
            <a:r>
              <a:rPr b="0" i="0" spc="-10" dirty="0">
                <a:latin typeface="Calibri"/>
                <a:cs typeface="Calibri"/>
              </a:rPr>
              <a:t>bastante</a:t>
            </a:r>
            <a:r>
              <a:rPr b="0" i="0" spc="-11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utilizada</a:t>
            </a:r>
            <a:r>
              <a:rPr b="0" i="0" spc="-10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para</a:t>
            </a:r>
            <a:r>
              <a:rPr b="0" i="0" spc="-105" dirty="0">
                <a:latin typeface="Calibri"/>
                <a:cs typeface="Calibri"/>
              </a:rPr>
              <a:t> </a:t>
            </a:r>
            <a:r>
              <a:rPr b="0" i="0" spc="-25" dirty="0">
                <a:latin typeface="Calibri"/>
                <a:cs typeface="Calibri"/>
              </a:rPr>
              <a:t>se </a:t>
            </a:r>
            <a:r>
              <a:rPr b="0" i="0" dirty="0">
                <a:latin typeface="Calibri"/>
                <a:cs typeface="Calibri"/>
              </a:rPr>
              <a:t>classificar</a:t>
            </a:r>
            <a:r>
              <a:rPr b="0" i="0" spc="-8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os</a:t>
            </a:r>
            <a:r>
              <a:rPr b="0" i="0" spc="-80" dirty="0">
                <a:latin typeface="Calibri"/>
                <a:cs typeface="Calibri"/>
              </a:rPr>
              <a:t> </a:t>
            </a:r>
            <a:r>
              <a:rPr b="0" i="0" spc="-10" dirty="0">
                <a:latin typeface="Calibri"/>
                <a:cs typeface="Calibri"/>
              </a:rPr>
              <a:t>exemplos</a:t>
            </a:r>
            <a:r>
              <a:rPr b="0" i="0" spc="-8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de</a:t>
            </a:r>
            <a:r>
              <a:rPr b="0" i="0" spc="-8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entrada</a:t>
            </a:r>
            <a:r>
              <a:rPr b="0" i="0" spc="-7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é</a:t>
            </a:r>
            <a:r>
              <a:rPr b="0" i="0" spc="-145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6F2F9F"/>
                </a:solidFill>
              </a:rPr>
              <a:t>atribuir</a:t>
            </a:r>
            <a:r>
              <a:rPr spc="-85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pesos</a:t>
            </a:r>
            <a:r>
              <a:rPr spc="-100" dirty="0">
                <a:solidFill>
                  <a:srgbClr val="6F2F9F"/>
                </a:solidFill>
              </a:rPr>
              <a:t> </a:t>
            </a:r>
            <a:r>
              <a:rPr spc="-10" dirty="0">
                <a:solidFill>
                  <a:srgbClr val="6F2F9F"/>
                </a:solidFill>
              </a:rPr>
              <a:t>diferentes</a:t>
            </a:r>
            <a:r>
              <a:rPr spc="-75" dirty="0">
                <a:solidFill>
                  <a:srgbClr val="6F2F9F"/>
                </a:solidFill>
              </a:rPr>
              <a:t> </a:t>
            </a:r>
            <a:r>
              <a:rPr spc="-50" dirty="0">
                <a:solidFill>
                  <a:srgbClr val="6F2F9F"/>
                </a:solidFill>
              </a:rPr>
              <a:t>à</a:t>
            </a:r>
            <a:r>
              <a:rPr i="1" spc="-50" dirty="0">
                <a:solidFill>
                  <a:srgbClr val="6F2F9F"/>
                </a:solidFill>
              </a:rPr>
              <a:t> </a:t>
            </a:r>
            <a:r>
              <a:rPr i="1" spc="-10" dirty="0">
                <a:solidFill>
                  <a:srgbClr val="6F2F9F"/>
                </a:solidFill>
              </a:rPr>
              <a:t>contribuição</a:t>
            </a:r>
            <a:r>
              <a:rPr i="1" spc="-70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de</a:t>
            </a:r>
            <a:r>
              <a:rPr i="1" spc="-60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cada</a:t>
            </a:r>
            <a:r>
              <a:rPr i="1" spc="-65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vizinho</a:t>
            </a:r>
            <a:r>
              <a:rPr i="1" spc="-70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à</a:t>
            </a:r>
            <a:r>
              <a:rPr i="1" spc="-70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decisão</a:t>
            </a:r>
            <a:r>
              <a:rPr i="1" spc="-55" dirty="0">
                <a:solidFill>
                  <a:srgbClr val="6F2F9F"/>
                </a:solidFill>
              </a:rPr>
              <a:t> </a:t>
            </a:r>
            <a:r>
              <a:rPr i="1" dirty="0">
                <a:solidFill>
                  <a:srgbClr val="6F2F9F"/>
                </a:solidFill>
              </a:rPr>
              <a:t>final</a:t>
            </a:r>
            <a:r>
              <a:rPr i="1" spc="-145" dirty="0">
                <a:solidFill>
                  <a:srgbClr val="6F2F9F"/>
                </a:solidFill>
              </a:rPr>
              <a:t> </a:t>
            </a:r>
            <a:r>
              <a:rPr b="0" i="0" dirty="0">
                <a:latin typeface="Calibri"/>
                <a:cs typeface="Calibri"/>
              </a:rPr>
              <a:t>de</a:t>
            </a:r>
            <a:r>
              <a:rPr b="0" i="0" spc="-6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tal</a:t>
            </a:r>
            <a:r>
              <a:rPr b="0" i="0" spc="-7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forma</a:t>
            </a:r>
            <a:r>
              <a:rPr b="0" i="0" spc="-7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que</a:t>
            </a:r>
            <a:r>
              <a:rPr b="0" i="0" spc="-60" dirty="0"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EC7C30"/>
                </a:solidFill>
              </a:rPr>
              <a:t>vizinhos</a:t>
            </a:r>
            <a:r>
              <a:rPr i="1" spc="-10" dirty="0">
                <a:solidFill>
                  <a:srgbClr val="EC7C30"/>
                </a:solidFill>
              </a:rPr>
              <a:t> </a:t>
            </a:r>
            <a:r>
              <a:rPr i="1" dirty="0">
                <a:solidFill>
                  <a:srgbClr val="EC7C30"/>
                </a:solidFill>
              </a:rPr>
              <a:t>mais</a:t>
            </a:r>
            <a:r>
              <a:rPr i="1" spc="-70" dirty="0">
                <a:solidFill>
                  <a:srgbClr val="EC7C30"/>
                </a:solidFill>
              </a:rPr>
              <a:t> </a:t>
            </a:r>
            <a:r>
              <a:rPr i="1" dirty="0">
                <a:solidFill>
                  <a:srgbClr val="EC7C30"/>
                </a:solidFill>
              </a:rPr>
              <a:t>próximos</a:t>
            </a:r>
            <a:r>
              <a:rPr i="1" spc="-50" dirty="0">
                <a:solidFill>
                  <a:srgbClr val="EC7C30"/>
                </a:solidFill>
              </a:rPr>
              <a:t> </a:t>
            </a:r>
            <a:r>
              <a:rPr i="1" spc="-10" dirty="0">
                <a:solidFill>
                  <a:srgbClr val="EC7C30"/>
                </a:solidFill>
              </a:rPr>
              <a:t>contribuam</a:t>
            </a:r>
            <a:r>
              <a:rPr i="1" spc="-80" dirty="0">
                <a:solidFill>
                  <a:srgbClr val="EC7C30"/>
                </a:solidFill>
              </a:rPr>
              <a:t> </a:t>
            </a:r>
            <a:r>
              <a:rPr i="1" dirty="0">
                <a:solidFill>
                  <a:srgbClr val="EC7C30"/>
                </a:solidFill>
              </a:rPr>
              <a:t>mais</a:t>
            </a:r>
            <a:r>
              <a:rPr i="1" spc="-110" dirty="0">
                <a:solidFill>
                  <a:srgbClr val="EC7C3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do</a:t>
            </a:r>
            <a:r>
              <a:rPr i="1" spc="-75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que</a:t>
            </a:r>
            <a:r>
              <a:rPr i="1" spc="-80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vizinhos</a:t>
            </a:r>
            <a:r>
              <a:rPr i="1" spc="-80" dirty="0">
                <a:solidFill>
                  <a:srgbClr val="00AF50"/>
                </a:solidFill>
              </a:rPr>
              <a:t> </a:t>
            </a:r>
            <a:r>
              <a:rPr i="1" dirty="0">
                <a:solidFill>
                  <a:srgbClr val="00AF50"/>
                </a:solidFill>
              </a:rPr>
              <a:t>mais</a:t>
            </a:r>
            <a:r>
              <a:rPr i="1" spc="-55" dirty="0">
                <a:solidFill>
                  <a:srgbClr val="00AF50"/>
                </a:solidFill>
              </a:rPr>
              <a:t> </a:t>
            </a:r>
            <a:r>
              <a:rPr i="1" spc="-10" dirty="0">
                <a:solidFill>
                  <a:srgbClr val="00AF50"/>
                </a:solidFill>
              </a:rPr>
              <a:t>distantes</a:t>
            </a:r>
            <a:r>
              <a:rPr b="0" i="0" spc="-10" dirty="0">
                <a:latin typeface="Calibri"/>
                <a:cs typeface="Calibri"/>
              </a:rPr>
              <a:t>.</a:t>
            </a:r>
          </a:p>
          <a:p>
            <a:pPr marL="266700" marR="914400" indent="-228600">
              <a:lnSpc>
                <a:spcPts val="3040"/>
              </a:lnSpc>
              <a:spcBef>
                <a:spcPts val="1025"/>
              </a:spcBef>
              <a:buFont typeface="Arial"/>
              <a:buChar char="•"/>
              <a:tabLst>
                <a:tab pos="266700" algn="l"/>
              </a:tabLst>
            </a:pPr>
            <a:r>
              <a:rPr b="0" i="0" dirty="0">
                <a:latin typeface="Calibri"/>
                <a:cs typeface="Calibri"/>
              </a:rPr>
              <a:t>Uma</a:t>
            </a:r>
            <a:r>
              <a:rPr b="0" i="0" spc="-6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forma</a:t>
            </a:r>
            <a:r>
              <a:rPr b="0" i="0" spc="-7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usual</a:t>
            </a:r>
            <a:r>
              <a:rPr b="0" i="0" spc="-5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é</a:t>
            </a:r>
            <a:r>
              <a:rPr b="0" i="0" spc="-7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definir</a:t>
            </a:r>
            <a:r>
              <a:rPr b="0" i="0" spc="-50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os</a:t>
            </a:r>
            <a:r>
              <a:rPr b="0" i="0" spc="-95" dirty="0">
                <a:latin typeface="Calibri"/>
                <a:cs typeface="Calibri"/>
              </a:rPr>
              <a:t> </a:t>
            </a:r>
            <a:r>
              <a:rPr dirty="0"/>
              <a:t>pesos</a:t>
            </a:r>
            <a:r>
              <a:rPr spc="-75" dirty="0"/>
              <a:t> </a:t>
            </a:r>
            <a:r>
              <a:rPr b="0" i="0" dirty="0">
                <a:latin typeface="Calibri"/>
                <a:cs typeface="Calibri"/>
              </a:rPr>
              <a:t>como</a:t>
            </a:r>
            <a:r>
              <a:rPr b="0" i="0" spc="-75" dirty="0">
                <a:latin typeface="Calibri"/>
                <a:cs typeface="Calibri"/>
              </a:rPr>
              <a:t> </a:t>
            </a:r>
            <a:r>
              <a:rPr b="0" i="0" dirty="0">
                <a:latin typeface="Calibri"/>
                <a:cs typeface="Calibri"/>
              </a:rPr>
              <a:t>sendo</a:t>
            </a:r>
            <a:r>
              <a:rPr b="0" i="0" spc="-50" dirty="0"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4471C4"/>
                </a:solidFill>
              </a:rPr>
              <a:t>inversamente</a:t>
            </a:r>
            <a:r>
              <a:rPr i="1" spc="-10" dirty="0">
                <a:solidFill>
                  <a:srgbClr val="4471C4"/>
                </a:solidFill>
              </a:rPr>
              <a:t> proporcionais</a:t>
            </a:r>
            <a:r>
              <a:rPr i="1" spc="-75" dirty="0">
                <a:solidFill>
                  <a:srgbClr val="4471C4"/>
                </a:solidFill>
              </a:rPr>
              <a:t> </a:t>
            </a:r>
            <a:r>
              <a:rPr i="1" dirty="0">
                <a:solidFill>
                  <a:srgbClr val="4471C4"/>
                </a:solidFill>
              </a:rPr>
              <a:t>às</a:t>
            </a:r>
            <a:r>
              <a:rPr i="1" spc="-65" dirty="0">
                <a:solidFill>
                  <a:srgbClr val="4471C4"/>
                </a:solidFill>
              </a:rPr>
              <a:t> </a:t>
            </a:r>
            <a:r>
              <a:rPr i="1" spc="-10" dirty="0">
                <a:solidFill>
                  <a:srgbClr val="4471C4"/>
                </a:solidFill>
              </a:rPr>
              <a:t>distâncias</a:t>
            </a:r>
            <a:r>
              <a:rPr i="1" spc="-105" dirty="0">
                <a:solidFill>
                  <a:srgbClr val="4471C4"/>
                </a:solidFill>
              </a:rPr>
              <a:t> </a:t>
            </a:r>
            <a:r>
              <a:rPr i="1" dirty="0">
                <a:solidFill>
                  <a:srgbClr val="00AFEF"/>
                </a:solidFill>
              </a:rPr>
              <a:t>dos</a:t>
            </a:r>
            <a:r>
              <a:rPr i="1" spc="-70" dirty="0">
                <a:solidFill>
                  <a:srgbClr val="00AFEF"/>
                </a:solidFill>
              </a:rPr>
              <a:t> </a:t>
            </a:r>
            <a:r>
              <a:rPr i="1" dirty="0">
                <a:solidFill>
                  <a:srgbClr val="00AFEF"/>
                </a:solidFill>
              </a:rPr>
              <a:t>vizinhos</a:t>
            </a:r>
            <a:r>
              <a:rPr i="1" spc="-70" dirty="0">
                <a:solidFill>
                  <a:srgbClr val="00AFEF"/>
                </a:solidFill>
              </a:rPr>
              <a:t> </a:t>
            </a:r>
            <a:r>
              <a:rPr i="1" dirty="0">
                <a:solidFill>
                  <a:srgbClr val="00AFEF"/>
                </a:solidFill>
              </a:rPr>
              <a:t>ao</a:t>
            </a:r>
            <a:r>
              <a:rPr i="1" spc="-65" dirty="0">
                <a:solidFill>
                  <a:srgbClr val="00AFEF"/>
                </a:solidFill>
              </a:rPr>
              <a:t> </a:t>
            </a:r>
            <a:r>
              <a:rPr i="1" spc="-20" dirty="0">
                <a:solidFill>
                  <a:srgbClr val="00AFEF"/>
                </a:solidFill>
              </a:rPr>
              <a:t>exemplo</a:t>
            </a:r>
            <a:r>
              <a:rPr i="1" spc="-50" dirty="0">
                <a:solidFill>
                  <a:srgbClr val="00AFEF"/>
                </a:solidFill>
              </a:rPr>
              <a:t> </a:t>
            </a:r>
            <a:r>
              <a:rPr i="1" dirty="0">
                <a:solidFill>
                  <a:srgbClr val="00AFEF"/>
                </a:solidFill>
              </a:rPr>
              <a:t>de</a:t>
            </a:r>
            <a:r>
              <a:rPr i="1" spc="-65" dirty="0">
                <a:solidFill>
                  <a:srgbClr val="00AFEF"/>
                </a:solidFill>
              </a:rPr>
              <a:t> </a:t>
            </a:r>
            <a:r>
              <a:rPr i="1" dirty="0">
                <a:solidFill>
                  <a:srgbClr val="00AFEF"/>
                </a:solidFill>
              </a:rPr>
              <a:t>entrada</a:t>
            </a:r>
            <a:r>
              <a:rPr b="0" i="0" dirty="0">
                <a:latin typeface="Calibri"/>
                <a:cs typeface="Calibri"/>
              </a:rPr>
              <a:t>,</a:t>
            </a:r>
            <a:r>
              <a:rPr b="0" i="0" spc="-60" dirty="0">
                <a:latin typeface="Calibri"/>
                <a:cs typeface="Calibri"/>
              </a:rPr>
              <a:t> </a:t>
            </a:r>
            <a:r>
              <a:rPr b="0" i="0" spc="65" dirty="0">
                <a:latin typeface="Cambria Math"/>
                <a:cs typeface="Cambria Math"/>
              </a:rPr>
              <a:t>𝒙</a:t>
            </a:r>
            <a:r>
              <a:rPr sz="3075" b="0" i="0" spc="97" baseline="27100" dirty="0">
                <a:latin typeface="Cambria Math"/>
                <a:cs typeface="Cambria Math"/>
              </a:rPr>
              <a:t>′</a:t>
            </a:r>
            <a:r>
              <a:rPr sz="2800" b="0" i="0" spc="6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1492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Exemplo:</a:t>
            </a:r>
            <a:r>
              <a:rPr spc="-55" dirty="0"/>
              <a:t> </a:t>
            </a:r>
            <a:r>
              <a:rPr dirty="0"/>
              <a:t>Classificação</a:t>
            </a:r>
            <a:r>
              <a:rPr spc="-50" dirty="0"/>
              <a:t> </a:t>
            </a:r>
            <a:r>
              <a:rPr spc="-10" dirty="0"/>
              <a:t>k-</a:t>
            </a:r>
            <a:r>
              <a:rPr dirty="0"/>
              <a:t>NN</a:t>
            </a:r>
            <a:r>
              <a:rPr spc="-60" dirty="0"/>
              <a:t> </a:t>
            </a:r>
            <a:r>
              <a:rPr dirty="0"/>
              <a:t>com</a:t>
            </a:r>
            <a:r>
              <a:rPr spc="-50" dirty="0"/>
              <a:t> </a:t>
            </a:r>
            <a:r>
              <a:rPr spc="-10" dirty="0"/>
              <a:t>SciKit-Learn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39036"/>
            <a:ext cx="1956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# Import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all necessary 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libraries.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621612"/>
            <a:ext cx="323659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2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numpy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as</a:t>
            </a:r>
            <a:r>
              <a:rPr sz="12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np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2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matplotlib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dirty="0">
                <a:latin typeface="Calibri"/>
                <a:cs typeface="Calibri"/>
              </a:rPr>
              <a:t>pyplot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as </a:t>
            </a:r>
            <a:r>
              <a:rPr sz="1200" spc="-25" dirty="0">
                <a:latin typeface="Calibri"/>
                <a:cs typeface="Calibri"/>
              </a:rPr>
              <a:t>plt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200" b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matplotlib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spc="-10" dirty="0">
                <a:latin typeface="Calibri"/>
                <a:cs typeface="Calibri"/>
              </a:rPr>
              <a:t>colors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200" b="1" spc="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ListedColormap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2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sklearn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dirty="0">
                <a:latin typeface="Calibri"/>
                <a:cs typeface="Calibri"/>
              </a:rPr>
              <a:t>neighbors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2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KNeighborsClassifier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2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sklearn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dirty="0">
                <a:latin typeface="Calibri"/>
                <a:cs typeface="Calibri"/>
              </a:rPr>
              <a:t>datasets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2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make_blobs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719578"/>
            <a:ext cx="26720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2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Number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of 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examples.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100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centers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[[-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2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],</a:t>
            </a:r>
            <a:r>
              <a:rPr sz="12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[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2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200" b="1" spc="-25" dirty="0">
                <a:solidFill>
                  <a:srgbClr val="000080"/>
                </a:solidFill>
                <a:latin typeface="Calibri"/>
                <a:cs typeface="Calibri"/>
              </a:rPr>
              <a:t>]]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2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Create</a:t>
            </a:r>
            <a:r>
              <a:rPr sz="12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2-class</a:t>
            </a:r>
            <a:r>
              <a:rPr sz="12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dataset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for</a:t>
            </a:r>
            <a:r>
              <a:rPr sz="12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classification.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3451352"/>
            <a:ext cx="4297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x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2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make_blobs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200" dirty="0">
                <a:latin typeface="Calibri"/>
                <a:cs typeface="Calibri"/>
              </a:rPr>
              <a:t>n_samples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dirty="0">
                <a:latin typeface="Calibri"/>
                <a:cs typeface="Calibri"/>
              </a:rPr>
              <a:t>N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, </a:t>
            </a:r>
            <a:r>
              <a:rPr sz="1200" spc="-10" dirty="0">
                <a:latin typeface="Calibri"/>
                <a:cs typeface="Calibri"/>
              </a:rPr>
              <a:t>centers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spc="-10" dirty="0">
                <a:latin typeface="Calibri"/>
                <a:cs typeface="Calibri"/>
              </a:rPr>
              <a:t>centers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200" b="1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random_state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42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3817111"/>
            <a:ext cx="3798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Create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an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instance</a:t>
            </a:r>
            <a:r>
              <a:rPr sz="12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of Neighbours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Classifier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12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fit</a:t>
            </a:r>
            <a:r>
              <a:rPr sz="12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data. </a:t>
            </a:r>
            <a:r>
              <a:rPr sz="1200" dirty="0">
                <a:latin typeface="Calibri"/>
                <a:cs typeface="Calibri"/>
              </a:rPr>
              <a:t>clf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KNeighborsClassifier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200" dirty="0">
                <a:latin typeface="Calibri"/>
                <a:cs typeface="Calibri"/>
              </a:rPr>
              <a:t>k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200" b="1" spc="-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weights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spc="-10" dirty="0">
                <a:solidFill>
                  <a:srgbClr val="808080"/>
                </a:solidFill>
                <a:latin typeface="Calibri"/>
                <a:cs typeface="Calibri"/>
              </a:rPr>
              <a:t>'distance'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4182567"/>
            <a:ext cx="12757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2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08000"/>
                </a:solidFill>
                <a:latin typeface="Calibri"/>
                <a:cs typeface="Calibri"/>
              </a:rPr>
              <a:t>Train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2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classifier.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4366005"/>
            <a:ext cx="81406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954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clf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dirty="0">
                <a:latin typeface="Calibri"/>
                <a:cs typeface="Calibri"/>
              </a:rPr>
              <a:t>fit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200" dirty="0">
                <a:latin typeface="Calibri"/>
                <a:cs typeface="Calibri"/>
              </a:rPr>
              <a:t>x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y</a:t>
            </a:r>
            <a:r>
              <a:rPr sz="1200" b="1" spc="-25" dirty="0">
                <a:solidFill>
                  <a:srgbClr val="000080"/>
                </a:solidFill>
                <a:latin typeface="Calibri"/>
                <a:cs typeface="Calibri"/>
              </a:rPr>
              <a:t>)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2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Predict.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clf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spc="-10" dirty="0">
                <a:latin typeface="Calibri"/>
                <a:cs typeface="Calibri"/>
              </a:rPr>
              <a:t>predict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200" spc="-10" dirty="0">
                <a:latin typeface="Calibri"/>
                <a:cs typeface="Calibri"/>
              </a:rPr>
              <a:t>x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4608" y="1386734"/>
            <a:ext cx="2609924" cy="25268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6784" y="4123167"/>
            <a:ext cx="5620183" cy="220581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03014" y="4316348"/>
            <a:ext cx="1539240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Peso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vizinho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é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o</a:t>
            </a:r>
            <a:r>
              <a:rPr sz="1100" dirty="0">
                <a:latin typeface="Calibri"/>
                <a:cs typeface="Calibri"/>
              </a:rPr>
              <a:t> inverso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distância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o</a:t>
            </a:r>
            <a:r>
              <a:rPr sz="1100" dirty="0">
                <a:latin typeface="Calibri"/>
                <a:cs typeface="Calibri"/>
              </a:rPr>
              <a:t> exemplo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10" dirty="0">
                <a:latin typeface="Calibri"/>
                <a:cs typeface="Calibri"/>
              </a:rPr>
              <a:t> entrada.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72078" y="4210177"/>
            <a:ext cx="509905" cy="277495"/>
          </a:xfrm>
          <a:custGeom>
            <a:avLst/>
            <a:gdLst/>
            <a:ahLst/>
            <a:cxnLst/>
            <a:rect l="l" t="t" r="r" b="b"/>
            <a:pathLst>
              <a:path w="509904" h="277495">
                <a:moveTo>
                  <a:pt x="68540" y="33453"/>
                </a:moveTo>
                <a:lnTo>
                  <a:pt x="65509" y="39050"/>
                </a:lnTo>
                <a:lnTo>
                  <a:pt x="506475" y="277495"/>
                </a:lnTo>
                <a:lnTo>
                  <a:pt x="509524" y="271906"/>
                </a:lnTo>
                <a:lnTo>
                  <a:pt x="68540" y="33453"/>
                </a:lnTo>
                <a:close/>
              </a:path>
              <a:path w="509904" h="277495">
                <a:moveTo>
                  <a:pt x="0" y="0"/>
                </a:moveTo>
                <a:lnTo>
                  <a:pt x="48895" y="69723"/>
                </a:lnTo>
                <a:lnTo>
                  <a:pt x="65509" y="39050"/>
                </a:lnTo>
                <a:lnTo>
                  <a:pt x="54356" y="33020"/>
                </a:lnTo>
                <a:lnTo>
                  <a:pt x="57404" y="27431"/>
                </a:lnTo>
                <a:lnTo>
                  <a:pt x="71802" y="27431"/>
                </a:lnTo>
                <a:lnTo>
                  <a:pt x="85217" y="2667"/>
                </a:lnTo>
                <a:lnTo>
                  <a:pt x="0" y="0"/>
                </a:lnTo>
                <a:close/>
              </a:path>
              <a:path w="509904" h="277495">
                <a:moveTo>
                  <a:pt x="57404" y="27431"/>
                </a:moveTo>
                <a:lnTo>
                  <a:pt x="54356" y="33020"/>
                </a:lnTo>
                <a:lnTo>
                  <a:pt x="65509" y="39050"/>
                </a:lnTo>
                <a:lnTo>
                  <a:pt x="68540" y="33453"/>
                </a:lnTo>
                <a:lnTo>
                  <a:pt x="57404" y="27431"/>
                </a:lnTo>
                <a:close/>
              </a:path>
              <a:path w="509904" h="277495">
                <a:moveTo>
                  <a:pt x="71802" y="27431"/>
                </a:moveTo>
                <a:lnTo>
                  <a:pt x="57404" y="27431"/>
                </a:lnTo>
                <a:lnTo>
                  <a:pt x="68540" y="33453"/>
                </a:lnTo>
                <a:lnTo>
                  <a:pt x="71802" y="274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349622" y="1687830"/>
            <a:ext cx="125158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Importa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classe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KNeighborsClassifier</a:t>
            </a:r>
            <a:r>
              <a:rPr sz="1100" spc="9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984116" y="1812035"/>
            <a:ext cx="346710" cy="379730"/>
          </a:xfrm>
          <a:custGeom>
            <a:avLst/>
            <a:gdLst/>
            <a:ahLst/>
            <a:cxnLst/>
            <a:rect l="l" t="t" r="r" b="b"/>
            <a:pathLst>
              <a:path w="346710" h="379730">
                <a:moveTo>
                  <a:pt x="23241" y="297179"/>
                </a:moveTo>
                <a:lnTo>
                  <a:pt x="0" y="379222"/>
                </a:lnTo>
                <a:lnTo>
                  <a:pt x="79502" y="348614"/>
                </a:lnTo>
                <a:lnTo>
                  <a:pt x="63943" y="334390"/>
                </a:lnTo>
                <a:lnTo>
                  <a:pt x="45212" y="334390"/>
                </a:lnTo>
                <a:lnTo>
                  <a:pt x="40512" y="330073"/>
                </a:lnTo>
                <a:lnTo>
                  <a:pt x="49024" y="320751"/>
                </a:lnTo>
                <a:lnTo>
                  <a:pt x="23241" y="297179"/>
                </a:lnTo>
                <a:close/>
              </a:path>
              <a:path w="346710" h="379730">
                <a:moveTo>
                  <a:pt x="49024" y="320751"/>
                </a:moveTo>
                <a:lnTo>
                  <a:pt x="40512" y="330073"/>
                </a:lnTo>
                <a:lnTo>
                  <a:pt x="45212" y="334390"/>
                </a:lnTo>
                <a:lnTo>
                  <a:pt x="53734" y="325057"/>
                </a:lnTo>
                <a:lnTo>
                  <a:pt x="49024" y="320751"/>
                </a:lnTo>
                <a:close/>
              </a:path>
              <a:path w="346710" h="379730">
                <a:moveTo>
                  <a:pt x="53734" y="325057"/>
                </a:moveTo>
                <a:lnTo>
                  <a:pt x="45212" y="334390"/>
                </a:lnTo>
                <a:lnTo>
                  <a:pt x="63943" y="334390"/>
                </a:lnTo>
                <a:lnTo>
                  <a:pt x="53734" y="325057"/>
                </a:lnTo>
                <a:close/>
              </a:path>
              <a:path w="346710" h="379730">
                <a:moveTo>
                  <a:pt x="341884" y="0"/>
                </a:moveTo>
                <a:lnTo>
                  <a:pt x="49024" y="320751"/>
                </a:lnTo>
                <a:lnTo>
                  <a:pt x="53734" y="325057"/>
                </a:lnTo>
                <a:lnTo>
                  <a:pt x="346583" y="4317"/>
                </a:lnTo>
                <a:lnTo>
                  <a:pt x="3418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303014" y="2818892"/>
            <a:ext cx="151638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Cria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duas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classes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dados </a:t>
            </a:r>
            <a:r>
              <a:rPr sz="1100" dirty="0">
                <a:latin typeface="Calibri"/>
                <a:cs typeface="Calibri"/>
              </a:rPr>
              <a:t>que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 </a:t>
            </a:r>
            <a:r>
              <a:rPr sz="1100" spc="-10" dirty="0">
                <a:latin typeface="Calibri"/>
                <a:cs typeface="Calibri"/>
              </a:rPr>
              <a:t>sobrepõem.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72078" y="3023361"/>
            <a:ext cx="553720" cy="412115"/>
          </a:xfrm>
          <a:custGeom>
            <a:avLst/>
            <a:gdLst/>
            <a:ahLst/>
            <a:cxnLst/>
            <a:rect l="l" t="t" r="r" b="b"/>
            <a:pathLst>
              <a:path w="553720" h="412114">
                <a:moveTo>
                  <a:pt x="38481" y="336041"/>
                </a:moveTo>
                <a:lnTo>
                  <a:pt x="0" y="412114"/>
                </a:lnTo>
                <a:lnTo>
                  <a:pt x="83947" y="397255"/>
                </a:lnTo>
                <a:lnTo>
                  <a:pt x="68760" y="376809"/>
                </a:lnTo>
                <a:lnTo>
                  <a:pt x="52959" y="376809"/>
                </a:lnTo>
                <a:lnTo>
                  <a:pt x="49149" y="371601"/>
                </a:lnTo>
                <a:lnTo>
                  <a:pt x="59296" y="364067"/>
                </a:lnTo>
                <a:lnTo>
                  <a:pt x="38481" y="336041"/>
                </a:lnTo>
                <a:close/>
              </a:path>
              <a:path w="553720" h="412114">
                <a:moveTo>
                  <a:pt x="59296" y="364067"/>
                </a:moveTo>
                <a:lnTo>
                  <a:pt x="49149" y="371601"/>
                </a:lnTo>
                <a:lnTo>
                  <a:pt x="52959" y="376809"/>
                </a:lnTo>
                <a:lnTo>
                  <a:pt x="63142" y="369245"/>
                </a:lnTo>
                <a:lnTo>
                  <a:pt x="59296" y="364067"/>
                </a:lnTo>
                <a:close/>
              </a:path>
              <a:path w="553720" h="412114">
                <a:moveTo>
                  <a:pt x="63142" y="369245"/>
                </a:moveTo>
                <a:lnTo>
                  <a:pt x="52959" y="376809"/>
                </a:lnTo>
                <a:lnTo>
                  <a:pt x="68760" y="376809"/>
                </a:lnTo>
                <a:lnTo>
                  <a:pt x="63142" y="369245"/>
                </a:lnTo>
                <a:close/>
              </a:path>
              <a:path w="553720" h="412114">
                <a:moveTo>
                  <a:pt x="549656" y="0"/>
                </a:moveTo>
                <a:lnTo>
                  <a:pt x="59296" y="364067"/>
                </a:lnTo>
                <a:lnTo>
                  <a:pt x="63142" y="369245"/>
                </a:lnTo>
                <a:lnTo>
                  <a:pt x="553466" y="5079"/>
                </a:lnTo>
                <a:lnTo>
                  <a:pt x="5496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334005" y="4473955"/>
            <a:ext cx="131000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Armazena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conjunto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de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dados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memória.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53083" y="4462526"/>
            <a:ext cx="654050" cy="156210"/>
          </a:xfrm>
          <a:custGeom>
            <a:avLst/>
            <a:gdLst/>
            <a:ahLst/>
            <a:cxnLst/>
            <a:rect l="l" t="t" r="r" b="b"/>
            <a:pathLst>
              <a:path w="654050" h="156210">
                <a:moveTo>
                  <a:pt x="75298" y="34235"/>
                </a:moveTo>
                <a:lnTo>
                  <a:pt x="74049" y="40462"/>
                </a:lnTo>
                <a:lnTo>
                  <a:pt x="652525" y="156082"/>
                </a:lnTo>
                <a:lnTo>
                  <a:pt x="653668" y="149860"/>
                </a:lnTo>
                <a:lnTo>
                  <a:pt x="75298" y="34235"/>
                </a:lnTo>
                <a:close/>
              </a:path>
              <a:path w="654050" h="156210">
                <a:moveTo>
                  <a:pt x="82168" y="0"/>
                </a:moveTo>
                <a:lnTo>
                  <a:pt x="0" y="22351"/>
                </a:lnTo>
                <a:lnTo>
                  <a:pt x="67182" y="74675"/>
                </a:lnTo>
                <a:lnTo>
                  <a:pt x="74049" y="40462"/>
                </a:lnTo>
                <a:lnTo>
                  <a:pt x="61594" y="37973"/>
                </a:lnTo>
                <a:lnTo>
                  <a:pt x="62864" y="31750"/>
                </a:lnTo>
                <a:lnTo>
                  <a:pt x="75797" y="31750"/>
                </a:lnTo>
                <a:lnTo>
                  <a:pt x="82168" y="0"/>
                </a:lnTo>
                <a:close/>
              </a:path>
              <a:path w="654050" h="156210">
                <a:moveTo>
                  <a:pt x="62864" y="31750"/>
                </a:moveTo>
                <a:lnTo>
                  <a:pt x="61594" y="37973"/>
                </a:lnTo>
                <a:lnTo>
                  <a:pt x="74049" y="40462"/>
                </a:lnTo>
                <a:lnTo>
                  <a:pt x="75298" y="34235"/>
                </a:lnTo>
                <a:lnTo>
                  <a:pt x="62864" y="31750"/>
                </a:lnTo>
                <a:close/>
              </a:path>
              <a:path w="654050" h="156210">
                <a:moveTo>
                  <a:pt x="75797" y="31750"/>
                </a:moveTo>
                <a:lnTo>
                  <a:pt x="62864" y="31750"/>
                </a:lnTo>
                <a:lnTo>
                  <a:pt x="75298" y="34235"/>
                </a:lnTo>
                <a:lnTo>
                  <a:pt x="75797" y="317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4682" y="4949444"/>
            <a:ext cx="226822" cy="17208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06425" y="5019243"/>
            <a:ext cx="5413375" cy="1617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64335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Realiza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predição.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 dirty="0">
              <a:latin typeface="Calibri"/>
              <a:cs typeface="Calibri"/>
            </a:endParaRPr>
          </a:p>
          <a:p>
            <a:pPr marL="12700" marR="46228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figura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mostra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fronteira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decisão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criada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pelo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k-</a:t>
            </a:r>
            <a:r>
              <a:rPr sz="1600" dirty="0">
                <a:latin typeface="Calibri"/>
                <a:cs typeface="Calibri"/>
              </a:rPr>
              <a:t>NN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para </a:t>
            </a:r>
            <a:r>
              <a:rPr sz="1600" spc="-10" dirty="0">
                <a:latin typeface="Calibri"/>
                <a:cs typeface="Calibri"/>
              </a:rPr>
              <a:t>diferentes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valores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𝑘</a:t>
            </a:r>
            <a:r>
              <a:rPr sz="1600" spc="-25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Como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podemos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ver, </a:t>
            </a:r>
            <a:r>
              <a:rPr sz="1600" dirty="0">
                <a:latin typeface="Calibri"/>
                <a:cs typeface="Calibri"/>
              </a:rPr>
              <a:t>à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medida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𝑘</a:t>
            </a:r>
            <a:r>
              <a:rPr sz="1600" spc="-5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libri"/>
                <a:cs typeface="Calibri"/>
              </a:rPr>
              <a:t>aumenta,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fronteira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tende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 </a:t>
            </a:r>
            <a:r>
              <a:rPr sz="1600" dirty="0">
                <a:latin typeface="Calibri"/>
                <a:cs typeface="Calibri"/>
              </a:rPr>
              <a:t>ficar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mais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suave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menos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regiões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isoladas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são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criadas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cada </a:t>
            </a:r>
            <a:r>
              <a:rPr sz="1600" spc="-10" dirty="0">
                <a:latin typeface="Calibri"/>
                <a:cs typeface="Calibri"/>
              </a:rPr>
              <a:t>classe.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51950" y="6580733"/>
            <a:ext cx="283527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5"/>
              </a:rPr>
              <a:t>Exemplo:</a:t>
            </a:r>
            <a:r>
              <a:rPr sz="1200" b="1" u="sng" spc="-45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200" b="1" u="sng" spc="-10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5"/>
              </a:rPr>
              <a:t>knn_classification_2_classes.ipynb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84697" y="3448938"/>
            <a:ext cx="1200785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Número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 </a:t>
            </a:r>
            <a:r>
              <a:rPr sz="1100" spc="-10" dirty="0">
                <a:latin typeface="Calibri"/>
                <a:cs typeface="Calibri"/>
              </a:rPr>
              <a:t>vizinhos </a:t>
            </a:r>
            <a:r>
              <a:rPr sz="1100" dirty="0">
                <a:latin typeface="Calibri"/>
                <a:cs typeface="Calibri"/>
              </a:rPr>
              <a:t>mais </a:t>
            </a:r>
            <a:r>
              <a:rPr sz="1100" spc="-10" dirty="0">
                <a:latin typeface="Calibri"/>
                <a:cs typeface="Calibri"/>
              </a:rPr>
              <a:t>próximos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a</a:t>
            </a:r>
            <a:r>
              <a:rPr sz="1100" dirty="0">
                <a:latin typeface="Calibri"/>
                <a:cs typeface="Calibri"/>
              </a:rPr>
              <a:t> serem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considerados.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664332" y="3720972"/>
            <a:ext cx="2841625" cy="333375"/>
          </a:xfrm>
          <a:custGeom>
            <a:avLst/>
            <a:gdLst/>
            <a:ahLst/>
            <a:cxnLst/>
            <a:rect l="l" t="t" r="r" b="b"/>
            <a:pathLst>
              <a:path w="2841625" h="333375">
                <a:moveTo>
                  <a:pt x="71755" y="257428"/>
                </a:moveTo>
                <a:lnTo>
                  <a:pt x="0" y="303275"/>
                </a:lnTo>
                <a:lnTo>
                  <a:pt x="79883" y="333120"/>
                </a:lnTo>
                <a:lnTo>
                  <a:pt x="76296" y="299719"/>
                </a:lnTo>
                <a:lnTo>
                  <a:pt x="63500" y="299719"/>
                </a:lnTo>
                <a:lnTo>
                  <a:pt x="62865" y="293496"/>
                </a:lnTo>
                <a:lnTo>
                  <a:pt x="75484" y="292163"/>
                </a:lnTo>
                <a:lnTo>
                  <a:pt x="71755" y="257428"/>
                </a:lnTo>
                <a:close/>
              </a:path>
              <a:path w="2841625" h="333375">
                <a:moveTo>
                  <a:pt x="75484" y="292163"/>
                </a:moveTo>
                <a:lnTo>
                  <a:pt x="62865" y="293496"/>
                </a:lnTo>
                <a:lnTo>
                  <a:pt x="63500" y="299719"/>
                </a:lnTo>
                <a:lnTo>
                  <a:pt x="76152" y="298383"/>
                </a:lnTo>
                <a:lnTo>
                  <a:pt x="75484" y="292163"/>
                </a:lnTo>
                <a:close/>
              </a:path>
              <a:path w="2841625" h="333375">
                <a:moveTo>
                  <a:pt x="76152" y="298383"/>
                </a:moveTo>
                <a:lnTo>
                  <a:pt x="63500" y="299719"/>
                </a:lnTo>
                <a:lnTo>
                  <a:pt x="76296" y="299719"/>
                </a:lnTo>
                <a:lnTo>
                  <a:pt x="76152" y="298383"/>
                </a:lnTo>
                <a:close/>
              </a:path>
              <a:path w="2841625" h="333375">
                <a:moveTo>
                  <a:pt x="2840482" y="0"/>
                </a:moveTo>
                <a:lnTo>
                  <a:pt x="75484" y="292163"/>
                </a:lnTo>
                <a:lnTo>
                  <a:pt x="76152" y="298383"/>
                </a:lnTo>
                <a:lnTo>
                  <a:pt x="2841117" y="6350"/>
                </a:lnTo>
                <a:lnTo>
                  <a:pt x="284048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448290" y="1989581"/>
            <a:ext cx="132715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Figura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 </a:t>
            </a:r>
            <a:r>
              <a:rPr sz="1600" spc="-10" dirty="0">
                <a:latin typeface="Calibri"/>
                <a:cs typeface="Calibri"/>
              </a:rPr>
              <a:t>distribuição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dos </a:t>
            </a:r>
            <a:r>
              <a:rPr sz="1600" spc="-10" dirty="0">
                <a:latin typeface="Calibri"/>
                <a:cs typeface="Calibri"/>
              </a:rPr>
              <a:t>exemplos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 </a:t>
            </a:r>
            <a:r>
              <a:rPr sz="1600" spc="-10" dirty="0">
                <a:latin typeface="Calibri"/>
                <a:cs typeface="Calibri"/>
              </a:rPr>
              <a:t>treinamento.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k-</a:t>
            </a:r>
            <a:r>
              <a:rPr dirty="0"/>
              <a:t>NN</a:t>
            </a:r>
            <a:r>
              <a:rPr spc="-40" dirty="0"/>
              <a:t> </a:t>
            </a:r>
            <a:r>
              <a:rPr dirty="0"/>
              <a:t>para</a:t>
            </a:r>
            <a:r>
              <a:rPr spc="-35" dirty="0"/>
              <a:t> </a:t>
            </a:r>
            <a:r>
              <a:rPr spc="-10" dirty="0"/>
              <a:t>regressão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6"/>
              <p:cNvSpPr txBox="1"/>
              <p:nvPr/>
            </p:nvSpPr>
            <p:spPr>
              <a:xfrm>
                <a:off x="648015" y="1432797"/>
                <a:ext cx="11262361" cy="2916183"/>
              </a:xfrm>
              <a:prstGeom prst="rect">
                <a:avLst/>
              </a:prstGeom>
            </p:spPr>
            <p:txBody>
              <a:bodyPr vert="horz" wrap="square" lIns="0" tIns="93980" rIns="0" bIns="0" rtlCol="0">
                <a:spAutoFit/>
              </a:bodyPr>
              <a:lstStyle/>
              <a:p>
                <a:pPr marL="342900" marR="55880" indent="-228600">
                  <a:lnSpc>
                    <a:spcPts val="2690"/>
                  </a:lnSpc>
                  <a:spcBef>
                    <a:spcPts val="740"/>
                  </a:spcBef>
                  <a:buFont typeface="Arial"/>
                  <a:buChar char="•"/>
                  <a:tabLst>
                    <a:tab pos="342900" algn="l"/>
                    <a:tab pos="1578610" algn="l"/>
                    <a:tab pos="2099945" algn="l"/>
                    <a:tab pos="10408285" algn="l"/>
                    <a:tab pos="10789285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Seja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spc="-35" dirty="0">
                    <a:latin typeface="Cambria Math"/>
                    <a:cs typeface="Cambria Math"/>
                  </a:rPr>
                  <a:t>𝑁</a:t>
                </a:r>
                <a:r>
                  <a:rPr lang="pt-BR" sz="3075" spc="-52" baseline="-16260" dirty="0">
                    <a:latin typeface="Cambria Math"/>
                    <a:cs typeface="Cambria Math"/>
                  </a:rPr>
                  <a:t>𝑘</a:t>
                </a:r>
                <a:r>
                  <a:rPr lang="pt-BR" sz="3075" spc="-52" dirty="0">
                    <a:latin typeface="Cambria Math"/>
                    <a:cs typeface="Cambria Math"/>
                  </a:rPr>
                  <a:t>(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𝒙′)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conjunto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formado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pelos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𝑘</a:t>
                </a:r>
                <a:r>
                  <a:rPr lang="pt-BR" sz="2800" spc="30" dirty="0">
                    <a:latin typeface="Cambria Math"/>
                    <a:cs typeface="Cambria Math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exemplos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treinamento,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𝒙(𝑗)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spc="-50" dirty="0">
                    <a:latin typeface="Cambria Math"/>
                    <a:cs typeface="Cambria Math"/>
                  </a:rPr>
                  <a:t>∈ </a:t>
                </a:r>
                <a:r>
                  <a:rPr lang="pt-BR" sz="2800" dirty="0">
                    <a:latin typeface="Cambria Math"/>
                    <a:cs typeface="Cambria Math"/>
                  </a:rPr>
                  <a:t>ℝ</a:t>
                </a:r>
                <a:r>
                  <a:rPr lang="pt-BR" sz="3075" baseline="27100" dirty="0">
                    <a:latin typeface="Cambria Math"/>
                    <a:cs typeface="Cambria Math"/>
                  </a:rPr>
                  <a:t>𝐾×1</a:t>
                </a:r>
                <a:r>
                  <a:rPr lang="pt-BR" sz="2800" dirty="0">
                    <a:latin typeface="Cambria Math"/>
                    <a:cs typeface="Cambria Math"/>
                  </a:rPr>
                  <a:t>,</a:t>
                </a:r>
                <a:r>
                  <a:rPr lang="pt-BR" sz="2800" spc="-1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𝑗</a:t>
                </a:r>
                <a:r>
                  <a:rPr lang="pt-BR" sz="2800" spc="15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=</a:t>
                </a:r>
                <a:r>
                  <a:rPr lang="pt-BR" sz="2800" spc="120" dirty="0">
                    <a:latin typeface="Cambria Math"/>
                    <a:cs typeface="Cambria Math"/>
                  </a:rPr>
                  <a:t> </a:t>
                </a:r>
                <a:r>
                  <a:rPr lang="pt-BR" sz="2800" spc="-10" dirty="0">
                    <a:latin typeface="Cambria Math"/>
                    <a:cs typeface="Cambria Math"/>
                  </a:rPr>
                  <a:t>1,</a:t>
                </a:r>
                <a:r>
                  <a:rPr lang="pt-BR" sz="2800" spc="-160" dirty="0">
                    <a:latin typeface="Cambria Math"/>
                    <a:cs typeface="Cambria Math"/>
                  </a:rPr>
                  <a:t> </a:t>
                </a:r>
                <a:r>
                  <a:rPr lang="pt-BR" sz="2800" spc="-30" dirty="0">
                    <a:latin typeface="Cambria Math"/>
                    <a:cs typeface="Cambria Math"/>
                  </a:rPr>
                  <a:t>…</a:t>
                </a:r>
                <a:r>
                  <a:rPr lang="pt-BR" sz="2800" spc="-155" dirty="0">
                    <a:latin typeface="Cambria Math"/>
                    <a:cs typeface="Cambria Math"/>
                  </a:rPr>
                  <a:t> </a:t>
                </a:r>
                <a:r>
                  <a:rPr lang="pt-BR" sz="2800" spc="-10" dirty="0">
                    <a:latin typeface="Cambria Math"/>
                    <a:cs typeface="Cambria Math"/>
                  </a:rPr>
                  <a:t>,</a:t>
                </a:r>
                <a:r>
                  <a:rPr lang="pt-BR" sz="2800" spc="-15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𝑘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1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mais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próximos</a:t>
                </a:r>
                <a:r>
                  <a:rPr lang="pt-BR" sz="2800" spc="1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ao</a:t>
                </a:r>
                <a:r>
                  <a:rPr lang="pt-BR" sz="2800" spc="-20" dirty="0">
                    <a:latin typeface="Calibri"/>
                    <a:cs typeface="Calibri"/>
                  </a:rPr>
                  <a:t> exemplo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10" dirty="0">
                    <a:latin typeface="Calibri"/>
                    <a:cs typeface="Calibri"/>
                  </a:rPr>
                  <a:t> entrada</a:t>
                </a:r>
                <a:r>
                  <a:rPr lang="pt-BR" sz="2800" spc="15" dirty="0">
                    <a:latin typeface="Calibri"/>
                    <a:cs typeface="Calibri"/>
                  </a:rPr>
                  <a:t> </a:t>
                </a:r>
                <a:r>
                  <a:rPr lang="pt-BR" sz="2800" spc="65" dirty="0">
                    <a:latin typeface="Cambria Math"/>
                    <a:cs typeface="Cambria Math"/>
                  </a:rPr>
                  <a:t>𝒙</a:t>
                </a:r>
                <a:r>
                  <a:rPr lang="pt-BR" sz="3075" spc="97" baseline="27100" dirty="0">
                    <a:latin typeface="Cambria Math"/>
                    <a:cs typeface="Cambria Math"/>
                  </a:rPr>
                  <a:t>′</a:t>
                </a:r>
                <a:r>
                  <a:rPr lang="pt-BR" sz="2800" spc="65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342900" marR="424815" indent="-228600">
                  <a:lnSpc>
                    <a:spcPts val="3000"/>
                  </a:lnSpc>
                  <a:spcBef>
                    <a:spcPts val="750"/>
                  </a:spcBef>
                  <a:buFont typeface="Arial"/>
                  <a:buChar char="•"/>
                  <a:tabLst>
                    <a:tab pos="342900" algn="l"/>
                    <a:tab pos="2997835" algn="l"/>
                    <a:tab pos="4180840" algn="l"/>
                    <a:tab pos="478409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As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saídas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associadas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(i.e.,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rótulos)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estes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exemplos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treinamento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são </a:t>
                </a:r>
                <a:r>
                  <a:rPr lang="pt-BR" sz="2800" dirty="0">
                    <a:latin typeface="Calibri"/>
                    <a:cs typeface="Calibri"/>
                  </a:rPr>
                  <a:t>denotadas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 err="1">
                    <a:latin typeface="Calibri"/>
                    <a:cs typeface="Calibri"/>
                  </a:rPr>
                  <a:t>por</a:t>
                </a:r>
                <a:r>
                  <a:rPr lang="pt-BR" sz="280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800" b="1" i="1" dirty="0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∈</m:t>
                        </m:r>
                        <m:sSub>
                          <m:sSubPr>
                            <m:ctrlPr>
                              <a:rPr lang="pt-BR" sz="28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𝑁</m:t>
                            </m:r>
                          </m:e>
                          <m:sub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pt-BR" sz="2800" b="0" i="1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sz="2800" b="0" i="1" dirty="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sSupPr>
                              <m:e>
                                <m:r>
                                  <a:rPr lang="pt-BR" sz="2800" b="1" i="1" dirty="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pt-BR" sz="2800" b="0" i="1" dirty="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, 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𝑗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1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, …, 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𝑘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cs typeface="Calibri"/>
                      </a:rPr>
                      <m:t>.</m:t>
                    </m:r>
                  </m:oMath>
                </a14:m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</a:p>
              <a:p>
                <a:pPr marL="342900" marR="424815" indent="-228600">
                  <a:lnSpc>
                    <a:spcPts val="3000"/>
                  </a:lnSpc>
                  <a:spcBef>
                    <a:spcPts val="750"/>
                  </a:spcBef>
                  <a:buFont typeface="Arial"/>
                  <a:buChar char="•"/>
                  <a:tabLst>
                    <a:tab pos="342900" algn="l"/>
                    <a:tab pos="2997835" algn="l"/>
                    <a:tab pos="4180840" algn="l"/>
                    <a:tab pos="478409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Desta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forma,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quando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utilizado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para</a:t>
                </a:r>
                <a:r>
                  <a:rPr lang="pt-BR" sz="2800" spc="-14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regressão</a:t>
                </a:r>
                <a:r>
                  <a:rPr lang="pt-BR" sz="2800" spc="-10" dirty="0">
                    <a:latin typeface="Calibri"/>
                    <a:cs typeface="Calibri"/>
                  </a:rPr>
                  <a:t>,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10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saída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algoritmo</a:t>
                </a:r>
                <a:r>
                  <a:rPr lang="pt-BR" sz="2800" spc="-10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k-</a:t>
                </a:r>
                <a:r>
                  <a:rPr lang="pt-BR" sz="2800" spc="-25" dirty="0">
                    <a:latin typeface="Calibri"/>
                    <a:cs typeface="Calibri"/>
                  </a:rPr>
                  <a:t>NN </a:t>
                </a:r>
                <a:r>
                  <a:rPr lang="pt-BR" sz="2800" dirty="0">
                    <a:latin typeface="Calibri"/>
                    <a:cs typeface="Calibri"/>
                  </a:rPr>
                  <a:t>para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novo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exemplo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entrada,</a:t>
                </a:r>
                <a:r>
                  <a:rPr lang="pt-BR" sz="2800" spc="-120" dirty="0">
                    <a:latin typeface="Calibri"/>
                    <a:cs typeface="Calibri"/>
                  </a:rPr>
                  <a:t> </a:t>
                </a:r>
                <a:r>
                  <a:rPr lang="pt-BR" sz="2800" spc="90" dirty="0">
                    <a:latin typeface="Cambria Math"/>
                    <a:cs typeface="Cambria Math"/>
                  </a:rPr>
                  <a:t>𝒙</a:t>
                </a:r>
                <a:r>
                  <a:rPr lang="pt-BR" sz="3075" spc="135" baseline="27100" dirty="0">
                    <a:latin typeface="Cambria Math"/>
                    <a:cs typeface="Cambria Math"/>
                  </a:rPr>
                  <a:t>′</a:t>
                </a:r>
                <a:r>
                  <a:rPr lang="pt-BR" sz="2800" spc="90" dirty="0">
                    <a:latin typeface="Calibri"/>
                    <a:cs typeface="Calibri"/>
                  </a:rPr>
                  <a:t>,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pode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ser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escrita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forma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geral </a:t>
                </a:r>
                <a:r>
                  <a:rPr lang="pt-BR" sz="2800" spc="-20" dirty="0">
                    <a:latin typeface="Calibri"/>
                    <a:cs typeface="Calibri"/>
                  </a:rPr>
                  <a:t>como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15" y="1432797"/>
                <a:ext cx="11262361" cy="2916183"/>
              </a:xfrm>
              <a:prstGeom prst="rect">
                <a:avLst/>
              </a:prstGeom>
              <a:blipFill>
                <a:blip r:embed="rId2"/>
                <a:stretch>
                  <a:fillRect l="-758" t="-5230" r="-271" b="-66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14"/>
          <p:cNvSpPr txBox="1"/>
          <p:nvPr/>
        </p:nvSpPr>
        <p:spPr>
          <a:xfrm>
            <a:off x="891539" y="5351219"/>
            <a:ext cx="10775315" cy="13335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40"/>
              </a:spcBef>
            </a:pPr>
            <a:r>
              <a:rPr sz="2800" dirty="0">
                <a:latin typeface="Calibri"/>
                <a:cs typeface="Calibri"/>
              </a:rPr>
              <a:t>onde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300" dirty="0">
                <a:latin typeface="Cambria Math"/>
                <a:cs typeface="Cambria Math"/>
              </a:rPr>
              <a:t>𝑤</a:t>
            </a:r>
            <a:r>
              <a:rPr sz="3075" spc="367" baseline="-16260" dirty="0">
                <a:latin typeface="Cambria Math"/>
                <a:cs typeface="Cambria Math"/>
              </a:rPr>
              <a:t>𝑗</a:t>
            </a:r>
            <a:r>
              <a:rPr sz="2800" spc="55" dirty="0">
                <a:latin typeface="Cambria Math"/>
                <a:cs typeface="Cambria Math"/>
              </a:rPr>
              <a:t>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𝑗</a:t>
            </a:r>
            <a:r>
              <a:rPr sz="2800" spc="17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0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1,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spc="-30" dirty="0">
                <a:latin typeface="Cambria Math"/>
                <a:cs typeface="Cambria Math"/>
              </a:rPr>
              <a:t>…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𝑘</a:t>
            </a:r>
            <a:r>
              <a:rPr sz="2800" spc="7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representa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associado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i="1" spc="-20" dirty="0">
                <a:latin typeface="Calibri"/>
                <a:cs typeface="Calibri"/>
              </a:rPr>
              <a:t>j</a:t>
            </a:r>
            <a:r>
              <a:rPr sz="2800" spc="-2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ésimo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vizinho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𝒙′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30480" indent="-228600">
              <a:lnSpc>
                <a:spcPts val="2690"/>
              </a:lnSpc>
              <a:spcBef>
                <a:spcPts val="109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associados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vizinhos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uniformes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inversamente </a:t>
            </a:r>
            <a:r>
              <a:rPr sz="2800" b="1" i="1" dirty="0">
                <a:latin typeface="Calibri"/>
                <a:cs typeface="Calibri"/>
              </a:rPr>
              <a:t>proporcionais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à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distância.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11147318-3130-19F0-1C72-A01B1A4FD51D}"/>
                  </a:ext>
                </a:extLst>
              </p:cNvPr>
              <p:cNvSpPr txBox="1"/>
              <p:nvPr/>
            </p:nvSpPr>
            <p:spPr>
              <a:xfrm>
                <a:off x="3609326" y="4267200"/>
                <a:ext cx="4973349" cy="10386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5"/>
                                </m:r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pt-BR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r>
                                            <a:rPr lang="pt-BR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11147318-3130-19F0-1C72-A01B1A4FD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9326" y="4267200"/>
                <a:ext cx="4973349" cy="10386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61670"/>
            <a:ext cx="95986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Exemplo:</a:t>
            </a:r>
            <a:r>
              <a:rPr spc="-90" dirty="0"/>
              <a:t> </a:t>
            </a:r>
            <a:r>
              <a:rPr dirty="0"/>
              <a:t>Regressão</a:t>
            </a:r>
            <a:r>
              <a:rPr spc="-95" dirty="0"/>
              <a:t> </a:t>
            </a:r>
            <a:r>
              <a:rPr dirty="0"/>
              <a:t>k-NN</a:t>
            </a:r>
            <a:r>
              <a:rPr spc="-65" dirty="0"/>
              <a:t> </a:t>
            </a:r>
            <a:r>
              <a:rPr dirty="0"/>
              <a:t>com</a:t>
            </a:r>
            <a:r>
              <a:rPr spc="-70" dirty="0"/>
              <a:t> </a:t>
            </a:r>
            <a:r>
              <a:rPr spc="-10" dirty="0"/>
              <a:t>SciKit-Learn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9700" y="4320268"/>
            <a:ext cx="6001634" cy="2114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82021" y="6574942"/>
            <a:ext cx="200977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3"/>
              </a:rPr>
              <a:t>Exemplo:</a:t>
            </a:r>
            <a:r>
              <a:rPr sz="1200" b="1" u="sng" spc="-40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b="1" u="sng" spc="-10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Calibri"/>
                <a:cs typeface="Calibri"/>
                <a:hlinkClick r:id="rId3"/>
              </a:rPr>
              <a:t>knn_regression.ipynb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1085214"/>
            <a:ext cx="30257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Import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all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necessary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libraries.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numpy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as</a:t>
            </a:r>
            <a:r>
              <a:rPr sz="11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np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matplotlib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pyplot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as</a:t>
            </a:r>
            <a:r>
              <a:rPr sz="1100" b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plt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100" b="1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sklearn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neighbors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KNeighborsRegressor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923669"/>
            <a:ext cx="2800350" cy="1199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384935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Generate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sample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data. </a:t>
            </a:r>
            <a:r>
              <a:rPr sz="1100" dirty="0">
                <a:latin typeface="Calibri"/>
                <a:cs typeface="Calibri"/>
              </a:rPr>
              <a:t>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Calibri"/>
                <a:cs typeface="Calibri"/>
              </a:rPr>
              <a:t>40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np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random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seed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42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X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np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sort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((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6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*</a:t>
            </a:r>
            <a:r>
              <a:rPr sz="1100" spc="-10" dirty="0">
                <a:latin typeface="Calibri"/>
                <a:cs typeface="Calibri"/>
              </a:rPr>
              <a:t>np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random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rand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r>
              <a:rPr sz="1100" b="1" spc="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-</a:t>
            </a:r>
            <a:r>
              <a:rPr sz="1100" b="1" spc="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),</a:t>
            </a:r>
            <a:r>
              <a:rPr sz="1100" b="1" spc="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axis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 </a:t>
            </a:r>
            <a:r>
              <a:rPr sz="1100" dirty="0">
                <a:latin typeface="Calibri"/>
                <a:cs typeface="Calibri"/>
              </a:rPr>
              <a:t>T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np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linspace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(-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100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)[:,</a:t>
            </a:r>
            <a:r>
              <a:rPr sz="1100" b="1" spc="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np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newaxis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]</a:t>
            </a:r>
            <a:endParaRPr sz="1100">
              <a:latin typeface="Calibri"/>
              <a:cs typeface="Calibri"/>
            </a:endParaRPr>
          </a:p>
          <a:p>
            <a:pPr marL="12700" marR="85471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0.5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*</a:t>
            </a:r>
            <a:r>
              <a:rPr sz="1100" dirty="0">
                <a:latin typeface="Calibri"/>
                <a:cs typeface="Calibri"/>
              </a:rPr>
              <a:t>X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**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1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+</a:t>
            </a:r>
            <a:r>
              <a:rPr sz="11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+</a:t>
            </a:r>
            <a:r>
              <a:rPr sz="11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).</a:t>
            </a:r>
            <a:r>
              <a:rPr sz="1100" spc="-10" dirty="0">
                <a:latin typeface="Calibri"/>
                <a:cs typeface="Calibri"/>
              </a:rPr>
              <a:t>ravel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() </a:t>
            </a:r>
            <a:r>
              <a:rPr sz="1100" dirty="0">
                <a:latin typeface="Calibri"/>
                <a:cs typeface="Calibri"/>
              </a:rPr>
              <a:t>y_orig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0.5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*</a:t>
            </a:r>
            <a:r>
              <a:rPr sz="1100" dirty="0">
                <a:latin typeface="Calibri"/>
                <a:cs typeface="Calibri"/>
              </a:rPr>
              <a:t>X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**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1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+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+</a:t>
            </a:r>
            <a:r>
              <a:rPr sz="11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).</a:t>
            </a:r>
            <a:r>
              <a:rPr sz="1100" spc="-10" dirty="0">
                <a:latin typeface="Calibri"/>
                <a:cs typeface="Calibri"/>
              </a:rPr>
              <a:t>ravel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3265170"/>
            <a:ext cx="14763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+=</a:t>
            </a:r>
            <a:r>
              <a:rPr sz="11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np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random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randn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3600450"/>
            <a:ext cx="128270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Fit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regression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model </a:t>
            </a:r>
            <a:r>
              <a:rPr sz="1100" spc="-10" dirty="0">
                <a:latin typeface="Calibri"/>
                <a:cs typeface="Calibri"/>
              </a:rPr>
              <a:t>n_neighbors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4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4103370"/>
            <a:ext cx="3523615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libri"/>
                <a:cs typeface="Calibri"/>
              </a:rPr>
              <a:t>plt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figure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figsize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=(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15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5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for</a:t>
            </a:r>
            <a:r>
              <a:rPr sz="1100" b="1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weights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1100" b="1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enumerate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([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'uniform'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'distance'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]):</a:t>
            </a:r>
            <a:endParaRPr sz="1100">
              <a:latin typeface="Calibri"/>
              <a:cs typeface="Calibri"/>
            </a:endParaRPr>
          </a:p>
          <a:p>
            <a:pPr marL="13906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knn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5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KNeighborsRegressor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n_neighbors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weights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spc="-10" dirty="0">
                <a:latin typeface="Calibri"/>
                <a:cs typeface="Calibri"/>
              </a:rPr>
              <a:t>weights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3432" y="4606544"/>
            <a:ext cx="15506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y_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knn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dirty="0">
                <a:latin typeface="Calibri"/>
                <a:cs typeface="Calibri"/>
              </a:rPr>
              <a:t>fit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dirty="0">
                <a:latin typeface="Calibri"/>
                <a:cs typeface="Calibri"/>
              </a:rPr>
              <a:t>X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).</a:t>
            </a:r>
            <a:r>
              <a:rPr sz="1100" spc="-10" dirty="0">
                <a:latin typeface="Calibri"/>
                <a:cs typeface="Calibri"/>
              </a:rPr>
              <a:t>predict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3432" y="4941823"/>
            <a:ext cx="12414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libri"/>
                <a:cs typeface="Calibri"/>
              </a:rPr>
              <a:t>plt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subplot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+</a:t>
            </a:r>
            <a:r>
              <a:rPr sz="1100" b="1" spc="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100" b="1" spc="-25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3432" y="5109464"/>
            <a:ext cx="4620895" cy="1032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4178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libri"/>
                <a:cs typeface="Calibri"/>
              </a:rPr>
              <a:t>plt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scatter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X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10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color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'darkorange'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5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label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'noisy</a:t>
            </a:r>
            <a:r>
              <a:rPr sz="1100" spc="5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data'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 </a:t>
            </a:r>
            <a:r>
              <a:rPr sz="1100" dirty="0">
                <a:latin typeface="Calibri"/>
                <a:cs typeface="Calibri"/>
              </a:rPr>
              <a:t>plt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dirty="0">
                <a:latin typeface="Calibri"/>
                <a:cs typeface="Calibri"/>
              </a:rPr>
              <a:t>plot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dirty="0">
                <a:latin typeface="Calibri"/>
                <a:cs typeface="Calibri"/>
              </a:rPr>
              <a:t>X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y_orig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 </a:t>
            </a:r>
            <a:r>
              <a:rPr sz="1100" dirty="0">
                <a:latin typeface="Calibri"/>
                <a:cs typeface="Calibri"/>
              </a:rPr>
              <a:t>color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dirty="0">
                <a:solidFill>
                  <a:srgbClr val="808080"/>
                </a:solidFill>
                <a:latin typeface="Calibri"/>
                <a:cs typeface="Calibri"/>
              </a:rPr>
              <a:t>'red'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label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'original</a:t>
            </a:r>
            <a:r>
              <a:rPr sz="1100" spc="-2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data'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 </a:t>
            </a:r>
            <a:r>
              <a:rPr sz="1100" dirty="0">
                <a:latin typeface="Calibri"/>
                <a:cs typeface="Calibri"/>
              </a:rPr>
              <a:t>plt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dirty="0">
                <a:latin typeface="Calibri"/>
                <a:cs typeface="Calibri"/>
              </a:rPr>
              <a:t>plot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dirty="0">
                <a:latin typeface="Calibri"/>
                <a:cs typeface="Calibri"/>
              </a:rPr>
              <a:t>T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4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y_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color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dirty="0">
                <a:solidFill>
                  <a:srgbClr val="808080"/>
                </a:solidFill>
                <a:latin typeface="Calibri"/>
                <a:cs typeface="Calibri"/>
              </a:rPr>
              <a:t>'navy'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4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label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'prediction'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 </a:t>
            </a:r>
            <a:r>
              <a:rPr sz="1100" spc="-10" dirty="0">
                <a:latin typeface="Calibri"/>
                <a:cs typeface="Calibri"/>
              </a:rPr>
              <a:t>plt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axis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'tight'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latin typeface="Calibri"/>
                <a:cs typeface="Calibri"/>
              </a:rPr>
              <a:t>plt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legend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plt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title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"KNeighborsRegressor</a:t>
            </a:r>
            <a:r>
              <a:rPr sz="1100" spc="-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08080"/>
                </a:solidFill>
                <a:latin typeface="Calibri"/>
                <a:cs typeface="Calibri"/>
              </a:rPr>
              <a:t>(k</a:t>
            </a:r>
            <a:r>
              <a:rPr sz="1100" spc="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08080"/>
                </a:solidFill>
                <a:latin typeface="Calibri"/>
                <a:cs typeface="Calibri"/>
              </a:rPr>
              <a:t>=</a:t>
            </a:r>
            <a:r>
              <a:rPr sz="1100" spc="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08080"/>
                </a:solidFill>
                <a:latin typeface="Calibri"/>
                <a:cs typeface="Calibri"/>
              </a:rPr>
              <a:t>%i,</a:t>
            </a:r>
            <a:r>
              <a:rPr sz="1100" spc="2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08080"/>
                </a:solidFill>
                <a:latin typeface="Calibri"/>
                <a:cs typeface="Calibri"/>
              </a:rPr>
              <a:t>weights =</a:t>
            </a:r>
            <a:r>
              <a:rPr sz="1100" spc="30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808080"/>
                </a:solidFill>
                <a:latin typeface="Calibri"/>
                <a:cs typeface="Calibri"/>
              </a:rPr>
              <a:t>'%s')"</a:t>
            </a:r>
            <a:r>
              <a:rPr sz="1100" spc="1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%</a:t>
            </a:r>
            <a:r>
              <a:rPr sz="1100" b="1" spc="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n_neighbors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weights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939" y="6115608"/>
            <a:ext cx="6051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latin typeface="Calibri"/>
                <a:cs typeface="Calibri"/>
              </a:rPr>
              <a:t>plt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show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38929" y="1060831"/>
            <a:ext cx="127889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Importa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classe KNeighborsRegressor.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40784" y="1213738"/>
            <a:ext cx="346710" cy="379730"/>
          </a:xfrm>
          <a:custGeom>
            <a:avLst/>
            <a:gdLst/>
            <a:ahLst/>
            <a:cxnLst/>
            <a:rect l="l" t="t" r="r" b="b"/>
            <a:pathLst>
              <a:path w="346710" h="379730">
                <a:moveTo>
                  <a:pt x="23240" y="297307"/>
                </a:moveTo>
                <a:lnTo>
                  <a:pt x="0" y="379222"/>
                </a:lnTo>
                <a:lnTo>
                  <a:pt x="79501" y="348614"/>
                </a:lnTo>
                <a:lnTo>
                  <a:pt x="64044" y="334518"/>
                </a:lnTo>
                <a:lnTo>
                  <a:pt x="45212" y="334518"/>
                </a:lnTo>
                <a:lnTo>
                  <a:pt x="40512" y="330200"/>
                </a:lnTo>
                <a:lnTo>
                  <a:pt x="49049" y="320843"/>
                </a:lnTo>
                <a:lnTo>
                  <a:pt x="23240" y="297307"/>
                </a:lnTo>
                <a:close/>
              </a:path>
              <a:path w="346710" h="379730">
                <a:moveTo>
                  <a:pt x="49049" y="320843"/>
                </a:moveTo>
                <a:lnTo>
                  <a:pt x="40512" y="330200"/>
                </a:lnTo>
                <a:lnTo>
                  <a:pt x="45212" y="334518"/>
                </a:lnTo>
                <a:lnTo>
                  <a:pt x="53764" y="325143"/>
                </a:lnTo>
                <a:lnTo>
                  <a:pt x="49049" y="320843"/>
                </a:lnTo>
                <a:close/>
              </a:path>
              <a:path w="346710" h="379730">
                <a:moveTo>
                  <a:pt x="53764" y="325143"/>
                </a:moveTo>
                <a:lnTo>
                  <a:pt x="45212" y="334518"/>
                </a:lnTo>
                <a:lnTo>
                  <a:pt x="64044" y="334518"/>
                </a:lnTo>
                <a:lnTo>
                  <a:pt x="53764" y="325143"/>
                </a:lnTo>
                <a:close/>
              </a:path>
              <a:path w="346710" h="379730">
                <a:moveTo>
                  <a:pt x="341756" y="0"/>
                </a:moveTo>
                <a:lnTo>
                  <a:pt x="49049" y="320843"/>
                </a:lnTo>
                <a:lnTo>
                  <a:pt x="53764" y="325143"/>
                </a:lnTo>
                <a:lnTo>
                  <a:pt x="346455" y="4318"/>
                </a:lnTo>
                <a:lnTo>
                  <a:pt x="3417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67885" y="2549398"/>
            <a:ext cx="152844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Cria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dados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</a:t>
            </a:r>
            <a:r>
              <a:rPr sz="1100" spc="-10" dirty="0">
                <a:latin typeface="Calibri"/>
                <a:cs typeface="Calibri"/>
              </a:rPr>
              <a:t> regressão.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76500" y="2652902"/>
            <a:ext cx="1613535" cy="745490"/>
          </a:xfrm>
          <a:custGeom>
            <a:avLst/>
            <a:gdLst/>
            <a:ahLst/>
            <a:cxnLst/>
            <a:rect l="l" t="t" r="r" b="b"/>
            <a:pathLst>
              <a:path w="1613535" h="745489">
                <a:moveTo>
                  <a:pt x="53339" y="676275"/>
                </a:moveTo>
                <a:lnTo>
                  <a:pt x="0" y="742696"/>
                </a:lnTo>
                <a:lnTo>
                  <a:pt x="85089" y="745489"/>
                </a:lnTo>
                <a:lnTo>
                  <a:pt x="72972" y="719074"/>
                </a:lnTo>
                <a:lnTo>
                  <a:pt x="59055" y="719074"/>
                </a:lnTo>
                <a:lnTo>
                  <a:pt x="56387" y="713232"/>
                </a:lnTo>
                <a:lnTo>
                  <a:pt x="67875" y="707961"/>
                </a:lnTo>
                <a:lnTo>
                  <a:pt x="53339" y="676275"/>
                </a:lnTo>
                <a:close/>
              </a:path>
              <a:path w="1613535" h="745489">
                <a:moveTo>
                  <a:pt x="67875" y="707961"/>
                </a:moveTo>
                <a:lnTo>
                  <a:pt x="56387" y="713232"/>
                </a:lnTo>
                <a:lnTo>
                  <a:pt x="59055" y="719074"/>
                </a:lnTo>
                <a:lnTo>
                  <a:pt x="70552" y="713798"/>
                </a:lnTo>
                <a:lnTo>
                  <a:pt x="67875" y="707961"/>
                </a:lnTo>
                <a:close/>
              </a:path>
              <a:path w="1613535" h="745489">
                <a:moveTo>
                  <a:pt x="70552" y="713798"/>
                </a:moveTo>
                <a:lnTo>
                  <a:pt x="59055" y="719074"/>
                </a:lnTo>
                <a:lnTo>
                  <a:pt x="72972" y="719074"/>
                </a:lnTo>
                <a:lnTo>
                  <a:pt x="70552" y="713798"/>
                </a:lnTo>
                <a:close/>
              </a:path>
              <a:path w="1613535" h="745489">
                <a:moveTo>
                  <a:pt x="1610867" y="0"/>
                </a:moveTo>
                <a:lnTo>
                  <a:pt x="67875" y="707961"/>
                </a:lnTo>
                <a:lnTo>
                  <a:pt x="70552" y="713798"/>
                </a:lnTo>
                <a:lnTo>
                  <a:pt x="1613535" y="5842"/>
                </a:lnTo>
                <a:lnTo>
                  <a:pt x="161086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33696" y="3472941"/>
            <a:ext cx="16154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Peso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vizinho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é</a:t>
            </a:r>
            <a:r>
              <a:rPr sz="1100" dirty="0">
                <a:latin typeface="Calibri"/>
                <a:cs typeface="Calibri"/>
              </a:rPr>
              <a:t> uniforme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inverso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da </a:t>
            </a:r>
            <a:r>
              <a:rPr sz="1100" dirty="0">
                <a:latin typeface="Calibri"/>
                <a:cs typeface="Calibri"/>
              </a:rPr>
              <a:t>distância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exemplo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de </a:t>
            </a:r>
            <a:r>
              <a:rPr sz="1100" spc="-10" dirty="0">
                <a:latin typeface="Calibri"/>
                <a:cs typeface="Calibri"/>
              </a:rPr>
              <a:t>entrada.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922395" y="4059428"/>
            <a:ext cx="448945" cy="409575"/>
          </a:xfrm>
          <a:custGeom>
            <a:avLst/>
            <a:gdLst/>
            <a:ahLst/>
            <a:cxnLst/>
            <a:rect l="l" t="t" r="r" b="b"/>
            <a:pathLst>
              <a:path w="448945" h="409575">
                <a:moveTo>
                  <a:pt x="30733" y="329565"/>
                </a:moveTo>
                <a:lnTo>
                  <a:pt x="0" y="409067"/>
                </a:lnTo>
                <a:lnTo>
                  <a:pt x="82041" y="385953"/>
                </a:lnTo>
                <a:lnTo>
                  <a:pt x="66326" y="368681"/>
                </a:lnTo>
                <a:lnTo>
                  <a:pt x="49149" y="368681"/>
                </a:lnTo>
                <a:lnTo>
                  <a:pt x="44830" y="363982"/>
                </a:lnTo>
                <a:lnTo>
                  <a:pt x="54247" y="355406"/>
                </a:lnTo>
                <a:lnTo>
                  <a:pt x="30733" y="329565"/>
                </a:lnTo>
                <a:close/>
              </a:path>
              <a:path w="448945" h="409575">
                <a:moveTo>
                  <a:pt x="54247" y="355406"/>
                </a:moveTo>
                <a:lnTo>
                  <a:pt x="44830" y="363982"/>
                </a:lnTo>
                <a:lnTo>
                  <a:pt x="49149" y="368681"/>
                </a:lnTo>
                <a:lnTo>
                  <a:pt x="58540" y="360124"/>
                </a:lnTo>
                <a:lnTo>
                  <a:pt x="54247" y="355406"/>
                </a:lnTo>
                <a:close/>
              </a:path>
              <a:path w="448945" h="409575">
                <a:moveTo>
                  <a:pt x="58540" y="360124"/>
                </a:moveTo>
                <a:lnTo>
                  <a:pt x="49149" y="368681"/>
                </a:lnTo>
                <a:lnTo>
                  <a:pt x="66326" y="368681"/>
                </a:lnTo>
                <a:lnTo>
                  <a:pt x="58540" y="360124"/>
                </a:lnTo>
                <a:close/>
              </a:path>
              <a:path w="448945" h="409575">
                <a:moveTo>
                  <a:pt x="444500" y="0"/>
                </a:moveTo>
                <a:lnTo>
                  <a:pt x="54247" y="355406"/>
                </a:lnTo>
                <a:lnTo>
                  <a:pt x="58540" y="360124"/>
                </a:lnTo>
                <a:lnTo>
                  <a:pt x="448817" y="4572"/>
                </a:lnTo>
                <a:lnTo>
                  <a:pt x="444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843020" y="4688585"/>
            <a:ext cx="185229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Armazena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conjunto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dados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na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memória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realiza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predição.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638425" y="4696967"/>
            <a:ext cx="1126490" cy="185420"/>
          </a:xfrm>
          <a:custGeom>
            <a:avLst/>
            <a:gdLst/>
            <a:ahLst/>
            <a:cxnLst/>
            <a:rect l="l" t="t" r="r" b="b"/>
            <a:pathLst>
              <a:path w="1126489" h="185420">
                <a:moveTo>
                  <a:pt x="75932" y="34619"/>
                </a:moveTo>
                <a:lnTo>
                  <a:pt x="75067" y="40972"/>
                </a:lnTo>
                <a:lnTo>
                  <a:pt x="1125092" y="185292"/>
                </a:lnTo>
                <a:lnTo>
                  <a:pt x="1125982" y="178942"/>
                </a:lnTo>
                <a:lnTo>
                  <a:pt x="75932" y="34619"/>
                </a:lnTo>
                <a:close/>
              </a:path>
              <a:path w="1126489" h="185420">
                <a:moveTo>
                  <a:pt x="80644" y="0"/>
                </a:moveTo>
                <a:lnTo>
                  <a:pt x="0" y="27431"/>
                </a:lnTo>
                <a:lnTo>
                  <a:pt x="70357" y="75564"/>
                </a:lnTo>
                <a:lnTo>
                  <a:pt x="75067" y="40972"/>
                </a:lnTo>
                <a:lnTo>
                  <a:pt x="62483" y="39242"/>
                </a:lnTo>
                <a:lnTo>
                  <a:pt x="63373" y="32892"/>
                </a:lnTo>
                <a:lnTo>
                  <a:pt x="76167" y="32892"/>
                </a:lnTo>
                <a:lnTo>
                  <a:pt x="80644" y="0"/>
                </a:lnTo>
                <a:close/>
              </a:path>
              <a:path w="1126489" h="185420">
                <a:moveTo>
                  <a:pt x="63373" y="32892"/>
                </a:moveTo>
                <a:lnTo>
                  <a:pt x="62483" y="39242"/>
                </a:lnTo>
                <a:lnTo>
                  <a:pt x="75067" y="40972"/>
                </a:lnTo>
                <a:lnTo>
                  <a:pt x="75932" y="34619"/>
                </a:lnTo>
                <a:lnTo>
                  <a:pt x="63373" y="32892"/>
                </a:lnTo>
                <a:close/>
              </a:path>
              <a:path w="1126489" h="185420">
                <a:moveTo>
                  <a:pt x="76167" y="32892"/>
                </a:moveTo>
                <a:lnTo>
                  <a:pt x="63373" y="32892"/>
                </a:lnTo>
                <a:lnTo>
                  <a:pt x="75932" y="34619"/>
                </a:lnTo>
                <a:lnTo>
                  <a:pt x="76167" y="328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982461" y="989203"/>
            <a:ext cx="5935345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figura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abaixo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compara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regressão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feita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algoritmo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k- </a:t>
            </a:r>
            <a:r>
              <a:rPr sz="1800" dirty="0">
                <a:latin typeface="Calibri"/>
                <a:cs typeface="Calibri"/>
              </a:rPr>
              <a:t>NN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quando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os pesos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associados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aos vizinhos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são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uniformes </a:t>
            </a:r>
            <a:r>
              <a:rPr sz="1800" dirty="0">
                <a:latin typeface="Calibri"/>
                <a:cs typeface="Calibri"/>
              </a:rPr>
              <a:t>(figura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esquerda)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inversamente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proporcionais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spc="-50" dirty="0">
                <a:latin typeface="Calibri"/>
                <a:cs typeface="Calibri"/>
              </a:rPr>
              <a:t>à </a:t>
            </a:r>
            <a:r>
              <a:rPr sz="1800" b="1" i="1" dirty="0">
                <a:latin typeface="Calibri"/>
                <a:cs typeface="Calibri"/>
              </a:rPr>
              <a:t>distância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(figura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direita).</a:t>
            </a:r>
            <a:endParaRPr sz="1800" dirty="0">
              <a:latin typeface="Calibri"/>
              <a:cs typeface="Calibri"/>
            </a:endParaRPr>
          </a:p>
          <a:p>
            <a:pPr marL="299085" marR="13970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alibri"/>
                <a:cs typeface="Calibri"/>
              </a:rPr>
              <a:t>Pesos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uniformes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resultam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uma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aproximação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suave, </a:t>
            </a:r>
            <a:r>
              <a:rPr sz="1800" dirty="0">
                <a:latin typeface="Calibri"/>
                <a:cs typeface="Calibri"/>
              </a:rPr>
              <a:t>pois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 valor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saída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será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média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valores,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porém,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com </a:t>
            </a:r>
            <a:r>
              <a:rPr sz="1800" dirty="0">
                <a:latin typeface="Calibri"/>
                <a:cs typeface="Calibri"/>
              </a:rPr>
              <a:t>pesos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inversamente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proporcionais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à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distância,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amostras </a:t>
            </a:r>
            <a:r>
              <a:rPr sz="1800" dirty="0">
                <a:latin typeface="Calibri"/>
                <a:cs typeface="Calibri"/>
              </a:rPr>
              <a:t>próximas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exemplo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entrada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terão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grande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influência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no </a:t>
            </a:r>
            <a:r>
              <a:rPr sz="1800" dirty="0">
                <a:latin typeface="Calibri"/>
                <a:cs typeface="Calibri"/>
              </a:rPr>
              <a:t>valor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saída,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fazendo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ele seja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próximo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desse valor.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Tarefas</a:t>
            </a:r>
            <a:r>
              <a:rPr spc="-80" dirty="0"/>
              <a:t> </a:t>
            </a:r>
            <a:r>
              <a:rPr dirty="0"/>
              <a:t>e</a:t>
            </a:r>
            <a:r>
              <a:rPr spc="-70" dirty="0"/>
              <a:t> </a:t>
            </a:r>
            <a:r>
              <a:rPr spc="-10" dirty="0"/>
              <a:t>Avisos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4767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Vocês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já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fazer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#6.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3267" y="2616530"/>
            <a:ext cx="340296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Obrigado!</a:t>
            </a:r>
            <a:endParaRPr sz="66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866" y="161670"/>
            <a:ext cx="2387219" cy="31534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43907" y="423291"/>
            <a:ext cx="2985008" cy="31959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35871" y="1480438"/>
            <a:ext cx="2649347" cy="30102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6421" y="3619258"/>
            <a:ext cx="2500503" cy="30006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44440" y="4290453"/>
            <a:ext cx="2784475" cy="232943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5773" y="2616530"/>
            <a:ext cx="241744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Figuras</a:t>
            </a:r>
            <a:endParaRPr sz="66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65672" y="2283410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107999" y="0"/>
                </a:moveTo>
                <a:lnTo>
                  <a:pt x="0" y="0"/>
                </a:lnTo>
                <a:lnTo>
                  <a:pt x="0" y="107999"/>
                </a:lnTo>
                <a:lnTo>
                  <a:pt x="107999" y="107999"/>
                </a:lnTo>
                <a:lnTo>
                  <a:pt x="10799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796153" y="1806779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107999" y="0"/>
                </a:moveTo>
                <a:lnTo>
                  <a:pt x="0" y="0"/>
                </a:lnTo>
                <a:lnTo>
                  <a:pt x="0" y="107999"/>
                </a:lnTo>
                <a:lnTo>
                  <a:pt x="107999" y="107999"/>
                </a:lnTo>
                <a:lnTo>
                  <a:pt x="10799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76719" y="1915618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4" h="108585">
                <a:moveTo>
                  <a:pt x="107999" y="0"/>
                </a:moveTo>
                <a:lnTo>
                  <a:pt x="0" y="0"/>
                </a:lnTo>
                <a:lnTo>
                  <a:pt x="0" y="107999"/>
                </a:lnTo>
                <a:lnTo>
                  <a:pt x="107999" y="107999"/>
                </a:lnTo>
                <a:lnTo>
                  <a:pt x="10799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62295" y="2655647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107999" y="0"/>
                </a:moveTo>
                <a:lnTo>
                  <a:pt x="0" y="0"/>
                </a:lnTo>
                <a:lnTo>
                  <a:pt x="0" y="107999"/>
                </a:lnTo>
                <a:lnTo>
                  <a:pt x="107999" y="107999"/>
                </a:lnTo>
                <a:lnTo>
                  <a:pt x="10799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76492" y="2347164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107999" y="0"/>
                </a:moveTo>
                <a:lnTo>
                  <a:pt x="0" y="0"/>
                </a:lnTo>
                <a:lnTo>
                  <a:pt x="0" y="107999"/>
                </a:lnTo>
                <a:lnTo>
                  <a:pt x="107999" y="107999"/>
                </a:lnTo>
                <a:lnTo>
                  <a:pt x="10799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18503" y="2558619"/>
            <a:ext cx="108585" cy="108585"/>
          </a:xfrm>
          <a:custGeom>
            <a:avLst/>
            <a:gdLst/>
            <a:ahLst/>
            <a:cxnLst/>
            <a:rect l="l" t="t" r="r" b="b"/>
            <a:pathLst>
              <a:path w="108585" h="108585">
                <a:moveTo>
                  <a:pt x="107999" y="0"/>
                </a:moveTo>
                <a:lnTo>
                  <a:pt x="0" y="0"/>
                </a:lnTo>
                <a:lnTo>
                  <a:pt x="0" y="107999"/>
                </a:lnTo>
                <a:lnTo>
                  <a:pt x="107999" y="107999"/>
                </a:lnTo>
                <a:lnTo>
                  <a:pt x="10799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46850" y="1584578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72008" y="0"/>
                </a:moveTo>
                <a:lnTo>
                  <a:pt x="0" y="144018"/>
                </a:lnTo>
                <a:lnTo>
                  <a:pt x="144018" y="144018"/>
                </a:lnTo>
                <a:lnTo>
                  <a:pt x="7200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898134" y="1787270"/>
            <a:ext cx="1668780" cy="1668780"/>
            <a:chOff x="5898134" y="1787270"/>
            <a:chExt cx="1668780" cy="166878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8549" y="2567558"/>
              <a:ext cx="107950" cy="10807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04484" y="1793620"/>
              <a:ext cx="1656080" cy="1656080"/>
            </a:xfrm>
            <a:custGeom>
              <a:avLst/>
              <a:gdLst/>
              <a:ahLst/>
              <a:cxnLst/>
              <a:rect l="l" t="t" r="r" b="b"/>
              <a:pathLst>
                <a:path w="1656079" h="1656079">
                  <a:moveTo>
                    <a:pt x="0" y="828039"/>
                  </a:moveTo>
                  <a:lnTo>
                    <a:pt x="1405" y="779385"/>
                  </a:lnTo>
                  <a:lnTo>
                    <a:pt x="5570" y="731470"/>
                  </a:lnTo>
                  <a:lnTo>
                    <a:pt x="12417" y="684374"/>
                  </a:lnTo>
                  <a:lnTo>
                    <a:pt x="21868" y="638173"/>
                  </a:lnTo>
                  <a:lnTo>
                    <a:pt x="33845" y="592946"/>
                  </a:lnTo>
                  <a:lnTo>
                    <a:pt x="48272" y="548771"/>
                  </a:lnTo>
                  <a:lnTo>
                    <a:pt x="65069" y="505723"/>
                  </a:lnTo>
                  <a:lnTo>
                    <a:pt x="84160" y="463883"/>
                  </a:lnTo>
                  <a:lnTo>
                    <a:pt x="105467" y="423326"/>
                  </a:lnTo>
                  <a:lnTo>
                    <a:pt x="128912" y="384131"/>
                  </a:lnTo>
                  <a:lnTo>
                    <a:pt x="154418" y="346376"/>
                  </a:lnTo>
                  <a:lnTo>
                    <a:pt x="181906" y="310137"/>
                  </a:lnTo>
                  <a:lnTo>
                    <a:pt x="211300" y="275493"/>
                  </a:lnTo>
                  <a:lnTo>
                    <a:pt x="242522" y="242522"/>
                  </a:lnTo>
                  <a:lnTo>
                    <a:pt x="275493" y="211300"/>
                  </a:lnTo>
                  <a:lnTo>
                    <a:pt x="310137" y="181906"/>
                  </a:lnTo>
                  <a:lnTo>
                    <a:pt x="346376" y="154418"/>
                  </a:lnTo>
                  <a:lnTo>
                    <a:pt x="384131" y="128912"/>
                  </a:lnTo>
                  <a:lnTo>
                    <a:pt x="423326" y="105467"/>
                  </a:lnTo>
                  <a:lnTo>
                    <a:pt x="463883" y="84160"/>
                  </a:lnTo>
                  <a:lnTo>
                    <a:pt x="505723" y="65069"/>
                  </a:lnTo>
                  <a:lnTo>
                    <a:pt x="548771" y="48272"/>
                  </a:lnTo>
                  <a:lnTo>
                    <a:pt x="592946" y="33845"/>
                  </a:lnTo>
                  <a:lnTo>
                    <a:pt x="638173" y="21868"/>
                  </a:lnTo>
                  <a:lnTo>
                    <a:pt x="684374" y="12417"/>
                  </a:lnTo>
                  <a:lnTo>
                    <a:pt x="731470" y="5570"/>
                  </a:lnTo>
                  <a:lnTo>
                    <a:pt x="779385" y="1405"/>
                  </a:lnTo>
                  <a:lnTo>
                    <a:pt x="828039" y="0"/>
                  </a:lnTo>
                  <a:lnTo>
                    <a:pt x="876694" y="1405"/>
                  </a:lnTo>
                  <a:lnTo>
                    <a:pt x="924609" y="5570"/>
                  </a:lnTo>
                  <a:lnTo>
                    <a:pt x="971705" y="12417"/>
                  </a:lnTo>
                  <a:lnTo>
                    <a:pt x="1017906" y="21868"/>
                  </a:lnTo>
                  <a:lnTo>
                    <a:pt x="1063133" y="33845"/>
                  </a:lnTo>
                  <a:lnTo>
                    <a:pt x="1107308" y="48272"/>
                  </a:lnTo>
                  <a:lnTo>
                    <a:pt x="1150356" y="65069"/>
                  </a:lnTo>
                  <a:lnTo>
                    <a:pt x="1192196" y="84160"/>
                  </a:lnTo>
                  <a:lnTo>
                    <a:pt x="1232753" y="105467"/>
                  </a:lnTo>
                  <a:lnTo>
                    <a:pt x="1271948" y="128912"/>
                  </a:lnTo>
                  <a:lnTo>
                    <a:pt x="1309703" y="154418"/>
                  </a:lnTo>
                  <a:lnTo>
                    <a:pt x="1345942" y="181906"/>
                  </a:lnTo>
                  <a:lnTo>
                    <a:pt x="1380586" y="211300"/>
                  </a:lnTo>
                  <a:lnTo>
                    <a:pt x="1413557" y="242522"/>
                  </a:lnTo>
                  <a:lnTo>
                    <a:pt x="1444779" y="275493"/>
                  </a:lnTo>
                  <a:lnTo>
                    <a:pt x="1474173" y="310137"/>
                  </a:lnTo>
                  <a:lnTo>
                    <a:pt x="1501661" y="346376"/>
                  </a:lnTo>
                  <a:lnTo>
                    <a:pt x="1527167" y="384131"/>
                  </a:lnTo>
                  <a:lnTo>
                    <a:pt x="1550612" y="423326"/>
                  </a:lnTo>
                  <a:lnTo>
                    <a:pt x="1571919" y="463883"/>
                  </a:lnTo>
                  <a:lnTo>
                    <a:pt x="1591010" y="505723"/>
                  </a:lnTo>
                  <a:lnTo>
                    <a:pt x="1607807" y="548771"/>
                  </a:lnTo>
                  <a:lnTo>
                    <a:pt x="1622234" y="592946"/>
                  </a:lnTo>
                  <a:lnTo>
                    <a:pt x="1634211" y="638173"/>
                  </a:lnTo>
                  <a:lnTo>
                    <a:pt x="1643662" y="684374"/>
                  </a:lnTo>
                  <a:lnTo>
                    <a:pt x="1650509" y="731470"/>
                  </a:lnTo>
                  <a:lnTo>
                    <a:pt x="1654674" y="779385"/>
                  </a:lnTo>
                  <a:lnTo>
                    <a:pt x="1656080" y="828039"/>
                  </a:lnTo>
                  <a:lnTo>
                    <a:pt x="1654674" y="876681"/>
                  </a:lnTo>
                  <a:lnTo>
                    <a:pt x="1650509" y="924584"/>
                  </a:lnTo>
                  <a:lnTo>
                    <a:pt x="1643662" y="971669"/>
                  </a:lnTo>
                  <a:lnTo>
                    <a:pt x="1634211" y="1017859"/>
                  </a:lnTo>
                  <a:lnTo>
                    <a:pt x="1622234" y="1063076"/>
                  </a:lnTo>
                  <a:lnTo>
                    <a:pt x="1607807" y="1107243"/>
                  </a:lnTo>
                  <a:lnTo>
                    <a:pt x="1591010" y="1150282"/>
                  </a:lnTo>
                  <a:lnTo>
                    <a:pt x="1571919" y="1192116"/>
                  </a:lnTo>
                  <a:lnTo>
                    <a:pt x="1550612" y="1232666"/>
                  </a:lnTo>
                  <a:lnTo>
                    <a:pt x="1527167" y="1271855"/>
                  </a:lnTo>
                  <a:lnTo>
                    <a:pt x="1501661" y="1309605"/>
                  </a:lnTo>
                  <a:lnTo>
                    <a:pt x="1474173" y="1345838"/>
                  </a:lnTo>
                  <a:lnTo>
                    <a:pt x="1444779" y="1380478"/>
                  </a:lnTo>
                  <a:lnTo>
                    <a:pt x="1413557" y="1413446"/>
                  </a:lnTo>
                  <a:lnTo>
                    <a:pt x="1380586" y="1444664"/>
                  </a:lnTo>
                  <a:lnTo>
                    <a:pt x="1345942" y="1474056"/>
                  </a:lnTo>
                  <a:lnTo>
                    <a:pt x="1309703" y="1501542"/>
                  </a:lnTo>
                  <a:lnTo>
                    <a:pt x="1271948" y="1527046"/>
                  </a:lnTo>
                  <a:lnTo>
                    <a:pt x="1232753" y="1550489"/>
                  </a:lnTo>
                  <a:lnTo>
                    <a:pt x="1192196" y="1571795"/>
                  </a:lnTo>
                  <a:lnTo>
                    <a:pt x="1150356" y="1590885"/>
                  </a:lnTo>
                  <a:lnTo>
                    <a:pt x="1107308" y="1607682"/>
                  </a:lnTo>
                  <a:lnTo>
                    <a:pt x="1063133" y="1622107"/>
                  </a:lnTo>
                  <a:lnTo>
                    <a:pt x="1017906" y="1634084"/>
                  </a:lnTo>
                  <a:lnTo>
                    <a:pt x="971705" y="1643535"/>
                  </a:lnTo>
                  <a:lnTo>
                    <a:pt x="924609" y="1650382"/>
                  </a:lnTo>
                  <a:lnTo>
                    <a:pt x="876694" y="1654547"/>
                  </a:lnTo>
                  <a:lnTo>
                    <a:pt x="828039" y="1655952"/>
                  </a:lnTo>
                  <a:lnTo>
                    <a:pt x="779385" y="1654547"/>
                  </a:lnTo>
                  <a:lnTo>
                    <a:pt x="731470" y="1650382"/>
                  </a:lnTo>
                  <a:lnTo>
                    <a:pt x="684374" y="1643535"/>
                  </a:lnTo>
                  <a:lnTo>
                    <a:pt x="638173" y="1634084"/>
                  </a:lnTo>
                  <a:lnTo>
                    <a:pt x="592946" y="1622107"/>
                  </a:lnTo>
                  <a:lnTo>
                    <a:pt x="548771" y="1607682"/>
                  </a:lnTo>
                  <a:lnTo>
                    <a:pt x="505723" y="1590885"/>
                  </a:lnTo>
                  <a:lnTo>
                    <a:pt x="463883" y="1571795"/>
                  </a:lnTo>
                  <a:lnTo>
                    <a:pt x="423326" y="1550489"/>
                  </a:lnTo>
                  <a:lnTo>
                    <a:pt x="384131" y="1527046"/>
                  </a:lnTo>
                  <a:lnTo>
                    <a:pt x="346376" y="1501542"/>
                  </a:lnTo>
                  <a:lnTo>
                    <a:pt x="310137" y="1474056"/>
                  </a:lnTo>
                  <a:lnTo>
                    <a:pt x="275493" y="1444664"/>
                  </a:lnTo>
                  <a:lnTo>
                    <a:pt x="242522" y="1413446"/>
                  </a:lnTo>
                  <a:lnTo>
                    <a:pt x="211300" y="1380478"/>
                  </a:lnTo>
                  <a:lnTo>
                    <a:pt x="181906" y="1345838"/>
                  </a:lnTo>
                  <a:lnTo>
                    <a:pt x="154418" y="1309605"/>
                  </a:lnTo>
                  <a:lnTo>
                    <a:pt x="128912" y="1271855"/>
                  </a:lnTo>
                  <a:lnTo>
                    <a:pt x="105467" y="1232666"/>
                  </a:lnTo>
                  <a:lnTo>
                    <a:pt x="84160" y="1192116"/>
                  </a:lnTo>
                  <a:lnTo>
                    <a:pt x="65069" y="1150282"/>
                  </a:lnTo>
                  <a:lnTo>
                    <a:pt x="48272" y="1107243"/>
                  </a:lnTo>
                  <a:lnTo>
                    <a:pt x="33845" y="1063076"/>
                  </a:lnTo>
                  <a:lnTo>
                    <a:pt x="21868" y="1017859"/>
                  </a:lnTo>
                  <a:lnTo>
                    <a:pt x="12417" y="971669"/>
                  </a:lnTo>
                  <a:lnTo>
                    <a:pt x="5570" y="924584"/>
                  </a:lnTo>
                  <a:lnTo>
                    <a:pt x="1405" y="876681"/>
                  </a:lnTo>
                  <a:lnTo>
                    <a:pt x="0" y="8280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64529" y="2153665"/>
              <a:ext cx="935990" cy="935990"/>
            </a:xfrm>
            <a:custGeom>
              <a:avLst/>
              <a:gdLst/>
              <a:ahLst/>
              <a:cxnLst/>
              <a:rect l="l" t="t" r="r" b="b"/>
              <a:pathLst>
                <a:path w="935990" h="935989">
                  <a:moveTo>
                    <a:pt x="0" y="467995"/>
                  </a:moveTo>
                  <a:lnTo>
                    <a:pt x="2416" y="420127"/>
                  </a:lnTo>
                  <a:lnTo>
                    <a:pt x="9508" y="373647"/>
                  </a:lnTo>
                  <a:lnTo>
                    <a:pt x="21041" y="328788"/>
                  </a:lnTo>
                  <a:lnTo>
                    <a:pt x="36780" y="285785"/>
                  </a:lnTo>
                  <a:lnTo>
                    <a:pt x="56488" y="244874"/>
                  </a:lnTo>
                  <a:lnTo>
                    <a:pt x="79931" y="206288"/>
                  </a:lnTo>
                  <a:lnTo>
                    <a:pt x="106874" y="170262"/>
                  </a:lnTo>
                  <a:lnTo>
                    <a:pt x="137080" y="137032"/>
                  </a:lnTo>
                  <a:lnTo>
                    <a:pt x="170315" y="106833"/>
                  </a:lnTo>
                  <a:lnTo>
                    <a:pt x="206343" y="79898"/>
                  </a:lnTo>
                  <a:lnTo>
                    <a:pt x="244930" y="56463"/>
                  </a:lnTo>
                  <a:lnTo>
                    <a:pt x="285839" y="36762"/>
                  </a:lnTo>
                  <a:lnTo>
                    <a:pt x="328835" y="21031"/>
                  </a:lnTo>
                  <a:lnTo>
                    <a:pt x="373683" y="9503"/>
                  </a:lnTo>
                  <a:lnTo>
                    <a:pt x="420148" y="2415"/>
                  </a:lnTo>
                  <a:lnTo>
                    <a:pt x="467995" y="0"/>
                  </a:lnTo>
                  <a:lnTo>
                    <a:pt x="515841" y="2415"/>
                  </a:lnTo>
                  <a:lnTo>
                    <a:pt x="562306" y="9503"/>
                  </a:lnTo>
                  <a:lnTo>
                    <a:pt x="607154" y="21031"/>
                  </a:lnTo>
                  <a:lnTo>
                    <a:pt x="650150" y="36762"/>
                  </a:lnTo>
                  <a:lnTo>
                    <a:pt x="691059" y="56463"/>
                  </a:lnTo>
                  <a:lnTo>
                    <a:pt x="729646" y="79898"/>
                  </a:lnTo>
                  <a:lnTo>
                    <a:pt x="765674" y="106833"/>
                  </a:lnTo>
                  <a:lnTo>
                    <a:pt x="798909" y="137033"/>
                  </a:lnTo>
                  <a:lnTo>
                    <a:pt x="829115" y="170262"/>
                  </a:lnTo>
                  <a:lnTo>
                    <a:pt x="856058" y="206288"/>
                  </a:lnTo>
                  <a:lnTo>
                    <a:pt x="879501" y="244874"/>
                  </a:lnTo>
                  <a:lnTo>
                    <a:pt x="899209" y="285785"/>
                  </a:lnTo>
                  <a:lnTo>
                    <a:pt x="914948" y="328788"/>
                  </a:lnTo>
                  <a:lnTo>
                    <a:pt x="926481" y="373647"/>
                  </a:lnTo>
                  <a:lnTo>
                    <a:pt x="933573" y="420127"/>
                  </a:lnTo>
                  <a:lnTo>
                    <a:pt x="935990" y="467995"/>
                  </a:lnTo>
                  <a:lnTo>
                    <a:pt x="933573" y="515841"/>
                  </a:lnTo>
                  <a:lnTo>
                    <a:pt x="926481" y="562306"/>
                  </a:lnTo>
                  <a:lnTo>
                    <a:pt x="914948" y="607154"/>
                  </a:lnTo>
                  <a:lnTo>
                    <a:pt x="899209" y="650150"/>
                  </a:lnTo>
                  <a:lnTo>
                    <a:pt x="879501" y="691059"/>
                  </a:lnTo>
                  <a:lnTo>
                    <a:pt x="856058" y="729646"/>
                  </a:lnTo>
                  <a:lnTo>
                    <a:pt x="829115" y="765674"/>
                  </a:lnTo>
                  <a:lnTo>
                    <a:pt x="798909" y="798909"/>
                  </a:lnTo>
                  <a:lnTo>
                    <a:pt x="765674" y="829115"/>
                  </a:lnTo>
                  <a:lnTo>
                    <a:pt x="729646" y="856058"/>
                  </a:lnTo>
                  <a:lnTo>
                    <a:pt x="691059" y="879501"/>
                  </a:lnTo>
                  <a:lnTo>
                    <a:pt x="650150" y="899209"/>
                  </a:lnTo>
                  <a:lnTo>
                    <a:pt x="607154" y="914948"/>
                  </a:lnTo>
                  <a:lnTo>
                    <a:pt x="562306" y="926481"/>
                  </a:lnTo>
                  <a:lnTo>
                    <a:pt x="515841" y="933573"/>
                  </a:lnTo>
                  <a:lnTo>
                    <a:pt x="467995" y="935989"/>
                  </a:lnTo>
                  <a:lnTo>
                    <a:pt x="420148" y="933573"/>
                  </a:lnTo>
                  <a:lnTo>
                    <a:pt x="373683" y="926481"/>
                  </a:lnTo>
                  <a:lnTo>
                    <a:pt x="328835" y="914948"/>
                  </a:lnTo>
                  <a:lnTo>
                    <a:pt x="285839" y="899209"/>
                  </a:lnTo>
                  <a:lnTo>
                    <a:pt x="244930" y="879501"/>
                  </a:lnTo>
                  <a:lnTo>
                    <a:pt x="206343" y="856058"/>
                  </a:lnTo>
                  <a:lnTo>
                    <a:pt x="170315" y="829115"/>
                  </a:lnTo>
                  <a:lnTo>
                    <a:pt x="137080" y="798909"/>
                  </a:lnTo>
                  <a:lnTo>
                    <a:pt x="106874" y="765674"/>
                  </a:lnTo>
                  <a:lnTo>
                    <a:pt x="79931" y="729646"/>
                  </a:lnTo>
                  <a:lnTo>
                    <a:pt x="56488" y="691059"/>
                  </a:lnTo>
                  <a:lnTo>
                    <a:pt x="36780" y="650150"/>
                  </a:lnTo>
                  <a:lnTo>
                    <a:pt x="21041" y="607154"/>
                  </a:lnTo>
                  <a:lnTo>
                    <a:pt x="9508" y="562306"/>
                  </a:lnTo>
                  <a:lnTo>
                    <a:pt x="2416" y="515841"/>
                  </a:lnTo>
                  <a:lnTo>
                    <a:pt x="0" y="46799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7128509" y="1558416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72009" y="0"/>
                </a:moveTo>
                <a:lnTo>
                  <a:pt x="0" y="143891"/>
                </a:lnTo>
                <a:lnTo>
                  <a:pt x="144018" y="143891"/>
                </a:lnTo>
                <a:lnTo>
                  <a:pt x="7200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561326" y="1793620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72008" y="0"/>
                </a:moveTo>
                <a:lnTo>
                  <a:pt x="0" y="144017"/>
                </a:lnTo>
                <a:lnTo>
                  <a:pt x="144018" y="144017"/>
                </a:lnTo>
                <a:lnTo>
                  <a:pt x="7200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776719" y="2666619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72008" y="0"/>
                </a:moveTo>
                <a:lnTo>
                  <a:pt x="0" y="144017"/>
                </a:lnTo>
                <a:lnTo>
                  <a:pt x="144018" y="144017"/>
                </a:lnTo>
                <a:lnTo>
                  <a:pt x="7200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58838" y="2470404"/>
            <a:ext cx="144145" cy="144145"/>
          </a:xfrm>
          <a:custGeom>
            <a:avLst/>
            <a:gdLst/>
            <a:ahLst/>
            <a:cxnLst/>
            <a:rect l="l" t="t" r="r" b="b"/>
            <a:pathLst>
              <a:path w="144145" h="144144">
                <a:moveTo>
                  <a:pt x="72008" y="0"/>
                </a:moveTo>
                <a:lnTo>
                  <a:pt x="0" y="143891"/>
                </a:lnTo>
                <a:lnTo>
                  <a:pt x="143890" y="143891"/>
                </a:lnTo>
                <a:lnTo>
                  <a:pt x="7200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696202" y="2351608"/>
            <a:ext cx="965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?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2870</Words>
  <Application>Microsoft Office PowerPoint</Application>
  <PresentationFormat>Widescreen</PresentationFormat>
  <Paragraphs>202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TP555 - Inteligência Artificial e Machine Learning: k-Vizinhos mais Próximos</vt:lpstr>
      <vt:lpstr>k-vizinhos mais próximos (k-NN)</vt:lpstr>
      <vt:lpstr>k-vizinhos mais próximos (k-NN)</vt:lpstr>
      <vt:lpstr>k-vizinhos mais próximos (k-NN)</vt:lpstr>
      <vt:lpstr>Funcionamento</vt:lpstr>
      <vt:lpstr>Funcionamento</vt:lpstr>
      <vt:lpstr>Funcionamento</vt:lpstr>
      <vt:lpstr>Funcionamento</vt:lpstr>
      <vt:lpstr>Funcionamento</vt:lpstr>
      <vt:lpstr>Funcionamento</vt:lpstr>
      <vt:lpstr>k-Vizinhos mais Próximos (k-NN)</vt:lpstr>
      <vt:lpstr>k-Vizinhos mais Próximos (k-NN)</vt:lpstr>
      <vt:lpstr>k-Vizinhos mais Próximos (k-NN)</vt:lpstr>
      <vt:lpstr>k-Vizinhos mais Próximos (k-NN)</vt:lpstr>
      <vt:lpstr>k-Vizinhos mais Próximos (k-NN)</vt:lpstr>
      <vt:lpstr>Desvantagens</vt:lpstr>
      <vt:lpstr>Desvantagens</vt:lpstr>
      <vt:lpstr>Desvantagens</vt:lpstr>
      <vt:lpstr>Outras desvantagens: Sensibilidade à dimensionalidade</vt:lpstr>
      <vt:lpstr>Outras desvantagens: Sensibilidade à dimensionalidade</vt:lpstr>
      <vt:lpstr>Outras desvantagens: Sensibilidade à dimensionalidade</vt:lpstr>
      <vt:lpstr>Outras desvantagens: Sensibilidade a dados desbalanceados</vt:lpstr>
      <vt:lpstr>Outras desvantagens: Necessidade de pré- processamento de dados</vt:lpstr>
      <vt:lpstr>Métricas de distância</vt:lpstr>
      <vt:lpstr>Métricas de distância</vt:lpstr>
      <vt:lpstr>Métricas de distância</vt:lpstr>
      <vt:lpstr>Métricas de distância</vt:lpstr>
      <vt:lpstr>Distância de Minkowski</vt:lpstr>
      <vt:lpstr>Distância de Minkowski: Casos particulares</vt:lpstr>
      <vt:lpstr>Distância Euclidiana</vt:lpstr>
      <vt:lpstr>Distância Manhattan</vt:lpstr>
      <vt:lpstr>k-NN para classificação</vt:lpstr>
      <vt:lpstr>Exemplo de classificação com k-NN</vt:lpstr>
      <vt:lpstr>Exemplo de classificação com k-NN</vt:lpstr>
      <vt:lpstr>Exemplo: Classificação k-NN com SciKit-Learn</vt:lpstr>
      <vt:lpstr>k-NN para regressão</vt:lpstr>
      <vt:lpstr>Exemplo: Regressão k-NN com SciKit-Learn</vt:lpstr>
      <vt:lpstr>Tarefas e Avisos</vt:lpstr>
      <vt:lpstr>Obrigado!</vt:lpstr>
      <vt:lpstr>Apresentação do PowerPoint</vt:lpstr>
      <vt:lpstr>Figuras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Learning: Classificadores Lineares</dc:title>
  <dc:creator>Felipe Augusto Pereira de Figueiredo</dc:creator>
  <cp:lastModifiedBy>Luiz Augusto Melo Pereira</cp:lastModifiedBy>
  <cp:revision>1</cp:revision>
  <dcterms:created xsi:type="dcterms:W3CDTF">2025-01-25T00:13:28Z</dcterms:created>
  <dcterms:modified xsi:type="dcterms:W3CDTF">2025-01-27T17:39:31Z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2024-10-07T00:00:00Z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2025-01-25T00:00:00Z</vt:filetime>
  </property>
  <property fmtid="{D5CDD505-2E9C-101B-9397-08002B2CF9AE}" pid="5" name="Producer">
    <vt:lpwstr>Microsoft® PowerPoint® LTSC</vt:lpwstr>
  </property>
</Properties>
</file>