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954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iz Augusto Melo Pereira" userId="4bd5ce759a66f368" providerId="LiveId" clId="{7202EF69-C314-4B12-B9E0-5832D817BE04}"/>
    <pc:docChg chg="undo custSel modSld">
      <pc:chgData name="Luiz Augusto Melo Pereira" userId="4bd5ce759a66f368" providerId="LiveId" clId="{7202EF69-C314-4B12-B9E0-5832D817BE04}" dt="2025-01-28T14:17:38.923" v="23" actId="113"/>
      <pc:docMkLst>
        <pc:docMk/>
      </pc:docMkLst>
      <pc:sldChg chg="modSp mod">
        <pc:chgData name="Luiz Augusto Melo Pereira" userId="4bd5ce759a66f368" providerId="LiveId" clId="{7202EF69-C314-4B12-B9E0-5832D817BE04}" dt="2025-01-28T14:16:48.883" v="1" actId="1076"/>
        <pc:sldMkLst>
          <pc:docMk/>
          <pc:sldMk cId="0" sldId="258"/>
        </pc:sldMkLst>
        <pc:spChg chg="mod">
          <ac:chgData name="Luiz Augusto Melo Pereira" userId="4bd5ce759a66f368" providerId="LiveId" clId="{7202EF69-C314-4B12-B9E0-5832D817BE04}" dt="2025-01-28T14:16:48.883" v="1" actId="1076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7202EF69-C314-4B12-B9E0-5832D817BE04}" dt="2025-01-28T14:16:51.935" v="3" actId="1076"/>
        <pc:sldMkLst>
          <pc:docMk/>
          <pc:sldMk cId="0" sldId="259"/>
        </pc:sldMkLst>
        <pc:spChg chg="mod">
          <ac:chgData name="Luiz Augusto Melo Pereira" userId="4bd5ce759a66f368" providerId="LiveId" clId="{7202EF69-C314-4B12-B9E0-5832D817BE04}" dt="2025-01-28T14:16:51.935" v="3" actId="1076"/>
          <ac:spMkLst>
            <pc:docMk/>
            <pc:sldMk cId="0" sldId="259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7202EF69-C314-4B12-B9E0-5832D817BE04}" dt="2025-01-28T14:16:54.586" v="5" actId="1076"/>
        <pc:sldMkLst>
          <pc:docMk/>
          <pc:sldMk cId="0" sldId="260"/>
        </pc:sldMkLst>
        <pc:spChg chg="mod">
          <ac:chgData name="Luiz Augusto Melo Pereira" userId="4bd5ce759a66f368" providerId="LiveId" clId="{7202EF69-C314-4B12-B9E0-5832D817BE04}" dt="2025-01-28T14:16:54.586" v="5" actId="1076"/>
          <ac:spMkLst>
            <pc:docMk/>
            <pc:sldMk cId="0" sldId="260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7202EF69-C314-4B12-B9E0-5832D817BE04}" dt="2025-01-28T14:16:59.355" v="7" actId="1076"/>
        <pc:sldMkLst>
          <pc:docMk/>
          <pc:sldMk cId="0" sldId="261"/>
        </pc:sldMkLst>
        <pc:spChg chg="mod">
          <ac:chgData name="Luiz Augusto Melo Pereira" userId="4bd5ce759a66f368" providerId="LiveId" clId="{7202EF69-C314-4B12-B9E0-5832D817BE04}" dt="2025-01-28T14:16:59.355" v="7" actId="1076"/>
          <ac:spMkLst>
            <pc:docMk/>
            <pc:sldMk cId="0" sldId="261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7202EF69-C314-4B12-B9E0-5832D817BE04}" dt="2025-01-28T14:17:02.167" v="9" actId="1076"/>
        <pc:sldMkLst>
          <pc:docMk/>
          <pc:sldMk cId="0" sldId="262"/>
        </pc:sldMkLst>
        <pc:spChg chg="mod">
          <ac:chgData name="Luiz Augusto Melo Pereira" userId="4bd5ce759a66f368" providerId="LiveId" clId="{7202EF69-C314-4B12-B9E0-5832D817BE04}" dt="2025-01-28T14:17:02.167" v="9" actId="1076"/>
          <ac:spMkLst>
            <pc:docMk/>
            <pc:sldMk cId="0" sldId="262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7202EF69-C314-4B12-B9E0-5832D817BE04}" dt="2025-01-28T14:17:04.906" v="11" actId="1076"/>
        <pc:sldMkLst>
          <pc:docMk/>
          <pc:sldMk cId="0" sldId="263"/>
        </pc:sldMkLst>
        <pc:spChg chg="mod">
          <ac:chgData name="Luiz Augusto Melo Pereira" userId="4bd5ce759a66f368" providerId="LiveId" clId="{7202EF69-C314-4B12-B9E0-5832D817BE04}" dt="2025-01-28T14:17:04.906" v="11" actId="1076"/>
          <ac:spMkLst>
            <pc:docMk/>
            <pc:sldMk cId="0" sldId="263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7202EF69-C314-4B12-B9E0-5832D817BE04}" dt="2025-01-28T14:17:09.303" v="12" actId="1076"/>
        <pc:sldMkLst>
          <pc:docMk/>
          <pc:sldMk cId="0" sldId="264"/>
        </pc:sldMkLst>
        <pc:spChg chg="mod">
          <ac:chgData name="Luiz Augusto Melo Pereira" userId="4bd5ce759a66f368" providerId="LiveId" clId="{7202EF69-C314-4B12-B9E0-5832D817BE04}" dt="2025-01-28T14:17:09.303" v="12" actId="1076"/>
          <ac:spMkLst>
            <pc:docMk/>
            <pc:sldMk cId="0" sldId="264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7202EF69-C314-4B12-B9E0-5832D817BE04}" dt="2025-01-28T14:17:11.759" v="13" actId="1076"/>
        <pc:sldMkLst>
          <pc:docMk/>
          <pc:sldMk cId="0" sldId="265"/>
        </pc:sldMkLst>
        <pc:spChg chg="mod">
          <ac:chgData name="Luiz Augusto Melo Pereira" userId="4bd5ce759a66f368" providerId="LiveId" clId="{7202EF69-C314-4B12-B9E0-5832D817BE04}" dt="2025-01-28T14:17:11.759" v="13" actId="1076"/>
          <ac:spMkLst>
            <pc:docMk/>
            <pc:sldMk cId="0" sldId="265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7202EF69-C314-4B12-B9E0-5832D817BE04}" dt="2025-01-28T14:17:15.167" v="14" actId="1076"/>
        <pc:sldMkLst>
          <pc:docMk/>
          <pc:sldMk cId="0" sldId="266"/>
        </pc:sldMkLst>
        <pc:spChg chg="mod">
          <ac:chgData name="Luiz Augusto Melo Pereira" userId="4bd5ce759a66f368" providerId="LiveId" clId="{7202EF69-C314-4B12-B9E0-5832D817BE04}" dt="2025-01-28T14:17:15.167" v="14" actId="1076"/>
          <ac:spMkLst>
            <pc:docMk/>
            <pc:sldMk cId="0" sldId="266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7202EF69-C314-4B12-B9E0-5832D817BE04}" dt="2025-01-28T14:17:18.615" v="15" actId="1076"/>
        <pc:sldMkLst>
          <pc:docMk/>
          <pc:sldMk cId="0" sldId="267"/>
        </pc:sldMkLst>
        <pc:spChg chg="mod">
          <ac:chgData name="Luiz Augusto Melo Pereira" userId="4bd5ce759a66f368" providerId="LiveId" clId="{7202EF69-C314-4B12-B9E0-5832D817BE04}" dt="2025-01-28T14:17:18.615" v="15" actId="1076"/>
          <ac:spMkLst>
            <pc:docMk/>
            <pc:sldMk cId="0" sldId="267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7202EF69-C314-4B12-B9E0-5832D817BE04}" dt="2025-01-28T14:17:22.880" v="17" actId="1076"/>
        <pc:sldMkLst>
          <pc:docMk/>
          <pc:sldMk cId="0" sldId="268"/>
        </pc:sldMkLst>
        <pc:spChg chg="mod">
          <ac:chgData name="Luiz Augusto Melo Pereira" userId="4bd5ce759a66f368" providerId="LiveId" clId="{7202EF69-C314-4B12-B9E0-5832D817BE04}" dt="2025-01-28T14:17:22.880" v="17" actId="1076"/>
          <ac:spMkLst>
            <pc:docMk/>
            <pc:sldMk cId="0" sldId="268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7202EF69-C314-4B12-B9E0-5832D817BE04}" dt="2025-01-28T14:17:25.685" v="18" actId="1076"/>
        <pc:sldMkLst>
          <pc:docMk/>
          <pc:sldMk cId="0" sldId="269"/>
        </pc:sldMkLst>
        <pc:spChg chg="mod">
          <ac:chgData name="Luiz Augusto Melo Pereira" userId="4bd5ce759a66f368" providerId="LiveId" clId="{7202EF69-C314-4B12-B9E0-5832D817BE04}" dt="2025-01-28T14:17:25.685" v="18" actId="1076"/>
          <ac:spMkLst>
            <pc:docMk/>
            <pc:sldMk cId="0" sldId="269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7202EF69-C314-4B12-B9E0-5832D817BE04}" dt="2025-01-28T14:17:28.098" v="19" actId="1076"/>
        <pc:sldMkLst>
          <pc:docMk/>
          <pc:sldMk cId="0" sldId="270"/>
        </pc:sldMkLst>
        <pc:spChg chg="mod">
          <ac:chgData name="Luiz Augusto Melo Pereira" userId="4bd5ce759a66f368" providerId="LiveId" clId="{7202EF69-C314-4B12-B9E0-5832D817BE04}" dt="2025-01-28T14:17:28.098" v="19" actId="1076"/>
          <ac:spMkLst>
            <pc:docMk/>
            <pc:sldMk cId="0" sldId="270"/>
            <ac:spMk id="3" creationId="{00000000-0000-0000-0000-000000000000}"/>
          </ac:spMkLst>
        </pc:spChg>
      </pc:sldChg>
      <pc:sldChg chg="modSp mod">
        <pc:chgData name="Luiz Augusto Melo Pereira" userId="4bd5ce759a66f368" providerId="LiveId" clId="{7202EF69-C314-4B12-B9E0-5832D817BE04}" dt="2025-01-28T14:17:38.923" v="23" actId="113"/>
        <pc:sldMkLst>
          <pc:docMk/>
          <pc:sldMk cId="0" sldId="271"/>
        </pc:sldMkLst>
        <pc:spChg chg="mod">
          <ac:chgData name="Luiz Augusto Melo Pereira" userId="4bd5ce759a66f368" providerId="LiveId" clId="{7202EF69-C314-4B12-B9E0-5832D817BE04}" dt="2025-01-28T14:17:31.447" v="21" actId="1076"/>
          <ac:spMkLst>
            <pc:docMk/>
            <pc:sldMk cId="0" sldId="271"/>
            <ac:spMk id="3" creationId="{00000000-0000-0000-0000-000000000000}"/>
          </ac:spMkLst>
        </pc:spChg>
        <pc:spChg chg="mod">
          <ac:chgData name="Luiz Augusto Melo Pereira" userId="4bd5ce759a66f368" providerId="LiveId" clId="{7202EF69-C314-4B12-B9E0-5832D817BE04}" dt="2025-01-28T14:17:38.923" v="23" actId="113"/>
          <ac:spMkLst>
            <pc:docMk/>
            <pc:sldMk cId="0" sldId="271"/>
            <ac:spMk id="4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1/28/2025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1/28/2025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1/28/2025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939" y="609676"/>
            <a:ext cx="9226550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939" y="1718548"/>
            <a:ext cx="7268845" cy="47567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hyperlink" Target="mailto:felipe.figueiredo@inatel.br" TargetMode="External"/><Relationship Id="rId4" Type="http://schemas.openxmlformats.org/officeDocument/2006/relationships/hyperlink" Target="mailto:luiz.melo@inatel.br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colab.research.google.com/github/luiz10ml/tp555-ml/blob/main/exemplos/dimensionality-reduction/pca/aplicando_pca_em_conjunto_3D.ipynb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7" Type="http://schemas.openxmlformats.org/officeDocument/2006/relationships/image" Target="../media/image15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.jpg"/><Relationship Id="rId5" Type="http://schemas.openxmlformats.org/officeDocument/2006/relationships/image" Target="../media/image13.jpg"/><Relationship Id="rId4" Type="http://schemas.openxmlformats.org/officeDocument/2006/relationships/image" Target="../media/image12.jp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1154" y="1021207"/>
            <a:ext cx="10893425" cy="2407920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12700" marR="5080" algn="ctr">
              <a:lnSpc>
                <a:spcPts val="5830"/>
              </a:lnSpc>
              <a:spcBef>
                <a:spcPts val="835"/>
              </a:spcBef>
            </a:pPr>
            <a:r>
              <a:rPr sz="5400" dirty="0"/>
              <a:t>TP555</a:t>
            </a:r>
            <a:r>
              <a:rPr sz="5400" spc="-55" dirty="0"/>
              <a:t> </a:t>
            </a:r>
            <a:r>
              <a:rPr sz="5400" dirty="0"/>
              <a:t>-</a:t>
            </a:r>
            <a:r>
              <a:rPr sz="5400" spc="-35" dirty="0"/>
              <a:t> </a:t>
            </a:r>
            <a:r>
              <a:rPr sz="5400" dirty="0"/>
              <a:t>Inteligência</a:t>
            </a:r>
            <a:r>
              <a:rPr sz="5400" spc="-80" dirty="0"/>
              <a:t> </a:t>
            </a:r>
            <a:r>
              <a:rPr sz="5400" dirty="0"/>
              <a:t>Artificial</a:t>
            </a:r>
            <a:r>
              <a:rPr sz="5400" spc="-40" dirty="0"/>
              <a:t> </a:t>
            </a:r>
            <a:r>
              <a:rPr sz="5400" dirty="0"/>
              <a:t>e</a:t>
            </a:r>
            <a:r>
              <a:rPr sz="5400" spc="-45" dirty="0"/>
              <a:t> </a:t>
            </a:r>
            <a:r>
              <a:rPr sz="5400" spc="-10" dirty="0"/>
              <a:t>Machine Learning:</a:t>
            </a:r>
            <a:endParaRPr sz="5400"/>
          </a:p>
          <a:p>
            <a:pPr marL="2540" algn="ctr">
              <a:lnSpc>
                <a:spcPts val="6360"/>
              </a:lnSpc>
            </a:pPr>
            <a:r>
              <a:rPr sz="6000" spc="-35" dirty="0"/>
              <a:t>Redução</a:t>
            </a:r>
            <a:r>
              <a:rPr sz="6000" spc="-235" dirty="0"/>
              <a:t> </a:t>
            </a:r>
            <a:r>
              <a:rPr sz="6000" dirty="0"/>
              <a:t>de</a:t>
            </a:r>
            <a:r>
              <a:rPr sz="6000" spc="-185" dirty="0"/>
              <a:t> </a:t>
            </a:r>
            <a:r>
              <a:rPr sz="6000" spc="-10" dirty="0"/>
              <a:t>Dimensionalidade</a:t>
            </a:r>
            <a:endParaRPr sz="600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2845" y="5558130"/>
            <a:ext cx="2178468" cy="61853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65191" y="3442715"/>
            <a:ext cx="2261616" cy="2237232"/>
          </a:xfrm>
          <a:prstGeom prst="rect">
            <a:avLst/>
          </a:prstGeom>
        </p:spPr>
      </p:pic>
      <p:sp>
        <p:nvSpPr>
          <p:cNvPr id="6" name="object 3">
            <a:extLst>
              <a:ext uri="{FF2B5EF4-FFF2-40B4-BE49-F238E27FC236}">
                <a16:creationId xmlns:a16="http://schemas.microsoft.com/office/drawing/2014/main" id="{26FE6534-6C88-48BC-648B-FD283FD505E5}"/>
              </a:ext>
            </a:extLst>
          </p:cNvPr>
          <p:cNvSpPr txBox="1"/>
          <p:nvPr/>
        </p:nvSpPr>
        <p:spPr>
          <a:xfrm>
            <a:off x="4193222" y="6176369"/>
            <a:ext cx="3805554" cy="6070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pt-BR" sz="2000" b="1" dirty="0">
                <a:latin typeface="Calibri"/>
                <a:cs typeface="Calibri"/>
              </a:rPr>
              <a:t>Prof. Dr. Luiz Augusto Melo Pereira</a:t>
            </a:r>
            <a:endParaRPr sz="2000" b="1" dirty="0">
              <a:latin typeface="Calibri"/>
              <a:cs typeface="Calibri"/>
            </a:endParaRPr>
          </a:p>
          <a:p>
            <a:pPr marL="12700" algn="ctr">
              <a:lnSpc>
                <a:spcPct val="100000"/>
              </a:lnSpc>
              <a:spcBef>
                <a:spcPts val="10"/>
              </a:spcBef>
            </a:pPr>
            <a:r>
              <a:rPr lang="pt-BR" spc="-10" dirty="0">
                <a:latin typeface="Calibri"/>
                <a:cs typeface="Calibri"/>
                <a:hlinkClick r:id="rId4"/>
              </a:rPr>
              <a:t>luiz</a:t>
            </a:r>
            <a:r>
              <a:rPr lang="pt-BR" sz="1800" spc="-10" dirty="0">
                <a:latin typeface="Calibri"/>
                <a:cs typeface="Calibri"/>
                <a:hlinkClick r:id="rId4"/>
              </a:rPr>
              <a:t>.melo@inatel.br</a:t>
            </a:r>
            <a:endParaRPr lang="pt-BR" sz="1800" dirty="0">
              <a:latin typeface="Calibri"/>
              <a:cs typeface="Calibri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5BD9DEB-31A8-FCEF-0522-F46946AA70C0}"/>
              </a:ext>
            </a:extLst>
          </p:cNvPr>
          <p:cNvSpPr txBox="1"/>
          <p:nvPr/>
        </p:nvSpPr>
        <p:spPr>
          <a:xfrm>
            <a:off x="7137790" y="3972006"/>
            <a:ext cx="512512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Calibri"/>
                <a:cs typeface="Calibri"/>
              </a:rPr>
              <a:t>Esse material foi desenvolvido e gentilmente cedido </a:t>
            </a:r>
          </a:p>
          <a:p>
            <a:r>
              <a:rPr lang="pt-BR" dirty="0">
                <a:latin typeface="Calibri"/>
                <a:cs typeface="Calibri"/>
              </a:rPr>
              <a:t>pelo Prof. Dr. Felipe Augusto Pereira de Figueiredo, </a:t>
            </a:r>
          </a:p>
          <a:p>
            <a:r>
              <a:rPr lang="pt-BR" dirty="0">
                <a:latin typeface="Calibri"/>
                <a:cs typeface="Calibri"/>
              </a:rPr>
              <a:t>do Inatel.</a:t>
            </a:r>
            <a:r>
              <a:rPr lang="pt-BR" sz="1800" spc="-10" dirty="0">
                <a:latin typeface="Calibri"/>
                <a:cs typeface="Calibri"/>
              </a:rPr>
              <a:t>(</a:t>
            </a:r>
            <a:r>
              <a:rPr lang="pt-BR" sz="1800" spc="-10" dirty="0">
                <a:latin typeface="Calibri"/>
                <a:cs typeface="Calibri"/>
                <a:hlinkClick r:id="rId5"/>
              </a:rPr>
              <a:t>felipe.figueiredo@inatel.br</a:t>
            </a:r>
            <a:r>
              <a:rPr lang="pt-BR" sz="1800" spc="-10" dirty="0">
                <a:latin typeface="Calibri"/>
                <a:cs typeface="Calibri"/>
              </a:rPr>
              <a:t>)</a:t>
            </a:r>
            <a:endParaRPr lang="pt-BR" sz="1800" dirty="0">
              <a:latin typeface="Calibri"/>
              <a:cs typeface="Calibri"/>
            </a:endParaRPr>
          </a:p>
          <a:p>
            <a:endParaRPr lang="pt-BR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Redução</a:t>
            </a:r>
            <a:r>
              <a:rPr spc="-55" dirty="0"/>
              <a:t> </a:t>
            </a:r>
            <a:r>
              <a:rPr dirty="0"/>
              <a:t>de</a:t>
            </a:r>
            <a:r>
              <a:rPr spc="-45" dirty="0"/>
              <a:t> </a:t>
            </a:r>
            <a:r>
              <a:rPr spc="-10" dirty="0"/>
              <a:t>Dimensionalidade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10850245" cy="390588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110489" indent="-229235">
              <a:lnSpc>
                <a:spcPts val="3020"/>
              </a:lnSpc>
              <a:spcBef>
                <a:spcPts val="480"/>
              </a:spcBef>
              <a:buFont typeface="Arial"/>
              <a:buChar char="•"/>
              <a:tabLst>
                <a:tab pos="241935" algn="l"/>
              </a:tabLst>
            </a:pPr>
            <a:r>
              <a:rPr sz="2800" dirty="0">
                <a:latin typeface="Calibri"/>
                <a:cs typeface="Calibri"/>
              </a:rPr>
              <a:t>Muitos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problemas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aprendizado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máquina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envolvem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centenas, </a:t>
            </a:r>
            <a:r>
              <a:rPr sz="2800" dirty="0">
                <a:latin typeface="Calibri"/>
                <a:cs typeface="Calibri"/>
              </a:rPr>
              <a:t>milhares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ou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até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milhões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atributos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cada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exemplo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treinamento.</a:t>
            </a:r>
            <a:endParaRPr sz="2800" dirty="0">
              <a:latin typeface="Calibri"/>
              <a:cs typeface="Calibri"/>
            </a:endParaRPr>
          </a:p>
          <a:p>
            <a:pPr marL="241300" marR="205740" indent="-229235">
              <a:lnSpc>
                <a:spcPts val="3020"/>
              </a:lnSpc>
              <a:spcBef>
                <a:spcPts val="1015"/>
              </a:spcBef>
              <a:buFont typeface="Arial"/>
              <a:buChar char="•"/>
              <a:tabLst>
                <a:tab pos="241935" algn="l"/>
              </a:tabLst>
            </a:pPr>
            <a:r>
              <a:rPr sz="2800" dirty="0">
                <a:latin typeface="Calibri"/>
                <a:cs typeface="Calibri"/>
              </a:rPr>
              <a:t>Isso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não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apenas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torna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treinamento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extremamente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lento,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também </a:t>
            </a:r>
            <a:r>
              <a:rPr sz="2800" dirty="0">
                <a:latin typeface="Calibri"/>
                <a:cs typeface="Calibri"/>
              </a:rPr>
              <a:t>pode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tornar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muito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mais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difícil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encontrar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boa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solução.</a:t>
            </a:r>
            <a:endParaRPr sz="2800" dirty="0">
              <a:latin typeface="Calibri"/>
              <a:cs typeface="Calibri"/>
            </a:endParaRPr>
          </a:p>
          <a:p>
            <a:pPr marL="241300" marR="1633855" indent="-229235">
              <a:lnSpc>
                <a:spcPts val="3020"/>
              </a:lnSpc>
              <a:spcBef>
                <a:spcPts val="1005"/>
              </a:spcBef>
              <a:buFont typeface="Arial"/>
              <a:buChar char="•"/>
              <a:tabLst>
                <a:tab pos="241935" algn="l"/>
              </a:tabLst>
            </a:pPr>
            <a:r>
              <a:rPr sz="2800" dirty="0">
                <a:latin typeface="Calibri"/>
                <a:cs typeface="Calibri"/>
              </a:rPr>
              <a:t>Este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problema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frequentemente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referido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maldição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da </a:t>
            </a:r>
            <a:r>
              <a:rPr sz="2800" spc="-10" dirty="0">
                <a:latin typeface="Calibri"/>
                <a:cs typeface="Calibri"/>
              </a:rPr>
              <a:t>dimensionalidade.</a:t>
            </a:r>
            <a:endParaRPr sz="2800" dirty="0">
              <a:latin typeface="Calibri"/>
              <a:cs typeface="Calibri"/>
            </a:endParaRPr>
          </a:p>
          <a:p>
            <a:pPr marL="241300" marR="5080" indent="-229235">
              <a:lnSpc>
                <a:spcPts val="3020"/>
              </a:lnSpc>
              <a:spcBef>
                <a:spcPts val="1010"/>
              </a:spcBef>
              <a:buFont typeface="Arial"/>
              <a:buChar char="•"/>
              <a:tabLst>
                <a:tab pos="241935" algn="l"/>
              </a:tabLst>
            </a:pPr>
            <a:r>
              <a:rPr sz="2800" spc="-20" dirty="0">
                <a:latin typeface="Calibri"/>
                <a:cs typeface="Calibri"/>
              </a:rPr>
              <a:t>Felizmente,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em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problemas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mundo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real,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muitas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vezes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possível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reduzir </a:t>
            </a:r>
            <a:r>
              <a:rPr sz="2800" spc="-25" dirty="0">
                <a:latin typeface="Calibri"/>
                <a:cs typeface="Calibri"/>
              </a:rPr>
              <a:t>consideravelmente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número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atributos,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transformando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problema </a:t>
            </a:r>
            <a:r>
              <a:rPr sz="2800" spc="-25" dirty="0">
                <a:latin typeface="Calibri"/>
                <a:cs typeface="Calibri"/>
              </a:rPr>
              <a:t>intratável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em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tratável.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Redução</a:t>
            </a:r>
            <a:r>
              <a:rPr spc="-55" dirty="0"/>
              <a:t> </a:t>
            </a:r>
            <a:r>
              <a:rPr dirty="0"/>
              <a:t>de</a:t>
            </a:r>
            <a:r>
              <a:rPr spc="-45" dirty="0"/>
              <a:t> </a:t>
            </a:r>
            <a:r>
              <a:rPr spc="-10" dirty="0"/>
              <a:t>Dimensionalidade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10962005" cy="466090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marR="329565" indent="-229235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241935" algn="l"/>
              </a:tabLst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redução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dimensionalidade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transforma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dados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espaço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alta </a:t>
            </a:r>
            <a:r>
              <a:rPr sz="2800" dirty="0">
                <a:latin typeface="Calibri"/>
                <a:cs typeface="Calibri"/>
              </a:rPr>
              <a:t>dimensão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em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espaço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baixa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dimensão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forma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a </a:t>
            </a:r>
            <a:r>
              <a:rPr sz="2800" spc="-20" dirty="0">
                <a:latin typeface="Calibri"/>
                <a:cs typeface="Calibri"/>
              </a:rPr>
              <a:t>representação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baixa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dimensão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retenha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algumas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propriedades significativas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dados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originais,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idealmente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próximas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sua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dimensão original.</a:t>
            </a:r>
            <a:endParaRPr sz="2800" dirty="0">
              <a:latin typeface="Calibri"/>
              <a:cs typeface="Calibri"/>
            </a:endParaRPr>
          </a:p>
          <a:p>
            <a:pPr marL="241300" indent="-229235">
              <a:lnSpc>
                <a:spcPts val="3195"/>
              </a:lnSpc>
              <a:spcBef>
                <a:spcPts val="675"/>
              </a:spcBef>
              <a:buFont typeface="Arial"/>
              <a:buChar char="•"/>
              <a:tabLst>
                <a:tab pos="241935" algn="l"/>
              </a:tabLst>
            </a:pPr>
            <a:r>
              <a:rPr sz="2800" dirty="0">
                <a:latin typeface="Calibri"/>
                <a:cs typeface="Calibri"/>
              </a:rPr>
              <a:t>As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abordagens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redução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dimensionalidade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podem</a:t>
            </a:r>
            <a:r>
              <a:rPr sz="2800" spc="-1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ser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divididas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em</a:t>
            </a:r>
            <a:endParaRPr sz="2800" dirty="0">
              <a:latin typeface="Calibri"/>
              <a:cs typeface="Calibri"/>
            </a:endParaRPr>
          </a:p>
          <a:p>
            <a:pPr marL="241300">
              <a:lnSpc>
                <a:spcPts val="3195"/>
              </a:lnSpc>
            </a:pPr>
            <a:r>
              <a:rPr sz="2800" b="1" i="1" dirty="0">
                <a:latin typeface="Calibri"/>
                <a:cs typeface="Calibri"/>
              </a:rPr>
              <a:t>seleção</a:t>
            </a:r>
            <a:r>
              <a:rPr sz="2800" b="1" i="1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extração</a:t>
            </a:r>
            <a:r>
              <a:rPr sz="2800" b="1" i="1" spc="-6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de</a:t>
            </a:r>
            <a:r>
              <a:rPr sz="2800" b="1" i="1" spc="-8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atributos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698500" marR="121285" lvl="1" indent="-228600">
              <a:lnSpc>
                <a:spcPts val="2590"/>
              </a:lnSpc>
              <a:spcBef>
                <a:spcPts val="560"/>
              </a:spcBef>
              <a:buFont typeface="Arial"/>
              <a:buChar char="•"/>
              <a:tabLst>
                <a:tab pos="699135" algn="l"/>
              </a:tabLst>
            </a:pPr>
            <a:r>
              <a:rPr sz="2400" b="1" dirty="0">
                <a:latin typeface="Calibri"/>
                <a:cs typeface="Calibri"/>
              </a:rPr>
              <a:t>Extração</a:t>
            </a:r>
            <a:r>
              <a:rPr sz="2400" dirty="0">
                <a:latin typeface="Calibri"/>
                <a:cs typeface="Calibri"/>
              </a:rPr>
              <a:t>: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dados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originais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sofrem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algum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tipo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transformação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(e.g.,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projeção </a:t>
            </a:r>
            <a:r>
              <a:rPr sz="2400" dirty="0">
                <a:latin typeface="Calibri"/>
                <a:cs typeface="Calibri"/>
              </a:rPr>
              <a:t>linear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não-</a:t>
            </a:r>
            <a:r>
              <a:rPr sz="2400" dirty="0">
                <a:latin typeface="Calibri"/>
                <a:cs typeface="Calibri"/>
              </a:rPr>
              <a:t>linear),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dando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origem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novos atributos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em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espaço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dimensão </a:t>
            </a:r>
            <a:r>
              <a:rPr sz="2400" dirty="0">
                <a:latin typeface="Calibri"/>
                <a:cs typeface="Calibri"/>
              </a:rPr>
              <a:t>possivelmente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diferente.</a:t>
            </a:r>
            <a:endParaRPr sz="2400" dirty="0">
              <a:latin typeface="Calibri"/>
              <a:cs typeface="Calibri"/>
            </a:endParaRPr>
          </a:p>
          <a:p>
            <a:pPr marL="698500" marR="592455" lvl="1" indent="-228600">
              <a:lnSpc>
                <a:spcPts val="2590"/>
              </a:lnSpc>
              <a:spcBef>
                <a:spcPts val="509"/>
              </a:spcBef>
              <a:buFont typeface="Arial"/>
              <a:buChar char="•"/>
              <a:tabLst>
                <a:tab pos="699135" algn="l"/>
              </a:tabLst>
            </a:pPr>
            <a:r>
              <a:rPr sz="2400" b="1" dirty="0">
                <a:latin typeface="Calibri"/>
                <a:cs typeface="Calibri"/>
              </a:rPr>
              <a:t>Seleção</a:t>
            </a:r>
            <a:r>
              <a:rPr sz="2400" dirty="0">
                <a:latin typeface="Calibri"/>
                <a:cs typeface="Calibri"/>
              </a:rPr>
              <a:t>: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conjunto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atributos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originais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dado,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somente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subconjunto </a:t>
            </a:r>
            <a:r>
              <a:rPr sz="2400" dirty="0">
                <a:latin typeface="Calibri"/>
                <a:cs typeface="Calibri"/>
              </a:rPr>
              <a:t>deles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é </a:t>
            </a:r>
            <a:r>
              <a:rPr sz="2400" spc="-10" dirty="0">
                <a:latin typeface="Calibri"/>
                <a:cs typeface="Calibri"/>
              </a:rPr>
              <a:t>selecionado.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Redução</a:t>
            </a:r>
            <a:r>
              <a:rPr spc="-55" dirty="0"/>
              <a:t> </a:t>
            </a:r>
            <a:r>
              <a:rPr dirty="0"/>
              <a:t>de</a:t>
            </a:r>
            <a:r>
              <a:rPr spc="-45" dirty="0"/>
              <a:t> </a:t>
            </a:r>
            <a:r>
              <a:rPr spc="-10" dirty="0"/>
              <a:t>Dimensionalidade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8066"/>
            <a:ext cx="10883900" cy="4736465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241300" marR="5080" indent="-229235">
              <a:lnSpc>
                <a:spcPct val="90000"/>
              </a:lnSpc>
              <a:spcBef>
                <a:spcPts val="415"/>
              </a:spcBef>
              <a:buFont typeface="Arial"/>
              <a:buChar char="•"/>
              <a:tabLst>
                <a:tab pos="241935" algn="l"/>
              </a:tabLst>
            </a:pPr>
            <a:r>
              <a:rPr sz="2600" dirty="0">
                <a:latin typeface="Calibri"/>
                <a:cs typeface="Calibri"/>
              </a:rPr>
              <a:t>A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redução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dimensionalidade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pode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ser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usada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para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(i)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redução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ruído,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(ii) </a:t>
            </a:r>
            <a:r>
              <a:rPr sz="2600" dirty="0">
                <a:latin typeface="Calibri"/>
                <a:cs typeface="Calibri"/>
              </a:rPr>
              <a:t>visualização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dados,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análise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i="1" dirty="0">
                <a:latin typeface="Calibri"/>
                <a:cs typeface="Calibri"/>
              </a:rPr>
              <a:t>clusters</a:t>
            </a:r>
            <a:r>
              <a:rPr sz="2600" i="1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ou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(iii)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uma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etapa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intermediária </a:t>
            </a:r>
            <a:r>
              <a:rPr sz="2600" dirty="0">
                <a:latin typeface="Calibri"/>
                <a:cs typeface="Calibri"/>
              </a:rPr>
              <a:t>para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facilitar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outras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análises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(e.g.,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reduzir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custo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computacional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envolvido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no </a:t>
            </a:r>
            <a:r>
              <a:rPr sz="2600" spc="-10" dirty="0">
                <a:latin typeface="Calibri"/>
                <a:cs typeface="Calibri"/>
              </a:rPr>
              <a:t>processamento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dados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através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redução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dimensionalidade.).</a:t>
            </a:r>
            <a:endParaRPr sz="2600" dirty="0">
              <a:latin typeface="Calibri"/>
              <a:cs typeface="Calibri"/>
            </a:endParaRPr>
          </a:p>
          <a:p>
            <a:pPr marL="241300" marR="933450" indent="-229235">
              <a:lnSpc>
                <a:spcPts val="2810"/>
              </a:lnSpc>
              <a:spcBef>
                <a:spcPts val="1035"/>
              </a:spcBef>
              <a:buFont typeface="Arial"/>
              <a:buChar char="•"/>
              <a:tabLst>
                <a:tab pos="241935" algn="l"/>
              </a:tabLst>
            </a:pPr>
            <a:r>
              <a:rPr sz="2600" dirty="0">
                <a:latin typeface="Calibri"/>
                <a:cs typeface="Calibri"/>
              </a:rPr>
              <a:t>A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redução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dimensionalidade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faz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algumas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informações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sejam perdidas.</a:t>
            </a:r>
            <a:endParaRPr sz="26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225"/>
              </a:spcBef>
              <a:buFont typeface="Wingdings"/>
              <a:buChar char=""/>
              <a:tabLst>
                <a:tab pos="699135" algn="l"/>
              </a:tabLst>
            </a:pPr>
            <a:r>
              <a:rPr sz="2200" spc="-10" dirty="0">
                <a:latin typeface="Calibri"/>
                <a:cs typeface="Calibri"/>
              </a:rPr>
              <a:t>Exemplo: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compactar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uma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imagem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em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JPEG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pode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degradar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sua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qualidade.</a:t>
            </a:r>
            <a:endParaRPr sz="2200" dirty="0">
              <a:latin typeface="Calibri"/>
              <a:cs typeface="Calibri"/>
            </a:endParaRPr>
          </a:p>
          <a:p>
            <a:pPr marL="241300" marR="495934" indent="-229235">
              <a:lnSpc>
                <a:spcPts val="2810"/>
              </a:lnSpc>
              <a:spcBef>
                <a:spcPts val="1010"/>
              </a:spcBef>
              <a:buFont typeface="Arial"/>
              <a:buChar char="•"/>
              <a:tabLst>
                <a:tab pos="241935" algn="l"/>
              </a:tabLst>
            </a:pPr>
            <a:r>
              <a:rPr sz="2600" dirty="0">
                <a:latin typeface="Calibri"/>
                <a:cs typeface="Calibri"/>
              </a:rPr>
              <a:t>Desta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forma,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embora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acelere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treinamento,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também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pode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fazer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50" dirty="0">
                <a:latin typeface="Calibri"/>
                <a:cs typeface="Calibri"/>
              </a:rPr>
              <a:t>o </a:t>
            </a:r>
            <a:r>
              <a:rPr sz="2600" dirty="0">
                <a:latin typeface="Calibri"/>
                <a:cs typeface="Calibri"/>
              </a:rPr>
              <a:t>desempenho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modelo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seja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um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pouco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pior.</a:t>
            </a:r>
            <a:endParaRPr sz="2600" dirty="0">
              <a:latin typeface="Calibri"/>
              <a:cs typeface="Calibri"/>
            </a:endParaRPr>
          </a:p>
          <a:p>
            <a:pPr marL="241300" marR="199390" indent="-229235">
              <a:lnSpc>
                <a:spcPct val="90000"/>
              </a:lnSpc>
              <a:spcBef>
                <a:spcPts val="965"/>
              </a:spcBef>
              <a:buFont typeface="Arial"/>
              <a:buChar char="•"/>
              <a:tabLst>
                <a:tab pos="241935" algn="l"/>
              </a:tabLst>
            </a:pPr>
            <a:r>
              <a:rPr sz="2600" spc="-10" dirty="0">
                <a:latin typeface="Calibri"/>
                <a:cs typeface="Calibri"/>
              </a:rPr>
              <a:t>Entretanto,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em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alguns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casos,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redução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dimensionalidade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dados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de </a:t>
            </a:r>
            <a:r>
              <a:rPr sz="2600" dirty="0">
                <a:latin typeface="Calibri"/>
                <a:cs typeface="Calibri"/>
              </a:rPr>
              <a:t>treinamento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pode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filtrar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ruído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detalhes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desnecessários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e,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assim,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resultar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em </a:t>
            </a:r>
            <a:r>
              <a:rPr sz="2600" dirty="0">
                <a:latin typeface="Calibri"/>
                <a:cs typeface="Calibri"/>
              </a:rPr>
              <a:t>melhor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desempenho,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mas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em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geral,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ela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apenas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irá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acelerar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treinamento.</a:t>
            </a:r>
            <a:endParaRPr sz="2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Extração</a:t>
            </a:r>
            <a:r>
              <a:rPr spc="-50" dirty="0"/>
              <a:t> </a:t>
            </a:r>
            <a:r>
              <a:rPr dirty="0"/>
              <a:t>de</a:t>
            </a:r>
            <a:r>
              <a:rPr spc="-35" dirty="0"/>
              <a:t> </a:t>
            </a:r>
            <a:r>
              <a:rPr spc="-10" dirty="0"/>
              <a:t>Atributos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420"/>
              </a:spcBef>
              <a:buFont typeface="Arial"/>
              <a:buChar char="•"/>
              <a:tabLst>
                <a:tab pos="241935" algn="l"/>
              </a:tabLst>
            </a:pPr>
            <a:r>
              <a:rPr spc="-35" dirty="0"/>
              <a:t>Também</a:t>
            </a:r>
            <a:r>
              <a:rPr spc="-110" dirty="0"/>
              <a:t> </a:t>
            </a:r>
            <a:r>
              <a:rPr dirty="0"/>
              <a:t>conhecida</a:t>
            </a:r>
            <a:r>
              <a:rPr spc="-85" dirty="0"/>
              <a:t> </a:t>
            </a:r>
            <a:r>
              <a:rPr dirty="0"/>
              <a:t>como</a:t>
            </a:r>
            <a:r>
              <a:rPr spc="-85" dirty="0"/>
              <a:t> </a:t>
            </a:r>
            <a:r>
              <a:rPr b="1" i="1" dirty="0">
                <a:latin typeface="Calibri"/>
                <a:cs typeface="Calibri"/>
              </a:rPr>
              <a:t>projeção</a:t>
            </a:r>
            <a:r>
              <a:rPr b="1" i="1" spc="-110" dirty="0">
                <a:latin typeface="Calibri"/>
                <a:cs typeface="Calibri"/>
              </a:rPr>
              <a:t> </a:t>
            </a:r>
            <a:r>
              <a:rPr b="1" i="1" dirty="0">
                <a:latin typeface="Calibri"/>
                <a:cs typeface="Calibri"/>
              </a:rPr>
              <a:t>de</a:t>
            </a:r>
            <a:r>
              <a:rPr b="1" i="1" spc="-110" dirty="0">
                <a:latin typeface="Calibri"/>
                <a:cs typeface="Calibri"/>
              </a:rPr>
              <a:t> </a:t>
            </a:r>
            <a:r>
              <a:rPr b="1" i="1" spc="-10" dirty="0">
                <a:latin typeface="Calibri"/>
                <a:cs typeface="Calibri"/>
              </a:rPr>
              <a:t>atributos</a:t>
            </a:r>
            <a:r>
              <a:rPr spc="-10" dirty="0"/>
              <a:t>.</a:t>
            </a:r>
          </a:p>
          <a:p>
            <a:pPr marL="241300" marR="212090" indent="-229235">
              <a:lnSpc>
                <a:spcPts val="2690"/>
              </a:lnSpc>
              <a:spcBef>
                <a:spcPts val="975"/>
              </a:spcBef>
              <a:buFont typeface="Arial"/>
              <a:buChar char="•"/>
              <a:tabLst>
                <a:tab pos="241935" algn="l"/>
              </a:tabLst>
            </a:pPr>
            <a:r>
              <a:rPr dirty="0"/>
              <a:t>Ela</a:t>
            </a:r>
            <a:r>
              <a:rPr spc="-80" dirty="0"/>
              <a:t> </a:t>
            </a:r>
            <a:r>
              <a:rPr spc="-20" dirty="0"/>
              <a:t>transforma</a:t>
            </a:r>
            <a:r>
              <a:rPr spc="-40" dirty="0"/>
              <a:t> </a:t>
            </a:r>
            <a:r>
              <a:rPr dirty="0"/>
              <a:t>os</a:t>
            </a:r>
            <a:r>
              <a:rPr spc="-60" dirty="0"/>
              <a:t> </a:t>
            </a:r>
            <a:r>
              <a:rPr dirty="0"/>
              <a:t>dados</a:t>
            </a:r>
            <a:r>
              <a:rPr spc="-50" dirty="0"/>
              <a:t> </a:t>
            </a:r>
            <a:r>
              <a:rPr dirty="0"/>
              <a:t>do</a:t>
            </a:r>
            <a:r>
              <a:rPr spc="-55" dirty="0"/>
              <a:t> </a:t>
            </a:r>
            <a:r>
              <a:rPr dirty="0"/>
              <a:t>espaço</a:t>
            </a:r>
            <a:r>
              <a:rPr spc="-65" dirty="0"/>
              <a:t> </a:t>
            </a:r>
            <a:r>
              <a:rPr dirty="0"/>
              <a:t>de</a:t>
            </a:r>
            <a:r>
              <a:rPr spc="-55" dirty="0"/>
              <a:t> </a:t>
            </a:r>
            <a:r>
              <a:rPr spc="-20" dirty="0"/>
              <a:t>alta </a:t>
            </a:r>
            <a:r>
              <a:rPr dirty="0"/>
              <a:t>dimensão</a:t>
            </a:r>
            <a:r>
              <a:rPr spc="-60" dirty="0"/>
              <a:t> </a:t>
            </a:r>
            <a:r>
              <a:rPr dirty="0"/>
              <a:t>em</a:t>
            </a:r>
            <a:r>
              <a:rPr spc="-75" dirty="0"/>
              <a:t> </a:t>
            </a:r>
            <a:r>
              <a:rPr dirty="0"/>
              <a:t>um</a:t>
            </a:r>
            <a:r>
              <a:rPr spc="-70" dirty="0"/>
              <a:t> </a:t>
            </a:r>
            <a:r>
              <a:rPr dirty="0"/>
              <a:t>espaço</a:t>
            </a:r>
            <a:r>
              <a:rPr spc="-70" dirty="0"/>
              <a:t> </a:t>
            </a:r>
            <a:r>
              <a:rPr dirty="0"/>
              <a:t>de</a:t>
            </a:r>
            <a:r>
              <a:rPr spc="-70" dirty="0"/>
              <a:t> </a:t>
            </a:r>
            <a:r>
              <a:rPr dirty="0"/>
              <a:t>menor</a:t>
            </a:r>
            <a:r>
              <a:rPr spc="-60" dirty="0"/>
              <a:t> </a:t>
            </a:r>
            <a:r>
              <a:rPr spc="-10" dirty="0"/>
              <a:t>dimensões.</a:t>
            </a:r>
          </a:p>
          <a:p>
            <a:pPr marL="241300" marR="347345" indent="-229235">
              <a:lnSpc>
                <a:spcPct val="80000"/>
              </a:lnSpc>
              <a:spcBef>
                <a:spcPts val="1030"/>
              </a:spcBef>
              <a:buFont typeface="Arial"/>
              <a:buChar char="•"/>
              <a:tabLst>
                <a:tab pos="241935" algn="l"/>
              </a:tabLst>
            </a:pPr>
            <a:r>
              <a:rPr dirty="0"/>
              <a:t>Na</a:t>
            </a:r>
            <a:r>
              <a:rPr spc="-65" dirty="0"/>
              <a:t> </a:t>
            </a:r>
            <a:r>
              <a:rPr dirty="0"/>
              <a:t>maioria</a:t>
            </a:r>
            <a:r>
              <a:rPr spc="-75" dirty="0"/>
              <a:t> </a:t>
            </a:r>
            <a:r>
              <a:rPr dirty="0"/>
              <a:t>dos</a:t>
            </a:r>
            <a:r>
              <a:rPr spc="-70" dirty="0"/>
              <a:t> </a:t>
            </a:r>
            <a:r>
              <a:rPr spc="-10" dirty="0"/>
              <a:t>problemas</a:t>
            </a:r>
            <a:r>
              <a:rPr spc="-40" dirty="0"/>
              <a:t> </a:t>
            </a:r>
            <a:r>
              <a:rPr dirty="0"/>
              <a:t>do</a:t>
            </a:r>
            <a:r>
              <a:rPr spc="-70" dirty="0"/>
              <a:t> </a:t>
            </a:r>
            <a:r>
              <a:rPr dirty="0"/>
              <a:t>mundo</a:t>
            </a:r>
            <a:r>
              <a:rPr spc="-50" dirty="0"/>
              <a:t> </a:t>
            </a:r>
            <a:r>
              <a:rPr dirty="0"/>
              <a:t>real,</a:t>
            </a:r>
            <a:r>
              <a:rPr spc="-60" dirty="0"/>
              <a:t> </a:t>
            </a:r>
            <a:r>
              <a:rPr spc="-25" dirty="0"/>
              <a:t>os </a:t>
            </a:r>
            <a:r>
              <a:rPr spc="-20" dirty="0"/>
              <a:t>exemplos</a:t>
            </a:r>
            <a:r>
              <a:rPr spc="-55" dirty="0"/>
              <a:t> </a:t>
            </a:r>
            <a:r>
              <a:rPr dirty="0"/>
              <a:t>de</a:t>
            </a:r>
            <a:r>
              <a:rPr spc="-75" dirty="0"/>
              <a:t> </a:t>
            </a:r>
            <a:r>
              <a:rPr spc="-10" dirty="0"/>
              <a:t>treinamento</a:t>
            </a:r>
            <a:r>
              <a:rPr spc="-55" dirty="0"/>
              <a:t> </a:t>
            </a:r>
            <a:r>
              <a:rPr dirty="0"/>
              <a:t>não</a:t>
            </a:r>
            <a:r>
              <a:rPr spc="-75" dirty="0"/>
              <a:t> </a:t>
            </a:r>
            <a:r>
              <a:rPr dirty="0"/>
              <a:t>são</a:t>
            </a:r>
            <a:r>
              <a:rPr spc="-65" dirty="0"/>
              <a:t> </a:t>
            </a:r>
            <a:r>
              <a:rPr spc="-10" dirty="0"/>
              <a:t>distribuídos </a:t>
            </a:r>
            <a:r>
              <a:rPr spc="-20" dirty="0"/>
              <a:t>uniformemente</a:t>
            </a:r>
            <a:r>
              <a:rPr spc="-40" dirty="0"/>
              <a:t> </a:t>
            </a:r>
            <a:r>
              <a:rPr dirty="0"/>
              <a:t>em</a:t>
            </a:r>
            <a:r>
              <a:rPr spc="-50" dirty="0"/>
              <a:t> </a:t>
            </a:r>
            <a:r>
              <a:rPr dirty="0"/>
              <a:t>todas</a:t>
            </a:r>
            <a:r>
              <a:rPr spc="-65" dirty="0"/>
              <a:t> </a:t>
            </a:r>
            <a:r>
              <a:rPr dirty="0"/>
              <a:t>as</a:t>
            </a:r>
            <a:r>
              <a:rPr spc="-55" dirty="0"/>
              <a:t> </a:t>
            </a:r>
            <a:r>
              <a:rPr spc="-10" dirty="0"/>
              <a:t>dimensões.</a:t>
            </a:r>
          </a:p>
          <a:p>
            <a:pPr marL="241300" marR="10795" indent="-229235">
              <a:lnSpc>
                <a:spcPts val="2690"/>
              </a:lnSpc>
              <a:spcBef>
                <a:spcPts val="975"/>
              </a:spcBef>
              <a:buFont typeface="Arial"/>
              <a:buChar char="•"/>
              <a:tabLst>
                <a:tab pos="241935" algn="l"/>
              </a:tabLst>
            </a:pPr>
            <a:r>
              <a:rPr dirty="0"/>
              <a:t>Muitos</a:t>
            </a:r>
            <a:r>
              <a:rPr spc="-60" dirty="0"/>
              <a:t> </a:t>
            </a:r>
            <a:r>
              <a:rPr spc="-10" dirty="0"/>
              <a:t>atributos</a:t>
            </a:r>
            <a:r>
              <a:rPr spc="-65" dirty="0"/>
              <a:t> </a:t>
            </a:r>
            <a:r>
              <a:rPr dirty="0"/>
              <a:t>são</a:t>
            </a:r>
            <a:r>
              <a:rPr spc="-70" dirty="0"/>
              <a:t> </a:t>
            </a:r>
            <a:r>
              <a:rPr dirty="0"/>
              <a:t>quase</a:t>
            </a:r>
            <a:r>
              <a:rPr spc="-75" dirty="0"/>
              <a:t> </a:t>
            </a:r>
            <a:r>
              <a:rPr spc="-10" dirty="0"/>
              <a:t>constantes, enquanto</a:t>
            </a:r>
            <a:r>
              <a:rPr spc="-90" dirty="0"/>
              <a:t> </a:t>
            </a:r>
            <a:r>
              <a:rPr dirty="0"/>
              <a:t>outros</a:t>
            </a:r>
            <a:r>
              <a:rPr spc="-80" dirty="0"/>
              <a:t> </a:t>
            </a:r>
            <a:r>
              <a:rPr dirty="0"/>
              <a:t>são</a:t>
            </a:r>
            <a:r>
              <a:rPr spc="-100" dirty="0"/>
              <a:t> </a:t>
            </a:r>
            <a:r>
              <a:rPr spc="-10" dirty="0"/>
              <a:t>altamente</a:t>
            </a:r>
            <a:r>
              <a:rPr spc="-105" dirty="0"/>
              <a:t> </a:t>
            </a:r>
            <a:r>
              <a:rPr spc="-10" dirty="0"/>
              <a:t>correlacionados.</a:t>
            </a:r>
          </a:p>
          <a:p>
            <a:pPr marL="241300" marR="11430" indent="-229235">
              <a:lnSpc>
                <a:spcPct val="80000"/>
              </a:lnSpc>
              <a:spcBef>
                <a:spcPts val="1015"/>
              </a:spcBef>
              <a:buFont typeface="Arial"/>
              <a:buChar char="•"/>
              <a:tabLst>
                <a:tab pos="241935" algn="l"/>
              </a:tabLst>
            </a:pPr>
            <a:r>
              <a:rPr dirty="0"/>
              <a:t>Como</a:t>
            </a:r>
            <a:r>
              <a:rPr spc="-100" dirty="0"/>
              <a:t> </a:t>
            </a:r>
            <a:r>
              <a:rPr spc="-10" dirty="0"/>
              <a:t>resultado,</a:t>
            </a:r>
            <a:r>
              <a:rPr spc="-65" dirty="0"/>
              <a:t> </a:t>
            </a:r>
            <a:r>
              <a:rPr dirty="0"/>
              <a:t>todos</a:t>
            </a:r>
            <a:r>
              <a:rPr spc="-90" dirty="0"/>
              <a:t> </a:t>
            </a:r>
            <a:r>
              <a:rPr dirty="0"/>
              <a:t>os</a:t>
            </a:r>
            <a:r>
              <a:rPr spc="-90" dirty="0"/>
              <a:t> </a:t>
            </a:r>
            <a:r>
              <a:rPr spc="-20" dirty="0"/>
              <a:t>exemplos</a:t>
            </a:r>
            <a:r>
              <a:rPr spc="-80" dirty="0"/>
              <a:t> </a:t>
            </a:r>
            <a:r>
              <a:rPr spc="-25" dirty="0"/>
              <a:t>de </a:t>
            </a:r>
            <a:r>
              <a:rPr spc="-20" dirty="0"/>
              <a:t>treinamento</a:t>
            </a:r>
            <a:r>
              <a:rPr spc="-90" dirty="0"/>
              <a:t> </a:t>
            </a:r>
            <a:r>
              <a:rPr dirty="0"/>
              <a:t>na</a:t>
            </a:r>
            <a:r>
              <a:rPr spc="-85" dirty="0"/>
              <a:t> </a:t>
            </a:r>
            <a:r>
              <a:rPr spc="-10" dirty="0"/>
              <a:t>verdade</a:t>
            </a:r>
            <a:r>
              <a:rPr spc="-95" dirty="0"/>
              <a:t> </a:t>
            </a:r>
            <a:r>
              <a:rPr dirty="0"/>
              <a:t>estão</a:t>
            </a:r>
            <a:r>
              <a:rPr spc="-80" dirty="0"/>
              <a:t> </a:t>
            </a:r>
            <a:r>
              <a:rPr dirty="0"/>
              <a:t>dentro</a:t>
            </a:r>
            <a:r>
              <a:rPr spc="-75" dirty="0"/>
              <a:t> </a:t>
            </a:r>
            <a:r>
              <a:rPr dirty="0"/>
              <a:t>(ou</a:t>
            </a:r>
            <a:r>
              <a:rPr spc="-100" dirty="0"/>
              <a:t> </a:t>
            </a:r>
            <a:r>
              <a:rPr spc="-10" dirty="0"/>
              <a:t>perto </a:t>
            </a:r>
            <a:r>
              <a:rPr dirty="0"/>
              <a:t>de)</a:t>
            </a:r>
            <a:r>
              <a:rPr spc="-90" dirty="0"/>
              <a:t> </a:t>
            </a:r>
            <a:r>
              <a:rPr dirty="0"/>
              <a:t>um</a:t>
            </a:r>
            <a:r>
              <a:rPr spc="-65" dirty="0"/>
              <a:t> </a:t>
            </a:r>
            <a:r>
              <a:rPr b="1" i="1" spc="-10" dirty="0">
                <a:latin typeface="Calibri"/>
                <a:cs typeface="Calibri"/>
              </a:rPr>
              <a:t>subespaço</a:t>
            </a:r>
            <a:r>
              <a:rPr b="1" i="1" spc="-90" dirty="0">
                <a:latin typeface="Calibri"/>
                <a:cs typeface="Calibri"/>
              </a:rPr>
              <a:t> </a:t>
            </a:r>
            <a:r>
              <a:rPr dirty="0"/>
              <a:t>de</a:t>
            </a:r>
            <a:r>
              <a:rPr spc="-80" dirty="0"/>
              <a:t> </a:t>
            </a:r>
            <a:r>
              <a:rPr dirty="0"/>
              <a:t>dimensão</a:t>
            </a:r>
            <a:r>
              <a:rPr spc="-60" dirty="0"/>
              <a:t> </a:t>
            </a:r>
            <a:r>
              <a:rPr dirty="0"/>
              <a:t>muito</a:t>
            </a:r>
            <a:r>
              <a:rPr spc="-50" dirty="0"/>
              <a:t> </a:t>
            </a:r>
            <a:r>
              <a:rPr dirty="0"/>
              <a:t>menor</a:t>
            </a:r>
            <a:r>
              <a:rPr spc="-75" dirty="0"/>
              <a:t> </a:t>
            </a:r>
            <a:r>
              <a:rPr spc="-25" dirty="0"/>
              <a:t>do </a:t>
            </a:r>
            <a:r>
              <a:rPr dirty="0"/>
              <a:t>espaço</a:t>
            </a:r>
            <a:r>
              <a:rPr spc="-70" dirty="0"/>
              <a:t> </a:t>
            </a:r>
            <a:r>
              <a:rPr dirty="0"/>
              <a:t>de</a:t>
            </a:r>
            <a:r>
              <a:rPr spc="-75" dirty="0"/>
              <a:t> </a:t>
            </a:r>
            <a:r>
              <a:rPr dirty="0"/>
              <a:t>alta</a:t>
            </a:r>
            <a:r>
              <a:rPr spc="-70" dirty="0"/>
              <a:t> </a:t>
            </a:r>
            <a:r>
              <a:rPr spc="-10" dirty="0"/>
              <a:t>dimensão.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21751" y="2159507"/>
            <a:ext cx="3588385" cy="315761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541511" y="5351526"/>
            <a:ext cx="334772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Calibri"/>
                <a:cs typeface="Calibri"/>
              </a:rPr>
              <a:t>Conjunto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dados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em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3D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próximo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um</a:t>
            </a:r>
            <a:endParaRPr sz="1600">
              <a:latin typeface="Calibri"/>
              <a:cs typeface="Calibri"/>
            </a:endParaRPr>
          </a:p>
          <a:p>
            <a:pPr marL="635" algn="ctr">
              <a:lnSpc>
                <a:spcPct val="100000"/>
              </a:lnSpc>
            </a:pPr>
            <a:r>
              <a:rPr sz="1600" spc="-10" dirty="0">
                <a:latin typeface="Calibri"/>
                <a:cs typeface="Calibri"/>
              </a:rPr>
              <a:t>subespaço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</a:t>
            </a:r>
            <a:r>
              <a:rPr sz="1600" spc="-25" dirty="0">
                <a:latin typeface="Calibri"/>
                <a:cs typeface="Calibri"/>
              </a:rPr>
              <a:t> 2D.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Extração</a:t>
            </a:r>
            <a:r>
              <a:rPr spc="-50" dirty="0"/>
              <a:t> </a:t>
            </a:r>
            <a:r>
              <a:rPr dirty="0"/>
              <a:t>de</a:t>
            </a:r>
            <a:r>
              <a:rPr spc="-35" dirty="0"/>
              <a:t> </a:t>
            </a:r>
            <a:r>
              <a:rPr spc="-10" dirty="0"/>
              <a:t>Atributos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38200" y="1696456"/>
            <a:ext cx="7216140" cy="4768850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266700" marR="30480" indent="-229235">
              <a:lnSpc>
                <a:spcPts val="2690"/>
              </a:lnSpc>
              <a:spcBef>
                <a:spcPts val="740"/>
              </a:spcBef>
              <a:buFont typeface="Arial"/>
              <a:buChar char="•"/>
              <a:tabLst>
                <a:tab pos="267335" algn="l"/>
              </a:tabLst>
            </a:pPr>
            <a:r>
              <a:rPr sz="2800" dirty="0">
                <a:latin typeface="Calibri"/>
                <a:cs typeface="Calibri"/>
              </a:rPr>
              <a:t>Observe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todos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exemplos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treinamento </a:t>
            </a:r>
            <a:r>
              <a:rPr sz="2800" dirty="0">
                <a:latin typeface="Calibri"/>
                <a:cs typeface="Calibri"/>
              </a:rPr>
              <a:t>ficam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próximos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plano:</a:t>
            </a:r>
            <a:endParaRPr sz="2800" dirty="0">
              <a:latin typeface="Calibri"/>
              <a:cs typeface="Calibri"/>
            </a:endParaRPr>
          </a:p>
          <a:p>
            <a:pPr marL="723900" lvl="1" indent="-229235">
              <a:lnSpc>
                <a:spcPts val="2555"/>
              </a:lnSpc>
              <a:spcBef>
                <a:spcPts val="5"/>
              </a:spcBef>
              <a:buFont typeface="Wingdings"/>
              <a:buChar char=""/>
              <a:tabLst>
                <a:tab pos="724535" algn="l"/>
              </a:tabLst>
            </a:pPr>
            <a:r>
              <a:rPr sz="2400" dirty="0">
                <a:latin typeface="Calibri"/>
                <a:cs typeface="Calibri"/>
              </a:rPr>
              <a:t>Este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é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subespaço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dimensão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menor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(2D)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do</a:t>
            </a:r>
            <a:endParaRPr sz="2400" dirty="0">
              <a:latin typeface="Calibri"/>
              <a:cs typeface="Calibri"/>
            </a:endParaRPr>
          </a:p>
          <a:p>
            <a:pPr marL="723900">
              <a:lnSpc>
                <a:spcPts val="2595"/>
              </a:lnSpc>
            </a:pPr>
            <a:r>
              <a:rPr sz="2400" dirty="0">
                <a:latin typeface="Calibri"/>
                <a:cs typeface="Calibri"/>
              </a:rPr>
              <a:t>espaço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dimensão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alta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(3D).</a:t>
            </a:r>
            <a:endParaRPr sz="2400" dirty="0">
              <a:latin typeface="Calibri"/>
              <a:cs typeface="Calibri"/>
            </a:endParaRPr>
          </a:p>
          <a:p>
            <a:pPr marL="266700" marR="60960" indent="-229235">
              <a:lnSpc>
                <a:spcPct val="80000"/>
              </a:lnSpc>
              <a:spcBef>
                <a:spcPts val="980"/>
              </a:spcBef>
              <a:buFont typeface="Arial"/>
              <a:buChar char="•"/>
              <a:tabLst>
                <a:tab pos="267335" algn="l"/>
              </a:tabLst>
            </a:pPr>
            <a:r>
              <a:rPr sz="2800" spc="-10" dirty="0">
                <a:latin typeface="Calibri"/>
                <a:cs typeface="Calibri"/>
              </a:rPr>
              <a:t>Agora,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projetarmos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cada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exemplo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de </a:t>
            </a:r>
            <a:r>
              <a:rPr sz="2800" spc="-10" dirty="0">
                <a:latin typeface="Calibri"/>
                <a:cs typeface="Calibri"/>
              </a:rPr>
              <a:t>treinamento</a:t>
            </a:r>
            <a:r>
              <a:rPr sz="2800" spc="-1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perpendicularmente</a:t>
            </a:r>
            <a:r>
              <a:rPr sz="2800" spc="-1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neste </a:t>
            </a:r>
            <a:r>
              <a:rPr sz="2800" dirty="0">
                <a:latin typeface="Calibri"/>
                <a:cs typeface="Calibri"/>
              </a:rPr>
              <a:t>subespaço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(conforme</a:t>
            </a:r>
            <a:r>
              <a:rPr sz="2800" spc="-114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representado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pelas</a:t>
            </a:r>
            <a:r>
              <a:rPr sz="2800" spc="-114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linhas </a:t>
            </a:r>
            <a:r>
              <a:rPr sz="2800" dirty="0">
                <a:latin typeface="Calibri"/>
                <a:cs typeface="Calibri"/>
              </a:rPr>
              <a:t>curtas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conectando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exemplos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plano), obteremos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novo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conjunto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dados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2D </a:t>
            </a:r>
            <a:r>
              <a:rPr sz="2800" spc="-10" dirty="0">
                <a:latin typeface="Calibri"/>
                <a:cs typeface="Calibri"/>
              </a:rPr>
              <a:t>mostrado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figura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lado.</a:t>
            </a:r>
            <a:endParaRPr sz="2800" dirty="0">
              <a:latin typeface="Calibri"/>
              <a:cs typeface="Calibri"/>
            </a:endParaRPr>
          </a:p>
          <a:p>
            <a:pPr marL="266700" marR="66040" indent="-229235">
              <a:lnSpc>
                <a:spcPct val="80000"/>
              </a:lnSpc>
              <a:spcBef>
                <a:spcPts val="994"/>
              </a:spcBef>
              <a:buFont typeface="Arial"/>
              <a:buChar char="•"/>
              <a:tabLst>
                <a:tab pos="267335" algn="l"/>
              </a:tabLst>
            </a:pPr>
            <a:r>
              <a:rPr sz="2800" dirty="0">
                <a:latin typeface="Calibri"/>
                <a:cs typeface="Calibri"/>
              </a:rPr>
              <a:t>Observe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eixos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correspondem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aos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novos </a:t>
            </a:r>
            <a:r>
              <a:rPr sz="2800" dirty="0">
                <a:latin typeface="Calibri"/>
                <a:cs typeface="Calibri"/>
              </a:rPr>
              <a:t>atributos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𝑧</a:t>
            </a:r>
            <a:r>
              <a:rPr sz="3075" baseline="-16260" dirty="0">
                <a:latin typeface="Cambria Math"/>
                <a:cs typeface="Cambria Math"/>
              </a:rPr>
              <a:t>1</a:t>
            </a:r>
            <a:r>
              <a:rPr sz="3075" spc="315" baseline="-16260" dirty="0">
                <a:latin typeface="Cambria Math"/>
                <a:cs typeface="Cambria Math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𝑧</a:t>
            </a:r>
            <a:r>
              <a:rPr sz="3075" baseline="-16260" dirty="0">
                <a:latin typeface="Cambria Math"/>
                <a:cs typeface="Cambria Math"/>
              </a:rPr>
              <a:t>2</a:t>
            </a:r>
            <a:r>
              <a:rPr sz="3075" spc="322" baseline="-16260" dirty="0">
                <a:latin typeface="Cambria Math"/>
                <a:cs typeface="Cambria Math"/>
              </a:rPr>
              <a:t> </a:t>
            </a:r>
            <a:r>
              <a:rPr sz="2800" dirty="0">
                <a:latin typeface="Calibri"/>
                <a:cs typeface="Calibri"/>
              </a:rPr>
              <a:t>(as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coordenadas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projeções </a:t>
            </a:r>
            <a:r>
              <a:rPr sz="2800" dirty="0">
                <a:latin typeface="Calibri"/>
                <a:cs typeface="Calibri"/>
              </a:rPr>
              <a:t>no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plano).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36051" y="105155"/>
            <a:ext cx="3588385" cy="315761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33228" y="3605207"/>
            <a:ext cx="3620565" cy="308239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Análise</a:t>
            </a:r>
            <a:r>
              <a:rPr spc="-50" dirty="0"/>
              <a:t> </a:t>
            </a:r>
            <a:r>
              <a:rPr dirty="0"/>
              <a:t>de</a:t>
            </a:r>
            <a:r>
              <a:rPr spc="-45" dirty="0"/>
              <a:t> </a:t>
            </a:r>
            <a:r>
              <a:rPr dirty="0"/>
              <a:t>Componentes</a:t>
            </a:r>
            <a:r>
              <a:rPr spc="-45" dirty="0"/>
              <a:t> </a:t>
            </a:r>
            <a:r>
              <a:rPr dirty="0"/>
              <a:t>Principais</a:t>
            </a:r>
            <a:r>
              <a:rPr spc="-40" dirty="0"/>
              <a:t> </a:t>
            </a:r>
            <a:r>
              <a:rPr spc="-10" dirty="0"/>
              <a:t>(PCA)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59966"/>
            <a:ext cx="11000105" cy="4848225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241300" marR="171450" indent="-229235">
              <a:lnSpc>
                <a:spcPct val="80000"/>
              </a:lnSpc>
              <a:spcBef>
                <a:spcPts val="765"/>
              </a:spcBef>
              <a:buFont typeface="Arial"/>
              <a:buChar char="•"/>
              <a:tabLst>
                <a:tab pos="241935" algn="l"/>
              </a:tabLst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Análise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Componentes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Principais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(em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inglês,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Principal</a:t>
            </a:r>
            <a:r>
              <a:rPr sz="2800" i="1" spc="-85" dirty="0">
                <a:latin typeface="Calibri"/>
                <a:cs typeface="Calibri"/>
              </a:rPr>
              <a:t> </a:t>
            </a:r>
            <a:r>
              <a:rPr sz="2800" i="1" spc="-10" dirty="0">
                <a:latin typeface="Calibri"/>
                <a:cs typeface="Calibri"/>
              </a:rPr>
              <a:t>Component </a:t>
            </a:r>
            <a:r>
              <a:rPr sz="2800" i="1" dirty="0">
                <a:latin typeface="Calibri"/>
                <a:cs typeface="Calibri"/>
              </a:rPr>
              <a:t>Analysis</a:t>
            </a:r>
            <a:r>
              <a:rPr sz="2800" i="1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-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PCA)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algoritmo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redução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dimensionalidade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linear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mais </a:t>
            </a:r>
            <a:r>
              <a:rPr sz="2800" spc="-10" dirty="0">
                <a:latin typeface="Calibri"/>
                <a:cs typeface="Calibri"/>
              </a:rPr>
              <a:t>popular.</a:t>
            </a:r>
            <a:endParaRPr sz="2800" dirty="0">
              <a:latin typeface="Calibri"/>
              <a:cs typeface="Calibri"/>
            </a:endParaRPr>
          </a:p>
          <a:p>
            <a:pPr marL="241300" marR="1090295" indent="-229235">
              <a:lnSpc>
                <a:spcPct val="80000"/>
              </a:lnSpc>
              <a:spcBef>
                <a:spcPts val="1000"/>
              </a:spcBef>
              <a:buFont typeface="Arial"/>
              <a:buChar char="•"/>
              <a:tabLst>
                <a:tab pos="241935" algn="l"/>
              </a:tabLst>
            </a:pPr>
            <a:r>
              <a:rPr sz="2800" spc="-10" dirty="0">
                <a:latin typeface="Calibri"/>
                <a:cs typeface="Calibri"/>
              </a:rPr>
              <a:t>Primeiro,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ele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identifica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hiperplano</a:t>
            </a:r>
            <a:r>
              <a:rPr sz="2800" b="1" i="1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mais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próximo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dados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e,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em </a:t>
            </a:r>
            <a:r>
              <a:rPr sz="2800" dirty="0">
                <a:latin typeface="Calibri"/>
                <a:cs typeface="Calibri"/>
              </a:rPr>
              <a:t>seguida,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projeta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dados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nele,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figura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anterior.</a:t>
            </a:r>
            <a:endParaRPr sz="2800" dirty="0">
              <a:latin typeface="Calibri"/>
              <a:cs typeface="Calibri"/>
            </a:endParaRPr>
          </a:p>
          <a:p>
            <a:pPr marL="698500" marR="5080" lvl="1" indent="-228600">
              <a:lnSpc>
                <a:spcPts val="2310"/>
              </a:lnSpc>
              <a:spcBef>
                <a:spcPts val="495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Ou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seja,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ele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realiza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mapeamento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linear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dados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espaço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dimensão </a:t>
            </a:r>
            <a:r>
              <a:rPr sz="2400" dirty="0">
                <a:latin typeface="Calibri"/>
                <a:cs typeface="Calibri"/>
              </a:rPr>
              <a:t>menor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forma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variância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dados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na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representação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dimensão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menor </a:t>
            </a:r>
            <a:r>
              <a:rPr sz="2400" dirty="0">
                <a:latin typeface="Calibri"/>
                <a:cs typeface="Calibri"/>
              </a:rPr>
              <a:t>seja</a:t>
            </a:r>
            <a:r>
              <a:rPr sz="2400" spc="-10" dirty="0">
                <a:latin typeface="Calibri"/>
                <a:cs typeface="Calibri"/>
              </a:rPr>
              <a:t> maximizada.</a:t>
            </a:r>
            <a:endParaRPr sz="2400" dirty="0">
              <a:latin typeface="Calibri"/>
              <a:cs typeface="Calibri"/>
            </a:endParaRPr>
          </a:p>
          <a:p>
            <a:pPr marL="241300" marR="1722120" indent="-229235">
              <a:lnSpc>
                <a:spcPct val="80000"/>
              </a:lnSpc>
              <a:spcBef>
                <a:spcPts val="990"/>
              </a:spcBef>
              <a:buFont typeface="Arial"/>
              <a:buChar char="•"/>
              <a:tabLst>
                <a:tab pos="241935" algn="l"/>
              </a:tabLst>
            </a:pPr>
            <a:r>
              <a:rPr sz="2800" dirty="0">
                <a:latin typeface="Calibri"/>
                <a:cs typeface="Calibri"/>
              </a:rPr>
              <a:t>Na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prática,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matriz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covariância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dados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construída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os </a:t>
            </a:r>
            <a:r>
              <a:rPr sz="2800" spc="-20" dirty="0">
                <a:latin typeface="Calibri"/>
                <a:cs typeface="Calibri"/>
              </a:rPr>
              <a:t>autovetores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autovalores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matriz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são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calculados.</a:t>
            </a:r>
            <a:endParaRPr sz="2800" dirty="0">
              <a:latin typeface="Calibri"/>
              <a:cs typeface="Calibri"/>
            </a:endParaRPr>
          </a:p>
          <a:p>
            <a:pPr marL="241300" marR="454025" indent="-229235" algn="just">
              <a:lnSpc>
                <a:spcPct val="80000"/>
              </a:lnSpc>
              <a:spcBef>
                <a:spcPts val="1010"/>
              </a:spcBef>
              <a:buFont typeface="Arial"/>
              <a:buChar char="•"/>
              <a:tabLst>
                <a:tab pos="241935" algn="l"/>
              </a:tabLst>
            </a:pPr>
            <a:r>
              <a:rPr sz="2800" dirty="0">
                <a:latin typeface="Calibri"/>
                <a:cs typeface="Calibri"/>
              </a:rPr>
              <a:t>Os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autovetores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correspondem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aos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maiores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autovalores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(ou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seja,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os </a:t>
            </a:r>
            <a:r>
              <a:rPr sz="2800" spc="-10" dirty="0">
                <a:latin typeface="Calibri"/>
                <a:cs typeface="Calibri"/>
              </a:rPr>
              <a:t>componentes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principais)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agora</a:t>
            </a:r>
            <a:r>
              <a:rPr sz="2800" spc="-1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podem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ser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usados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114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reconstruir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uma </a:t>
            </a:r>
            <a:r>
              <a:rPr sz="2800" dirty="0">
                <a:latin typeface="Calibri"/>
                <a:cs typeface="Calibri"/>
              </a:rPr>
              <a:t>grande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fração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variância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dados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originais.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Preservando</a:t>
            </a:r>
            <a:r>
              <a:rPr spc="-90" dirty="0"/>
              <a:t> </a:t>
            </a:r>
            <a:r>
              <a:rPr dirty="0"/>
              <a:t>a</a:t>
            </a:r>
            <a:r>
              <a:rPr spc="-75" dirty="0"/>
              <a:t> </a:t>
            </a:r>
            <a:r>
              <a:rPr spc="-10" dirty="0"/>
              <a:t>variância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59966"/>
            <a:ext cx="7559675" cy="4624705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241300" marR="236220" indent="-229235" algn="just">
              <a:lnSpc>
                <a:spcPct val="80000"/>
              </a:lnSpc>
              <a:spcBef>
                <a:spcPts val="765"/>
              </a:spcBef>
              <a:buFont typeface="Arial"/>
              <a:buChar char="•"/>
              <a:tabLst>
                <a:tab pos="241935" algn="l"/>
              </a:tabLst>
            </a:pPr>
            <a:r>
              <a:rPr sz="2800" dirty="0">
                <a:latin typeface="Calibri"/>
                <a:cs typeface="Calibri"/>
              </a:rPr>
              <a:t>Antes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projetarmos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conjunto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treinamento </a:t>
            </a:r>
            <a:r>
              <a:rPr sz="2800" dirty="0">
                <a:latin typeface="Calibri"/>
                <a:cs typeface="Calibri"/>
              </a:rPr>
              <a:t>em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hiperplano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dimensão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35" dirty="0">
                <a:latin typeface="Calibri"/>
                <a:cs typeface="Calibri"/>
              </a:rPr>
              <a:t>menor,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primeiro precisamos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escolher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hiperplano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correto.</a:t>
            </a:r>
            <a:endParaRPr sz="2800" dirty="0">
              <a:latin typeface="Calibri"/>
              <a:cs typeface="Calibri"/>
            </a:endParaRPr>
          </a:p>
          <a:p>
            <a:pPr marL="241300" marR="8890" indent="-229235">
              <a:lnSpc>
                <a:spcPct val="80000"/>
              </a:lnSpc>
              <a:spcBef>
                <a:spcPts val="1000"/>
              </a:spcBef>
              <a:buFont typeface="Arial"/>
              <a:buChar char="•"/>
              <a:tabLst>
                <a:tab pos="241935" algn="l"/>
              </a:tabLst>
            </a:pPr>
            <a:r>
              <a:rPr sz="2800" dirty="0">
                <a:latin typeface="Calibri"/>
                <a:cs typeface="Calibri"/>
              </a:rPr>
              <a:t>Por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exemplo,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conjunto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dados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em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2D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é </a:t>
            </a:r>
            <a:r>
              <a:rPr sz="2800" spc="-20" dirty="0">
                <a:latin typeface="Calibri"/>
                <a:cs typeface="Calibri"/>
              </a:rPr>
              <a:t>representado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figura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acima,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junto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três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eixos </a:t>
            </a:r>
            <a:r>
              <a:rPr sz="2800" spc="-20" dirty="0">
                <a:latin typeface="Calibri"/>
                <a:cs typeface="Calibri"/>
              </a:rPr>
              <a:t>diferentes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(ou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seja,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hiperplanos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1D).</a:t>
            </a:r>
            <a:endParaRPr sz="2800" dirty="0">
              <a:latin typeface="Calibri"/>
              <a:cs typeface="Calibri"/>
            </a:endParaRPr>
          </a:p>
          <a:p>
            <a:pPr marL="241300" marR="273685" indent="-229235">
              <a:lnSpc>
                <a:spcPts val="2690"/>
              </a:lnSpc>
              <a:spcBef>
                <a:spcPts val="985"/>
              </a:spcBef>
              <a:buFont typeface="Arial"/>
              <a:buChar char="•"/>
              <a:tabLst>
                <a:tab pos="241935" algn="l"/>
              </a:tabLst>
            </a:pPr>
            <a:r>
              <a:rPr sz="2800" dirty="0">
                <a:latin typeface="Calibri"/>
                <a:cs typeface="Calibri"/>
              </a:rPr>
              <a:t>Na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figura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abaixo,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está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resultado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projeção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do </a:t>
            </a:r>
            <a:r>
              <a:rPr sz="2800" spc="-10" dirty="0">
                <a:latin typeface="Calibri"/>
                <a:cs typeface="Calibri"/>
              </a:rPr>
              <a:t>conjunto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dados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em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cada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desses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eixos.</a:t>
            </a:r>
            <a:endParaRPr sz="2800" dirty="0">
              <a:latin typeface="Calibri"/>
              <a:cs typeface="Calibri"/>
            </a:endParaRPr>
          </a:p>
          <a:p>
            <a:pPr marL="698500" marR="5080" lvl="1" indent="-228600">
              <a:lnSpc>
                <a:spcPct val="80000"/>
              </a:lnSpc>
              <a:spcBef>
                <a:spcPts val="530"/>
              </a:spcBef>
              <a:buFont typeface="Wingdings"/>
              <a:buChar char=""/>
              <a:tabLst>
                <a:tab pos="699135" algn="l"/>
              </a:tabLst>
            </a:pPr>
            <a:r>
              <a:rPr sz="2400" dirty="0">
                <a:latin typeface="Calibri"/>
                <a:cs typeface="Calibri"/>
              </a:rPr>
              <a:t>Como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podemos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40" dirty="0">
                <a:latin typeface="Calibri"/>
                <a:cs typeface="Calibri"/>
              </a:rPr>
              <a:t>ver,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projeção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linha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contínua </a:t>
            </a:r>
            <a:r>
              <a:rPr sz="2400" dirty="0">
                <a:latin typeface="Calibri"/>
                <a:cs typeface="Calibri"/>
              </a:rPr>
              <a:t>preserva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variância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máxima,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enquanto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projeção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na </a:t>
            </a:r>
            <a:r>
              <a:rPr sz="2400" dirty="0">
                <a:latin typeface="Calibri"/>
                <a:cs typeface="Calibri"/>
              </a:rPr>
              <a:t>linha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pontilhada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preserva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muito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pouco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variância,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a </a:t>
            </a:r>
            <a:r>
              <a:rPr sz="2400" dirty="0">
                <a:latin typeface="Calibri"/>
                <a:cs typeface="Calibri"/>
              </a:rPr>
              <a:t>projeção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linha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tracejada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preserva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quantidade intermediária.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85523" y="156971"/>
            <a:ext cx="3528277" cy="321433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29116" y="3541752"/>
            <a:ext cx="3072384" cy="324006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Preservando</a:t>
            </a:r>
            <a:r>
              <a:rPr spc="-90" dirty="0"/>
              <a:t> </a:t>
            </a:r>
            <a:r>
              <a:rPr dirty="0"/>
              <a:t>a</a:t>
            </a:r>
            <a:r>
              <a:rPr spc="-75" dirty="0"/>
              <a:t> </a:t>
            </a:r>
            <a:r>
              <a:rPr spc="-10" dirty="0"/>
              <a:t>variância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524000"/>
            <a:ext cx="7345045" cy="493204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marR="184150" indent="-229235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241935" algn="l"/>
              </a:tabLst>
            </a:pPr>
            <a:r>
              <a:rPr sz="2800" spc="-10" dirty="0">
                <a:latin typeface="Calibri"/>
                <a:cs typeface="Calibri"/>
              </a:rPr>
              <a:t>Parece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razoável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selecionar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eixo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(ou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seja, </a:t>
            </a:r>
            <a:r>
              <a:rPr sz="2800" dirty="0">
                <a:latin typeface="Calibri"/>
                <a:cs typeface="Calibri"/>
              </a:rPr>
              <a:t>hiperplano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1D)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preserva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quantidade </a:t>
            </a:r>
            <a:r>
              <a:rPr sz="2800" dirty="0">
                <a:latin typeface="Calibri"/>
                <a:cs typeface="Calibri"/>
              </a:rPr>
              <a:t>máxima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variância,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pois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provavelmente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será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o </a:t>
            </a:r>
            <a:r>
              <a:rPr sz="2800" dirty="0">
                <a:latin typeface="Calibri"/>
                <a:cs typeface="Calibri"/>
              </a:rPr>
              <a:t>eixo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perderá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menos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informações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as </a:t>
            </a:r>
            <a:r>
              <a:rPr sz="2800" dirty="0">
                <a:latin typeface="Calibri"/>
                <a:cs typeface="Calibri"/>
              </a:rPr>
              <a:t>outras</a:t>
            </a:r>
            <a:r>
              <a:rPr sz="2800" spc="-1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projeções.</a:t>
            </a:r>
            <a:endParaRPr sz="2800" dirty="0">
              <a:latin typeface="Calibri"/>
              <a:cs typeface="Calibri"/>
            </a:endParaRPr>
          </a:p>
          <a:p>
            <a:pPr marL="241300" marR="105410" indent="-229235">
              <a:lnSpc>
                <a:spcPct val="90000"/>
              </a:lnSpc>
              <a:spcBef>
                <a:spcPts val="1010"/>
              </a:spcBef>
              <a:buFont typeface="Arial"/>
              <a:buChar char="•"/>
              <a:tabLst>
                <a:tab pos="241935" algn="l"/>
              </a:tabLst>
            </a:pPr>
            <a:r>
              <a:rPr sz="2800" dirty="0">
                <a:latin typeface="Calibri"/>
                <a:cs typeface="Calibri"/>
              </a:rPr>
              <a:t>Outra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forma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justificar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essa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escolha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este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eixo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minimiza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distância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quadrática </a:t>
            </a:r>
            <a:r>
              <a:rPr sz="2800" dirty="0">
                <a:latin typeface="Calibri"/>
                <a:cs typeface="Calibri"/>
              </a:rPr>
              <a:t>média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entre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conjunto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dados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original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sua </a:t>
            </a:r>
            <a:r>
              <a:rPr sz="2800" spc="-10" dirty="0">
                <a:latin typeface="Calibri"/>
                <a:cs typeface="Calibri"/>
              </a:rPr>
              <a:t>projeção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nesse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eixo.</a:t>
            </a:r>
            <a:endParaRPr sz="2800" dirty="0">
              <a:latin typeface="Calibri"/>
              <a:cs typeface="Calibri"/>
            </a:endParaRPr>
          </a:p>
          <a:p>
            <a:pPr marL="241300" marR="5080" indent="-229235">
              <a:lnSpc>
                <a:spcPts val="3030"/>
              </a:lnSpc>
              <a:spcBef>
                <a:spcPts val="1035"/>
              </a:spcBef>
              <a:buFont typeface="Arial"/>
              <a:buChar char="•"/>
              <a:tabLst>
                <a:tab pos="241935" algn="l"/>
              </a:tabLst>
            </a:pPr>
            <a:r>
              <a:rPr sz="2800" dirty="0">
                <a:latin typeface="Calibri"/>
                <a:cs typeface="Calibri"/>
              </a:rPr>
              <a:t>Esta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ideia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simples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por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trás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PCA: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i="1" spc="-10" dirty="0">
                <a:latin typeface="Calibri"/>
                <a:cs typeface="Calibri"/>
              </a:rPr>
              <a:t>“encontrar </a:t>
            </a:r>
            <a:r>
              <a:rPr sz="2800" i="1" dirty="0">
                <a:latin typeface="Calibri"/>
                <a:cs typeface="Calibri"/>
              </a:rPr>
              <a:t>uma</a:t>
            </a:r>
            <a:r>
              <a:rPr sz="2800" i="1" spc="-90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sequência</a:t>
            </a:r>
            <a:r>
              <a:rPr sz="2800" i="1" spc="-90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de</a:t>
            </a:r>
            <a:r>
              <a:rPr sz="2800" i="1" spc="-85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eixos</a:t>
            </a:r>
            <a:r>
              <a:rPr sz="2800" i="1" spc="-70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que</a:t>
            </a:r>
            <a:r>
              <a:rPr sz="2800" i="1" spc="-85" dirty="0">
                <a:latin typeface="Calibri"/>
                <a:cs typeface="Calibri"/>
              </a:rPr>
              <a:t> </a:t>
            </a:r>
            <a:r>
              <a:rPr sz="2800" i="1" spc="-10" dirty="0">
                <a:latin typeface="Calibri"/>
                <a:cs typeface="Calibri"/>
              </a:rPr>
              <a:t>maximizam</a:t>
            </a:r>
            <a:r>
              <a:rPr sz="2800" i="1" spc="-80" dirty="0">
                <a:latin typeface="Calibri"/>
                <a:cs typeface="Calibri"/>
              </a:rPr>
              <a:t> </a:t>
            </a:r>
            <a:r>
              <a:rPr sz="2800" i="1" spc="-50" dirty="0">
                <a:latin typeface="Calibri"/>
                <a:cs typeface="Calibri"/>
              </a:rPr>
              <a:t>a</a:t>
            </a:r>
            <a:endParaRPr sz="2800" dirty="0">
              <a:latin typeface="Calibri"/>
              <a:cs typeface="Calibri"/>
            </a:endParaRPr>
          </a:p>
          <a:p>
            <a:pPr marL="241300">
              <a:lnSpc>
                <a:spcPts val="2975"/>
              </a:lnSpc>
            </a:pPr>
            <a:r>
              <a:rPr sz="2800" i="1" dirty="0">
                <a:latin typeface="Calibri"/>
                <a:cs typeface="Calibri"/>
              </a:rPr>
              <a:t>variância</a:t>
            </a:r>
            <a:r>
              <a:rPr sz="2800" i="1" spc="-80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e</a:t>
            </a:r>
            <a:r>
              <a:rPr sz="2800" i="1" spc="-80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consigam</a:t>
            </a:r>
            <a:r>
              <a:rPr sz="2800" i="1" spc="-80" dirty="0">
                <a:latin typeface="Calibri"/>
                <a:cs typeface="Calibri"/>
              </a:rPr>
              <a:t> </a:t>
            </a:r>
            <a:r>
              <a:rPr sz="2800" i="1" spc="-10" dirty="0">
                <a:latin typeface="Calibri"/>
                <a:cs typeface="Calibri"/>
              </a:rPr>
              <a:t>explicar</a:t>
            </a:r>
            <a:r>
              <a:rPr sz="2800" i="1" spc="-85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os</a:t>
            </a:r>
            <a:r>
              <a:rPr sz="2800" i="1" spc="-75" dirty="0">
                <a:latin typeface="Calibri"/>
                <a:cs typeface="Calibri"/>
              </a:rPr>
              <a:t> </a:t>
            </a:r>
            <a:r>
              <a:rPr sz="2800" i="1" spc="-10" dirty="0">
                <a:latin typeface="Calibri"/>
                <a:cs typeface="Calibri"/>
              </a:rPr>
              <a:t>dados”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85523" y="156971"/>
            <a:ext cx="3528277" cy="321433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29116" y="3541752"/>
            <a:ext cx="3072384" cy="324006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Componentes</a:t>
            </a:r>
            <a:r>
              <a:rPr spc="-135" dirty="0"/>
              <a:t> </a:t>
            </a:r>
            <a:r>
              <a:rPr spc="-10" dirty="0"/>
              <a:t>principais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600200"/>
            <a:ext cx="7656830" cy="493204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1054735" indent="-229235">
              <a:lnSpc>
                <a:spcPts val="3020"/>
              </a:lnSpc>
              <a:spcBef>
                <a:spcPts val="480"/>
              </a:spcBef>
              <a:buFont typeface="Arial"/>
              <a:buChar char="•"/>
              <a:tabLst>
                <a:tab pos="241935" algn="l"/>
              </a:tabLst>
            </a:pPr>
            <a:r>
              <a:rPr sz="2800" dirty="0">
                <a:latin typeface="Calibri"/>
                <a:cs typeface="Calibri"/>
              </a:rPr>
              <a:t>PCA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identifica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eixo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responsável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pela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maior quantidade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variância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conjunto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de </a:t>
            </a:r>
            <a:r>
              <a:rPr sz="2800" spc="-10" dirty="0">
                <a:latin typeface="Calibri"/>
                <a:cs typeface="Calibri"/>
              </a:rPr>
              <a:t>treinamento.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figura,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linha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sólida.</a:t>
            </a:r>
            <a:endParaRPr sz="2800" dirty="0">
              <a:latin typeface="Calibri"/>
              <a:cs typeface="Calibri"/>
            </a:endParaRPr>
          </a:p>
          <a:p>
            <a:pPr marL="241300" marR="154940" indent="-229235">
              <a:lnSpc>
                <a:spcPct val="90000"/>
              </a:lnSpc>
              <a:spcBef>
                <a:spcPts val="975"/>
              </a:spcBef>
              <a:buFont typeface="Arial"/>
              <a:buChar char="•"/>
              <a:tabLst>
                <a:tab pos="241935" algn="l"/>
              </a:tabLst>
            </a:pPr>
            <a:r>
              <a:rPr sz="2800" dirty="0">
                <a:latin typeface="Calibri"/>
                <a:cs typeface="Calibri"/>
              </a:rPr>
              <a:t>Ele</a:t>
            </a:r>
            <a:r>
              <a:rPr sz="2800" spc="-1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também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encontra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segundo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eixo,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ortogonal </a:t>
            </a:r>
            <a:r>
              <a:rPr sz="2800" dirty="0">
                <a:latin typeface="Calibri"/>
                <a:cs typeface="Calibri"/>
              </a:rPr>
              <a:t>ao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primeiro,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responde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pela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maior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quantidade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variância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restante.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figura,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linha pontilhada.</a:t>
            </a:r>
            <a:endParaRPr sz="2800" dirty="0">
              <a:latin typeface="Calibri"/>
              <a:cs typeface="Calibri"/>
            </a:endParaRPr>
          </a:p>
          <a:p>
            <a:pPr marL="241300" marR="5080" indent="-229235">
              <a:lnSpc>
                <a:spcPct val="90000"/>
              </a:lnSpc>
              <a:spcBef>
                <a:spcPts val="994"/>
              </a:spcBef>
              <a:buFont typeface="Arial"/>
              <a:buChar char="•"/>
              <a:tabLst>
                <a:tab pos="241935" algn="l"/>
              </a:tabLst>
            </a:pPr>
            <a:r>
              <a:rPr sz="2800" dirty="0">
                <a:latin typeface="Calibri"/>
                <a:cs typeface="Calibri"/>
              </a:rPr>
              <a:t>Se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fosse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conjunto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dados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dimensão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maior,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PCA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encontraria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terceiro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eixo,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ortogonal</a:t>
            </a:r>
            <a:r>
              <a:rPr sz="2800" b="1" i="1" spc="-8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a </a:t>
            </a:r>
            <a:r>
              <a:rPr sz="2800" dirty="0">
                <a:latin typeface="Calibri"/>
                <a:cs typeface="Calibri"/>
              </a:rPr>
              <a:t>ambos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eixos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anteriores,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quarto,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quinto 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assim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por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diante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-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tantos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eixos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quanto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número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dimensões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conjunto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dados.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2396" y="2308860"/>
            <a:ext cx="3529791" cy="321281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Componentes</a:t>
            </a:r>
            <a:r>
              <a:rPr spc="-135" dirty="0"/>
              <a:t> </a:t>
            </a:r>
            <a:r>
              <a:rPr spc="-10" dirty="0"/>
              <a:t>principais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524000"/>
            <a:ext cx="7365365" cy="488950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66700" marR="132715" indent="-229235">
              <a:lnSpc>
                <a:spcPts val="3020"/>
              </a:lnSpc>
              <a:spcBef>
                <a:spcPts val="480"/>
              </a:spcBef>
              <a:buFont typeface="Arial"/>
              <a:buChar char="•"/>
              <a:tabLst>
                <a:tab pos="267335" algn="l"/>
              </a:tabLst>
            </a:pPr>
            <a:r>
              <a:rPr sz="2800" dirty="0">
                <a:latin typeface="Calibri"/>
                <a:cs typeface="Calibri"/>
              </a:rPr>
              <a:t>O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vetor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unitário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define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i="1" spc="-15" dirty="0">
                <a:latin typeface="Calibri"/>
                <a:cs typeface="Calibri"/>
              </a:rPr>
              <a:t>i</a:t>
            </a:r>
            <a:r>
              <a:rPr sz="2800" spc="-15" dirty="0">
                <a:latin typeface="Calibri"/>
                <a:cs typeface="Calibri"/>
              </a:rPr>
              <a:t>-</a:t>
            </a:r>
            <a:r>
              <a:rPr sz="2800" dirty="0">
                <a:latin typeface="Calibri"/>
                <a:cs typeface="Calibri"/>
              </a:rPr>
              <a:t>ésimo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eixo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é </a:t>
            </a:r>
            <a:r>
              <a:rPr sz="2800" dirty="0">
                <a:latin typeface="Calibri"/>
                <a:cs typeface="Calibri"/>
              </a:rPr>
              <a:t>chamado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i="1" spc="-15" dirty="0">
                <a:latin typeface="Calibri"/>
                <a:cs typeface="Calibri"/>
              </a:rPr>
              <a:t>i</a:t>
            </a:r>
            <a:r>
              <a:rPr sz="2800" spc="-15" dirty="0">
                <a:latin typeface="Calibri"/>
                <a:cs typeface="Calibri"/>
              </a:rPr>
              <a:t>-</a:t>
            </a:r>
            <a:r>
              <a:rPr sz="2800" dirty="0">
                <a:latin typeface="Calibri"/>
                <a:cs typeface="Calibri"/>
              </a:rPr>
              <a:t>ésimo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componente</a:t>
            </a:r>
            <a:r>
              <a:rPr sz="2800" b="1" i="1" spc="-9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principal</a:t>
            </a:r>
            <a:r>
              <a:rPr sz="2800" b="1" i="1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(CP).</a:t>
            </a:r>
            <a:endParaRPr sz="2800" dirty="0">
              <a:latin typeface="Calibri"/>
              <a:cs typeface="Calibri"/>
            </a:endParaRPr>
          </a:p>
          <a:p>
            <a:pPr marL="723900" lvl="1" indent="-229235">
              <a:lnSpc>
                <a:spcPts val="2735"/>
              </a:lnSpc>
              <a:spcBef>
                <a:spcPts val="215"/>
              </a:spcBef>
              <a:buFont typeface="Wingdings"/>
              <a:buChar char=""/>
              <a:tabLst>
                <a:tab pos="724535" algn="l"/>
              </a:tabLst>
            </a:pPr>
            <a:r>
              <a:rPr sz="2400" dirty="0">
                <a:latin typeface="Calibri"/>
                <a:cs typeface="Calibri"/>
              </a:rPr>
              <a:t>Na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figura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acima,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primeiro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CP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é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𝐶</a:t>
            </a:r>
            <a:r>
              <a:rPr sz="2625" baseline="-15873" dirty="0">
                <a:latin typeface="Cambria Math"/>
                <a:cs typeface="Cambria Math"/>
              </a:rPr>
              <a:t>1</a:t>
            </a:r>
            <a:r>
              <a:rPr sz="2625" spc="352" baseline="-15873" dirty="0">
                <a:latin typeface="Cambria Math"/>
                <a:cs typeface="Cambria Math"/>
              </a:rPr>
              <a:t> 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segundo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CP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é</a:t>
            </a:r>
            <a:endParaRPr sz="2400" dirty="0">
              <a:latin typeface="Calibri"/>
              <a:cs typeface="Calibri"/>
            </a:endParaRPr>
          </a:p>
          <a:p>
            <a:pPr marL="723900">
              <a:lnSpc>
                <a:spcPts val="2735"/>
              </a:lnSpc>
            </a:pPr>
            <a:r>
              <a:rPr sz="2400" spc="-25" dirty="0">
                <a:latin typeface="Cambria Math"/>
                <a:cs typeface="Cambria Math"/>
              </a:rPr>
              <a:t>𝐶</a:t>
            </a:r>
            <a:r>
              <a:rPr sz="2625" spc="-37" baseline="-15873" dirty="0">
                <a:latin typeface="Cambria Math"/>
                <a:cs typeface="Cambria Math"/>
              </a:rPr>
              <a:t>2</a:t>
            </a:r>
            <a:r>
              <a:rPr sz="2400" spc="-25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723900" marR="30480" lvl="1" indent="-228600">
              <a:lnSpc>
                <a:spcPct val="90000"/>
              </a:lnSpc>
              <a:spcBef>
                <a:spcPts val="495"/>
              </a:spcBef>
              <a:buFont typeface="Wingdings"/>
              <a:buChar char=""/>
              <a:tabLst>
                <a:tab pos="724535" algn="l"/>
              </a:tabLst>
            </a:pPr>
            <a:r>
              <a:rPr sz="2400" dirty="0">
                <a:latin typeface="Calibri"/>
                <a:cs typeface="Calibri"/>
              </a:rPr>
              <a:t>Na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figura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abaixo,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primeiros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dois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CPs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são </a:t>
            </a:r>
            <a:r>
              <a:rPr sz="2400" dirty="0">
                <a:latin typeface="Calibri"/>
                <a:cs typeface="Calibri"/>
              </a:rPr>
              <a:t>representados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pelas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setas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ortogonais</a:t>
            </a:r>
            <a:r>
              <a:rPr sz="2400" b="1" i="1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plano,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o </a:t>
            </a:r>
            <a:r>
              <a:rPr sz="2400" dirty="0">
                <a:latin typeface="Calibri"/>
                <a:cs typeface="Calibri"/>
              </a:rPr>
              <a:t>terceiro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CP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seria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ortogonal</a:t>
            </a:r>
            <a:r>
              <a:rPr sz="2400" b="1" i="1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plano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(apontando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para </a:t>
            </a:r>
            <a:r>
              <a:rPr sz="2400" dirty="0">
                <a:latin typeface="Calibri"/>
                <a:cs typeface="Calibri"/>
              </a:rPr>
              <a:t>cima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baixo).</a:t>
            </a:r>
            <a:endParaRPr sz="2400" dirty="0">
              <a:latin typeface="Calibri"/>
              <a:cs typeface="Calibri"/>
            </a:endParaRPr>
          </a:p>
          <a:p>
            <a:pPr marL="266700" marR="375285" indent="-229235">
              <a:lnSpc>
                <a:spcPts val="3020"/>
              </a:lnSpc>
              <a:spcBef>
                <a:spcPts val="1015"/>
              </a:spcBef>
              <a:buFont typeface="Arial"/>
              <a:buChar char="•"/>
              <a:tabLst>
                <a:tab pos="267335" algn="l"/>
              </a:tabLst>
            </a:pPr>
            <a:r>
              <a:rPr sz="2800" spc="-10" dirty="0">
                <a:latin typeface="Calibri"/>
                <a:cs typeface="Calibri"/>
              </a:rPr>
              <a:t>Então,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podemos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encontrar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CPs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um </a:t>
            </a:r>
            <a:r>
              <a:rPr sz="2800" spc="-10" dirty="0">
                <a:latin typeface="Calibri"/>
                <a:cs typeface="Calibri"/>
              </a:rPr>
              <a:t>conjunto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treinamento?</a:t>
            </a:r>
            <a:endParaRPr sz="2800" dirty="0">
              <a:latin typeface="Calibri"/>
              <a:cs typeface="Calibri"/>
            </a:endParaRPr>
          </a:p>
          <a:p>
            <a:pPr marL="723900" marR="168910" lvl="1" indent="-228600">
              <a:lnSpc>
                <a:spcPct val="90000"/>
              </a:lnSpc>
              <a:spcBef>
                <a:spcPts val="495"/>
              </a:spcBef>
              <a:buFont typeface="Wingdings"/>
              <a:buChar char=""/>
              <a:tabLst>
                <a:tab pos="724535" algn="l"/>
              </a:tabLst>
            </a:pPr>
            <a:r>
              <a:rPr sz="2400" dirty="0">
                <a:latin typeface="Calibri"/>
                <a:cs typeface="Calibri"/>
              </a:rPr>
              <a:t>Usamos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técnica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fatoração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matrizes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chamada </a:t>
            </a:r>
            <a:r>
              <a:rPr sz="2400" dirty="0">
                <a:latin typeface="Calibri"/>
                <a:cs typeface="Calibri"/>
              </a:rPr>
              <a:t>decomposição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em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valores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singulares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(em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inglês, </a:t>
            </a:r>
            <a:r>
              <a:rPr sz="2400" i="1" dirty="0">
                <a:latin typeface="Calibri"/>
                <a:cs typeface="Calibri"/>
              </a:rPr>
              <a:t>Singular</a:t>
            </a:r>
            <a:r>
              <a:rPr sz="2400" i="1" spc="-5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Value</a:t>
            </a:r>
            <a:r>
              <a:rPr sz="2400" i="1" spc="-35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Decomposition</a:t>
            </a:r>
            <a:r>
              <a:rPr sz="2400" i="1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-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SVD).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49759" y="176783"/>
            <a:ext cx="3594877" cy="327332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17280" y="3543300"/>
            <a:ext cx="3439668" cy="30267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Componentes</a:t>
            </a:r>
            <a:r>
              <a:rPr spc="-135" dirty="0"/>
              <a:t> </a:t>
            </a:r>
            <a:r>
              <a:rPr spc="-10" dirty="0"/>
              <a:t>principais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98201" y="1752600"/>
            <a:ext cx="10935335" cy="3902710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266700" marR="30480" indent="-229235" algn="just">
              <a:lnSpc>
                <a:spcPct val="90700"/>
              </a:lnSpc>
              <a:spcBef>
                <a:spcPts val="405"/>
              </a:spcBef>
              <a:buFont typeface="Arial"/>
              <a:buChar char="•"/>
              <a:tabLst>
                <a:tab pos="267335" algn="l"/>
              </a:tabLst>
            </a:pPr>
            <a:r>
              <a:rPr sz="2800" dirty="0">
                <a:latin typeface="Calibri"/>
                <a:cs typeface="Calibri"/>
              </a:rPr>
              <a:t>SDV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decompõe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matriz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treinamento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𝐗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dimensões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𝑛</a:t>
            </a:r>
            <a:r>
              <a:rPr sz="2800" spc="-10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×</a:t>
            </a:r>
            <a:r>
              <a:rPr sz="2800" spc="-65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𝑝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partir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sua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matriz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covariância,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𝐂</a:t>
            </a:r>
            <a:r>
              <a:rPr sz="3075" baseline="-16260" dirty="0">
                <a:latin typeface="Cambria Math"/>
                <a:cs typeface="Cambria Math"/>
              </a:rPr>
              <a:t>𝐗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multiplicação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três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matrizes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mbria Math"/>
                <a:cs typeface="Cambria Math"/>
              </a:rPr>
              <a:t>𝐔𝚺𝐕</a:t>
            </a:r>
            <a:r>
              <a:rPr sz="3075" spc="-15" baseline="27100" dirty="0">
                <a:latin typeface="Cambria Math"/>
                <a:cs typeface="Cambria Math"/>
              </a:rPr>
              <a:t>𝐓</a:t>
            </a:r>
            <a:r>
              <a:rPr sz="2800" spc="-10" dirty="0">
                <a:latin typeface="Calibri"/>
                <a:cs typeface="Calibri"/>
              </a:rPr>
              <a:t>, </a:t>
            </a:r>
            <a:r>
              <a:rPr sz="2800" spc="-20" dirty="0">
                <a:latin typeface="Calibri"/>
                <a:cs typeface="Calibri"/>
              </a:rPr>
              <a:t>onde</a:t>
            </a:r>
            <a:endParaRPr sz="2800" dirty="0">
              <a:latin typeface="Calibri"/>
              <a:cs typeface="Calibri"/>
            </a:endParaRPr>
          </a:p>
          <a:p>
            <a:pPr marL="723900" marR="344170" lvl="1" indent="-228600">
              <a:lnSpc>
                <a:spcPts val="2590"/>
              </a:lnSpc>
              <a:spcBef>
                <a:spcPts val="575"/>
              </a:spcBef>
              <a:buFont typeface="Wingdings"/>
              <a:buChar char=""/>
              <a:tabLst>
                <a:tab pos="724535" algn="l"/>
              </a:tabLst>
            </a:pPr>
            <a:r>
              <a:rPr sz="2400" dirty="0">
                <a:latin typeface="Cambria Math"/>
                <a:cs typeface="Cambria Math"/>
              </a:rPr>
              <a:t>𝐔</a:t>
            </a:r>
            <a:r>
              <a:rPr sz="2400" spc="-10" dirty="0">
                <a:latin typeface="Cambria Math"/>
                <a:cs typeface="Cambria Math"/>
              </a:rPr>
              <a:t> </a:t>
            </a:r>
            <a:r>
              <a:rPr sz="2400" dirty="0">
                <a:latin typeface="Calibri"/>
                <a:cs typeface="Calibri"/>
              </a:rPr>
              <a:t>é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matriz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dimensões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𝑛</a:t>
            </a:r>
            <a:r>
              <a:rPr sz="2400" spc="2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×</a:t>
            </a:r>
            <a:r>
              <a:rPr sz="2400" spc="-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𝑛</a:t>
            </a:r>
            <a:r>
              <a:rPr sz="2400" spc="5" dirty="0">
                <a:latin typeface="Cambria Math"/>
                <a:cs typeface="Cambria Math"/>
              </a:rPr>
              <a:t> </a:t>
            </a:r>
            <a:r>
              <a:rPr sz="2400" dirty="0">
                <a:latin typeface="Calibri"/>
                <a:cs typeface="Calibri"/>
              </a:rPr>
              <a:t>cujas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colunas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são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vetores</a:t>
            </a:r>
            <a:r>
              <a:rPr sz="2400" spc="-10" dirty="0">
                <a:latin typeface="Calibri"/>
                <a:cs typeface="Calibri"/>
              </a:rPr>
              <a:t> unitários </a:t>
            </a:r>
            <a:r>
              <a:rPr sz="2400" dirty="0">
                <a:latin typeface="Calibri"/>
                <a:cs typeface="Calibri"/>
              </a:rPr>
              <a:t>ortogonais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comprimento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𝑛</a:t>
            </a:r>
            <a:r>
              <a:rPr sz="2400" spc="15" dirty="0">
                <a:latin typeface="Cambria Math"/>
                <a:cs typeface="Cambria Math"/>
              </a:rPr>
              <a:t> </a:t>
            </a:r>
            <a:r>
              <a:rPr sz="2400" dirty="0">
                <a:latin typeface="Calibri"/>
                <a:cs typeface="Calibri"/>
              </a:rPr>
              <a:t>chamados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vetores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singulares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à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esquerda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𝐗</a:t>
            </a:r>
            <a:r>
              <a:rPr sz="2400" spc="-25" dirty="0">
                <a:latin typeface="Calibri"/>
                <a:cs typeface="Calibri"/>
              </a:rPr>
              <a:t>,</a:t>
            </a:r>
            <a:endParaRPr sz="2400" dirty="0">
              <a:latin typeface="Calibri"/>
              <a:cs typeface="Calibri"/>
            </a:endParaRPr>
          </a:p>
          <a:p>
            <a:pPr marL="723900" marR="1154430" lvl="1" indent="-228600">
              <a:lnSpc>
                <a:spcPts val="2600"/>
              </a:lnSpc>
              <a:spcBef>
                <a:spcPts val="500"/>
              </a:spcBef>
              <a:buFont typeface="Wingdings"/>
              <a:buChar char=""/>
              <a:tabLst>
                <a:tab pos="724535" algn="l"/>
              </a:tabLst>
            </a:pPr>
            <a:r>
              <a:rPr sz="2400" dirty="0">
                <a:latin typeface="Cambria Math"/>
                <a:cs typeface="Cambria Math"/>
              </a:rPr>
              <a:t>𝚺</a:t>
            </a:r>
            <a:r>
              <a:rPr sz="2400" spc="-15" dirty="0">
                <a:latin typeface="Cambria Math"/>
                <a:cs typeface="Cambria Math"/>
              </a:rPr>
              <a:t> </a:t>
            </a:r>
            <a:r>
              <a:rPr sz="2400" dirty="0">
                <a:latin typeface="Calibri"/>
                <a:cs typeface="Calibri"/>
              </a:rPr>
              <a:t>é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matriz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retangular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diagonal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dimensões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𝑛</a:t>
            </a:r>
            <a:r>
              <a:rPr sz="2400" spc="1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×</a:t>
            </a:r>
            <a:r>
              <a:rPr sz="2400" spc="-1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𝑝</a:t>
            </a:r>
            <a:r>
              <a:rPr sz="2400" spc="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libri"/>
                <a:cs typeface="Calibri"/>
              </a:rPr>
              <a:t>com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valores </a:t>
            </a:r>
            <a:r>
              <a:rPr sz="2400" b="1" i="1" dirty="0">
                <a:latin typeface="Calibri"/>
                <a:cs typeface="Calibri"/>
              </a:rPr>
              <a:t>singulares</a:t>
            </a:r>
            <a:r>
              <a:rPr sz="2400" b="1" i="1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𝐗</a:t>
            </a:r>
            <a:r>
              <a:rPr sz="2400" spc="-10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libri"/>
                <a:cs typeface="Calibri"/>
              </a:rPr>
              <a:t>e</a:t>
            </a:r>
            <a:endParaRPr sz="2400" dirty="0">
              <a:latin typeface="Calibri"/>
              <a:cs typeface="Calibri"/>
            </a:endParaRPr>
          </a:p>
          <a:p>
            <a:pPr marL="723900" marR="717550" lvl="1" indent="-228600">
              <a:lnSpc>
                <a:spcPts val="2600"/>
              </a:lnSpc>
              <a:spcBef>
                <a:spcPts val="480"/>
              </a:spcBef>
              <a:buFont typeface="Wingdings"/>
              <a:buChar char=""/>
              <a:tabLst>
                <a:tab pos="724535" algn="l"/>
              </a:tabLst>
            </a:pPr>
            <a:r>
              <a:rPr sz="2400" dirty="0">
                <a:latin typeface="Cambria Math"/>
                <a:cs typeface="Cambria Math"/>
              </a:rPr>
              <a:t>𝐕</a:t>
            </a:r>
            <a:r>
              <a:rPr sz="2400" spc="-25" dirty="0">
                <a:latin typeface="Cambria Math"/>
                <a:cs typeface="Cambria Math"/>
              </a:rPr>
              <a:t> </a:t>
            </a:r>
            <a:r>
              <a:rPr sz="2400" dirty="0">
                <a:latin typeface="Calibri"/>
                <a:cs typeface="Calibri"/>
              </a:rPr>
              <a:t>é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uma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matriz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dimensões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𝑝</a:t>
            </a:r>
            <a:r>
              <a:rPr sz="2400" spc="1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×</a:t>
            </a:r>
            <a:r>
              <a:rPr sz="2400" spc="-1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𝑝</a:t>
            </a:r>
            <a:r>
              <a:rPr sz="2400" spc="5" dirty="0">
                <a:latin typeface="Cambria Math"/>
                <a:cs typeface="Cambria Math"/>
              </a:rPr>
              <a:t> </a:t>
            </a:r>
            <a:r>
              <a:rPr sz="2400" dirty="0">
                <a:latin typeface="Calibri"/>
                <a:cs typeface="Calibri"/>
              </a:rPr>
              <a:t>cujas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colunas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são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vetores</a:t>
            </a:r>
            <a:r>
              <a:rPr sz="2400" spc="-10" dirty="0">
                <a:latin typeface="Calibri"/>
                <a:cs typeface="Calibri"/>
              </a:rPr>
              <a:t> unitários </a:t>
            </a:r>
            <a:r>
              <a:rPr sz="2400" dirty="0">
                <a:latin typeface="Calibri"/>
                <a:cs typeface="Calibri"/>
              </a:rPr>
              <a:t>ortogonais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comprimento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mbria Math"/>
                <a:cs typeface="Cambria Math"/>
              </a:rPr>
              <a:t>𝑝 </a:t>
            </a:r>
            <a:r>
              <a:rPr sz="2400" dirty="0">
                <a:latin typeface="Calibri"/>
                <a:cs typeface="Calibri"/>
              </a:rPr>
              <a:t>chamados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vetores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singulares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à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direita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𝐗</a:t>
            </a:r>
            <a:r>
              <a:rPr sz="2500" b="1" i="1" spc="-25" dirty="0">
                <a:latin typeface="Cambria Math"/>
                <a:cs typeface="Cambria Math"/>
              </a:rPr>
              <a:t>.</a:t>
            </a:r>
            <a:endParaRPr sz="2500" dirty="0">
              <a:latin typeface="Cambria Math"/>
              <a:cs typeface="Cambria Math"/>
            </a:endParaRPr>
          </a:p>
          <a:p>
            <a:pPr marL="266700" indent="-229235">
              <a:lnSpc>
                <a:spcPct val="100000"/>
              </a:lnSpc>
              <a:spcBef>
                <a:spcPts val="585"/>
              </a:spcBef>
              <a:buFont typeface="Arial"/>
              <a:buChar char="•"/>
              <a:tabLst>
                <a:tab pos="267335" algn="l"/>
              </a:tabLst>
            </a:pPr>
            <a:r>
              <a:rPr sz="2800" dirty="0">
                <a:latin typeface="Calibri"/>
                <a:cs typeface="Calibri"/>
              </a:rPr>
              <a:t>Como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isso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relaciona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PCA?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Componentes</a:t>
            </a:r>
            <a:r>
              <a:rPr spc="-135" dirty="0"/>
              <a:t> </a:t>
            </a:r>
            <a:r>
              <a:rPr spc="-10" dirty="0"/>
              <a:t>principais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91539" y="1795017"/>
            <a:ext cx="10979150" cy="304038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266700" marR="777240" indent="-229235">
              <a:lnSpc>
                <a:spcPts val="3010"/>
              </a:lnSpc>
              <a:spcBef>
                <a:spcPts val="484"/>
              </a:spcBef>
              <a:buFont typeface="Arial"/>
              <a:buChar char="•"/>
              <a:tabLst>
                <a:tab pos="267335" algn="l"/>
              </a:tabLst>
            </a:pPr>
            <a:r>
              <a:rPr sz="2800" spc="-10" dirty="0">
                <a:latin typeface="Calibri"/>
                <a:cs typeface="Calibri"/>
              </a:rPr>
              <a:t>Considere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matriz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𝐗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dimensões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𝑛</a:t>
            </a:r>
            <a:r>
              <a:rPr sz="2800" spc="-5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×</a:t>
            </a:r>
            <a:r>
              <a:rPr sz="2800" spc="-60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𝑝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qual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nós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temos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a </a:t>
            </a:r>
            <a:r>
              <a:rPr sz="2800" spc="-10" dirty="0">
                <a:latin typeface="Calibri"/>
                <a:cs typeface="Calibri"/>
              </a:rPr>
              <a:t>seguinte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decomposição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em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valores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singulares</a:t>
            </a:r>
            <a:endParaRPr sz="2800" dirty="0">
              <a:latin typeface="Calibri"/>
              <a:cs typeface="Calibri"/>
            </a:endParaRPr>
          </a:p>
          <a:p>
            <a:pPr marL="48895" algn="ctr">
              <a:lnSpc>
                <a:spcPts val="3070"/>
              </a:lnSpc>
            </a:pPr>
            <a:r>
              <a:rPr sz="2800" dirty="0">
                <a:latin typeface="Cambria Math"/>
                <a:cs typeface="Cambria Math"/>
              </a:rPr>
              <a:t>𝐗</a:t>
            </a:r>
            <a:r>
              <a:rPr sz="2800" spc="140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=</a:t>
            </a:r>
            <a:r>
              <a:rPr sz="2800" spc="140" dirty="0">
                <a:latin typeface="Cambria Math"/>
                <a:cs typeface="Cambria Math"/>
              </a:rPr>
              <a:t> </a:t>
            </a:r>
            <a:r>
              <a:rPr sz="2800" spc="-20" dirty="0">
                <a:latin typeface="Cambria Math"/>
                <a:cs typeface="Cambria Math"/>
              </a:rPr>
              <a:t>𝐔𝚺𝐕</a:t>
            </a:r>
            <a:r>
              <a:rPr sz="3075" spc="-30" baseline="27100" dirty="0">
                <a:latin typeface="Cambria Math"/>
                <a:cs typeface="Cambria Math"/>
              </a:rPr>
              <a:t>𝐓</a:t>
            </a:r>
            <a:endParaRPr sz="3075" baseline="27100" dirty="0">
              <a:latin typeface="Cambria Math"/>
              <a:cs typeface="Cambria Math"/>
            </a:endParaRPr>
          </a:p>
          <a:p>
            <a:pPr marL="266700" marR="30480" indent="-229235">
              <a:lnSpc>
                <a:spcPct val="92000"/>
              </a:lnSpc>
              <a:spcBef>
                <a:spcPts val="905"/>
              </a:spcBef>
              <a:buFont typeface="Arial"/>
              <a:buChar char="•"/>
              <a:tabLst>
                <a:tab pos="267335" algn="l"/>
              </a:tabLst>
            </a:pPr>
            <a:r>
              <a:rPr sz="2800" dirty="0">
                <a:latin typeface="Calibri"/>
                <a:cs typeface="Calibri"/>
              </a:rPr>
              <a:t>Existe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teorema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em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álgebra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linear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diz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valores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singulares </a:t>
            </a:r>
            <a:r>
              <a:rPr sz="2800" spc="-25" dirty="0">
                <a:latin typeface="Calibri"/>
                <a:cs typeface="Calibri"/>
              </a:rPr>
              <a:t>não-</a:t>
            </a:r>
            <a:r>
              <a:rPr sz="2800" dirty="0">
                <a:latin typeface="Calibri"/>
                <a:cs typeface="Calibri"/>
              </a:rPr>
              <a:t>nulos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𝐗</a:t>
            </a:r>
            <a:r>
              <a:rPr sz="2800" spc="-30" dirty="0">
                <a:latin typeface="Cambria Math"/>
                <a:cs typeface="Cambria Math"/>
              </a:rPr>
              <a:t> </a:t>
            </a:r>
            <a:r>
              <a:rPr sz="2800" dirty="0">
                <a:latin typeface="Calibri"/>
                <a:cs typeface="Calibri"/>
              </a:rPr>
              <a:t>são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raízes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quadradas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autovalores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não-</a:t>
            </a:r>
            <a:r>
              <a:rPr sz="2800" dirty="0">
                <a:latin typeface="Calibri"/>
                <a:cs typeface="Calibri"/>
              </a:rPr>
              <a:t>nulos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25" dirty="0">
                <a:latin typeface="Cambria Math"/>
                <a:cs typeface="Cambria Math"/>
              </a:rPr>
              <a:t>𝐗𝐗</a:t>
            </a:r>
            <a:r>
              <a:rPr sz="3075" spc="-37" baseline="27100" dirty="0">
                <a:latin typeface="Cambria Math"/>
                <a:cs typeface="Cambria Math"/>
              </a:rPr>
              <a:t>𝐓 </a:t>
            </a:r>
            <a:r>
              <a:rPr sz="2800" dirty="0">
                <a:latin typeface="Calibri"/>
                <a:cs typeface="Calibri"/>
              </a:rPr>
              <a:t>ou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20" dirty="0">
                <a:latin typeface="Cambria Math"/>
                <a:cs typeface="Cambria Math"/>
              </a:rPr>
              <a:t>𝐗</a:t>
            </a:r>
            <a:r>
              <a:rPr sz="3075" spc="-30" baseline="27100" dirty="0">
                <a:latin typeface="Cambria Math"/>
                <a:cs typeface="Cambria Math"/>
              </a:rPr>
              <a:t>𝐓</a:t>
            </a:r>
            <a:r>
              <a:rPr sz="2800" spc="-20" dirty="0">
                <a:latin typeface="Cambria Math"/>
                <a:cs typeface="Cambria Math"/>
              </a:rPr>
              <a:t>𝐗</a:t>
            </a:r>
            <a:r>
              <a:rPr sz="2800" spc="-2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66700" indent="-229235">
              <a:lnSpc>
                <a:spcPct val="100000"/>
              </a:lnSpc>
              <a:spcBef>
                <a:spcPts val="725"/>
              </a:spcBef>
              <a:buFont typeface="Arial"/>
              <a:buChar char="•"/>
              <a:tabLst>
                <a:tab pos="267335" algn="l"/>
              </a:tabLst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afirmação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anterior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caso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60" dirty="0">
                <a:latin typeface="Cambria Math"/>
                <a:cs typeface="Cambria Math"/>
              </a:rPr>
              <a:t>𝐗</a:t>
            </a:r>
            <a:r>
              <a:rPr sz="3075" spc="89" baseline="27100" dirty="0">
                <a:latin typeface="Cambria Math"/>
                <a:cs typeface="Cambria Math"/>
              </a:rPr>
              <a:t>𝐓</a:t>
            </a:r>
            <a:r>
              <a:rPr sz="2800" spc="60" dirty="0">
                <a:latin typeface="Cambria Math"/>
                <a:cs typeface="Cambria Math"/>
              </a:rPr>
              <a:t>𝐗</a:t>
            </a:r>
            <a:r>
              <a:rPr sz="2800" spc="-30" dirty="0">
                <a:latin typeface="Cambria Math"/>
                <a:cs typeface="Cambria Math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comprovada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seguinte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forma: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819394" y="4929632"/>
            <a:ext cx="1137920" cy="429259"/>
          </a:xfrm>
          <a:custGeom>
            <a:avLst/>
            <a:gdLst/>
            <a:ahLst/>
            <a:cxnLst/>
            <a:rect l="l" t="t" r="r" b="b"/>
            <a:pathLst>
              <a:path w="1137920" h="429260">
                <a:moveTo>
                  <a:pt x="1025271" y="0"/>
                </a:moveTo>
                <a:lnTo>
                  <a:pt x="1020952" y="14097"/>
                </a:lnTo>
                <a:lnTo>
                  <a:pt x="1040643" y="24334"/>
                </a:lnTo>
                <a:lnTo>
                  <a:pt x="1057798" y="39227"/>
                </a:lnTo>
                <a:lnTo>
                  <a:pt x="1084452" y="82931"/>
                </a:lnTo>
                <a:lnTo>
                  <a:pt x="1100629" y="142398"/>
                </a:lnTo>
                <a:lnTo>
                  <a:pt x="1106042" y="214630"/>
                </a:lnTo>
                <a:lnTo>
                  <a:pt x="1104687" y="252204"/>
                </a:lnTo>
                <a:lnTo>
                  <a:pt x="1093880" y="317875"/>
                </a:lnTo>
                <a:lnTo>
                  <a:pt x="1072405" y="370095"/>
                </a:lnTo>
                <a:lnTo>
                  <a:pt x="1040643" y="404437"/>
                </a:lnTo>
                <a:lnTo>
                  <a:pt x="1020952" y="414655"/>
                </a:lnTo>
                <a:lnTo>
                  <a:pt x="1025271" y="428879"/>
                </a:lnTo>
                <a:lnTo>
                  <a:pt x="1073181" y="403336"/>
                </a:lnTo>
                <a:lnTo>
                  <a:pt x="1108709" y="355219"/>
                </a:lnTo>
                <a:lnTo>
                  <a:pt x="1130601" y="290274"/>
                </a:lnTo>
                <a:lnTo>
                  <a:pt x="1137920" y="214376"/>
                </a:lnTo>
                <a:lnTo>
                  <a:pt x="1136088" y="175083"/>
                </a:lnTo>
                <a:lnTo>
                  <a:pt x="1121471" y="104737"/>
                </a:lnTo>
                <a:lnTo>
                  <a:pt x="1092493" y="46755"/>
                </a:lnTo>
                <a:lnTo>
                  <a:pt x="1050774" y="9902"/>
                </a:lnTo>
                <a:lnTo>
                  <a:pt x="1025271" y="0"/>
                </a:lnTo>
                <a:close/>
              </a:path>
              <a:path w="1137920" h="429260">
                <a:moveTo>
                  <a:pt x="112648" y="0"/>
                </a:moveTo>
                <a:lnTo>
                  <a:pt x="64738" y="25495"/>
                </a:lnTo>
                <a:lnTo>
                  <a:pt x="29209" y="73660"/>
                </a:lnTo>
                <a:lnTo>
                  <a:pt x="7318" y="138541"/>
                </a:lnTo>
                <a:lnTo>
                  <a:pt x="0" y="214376"/>
                </a:lnTo>
                <a:lnTo>
                  <a:pt x="1831" y="253688"/>
                </a:lnTo>
                <a:lnTo>
                  <a:pt x="16448" y="324121"/>
                </a:lnTo>
                <a:lnTo>
                  <a:pt x="45426" y="382105"/>
                </a:lnTo>
                <a:lnTo>
                  <a:pt x="87145" y="418923"/>
                </a:lnTo>
                <a:lnTo>
                  <a:pt x="112648" y="428879"/>
                </a:lnTo>
                <a:lnTo>
                  <a:pt x="116966" y="414655"/>
                </a:lnTo>
                <a:lnTo>
                  <a:pt x="97276" y="404437"/>
                </a:lnTo>
                <a:lnTo>
                  <a:pt x="80121" y="389588"/>
                </a:lnTo>
                <a:lnTo>
                  <a:pt x="53466" y="345948"/>
                </a:lnTo>
                <a:lnTo>
                  <a:pt x="37290" y="286623"/>
                </a:lnTo>
                <a:lnTo>
                  <a:pt x="31876" y="214630"/>
                </a:lnTo>
                <a:lnTo>
                  <a:pt x="33232" y="176907"/>
                </a:lnTo>
                <a:lnTo>
                  <a:pt x="44039" y="111081"/>
                </a:lnTo>
                <a:lnTo>
                  <a:pt x="65514" y="58763"/>
                </a:lnTo>
                <a:lnTo>
                  <a:pt x="97276" y="24334"/>
                </a:lnTo>
                <a:lnTo>
                  <a:pt x="116966" y="14097"/>
                </a:lnTo>
                <a:lnTo>
                  <a:pt x="11264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401439" y="4878704"/>
            <a:ext cx="246316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  <a:tabLst>
                <a:tab pos="1022985" algn="l"/>
                <a:tab pos="1547495" algn="l"/>
              </a:tabLst>
            </a:pPr>
            <a:r>
              <a:rPr sz="2800" spc="35" dirty="0">
                <a:latin typeface="Cambria Math"/>
                <a:cs typeface="Cambria Math"/>
              </a:rPr>
              <a:t>𝐗</a:t>
            </a:r>
            <a:r>
              <a:rPr sz="3075" spc="52" baseline="27100" dirty="0">
                <a:latin typeface="Cambria Math"/>
                <a:cs typeface="Cambria Math"/>
              </a:rPr>
              <a:t>𝐓</a:t>
            </a:r>
            <a:r>
              <a:rPr sz="2800" spc="35" dirty="0">
                <a:latin typeface="Cambria Math"/>
                <a:cs typeface="Cambria Math"/>
              </a:rPr>
              <a:t>𝐗</a:t>
            </a:r>
            <a:r>
              <a:rPr sz="2800" dirty="0">
                <a:latin typeface="Cambria Math"/>
                <a:cs typeface="Cambria Math"/>
              </a:rPr>
              <a:t>	</a:t>
            </a:r>
            <a:r>
              <a:rPr sz="2800" spc="-50" dirty="0">
                <a:latin typeface="Cambria Math"/>
                <a:cs typeface="Cambria Math"/>
              </a:rPr>
              <a:t>=</a:t>
            </a:r>
            <a:r>
              <a:rPr sz="2800" dirty="0">
                <a:latin typeface="Cambria Math"/>
                <a:cs typeface="Cambria Math"/>
              </a:rPr>
              <a:t>	</a:t>
            </a:r>
            <a:r>
              <a:rPr sz="2800" spc="-20" dirty="0">
                <a:latin typeface="Cambria Math"/>
                <a:cs typeface="Cambria Math"/>
              </a:rPr>
              <a:t>𝐔𝚺𝐕</a:t>
            </a:r>
            <a:r>
              <a:rPr sz="3075" spc="-30" baseline="27100" dirty="0">
                <a:latin typeface="Cambria Math"/>
                <a:cs typeface="Cambria Math"/>
              </a:rPr>
              <a:t>𝐓</a:t>
            </a:r>
            <a:endParaRPr sz="3075" baseline="27100" dirty="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977253" y="4738496"/>
            <a:ext cx="194945" cy="3365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50" spc="-50" dirty="0">
                <a:latin typeface="Cambria Math"/>
                <a:cs typeface="Cambria Math"/>
              </a:rPr>
              <a:t>𝐓</a:t>
            </a:r>
            <a:endParaRPr sz="2050">
              <a:latin typeface="Cambria Math"/>
              <a:cs typeface="Cambria Math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833110" y="4929632"/>
            <a:ext cx="2509520" cy="868044"/>
          </a:xfrm>
          <a:custGeom>
            <a:avLst/>
            <a:gdLst/>
            <a:ahLst/>
            <a:cxnLst/>
            <a:rect l="l" t="t" r="r" b="b"/>
            <a:pathLst>
              <a:path w="2509520" h="868045">
                <a:moveTo>
                  <a:pt x="116967" y="453009"/>
                </a:moveTo>
                <a:lnTo>
                  <a:pt x="112649" y="438912"/>
                </a:lnTo>
                <a:lnTo>
                  <a:pt x="87134" y="448818"/>
                </a:lnTo>
                <a:lnTo>
                  <a:pt x="64731" y="464413"/>
                </a:lnTo>
                <a:lnTo>
                  <a:pt x="29210" y="512572"/>
                </a:lnTo>
                <a:lnTo>
                  <a:pt x="7315" y="577456"/>
                </a:lnTo>
                <a:lnTo>
                  <a:pt x="0" y="653288"/>
                </a:lnTo>
                <a:lnTo>
                  <a:pt x="1828" y="692607"/>
                </a:lnTo>
                <a:lnTo>
                  <a:pt x="16446" y="763016"/>
                </a:lnTo>
                <a:lnTo>
                  <a:pt x="45415" y="821029"/>
                </a:lnTo>
                <a:lnTo>
                  <a:pt x="87134" y="857872"/>
                </a:lnTo>
                <a:lnTo>
                  <a:pt x="112649" y="867803"/>
                </a:lnTo>
                <a:lnTo>
                  <a:pt x="116967" y="853592"/>
                </a:lnTo>
                <a:lnTo>
                  <a:pt x="97269" y="843381"/>
                </a:lnTo>
                <a:lnTo>
                  <a:pt x="80111" y="828522"/>
                </a:lnTo>
                <a:lnTo>
                  <a:pt x="53467" y="784847"/>
                </a:lnTo>
                <a:lnTo>
                  <a:pt x="37287" y="725538"/>
                </a:lnTo>
                <a:lnTo>
                  <a:pt x="31877" y="653542"/>
                </a:lnTo>
                <a:lnTo>
                  <a:pt x="33223" y="615823"/>
                </a:lnTo>
                <a:lnTo>
                  <a:pt x="44030" y="549998"/>
                </a:lnTo>
                <a:lnTo>
                  <a:pt x="65506" y="497687"/>
                </a:lnTo>
                <a:lnTo>
                  <a:pt x="97269" y="463257"/>
                </a:lnTo>
                <a:lnTo>
                  <a:pt x="116967" y="453009"/>
                </a:lnTo>
                <a:close/>
              </a:path>
              <a:path w="2509520" h="868045">
                <a:moveTo>
                  <a:pt x="1332992" y="653288"/>
                </a:moveTo>
                <a:lnTo>
                  <a:pt x="1331150" y="614006"/>
                </a:lnTo>
                <a:lnTo>
                  <a:pt x="1316532" y="543661"/>
                </a:lnTo>
                <a:lnTo>
                  <a:pt x="1287564" y="485673"/>
                </a:lnTo>
                <a:lnTo>
                  <a:pt x="1245844" y="448818"/>
                </a:lnTo>
                <a:lnTo>
                  <a:pt x="1220343" y="438912"/>
                </a:lnTo>
                <a:lnTo>
                  <a:pt x="1216025" y="453009"/>
                </a:lnTo>
                <a:lnTo>
                  <a:pt x="1235710" y="463257"/>
                </a:lnTo>
                <a:lnTo>
                  <a:pt x="1252867" y="478142"/>
                </a:lnTo>
                <a:lnTo>
                  <a:pt x="1279525" y="521843"/>
                </a:lnTo>
                <a:lnTo>
                  <a:pt x="1295692" y="581317"/>
                </a:lnTo>
                <a:lnTo>
                  <a:pt x="1301115" y="653542"/>
                </a:lnTo>
                <a:lnTo>
                  <a:pt x="1299756" y="691121"/>
                </a:lnTo>
                <a:lnTo>
                  <a:pt x="1288948" y="756780"/>
                </a:lnTo>
                <a:lnTo>
                  <a:pt x="1267472" y="809015"/>
                </a:lnTo>
                <a:lnTo>
                  <a:pt x="1235710" y="843381"/>
                </a:lnTo>
                <a:lnTo>
                  <a:pt x="1216025" y="853592"/>
                </a:lnTo>
                <a:lnTo>
                  <a:pt x="1220343" y="867803"/>
                </a:lnTo>
                <a:lnTo>
                  <a:pt x="1268247" y="842276"/>
                </a:lnTo>
                <a:lnTo>
                  <a:pt x="1303782" y="794118"/>
                </a:lnTo>
                <a:lnTo>
                  <a:pt x="1325664" y="729183"/>
                </a:lnTo>
                <a:lnTo>
                  <a:pt x="1331150" y="692607"/>
                </a:lnTo>
                <a:lnTo>
                  <a:pt x="1332992" y="653288"/>
                </a:lnTo>
                <a:close/>
              </a:path>
              <a:path w="2509520" h="868045">
                <a:moveTo>
                  <a:pt x="1488567" y="14097"/>
                </a:moveTo>
                <a:lnTo>
                  <a:pt x="1484249" y="0"/>
                </a:lnTo>
                <a:lnTo>
                  <a:pt x="1458734" y="9906"/>
                </a:lnTo>
                <a:lnTo>
                  <a:pt x="1436331" y="25501"/>
                </a:lnTo>
                <a:lnTo>
                  <a:pt x="1400810" y="73660"/>
                </a:lnTo>
                <a:lnTo>
                  <a:pt x="1378915" y="138544"/>
                </a:lnTo>
                <a:lnTo>
                  <a:pt x="1371600" y="214376"/>
                </a:lnTo>
                <a:lnTo>
                  <a:pt x="1373428" y="253695"/>
                </a:lnTo>
                <a:lnTo>
                  <a:pt x="1388046" y="324129"/>
                </a:lnTo>
                <a:lnTo>
                  <a:pt x="1417015" y="382117"/>
                </a:lnTo>
                <a:lnTo>
                  <a:pt x="1458734" y="418934"/>
                </a:lnTo>
                <a:lnTo>
                  <a:pt x="1484249" y="428879"/>
                </a:lnTo>
                <a:lnTo>
                  <a:pt x="1488567" y="414655"/>
                </a:lnTo>
                <a:lnTo>
                  <a:pt x="1468869" y="404444"/>
                </a:lnTo>
                <a:lnTo>
                  <a:pt x="1451711" y="389597"/>
                </a:lnTo>
                <a:lnTo>
                  <a:pt x="1425067" y="345948"/>
                </a:lnTo>
                <a:lnTo>
                  <a:pt x="1408887" y="286626"/>
                </a:lnTo>
                <a:lnTo>
                  <a:pt x="1403477" y="214630"/>
                </a:lnTo>
                <a:lnTo>
                  <a:pt x="1404823" y="176911"/>
                </a:lnTo>
                <a:lnTo>
                  <a:pt x="1415630" y="111086"/>
                </a:lnTo>
                <a:lnTo>
                  <a:pt x="1437106" y="58775"/>
                </a:lnTo>
                <a:lnTo>
                  <a:pt x="1468869" y="24345"/>
                </a:lnTo>
                <a:lnTo>
                  <a:pt x="1488567" y="14097"/>
                </a:lnTo>
                <a:close/>
              </a:path>
              <a:path w="2509520" h="868045">
                <a:moveTo>
                  <a:pt x="2509520" y="214376"/>
                </a:moveTo>
                <a:lnTo>
                  <a:pt x="2507678" y="175094"/>
                </a:lnTo>
                <a:lnTo>
                  <a:pt x="2493060" y="104749"/>
                </a:lnTo>
                <a:lnTo>
                  <a:pt x="2464092" y="46761"/>
                </a:lnTo>
                <a:lnTo>
                  <a:pt x="2422372" y="9906"/>
                </a:lnTo>
                <a:lnTo>
                  <a:pt x="2396871" y="0"/>
                </a:lnTo>
                <a:lnTo>
                  <a:pt x="2392553" y="14097"/>
                </a:lnTo>
                <a:lnTo>
                  <a:pt x="2412238" y="24345"/>
                </a:lnTo>
                <a:lnTo>
                  <a:pt x="2429395" y="39230"/>
                </a:lnTo>
                <a:lnTo>
                  <a:pt x="2456053" y="82931"/>
                </a:lnTo>
                <a:lnTo>
                  <a:pt x="2472220" y="142405"/>
                </a:lnTo>
                <a:lnTo>
                  <a:pt x="2477643" y="214630"/>
                </a:lnTo>
                <a:lnTo>
                  <a:pt x="2476284" y="252209"/>
                </a:lnTo>
                <a:lnTo>
                  <a:pt x="2465476" y="317881"/>
                </a:lnTo>
                <a:lnTo>
                  <a:pt x="2444000" y="370103"/>
                </a:lnTo>
                <a:lnTo>
                  <a:pt x="2412238" y="404444"/>
                </a:lnTo>
                <a:lnTo>
                  <a:pt x="2392553" y="414655"/>
                </a:lnTo>
                <a:lnTo>
                  <a:pt x="2396871" y="428879"/>
                </a:lnTo>
                <a:lnTo>
                  <a:pt x="2444775" y="403339"/>
                </a:lnTo>
                <a:lnTo>
                  <a:pt x="2480310" y="355219"/>
                </a:lnTo>
                <a:lnTo>
                  <a:pt x="2502192" y="290283"/>
                </a:lnTo>
                <a:lnTo>
                  <a:pt x="2507678" y="253695"/>
                </a:lnTo>
                <a:lnTo>
                  <a:pt x="2509520" y="21437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401690" y="5317337"/>
            <a:ext cx="165862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560705" algn="l"/>
              </a:tabLst>
            </a:pPr>
            <a:r>
              <a:rPr sz="2800" spc="-50" dirty="0">
                <a:latin typeface="Cambria Math"/>
                <a:cs typeface="Cambria Math"/>
              </a:rPr>
              <a:t>=</a:t>
            </a:r>
            <a:r>
              <a:rPr sz="2800" dirty="0">
                <a:latin typeface="Cambria Math"/>
                <a:cs typeface="Cambria Math"/>
              </a:rPr>
              <a:t>	</a:t>
            </a:r>
            <a:r>
              <a:rPr sz="2800" spc="-10" dirty="0">
                <a:latin typeface="Cambria Math"/>
                <a:cs typeface="Cambria Math"/>
              </a:rPr>
              <a:t>𝐕𝚺</a:t>
            </a:r>
            <a:r>
              <a:rPr sz="3075" spc="-15" baseline="27100" dirty="0">
                <a:latin typeface="Cambria Math"/>
                <a:cs typeface="Cambria Math"/>
              </a:rPr>
              <a:t>𝐓</a:t>
            </a:r>
            <a:r>
              <a:rPr sz="2800" spc="-10" dirty="0">
                <a:latin typeface="Cambria Math"/>
                <a:cs typeface="Cambria Math"/>
              </a:rPr>
              <a:t>𝑼</a:t>
            </a:r>
            <a:r>
              <a:rPr sz="3075" spc="-15" baseline="27100" dirty="0">
                <a:latin typeface="Cambria Math"/>
                <a:cs typeface="Cambria Math"/>
              </a:rPr>
              <a:t>𝐓</a:t>
            </a:r>
            <a:endParaRPr sz="3075" baseline="27100">
              <a:latin typeface="Cambria Math"/>
              <a:cs typeface="Cambria Math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229093" y="5368544"/>
            <a:ext cx="1137920" cy="429259"/>
          </a:xfrm>
          <a:custGeom>
            <a:avLst/>
            <a:gdLst/>
            <a:ahLst/>
            <a:cxnLst/>
            <a:rect l="l" t="t" r="r" b="b"/>
            <a:pathLst>
              <a:path w="1137920" h="429260">
                <a:moveTo>
                  <a:pt x="1025271" y="0"/>
                </a:moveTo>
                <a:lnTo>
                  <a:pt x="1020952" y="14096"/>
                </a:lnTo>
                <a:lnTo>
                  <a:pt x="1040643" y="24334"/>
                </a:lnTo>
                <a:lnTo>
                  <a:pt x="1057798" y="39227"/>
                </a:lnTo>
                <a:lnTo>
                  <a:pt x="1084452" y="82930"/>
                </a:lnTo>
                <a:lnTo>
                  <a:pt x="1100629" y="142398"/>
                </a:lnTo>
                <a:lnTo>
                  <a:pt x="1106042" y="214629"/>
                </a:lnTo>
                <a:lnTo>
                  <a:pt x="1104687" y="252205"/>
                </a:lnTo>
                <a:lnTo>
                  <a:pt x="1093880" y="317860"/>
                </a:lnTo>
                <a:lnTo>
                  <a:pt x="1072405" y="370092"/>
                </a:lnTo>
                <a:lnTo>
                  <a:pt x="1040643" y="404467"/>
                </a:lnTo>
                <a:lnTo>
                  <a:pt x="1020952" y="414680"/>
                </a:lnTo>
                <a:lnTo>
                  <a:pt x="1025271" y="428891"/>
                </a:lnTo>
                <a:lnTo>
                  <a:pt x="1073181" y="403364"/>
                </a:lnTo>
                <a:lnTo>
                  <a:pt x="1108709" y="355206"/>
                </a:lnTo>
                <a:lnTo>
                  <a:pt x="1130601" y="290268"/>
                </a:lnTo>
                <a:lnTo>
                  <a:pt x="1137920" y="214375"/>
                </a:lnTo>
                <a:lnTo>
                  <a:pt x="1136088" y="175083"/>
                </a:lnTo>
                <a:lnTo>
                  <a:pt x="1121471" y="104737"/>
                </a:lnTo>
                <a:lnTo>
                  <a:pt x="1092493" y="46755"/>
                </a:lnTo>
                <a:lnTo>
                  <a:pt x="1050774" y="9902"/>
                </a:lnTo>
                <a:lnTo>
                  <a:pt x="1025271" y="0"/>
                </a:lnTo>
                <a:close/>
              </a:path>
              <a:path w="1137920" h="429260">
                <a:moveTo>
                  <a:pt x="112649" y="0"/>
                </a:moveTo>
                <a:lnTo>
                  <a:pt x="64738" y="25495"/>
                </a:lnTo>
                <a:lnTo>
                  <a:pt x="29209" y="73659"/>
                </a:lnTo>
                <a:lnTo>
                  <a:pt x="7318" y="138541"/>
                </a:lnTo>
                <a:lnTo>
                  <a:pt x="0" y="214375"/>
                </a:lnTo>
                <a:lnTo>
                  <a:pt x="1831" y="253693"/>
                </a:lnTo>
                <a:lnTo>
                  <a:pt x="16448" y="324103"/>
                </a:lnTo>
                <a:lnTo>
                  <a:pt x="45426" y="382114"/>
                </a:lnTo>
                <a:lnTo>
                  <a:pt x="87145" y="418957"/>
                </a:lnTo>
                <a:lnTo>
                  <a:pt x="112649" y="428891"/>
                </a:lnTo>
                <a:lnTo>
                  <a:pt x="116966" y="414680"/>
                </a:lnTo>
                <a:lnTo>
                  <a:pt x="97276" y="404467"/>
                </a:lnTo>
                <a:lnTo>
                  <a:pt x="80121" y="389604"/>
                </a:lnTo>
                <a:lnTo>
                  <a:pt x="53466" y="345935"/>
                </a:lnTo>
                <a:lnTo>
                  <a:pt x="37290" y="286616"/>
                </a:lnTo>
                <a:lnTo>
                  <a:pt x="31876" y="214629"/>
                </a:lnTo>
                <a:lnTo>
                  <a:pt x="33232" y="176907"/>
                </a:lnTo>
                <a:lnTo>
                  <a:pt x="44039" y="111081"/>
                </a:lnTo>
                <a:lnTo>
                  <a:pt x="65514" y="58763"/>
                </a:lnTo>
                <a:lnTo>
                  <a:pt x="97276" y="24334"/>
                </a:lnTo>
                <a:lnTo>
                  <a:pt x="116966" y="14096"/>
                </a:lnTo>
                <a:lnTo>
                  <a:pt x="11264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7296277" y="4878704"/>
            <a:ext cx="965835" cy="8909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800" spc="-20" dirty="0">
                <a:latin typeface="Cambria Math"/>
                <a:cs typeface="Cambria Math"/>
              </a:rPr>
              <a:t>𝐔𝚺𝐕</a:t>
            </a:r>
            <a:r>
              <a:rPr sz="3075" spc="-30" baseline="27100" dirty="0">
                <a:latin typeface="Cambria Math"/>
                <a:cs typeface="Cambria Math"/>
              </a:rPr>
              <a:t>𝐓</a:t>
            </a:r>
            <a:endParaRPr sz="3075" baseline="27100">
              <a:latin typeface="Cambria Math"/>
              <a:cs typeface="Cambria Math"/>
            </a:endParaRPr>
          </a:p>
          <a:p>
            <a:pPr marL="62230">
              <a:lnSpc>
                <a:spcPct val="100000"/>
              </a:lnSpc>
              <a:spcBef>
                <a:spcPts val="95"/>
              </a:spcBef>
            </a:pPr>
            <a:r>
              <a:rPr sz="2800" spc="-20" dirty="0">
                <a:latin typeface="Cambria Math"/>
                <a:cs typeface="Cambria Math"/>
              </a:rPr>
              <a:t>𝐔𝚺𝐕</a:t>
            </a:r>
            <a:r>
              <a:rPr sz="3075" spc="-30" baseline="27100" dirty="0">
                <a:latin typeface="Cambria Math"/>
                <a:cs typeface="Cambria Math"/>
              </a:rPr>
              <a:t>𝐓</a:t>
            </a:r>
            <a:endParaRPr sz="3075" baseline="2710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412359" y="5726379"/>
            <a:ext cx="198818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Cambria Math"/>
                <a:cs typeface="Cambria Math"/>
              </a:rPr>
              <a:t>=</a:t>
            </a:r>
            <a:r>
              <a:rPr sz="2800" spc="135" dirty="0">
                <a:latin typeface="Cambria Math"/>
                <a:cs typeface="Cambria Math"/>
              </a:rPr>
              <a:t> </a:t>
            </a:r>
            <a:r>
              <a:rPr sz="2800" spc="-10" dirty="0">
                <a:latin typeface="Cambria Math"/>
                <a:cs typeface="Cambria Math"/>
              </a:rPr>
              <a:t>𝐕(𝚺</a:t>
            </a:r>
            <a:r>
              <a:rPr sz="3075" spc="-15" baseline="27100" dirty="0">
                <a:latin typeface="Cambria Math"/>
                <a:cs typeface="Cambria Math"/>
              </a:rPr>
              <a:t>𝐓</a:t>
            </a:r>
            <a:r>
              <a:rPr sz="2800" spc="-10" dirty="0">
                <a:latin typeface="Cambria Math"/>
                <a:cs typeface="Cambria Math"/>
              </a:rPr>
              <a:t>𝚺)𝐕</a:t>
            </a:r>
            <a:r>
              <a:rPr sz="3075" spc="-15" baseline="27100" dirty="0">
                <a:latin typeface="Cambria Math"/>
                <a:cs typeface="Cambria Math"/>
              </a:rPr>
              <a:t>𝐓</a:t>
            </a:r>
            <a:endParaRPr sz="3075" baseline="271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Componentes</a:t>
            </a:r>
            <a:r>
              <a:rPr spc="-135" dirty="0"/>
              <a:t> </a:t>
            </a:r>
            <a:r>
              <a:rPr spc="-10" dirty="0"/>
              <a:t>principais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86959" y="1676400"/>
            <a:ext cx="10974070" cy="4832985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266700" marR="119380" indent="-229235">
              <a:lnSpc>
                <a:spcPts val="3000"/>
              </a:lnSpc>
              <a:spcBef>
                <a:spcPts val="495"/>
              </a:spcBef>
              <a:buFont typeface="Arial"/>
              <a:buChar char="•"/>
              <a:tabLst>
                <a:tab pos="267335" algn="l"/>
              </a:tabLst>
            </a:pPr>
            <a:r>
              <a:rPr sz="2800" spc="-10" dirty="0">
                <a:latin typeface="Calibri"/>
                <a:cs typeface="Calibri"/>
              </a:rPr>
              <a:t>Observamos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60" dirty="0">
                <a:latin typeface="Cambria Math"/>
                <a:cs typeface="Cambria Math"/>
              </a:rPr>
              <a:t>𝐗</a:t>
            </a:r>
            <a:r>
              <a:rPr sz="3075" spc="89" baseline="27100" dirty="0">
                <a:latin typeface="Cambria Math"/>
                <a:cs typeface="Cambria Math"/>
              </a:rPr>
              <a:t>𝐓</a:t>
            </a:r>
            <a:r>
              <a:rPr sz="2800" spc="60" dirty="0">
                <a:latin typeface="Cambria Math"/>
                <a:cs typeface="Cambria Math"/>
              </a:rPr>
              <a:t>𝐗</a:t>
            </a:r>
            <a:r>
              <a:rPr sz="2800" spc="-20" dirty="0">
                <a:latin typeface="Cambria Math"/>
                <a:cs typeface="Cambria Math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i="1" spc="-10" dirty="0">
                <a:latin typeface="Calibri"/>
                <a:cs typeface="Calibri"/>
              </a:rPr>
              <a:t>semelhante</a:t>
            </a:r>
            <a:r>
              <a:rPr sz="2800" i="1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55" dirty="0">
                <a:latin typeface="Cambria Math"/>
                <a:cs typeface="Cambria Math"/>
              </a:rPr>
              <a:t>𝚺</a:t>
            </a:r>
            <a:r>
              <a:rPr sz="3075" spc="82" baseline="27100" dirty="0">
                <a:latin typeface="Cambria Math"/>
                <a:cs typeface="Cambria Math"/>
              </a:rPr>
              <a:t>𝐓</a:t>
            </a:r>
            <a:r>
              <a:rPr sz="2800" spc="55" dirty="0">
                <a:latin typeface="Cambria Math"/>
                <a:cs typeface="Cambria Math"/>
              </a:rPr>
              <a:t>𝚺</a:t>
            </a:r>
            <a:r>
              <a:rPr sz="2800" spc="-15" dirty="0">
                <a:latin typeface="Cambria Math"/>
                <a:cs typeface="Cambria Math"/>
              </a:rPr>
              <a:t> </a:t>
            </a:r>
            <a:r>
              <a:rPr sz="2800" dirty="0">
                <a:latin typeface="Calibri"/>
                <a:cs typeface="Calibri"/>
              </a:rPr>
              <a:t>e,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portanto,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possui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mesmos autovalores.</a:t>
            </a:r>
            <a:endParaRPr sz="2800" dirty="0">
              <a:latin typeface="Calibri"/>
              <a:cs typeface="Calibri"/>
            </a:endParaRPr>
          </a:p>
          <a:p>
            <a:pPr marL="266700" marR="30480" indent="-229235">
              <a:lnSpc>
                <a:spcPts val="3000"/>
              </a:lnSpc>
              <a:spcBef>
                <a:spcPts val="1105"/>
              </a:spcBef>
              <a:buFont typeface="Arial"/>
              <a:buChar char="•"/>
              <a:tabLst>
                <a:tab pos="267335" algn="l"/>
              </a:tabLst>
            </a:pPr>
            <a:r>
              <a:rPr sz="2800" dirty="0">
                <a:latin typeface="Calibri"/>
                <a:cs typeface="Calibri"/>
              </a:rPr>
              <a:t>Como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55" dirty="0">
                <a:latin typeface="Cambria Math"/>
                <a:cs typeface="Cambria Math"/>
              </a:rPr>
              <a:t>𝚺</a:t>
            </a:r>
            <a:r>
              <a:rPr sz="3075" spc="82" baseline="27100" dirty="0">
                <a:latin typeface="Cambria Math"/>
                <a:cs typeface="Cambria Math"/>
              </a:rPr>
              <a:t>𝐓</a:t>
            </a:r>
            <a:r>
              <a:rPr sz="2800" spc="55" dirty="0">
                <a:latin typeface="Cambria Math"/>
                <a:cs typeface="Cambria Math"/>
              </a:rPr>
              <a:t>𝚺</a:t>
            </a:r>
            <a:r>
              <a:rPr sz="2800" spc="-35" dirty="0">
                <a:latin typeface="Cambria Math"/>
                <a:cs typeface="Cambria Math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uma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matriz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diagonal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quadrada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𝑝</a:t>
            </a:r>
            <a:r>
              <a:rPr sz="2800" spc="-20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×</a:t>
            </a:r>
            <a:r>
              <a:rPr sz="2800" spc="-50" dirty="0">
                <a:latin typeface="Cambria Math"/>
                <a:cs typeface="Cambria Math"/>
              </a:rPr>
              <a:t> </a:t>
            </a:r>
            <a:r>
              <a:rPr sz="2800" dirty="0">
                <a:latin typeface="Cambria Math"/>
                <a:cs typeface="Cambria Math"/>
              </a:rPr>
              <a:t>𝑝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autovalores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são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de </a:t>
            </a:r>
            <a:r>
              <a:rPr sz="2800" spc="-10" dirty="0">
                <a:latin typeface="Calibri"/>
                <a:cs typeface="Calibri"/>
              </a:rPr>
              <a:t>fato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elementos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diagonais,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são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quadrados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valores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singulares.</a:t>
            </a:r>
            <a:endParaRPr sz="2800" dirty="0">
              <a:latin typeface="Calibri"/>
              <a:cs typeface="Calibri"/>
            </a:endParaRPr>
          </a:p>
          <a:p>
            <a:pPr marL="266700" marR="2077085" indent="-229235">
              <a:lnSpc>
                <a:spcPts val="3110"/>
              </a:lnSpc>
              <a:spcBef>
                <a:spcPts val="935"/>
              </a:spcBef>
              <a:buFont typeface="Arial"/>
              <a:buChar char="•"/>
              <a:tabLst>
                <a:tab pos="267335" algn="l"/>
              </a:tabLst>
            </a:pPr>
            <a:r>
              <a:rPr sz="2800" spc="-35" dirty="0">
                <a:latin typeface="Calibri"/>
                <a:cs typeface="Calibri"/>
              </a:rPr>
              <a:t>Também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deve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ser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notado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realizamos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efetivamente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uma </a:t>
            </a:r>
            <a:r>
              <a:rPr sz="2800" spc="-10" dirty="0">
                <a:latin typeface="Calibri"/>
                <a:cs typeface="Calibri"/>
              </a:rPr>
              <a:t>decomposição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autovalores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matriz,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60" dirty="0">
                <a:latin typeface="Cambria Math"/>
                <a:cs typeface="Cambria Math"/>
              </a:rPr>
              <a:t>𝐗</a:t>
            </a:r>
            <a:r>
              <a:rPr sz="3075" spc="89" baseline="27100" dirty="0">
                <a:latin typeface="Cambria Math"/>
                <a:cs typeface="Cambria Math"/>
              </a:rPr>
              <a:t>𝐓</a:t>
            </a:r>
            <a:r>
              <a:rPr sz="2800" spc="60" dirty="0">
                <a:latin typeface="Cambria Math"/>
                <a:cs typeface="Cambria Math"/>
              </a:rPr>
              <a:t>𝐗</a:t>
            </a:r>
            <a:r>
              <a:rPr sz="2800" spc="-40" dirty="0">
                <a:latin typeface="Cambria Math"/>
                <a:cs typeface="Cambria Math"/>
              </a:rPr>
              <a:t> </a:t>
            </a:r>
            <a:r>
              <a:rPr sz="2800" spc="-5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66700" marR="1056005" indent="-229235">
              <a:lnSpc>
                <a:spcPts val="3080"/>
              </a:lnSpc>
              <a:spcBef>
                <a:spcPts val="980"/>
              </a:spcBef>
              <a:buFont typeface="Arial"/>
              <a:buChar char="•"/>
              <a:tabLst>
                <a:tab pos="267335" algn="l"/>
                <a:tab pos="6993890" algn="l"/>
              </a:tabLst>
            </a:pPr>
            <a:r>
              <a:rPr sz="2800" dirty="0">
                <a:latin typeface="Calibri"/>
                <a:cs typeface="Calibri"/>
              </a:rPr>
              <a:t>De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fato,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matriz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60" dirty="0">
                <a:latin typeface="Cambria Math"/>
                <a:cs typeface="Cambria Math"/>
              </a:rPr>
              <a:t>𝐗</a:t>
            </a:r>
            <a:r>
              <a:rPr sz="3075" spc="89" baseline="27100" dirty="0">
                <a:latin typeface="Cambria Math"/>
                <a:cs typeface="Cambria Math"/>
              </a:rPr>
              <a:t>𝐓</a:t>
            </a:r>
            <a:r>
              <a:rPr sz="2800" spc="60" dirty="0">
                <a:latin typeface="Cambria Math"/>
                <a:cs typeface="Cambria Math"/>
              </a:rPr>
              <a:t>𝐗</a:t>
            </a:r>
            <a:r>
              <a:rPr sz="2800" spc="-45" dirty="0">
                <a:latin typeface="Cambria Math"/>
                <a:cs typeface="Cambria Math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simétrica,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esta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diagonalização ortogonal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portanto,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autovetores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35" dirty="0">
                <a:latin typeface="Cambria Math"/>
                <a:cs typeface="Cambria Math"/>
              </a:rPr>
              <a:t>𝐗</a:t>
            </a:r>
            <a:r>
              <a:rPr sz="3075" spc="52" baseline="27100" dirty="0">
                <a:latin typeface="Cambria Math"/>
                <a:cs typeface="Cambria Math"/>
              </a:rPr>
              <a:t>𝐓</a:t>
            </a:r>
            <a:r>
              <a:rPr sz="2800" spc="35" dirty="0">
                <a:latin typeface="Cambria Math"/>
                <a:cs typeface="Cambria Math"/>
              </a:rPr>
              <a:t>𝐗</a:t>
            </a:r>
            <a:r>
              <a:rPr sz="2800" dirty="0">
                <a:latin typeface="Cambria Math"/>
                <a:cs typeface="Cambria Math"/>
              </a:rPr>
              <a:t>	</a:t>
            </a:r>
            <a:r>
              <a:rPr sz="2800" dirty="0">
                <a:latin typeface="Calibri"/>
                <a:cs typeface="Calibri"/>
              </a:rPr>
              <a:t>são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colunas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5" dirty="0">
                <a:latin typeface="Cambria Math"/>
                <a:cs typeface="Cambria Math"/>
              </a:rPr>
              <a:t>𝐕</a:t>
            </a:r>
            <a:r>
              <a:rPr sz="2800" spc="-25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66700" marR="708025" indent="-229235">
              <a:lnSpc>
                <a:spcPct val="90900"/>
              </a:lnSpc>
              <a:spcBef>
                <a:spcPts val="890"/>
              </a:spcBef>
              <a:buFont typeface="Arial"/>
              <a:buChar char="•"/>
              <a:tabLst>
                <a:tab pos="267335" algn="l"/>
              </a:tabLst>
            </a:pPr>
            <a:r>
              <a:rPr sz="2800" spc="-25" dirty="0">
                <a:latin typeface="Calibri"/>
                <a:cs typeface="Calibri"/>
              </a:rPr>
              <a:t>Portanto,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realizarmos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uma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decomposição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em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valores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singulares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da </a:t>
            </a:r>
            <a:r>
              <a:rPr sz="2800" dirty="0">
                <a:latin typeface="Calibri"/>
                <a:cs typeface="Calibri"/>
              </a:rPr>
              <a:t>matriz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𝐗</a:t>
            </a:r>
            <a:r>
              <a:rPr sz="3075" baseline="27100" dirty="0">
                <a:latin typeface="Cambria Math"/>
                <a:cs typeface="Cambria Math"/>
              </a:rPr>
              <a:t>𝐓</a:t>
            </a:r>
            <a:r>
              <a:rPr sz="2800" dirty="0">
                <a:latin typeface="Cambria Math"/>
                <a:cs typeface="Cambria Math"/>
              </a:rPr>
              <a:t>𝐗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componentes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principais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serão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colunas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matriz ortogonal,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25" dirty="0">
                <a:latin typeface="Cambria Math"/>
                <a:cs typeface="Cambria Math"/>
              </a:rPr>
              <a:t>𝐕</a:t>
            </a:r>
            <a:r>
              <a:rPr sz="2800" spc="-25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Projetando</a:t>
            </a:r>
            <a:r>
              <a:rPr spc="-75" dirty="0"/>
              <a:t> </a:t>
            </a:r>
            <a:r>
              <a:rPr dirty="0"/>
              <a:t>em</a:t>
            </a:r>
            <a:r>
              <a:rPr spc="-100" dirty="0"/>
              <a:t> </a:t>
            </a:r>
            <a:r>
              <a:rPr b="0" dirty="0">
                <a:latin typeface="Cambria Math"/>
                <a:cs typeface="Cambria Math"/>
              </a:rPr>
              <a:t>𝑑</a:t>
            </a:r>
            <a:r>
              <a:rPr b="0" spc="75" dirty="0">
                <a:latin typeface="Cambria Math"/>
                <a:cs typeface="Cambria Math"/>
              </a:rPr>
              <a:t> </a:t>
            </a:r>
            <a:r>
              <a:rPr spc="-10" dirty="0"/>
              <a:t>dimensões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600200"/>
            <a:ext cx="7316470" cy="4925695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241300" marR="239395" indent="-229235">
              <a:lnSpc>
                <a:spcPct val="80000"/>
              </a:lnSpc>
              <a:spcBef>
                <a:spcPts val="725"/>
              </a:spcBef>
              <a:buFont typeface="Arial"/>
              <a:buChar char="•"/>
              <a:tabLst>
                <a:tab pos="241935" algn="l"/>
              </a:tabLst>
            </a:pPr>
            <a:r>
              <a:rPr sz="2600" dirty="0">
                <a:latin typeface="Calibri"/>
                <a:cs typeface="Calibri"/>
              </a:rPr>
              <a:t>Depois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identificar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todos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os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componentes </a:t>
            </a:r>
            <a:r>
              <a:rPr sz="2600" dirty="0">
                <a:latin typeface="Calibri"/>
                <a:cs typeface="Calibri"/>
              </a:rPr>
              <a:t>principais,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podemos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reduzir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dimensionalidade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do </a:t>
            </a:r>
            <a:r>
              <a:rPr sz="2600" dirty="0">
                <a:latin typeface="Calibri"/>
                <a:cs typeface="Calibri"/>
              </a:rPr>
              <a:t>conjunto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dados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para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mbria Math"/>
                <a:cs typeface="Cambria Math"/>
              </a:rPr>
              <a:t>𝑑</a:t>
            </a:r>
            <a:r>
              <a:rPr sz="2600" spc="80" dirty="0">
                <a:latin typeface="Cambria Math"/>
                <a:cs typeface="Cambria Math"/>
              </a:rPr>
              <a:t> </a:t>
            </a:r>
            <a:r>
              <a:rPr sz="2600" dirty="0">
                <a:latin typeface="Calibri"/>
                <a:cs typeface="Calibri"/>
              </a:rPr>
              <a:t>dimensões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projetando-</a:t>
            </a:r>
            <a:r>
              <a:rPr sz="2600" spc="-50" dirty="0">
                <a:latin typeface="Calibri"/>
                <a:cs typeface="Calibri"/>
              </a:rPr>
              <a:t>o </a:t>
            </a:r>
            <a:r>
              <a:rPr sz="2600" dirty="0">
                <a:latin typeface="Calibri"/>
                <a:cs typeface="Calibri"/>
              </a:rPr>
              <a:t>no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hiperplano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definido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pelos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primeiros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50" dirty="0">
                <a:latin typeface="Cambria Math"/>
                <a:cs typeface="Cambria Math"/>
              </a:rPr>
              <a:t>𝑑 </a:t>
            </a:r>
            <a:r>
              <a:rPr sz="2600" spc="-10" dirty="0">
                <a:latin typeface="Calibri"/>
                <a:cs typeface="Calibri"/>
              </a:rPr>
              <a:t>componentes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principais.</a:t>
            </a:r>
            <a:endParaRPr sz="2600" dirty="0">
              <a:latin typeface="Calibri"/>
              <a:cs typeface="Calibri"/>
            </a:endParaRPr>
          </a:p>
          <a:p>
            <a:pPr marL="241300" marR="351155" indent="-229235">
              <a:lnSpc>
                <a:spcPct val="80000"/>
              </a:lnSpc>
              <a:spcBef>
                <a:spcPts val="994"/>
              </a:spcBef>
              <a:buFont typeface="Arial"/>
              <a:buChar char="•"/>
              <a:tabLst>
                <a:tab pos="241935" algn="l"/>
              </a:tabLst>
            </a:pPr>
            <a:r>
              <a:rPr sz="2600" dirty="0">
                <a:latin typeface="Calibri"/>
                <a:cs typeface="Calibri"/>
              </a:rPr>
              <a:t>Selecionar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este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hiperplano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garante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projeção </a:t>
            </a:r>
            <a:r>
              <a:rPr sz="2600" dirty="0">
                <a:latin typeface="Calibri"/>
                <a:cs typeface="Calibri"/>
              </a:rPr>
              <a:t>preservará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maior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variância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possível,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ou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seja,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50" dirty="0">
                <a:latin typeface="Calibri"/>
                <a:cs typeface="Calibri"/>
              </a:rPr>
              <a:t>a </a:t>
            </a:r>
            <a:r>
              <a:rPr sz="2600" dirty="0">
                <a:latin typeface="Calibri"/>
                <a:cs typeface="Calibri"/>
              </a:rPr>
              <a:t>maior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quantidade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informação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possível.</a:t>
            </a:r>
            <a:endParaRPr sz="2600" dirty="0">
              <a:latin typeface="Calibri"/>
              <a:cs typeface="Calibri"/>
            </a:endParaRPr>
          </a:p>
          <a:p>
            <a:pPr marL="241300" marR="5080" indent="-229235">
              <a:lnSpc>
                <a:spcPts val="2500"/>
              </a:lnSpc>
              <a:spcBef>
                <a:spcPts val="990"/>
              </a:spcBef>
              <a:buFont typeface="Arial"/>
              <a:buChar char="•"/>
              <a:tabLst>
                <a:tab pos="241935" algn="l"/>
              </a:tabLst>
            </a:pPr>
            <a:r>
              <a:rPr sz="2600" dirty="0">
                <a:latin typeface="Calibri"/>
                <a:cs typeface="Calibri"/>
              </a:rPr>
              <a:t>Por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exemplo,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figura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lado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conjunto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dados </a:t>
            </a:r>
            <a:r>
              <a:rPr sz="2600" dirty="0">
                <a:latin typeface="Calibri"/>
                <a:cs typeface="Calibri"/>
              </a:rPr>
              <a:t>3D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é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projetado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plano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2D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definido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pelos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dois </a:t>
            </a:r>
            <a:r>
              <a:rPr sz="2600" dirty="0">
                <a:latin typeface="Calibri"/>
                <a:cs typeface="Calibri"/>
              </a:rPr>
              <a:t>primeiros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componentes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principais,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preservando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uma </a:t>
            </a:r>
            <a:r>
              <a:rPr sz="2600" dirty="0">
                <a:latin typeface="Calibri"/>
                <a:cs typeface="Calibri"/>
              </a:rPr>
              <a:t>grande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parte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variância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do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conjunto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dados.</a:t>
            </a:r>
            <a:endParaRPr sz="2600" dirty="0">
              <a:latin typeface="Calibri"/>
              <a:cs typeface="Calibri"/>
            </a:endParaRPr>
          </a:p>
          <a:p>
            <a:pPr marL="241300" marR="64769" indent="-229235">
              <a:lnSpc>
                <a:spcPts val="2500"/>
              </a:lnSpc>
              <a:spcBef>
                <a:spcPts val="980"/>
              </a:spcBef>
              <a:buFont typeface="Arial"/>
              <a:buChar char="•"/>
              <a:tabLst>
                <a:tab pos="241935" algn="l"/>
              </a:tabLst>
            </a:pPr>
            <a:r>
              <a:rPr sz="2600" dirty="0">
                <a:latin typeface="Calibri"/>
                <a:cs typeface="Calibri"/>
              </a:rPr>
              <a:t>Como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resultado,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projeção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2D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parece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muito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com </a:t>
            </a:r>
            <a:r>
              <a:rPr sz="2600" dirty="0">
                <a:latin typeface="Calibri"/>
                <a:cs typeface="Calibri"/>
              </a:rPr>
              <a:t>o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conjunto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dados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3D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original.</a:t>
            </a:r>
            <a:endParaRPr sz="26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32292" y="1997964"/>
            <a:ext cx="3653028" cy="32149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Projetando</a:t>
            </a:r>
            <a:r>
              <a:rPr spc="-75" dirty="0"/>
              <a:t> </a:t>
            </a:r>
            <a:r>
              <a:rPr dirty="0"/>
              <a:t>em</a:t>
            </a:r>
            <a:r>
              <a:rPr spc="-100" dirty="0"/>
              <a:t> </a:t>
            </a:r>
            <a:r>
              <a:rPr b="0" dirty="0">
                <a:latin typeface="Cambria Math"/>
                <a:cs typeface="Cambria Math"/>
              </a:rPr>
              <a:t>𝑑</a:t>
            </a:r>
            <a:r>
              <a:rPr b="0" spc="75" dirty="0">
                <a:latin typeface="Cambria Math"/>
                <a:cs typeface="Cambria Math"/>
              </a:rPr>
              <a:t> </a:t>
            </a:r>
            <a:r>
              <a:rPr spc="-10" dirty="0"/>
              <a:t>dimensões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91539" y="1793493"/>
            <a:ext cx="10672445" cy="296989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66700" marR="30480" indent="-229235">
              <a:lnSpc>
                <a:spcPct val="90200"/>
              </a:lnSpc>
              <a:spcBef>
                <a:spcPts val="425"/>
              </a:spcBef>
              <a:buFont typeface="Arial"/>
              <a:buChar char="•"/>
              <a:tabLst>
                <a:tab pos="267335" algn="l"/>
              </a:tabLst>
            </a:pPr>
            <a:r>
              <a:rPr sz="2800" spc="-10" dirty="0">
                <a:latin typeface="Calibri"/>
                <a:cs typeface="Calibri"/>
              </a:rPr>
              <a:t>Para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projetar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conjunto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treinamento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hiperplano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menor dimensão,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podemos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simplesmente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calcular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multiplicação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matriz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do </a:t>
            </a:r>
            <a:r>
              <a:rPr sz="2800" spc="-10" dirty="0">
                <a:latin typeface="Calibri"/>
                <a:cs typeface="Calibri"/>
              </a:rPr>
              <a:t>conjunto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treinamento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𝐗</a:t>
            </a:r>
            <a:r>
              <a:rPr sz="2800" spc="-50" dirty="0">
                <a:latin typeface="Cambria Math"/>
                <a:cs typeface="Cambria Math"/>
              </a:rPr>
              <a:t> </a:t>
            </a:r>
            <a:r>
              <a:rPr sz="2800" dirty="0">
                <a:latin typeface="Calibri"/>
                <a:cs typeface="Calibri"/>
              </a:rPr>
              <a:t>pela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matriz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25" dirty="0">
                <a:latin typeface="Cambria Math"/>
                <a:cs typeface="Cambria Math"/>
              </a:rPr>
              <a:t>𝐖</a:t>
            </a:r>
            <a:r>
              <a:rPr sz="3075" spc="-37" baseline="-16260" dirty="0">
                <a:latin typeface="Cambria Math"/>
                <a:cs typeface="Cambria Math"/>
              </a:rPr>
              <a:t>𝑑</a:t>
            </a:r>
            <a:r>
              <a:rPr sz="2800" spc="-25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66700" marR="344805" indent="-229235">
              <a:lnSpc>
                <a:spcPts val="3020"/>
              </a:lnSpc>
              <a:spcBef>
                <a:spcPts val="1045"/>
              </a:spcBef>
              <a:buFont typeface="Arial"/>
              <a:buChar char="•"/>
              <a:tabLst>
                <a:tab pos="267335" algn="l"/>
              </a:tabLst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matriz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𝐖</a:t>
            </a:r>
            <a:r>
              <a:rPr sz="3075" baseline="-16260" dirty="0">
                <a:latin typeface="Cambria Math"/>
                <a:cs typeface="Cambria Math"/>
              </a:rPr>
              <a:t>𝑑</a:t>
            </a:r>
            <a:r>
              <a:rPr sz="3075" spc="382" baseline="-16260" dirty="0">
                <a:latin typeface="Cambria Math"/>
                <a:cs typeface="Cambria Math"/>
              </a:rPr>
              <a:t> 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definida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matriz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contendo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primeiros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50" dirty="0">
                <a:latin typeface="Cambria Math"/>
                <a:cs typeface="Cambria Math"/>
              </a:rPr>
              <a:t>𝑑 </a:t>
            </a:r>
            <a:r>
              <a:rPr sz="2800" spc="-10" dirty="0">
                <a:latin typeface="Calibri"/>
                <a:cs typeface="Calibri"/>
              </a:rPr>
              <a:t>componentes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principais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(ou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seja,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matriz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composta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pelas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primeiras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50" dirty="0">
                <a:latin typeface="Cambria Math"/>
                <a:cs typeface="Cambria Math"/>
              </a:rPr>
              <a:t>𝑑 </a:t>
            </a:r>
            <a:r>
              <a:rPr sz="2800" dirty="0">
                <a:latin typeface="Calibri"/>
                <a:cs typeface="Calibri"/>
              </a:rPr>
              <a:t>colunas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mbria Math"/>
                <a:cs typeface="Cambria Math"/>
              </a:rPr>
              <a:t>𝐕</a:t>
            </a:r>
            <a:r>
              <a:rPr sz="2800" dirty="0">
                <a:latin typeface="Calibri"/>
                <a:cs typeface="Calibri"/>
              </a:rPr>
              <a:t>),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conforme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mostrado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equação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abaixo.</a:t>
            </a:r>
            <a:endParaRPr sz="2800" dirty="0">
              <a:latin typeface="Calibri"/>
              <a:cs typeface="Calibri"/>
            </a:endParaRPr>
          </a:p>
          <a:p>
            <a:pPr marL="351790" algn="ctr">
              <a:lnSpc>
                <a:spcPct val="100000"/>
              </a:lnSpc>
              <a:spcBef>
                <a:spcPts val="305"/>
              </a:spcBef>
            </a:pPr>
            <a:r>
              <a:rPr sz="4200" spc="142" baseline="11904" dirty="0">
                <a:latin typeface="Cambria Math"/>
                <a:cs typeface="Cambria Math"/>
              </a:rPr>
              <a:t>𝐗</a:t>
            </a:r>
            <a:r>
              <a:rPr sz="2050" spc="95" dirty="0">
                <a:latin typeface="Cambria Math"/>
                <a:cs typeface="Cambria Math"/>
              </a:rPr>
              <a:t>𝑑−proj</a:t>
            </a:r>
            <a:r>
              <a:rPr sz="2050" spc="434" dirty="0">
                <a:latin typeface="Cambria Math"/>
                <a:cs typeface="Cambria Math"/>
              </a:rPr>
              <a:t> </a:t>
            </a:r>
            <a:r>
              <a:rPr sz="4200" baseline="11904" dirty="0">
                <a:latin typeface="Cambria Math"/>
                <a:cs typeface="Cambria Math"/>
              </a:rPr>
              <a:t>=</a:t>
            </a:r>
            <a:r>
              <a:rPr sz="4200" spc="232" baseline="11904" dirty="0">
                <a:latin typeface="Cambria Math"/>
                <a:cs typeface="Cambria Math"/>
              </a:rPr>
              <a:t> </a:t>
            </a:r>
            <a:r>
              <a:rPr sz="4200" spc="-30" baseline="11904" dirty="0">
                <a:latin typeface="Cambria Math"/>
                <a:cs typeface="Cambria Math"/>
              </a:rPr>
              <a:t>𝐗𝐖</a:t>
            </a:r>
            <a:r>
              <a:rPr sz="2050" spc="-20" dirty="0">
                <a:latin typeface="Cambria Math"/>
                <a:cs typeface="Cambria Math"/>
              </a:rPr>
              <a:t>𝑑</a:t>
            </a:r>
            <a:r>
              <a:rPr sz="4200" spc="-30" baseline="11904" dirty="0">
                <a:latin typeface="Cambria Math"/>
                <a:cs typeface="Cambria Math"/>
              </a:rPr>
              <a:t>.</a:t>
            </a:r>
            <a:endParaRPr sz="4200" baseline="11904" dirty="0">
              <a:latin typeface="Cambria Math"/>
              <a:cs typeface="Cambria Math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24445" y="6219850"/>
            <a:ext cx="45586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0000"/>
                </a:solidFill>
                <a:latin typeface="Calibri"/>
                <a:cs typeface="Calibri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Exemplo:</a:t>
            </a:r>
            <a:r>
              <a:rPr sz="1800" b="1" spc="-70" dirty="0">
                <a:solidFill>
                  <a:srgbClr val="000000"/>
                </a:solidFill>
                <a:latin typeface="Calibri"/>
                <a:cs typeface="Calibri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sz="1800" spc="-10" dirty="0">
                <a:solidFill>
                  <a:srgbClr val="0070C0"/>
                </a:solidFill>
                <a:latin typeface="Calibri"/>
                <a:cs typeface="Calibri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aplicando_pca_em_conjunto_3D.ipynb</a:t>
            </a:r>
            <a:endParaRPr sz="1800" dirty="0">
              <a:solidFill>
                <a:srgbClr val="0070C0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PCA</a:t>
            </a:r>
            <a:r>
              <a:rPr spc="-35" dirty="0"/>
              <a:t> </a:t>
            </a:r>
            <a:r>
              <a:rPr dirty="0"/>
              <a:t>com</a:t>
            </a:r>
            <a:r>
              <a:rPr spc="-30" dirty="0"/>
              <a:t> </a:t>
            </a:r>
            <a:r>
              <a:rPr dirty="0"/>
              <a:t>a</a:t>
            </a:r>
            <a:r>
              <a:rPr spc="-30" dirty="0"/>
              <a:t> </a:t>
            </a:r>
            <a:r>
              <a:rPr dirty="0"/>
              <a:t>biblioteca</a:t>
            </a:r>
            <a:r>
              <a:rPr spc="-10" dirty="0"/>
              <a:t> Scikit-</a:t>
            </a:r>
            <a:r>
              <a:rPr spc="-20" dirty="0"/>
              <a:t>Learn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95982"/>
            <a:ext cx="5665470" cy="3227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0000FF"/>
                </a:solidFill>
                <a:latin typeface="Courier New"/>
                <a:cs typeface="Courier New"/>
              </a:rPr>
              <a:t>import</a:t>
            </a:r>
            <a:r>
              <a:rPr sz="1400" b="1" spc="-4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latin typeface="Courier New"/>
                <a:cs typeface="Courier New"/>
              </a:rPr>
              <a:t>sklearn</a:t>
            </a:r>
            <a:endParaRPr sz="14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400" b="1" dirty="0">
                <a:solidFill>
                  <a:srgbClr val="0000FF"/>
                </a:solidFill>
                <a:latin typeface="Courier New"/>
                <a:cs typeface="Courier New"/>
              </a:rPr>
              <a:t>import</a:t>
            </a:r>
            <a:r>
              <a:rPr sz="1400" b="1" spc="-4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numpy</a:t>
            </a:r>
            <a:r>
              <a:rPr sz="1400" spc="-30" dirty="0"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FF"/>
                </a:solidFill>
                <a:latin typeface="Courier New"/>
                <a:cs typeface="Courier New"/>
              </a:rPr>
              <a:t>as</a:t>
            </a:r>
            <a:r>
              <a:rPr sz="1400" b="1" spc="-3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400" spc="-25" dirty="0">
                <a:latin typeface="Courier New"/>
                <a:cs typeface="Courier New"/>
              </a:rPr>
              <a:t>np</a:t>
            </a:r>
            <a:endParaRPr sz="14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45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latin typeface="Courier New"/>
                <a:cs typeface="Courier New"/>
              </a:rPr>
              <a:t>m</a:t>
            </a:r>
            <a:r>
              <a:rPr sz="1400" spc="-5" dirty="0"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80"/>
                </a:solidFill>
                <a:latin typeface="Courier New"/>
                <a:cs typeface="Courier New"/>
              </a:rPr>
              <a:t>=</a:t>
            </a:r>
            <a:r>
              <a:rPr sz="1400" b="1" spc="-5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400" spc="-35" dirty="0">
                <a:solidFill>
                  <a:srgbClr val="FF0000"/>
                </a:solidFill>
                <a:latin typeface="Courier New"/>
                <a:cs typeface="Courier New"/>
              </a:rPr>
              <a:t>60</a:t>
            </a:r>
            <a:endParaRPr sz="14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latin typeface="Courier New"/>
                <a:cs typeface="Courier New"/>
              </a:rPr>
              <a:t>w1</a:t>
            </a:r>
            <a:r>
              <a:rPr sz="1400" b="1" dirty="0">
                <a:solidFill>
                  <a:srgbClr val="000080"/>
                </a:solidFill>
                <a:latin typeface="Courier New"/>
                <a:cs typeface="Courier New"/>
              </a:rPr>
              <a:t>,</a:t>
            </a:r>
            <a:r>
              <a:rPr sz="1400" b="1" spc="-20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w2</a:t>
            </a:r>
            <a:r>
              <a:rPr sz="1400" spc="-25" dirty="0"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80"/>
                </a:solidFill>
                <a:latin typeface="Courier New"/>
                <a:cs typeface="Courier New"/>
              </a:rPr>
              <a:t>=</a:t>
            </a:r>
            <a:r>
              <a:rPr sz="1400" b="1" spc="-15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FF0000"/>
                </a:solidFill>
                <a:latin typeface="Courier New"/>
                <a:cs typeface="Courier New"/>
              </a:rPr>
              <a:t>0.1</a:t>
            </a:r>
            <a:r>
              <a:rPr sz="1400" b="1" dirty="0">
                <a:solidFill>
                  <a:srgbClr val="000080"/>
                </a:solidFill>
                <a:latin typeface="Courier New"/>
                <a:cs typeface="Courier New"/>
              </a:rPr>
              <a:t>,</a:t>
            </a:r>
            <a:r>
              <a:rPr sz="1400" b="1" spc="-25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400" spc="-25" dirty="0">
                <a:solidFill>
                  <a:srgbClr val="FF0000"/>
                </a:solidFill>
                <a:latin typeface="Courier New"/>
                <a:cs typeface="Courier New"/>
              </a:rPr>
              <a:t>0.3</a:t>
            </a:r>
            <a:endParaRPr sz="14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latin typeface="Courier New"/>
                <a:cs typeface="Courier New"/>
              </a:rPr>
              <a:t>noise</a:t>
            </a:r>
            <a:r>
              <a:rPr sz="1400" spc="-20" dirty="0"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80"/>
                </a:solidFill>
                <a:latin typeface="Courier New"/>
                <a:cs typeface="Courier New"/>
              </a:rPr>
              <a:t>=</a:t>
            </a:r>
            <a:r>
              <a:rPr sz="1400" b="1" spc="-20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400" spc="-25" dirty="0">
                <a:solidFill>
                  <a:srgbClr val="FF0000"/>
                </a:solidFill>
                <a:latin typeface="Courier New"/>
                <a:cs typeface="Courier New"/>
              </a:rPr>
              <a:t>0.1</a:t>
            </a:r>
            <a:endParaRPr sz="14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45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solidFill>
                  <a:srgbClr val="008000"/>
                </a:solidFill>
                <a:latin typeface="Courier New"/>
                <a:cs typeface="Courier New"/>
              </a:rPr>
              <a:t>#</a:t>
            </a:r>
            <a:r>
              <a:rPr sz="1400" spc="-2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8000"/>
                </a:solidFill>
                <a:latin typeface="Courier New"/>
                <a:cs typeface="Courier New"/>
              </a:rPr>
              <a:t>Creating</a:t>
            </a:r>
            <a:r>
              <a:rPr sz="1400" spc="-3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8000"/>
                </a:solidFill>
                <a:latin typeface="Courier New"/>
                <a:cs typeface="Courier New"/>
              </a:rPr>
              <a:t>a</a:t>
            </a:r>
            <a:r>
              <a:rPr sz="1400" spc="-2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8000"/>
                </a:solidFill>
                <a:latin typeface="Courier New"/>
                <a:cs typeface="Courier New"/>
              </a:rPr>
              <a:t>3D</a:t>
            </a:r>
            <a:r>
              <a:rPr sz="1400" spc="-2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008000"/>
                </a:solidFill>
                <a:latin typeface="Courier New"/>
                <a:cs typeface="Courier New"/>
              </a:rPr>
              <a:t>dataset.</a:t>
            </a:r>
            <a:endParaRPr sz="14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latin typeface="Courier New"/>
                <a:cs typeface="Courier New"/>
              </a:rPr>
              <a:t>angles</a:t>
            </a:r>
            <a:r>
              <a:rPr sz="1400" spc="-35" dirty="0"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80"/>
                </a:solidFill>
                <a:latin typeface="Courier New"/>
                <a:cs typeface="Courier New"/>
              </a:rPr>
              <a:t>=</a:t>
            </a:r>
            <a:r>
              <a:rPr sz="1400" b="1" spc="-25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np</a:t>
            </a:r>
            <a:r>
              <a:rPr sz="1400" b="1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1400" dirty="0">
                <a:latin typeface="Courier New"/>
                <a:cs typeface="Courier New"/>
              </a:rPr>
              <a:t>random</a:t>
            </a:r>
            <a:r>
              <a:rPr sz="1400" b="1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1400" dirty="0">
                <a:latin typeface="Courier New"/>
                <a:cs typeface="Courier New"/>
              </a:rPr>
              <a:t>rand</a:t>
            </a:r>
            <a:r>
              <a:rPr sz="1400" b="1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1400" dirty="0">
                <a:latin typeface="Courier New"/>
                <a:cs typeface="Courier New"/>
              </a:rPr>
              <a:t>m</a:t>
            </a:r>
            <a:r>
              <a:rPr sz="1400" b="1" dirty="0">
                <a:solidFill>
                  <a:srgbClr val="000080"/>
                </a:solidFill>
                <a:latin typeface="Courier New"/>
                <a:cs typeface="Courier New"/>
              </a:rPr>
              <a:t>)</a:t>
            </a:r>
            <a:r>
              <a:rPr sz="1400" b="1" spc="-25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80"/>
                </a:solidFill>
                <a:latin typeface="Courier New"/>
                <a:cs typeface="Courier New"/>
              </a:rPr>
              <a:t>*</a:t>
            </a:r>
            <a:r>
              <a:rPr sz="1400" b="1" spc="-35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FF0000"/>
                </a:solidFill>
                <a:latin typeface="Courier New"/>
                <a:cs typeface="Courier New"/>
              </a:rPr>
              <a:t>3</a:t>
            </a:r>
            <a:r>
              <a:rPr sz="1400" spc="-2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80"/>
                </a:solidFill>
                <a:latin typeface="Courier New"/>
                <a:cs typeface="Courier New"/>
              </a:rPr>
              <a:t>*</a:t>
            </a:r>
            <a:r>
              <a:rPr sz="1400" b="1" spc="-25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np</a:t>
            </a:r>
            <a:r>
              <a:rPr sz="1400" b="1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1400" dirty="0">
                <a:latin typeface="Courier New"/>
                <a:cs typeface="Courier New"/>
              </a:rPr>
              <a:t>pi</a:t>
            </a:r>
            <a:r>
              <a:rPr sz="1400" spc="-35" dirty="0"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80"/>
                </a:solidFill>
                <a:latin typeface="Courier New"/>
                <a:cs typeface="Courier New"/>
              </a:rPr>
              <a:t>/</a:t>
            </a:r>
            <a:r>
              <a:rPr sz="1400" b="1" spc="-25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FF0000"/>
                </a:solidFill>
                <a:latin typeface="Courier New"/>
                <a:cs typeface="Courier New"/>
              </a:rPr>
              <a:t>2</a:t>
            </a:r>
            <a:r>
              <a:rPr sz="1400" spc="-3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80"/>
                </a:solidFill>
                <a:latin typeface="Courier New"/>
                <a:cs typeface="Courier New"/>
              </a:rPr>
              <a:t>-</a:t>
            </a:r>
            <a:r>
              <a:rPr sz="1400" b="1" spc="-20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400" spc="-25" dirty="0">
                <a:solidFill>
                  <a:srgbClr val="FF0000"/>
                </a:solidFill>
                <a:latin typeface="Courier New"/>
                <a:cs typeface="Courier New"/>
              </a:rPr>
              <a:t>0.5</a:t>
            </a:r>
            <a:endParaRPr sz="14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latin typeface="Courier New"/>
                <a:cs typeface="Courier New"/>
              </a:rPr>
              <a:t>X</a:t>
            </a:r>
            <a:r>
              <a:rPr sz="1400" spc="-45" dirty="0"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80"/>
                </a:solidFill>
                <a:latin typeface="Courier New"/>
                <a:cs typeface="Courier New"/>
              </a:rPr>
              <a:t>=</a:t>
            </a:r>
            <a:r>
              <a:rPr sz="1400" b="1" spc="-35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np</a:t>
            </a:r>
            <a:r>
              <a:rPr sz="1400" b="1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1400" dirty="0">
                <a:latin typeface="Courier New"/>
                <a:cs typeface="Courier New"/>
              </a:rPr>
              <a:t>empty</a:t>
            </a:r>
            <a:r>
              <a:rPr sz="1400" b="1" dirty="0">
                <a:solidFill>
                  <a:srgbClr val="000080"/>
                </a:solidFill>
                <a:latin typeface="Courier New"/>
                <a:cs typeface="Courier New"/>
              </a:rPr>
              <a:t>((</a:t>
            </a:r>
            <a:r>
              <a:rPr sz="1400" dirty="0">
                <a:latin typeface="Courier New"/>
                <a:cs typeface="Courier New"/>
              </a:rPr>
              <a:t>m</a:t>
            </a:r>
            <a:r>
              <a:rPr sz="1400" b="1" dirty="0">
                <a:solidFill>
                  <a:srgbClr val="000080"/>
                </a:solidFill>
                <a:latin typeface="Courier New"/>
                <a:cs typeface="Courier New"/>
              </a:rPr>
              <a:t>,</a:t>
            </a:r>
            <a:r>
              <a:rPr sz="1400" b="1" spc="-35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400" spc="-25" dirty="0">
                <a:solidFill>
                  <a:srgbClr val="FF0000"/>
                </a:solidFill>
                <a:latin typeface="Courier New"/>
                <a:cs typeface="Courier New"/>
              </a:rPr>
              <a:t>3</a:t>
            </a:r>
            <a:r>
              <a:rPr sz="1400" b="1" spc="-25" dirty="0">
                <a:solidFill>
                  <a:srgbClr val="000080"/>
                </a:solidFill>
                <a:latin typeface="Courier New"/>
                <a:cs typeface="Courier New"/>
              </a:rPr>
              <a:t>))</a:t>
            </a:r>
            <a:endParaRPr sz="14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latin typeface="Courier New"/>
                <a:cs typeface="Courier New"/>
              </a:rPr>
              <a:t>X</a:t>
            </a:r>
            <a:r>
              <a:rPr sz="1400" b="1" dirty="0">
                <a:solidFill>
                  <a:srgbClr val="000080"/>
                </a:solidFill>
                <a:latin typeface="Courier New"/>
                <a:cs typeface="Courier New"/>
              </a:rPr>
              <a:t>[:,</a:t>
            </a:r>
            <a:r>
              <a:rPr sz="1400" b="1" spc="-55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FF0000"/>
                </a:solidFill>
                <a:latin typeface="Courier New"/>
                <a:cs typeface="Courier New"/>
              </a:rPr>
              <a:t>0</a:t>
            </a:r>
            <a:r>
              <a:rPr sz="1400" b="1" dirty="0">
                <a:solidFill>
                  <a:srgbClr val="000080"/>
                </a:solidFill>
                <a:latin typeface="Courier New"/>
                <a:cs typeface="Courier New"/>
              </a:rPr>
              <a:t>]</a:t>
            </a:r>
            <a:r>
              <a:rPr sz="1400" b="1" spc="-50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80"/>
                </a:solidFill>
                <a:latin typeface="Courier New"/>
                <a:cs typeface="Courier New"/>
              </a:rPr>
              <a:t>=</a:t>
            </a:r>
            <a:r>
              <a:rPr sz="1400" b="1" spc="-40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np</a:t>
            </a:r>
            <a:r>
              <a:rPr sz="1400" b="1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1400" dirty="0">
                <a:latin typeface="Courier New"/>
                <a:cs typeface="Courier New"/>
              </a:rPr>
              <a:t>cos</a:t>
            </a:r>
            <a:r>
              <a:rPr sz="1400" b="1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1400" dirty="0">
                <a:latin typeface="Courier New"/>
                <a:cs typeface="Courier New"/>
              </a:rPr>
              <a:t>angles</a:t>
            </a:r>
            <a:r>
              <a:rPr sz="1400" b="1" dirty="0">
                <a:solidFill>
                  <a:srgbClr val="000080"/>
                </a:solidFill>
                <a:latin typeface="Courier New"/>
                <a:cs typeface="Courier New"/>
              </a:rPr>
              <a:t>)</a:t>
            </a:r>
            <a:r>
              <a:rPr sz="1400" b="1" spc="-50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80"/>
                </a:solidFill>
                <a:latin typeface="Courier New"/>
                <a:cs typeface="Courier New"/>
              </a:rPr>
              <a:t>+</a:t>
            </a:r>
            <a:r>
              <a:rPr sz="1400" b="1" spc="-40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np</a:t>
            </a:r>
            <a:r>
              <a:rPr sz="1400" b="1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1400" dirty="0">
                <a:latin typeface="Courier New"/>
                <a:cs typeface="Courier New"/>
              </a:rPr>
              <a:t>sin</a:t>
            </a:r>
            <a:r>
              <a:rPr sz="1400" b="1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1400" dirty="0">
                <a:latin typeface="Courier New"/>
                <a:cs typeface="Courier New"/>
              </a:rPr>
              <a:t>angles</a:t>
            </a:r>
            <a:r>
              <a:rPr sz="1400" b="1" dirty="0">
                <a:solidFill>
                  <a:srgbClr val="000080"/>
                </a:solidFill>
                <a:latin typeface="Courier New"/>
                <a:cs typeface="Courier New"/>
              </a:rPr>
              <a:t>)/</a:t>
            </a:r>
            <a:r>
              <a:rPr sz="1400" dirty="0">
                <a:solidFill>
                  <a:srgbClr val="FF0000"/>
                </a:solidFill>
                <a:latin typeface="Courier New"/>
                <a:cs typeface="Courier New"/>
              </a:rPr>
              <a:t>2</a:t>
            </a:r>
            <a:r>
              <a:rPr sz="1400" spc="-4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80"/>
                </a:solidFill>
                <a:latin typeface="Courier New"/>
                <a:cs typeface="Courier New"/>
              </a:rPr>
              <a:t>+</a:t>
            </a:r>
            <a:r>
              <a:rPr sz="1400" b="1" spc="-40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noise</a:t>
            </a:r>
            <a:r>
              <a:rPr sz="1400" spc="-40" dirty="0">
                <a:latin typeface="Courier New"/>
                <a:cs typeface="Courier New"/>
              </a:rPr>
              <a:t> </a:t>
            </a:r>
            <a:r>
              <a:rPr sz="1400" b="1" spc="-50" dirty="0">
                <a:solidFill>
                  <a:srgbClr val="000080"/>
                </a:solidFill>
                <a:latin typeface="Courier New"/>
                <a:cs typeface="Courier New"/>
              </a:rPr>
              <a:t>*</a:t>
            </a:r>
            <a:endParaRPr sz="14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latin typeface="Courier New"/>
                <a:cs typeface="Courier New"/>
              </a:rPr>
              <a:t>np</a:t>
            </a:r>
            <a:r>
              <a:rPr sz="1400" b="1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1400" dirty="0">
                <a:latin typeface="Courier New"/>
                <a:cs typeface="Courier New"/>
              </a:rPr>
              <a:t>random</a:t>
            </a:r>
            <a:r>
              <a:rPr sz="1400" b="1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1400" dirty="0">
                <a:latin typeface="Courier New"/>
                <a:cs typeface="Courier New"/>
              </a:rPr>
              <a:t>randn</a:t>
            </a:r>
            <a:r>
              <a:rPr sz="1400" b="1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1400" dirty="0">
                <a:latin typeface="Courier New"/>
                <a:cs typeface="Courier New"/>
              </a:rPr>
              <a:t>m</a:t>
            </a:r>
            <a:r>
              <a:rPr sz="1400" b="1" dirty="0">
                <a:solidFill>
                  <a:srgbClr val="000080"/>
                </a:solidFill>
                <a:latin typeface="Courier New"/>
                <a:cs typeface="Courier New"/>
              </a:rPr>
              <a:t>)</a:t>
            </a:r>
            <a:r>
              <a:rPr sz="1400" b="1" spc="-80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80"/>
                </a:solidFill>
                <a:latin typeface="Courier New"/>
                <a:cs typeface="Courier New"/>
              </a:rPr>
              <a:t>/</a:t>
            </a:r>
            <a:r>
              <a:rPr sz="1400" b="1" spc="-75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400" spc="-50" dirty="0">
                <a:solidFill>
                  <a:srgbClr val="FF0000"/>
                </a:solidFill>
                <a:latin typeface="Courier New"/>
                <a:cs typeface="Courier New"/>
              </a:rPr>
              <a:t>2</a:t>
            </a:r>
            <a:endParaRPr sz="14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latin typeface="Courier New"/>
                <a:cs typeface="Courier New"/>
              </a:rPr>
              <a:t>X</a:t>
            </a:r>
            <a:r>
              <a:rPr sz="1400" b="1" dirty="0">
                <a:solidFill>
                  <a:srgbClr val="000080"/>
                </a:solidFill>
                <a:latin typeface="Courier New"/>
                <a:cs typeface="Courier New"/>
              </a:rPr>
              <a:t>[:,</a:t>
            </a:r>
            <a:r>
              <a:rPr sz="1400" b="1" spc="-45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FF0000"/>
                </a:solidFill>
                <a:latin typeface="Courier New"/>
                <a:cs typeface="Courier New"/>
              </a:rPr>
              <a:t>1</a:t>
            </a:r>
            <a:r>
              <a:rPr sz="1400" b="1" dirty="0">
                <a:solidFill>
                  <a:srgbClr val="000080"/>
                </a:solidFill>
                <a:latin typeface="Courier New"/>
                <a:cs typeface="Courier New"/>
              </a:rPr>
              <a:t>]</a:t>
            </a:r>
            <a:r>
              <a:rPr sz="1400" b="1" spc="-35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80"/>
                </a:solidFill>
                <a:latin typeface="Courier New"/>
                <a:cs typeface="Courier New"/>
              </a:rPr>
              <a:t>=</a:t>
            </a:r>
            <a:r>
              <a:rPr sz="1400" b="1" spc="-30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np</a:t>
            </a:r>
            <a:r>
              <a:rPr sz="1400" b="1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1400" dirty="0">
                <a:latin typeface="Courier New"/>
                <a:cs typeface="Courier New"/>
              </a:rPr>
              <a:t>sin</a:t>
            </a:r>
            <a:r>
              <a:rPr sz="1400" b="1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1400" dirty="0">
                <a:latin typeface="Courier New"/>
                <a:cs typeface="Courier New"/>
              </a:rPr>
              <a:t>angles</a:t>
            </a:r>
            <a:r>
              <a:rPr sz="1400" b="1" dirty="0">
                <a:solidFill>
                  <a:srgbClr val="000080"/>
                </a:solidFill>
                <a:latin typeface="Courier New"/>
                <a:cs typeface="Courier New"/>
              </a:rPr>
              <a:t>)</a:t>
            </a:r>
            <a:r>
              <a:rPr sz="1400" b="1" spc="-35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80"/>
                </a:solidFill>
                <a:latin typeface="Courier New"/>
                <a:cs typeface="Courier New"/>
              </a:rPr>
              <a:t>*</a:t>
            </a:r>
            <a:r>
              <a:rPr sz="1400" b="1" spc="-30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FF0000"/>
                </a:solidFill>
                <a:latin typeface="Courier New"/>
                <a:cs typeface="Courier New"/>
              </a:rPr>
              <a:t>0.7</a:t>
            </a:r>
            <a:r>
              <a:rPr sz="1400" spc="-3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80"/>
                </a:solidFill>
                <a:latin typeface="Courier New"/>
                <a:cs typeface="Courier New"/>
              </a:rPr>
              <a:t>+</a:t>
            </a:r>
            <a:r>
              <a:rPr sz="1400" b="1" spc="-25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noise</a:t>
            </a:r>
            <a:r>
              <a:rPr sz="1400" spc="-40" dirty="0">
                <a:latin typeface="Courier New"/>
                <a:cs typeface="Courier New"/>
              </a:rPr>
              <a:t> </a:t>
            </a:r>
            <a:r>
              <a:rPr sz="1400" b="1" spc="-50" dirty="0">
                <a:solidFill>
                  <a:srgbClr val="000080"/>
                </a:solidFill>
                <a:latin typeface="Courier New"/>
                <a:cs typeface="Courier New"/>
              </a:rPr>
              <a:t>*</a:t>
            </a:r>
            <a:endParaRPr sz="14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latin typeface="Courier New"/>
                <a:cs typeface="Courier New"/>
              </a:rPr>
              <a:t>np</a:t>
            </a:r>
            <a:r>
              <a:rPr sz="1400" b="1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1400" dirty="0">
                <a:latin typeface="Courier New"/>
                <a:cs typeface="Courier New"/>
              </a:rPr>
              <a:t>random</a:t>
            </a:r>
            <a:r>
              <a:rPr sz="1400" b="1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1400" dirty="0">
                <a:latin typeface="Courier New"/>
                <a:cs typeface="Courier New"/>
              </a:rPr>
              <a:t>randn</a:t>
            </a:r>
            <a:r>
              <a:rPr sz="1400" b="1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1400" dirty="0">
                <a:latin typeface="Courier New"/>
                <a:cs typeface="Courier New"/>
              </a:rPr>
              <a:t>m</a:t>
            </a:r>
            <a:r>
              <a:rPr sz="1400" b="1" dirty="0">
                <a:solidFill>
                  <a:srgbClr val="000080"/>
                </a:solidFill>
                <a:latin typeface="Courier New"/>
                <a:cs typeface="Courier New"/>
              </a:rPr>
              <a:t>)</a:t>
            </a:r>
            <a:r>
              <a:rPr sz="1400" b="1" spc="-80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80"/>
                </a:solidFill>
                <a:latin typeface="Courier New"/>
                <a:cs typeface="Courier New"/>
              </a:rPr>
              <a:t>/</a:t>
            </a:r>
            <a:r>
              <a:rPr sz="1400" b="1" spc="-75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400" spc="-50" dirty="0">
                <a:solidFill>
                  <a:srgbClr val="FF0000"/>
                </a:solidFill>
                <a:latin typeface="Courier New"/>
                <a:cs typeface="Courier New"/>
              </a:rPr>
              <a:t>2</a:t>
            </a:r>
            <a:endParaRPr sz="14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latin typeface="Courier New"/>
                <a:cs typeface="Courier New"/>
              </a:rPr>
              <a:t>X</a:t>
            </a:r>
            <a:r>
              <a:rPr sz="1400" b="1" dirty="0">
                <a:solidFill>
                  <a:srgbClr val="000080"/>
                </a:solidFill>
                <a:latin typeface="Courier New"/>
                <a:cs typeface="Courier New"/>
              </a:rPr>
              <a:t>[:,</a:t>
            </a:r>
            <a:r>
              <a:rPr sz="1400" b="1" spc="-30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FF0000"/>
                </a:solidFill>
                <a:latin typeface="Courier New"/>
                <a:cs typeface="Courier New"/>
              </a:rPr>
              <a:t>2</a:t>
            </a:r>
            <a:r>
              <a:rPr sz="1400" b="1" dirty="0">
                <a:solidFill>
                  <a:srgbClr val="000080"/>
                </a:solidFill>
                <a:latin typeface="Courier New"/>
                <a:cs typeface="Courier New"/>
              </a:rPr>
              <a:t>]</a:t>
            </a:r>
            <a:r>
              <a:rPr sz="1400" b="1" spc="-25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80"/>
                </a:solidFill>
                <a:latin typeface="Courier New"/>
                <a:cs typeface="Courier New"/>
              </a:rPr>
              <a:t>=</a:t>
            </a:r>
            <a:r>
              <a:rPr sz="1400" b="1" spc="-15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X</a:t>
            </a:r>
            <a:r>
              <a:rPr sz="1400" b="1" dirty="0">
                <a:solidFill>
                  <a:srgbClr val="000080"/>
                </a:solidFill>
                <a:latin typeface="Courier New"/>
                <a:cs typeface="Courier New"/>
              </a:rPr>
              <a:t>[:,</a:t>
            </a:r>
            <a:r>
              <a:rPr sz="1400" b="1" spc="-25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FF0000"/>
                </a:solidFill>
                <a:latin typeface="Courier New"/>
                <a:cs typeface="Courier New"/>
              </a:rPr>
              <a:t>0</a:t>
            </a:r>
            <a:r>
              <a:rPr sz="1400" b="1" dirty="0">
                <a:solidFill>
                  <a:srgbClr val="000080"/>
                </a:solidFill>
                <a:latin typeface="Courier New"/>
                <a:cs typeface="Courier New"/>
              </a:rPr>
              <a:t>]</a:t>
            </a:r>
            <a:r>
              <a:rPr sz="1400" b="1" spc="-15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80"/>
                </a:solidFill>
                <a:latin typeface="Courier New"/>
                <a:cs typeface="Courier New"/>
              </a:rPr>
              <a:t>*</a:t>
            </a:r>
            <a:r>
              <a:rPr sz="1400" b="1" spc="-15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w1</a:t>
            </a:r>
            <a:r>
              <a:rPr sz="1400" spc="-15" dirty="0"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80"/>
                </a:solidFill>
                <a:latin typeface="Courier New"/>
                <a:cs typeface="Courier New"/>
              </a:rPr>
              <a:t>+</a:t>
            </a:r>
            <a:r>
              <a:rPr sz="1400" b="1" spc="-20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X</a:t>
            </a:r>
            <a:r>
              <a:rPr sz="1400" b="1" dirty="0">
                <a:solidFill>
                  <a:srgbClr val="000080"/>
                </a:solidFill>
                <a:latin typeface="Courier New"/>
                <a:cs typeface="Courier New"/>
              </a:rPr>
              <a:t>[:,</a:t>
            </a:r>
            <a:r>
              <a:rPr sz="1400" b="1" spc="-15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FF0000"/>
                </a:solidFill>
                <a:latin typeface="Courier New"/>
                <a:cs typeface="Courier New"/>
              </a:rPr>
              <a:t>1</a:t>
            </a:r>
            <a:r>
              <a:rPr sz="1400" b="1" dirty="0">
                <a:solidFill>
                  <a:srgbClr val="000080"/>
                </a:solidFill>
                <a:latin typeface="Courier New"/>
                <a:cs typeface="Courier New"/>
              </a:rPr>
              <a:t>]</a:t>
            </a:r>
            <a:r>
              <a:rPr sz="1400" b="1" spc="-20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80"/>
                </a:solidFill>
                <a:latin typeface="Courier New"/>
                <a:cs typeface="Courier New"/>
              </a:rPr>
              <a:t>*</a:t>
            </a:r>
            <a:r>
              <a:rPr sz="1400" b="1" spc="-20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w2</a:t>
            </a:r>
            <a:r>
              <a:rPr sz="1400" spc="-15" dirty="0"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80"/>
                </a:solidFill>
                <a:latin typeface="Courier New"/>
                <a:cs typeface="Courier New"/>
              </a:rPr>
              <a:t>+</a:t>
            </a:r>
            <a:r>
              <a:rPr sz="1400" b="1" spc="-25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noise</a:t>
            </a:r>
            <a:r>
              <a:rPr sz="1400" spc="-15" dirty="0">
                <a:latin typeface="Courier New"/>
                <a:cs typeface="Courier New"/>
              </a:rPr>
              <a:t> </a:t>
            </a:r>
            <a:r>
              <a:rPr sz="1400" b="1" spc="-50" dirty="0">
                <a:solidFill>
                  <a:srgbClr val="000080"/>
                </a:solidFill>
                <a:latin typeface="Courier New"/>
                <a:cs typeface="Courier New"/>
              </a:rPr>
              <a:t>*</a:t>
            </a:r>
            <a:endParaRPr sz="1400" dirty="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6939" y="5097017"/>
            <a:ext cx="194183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Courier New"/>
                <a:cs typeface="Courier New"/>
              </a:rPr>
              <a:t>np</a:t>
            </a:r>
            <a:r>
              <a:rPr sz="1400" b="1" spc="-10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1400" spc="-10" dirty="0">
                <a:latin typeface="Courier New"/>
                <a:cs typeface="Courier New"/>
              </a:rPr>
              <a:t>random</a:t>
            </a:r>
            <a:r>
              <a:rPr sz="1400" b="1" spc="-10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1400" spc="-10" dirty="0">
                <a:latin typeface="Courier New"/>
                <a:cs typeface="Courier New"/>
              </a:rPr>
              <a:t>randn</a:t>
            </a:r>
            <a:r>
              <a:rPr sz="1400" b="1" spc="-10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1400" spc="-10" dirty="0">
                <a:latin typeface="Courier New"/>
                <a:cs typeface="Courier New"/>
              </a:rPr>
              <a:t>m</a:t>
            </a:r>
            <a:r>
              <a:rPr sz="1400" b="1" spc="-10" dirty="0">
                <a:solidFill>
                  <a:srgbClr val="000080"/>
                </a:solidFill>
                <a:latin typeface="Courier New"/>
                <a:cs typeface="Courier New"/>
              </a:rPr>
              <a:t>)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6939" y="5523687"/>
            <a:ext cx="3963670" cy="669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90"/>
              </a:spcBef>
            </a:pPr>
            <a:r>
              <a:rPr sz="1400" dirty="0">
                <a:solidFill>
                  <a:srgbClr val="008000"/>
                </a:solidFill>
                <a:latin typeface="Courier New"/>
                <a:cs typeface="Courier New"/>
              </a:rPr>
              <a:t>#</a:t>
            </a:r>
            <a:r>
              <a:rPr sz="1400" spc="-2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8000"/>
                </a:solidFill>
                <a:latin typeface="Courier New"/>
                <a:cs typeface="Courier New"/>
              </a:rPr>
              <a:t>Applying</a:t>
            </a:r>
            <a:r>
              <a:rPr sz="1400" spc="-3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8000"/>
                </a:solidFill>
                <a:latin typeface="Courier New"/>
                <a:cs typeface="Courier New"/>
              </a:rPr>
              <a:t>PCA</a:t>
            </a:r>
            <a:r>
              <a:rPr sz="1400" spc="-3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8000"/>
                </a:solidFill>
                <a:latin typeface="Courier New"/>
                <a:cs typeface="Courier New"/>
              </a:rPr>
              <a:t>to</a:t>
            </a:r>
            <a:r>
              <a:rPr sz="1400" spc="-2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8000"/>
                </a:solidFill>
                <a:latin typeface="Courier New"/>
                <a:cs typeface="Courier New"/>
              </a:rPr>
              <a:t>reduce</a:t>
            </a:r>
            <a:r>
              <a:rPr sz="1400" spc="-3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08000"/>
                </a:solidFill>
                <a:latin typeface="Courier New"/>
                <a:cs typeface="Courier New"/>
              </a:rPr>
              <a:t>the</a:t>
            </a:r>
            <a:r>
              <a:rPr sz="1400" spc="-3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008000"/>
                </a:solidFill>
                <a:latin typeface="Courier New"/>
                <a:cs typeface="Courier New"/>
              </a:rPr>
              <a:t>dataset. </a:t>
            </a:r>
            <a:r>
              <a:rPr sz="1400" dirty="0">
                <a:latin typeface="Courier New"/>
                <a:cs typeface="Courier New"/>
              </a:rPr>
              <a:t>pca</a:t>
            </a:r>
            <a:r>
              <a:rPr sz="1400" spc="-10" dirty="0"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80"/>
                </a:solidFill>
                <a:latin typeface="Courier New"/>
                <a:cs typeface="Courier New"/>
              </a:rPr>
              <a:t>=</a:t>
            </a:r>
            <a:r>
              <a:rPr sz="1400" b="1" spc="-10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latin typeface="Courier New"/>
                <a:cs typeface="Courier New"/>
              </a:rPr>
              <a:t>PCA</a:t>
            </a:r>
            <a:r>
              <a:rPr sz="1400" b="1" spc="-10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1400" spc="-10" dirty="0">
                <a:latin typeface="Courier New"/>
                <a:cs typeface="Courier New"/>
              </a:rPr>
              <a:t>n_components</a:t>
            </a:r>
            <a:r>
              <a:rPr sz="1400" b="1" spc="-10" dirty="0">
                <a:solidFill>
                  <a:srgbClr val="000080"/>
                </a:solidFill>
                <a:latin typeface="Courier New"/>
                <a:cs typeface="Courier New"/>
              </a:rPr>
              <a:t>=</a:t>
            </a:r>
            <a:r>
              <a:rPr sz="1400" spc="-10" dirty="0">
                <a:solidFill>
                  <a:srgbClr val="FF0000"/>
                </a:solidFill>
                <a:latin typeface="Courier New"/>
                <a:cs typeface="Courier New"/>
              </a:rPr>
              <a:t>0.95</a:t>
            </a:r>
            <a:r>
              <a:rPr sz="1400" b="1" spc="-10" dirty="0">
                <a:solidFill>
                  <a:srgbClr val="000080"/>
                </a:solidFill>
                <a:latin typeface="Courier New"/>
                <a:cs typeface="Courier New"/>
              </a:rPr>
              <a:t>) </a:t>
            </a:r>
            <a:r>
              <a:rPr sz="1400" dirty="0">
                <a:latin typeface="Courier New"/>
                <a:cs typeface="Courier New"/>
              </a:rPr>
              <a:t>X_reduced</a:t>
            </a:r>
            <a:r>
              <a:rPr sz="1400" spc="-40" dirty="0"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80"/>
                </a:solidFill>
                <a:latin typeface="Courier New"/>
                <a:cs typeface="Courier New"/>
              </a:rPr>
              <a:t>=</a:t>
            </a:r>
            <a:r>
              <a:rPr sz="1400" b="1" spc="-35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latin typeface="Courier New"/>
                <a:cs typeface="Courier New"/>
              </a:rPr>
              <a:t>pca</a:t>
            </a:r>
            <a:r>
              <a:rPr sz="1400" b="1" spc="-10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1400" spc="-10" dirty="0">
                <a:latin typeface="Courier New"/>
                <a:cs typeface="Courier New"/>
              </a:rPr>
              <a:t>fit_transform</a:t>
            </a:r>
            <a:r>
              <a:rPr sz="1400" b="1" spc="-10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1400" spc="-10" dirty="0">
                <a:latin typeface="Courier New"/>
                <a:cs typeface="Courier New"/>
              </a:rPr>
              <a:t>X</a:t>
            </a:r>
            <a:r>
              <a:rPr sz="1400" b="1" spc="-10" dirty="0">
                <a:solidFill>
                  <a:srgbClr val="000080"/>
                </a:solidFill>
                <a:latin typeface="Courier New"/>
                <a:cs typeface="Courier New"/>
              </a:rPr>
              <a:t>)</a:t>
            </a:r>
            <a:endParaRPr sz="1400">
              <a:latin typeface="Courier New"/>
              <a:cs typeface="Courier New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19324" y="183211"/>
            <a:ext cx="2769984" cy="245297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047031" y="2951045"/>
            <a:ext cx="2545468" cy="166183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861889" y="4955378"/>
            <a:ext cx="2772667" cy="1852875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6226302" y="5203012"/>
            <a:ext cx="1843405" cy="8801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-635" algn="ctr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Calibri"/>
                <a:cs typeface="Calibri"/>
              </a:rPr>
              <a:t>Escolhe</a:t>
            </a:r>
            <a:r>
              <a:rPr sz="1400" spc="-7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número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de </a:t>
            </a:r>
            <a:r>
              <a:rPr sz="1400" spc="-10" dirty="0">
                <a:latin typeface="Calibri"/>
                <a:cs typeface="Calibri"/>
              </a:rPr>
              <a:t>componentes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que </a:t>
            </a:r>
            <a:r>
              <a:rPr sz="1400" dirty="0">
                <a:latin typeface="Calibri"/>
                <a:cs typeface="Calibri"/>
              </a:rPr>
              <a:t>explicam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no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mínimo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95% </a:t>
            </a:r>
            <a:r>
              <a:rPr sz="1400" dirty="0">
                <a:latin typeface="Calibri"/>
                <a:cs typeface="Calibri"/>
              </a:rPr>
              <a:t>da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variância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do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conjunto.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886200" y="5652287"/>
            <a:ext cx="2385060" cy="250190"/>
          </a:xfrm>
          <a:custGeom>
            <a:avLst/>
            <a:gdLst/>
            <a:ahLst/>
            <a:cxnLst/>
            <a:rect l="l" t="t" r="r" b="b"/>
            <a:pathLst>
              <a:path w="2385060" h="250189">
                <a:moveTo>
                  <a:pt x="72516" y="174269"/>
                </a:moveTo>
                <a:lnTo>
                  <a:pt x="0" y="218986"/>
                </a:lnTo>
                <a:lnTo>
                  <a:pt x="79248" y="250164"/>
                </a:lnTo>
                <a:lnTo>
                  <a:pt x="76543" y="219671"/>
                </a:lnTo>
                <a:lnTo>
                  <a:pt x="63753" y="219671"/>
                </a:lnTo>
                <a:lnTo>
                  <a:pt x="62611" y="207022"/>
                </a:lnTo>
                <a:lnTo>
                  <a:pt x="75321" y="205888"/>
                </a:lnTo>
                <a:lnTo>
                  <a:pt x="72516" y="174269"/>
                </a:lnTo>
                <a:close/>
              </a:path>
              <a:path w="2385060" h="250189">
                <a:moveTo>
                  <a:pt x="75321" y="205888"/>
                </a:moveTo>
                <a:lnTo>
                  <a:pt x="62611" y="207022"/>
                </a:lnTo>
                <a:lnTo>
                  <a:pt x="63753" y="219671"/>
                </a:lnTo>
                <a:lnTo>
                  <a:pt x="76443" y="218539"/>
                </a:lnTo>
                <a:lnTo>
                  <a:pt x="75321" y="205888"/>
                </a:lnTo>
                <a:close/>
              </a:path>
              <a:path w="2385060" h="250189">
                <a:moveTo>
                  <a:pt x="76443" y="218539"/>
                </a:moveTo>
                <a:lnTo>
                  <a:pt x="63753" y="219671"/>
                </a:lnTo>
                <a:lnTo>
                  <a:pt x="76543" y="219671"/>
                </a:lnTo>
                <a:lnTo>
                  <a:pt x="76443" y="218539"/>
                </a:lnTo>
                <a:close/>
              </a:path>
              <a:path w="2385060" h="250189">
                <a:moveTo>
                  <a:pt x="2383409" y="0"/>
                </a:moveTo>
                <a:lnTo>
                  <a:pt x="75321" y="205888"/>
                </a:lnTo>
                <a:lnTo>
                  <a:pt x="76443" y="218539"/>
                </a:lnTo>
                <a:lnTo>
                  <a:pt x="2384552" y="12649"/>
                </a:lnTo>
                <a:lnTo>
                  <a:pt x="238340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03521" y="2616834"/>
            <a:ext cx="3401060" cy="1031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spc="-10" dirty="0"/>
              <a:t>Obrigado!</a:t>
            </a:r>
            <a:endParaRPr sz="66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3795" y="400811"/>
            <a:ext cx="3323844" cy="307691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53228" y="585216"/>
            <a:ext cx="2737104" cy="273557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397240" y="3846576"/>
            <a:ext cx="3322320" cy="263652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15796" y="4038600"/>
            <a:ext cx="2671572" cy="244449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590288" y="4155332"/>
            <a:ext cx="3400044" cy="232776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897111" y="681227"/>
            <a:ext cx="2250948" cy="282397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95773" y="2616834"/>
            <a:ext cx="2416810" cy="1031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spc="-10" dirty="0"/>
              <a:t>Figuras</a:t>
            </a:r>
            <a:endParaRPr sz="6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Words>1833</Words>
  <Application>Microsoft Office PowerPoint</Application>
  <PresentationFormat>Widescreen</PresentationFormat>
  <Paragraphs>119</Paragraphs>
  <Slides>20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20</vt:i4>
      </vt:variant>
    </vt:vector>
  </HeadingPairs>
  <TitlesOfParts>
    <vt:vector size="27" baseType="lpstr">
      <vt:lpstr>Arial</vt:lpstr>
      <vt:lpstr>Calibri</vt:lpstr>
      <vt:lpstr>Calibri Light</vt:lpstr>
      <vt:lpstr>Cambria Math</vt:lpstr>
      <vt:lpstr>Courier New</vt:lpstr>
      <vt:lpstr>Wingdings</vt:lpstr>
      <vt:lpstr>Office Theme</vt:lpstr>
      <vt:lpstr>TP555 - Inteligência Artificial e Machine Learning: Redução de Dimensionalidade</vt:lpstr>
      <vt:lpstr>Redução de Dimensionalidade</vt:lpstr>
      <vt:lpstr>Redução de Dimensionalidade</vt:lpstr>
      <vt:lpstr>Redução de Dimensionalidade</vt:lpstr>
      <vt:lpstr>Extração de Atributos</vt:lpstr>
      <vt:lpstr>Extração de Atributos</vt:lpstr>
      <vt:lpstr>Análise de Componentes Principais (PCA)</vt:lpstr>
      <vt:lpstr>Preservando a variância</vt:lpstr>
      <vt:lpstr>Preservando a variância</vt:lpstr>
      <vt:lpstr>Componentes principais</vt:lpstr>
      <vt:lpstr>Componentes principais</vt:lpstr>
      <vt:lpstr>Componentes principais</vt:lpstr>
      <vt:lpstr>Componentes principais</vt:lpstr>
      <vt:lpstr>Componentes principais</vt:lpstr>
      <vt:lpstr>Projetando em 𝑑 dimensões</vt:lpstr>
      <vt:lpstr>Projetando em 𝑑 dimensões</vt:lpstr>
      <vt:lpstr>PCA com a biblioteca Scikit-Learn</vt:lpstr>
      <vt:lpstr>Obrigado!</vt:lpstr>
      <vt:lpstr>Apresentação do PowerPoint</vt:lpstr>
      <vt:lpstr>Figuras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TP555 - Inteligência Artificial e Machine Learning: Classificadores Lineares</dc:title>
  <dc:creator>Felipe Augusto Pereira de Figueiredo</dc:creator>
  <cp:lastModifiedBy>Luiz Augusto Melo Pereira</cp:lastModifiedBy>
  <cp:revision>1</cp:revision>
  <dcterms:created xsi:type="dcterms:W3CDTF">2025-01-25T22:35:27Z</dcterms:created>
  <dcterms:modified xsi:type="dcterms:W3CDTF">2025-01-28T14:17:48Z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2021-11-03T00:00:00Z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2025-01-25T00:00:00Z</vt:filetime>
  </property>
  <property fmtid="{D5CDD505-2E9C-101B-9397-08002B2CF9AE}" pid="5" name="Producer">
    <vt:lpwstr>Microsoft® PowerPoint® 2013</vt:lpwstr>
  </property>
</Properties>
</file>