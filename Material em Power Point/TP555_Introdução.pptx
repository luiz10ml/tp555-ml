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1" d="100"/>
          <a:sy n="71" d="100"/>
        </p:scale>
        <p:origin x="672" y="6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microsoft.com/office/2016/11/relationships/changesInfo" Target="changesInfos/changesInfo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iz Augusto Melo Pereira" userId="4bd5ce759a66f368" providerId="LiveId" clId="{A6DADE60-7BF4-4079-A5AF-A47793CEE729}"/>
    <pc:docChg chg="undo custSel modSld">
      <pc:chgData name="Luiz Augusto Melo Pereira" userId="4bd5ce759a66f368" providerId="LiveId" clId="{A6DADE60-7BF4-4079-A5AF-A47793CEE729}" dt="2025-01-25T14:53:24.830" v="96" actId="20577"/>
      <pc:docMkLst>
        <pc:docMk/>
      </pc:docMkLst>
      <pc:sldChg chg="modSp mod">
        <pc:chgData name="Luiz Augusto Melo Pereira" userId="4bd5ce759a66f368" providerId="LiveId" clId="{A6DADE60-7BF4-4079-A5AF-A47793CEE729}" dt="2025-01-25T14:48:05.284" v="1" actId="1076"/>
        <pc:sldMkLst>
          <pc:docMk/>
          <pc:sldMk cId="0" sldId="257"/>
        </pc:sldMkLst>
        <pc:spChg chg="mod">
          <ac:chgData name="Luiz Augusto Melo Pereira" userId="4bd5ce759a66f368" providerId="LiveId" clId="{A6DADE60-7BF4-4079-A5AF-A47793CEE729}" dt="2025-01-25T14:48:05.284" v="1" actId="1076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Luiz Augusto Melo Pereira" userId="4bd5ce759a66f368" providerId="LiveId" clId="{A6DADE60-7BF4-4079-A5AF-A47793CEE729}" dt="2025-01-25T14:48:09.217" v="3" actId="1076"/>
        <pc:sldMkLst>
          <pc:docMk/>
          <pc:sldMk cId="0" sldId="258"/>
        </pc:sldMkLst>
        <pc:spChg chg="mod">
          <ac:chgData name="Luiz Augusto Melo Pereira" userId="4bd5ce759a66f368" providerId="LiveId" clId="{A6DADE60-7BF4-4079-A5AF-A47793CEE729}" dt="2025-01-25T14:48:09.217" v="3" actId="1076"/>
          <ac:spMkLst>
            <pc:docMk/>
            <pc:sldMk cId="0" sldId="258"/>
            <ac:spMk id="3" creationId="{00000000-0000-0000-0000-000000000000}"/>
          </ac:spMkLst>
        </pc:spChg>
      </pc:sldChg>
      <pc:sldChg chg="modSp mod">
        <pc:chgData name="Luiz Augusto Melo Pereira" userId="4bd5ce759a66f368" providerId="LiveId" clId="{A6DADE60-7BF4-4079-A5AF-A47793CEE729}" dt="2025-01-25T14:48:12.643" v="5" actId="1076"/>
        <pc:sldMkLst>
          <pc:docMk/>
          <pc:sldMk cId="0" sldId="259"/>
        </pc:sldMkLst>
        <pc:spChg chg="mod">
          <ac:chgData name="Luiz Augusto Melo Pereira" userId="4bd5ce759a66f368" providerId="LiveId" clId="{A6DADE60-7BF4-4079-A5AF-A47793CEE729}" dt="2025-01-25T14:48:12.643" v="5" actId="1076"/>
          <ac:spMkLst>
            <pc:docMk/>
            <pc:sldMk cId="0" sldId="259"/>
            <ac:spMk id="3" creationId="{00000000-0000-0000-0000-000000000000}"/>
          </ac:spMkLst>
        </pc:spChg>
      </pc:sldChg>
      <pc:sldChg chg="modSp mod">
        <pc:chgData name="Luiz Augusto Melo Pereira" userId="4bd5ce759a66f368" providerId="LiveId" clId="{A6DADE60-7BF4-4079-A5AF-A47793CEE729}" dt="2025-01-25T14:48:19.338" v="7" actId="1076"/>
        <pc:sldMkLst>
          <pc:docMk/>
          <pc:sldMk cId="0" sldId="260"/>
        </pc:sldMkLst>
        <pc:spChg chg="mod">
          <ac:chgData name="Luiz Augusto Melo Pereira" userId="4bd5ce759a66f368" providerId="LiveId" clId="{A6DADE60-7BF4-4079-A5AF-A47793CEE729}" dt="2025-01-25T14:48:19.338" v="7" actId="1076"/>
          <ac:spMkLst>
            <pc:docMk/>
            <pc:sldMk cId="0" sldId="260"/>
            <ac:spMk id="3" creationId="{00000000-0000-0000-0000-000000000000}"/>
          </ac:spMkLst>
        </pc:spChg>
      </pc:sldChg>
      <pc:sldChg chg="modSp mod">
        <pc:chgData name="Luiz Augusto Melo Pereira" userId="4bd5ce759a66f368" providerId="LiveId" clId="{A6DADE60-7BF4-4079-A5AF-A47793CEE729}" dt="2025-01-25T14:48:23.648" v="9" actId="1076"/>
        <pc:sldMkLst>
          <pc:docMk/>
          <pc:sldMk cId="0" sldId="261"/>
        </pc:sldMkLst>
        <pc:spChg chg="mod">
          <ac:chgData name="Luiz Augusto Melo Pereira" userId="4bd5ce759a66f368" providerId="LiveId" clId="{A6DADE60-7BF4-4079-A5AF-A47793CEE729}" dt="2025-01-25T14:48:23.648" v="9" actId="1076"/>
          <ac:spMkLst>
            <pc:docMk/>
            <pc:sldMk cId="0" sldId="261"/>
            <ac:spMk id="3" creationId="{00000000-0000-0000-0000-000000000000}"/>
          </ac:spMkLst>
        </pc:spChg>
      </pc:sldChg>
      <pc:sldChg chg="modSp mod">
        <pc:chgData name="Luiz Augusto Melo Pereira" userId="4bd5ce759a66f368" providerId="LiveId" clId="{A6DADE60-7BF4-4079-A5AF-A47793CEE729}" dt="2025-01-25T14:48:26.699" v="11" actId="1076"/>
        <pc:sldMkLst>
          <pc:docMk/>
          <pc:sldMk cId="0" sldId="262"/>
        </pc:sldMkLst>
        <pc:spChg chg="mod">
          <ac:chgData name="Luiz Augusto Melo Pereira" userId="4bd5ce759a66f368" providerId="LiveId" clId="{A6DADE60-7BF4-4079-A5AF-A47793CEE729}" dt="2025-01-25T14:48:26.699" v="11" actId="1076"/>
          <ac:spMkLst>
            <pc:docMk/>
            <pc:sldMk cId="0" sldId="262"/>
            <ac:spMk id="3" creationId="{00000000-0000-0000-0000-000000000000}"/>
          </ac:spMkLst>
        </pc:spChg>
      </pc:sldChg>
      <pc:sldChg chg="modSp mod">
        <pc:chgData name="Luiz Augusto Melo Pereira" userId="4bd5ce759a66f368" providerId="LiveId" clId="{A6DADE60-7BF4-4079-A5AF-A47793CEE729}" dt="2025-01-25T14:48:30.347" v="13" actId="1076"/>
        <pc:sldMkLst>
          <pc:docMk/>
          <pc:sldMk cId="0" sldId="263"/>
        </pc:sldMkLst>
        <pc:spChg chg="mod">
          <ac:chgData name="Luiz Augusto Melo Pereira" userId="4bd5ce759a66f368" providerId="LiveId" clId="{A6DADE60-7BF4-4079-A5AF-A47793CEE729}" dt="2025-01-25T14:48:30.347" v="13" actId="1076"/>
          <ac:spMkLst>
            <pc:docMk/>
            <pc:sldMk cId="0" sldId="263"/>
            <ac:spMk id="3" creationId="{00000000-0000-0000-0000-000000000000}"/>
          </ac:spMkLst>
        </pc:spChg>
      </pc:sldChg>
      <pc:sldChg chg="modSp mod">
        <pc:chgData name="Luiz Augusto Melo Pereira" userId="4bd5ce759a66f368" providerId="LiveId" clId="{A6DADE60-7BF4-4079-A5AF-A47793CEE729}" dt="2025-01-25T14:48:34.526" v="15" actId="1076"/>
        <pc:sldMkLst>
          <pc:docMk/>
          <pc:sldMk cId="0" sldId="264"/>
        </pc:sldMkLst>
        <pc:spChg chg="mod">
          <ac:chgData name="Luiz Augusto Melo Pereira" userId="4bd5ce759a66f368" providerId="LiveId" clId="{A6DADE60-7BF4-4079-A5AF-A47793CEE729}" dt="2025-01-25T14:48:34.526" v="15" actId="1076"/>
          <ac:spMkLst>
            <pc:docMk/>
            <pc:sldMk cId="0" sldId="264"/>
            <ac:spMk id="3" creationId="{00000000-0000-0000-0000-000000000000}"/>
          </ac:spMkLst>
        </pc:spChg>
      </pc:sldChg>
      <pc:sldChg chg="modSp mod">
        <pc:chgData name="Luiz Augusto Melo Pereira" userId="4bd5ce759a66f368" providerId="LiveId" clId="{A6DADE60-7BF4-4079-A5AF-A47793CEE729}" dt="2025-01-25T14:48:37.791" v="17" actId="1076"/>
        <pc:sldMkLst>
          <pc:docMk/>
          <pc:sldMk cId="0" sldId="265"/>
        </pc:sldMkLst>
        <pc:spChg chg="mod">
          <ac:chgData name="Luiz Augusto Melo Pereira" userId="4bd5ce759a66f368" providerId="LiveId" clId="{A6DADE60-7BF4-4079-A5AF-A47793CEE729}" dt="2025-01-25T14:48:37.791" v="17" actId="1076"/>
          <ac:spMkLst>
            <pc:docMk/>
            <pc:sldMk cId="0" sldId="265"/>
            <ac:spMk id="3" creationId="{00000000-0000-0000-0000-000000000000}"/>
          </ac:spMkLst>
        </pc:spChg>
      </pc:sldChg>
      <pc:sldChg chg="modSp mod">
        <pc:chgData name="Luiz Augusto Melo Pereira" userId="4bd5ce759a66f368" providerId="LiveId" clId="{A6DADE60-7BF4-4079-A5AF-A47793CEE729}" dt="2025-01-25T14:48:48.414" v="19" actId="1076"/>
        <pc:sldMkLst>
          <pc:docMk/>
          <pc:sldMk cId="0" sldId="266"/>
        </pc:sldMkLst>
        <pc:spChg chg="mod">
          <ac:chgData name="Luiz Augusto Melo Pereira" userId="4bd5ce759a66f368" providerId="LiveId" clId="{A6DADE60-7BF4-4079-A5AF-A47793CEE729}" dt="2025-01-25T14:48:48.414" v="19" actId="1076"/>
          <ac:spMkLst>
            <pc:docMk/>
            <pc:sldMk cId="0" sldId="266"/>
            <ac:spMk id="3" creationId="{00000000-0000-0000-0000-000000000000}"/>
          </ac:spMkLst>
        </pc:spChg>
      </pc:sldChg>
      <pc:sldChg chg="modSp mod">
        <pc:chgData name="Luiz Augusto Melo Pereira" userId="4bd5ce759a66f368" providerId="LiveId" clId="{A6DADE60-7BF4-4079-A5AF-A47793CEE729}" dt="2025-01-25T14:48:52.776" v="21" actId="1076"/>
        <pc:sldMkLst>
          <pc:docMk/>
          <pc:sldMk cId="0" sldId="267"/>
        </pc:sldMkLst>
        <pc:spChg chg="mod">
          <ac:chgData name="Luiz Augusto Melo Pereira" userId="4bd5ce759a66f368" providerId="LiveId" clId="{A6DADE60-7BF4-4079-A5AF-A47793CEE729}" dt="2025-01-25T14:48:52.776" v="21" actId="1076"/>
          <ac:spMkLst>
            <pc:docMk/>
            <pc:sldMk cId="0" sldId="267"/>
            <ac:spMk id="3" creationId="{00000000-0000-0000-0000-000000000000}"/>
          </ac:spMkLst>
        </pc:spChg>
      </pc:sldChg>
      <pc:sldChg chg="modSp mod">
        <pc:chgData name="Luiz Augusto Melo Pereira" userId="4bd5ce759a66f368" providerId="LiveId" clId="{A6DADE60-7BF4-4079-A5AF-A47793CEE729}" dt="2025-01-25T14:48:58.423" v="23" actId="1076"/>
        <pc:sldMkLst>
          <pc:docMk/>
          <pc:sldMk cId="0" sldId="268"/>
        </pc:sldMkLst>
        <pc:spChg chg="mod">
          <ac:chgData name="Luiz Augusto Melo Pereira" userId="4bd5ce759a66f368" providerId="LiveId" clId="{A6DADE60-7BF4-4079-A5AF-A47793CEE729}" dt="2025-01-25T14:48:58.423" v="23" actId="1076"/>
          <ac:spMkLst>
            <pc:docMk/>
            <pc:sldMk cId="0" sldId="268"/>
            <ac:spMk id="3" creationId="{00000000-0000-0000-0000-000000000000}"/>
          </ac:spMkLst>
        </pc:spChg>
      </pc:sldChg>
      <pc:sldChg chg="modSp mod">
        <pc:chgData name="Luiz Augusto Melo Pereira" userId="4bd5ce759a66f368" providerId="LiveId" clId="{A6DADE60-7BF4-4079-A5AF-A47793CEE729}" dt="2025-01-25T14:49:01.232" v="25" actId="1076"/>
        <pc:sldMkLst>
          <pc:docMk/>
          <pc:sldMk cId="0" sldId="269"/>
        </pc:sldMkLst>
        <pc:spChg chg="mod">
          <ac:chgData name="Luiz Augusto Melo Pereira" userId="4bd5ce759a66f368" providerId="LiveId" clId="{A6DADE60-7BF4-4079-A5AF-A47793CEE729}" dt="2025-01-25T14:49:01.232" v="25" actId="1076"/>
          <ac:spMkLst>
            <pc:docMk/>
            <pc:sldMk cId="0" sldId="269"/>
            <ac:spMk id="3" creationId="{00000000-0000-0000-0000-000000000000}"/>
          </ac:spMkLst>
        </pc:spChg>
      </pc:sldChg>
      <pc:sldChg chg="modSp mod">
        <pc:chgData name="Luiz Augusto Melo Pereira" userId="4bd5ce759a66f368" providerId="LiveId" clId="{A6DADE60-7BF4-4079-A5AF-A47793CEE729}" dt="2025-01-25T14:49:05.276" v="27" actId="1076"/>
        <pc:sldMkLst>
          <pc:docMk/>
          <pc:sldMk cId="0" sldId="270"/>
        </pc:sldMkLst>
        <pc:spChg chg="mod">
          <ac:chgData name="Luiz Augusto Melo Pereira" userId="4bd5ce759a66f368" providerId="LiveId" clId="{A6DADE60-7BF4-4079-A5AF-A47793CEE729}" dt="2025-01-25T14:49:05.276" v="27" actId="1076"/>
          <ac:spMkLst>
            <pc:docMk/>
            <pc:sldMk cId="0" sldId="270"/>
            <ac:spMk id="5" creationId="{00000000-0000-0000-0000-000000000000}"/>
          </ac:spMkLst>
        </pc:spChg>
      </pc:sldChg>
      <pc:sldChg chg="modSp mod">
        <pc:chgData name="Luiz Augusto Melo Pereira" userId="4bd5ce759a66f368" providerId="LiveId" clId="{A6DADE60-7BF4-4079-A5AF-A47793CEE729}" dt="2025-01-25T14:49:13.061" v="29" actId="1076"/>
        <pc:sldMkLst>
          <pc:docMk/>
          <pc:sldMk cId="0" sldId="271"/>
        </pc:sldMkLst>
        <pc:spChg chg="mod">
          <ac:chgData name="Luiz Augusto Melo Pereira" userId="4bd5ce759a66f368" providerId="LiveId" clId="{A6DADE60-7BF4-4079-A5AF-A47793CEE729}" dt="2025-01-25T14:49:13.061" v="29" actId="1076"/>
          <ac:spMkLst>
            <pc:docMk/>
            <pc:sldMk cId="0" sldId="271"/>
            <ac:spMk id="4" creationId="{00000000-0000-0000-0000-000000000000}"/>
          </ac:spMkLst>
        </pc:spChg>
      </pc:sldChg>
      <pc:sldChg chg="modSp mod">
        <pc:chgData name="Luiz Augusto Melo Pereira" userId="4bd5ce759a66f368" providerId="LiveId" clId="{A6DADE60-7BF4-4079-A5AF-A47793CEE729}" dt="2025-01-25T14:49:22.835" v="31" actId="1076"/>
        <pc:sldMkLst>
          <pc:docMk/>
          <pc:sldMk cId="0" sldId="272"/>
        </pc:sldMkLst>
        <pc:spChg chg="mod">
          <ac:chgData name="Luiz Augusto Melo Pereira" userId="4bd5ce759a66f368" providerId="LiveId" clId="{A6DADE60-7BF4-4079-A5AF-A47793CEE729}" dt="2025-01-25T14:49:22.835" v="31" actId="1076"/>
          <ac:spMkLst>
            <pc:docMk/>
            <pc:sldMk cId="0" sldId="272"/>
            <ac:spMk id="4" creationId="{00000000-0000-0000-0000-000000000000}"/>
          </ac:spMkLst>
        </pc:spChg>
      </pc:sldChg>
      <pc:sldChg chg="modSp mod">
        <pc:chgData name="Luiz Augusto Melo Pereira" userId="4bd5ce759a66f368" providerId="LiveId" clId="{A6DADE60-7BF4-4079-A5AF-A47793CEE729}" dt="2025-01-25T14:49:33.626" v="33" actId="1076"/>
        <pc:sldMkLst>
          <pc:docMk/>
          <pc:sldMk cId="0" sldId="273"/>
        </pc:sldMkLst>
        <pc:spChg chg="mod">
          <ac:chgData name="Luiz Augusto Melo Pereira" userId="4bd5ce759a66f368" providerId="LiveId" clId="{A6DADE60-7BF4-4079-A5AF-A47793CEE729}" dt="2025-01-25T14:49:33.626" v="33" actId="1076"/>
          <ac:spMkLst>
            <pc:docMk/>
            <pc:sldMk cId="0" sldId="273"/>
            <ac:spMk id="3" creationId="{00000000-0000-0000-0000-000000000000}"/>
          </ac:spMkLst>
        </pc:spChg>
      </pc:sldChg>
      <pc:sldChg chg="modSp mod">
        <pc:chgData name="Luiz Augusto Melo Pereira" userId="4bd5ce759a66f368" providerId="LiveId" clId="{A6DADE60-7BF4-4079-A5AF-A47793CEE729}" dt="2025-01-25T14:49:38.134" v="35" actId="1076"/>
        <pc:sldMkLst>
          <pc:docMk/>
          <pc:sldMk cId="0" sldId="274"/>
        </pc:sldMkLst>
        <pc:spChg chg="mod">
          <ac:chgData name="Luiz Augusto Melo Pereira" userId="4bd5ce759a66f368" providerId="LiveId" clId="{A6DADE60-7BF4-4079-A5AF-A47793CEE729}" dt="2025-01-25T14:49:38.134" v="35" actId="1076"/>
          <ac:spMkLst>
            <pc:docMk/>
            <pc:sldMk cId="0" sldId="274"/>
            <ac:spMk id="3" creationId="{00000000-0000-0000-0000-000000000000}"/>
          </ac:spMkLst>
        </pc:spChg>
      </pc:sldChg>
      <pc:sldChg chg="modSp mod">
        <pc:chgData name="Luiz Augusto Melo Pereira" userId="4bd5ce759a66f368" providerId="LiveId" clId="{A6DADE60-7BF4-4079-A5AF-A47793CEE729}" dt="2025-01-25T14:49:43.683" v="37" actId="1076"/>
        <pc:sldMkLst>
          <pc:docMk/>
          <pc:sldMk cId="0" sldId="275"/>
        </pc:sldMkLst>
        <pc:spChg chg="mod">
          <ac:chgData name="Luiz Augusto Melo Pereira" userId="4bd5ce759a66f368" providerId="LiveId" clId="{A6DADE60-7BF4-4079-A5AF-A47793CEE729}" dt="2025-01-25T14:49:43.683" v="37" actId="1076"/>
          <ac:spMkLst>
            <pc:docMk/>
            <pc:sldMk cId="0" sldId="275"/>
            <ac:spMk id="3" creationId="{00000000-0000-0000-0000-000000000000}"/>
          </ac:spMkLst>
        </pc:spChg>
      </pc:sldChg>
      <pc:sldChg chg="modSp mod">
        <pc:chgData name="Luiz Augusto Melo Pereira" userId="4bd5ce759a66f368" providerId="LiveId" clId="{A6DADE60-7BF4-4079-A5AF-A47793CEE729}" dt="2025-01-25T14:49:50.920" v="39" actId="1076"/>
        <pc:sldMkLst>
          <pc:docMk/>
          <pc:sldMk cId="0" sldId="276"/>
        </pc:sldMkLst>
        <pc:spChg chg="mod">
          <ac:chgData name="Luiz Augusto Melo Pereira" userId="4bd5ce759a66f368" providerId="LiveId" clId="{A6DADE60-7BF4-4079-A5AF-A47793CEE729}" dt="2025-01-25T14:49:50.920" v="39" actId="1076"/>
          <ac:spMkLst>
            <pc:docMk/>
            <pc:sldMk cId="0" sldId="276"/>
            <ac:spMk id="3" creationId="{00000000-0000-0000-0000-000000000000}"/>
          </ac:spMkLst>
        </pc:spChg>
      </pc:sldChg>
      <pc:sldChg chg="modSp mod">
        <pc:chgData name="Luiz Augusto Melo Pereira" userId="4bd5ce759a66f368" providerId="LiveId" clId="{A6DADE60-7BF4-4079-A5AF-A47793CEE729}" dt="2025-01-25T14:49:55.361" v="41" actId="1076"/>
        <pc:sldMkLst>
          <pc:docMk/>
          <pc:sldMk cId="0" sldId="277"/>
        </pc:sldMkLst>
        <pc:spChg chg="mod">
          <ac:chgData name="Luiz Augusto Melo Pereira" userId="4bd5ce759a66f368" providerId="LiveId" clId="{A6DADE60-7BF4-4079-A5AF-A47793CEE729}" dt="2025-01-25T14:49:55.361" v="41" actId="1076"/>
          <ac:spMkLst>
            <pc:docMk/>
            <pc:sldMk cId="0" sldId="277"/>
            <ac:spMk id="4" creationId="{00000000-0000-0000-0000-000000000000}"/>
          </ac:spMkLst>
        </pc:spChg>
      </pc:sldChg>
      <pc:sldChg chg="addSp delSp modSp mod">
        <pc:chgData name="Luiz Augusto Melo Pereira" userId="4bd5ce759a66f368" providerId="LiveId" clId="{A6DADE60-7BF4-4079-A5AF-A47793CEE729}" dt="2025-01-25T14:51:19.522" v="84" actId="1076"/>
        <pc:sldMkLst>
          <pc:docMk/>
          <pc:sldMk cId="0" sldId="278"/>
        </pc:sldMkLst>
        <pc:spChg chg="mod">
          <ac:chgData name="Luiz Augusto Melo Pereira" userId="4bd5ce759a66f368" providerId="LiveId" clId="{A6DADE60-7BF4-4079-A5AF-A47793CEE729}" dt="2025-01-25T14:50:12.729" v="46" actId="1076"/>
          <ac:spMkLst>
            <pc:docMk/>
            <pc:sldMk cId="0" sldId="278"/>
            <ac:spMk id="3" creationId="{00000000-0000-0000-0000-000000000000}"/>
          </ac:spMkLst>
        </pc:spChg>
        <pc:spChg chg="mod">
          <ac:chgData name="Luiz Augusto Melo Pereira" userId="4bd5ce759a66f368" providerId="LiveId" clId="{A6DADE60-7BF4-4079-A5AF-A47793CEE729}" dt="2025-01-25T14:51:05.135" v="76" actId="14100"/>
          <ac:spMkLst>
            <pc:docMk/>
            <pc:sldMk cId="0" sldId="278"/>
            <ac:spMk id="5" creationId="{00000000-0000-0000-0000-000000000000}"/>
          </ac:spMkLst>
        </pc:spChg>
        <pc:spChg chg="del mod">
          <ac:chgData name="Luiz Augusto Melo Pereira" userId="4bd5ce759a66f368" providerId="LiveId" clId="{A6DADE60-7BF4-4079-A5AF-A47793CEE729}" dt="2025-01-25T14:51:08.733" v="79"/>
          <ac:spMkLst>
            <pc:docMk/>
            <pc:sldMk cId="0" sldId="278"/>
            <ac:spMk id="10" creationId="{00000000-0000-0000-0000-000000000000}"/>
          </ac:spMkLst>
        </pc:spChg>
        <pc:spChg chg="add del mod">
          <ac:chgData name="Luiz Augusto Melo Pereira" userId="4bd5ce759a66f368" providerId="LiveId" clId="{A6DADE60-7BF4-4079-A5AF-A47793CEE729}" dt="2025-01-25T14:50:52.164" v="70" actId="22"/>
          <ac:spMkLst>
            <pc:docMk/>
            <pc:sldMk cId="0" sldId="278"/>
            <ac:spMk id="14" creationId="{0F9773EC-AB37-FDC4-3292-90BBDA64DB20}"/>
          </ac:spMkLst>
        </pc:spChg>
        <pc:spChg chg="add mod">
          <ac:chgData name="Luiz Augusto Melo Pereira" userId="4bd5ce759a66f368" providerId="LiveId" clId="{A6DADE60-7BF4-4079-A5AF-A47793CEE729}" dt="2025-01-25T14:51:19.522" v="84" actId="1076"/>
          <ac:spMkLst>
            <pc:docMk/>
            <pc:sldMk cId="0" sldId="278"/>
            <ac:spMk id="16" creationId="{156D4286-D60B-9AA6-DCEB-45A2117C0966}"/>
          </ac:spMkLst>
        </pc:spChg>
      </pc:sldChg>
      <pc:sldChg chg="modSp mod">
        <pc:chgData name="Luiz Augusto Melo Pereira" userId="4bd5ce759a66f368" providerId="LiveId" clId="{A6DADE60-7BF4-4079-A5AF-A47793CEE729}" dt="2025-01-25T14:51:49.460" v="86" actId="14100"/>
        <pc:sldMkLst>
          <pc:docMk/>
          <pc:sldMk cId="0" sldId="283"/>
        </pc:sldMkLst>
        <pc:spChg chg="mod">
          <ac:chgData name="Luiz Augusto Melo Pereira" userId="4bd5ce759a66f368" providerId="LiveId" clId="{A6DADE60-7BF4-4079-A5AF-A47793CEE729}" dt="2025-01-25T14:51:49.460" v="86" actId="14100"/>
          <ac:spMkLst>
            <pc:docMk/>
            <pc:sldMk cId="0" sldId="283"/>
            <ac:spMk id="5" creationId="{00000000-0000-0000-0000-000000000000}"/>
          </ac:spMkLst>
        </pc:spChg>
      </pc:sldChg>
      <pc:sldChg chg="modSp mod">
        <pc:chgData name="Luiz Augusto Melo Pereira" userId="4bd5ce759a66f368" providerId="LiveId" clId="{A6DADE60-7BF4-4079-A5AF-A47793CEE729}" dt="2025-01-25T14:52:02.949" v="88" actId="1076"/>
        <pc:sldMkLst>
          <pc:docMk/>
          <pc:sldMk cId="0" sldId="284"/>
        </pc:sldMkLst>
        <pc:grpChg chg="mod">
          <ac:chgData name="Luiz Augusto Melo Pereira" userId="4bd5ce759a66f368" providerId="LiveId" clId="{A6DADE60-7BF4-4079-A5AF-A47793CEE729}" dt="2025-01-25T14:52:02.949" v="88" actId="1076"/>
          <ac:grpSpMkLst>
            <pc:docMk/>
            <pc:sldMk cId="0" sldId="284"/>
            <ac:grpSpMk id="4" creationId="{00000000-0000-0000-0000-000000000000}"/>
          </ac:grpSpMkLst>
        </pc:grpChg>
      </pc:sldChg>
      <pc:sldChg chg="modSp mod">
        <pc:chgData name="Luiz Augusto Melo Pereira" userId="4bd5ce759a66f368" providerId="LiveId" clId="{A6DADE60-7BF4-4079-A5AF-A47793CEE729}" dt="2025-01-25T14:52:07.683" v="90" actId="1076"/>
        <pc:sldMkLst>
          <pc:docMk/>
          <pc:sldMk cId="0" sldId="285"/>
        </pc:sldMkLst>
        <pc:spChg chg="mod">
          <ac:chgData name="Luiz Augusto Melo Pereira" userId="4bd5ce759a66f368" providerId="LiveId" clId="{A6DADE60-7BF4-4079-A5AF-A47793CEE729}" dt="2025-01-25T14:52:07.683" v="90" actId="1076"/>
          <ac:spMkLst>
            <pc:docMk/>
            <pc:sldMk cId="0" sldId="285"/>
            <ac:spMk id="3" creationId="{00000000-0000-0000-0000-000000000000}"/>
          </ac:spMkLst>
        </pc:spChg>
      </pc:sldChg>
      <pc:sldChg chg="modSp mod">
        <pc:chgData name="Luiz Augusto Melo Pereira" userId="4bd5ce759a66f368" providerId="LiveId" clId="{A6DADE60-7BF4-4079-A5AF-A47793CEE729}" dt="2025-01-25T14:52:17.064" v="92" actId="1076"/>
        <pc:sldMkLst>
          <pc:docMk/>
          <pc:sldMk cId="0" sldId="286"/>
        </pc:sldMkLst>
        <pc:spChg chg="mod">
          <ac:chgData name="Luiz Augusto Melo Pereira" userId="4bd5ce759a66f368" providerId="LiveId" clId="{A6DADE60-7BF4-4079-A5AF-A47793CEE729}" dt="2025-01-25T14:52:17.064" v="92" actId="1076"/>
          <ac:spMkLst>
            <pc:docMk/>
            <pc:sldMk cId="0" sldId="286"/>
            <ac:spMk id="3" creationId="{00000000-0000-0000-0000-000000000000}"/>
          </ac:spMkLst>
        </pc:spChg>
      </pc:sldChg>
      <pc:sldChg chg="modSp mod">
        <pc:chgData name="Luiz Augusto Melo Pereira" userId="4bd5ce759a66f368" providerId="LiveId" clId="{A6DADE60-7BF4-4079-A5AF-A47793CEE729}" dt="2025-01-25T14:52:22.881" v="94" actId="1076"/>
        <pc:sldMkLst>
          <pc:docMk/>
          <pc:sldMk cId="0" sldId="287"/>
        </pc:sldMkLst>
        <pc:spChg chg="mod">
          <ac:chgData name="Luiz Augusto Melo Pereira" userId="4bd5ce759a66f368" providerId="LiveId" clId="{A6DADE60-7BF4-4079-A5AF-A47793CEE729}" dt="2025-01-25T14:52:22.881" v="94" actId="1076"/>
          <ac:spMkLst>
            <pc:docMk/>
            <pc:sldMk cId="0" sldId="287"/>
            <ac:spMk id="3" creationId="{00000000-0000-0000-0000-000000000000}"/>
          </ac:spMkLst>
        </pc:spChg>
      </pc:sldChg>
      <pc:sldChg chg="modSp mod">
        <pc:chgData name="Luiz Augusto Melo Pereira" userId="4bd5ce759a66f368" providerId="LiveId" clId="{A6DADE60-7BF4-4079-A5AF-A47793CEE729}" dt="2025-01-25T14:53:24.830" v="96" actId="20577"/>
        <pc:sldMkLst>
          <pc:docMk/>
          <pc:sldMk cId="0" sldId="290"/>
        </pc:sldMkLst>
        <pc:spChg chg="mod">
          <ac:chgData name="Luiz Augusto Melo Pereira" userId="4bd5ce759a66f368" providerId="LiveId" clId="{A6DADE60-7BF4-4079-A5AF-A47793CEE729}" dt="2025-01-25T14:53:24.830" v="96" actId="20577"/>
          <ac:spMkLst>
            <pc:docMk/>
            <pc:sldMk cId="0" sldId="290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3/7/2025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3/7/2025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3/7/2025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939" y="609676"/>
            <a:ext cx="10430510" cy="697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862065" y="1483233"/>
            <a:ext cx="6100445" cy="36531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hyperlink" Target="mailto:felipe.figueiredo@inatel.br" TargetMode="External"/><Relationship Id="rId4" Type="http://schemas.openxmlformats.org/officeDocument/2006/relationships/hyperlink" Target="mailto:luiz.melo@inatel.br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luiz10ml/tp555-ml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jp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jp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jpg"/><Relationship Id="rId5" Type="http://schemas.openxmlformats.org/officeDocument/2006/relationships/image" Target="../media/image20.jpg"/><Relationship Id="rId10" Type="http://schemas.openxmlformats.org/officeDocument/2006/relationships/image" Target="../media/image25.jp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jpg"/><Relationship Id="rId5" Type="http://schemas.openxmlformats.org/officeDocument/2006/relationships/image" Target="../media/image29.jpg"/><Relationship Id="rId4" Type="http://schemas.openxmlformats.org/officeDocument/2006/relationships/image" Target="../media/image28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jp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g"/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g"/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g"/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6.jpg"/><Relationship Id="rId4" Type="http://schemas.openxmlformats.org/officeDocument/2006/relationships/image" Target="../media/image4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3" Type="http://schemas.openxmlformats.org/officeDocument/2006/relationships/image" Target="../media/image54.jpg"/><Relationship Id="rId7" Type="http://schemas.openxmlformats.org/officeDocument/2006/relationships/image" Target="../media/image58.jpg"/><Relationship Id="rId2" Type="http://schemas.openxmlformats.org/officeDocument/2006/relationships/image" Target="../media/image5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7.jpg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jpg"/><Relationship Id="rId3" Type="http://schemas.openxmlformats.org/officeDocument/2006/relationships/image" Target="../media/image61.png"/><Relationship Id="rId7" Type="http://schemas.openxmlformats.org/officeDocument/2006/relationships/image" Target="../media/image65.png"/><Relationship Id="rId2" Type="http://schemas.openxmlformats.org/officeDocument/2006/relationships/image" Target="../media/image60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4" Type="http://schemas.openxmlformats.org/officeDocument/2006/relationships/image" Target="../media/image62.jp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jp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jpg"/><Relationship Id="rId2" Type="http://schemas.openxmlformats.org/officeDocument/2006/relationships/image" Target="../media/image74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7.jpg"/><Relationship Id="rId4" Type="http://schemas.openxmlformats.org/officeDocument/2006/relationships/image" Target="../media/image76.jp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QilHGSYbjDQ&amp;ab_channel=TychovanderOuderaa" TargetMode="External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8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4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jp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7.jp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jpg"/><Relationship Id="rId2" Type="http://schemas.openxmlformats.org/officeDocument/2006/relationships/hyperlink" Target="https://colab.research.google.com/" TargetMode="Externa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jp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colab.research.google.com/github/luiz10ml/tp555-ml/blob/main/exemplos/jupyter/Figura_2D.ipynb" TargetMode="External"/><Relationship Id="rId4" Type="http://schemas.openxmlformats.org/officeDocument/2006/relationships/image" Target="../media/image89.jp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tinyurl.com/mp64ksye" TargetMode="External"/><Relationship Id="rId2" Type="http://schemas.openxmlformats.org/officeDocument/2006/relationships/hyperlink" Target="https://www.dca.fee.unicamp.br/~lboccato/ia006_2s2019.html" TargetMode="Externa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luiz10ml/tp555-ml/blob/main/projeto/TP555%20-%20Projeto%20Pr%C3%A1tico.pdf" TargetMode="External"/><Relationship Id="rId2" Type="http://schemas.openxmlformats.org/officeDocument/2006/relationships/hyperlink" Target="https://github.com/luiz10ml/tp555-ml/tree/main/listas" TargetMode="Externa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jpg"/><Relationship Id="rId2" Type="http://schemas.openxmlformats.org/officeDocument/2006/relationships/image" Target="../media/image90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2.jp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26717" y="1021207"/>
            <a:ext cx="8340725" cy="2407920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12700" marR="5080" algn="ctr">
              <a:lnSpc>
                <a:spcPct val="89700"/>
              </a:lnSpc>
              <a:spcBef>
                <a:spcPts val="765"/>
              </a:spcBef>
            </a:pPr>
            <a:r>
              <a:rPr sz="5400" dirty="0"/>
              <a:t>TP555</a:t>
            </a:r>
            <a:r>
              <a:rPr sz="5400" spc="-65" dirty="0"/>
              <a:t> </a:t>
            </a:r>
            <a:r>
              <a:rPr sz="5400" dirty="0"/>
              <a:t>-</a:t>
            </a:r>
            <a:r>
              <a:rPr sz="5400" spc="-45" dirty="0"/>
              <a:t> </a:t>
            </a:r>
            <a:r>
              <a:rPr sz="5400" dirty="0"/>
              <a:t>Inteligência</a:t>
            </a:r>
            <a:r>
              <a:rPr sz="5400" spc="-90" dirty="0"/>
              <a:t> </a:t>
            </a:r>
            <a:r>
              <a:rPr sz="5400" dirty="0"/>
              <a:t>Artificial</a:t>
            </a:r>
            <a:r>
              <a:rPr sz="5400" spc="-50" dirty="0"/>
              <a:t> e </a:t>
            </a:r>
            <a:r>
              <a:rPr sz="5400" dirty="0"/>
              <a:t>Machine</a:t>
            </a:r>
            <a:r>
              <a:rPr sz="5400" spc="-35" dirty="0"/>
              <a:t> </a:t>
            </a:r>
            <a:r>
              <a:rPr sz="5400" spc="-10" dirty="0"/>
              <a:t>Learning: </a:t>
            </a:r>
            <a:r>
              <a:rPr sz="6000" i="1" spc="-10" dirty="0">
                <a:latin typeface="Calibri Light"/>
                <a:cs typeface="Calibri Light"/>
              </a:rPr>
              <a:t>Introdução</a:t>
            </a:r>
            <a:endParaRPr sz="6000" dirty="0">
              <a:latin typeface="Calibri Light"/>
              <a:cs typeface="Calibri Ligh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3425" y="5557413"/>
            <a:ext cx="2178223" cy="61895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65319" y="3396386"/>
            <a:ext cx="2261361" cy="2237104"/>
          </a:xfrm>
          <a:prstGeom prst="rect">
            <a:avLst/>
          </a:prstGeom>
        </p:spPr>
      </p:pic>
      <p:sp>
        <p:nvSpPr>
          <p:cNvPr id="6" name="object 3">
            <a:extLst>
              <a:ext uri="{FF2B5EF4-FFF2-40B4-BE49-F238E27FC236}">
                <a16:creationId xmlns:a16="http://schemas.microsoft.com/office/drawing/2014/main" id="{68EE86DC-0DC5-00AA-7B12-4FB30D2E1BBF}"/>
              </a:ext>
            </a:extLst>
          </p:cNvPr>
          <p:cNvSpPr txBox="1"/>
          <p:nvPr/>
        </p:nvSpPr>
        <p:spPr>
          <a:xfrm>
            <a:off x="4193222" y="6176369"/>
            <a:ext cx="3805554" cy="6070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lang="pt-BR" sz="2000" b="1" dirty="0">
                <a:latin typeface="Calibri"/>
                <a:cs typeface="Calibri"/>
              </a:rPr>
              <a:t>Prof. Dr. Luiz Augusto Melo Pereira</a:t>
            </a:r>
            <a:endParaRPr sz="2000" b="1" dirty="0">
              <a:latin typeface="Calibri"/>
              <a:cs typeface="Calibri"/>
            </a:endParaRPr>
          </a:p>
          <a:p>
            <a:pPr marL="12700" algn="ctr">
              <a:lnSpc>
                <a:spcPct val="100000"/>
              </a:lnSpc>
              <a:spcBef>
                <a:spcPts val="10"/>
              </a:spcBef>
            </a:pPr>
            <a:r>
              <a:rPr lang="pt-BR" spc="-10" dirty="0">
                <a:latin typeface="Calibri"/>
                <a:cs typeface="Calibri"/>
                <a:hlinkClick r:id="rId4"/>
              </a:rPr>
              <a:t>luiz</a:t>
            </a:r>
            <a:r>
              <a:rPr lang="pt-BR" sz="1800" spc="-10" dirty="0">
                <a:latin typeface="Calibri"/>
                <a:cs typeface="Calibri"/>
                <a:hlinkClick r:id="rId4"/>
              </a:rPr>
              <a:t>.melo@inatel.br</a:t>
            </a:r>
            <a:endParaRPr lang="pt-BR" sz="1800" dirty="0">
              <a:latin typeface="Calibri"/>
              <a:cs typeface="Calibri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48DCEF0-657D-DD7F-C465-CBDF6E0E3D11}"/>
              </a:ext>
            </a:extLst>
          </p:cNvPr>
          <p:cNvSpPr txBox="1"/>
          <p:nvPr/>
        </p:nvSpPr>
        <p:spPr>
          <a:xfrm>
            <a:off x="7137790" y="3972006"/>
            <a:ext cx="512512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latin typeface="Calibri"/>
                <a:cs typeface="Calibri"/>
              </a:rPr>
              <a:t>Esse material foi desenvolvido e gentilmente cedido </a:t>
            </a:r>
          </a:p>
          <a:p>
            <a:r>
              <a:rPr lang="pt-BR" dirty="0">
                <a:latin typeface="Calibri"/>
                <a:cs typeface="Calibri"/>
              </a:rPr>
              <a:t>pelo Prof. Dr. Felipe Augusto Pereira de Figueiredo, </a:t>
            </a:r>
          </a:p>
          <a:p>
            <a:r>
              <a:rPr lang="pt-BR" dirty="0">
                <a:latin typeface="Calibri"/>
                <a:cs typeface="Calibri"/>
              </a:rPr>
              <a:t>do Inatel.</a:t>
            </a:r>
            <a:r>
              <a:rPr lang="pt-BR" sz="1800" spc="-10" dirty="0">
                <a:latin typeface="Calibri"/>
                <a:cs typeface="Calibri"/>
              </a:rPr>
              <a:t>(</a:t>
            </a:r>
            <a:r>
              <a:rPr lang="pt-BR" sz="1800" spc="-10" dirty="0">
                <a:latin typeface="Calibri"/>
                <a:cs typeface="Calibri"/>
                <a:hlinkClick r:id="rId5"/>
              </a:rPr>
              <a:t>felipe.figueiredo@inatel.br</a:t>
            </a:r>
            <a:r>
              <a:rPr lang="pt-BR" sz="1800" spc="-10" dirty="0">
                <a:latin typeface="Calibri"/>
                <a:cs typeface="Calibri"/>
              </a:rPr>
              <a:t>)</a:t>
            </a:r>
            <a:endParaRPr lang="pt-BR" sz="1800" dirty="0">
              <a:latin typeface="Calibri"/>
              <a:cs typeface="Calibri"/>
            </a:endParaRPr>
          </a:p>
          <a:p>
            <a:endParaRPr lang="pt-BR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A</a:t>
            </a:r>
            <a:r>
              <a:rPr spc="-5" dirty="0"/>
              <a:t> </a:t>
            </a:r>
            <a:r>
              <a:rPr spc="-10" dirty="0"/>
              <a:t>disciplina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3493"/>
            <a:ext cx="10794365" cy="3919220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1300" marR="5080" indent="-228600">
              <a:lnSpc>
                <a:spcPct val="90000"/>
              </a:lnSpc>
              <a:spcBef>
                <a:spcPts val="43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Curso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introdutório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onde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veremos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os</a:t>
            </a:r>
            <a:r>
              <a:rPr sz="2800" spc="-130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conceitos</a:t>
            </a:r>
            <a:r>
              <a:rPr sz="2800" b="1" i="1" spc="-9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básicos</a:t>
            </a:r>
            <a:r>
              <a:rPr sz="2800" b="1" i="1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funcionamento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vários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algoritmos</a:t>
            </a:r>
            <a:r>
              <a:rPr sz="2800" b="1" i="1" spc="-5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de</a:t>
            </a:r>
            <a:r>
              <a:rPr sz="2800" b="1" i="1" spc="-65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aprendizado</a:t>
            </a:r>
            <a:r>
              <a:rPr sz="2800" b="1" i="1" spc="-5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de</a:t>
            </a:r>
            <a:r>
              <a:rPr sz="2800" b="1" i="1" spc="-7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máquina</a:t>
            </a:r>
            <a:r>
              <a:rPr sz="2800" b="1" i="1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ou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inglês,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machine </a:t>
            </a:r>
            <a:r>
              <a:rPr sz="2800" b="1" i="1" dirty="0">
                <a:latin typeface="Calibri"/>
                <a:cs typeface="Calibri"/>
              </a:rPr>
              <a:t>learning</a:t>
            </a:r>
            <a:r>
              <a:rPr sz="2800" b="1" i="1" spc="-1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(ML).</a:t>
            </a:r>
            <a:endParaRPr sz="2800" dirty="0">
              <a:latin typeface="Calibri"/>
              <a:cs typeface="Calibri"/>
            </a:endParaRPr>
          </a:p>
          <a:p>
            <a:pPr marL="241300" marR="476884" indent="-228600">
              <a:lnSpc>
                <a:spcPts val="3020"/>
              </a:lnSpc>
              <a:spcBef>
                <a:spcPts val="105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Não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nos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aprofundaremos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nos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conceitos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matemáticos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envolvidos,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mas </a:t>
            </a:r>
            <a:r>
              <a:rPr sz="2800" spc="-20" dirty="0">
                <a:latin typeface="Calibri"/>
                <a:cs typeface="Calibri"/>
              </a:rPr>
              <a:t>focaremos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uso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aplicação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prática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algoritmos.</a:t>
            </a:r>
            <a:endParaRPr sz="2800" dirty="0">
              <a:latin typeface="Calibri"/>
              <a:cs typeface="Calibri"/>
            </a:endParaRPr>
          </a:p>
          <a:p>
            <a:pPr marL="241300" marR="20320" indent="-228600">
              <a:lnSpc>
                <a:spcPts val="3020"/>
              </a:lnSpc>
              <a:spcBef>
                <a:spcPts val="100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Porém,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necessário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vocês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conheçam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Python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(básico/intermediário), </a:t>
            </a:r>
            <a:r>
              <a:rPr sz="2800" dirty="0">
                <a:latin typeface="Calibri"/>
                <a:cs typeface="Calibri"/>
              </a:rPr>
              <a:t>conceitos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telecomunicações,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álgebra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30" dirty="0">
                <a:latin typeface="Calibri"/>
                <a:cs typeface="Calibri"/>
              </a:rPr>
              <a:t>linear,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cálculo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estatística.</a:t>
            </a:r>
            <a:endParaRPr sz="28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2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0" dirty="0">
                <a:latin typeface="Calibri"/>
                <a:cs typeface="Calibri"/>
              </a:rPr>
              <a:t>Todo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material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curso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está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disponibilizado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GitHub:</a:t>
            </a:r>
            <a:endParaRPr sz="2800" dirty="0">
              <a:latin typeface="Calibri"/>
              <a:cs typeface="Calibri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2400" dirty="0">
                <a:hlinkClick r:id="rId2"/>
              </a:rPr>
              <a:t>https://github.com/luiz10ml/tp555-ml </a:t>
            </a:r>
            <a:endParaRPr lang="pt-BR" sz="2400" dirty="0"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Objetivo</a:t>
            </a:r>
            <a:r>
              <a:rPr spc="-35" dirty="0"/>
              <a:t> </a:t>
            </a:r>
            <a:r>
              <a:rPr dirty="0"/>
              <a:t>do</a:t>
            </a:r>
            <a:r>
              <a:rPr spc="-35" dirty="0"/>
              <a:t> </a:t>
            </a:r>
            <a:r>
              <a:rPr spc="-10" dirty="0"/>
              <a:t>curso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56830"/>
            <a:ext cx="7762240" cy="4868545"/>
          </a:xfrm>
          <a:prstGeom prst="rect">
            <a:avLst/>
          </a:prstGeom>
        </p:spPr>
        <p:txBody>
          <a:bodyPr vert="horz" wrap="square" lIns="0" tIns="48894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384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objetivo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principal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curso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apresentar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à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vocês</a:t>
            </a:r>
            <a:endParaRPr sz="28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45"/>
              </a:spcBef>
              <a:buFont typeface="Wingdings"/>
              <a:buChar char="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os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conceitos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fundamentais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teoria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por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trás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ML.</a:t>
            </a:r>
            <a:endParaRPr sz="24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15"/>
              </a:spcBef>
              <a:buFont typeface="Wingdings"/>
              <a:buChar char="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um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conjunto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ferramentas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(i.e.,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algoritmos)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25" dirty="0">
                <a:latin typeface="Calibri"/>
                <a:cs typeface="Calibri"/>
              </a:rPr>
              <a:t> ML.</a:t>
            </a:r>
            <a:endParaRPr sz="24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3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Ao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final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curso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vocês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devem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ser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capazes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de</a:t>
            </a:r>
            <a:endParaRPr sz="28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40"/>
              </a:spcBef>
              <a:buFont typeface="Wingdings"/>
              <a:buChar char="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Entender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discutir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sobre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principais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algoritmos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25" dirty="0">
                <a:latin typeface="Calibri"/>
                <a:cs typeface="Calibri"/>
              </a:rPr>
              <a:t> ML.</a:t>
            </a:r>
            <a:endParaRPr sz="24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09"/>
              </a:spcBef>
              <a:buFont typeface="Wingdings"/>
              <a:buChar char="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Compreender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terminologia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utilizada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área.</a:t>
            </a:r>
            <a:endParaRPr sz="24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15"/>
              </a:spcBef>
              <a:buFont typeface="Wingdings"/>
              <a:buChar char="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Aplicar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algoritmos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ML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para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resolução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problemas.</a:t>
            </a:r>
            <a:endParaRPr sz="24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15"/>
              </a:spcBef>
              <a:buFont typeface="Wingdings"/>
              <a:buChar char="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Analisar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entender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novos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algoritmos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25" dirty="0">
                <a:latin typeface="Calibri"/>
                <a:cs typeface="Calibri"/>
              </a:rPr>
              <a:t> ML.</a:t>
            </a:r>
            <a:endParaRPr sz="24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04"/>
              </a:spcBef>
              <a:buFont typeface="Wingdings"/>
              <a:buChar char="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Criar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seus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próprios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projetos.</a:t>
            </a:r>
            <a:endParaRPr sz="24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19"/>
              </a:spcBef>
              <a:buFont typeface="Wingdings"/>
              <a:buChar char="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Compreender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artigos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científicos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utilizam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ML.</a:t>
            </a:r>
            <a:endParaRPr sz="2400" dirty="0">
              <a:latin typeface="Calibri"/>
              <a:cs typeface="Calibri"/>
            </a:endParaRPr>
          </a:p>
          <a:p>
            <a:pPr marL="698500" marR="5080" lvl="1" indent="-228600">
              <a:lnSpc>
                <a:spcPts val="2590"/>
              </a:lnSpc>
              <a:spcBef>
                <a:spcPts val="540"/>
              </a:spcBef>
              <a:buFont typeface="Wingdings"/>
              <a:buChar char="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Realizar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pesquisa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envolva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ML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discutir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resultados obtidos.</a:t>
            </a:r>
            <a:endParaRPr sz="24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77401" y="4583176"/>
            <a:ext cx="3014599" cy="211023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679560" y="132969"/>
            <a:ext cx="3512439" cy="162013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4770"/>
            <a:ext cx="1043051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Avaliação</a:t>
            </a:r>
            <a:r>
              <a:rPr spc="-70" dirty="0"/>
              <a:t> </a:t>
            </a:r>
            <a:r>
              <a:rPr dirty="0"/>
              <a:t>do</a:t>
            </a:r>
            <a:r>
              <a:rPr spc="-55" dirty="0"/>
              <a:t> </a:t>
            </a:r>
            <a:r>
              <a:rPr spc="-10" dirty="0"/>
              <a:t>Curso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1001" y="990600"/>
            <a:ext cx="8185784" cy="56934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indent="-228600">
              <a:lnSpc>
                <a:spcPts val="3115"/>
              </a:lnSpc>
              <a:spcBef>
                <a:spcPts val="105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2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Provas</a:t>
            </a:r>
            <a:endParaRPr sz="2600" dirty="0">
              <a:latin typeface="Calibri"/>
              <a:cs typeface="Calibri"/>
            </a:endParaRPr>
          </a:p>
          <a:p>
            <a:pPr marL="698500" lvl="1" indent="-229235">
              <a:lnSpc>
                <a:spcPts val="2620"/>
              </a:lnSpc>
              <a:buFont typeface="Courier New"/>
              <a:buChar char="o"/>
              <a:tabLst>
                <a:tab pos="699135" algn="l"/>
              </a:tabLst>
            </a:pPr>
            <a:r>
              <a:rPr sz="2200" dirty="0">
                <a:latin typeface="Calibri"/>
                <a:cs typeface="Calibri"/>
              </a:rPr>
              <a:t>Cada</a:t>
            </a:r>
            <a:r>
              <a:rPr sz="2200" spc="-9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uma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valendo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35%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da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nota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(datas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ainda</a:t>
            </a:r>
            <a:r>
              <a:rPr sz="2200" spc="-9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serão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definidas).</a:t>
            </a:r>
            <a:endParaRPr sz="2200" dirty="0">
              <a:latin typeface="Calibri"/>
              <a:cs typeface="Calibri"/>
            </a:endParaRPr>
          </a:p>
          <a:p>
            <a:pPr marL="698500" lvl="1" indent="-229235">
              <a:lnSpc>
                <a:spcPts val="2620"/>
              </a:lnSpc>
              <a:buFont typeface="Courier New"/>
              <a:buChar char="o"/>
              <a:tabLst>
                <a:tab pos="699135" algn="l"/>
              </a:tabLst>
            </a:pPr>
            <a:r>
              <a:rPr sz="2200" dirty="0">
                <a:latin typeface="Calibri"/>
                <a:cs typeface="Calibri"/>
              </a:rPr>
              <a:t>Devem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ser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resolvidas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individualmente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durante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aula.</a:t>
            </a:r>
            <a:endParaRPr sz="2200" dirty="0">
              <a:latin typeface="Calibri"/>
              <a:cs typeface="Calibri"/>
            </a:endParaRPr>
          </a:p>
          <a:p>
            <a:pPr marL="241300" indent="-241300">
              <a:lnSpc>
                <a:spcPts val="3110"/>
              </a:lnSpc>
              <a:spcBef>
                <a:spcPts val="370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1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Projeto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final</a:t>
            </a:r>
            <a:endParaRPr sz="2600" dirty="0">
              <a:latin typeface="Calibri"/>
              <a:cs typeface="Calibri"/>
            </a:endParaRPr>
          </a:p>
          <a:p>
            <a:pPr marL="698500" lvl="1" indent="-229235">
              <a:lnSpc>
                <a:spcPts val="2620"/>
              </a:lnSpc>
              <a:buFont typeface="Courier New"/>
              <a:buChar char="o"/>
              <a:tabLst>
                <a:tab pos="699135" algn="l"/>
              </a:tabLst>
            </a:pPr>
            <a:r>
              <a:rPr lang="pt-BR" sz="2200" dirty="0">
                <a:latin typeface="Calibri"/>
                <a:cs typeface="Calibri"/>
              </a:rPr>
              <a:t>2</a:t>
            </a:r>
            <a:r>
              <a:rPr sz="2200" dirty="0">
                <a:latin typeface="Calibri"/>
                <a:cs typeface="Calibri"/>
              </a:rPr>
              <a:t>0%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da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nota.</a:t>
            </a:r>
            <a:endParaRPr sz="2200" dirty="0">
              <a:latin typeface="Calibri"/>
              <a:cs typeface="Calibri"/>
            </a:endParaRPr>
          </a:p>
          <a:p>
            <a:pPr marL="698500" lvl="1" indent="-229235">
              <a:lnSpc>
                <a:spcPts val="2615"/>
              </a:lnSpc>
              <a:buFont typeface="Courier New"/>
              <a:buChar char="o"/>
              <a:tabLst>
                <a:tab pos="699135" algn="l"/>
              </a:tabLst>
            </a:pPr>
            <a:r>
              <a:rPr sz="2200" dirty="0">
                <a:latin typeface="Calibri"/>
                <a:cs typeface="Calibri"/>
              </a:rPr>
              <a:t>Pode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ser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feito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em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grupo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no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máximo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2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alunos.</a:t>
            </a:r>
            <a:endParaRPr sz="2200" dirty="0">
              <a:latin typeface="Calibri"/>
              <a:cs typeface="Calibri"/>
            </a:endParaRPr>
          </a:p>
          <a:p>
            <a:pPr marL="698500" lvl="1" indent="-229235">
              <a:lnSpc>
                <a:spcPts val="2610"/>
              </a:lnSpc>
              <a:buFont typeface="Courier New"/>
              <a:buChar char="o"/>
              <a:tabLst>
                <a:tab pos="699135" algn="l"/>
              </a:tabLst>
            </a:pPr>
            <a:r>
              <a:rPr sz="2200" spc="-45" dirty="0">
                <a:latin typeface="Calibri"/>
                <a:cs typeface="Calibri"/>
              </a:rPr>
              <a:t>Tema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deve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ser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escolhido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por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vocês.</a:t>
            </a:r>
            <a:endParaRPr sz="2200" dirty="0">
              <a:latin typeface="Calibri"/>
              <a:cs typeface="Calibri"/>
            </a:endParaRPr>
          </a:p>
          <a:p>
            <a:pPr marL="698500" lvl="1" indent="-229235">
              <a:lnSpc>
                <a:spcPts val="2610"/>
              </a:lnSpc>
              <a:buFont typeface="Courier New"/>
              <a:buChar char="o"/>
              <a:tabLst>
                <a:tab pos="699135" algn="l"/>
              </a:tabLst>
            </a:pPr>
            <a:r>
              <a:rPr sz="2200" spc="-10" dirty="0">
                <a:latin typeface="Calibri"/>
                <a:cs typeface="Calibri"/>
              </a:rPr>
              <a:t>Vejam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descrição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detalhada</a:t>
            </a:r>
            <a:r>
              <a:rPr sz="2200" spc="-8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no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Github.</a:t>
            </a:r>
            <a:endParaRPr sz="2200" dirty="0">
              <a:latin typeface="Calibri"/>
              <a:cs typeface="Calibri"/>
            </a:endParaRPr>
          </a:p>
          <a:p>
            <a:pPr marL="698500" lvl="1" indent="-229235">
              <a:lnSpc>
                <a:spcPts val="2630"/>
              </a:lnSpc>
              <a:buFont typeface="Courier New"/>
              <a:buChar char="o"/>
              <a:tabLst>
                <a:tab pos="699135" algn="l"/>
              </a:tabLst>
            </a:pPr>
            <a:r>
              <a:rPr sz="2200" spc="-10" dirty="0">
                <a:latin typeface="Calibri"/>
                <a:cs typeface="Calibri"/>
              </a:rPr>
              <a:t>Entrega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da</a:t>
            </a:r>
            <a:r>
              <a:rPr sz="2200" spc="-8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descrição</a:t>
            </a:r>
            <a:r>
              <a:rPr sz="2200" b="1" i="1" spc="-75" dirty="0">
                <a:latin typeface="Calibri"/>
                <a:cs typeface="Calibri"/>
              </a:rPr>
              <a:t> </a:t>
            </a:r>
            <a:r>
              <a:rPr sz="2200" dirty="0" err="1">
                <a:latin typeface="Calibri"/>
                <a:cs typeface="Calibri"/>
              </a:rPr>
              <a:t>até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0</a:t>
            </a:r>
            <a:r>
              <a:rPr lang="pt-BR" sz="2200" spc="-10" dirty="0">
                <a:latin typeface="Calibri"/>
                <a:cs typeface="Calibri"/>
              </a:rPr>
              <a:t>6</a:t>
            </a:r>
            <a:r>
              <a:rPr sz="2200" spc="-10" dirty="0">
                <a:latin typeface="Calibri"/>
                <a:cs typeface="Calibri"/>
              </a:rPr>
              <a:t>/0</a:t>
            </a:r>
            <a:r>
              <a:rPr lang="pt-BR" sz="2200" spc="-10" dirty="0">
                <a:latin typeface="Calibri"/>
                <a:cs typeface="Calibri"/>
              </a:rPr>
              <a:t>4</a:t>
            </a:r>
            <a:r>
              <a:rPr sz="2200" spc="-10" dirty="0">
                <a:latin typeface="Calibri"/>
                <a:cs typeface="Calibri"/>
              </a:rPr>
              <a:t>.</a:t>
            </a:r>
            <a:endParaRPr lang="pt-BR" sz="2200" spc="-10" dirty="0">
              <a:latin typeface="Calibri"/>
              <a:cs typeface="Calibri"/>
            </a:endParaRPr>
          </a:p>
          <a:p>
            <a:pPr marL="241300" indent="-241300">
              <a:lnSpc>
                <a:spcPts val="3110"/>
              </a:lnSpc>
              <a:spcBef>
                <a:spcPts val="370"/>
              </a:spcBef>
              <a:buFont typeface="Arial"/>
              <a:buChar char="•"/>
              <a:tabLst>
                <a:tab pos="241300" algn="l"/>
              </a:tabLst>
            </a:pPr>
            <a:r>
              <a:rPr lang="pt-BR" sz="2600" spc="-65" dirty="0">
                <a:latin typeface="Calibri"/>
                <a:cs typeface="Calibri"/>
              </a:rPr>
              <a:t>4 Estudos Dirigidos</a:t>
            </a:r>
            <a:endParaRPr lang="pt-BR" sz="2600" dirty="0">
              <a:latin typeface="Calibri"/>
              <a:cs typeface="Calibri"/>
            </a:endParaRPr>
          </a:p>
          <a:p>
            <a:pPr marL="698500" lvl="1" indent="-229235">
              <a:lnSpc>
                <a:spcPts val="2620"/>
              </a:lnSpc>
              <a:buFont typeface="Courier New"/>
              <a:buChar char="o"/>
              <a:tabLst>
                <a:tab pos="699135" algn="l"/>
              </a:tabLst>
            </a:pPr>
            <a:r>
              <a:rPr lang="pt-BR" sz="2200" dirty="0">
                <a:latin typeface="Calibri"/>
                <a:cs typeface="Calibri"/>
              </a:rPr>
              <a:t>10%</a:t>
            </a:r>
            <a:r>
              <a:rPr lang="pt-BR" sz="2200" spc="-35" dirty="0">
                <a:latin typeface="Calibri"/>
                <a:cs typeface="Calibri"/>
              </a:rPr>
              <a:t> </a:t>
            </a:r>
            <a:r>
              <a:rPr lang="pt-BR" sz="2200" dirty="0">
                <a:latin typeface="Calibri"/>
                <a:cs typeface="Calibri"/>
              </a:rPr>
              <a:t>da</a:t>
            </a:r>
            <a:r>
              <a:rPr lang="pt-BR" sz="2200" spc="-40" dirty="0">
                <a:latin typeface="Calibri"/>
                <a:cs typeface="Calibri"/>
              </a:rPr>
              <a:t> </a:t>
            </a:r>
            <a:r>
              <a:rPr lang="pt-BR" sz="2200" spc="-10" dirty="0">
                <a:latin typeface="Calibri"/>
                <a:cs typeface="Calibri"/>
              </a:rPr>
              <a:t>nota.</a:t>
            </a:r>
            <a:endParaRPr lang="pt-BR" sz="2200" dirty="0">
              <a:latin typeface="Calibri"/>
              <a:cs typeface="Calibri"/>
            </a:endParaRPr>
          </a:p>
          <a:p>
            <a:pPr marL="698500" lvl="1" indent="-229235">
              <a:lnSpc>
                <a:spcPts val="2610"/>
              </a:lnSpc>
              <a:buFont typeface="Courier New"/>
              <a:buChar char="o"/>
              <a:tabLst>
                <a:tab pos="699135" algn="l"/>
              </a:tabLst>
            </a:pPr>
            <a:r>
              <a:rPr lang="pt-BR" sz="2200" spc="-10" dirty="0">
                <a:latin typeface="Calibri"/>
                <a:cs typeface="Calibri"/>
              </a:rPr>
              <a:t>Entrega pelo </a:t>
            </a:r>
            <a:r>
              <a:rPr lang="pt-BR" sz="2200" spc="-10" dirty="0" err="1">
                <a:latin typeface="Calibri"/>
                <a:cs typeface="Calibri"/>
              </a:rPr>
              <a:t>Github</a:t>
            </a:r>
            <a:r>
              <a:rPr lang="pt-BR" sz="2200" spc="-10" dirty="0">
                <a:latin typeface="Calibri"/>
                <a:cs typeface="Calibri"/>
              </a:rPr>
              <a:t>.</a:t>
            </a:r>
            <a:endParaRPr lang="pt-BR" sz="2200" dirty="0">
              <a:latin typeface="Calibri"/>
              <a:cs typeface="Calibri"/>
            </a:endParaRPr>
          </a:p>
          <a:p>
            <a:pPr marL="241300" marR="307975" indent="-228600">
              <a:lnSpc>
                <a:spcPct val="80000"/>
              </a:lnSpc>
              <a:spcBef>
                <a:spcPts val="980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 err="1">
                <a:latin typeface="Calibri"/>
                <a:cs typeface="Calibri"/>
              </a:rPr>
              <a:t>Avaliação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parcial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do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projeto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final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ocorrerá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ao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final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do </a:t>
            </a:r>
            <a:r>
              <a:rPr sz="2600" dirty="0">
                <a:latin typeface="Calibri"/>
                <a:cs typeface="Calibri"/>
              </a:rPr>
              <a:t>segundo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mês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curso.</a:t>
            </a:r>
            <a:endParaRPr sz="2600" dirty="0">
              <a:latin typeface="Calibri"/>
              <a:cs typeface="Calibri"/>
            </a:endParaRPr>
          </a:p>
          <a:p>
            <a:pPr marL="698500" lvl="1" indent="-229235">
              <a:lnSpc>
                <a:spcPts val="2370"/>
              </a:lnSpc>
              <a:buFont typeface="Courier New"/>
              <a:buChar char="o"/>
              <a:tabLst>
                <a:tab pos="699135" algn="l"/>
              </a:tabLst>
            </a:pPr>
            <a:r>
              <a:rPr sz="2200" b="1" spc="-20" dirty="0">
                <a:latin typeface="Calibri"/>
                <a:cs typeface="Calibri"/>
              </a:rPr>
              <a:t>Entregável</a:t>
            </a:r>
            <a:r>
              <a:rPr sz="2200" spc="-20" dirty="0">
                <a:latin typeface="Calibri"/>
                <a:cs typeface="Calibri"/>
              </a:rPr>
              <a:t>: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relatório</a:t>
            </a:r>
            <a:r>
              <a:rPr sz="2200" spc="-8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descrevendo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evolução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do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projeto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spc="-50" dirty="0">
                <a:latin typeface="Calibri"/>
                <a:cs typeface="Calibri"/>
              </a:rPr>
              <a:t>e</a:t>
            </a:r>
            <a:endParaRPr sz="2200" dirty="0">
              <a:latin typeface="Calibri"/>
              <a:cs typeface="Calibri"/>
            </a:endParaRPr>
          </a:p>
          <a:p>
            <a:pPr marL="698500">
              <a:lnSpc>
                <a:spcPts val="2375"/>
              </a:lnSpc>
            </a:pPr>
            <a:r>
              <a:rPr sz="2200" spc="-10" dirty="0">
                <a:latin typeface="Calibri"/>
                <a:cs typeface="Calibri"/>
              </a:rPr>
              <a:t>contendo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resultados</a:t>
            </a:r>
            <a:r>
              <a:rPr sz="2200" spc="-8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iniciais.</a:t>
            </a:r>
            <a:endParaRPr sz="22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23884" y="64807"/>
            <a:ext cx="2514600" cy="180860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68484" y="2439923"/>
            <a:ext cx="2533650" cy="180975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904985" y="4880838"/>
            <a:ext cx="2598674" cy="145529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Motivação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65496" y="1449399"/>
            <a:ext cx="6734175" cy="5106035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241300" marR="398145" indent="-229235">
              <a:lnSpc>
                <a:spcPts val="2690"/>
              </a:lnSpc>
              <a:spcBef>
                <a:spcPts val="745"/>
              </a:spcBef>
              <a:buFont typeface="Arial"/>
              <a:buChar char="•"/>
              <a:tabLst>
                <a:tab pos="241935" algn="l"/>
              </a:tabLst>
            </a:pPr>
            <a:r>
              <a:rPr sz="2800" b="1" spc="-10" dirty="0">
                <a:latin typeface="Calibri"/>
                <a:cs typeface="Calibri"/>
              </a:rPr>
              <a:t>Emprego</a:t>
            </a:r>
            <a:r>
              <a:rPr sz="2800" spc="-10" dirty="0">
                <a:latin typeface="Calibri"/>
                <a:cs typeface="Calibri"/>
              </a:rPr>
              <a:t>: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grandes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empresas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têm</a:t>
            </a:r>
            <a:r>
              <a:rPr sz="2800" spc="-1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usado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IA </a:t>
            </a:r>
            <a:r>
              <a:rPr sz="2800" spc="-20" dirty="0">
                <a:latin typeface="Calibri"/>
                <a:cs typeface="Calibri"/>
              </a:rPr>
              <a:t>para</a:t>
            </a:r>
            <a:endParaRPr sz="2800" dirty="0">
              <a:latin typeface="Calibri"/>
              <a:cs typeface="Calibri"/>
            </a:endParaRPr>
          </a:p>
          <a:p>
            <a:pPr marL="698500" lvl="1" indent="-229235">
              <a:lnSpc>
                <a:spcPts val="2805"/>
              </a:lnSpc>
              <a:buFont typeface="Wingdings"/>
              <a:buChar char="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Automatizar</a:t>
            </a:r>
            <a:r>
              <a:rPr sz="2400" spc="-11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tarefas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repetitivas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demoradas.</a:t>
            </a:r>
            <a:endParaRPr sz="2400" dirty="0">
              <a:latin typeface="Calibri"/>
              <a:cs typeface="Calibri"/>
            </a:endParaRPr>
          </a:p>
          <a:p>
            <a:pPr marL="698500" marR="864235" lvl="1" indent="-228600">
              <a:lnSpc>
                <a:spcPts val="2300"/>
              </a:lnSpc>
              <a:spcBef>
                <a:spcPts val="520"/>
              </a:spcBef>
              <a:buFont typeface="Wingdings"/>
              <a:buChar char="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Processar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grandes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volumes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dados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para </a:t>
            </a:r>
            <a:r>
              <a:rPr sz="2400" dirty="0">
                <a:latin typeface="Calibri"/>
                <a:cs typeface="Calibri"/>
              </a:rPr>
              <a:t>extração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i="1" spc="-10" dirty="0">
                <a:latin typeface="Calibri"/>
                <a:cs typeface="Calibri"/>
              </a:rPr>
              <a:t>insights</a:t>
            </a:r>
            <a:r>
              <a:rPr sz="2400" spc="-10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698500" marR="691515" lvl="1" indent="-228600">
              <a:lnSpc>
                <a:spcPct val="80000"/>
              </a:lnSpc>
              <a:spcBef>
                <a:spcPts val="530"/>
              </a:spcBef>
              <a:buFont typeface="Wingdings"/>
              <a:buChar char="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Criar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experiências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personalizadas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para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seus </a:t>
            </a:r>
            <a:r>
              <a:rPr sz="2400" spc="-10" dirty="0">
                <a:latin typeface="Calibri"/>
                <a:cs typeface="Calibri"/>
              </a:rPr>
              <a:t>clientes.</a:t>
            </a:r>
            <a:endParaRPr sz="2400" dirty="0">
              <a:latin typeface="Calibri"/>
              <a:cs typeface="Calibri"/>
            </a:endParaRPr>
          </a:p>
          <a:p>
            <a:pPr marL="698500" lvl="1" indent="-229235">
              <a:lnSpc>
                <a:spcPts val="2810"/>
              </a:lnSpc>
              <a:buFont typeface="Wingdings"/>
              <a:buChar char=""/>
              <a:tabLst>
                <a:tab pos="699135" algn="l"/>
              </a:tabLst>
            </a:pPr>
            <a:r>
              <a:rPr sz="2400" spc="-20" dirty="0">
                <a:latin typeface="Calibri"/>
                <a:cs typeface="Calibri"/>
              </a:rPr>
              <a:t>etc.</a:t>
            </a:r>
            <a:endParaRPr sz="2400" dirty="0">
              <a:latin typeface="Calibri"/>
              <a:cs typeface="Calibri"/>
            </a:endParaRPr>
          </a:p>
          <a:p>
            <a:pPr marL="241300" marR="645160" indent="-229235">
              <a:lnSpc>
                <a:spcPts val="2690"/>
              </a:lnSpc>
              <a:spcBef>
                <a:spcPts val="955"/>
              </a:spcBef>
              <a:buFont typeface="Arial"/>
              <a:buChar char="•"/>
              <a:tabLst>
                <a:tab pos="241935" algn="l"/>
              </a:tabLst>
            </a:pPr>
            <a:r>
              <a:rPr sz="2800" spc="-25" dirty="0">
                <a:latin typeface="Calibri"/>
                <a:cs typeface="Calibri"/>
              </a:rPr>
              <a:t>Tudo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isso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para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aumentar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eficiência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dos </a:t>
            </a:r>
            <a:r>
              <a:rPr sz="2800" spc="-10" dirty="0">
                <a:latin typeface="Calibri"/>
                <a:cs typeface="Calibri"/>
              </a:rPr>
              <a:t>processos,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reduzir</a:t>
            </a:r>
            <a:r>
              <a:rPr sz="2800" spc="-1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custos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e, </a:t>
            </a:r>
            <a:r>
              <a:rPr sz="2800" spc="-20" dirty="0">
                <a:latin typeface="Calibri"/>
                <a:cs typeface="Calibri"/>
              </a:rPr>
              <a:t>consequentemente,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aumentar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lucros.</a:t>
            </a:r>
            <a:endParaRPr sz="2800" dirty="0">
              <a:latin typeface="Calibri"/>
              <a:cs typeface="Calibri"/>
            </a:endParaRPr>
          </a:p>
          <a:p>
            <a:pPr marL="241300" marR="5080" indent="-229235">
              <a:lnSpc>
                <a:spcPct val="80000"/>
              </a:lnSpc>
              <a:spcBef>
                <a:spcPts val="1015"/>
              </a:spcBef>
              <a:buFont typeface="Arial"/>
              <a:buChar char="•"/>
              <a:tabLst>
                <a:tab pos="241935" algn="l"/>
              </a:tabLst>
            </a:pPr>
            <a:r>
              <a:rPr sz="2800" dirty="0">
                <a:latin typeface="Calibri"/>
                <a:cs typeface="Calibri"/>
              </a:rPr>
              <a:t>Além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empresas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tecnologia</a:t>
            </a:r>
            <a:r>
              <a:rPr sz="2800" spc="-10" dirty="0">
                <a:latin typeface="Calibri"/>
                <a:cs typeface="Calibri"/>
              </a:rPr>
              <a:t>,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é </a:t>
            </a:r>
            <a:r>
              <a:rPr sz="2800" spc="-10" dirty="0">
                <a:latin typeface="Calibri"/>
                <a:cs typeface="Calibri"/>
              </a:rPr>
              <a:t>empregada</a:t>
            </a:r>
            <a:r>
              <a:rPr sz="2800" spc="-1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em</a:t>
            </a:r>
            <a:r>
              <a:rPr sz="2800" spc="-1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empresas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telecom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saúde</a:t>
            </a:r>
            <a:r>
              <a:rPr sz="2800" spc="-10" dirty="0">
                <a:latin typeface="Calibri"/>
                <a:cs typeface="Calibri"/>
              </a:rPr>
              <a:t>,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finanças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automação</a:t>
            </a:r>
            <a:r>
              <a:rPr sz="2800" b="1" i="1" spc="-9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muitas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outras.</a:t>
            </a:r>
            <a:endParaRPr sz="28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83110" y="2246949"/>
            <a:ext cx="1728006" cy="61262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8769" y="4299453"/>
            <a:ext cx="1665063" cy="51637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57705" y="5360873"/>
            <a:ext cx="1564258" cy="62572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079359" y="3349858"/>
            <a:ext cx="2090253" cy="454943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548944" y="2001685"/>
            <a:ext cx="646564" cy="746596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166236" y="4391533"/>
            <a:ext cx="1684019" cy="455168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93471" y="3156508"/>
            <a:ext cx="2350897" cy="541604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82943" y="2098967"/>
            <a:ext cx="1877568" cy="66937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Motivação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1300" marR="5080" indent="-228600">
              <a:lnSpc>
                <a:spcPct val="90000"/>
              </a:lnSpc>
              <a:spcBef>
                <a:spcPts val="430"/>
              </a:spcBef>
              <a:buFont typeface="Arial"/>
              <a:buChar char="•"/>
              <a:tabLst>
                <a:tab pos="241300" algn="l"/>
              </a:tabLst>
            </a:pPr>
            <a:r>
              <a:rPr b="1" dirty="0">
                <a:latin typeface="Calibri"/>
                <a:cs typeface="Calibri"/>
              </a:rPr>
              <a:t>Salário</a:t>
            </a:r>
            <a:r>
              <a:rPr dirty="0"/>
              <a:t>:</a:t>
            </a:r>
            <a:r>
              <a:rPr spc="-70" dirty="0"/>
              <a:t> </a:t>
            </a:r>
            <a:r>
              <a:rPr dirty="0"/>
              <a:t>como</a:t>
            </a:r>
            <a:r>
              <a:rPr spc="-80" dirty="0"/>
              <a:t> </a:t>
            </a:r>
            <a:r>
              <a:rPr dirty="0"/>
              <a:t>as</a:t>
            </a:r>
            <a:r>
              <a:rPr spc="-100" dirty="0"/>
              <a:t> </a:t>
            </a:r>
            <a:r>
              <a:rPr dirty="0"/>
              <a:t>empresas</a:t>
            </a:r>
            <a:r>
              <a:rPr spc="-70" dirty="0"/>
              <a:t> </a:t>
            </a:r>
            <a:r>
              <a:rPr dirty="0"/>
              <a:t>têm</a:t>
            </a:r>
            <a:r>
              <a:rPr spc="-105" dirty="0"/>
              <a:t> </a:t>
            </a:r>
            <a:r>
              <a:rPr spc="-25" dirty="0"/>
              <a:t>se </a:t>
            </a:r>
            <a:r>
              <a:rPr dirty="0"/>
              <a:t>apoiado</a:t>
            </a:r>
            <a:r>
              <a:rPr spc="-45" dirty="0"/>
              <a:t> </a:t>
            </a:r>
            <a:r>
              <a:rPr dirty="0"/>
              <a:t>mais</a:t>
            </a:r>
            <a:r>
              <a:rPr spc="-45" dirty="0"/>
              <a:t> </a:t>
            </a:r>
            <a:r>
              <a:rPr dirty="0"/>
              <a:t>e</a:t>
            </a:r>
            <a:r>
              <a:rPr spc="-50" dirty="0"/>
              <a:t> </a:t>
            </a:r>
            <a:r>
              <a:rPr dirty="0"/>
              <a:t>mais</a:t>
            </a:r>
            <a:r>
              <a:rPr spc="-45" dirty="0"/>
              <a:t> </a:t>
            </a:r>
            <a:r>
              <a:rPr dirty="0"/>
              <a:t>em</a:t>
            </a:r>
            <a:r>
              <a:rPr spc="-50" dirty="0"/>
              <a:t> </a:t>
            </a:r>
            <a:r>
              <a:rPr dirty="0"/>
              <a:t>IA</a:t>
            </a:r>
            <a:r>
              <a:rPr spc="-45" dirty="0"/>
              <a:t> </a:t>
            </a:r>
            <a:r>
              <a:rPr spc="-20" dirty="0"/>
              <a:t>para </a:t>
            </a:r>
            <a:r>
              <a:rPr spc="-10" dirty="0"/>
              <a:t>aumentar</a:t>
            </a:r>
            <a:r>
              <a:rPr spc="-80" dirty="0"/>
              <a:t> </a:t>
            </a:r>
            <a:r>
              <a:rPr dirty="0"/>
              <a:t>seus</a:t>
            </a:r>
            <a:r>
              <a:rPr spc="-65" dirty="0"/>
              <a:t> </a:t>
            </a:r>
            <a:r>
              <a:rPr dirty="0"/>
              <a:t>lucros,</a:t>
            </a:r>
            <a:r>
              <a:rPr spc="-60" dirty="0"/>
              <a:t> </a:t>
            </a:r>
            <a:r>
              <a:rPr dirty="0"/>
              <a:t>elas</a:t>
            </a:r>
            <a:r>
              <a:rPr spc="-90" dirty="0"/>
              <a:t> </a:t>
            </a:r>
            <a:r>
              <a:rPr dirty="0"/>
              <a:t>têm</a:t>
            </a:r>
            <a:r>
              <a:rPr spc="-85" dirty="0"/>
              <a:t> </a:t>
            </a:r>
            <a:r>
              <a:rPr dirty="0"/>
              <a:t>tido</a:t>
            </a:r>
            <a:r>
              <a:rPr spc="-80" dirty="0"/>
              <a:t> </a:t>
            </a:r>
            <a:r>
              <a:rPr spc="-25" dirty="0"/>
              <a:t>uma </a:t>
            </a:r>
            <a:r>
              <a:rPr dirty="0"/>
              <a:t>demanda</a:t>
            </a:r>
            <a:r>
              <a:rPr spc="-80" dirty="0"/>
              <a:t> </a:t>
            </a:r>
            <a:r>
              <a:rPr spc="-10" dirty="0"/>
              <a:t>crescente</a:t>
            </a:r>
            <a:r>
              <a:rPr spc="-100" dirty="0"/>
              <a:t> </a:t>
            </a:r>
            <a:r>
              <a:rPr dirty="0"/>
              <a:t>por</a:t>
            </a:r>
            <a:r>
              <a:rPr spc="-90" dirty="0"/>
              <a:t> </a:t>
            </a:r>
            <a:r>
              <a:rPr spc="-10" dirty="0"/>
              <a:t>profissionais </a:t>
            </a:r>
            <a:r>
              <a:rPr dirty="0"/>
              <a:t>com</a:t>
            </a:r>
            <a:r>
              <a:rPr spc="-60" dirty="0"/>
              <a:t> </a:t>
            </a:r>
            <a:r>
              <a:rPr dirty="0"/>
              <a:t>esse</a:t>
            </a:r>
            <a:r>
              <a:rPr spc="-65" dirty="0"/>
              <a:t> </a:t>
            </a:r>
            <a:r>
              <a:rPr spc="-10" dirty="0"/>
              <a:t>conhecimento.</a:t>
            </a:r>
          </a:p>
          <a:p>
            <a:pPr marL="241300" marR="911860" indent="-228600">
              <a:lnSpc>
                <a:spcPct val="90000"/>
              </a:lnSpc>
              <a:spcBef>
                <a:spcPts val="1010"/>
              </a:spcBef>
              <a:buFont typeface="Arial"/>
              <a:buChar char="•"/>
              <a:tabLst>
                <a:tab pos="241300" algn="l"/>
              </a:tabLst>
            </a:pPr>
            <a:r>
              <a:rPr dirty="0"/>
              <a:t>Os</a:t>
            </a:r>
            <a:r>
              <a:rPr spc="-70" dirty="0"/>
              <a:t> </a:t>
            </a:r>
            <a:r>
              <a:rPr b="1" i="1" dirty="0">
                <a:solidFill>
                  <a:srgbClr val="00AF50"/>
                </a:solidFill>
                <a:latin typeface="Calibri"/>
                <a:cs typeface="Calibri"/>
              </a:rPr>
              <a:t>salários</a:t>
            </a:r>
            <a:r>
              <a:rPr b="1" i="1" spc="-7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b="1" i="1" dirty="0">
                <a:solidFill>
                  <a:srgbClr val="00AF50"/>
                </a:solidFill>
                <a:latin typeface="Calibri"/>
                <a:cs typeface="Calibri"/>
              </a:rPr>
              <a:t>são</a:t>
            </a:r>
            <a:r>
              <a:rPr b="1" i="1" spc="-7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b="1" i="1" dirty="0">
                <a:solidFill>
                  <a:srgbClr val="00AF50"/>
                </a:solidFill>
                <a:latin typeface="Calibri"/>
                <a:cs typeface="Calibri"/>
              </a:rPr>
              <a:t>muito</a:t>
            </a:r>
            <a:r>
              <a:rPr b="1" i="1" spc="-7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b="1" i="1" dirty="0">
                <a:solidFill>
                  <a:srgbClr val="00AF50"/>
                </a:solidFill>
                <a:latin typeface="Calibri"/>
                <a:cs typeface="Calibri"/>
              </a:rPr>
              <a:t>bons</a:t>
            </a:r>
            <a:r>
              <a:rPr dirty="0"/>
              <a:t>,</a:t>
            </a:r>
            <a:r>
              <a:rPr spc="-70" dirty="0"/>
              <a:t> </a:t>
            </a:r>
            <a:r>
              <a:rPr dirty="0"/>
              <a:t>pois</a:t>
            </a:r>
            <a:r>
              <a:rPr spc="-55" dirty="0"/>
              <a:t> </a:t>
            </a:r>
            <a:r>
              <a:rPr spc="-50" dirty="0"/>
              <a:t>a </a:t>
            </a:r>
            <a:r>
              <a:rPr b="1" dirty="0">
                <a:solidFill>
                  <a:srgbClr val="6F2F9F"/>
                </a:solidFill>
                <a:latin typeface="Calibri"/>
                <a:cs typeface="Calibri"/>
              </a:rPr>
              <a:t>demanda</a:t>
            </a:r>
            <a:r>
              <a:rPr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b="1" dirty="0">
                <a:solidFill>
                  <a:srgbClr val="6F2F9F"/>
                </a:solidFill>
                <a:latin typeface="Calibri"/>
                <a:cs typeface="Calibri"/>
              </a:rPr>
              <a:t>é</a:t>
            </a:r>
            <a:r>
              <a:rPr b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b="1" dirty="0">
                <a:solidFill>
                  <a:srgbClr val="6F2F9F"/>
                </a:solidFill>
                <a:latin typeface="Calibri"/>
                <a:cs typeface="Calibri"/>
              </a:rPr>
              <a:t>alta</a:t>
            </a:r>
            <a:r>
              <a:rPr dirty="0"/>
              <a:t>,</a:t>
            </a:r>
            <a:r>
              <a:rPr spc="-55" dirty="0"/>
              <a:t> </a:t>
            </a:r>
            <a:r>
              <a:rPr b="1" i="1" dirty="0">
                <a:solidFill>
                  <a:srgbClr val="6F2F9F"/>
                </a:solidFill>
                <a:latin typeface="Calibri"/>
                <a:cs typeface="Calibri"/>
              </a:rPr>
              <a:t>mas</a:t>
            </a:r>
            <a:r>
              <a:rPr b="1" i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b="1" i="1" dirty="0">
                <a:solidFill>
                  <a:srgbClr val="6F2F9F"/>
                </a:solidFill>
                <a:latin typeface="Calibri"/>
                <a:cs typeface="Calibri"/>
              </a:rPr>
              <a:t>não</a:t>
            </a:r>
            <a:r>
              <a:rPr b="1" i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b="1" i="1" spc="-10" dirty="0">
                <a:solidFill>
                  <a:srgbClr val="6F2F9F"/>
                </a:solidFill>
                <a:latin typeface="Calibri"/>
                <a:cs typeface="Calibri"/>
              </a:rPr>
              <a:t>existem tantos</a:t>
            </a:r>
            <a:r>
              <a:rPr b="1" i="1" spc="-8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b="1" i="1" spc="-10" dirty="0">
                <a:solidFill>
                  <a:srgbClr val="6F2F9F"/>
                </a:solidFill>
                <a:latin typeface="Calibri"/>
                <a:cs typeface="Calibri"/>
              </a:rPr>
              <a:t>profissionais</a:t>
            </a:r>
            <a:r>
              <a:rPr b="1" i="1" spc="-7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dirty="0"/>
              <a:t>com</a:t>
            </a:r>
            <a:r>
              <a:rPr spc="-60" dirty="0"/>
              <a:t> </a:t>
            </a:r>
            <a:r>
              <a:rPr spc="-20" dirty="0"/>
              <a:t>essa </a:t>
            </a:r>
            <a:r>
              <a:rPr spc="-10" dirty="0"/>
              <a:t>experiência</a:t>
            </a:r>
            <a:r>
              <a:rPr spc="-60" dirty="0"/>
              <a:t> </a:t>
            </a:r>
            <a:r>
              <a:rPr dirty="0"/>
              <a:t>no</a:t>
            </a:r>
            <a:r>
              <a:rPr spc="-65" dirty="0"/>
              <a:t> </a:t>
            </a:r>
            <a:r>
              <a:rPr spc="-10" dirty="0"/>
              <a:t>mercado.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0768" y="1803361"/>
            <a:ext cx="5155946" cy="454126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78739" y="6549949"/>
            <a:ext cx="47244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Fonte:</a:t>
            </a:r>
            <a:r>
              <a:rPr sz="1200" spc="24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https://ncube.com/blog/ai-engineers-career-paths-roles-and-salaries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405632" y="2260853"/>
            <a:ext cx="206375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04775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Valores</a:t>
            </a:r>
            <a:r>
              <a:rPr sz="2400" b="1" spc="-11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anuais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médios</a:t>
            </a:r>
            <a:r>
              <a:rPr sz="2400" b="1" spc="-1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nos</a:t>
            </a:r>
            <a:r>
              <a:rPr sz="2400" b="1" spc="-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30" dirty="0">
                <a:solidFill>
                  <a:srgbClr val="6F2F9F"/>
                </a:solidFill>
                <a:latin typeface="Calibri"/>
                <a:cs typeface="Calibri"/>
              </a:rPr>
              <a:t>EUA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Motivação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1300" marR="5080" indent="-228600">
              <a:lnSpc>
                <a:spcPct val="90000"/>
              </a:lnSpc>
              <a:spcBef>
                <a:spcPts val="430"/>
              </a:spcBef>
              <a:buFont typeface="Arial"/>
              <a:buChar char="•"/>
              <a:tabLst>
                <a:tab pos="241300" algn="l"/>
              </a:tabLst>
            </a:pPr>
            <a:r>
              <a:rPr b="1" spc="-10" dirty="0">
                <a:latin typeface="Calibri"/>
                <a:cs typeface="Calibri"/>
              </a:rPr>
              <a:t>Pesquisa</a:t>
            </a:r>
            <a:r>
              <a:rPr spc="-10" dirty="0"/>
              <a:t>:</a:t>
            </a:r>
            <a:r>
              <a:rPr spc="-50" dirty="0"/>
              <a:t> </a:t>
            </a:r>
            <a:r>
              <a:rPr dirty="0"/>
              <a:t>a</a:t>
            </a:r>
            <a:r>
              <a:rPr spc="-65" dirty="0"/>
              <a:t> </a:t>
            </a:r>
            <a:r>
              <a:rPr dirty="0"/>
              <a:t>IA</a:t>
            </a:r>
            <a:r>
              <a:rPr spc="-65" dirty="0"/>
              <a:t> </a:t>
            </a:r>
            <a:r>
              <a:rPr dirty="0"/>
              <a:t>já</a:t>
            </a:r>
            <a:r>
              <a:rPr spc="-60" dirty="0"/>
              <a:t> </a:t>
            </a:r>
            <a:r>
              <a:rPr dirty="0"/>
              <a:t>tem</a:t>
            </a:r>
            <a:r>
              <a:rPr spc="-60" dirty="0"/>
              <a:t> </a:t>
            </a:r>
            <a:r>
              <a:rPr dirty="0"/>
              <a:t>sido</a:t>
            </a:r>
            <a:r>
              <a:rPr spc="-40" dirty="0"/>
              <a:t> </a:t>
            </a:r>
            <a:r>
              <a:rPr spc="-10" dirty="0"/>
              <a:t>empregada</a:t>
            </a:r>
            <a:r>
              <a:rPr spc="-60" dirty="0"/>
              <a:t> </a:t>
            </a:r>
            <a:r>
              <a:rPr spc="-25" dirty="0"/>
              <a:t>no </a:t>
            </a:r>
            <a:r>
              <a:rPr dirty="0"/>
              <a:t>5G</a:t>
            </a:r>
            <a:r>
              <a:rPr spc="-65" dirty="0"/>
              <a:t> </a:t>
            </a:r>
            <a:r>
              <a:rPr dirty="0"/>
              <a:t>e</a:t>
            </a:r>
            <a:r>
              <a:rPr spc="-75" dirty="0"/>
              <a:t> </a:t>
            </a:r>
            <a:r>
              <a:rPr dirty="0"/>
              <a:t>terá</a:t>
            </a:r>
            <a:r>
              <a:rPr spc="-75" dirty="0"/>
              <a:t> </a:t>
            </a:r>
            <a:r>
              <a:rPr dirty="0"/>
              <a:t>um</a:t>
            </a:r>
            <a:r>
              <a:rPr spc="-65" dirty="0"/>
              <a:t> </a:t>
            </a:r>
            <a:r>
              <a:rPr dirty="0"/>
              <a:t>papel</a:t>
            </a:r>
            <a:r>
              <a:rPr spc="-75" dirty="0"/>
              <a:t> </a:t>
            </a:r>
            <a:r>
              <a:rPr spc="-10" dirty="0"/>
              <a:t>fundamental</a:t>
            </a:r>
            <a:r>
              <a:rPr spc="-45" dirty="0"/>
              <a:t> </a:t>
            </a:r>
            <a:r>
              <a:rPr spc="-25" dirty="0"/>
              <a:t>no </a:t>
            </a:r>
            <a:r>
              <a:rPr spc="-20" dirty="0"/>
              <a:t>desenvolvimento</a:t>
            </a:r>
            <a:r>
              <a:rPr spc="-65" dirty="0"/>
              <a:t> </a:t>
            </a:r>
            <a:r>
              <a:rPr dirty="0"/>
              <a:t>da</a:t>
            </a:r>
            <a:r>
              <a:rPr spc="-80" dirty="0"/>
              <a:t> </a:t>
            </a:r>
            <a:r>
              <a:rPr spc="-10" dirty="0"/>
              <a:t>próxima</a:t>
            </a:r>
            <a:r>
              <a:rPr spc="-70" dirty="0"/>
              <a:t> </a:t>
            </a:r>
            <a:r>
              <a:rPr spc="-20" dirty="0"/>
              <a:t>geração</a:t>
            </a:r>
            <a:r>
              <a:rPr spc="-105" dirty="0"/>
              <a:t> </a:t>
            </a:r>
            <a:r>
              <a:rPr spc="-25" dirty="0"/>
              <a:t>de </a:t>
            </a:r>
            <a:r>
              <a:rPr dirty="0"/>
              <a:t>redes</a:t>
            </a:r>
            <a:r>
              <a:rPr spc="-65" dirty="0"/>
              <a:t> </a:t>
            </a:r>
            <a:r>
              <a:rPr dirty="0"/>
              <a:t>móveis</a:t>
            </a:r>
            <a:r>
              <a:rPr spc="-70" dirty="0"/>
              <a:t> </a:t>
            </a:r>
            <a:r>
              <a:rPr dirty="0"/>
              <a:t>e</a:t>
            </a:r>
            <a:r>
              <a:rPr spc="-70" dirty="0"/>
              <a:t> </a:t>
            </a:r>
            <a:r>
              <a:rPr dirty="0"/>
              <a:t>sem</a:t>
            </a:r>
            <a:r>
              <a:rPr spc="-60" dirty="0"/>
              <a:t> </a:t>
            </a:r>
            <a:r>
              <a:rPr dirty="0"/>
              <a:t>fio,</a:t>
            </a:r>
            <a:r>
              <a:rPr spc="-65" dirty="0"/>
              <a:t> </a:t>
            </a:r>
            <a:r>
              <a:rPr dirty="0"/>
              <a:t>o</a:t>
            </a:r>
            <a:r>
              <a:rPr spc="-75" dirty="0"/>
              <a:t> </a:t>
            </a:r>
            <a:r>
              <a:rPr spc="-25" dirty="0"/>
              <a:t>6G.</a:t>
            </a:r>
          </a:p>
          <a:p>
            <a:pPr marL="241300" marR="255904" indent="-228600">
              <a:lnSpc>
                <a:spcPct val="90000"/>
              </a:lnSpc>
              <a:spcBef>
                <a:spcPts val="1010"/>
              </a:spcBef>
              <a:buFont typeface="Arial"/>
              <a:buChar char="•"/>
              <a:tabLst>
                <a:tab pos="241300" algn="l"/>
              </a:tabLst>
            </a:pPr>
            <a:r>
              <a:rPr dirty="0"/>
              <a:t>Os</a:t>
            </a:r>
            <a:r>
              <a:rPr spc="-80" dirty="0"/>
              <a:t> </a:t>
            </a:r>
            <a:r>
              <a:rPr dirty="0"/>
              <a:t>algoritmos</a:t>
            </a:r>
            <a:r>
              <a:rPr spc="-70" dirty="0"/>
              <a:t> </a:t>
            </a:r>
            <a:r>
              <a:rPr dirty="0"/>
              <a:t>de</a:t>
            </a:r>
            <a:r>
              <a:rPr spc="-75" dirty="0"/>
              <a:t> </a:t>
            </a:r>
            <a:r>
              <a:rPr dirty="0"/>
              <a:t>IA</a:t>
            </a:r>
            <a:r>
              <a:rPr spc="-85" dirty="0"/>
              <a:t> </a:t>
            </a:r>
            <a:r>
              <a:rPr dirty="0"/>
              <a:t>serão</a:t>
            </a:r>
            <a:r>
              <a:rPr spc="-70" dirty="0"/>
              <a:t> </a:t>
            </a:r>
            <a:r>
              <a:rPr dirty="0"/>
              <a:t>usados</a:t>
            </a:r>
            <a:r>
              <a:rPr spc="-65" dirty="0"/>
              <a:t> </a:t>
            </a:r>
            <a:r>
              <a:rPr spc="-25" dirty="0"/>
              <a:t>nas </a:t>
            </a:r>
            <a:r>
              <a:rPr b="1" i="1" dirty="0">
                <a:solidFill>
                  <a:srgbClr val="6F2F9F"/>
                </a:solidFill>
                <a:latin typeface="Calibri"/>
                <a:cs typeface="Calibri"/>
              </a:rPr>
              <a:t>mais</a:t>
            </a:r>
            <a:r>
              <a:rPr b="1" i="1" spc="-10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b="1" i="1" dirty="0">
                <a:solidFill>
                  <a:srgbClr val="6F2F9F"/>
                </a:solidFill>
                <a:latin typeface="Calibri"/>
                <a:cs typeface="Calibri"/>
              </a:rPr>
              <a:t>diversas</a:t>
            </a:r>
            <a:r>
              <a:rPr b="1" i="1" spc="-8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b="1" i="1" dirty="0">
                <a:solidFill>
                  <a:srgbClr val="6F2F9F"/>
                </a:solidFill>
                <a:latin typeface="Calibri"/>
                <a:cs typeface="Calibri"/>
              </a:rPr>
              <a:t>camadas</a:t>
            </a:r>
            <a:r>
              <a:rPr b="1" i="1" spc="-9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dirty="0"/>
              <a:t>da</a:t>
            </a:r>
            <a:r>
              <a:rPr spc="-85" dirty="0"/>
              <a:t> </a:t>
            </a:r>
            <a:r>
              <a:rPr dirty="0"/>
              <a:t>rede</a:t>
            </a:r>
            <a:r>
              <a:rPr spc="-95" dirty="0"/>
              <a:t> </a:t>
            </a:r>
            <a:r>
              <a:rPr spc="-20" dirty="0"/>
              <a:t>para </a:t>
            </a:r>
            <a:r>
              <a:rPr dirty="0"/>
              <a:t>auxiliar</a:t>
            </a:r>
            <a:r>
              <a:rPr spc="-75" dirty="0"/>
              <a:t> </a:t>
            </a:r>
            <a:r>
              <a:rPr dirty="0"/>
              <a:t>em</a:t>
            </a:r>
            <a:r>
              <a:rPr spc="-80" dirty="0"/>
              <a:t> </a:t>
            </a:r>
            <a:r>
              <a:rPr spc="-20" dirty="0"/>
              <a:t>tarefas</a:t>
            </a:r>
            <a:r>
              <a:rPr spc="-80" dirty="0"/>
              <a:t> </a:t>
            </a:r>
            <a:r>
              <a:rPr dirty="0"/>
              <a:t>que</a:t>
            </a:r>
            <a:r>
              <a:rPr spc="-70" dirty="0"/>
              <a:t> </a:t>
            </a:r>
            <a:r>
              <a:rPr dirty="0"/>
              <a:t>vão</a:t>
            </a:r>
            <a:r>
              <a:rPr spc="-75" dirty="0"/>
              <a:t> </a:t>
            </a:r>
            <a:r>
              <a:rPr dirty="0"/>
              <a:t>desde</a:t>
            </a:r>
            <a:r>
              <a:rPr spc="-55" dirty="0"/>
              <a:t> </a:t>
            </a:r>
            <a:r>
              <a:rPr spc="-50" dirty="0"/>
              <a:t>a </a:t>
            </a:r>
            <a:r>
              <a:rPr b="1" i="1" spc="-10" dirty="0">
                <a:solidFill>
                  <a:srgbClr val="6F2F9F"/>
                </a:solidFill>
                <a:latin typeface="Calibri"/>
                <a:cs typeface="Calibri"/>
              </a:rPr>
              <a:t>detecção</a:t>
            </a:r>
            <a:r>
              <a:rPr b="1" i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b="1" i="1" dirty="0">
                <a:solidFill>
                  <a:srgbClr val="6F2F9F"/>
                </a:solidFill>
                <a:latin typeface="Calibri"/>
                <a:cs typeface="Calibri"/>
              </a:rPr>
              <a:t>de</a:t>
            </a:r>
            <a:r>
              <a:rPr b="1" i="1" spc="-8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b="1" i="1" dirty="0">
                <a:solidFill>
                  <a:srgbClr val="6F2F9F"/>
                </a:solidFill>
                <a:latin typeface="Calibri"/>
                <a:cs typeface="Calibri"/>
              </a:rPr>
              <a:t>símbolos</a:t>
            </a:r>
            <a:r>
              <a:rPr b="1" i="1" spc="-8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b="1" i="1" dirty="0">
                <a:solidFill>
                  <a:srgbClr val="6F2F9F"/>
                </a:solidFill>
                <a:latin typeface="Calibri"/>
                <a:cs typeface="Calibri"/>
              </a:rPr>
              <a:t>de</a:t>
            </a:r>
            <a:r>
              <a:rPr b="1" i="1" spc="-8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b="1" i="1" spc="-25" dirty="0">
                <a:solidFill>
                  <a:srgbClr val="6F2F9F"/>
                </a:solidFill>
                <a:latin typeface="Calibri"/>
                <a:cs typeface="Calibri"/>
              </a:rPr>
              <a:t>uma </a:t>
            </a:r>
            <a:r>
              <a:rPr b="1" i="1" spc="-10" dirty="0">
                <a:solidFill>
                  <a:srgbClr val="6F2F9F"/>
                </a:solidFill>
                <a:latin typeface="Calibri"/>
                <a:cs typeface="Calibri"/>
              </a:rPr>
              <a:t>modulação</a:t>
            </a:r>
            <a:r>
              <a:rPr b="1" i="1" spc="-8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b="1" i="1" dirty="0">
                <a:solidFill>
                  <a:srgbClr val="6F2F9F"/>
                </a:solidFill>
                <a:latin typeface="Calibri"/>
                <a:cs typeface="Calibri"/>
              </a:rPr>
              <a:t>até</a:t>
            </a:r>
            <a:r>
              <a:rPr b="1" i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b="1" i="1" spc="-10" dirty="0">
                <a:solidFill>
                  <a:srgbClr val="6F2F9F"/>
                </a:solidFill>
                <a:latin typeface="Calibri"/>
                <a:cs typeface="Calibri"/>
              </a:rPr>
              <a:t>segurança</a:t>
            </a:r>
            <a:r>
              <a:rPr b="1" i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b="1" i="1" spc="-10" dirty="0">
                <a:solidFill>
                  <a:srgbClr val="6F2F9F"/>
                </a:solidFill>
                <a:latin typeface="Calibri"/>
                <a:cs typeface="Calibri"/>
              </a:rPr>
              <a:t>cibernética</a:t>
            </a:r>
            <a:r>
              <a:rPr spc="-10" dirty="0"/>
              <a:t>.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2209" y="1878647"/>
            <a:ext cx="1025944" cy="89769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57360" y="3148624"/>
            <a:ext cx="2652837" cy="491636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911095" y="1878647"/>
            <a:ext cx="885786" cy="89769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67461" y="5021821"/>
            <a:ext cx="921862" cy="130839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104388" y="4180687"/>
            <a:ext cx="2312162" cy="754405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006725" y="5415800"/>
            <a:ext cx="951585" cy="951585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49658" y="4128866"/>
            <a:ext cx="2449270" cy="596295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145579" y="2192656"/>
            <a:ext cx="2251779" cy="390718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3676650" y="2964548"/>
            <a:ext cx="1167663" cy="56998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O</a:t>
            </a:r>
            <a:r>
              <a:rPr spc="-55" dirty="0"/>
              <a:t> </a:t>
            </a:r>
            <a:r>
              <a:rPr dirty="0"/>
              <a:t>que</a:t>
            </a:r>
            <a:r>
              <a:rPr spc="-40" dirty="0"/>
              <a:t> </a:t>
            </a:r>
            <a:r>
              <a:rPr dirty="0"/>
              <a:t>é</a:t>
            </a:r>
            <a:r>
              <a:rPr spc="-45" dirty="0"/>
              <a:t> </a:t>
            </a:r>
            <a:r>
              <a:rPr dirty="0"/>
              <a:t>inteligência</a:t>
            </a:r>
            <a:r>
              <a:rPr spc="-15" dirty="0"/>
              <a:t> </a:t>
            </a:r>
            <a:r>
              <a:rPr spc="-10" dirty="0"/>
              <a:t>artificial?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416802" y="1793493"/>
            <a:ext cx="5251450" cy="4484370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1300" marR="5080" indent="-228600">
              <a:lnSpc>
                <a:spcPct val="90000"/>
              </a:lnSpc>
              <a:spcBef>
                <a:spcPts val="43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Campo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computação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almeja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criar</a:t>
            </a:r>
            <a:r>
              <a:rPr sz="2800" b="1" i="1" spc="-8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máquinas</a:t>
            </a:r>
            <a:r>
              <a:rPr sz="2800" b="1" i="1" spc="-8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que</a:t>
            </a:r>
            <a:r>
              <a:rPr sz="2800" b="1" i="1" spc="-8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imitem</a:t>
            </a:r>
            <a:r>
              <a:rPr sz="2800" b="1" i="1" spc="-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25" dirty="0">
                <a:solidFill>
                  <a:srgbClr val="00AF50"/>
                </a:solidFill>
                <a:latin typeface="Calibri"/>
                <a:cs typeface="Calibri"/>
              </a:rPr>
              <a:t>as </a:t>
            </a:r>
            <a:r>
              <a:rPr sz="2800" b="1" i="1" spc="-10" dirty="0">
                <a:solidFill>
                  <a:srgbClr val="6F2F9F"/>
                </a:solidFill>
                <a:latin typeface="Calibri"/>
                <a:cs typeface="Calibri"/>
              </a:rPr>
              <a:t>capacidades</a:t>
            </a:r>
            <a:r>
              <a:rPr sz="2800" b="1" i="1" spc="-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humanas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Que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capacidades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são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essas?</a:t>
            </a:r>
            <a:endParaRPr sz="28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29"/>
              </a:spcBef>
              <a:buFont typeface="Wingdings"/>
              <a:buChar char="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Aprendizado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adaptação;</a:t>
            </a:r>
            <a:endParaRPr sz="24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19"/>
              </a:spcBef>
              <a:buFont typeface="Wingdings"/>
              <a:buChar char=""/>
              <a:tabLst>
                <a:tab pos="699135" algn="l"/>
              </a:tabLst>
            </a:pPr>
            <a:r>
              <a:rPr sz="2400" spc="-10" dirty="0">
                <a:latin typeface="Calibri"/>
                <a:cs typeface="Calibri"/>
              </a:rPr>
              <a:t>Comunicação;</a:t>
            </a:r>
            <a:endParaRPr sz="24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15"/>
              </a:spcBef>
              <a:buFont typeface="Wingdings"/>
              <a:buChar char="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Raciocínio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tomada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10" dirty="0">
                <a:latin typeface="Calibri"/>
                <a:cs typeface="Calibri"/>
              </a:rPr>
              <a:t> decisão;</a:t>
            </a:r>
            <a:endParaRPr sz="24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04"/>
              </a:spcBef>
              <a:buFont typeface="Wingdings"/>
              <a:buChar char="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Resolução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problemas;</a:t>
            </a:r>
            <a:endParaRPr sz="24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15"/>
              </a:spcBef>
              <a:buFont typeface="Wingdings"/>
              <a:buChar char=""/>
              <a:tabLst>
                <a:tab pos="699135" algn="l"/>
              </a:tabLst>
            </a:pPr>
            <a:r>
              <a:rPr sz="2400" spc="-10" dirty="0">
                <a:latin typeface="Calibri"/>
                <a:cs typeface="Calibri"/>
              </a:rPr>
              <a:t>Criatividade;</a:t>
            </a:r>
            <a:endParaRPr sz="24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15"/>
              </a:spcBef>
              <a:buFont typeface="Wingdings"/>
              <a:buChar char=""/>
              <a:tabLst>
                <a:tab pos="699135" algn="l"/>
              </a:tabLst>
            </a:pPr>
            <a:r>
              <a:rPr sz="2400" spc="-10" dirty="0">
                <a:latin typeface="Calibri"/>
                <a:cs typeface="Calibri"/>
              </a:rPr>
              <a:t>Movimento;</a:t>
            </a:r>
            <a:endParaRPr sz="24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04"/>
              </a:spcBef>
              <a:buFont typeface="Wingdings"/>
              <a:buChar char=""/>
              <a:tabLst>
                <a:tab pos="699135" algn="l"/>
              </a:tabLst>
            </a:pPr>
            <a:r>
              <a:rPr sz="2400" spc="-20" dirty="0">
                <a:latin typeface="Calibri"/>
                <a:cs typeface="Calibri"/>
              </a:rPr>
              <a:t>etc.</a:t>
            </a:r>
            <a:endParaRPr sz="24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09821" y="3512184"/>
            <a:ext cx="2239518" cy="167970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387725" y="1536191"/>
            <a:ext cx="2466975" cy="184785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8709" y="1640967"/>
            <a:ext cx="2619375" cy="174307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15925" y="3512184"/>
            <a:ext cx="2971800" cy="154305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237462" y="5217067"/>
            <a:ext cx="2466975" cy="15374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O</a:t>
            </a:r>
            <a:r>
              <a:rPr spc="-55" dirty="0"/>
              <a:t> </a:t>
            </a:r>
            <a:r>
              <a:rPr dirty="0"/>
              <a:t>que</a:t>
            </a:r>
            <a:r>
              <a:rPr spc="-40" dirty="0"/>
              <a:t> </a:t>
            </a:r>
            <a:r>
              <a:rPr dirty="0"/>
              <a:t>é</a:t>
            </a:r>
            <a:r>
              <a:rPr spc="-45" dirty="0"/>
              <a:t> </a:t>
            </a:r>
            <a:r>
              <a:rPr dirty="0"/>
              <a:t>inteligência</a:t>
            </a:r>
            <a:r>
              <a:rPr spc="-15" dirty="0"/>
              <a:t> </a:t>
            </a:r>
            <a:r>
              <a:rPr spc="-10" dirty="0"/>
              <a:t>artificial?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191125" y="1793493"/>
            <a:ext cx="6880859" cy="237299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84785" marR="5080" indent="-172720">
              <a:lnSpc>
                <a:spcPct val="90000"/>
              </a:lnSpc>
              <a:spcBef>
                <a:spcPts val="430"/>
              </a:spcBef>
              <a:buFont typeface="Arial"/>
              <a:buChar char="•"/>
              <a:tabLst>
                <a:tab pos="185420" algn="l"/>
              </a:tabLst>
            </a:pPr>
            <a:r>
              <a:rPr sz="2800" b="1" dirty="0">
                <a:latin typeface="Calibri"/>
                <a:cs typeface="Calibri"/>
              </a:rPr>
              <a:t>Definição</a:t>
            </a:r>
            <a:r>
              <a:rPr sz="2800" b="1" spc="-11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formal</a:t>
            </a:r>
            <a:r>
              <a:rPr sz="2800" dirty="0">
                <a:latin typeface="Calibri"/>
                <a:cs typeface="Calibri"/>
              </a:rPr>
              <a:t>:</a:t>
            </a:r>
            <a:r>
              <a:rPr sz="2800" spc="-1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Capacidade</a:t>
            </a:r>
            <a:r>
              <a:rPr sz="2800" spc="-11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12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uma </a:t>
            </a:r>
            <a:r>
              <a:rPr sz="2800" dirty="0">
                <a:latin typeface="Calibri"/>
                <a:cs typeface="Calibri"/>
              </a:rPr>
              <a:t>máquina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receber</a:t>
            </a:r>
            <a:r>
              <a:rPr sz="2800" b="1" i="1" spc="-8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estímulos</a:t>
            </a:r>
            <a:r>
              <a:rPr sz="2800" b="1" i="1" spc="-9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vindos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do </a:t>
            </a:r>
            <a:r>
              <a:rPr sz="2800" spc="-10" dirty="0">
                <a:latin typeface="Calibri"/>
                <a:cs typeface="Calibri"/>
              </a:rPr>
              <a:t>ambiente,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b="1" i="1" spc="-35" dirty="0">
                <a:solidFill>
                  <a:srgbClr val="6F2F9F"/>
                </a:solidFill>
                <a:latin typeface="Calibri"/>
                <a:cs typeface="Calibri"/>
              </a:rPr>
              <a:t>interpretá-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los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aprender</a:t>
            </a:r>
            <a:r>
              <a:rPr sz="2800" b="1" i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eles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60" dirty="0">
                <a:latin typeface="Calibri"/>
                <a:cs typeface="Calibri"/>
              </a:rPr>
              <a:t>e </a:t>
            </a:r>
            <a:r>
              <a:rPr sz="2800" dirty="0">
                <a:latin typeface="Calibri"/>
                <a:cs typeface="Calibri"/>
              </a:rPr>
              <a:t>usar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6F2F9F"/>
                </a:solidFill>
                <a:latin typeface="Calibri"/>
                <a:cs typeface="Calibri"/>
              </a:rPr>
              <a:t>conhecimento</a:t>
            </a:r>
            <a:r>
              <a:rPr sz="2800" b="1" i="1" spc="-8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adquirido</a:t>
            </a:r>
            <a:r>
              <a:rPr sz="2800" b="1" i="1" spc="-7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para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6F2F9F"/>
                </a:solidFill>
                <a:latin typeface="Calibri"/>
                <a:cs typeface="Calibri"/>
              </a:rPr>
              <a:t>tomar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decisões</a:t>
            </a:r>
            <a:r>
              <a:rPr sz="2800" b="1" i="1" spc="-10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e</a:t>
            </a:r>
            <a:r>
              <a:rPr sz="2800" b="1" i="1" spc="-10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resolver</a:t>
            </a:r>
            <a:r>
              <a:rPr sz="2800" b="1" i="1" spc="-9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problemas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6F2F9F"/>
                </a:solidFill>
                <a:latin typeface="Calibri"/>
                <a:cs typeface="Calibri"/>
              </a:rPr>
              <a:t>interagindo </a:t>
            </a:r>
            <a:r>
              <a:rPr sz="2800" dirty="0">
                <a:latin typeface="Calibri"/>
                <a:cs typeface="Calibri"/>
              </a:rPr>
              <a:t>com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ambiente.</a:t>
            </a:r>
            <a:endParaRPr sz="28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2900" y="1690751"/>
            <a:ext cx="2175256" cy="144907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29129" y="3287903"/>
            <a:ext cx="2340991" cy="1560703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9292" y="5152453"/>
            <a:ext cx="2528697" cy="156070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O</a:t>
            </a:r>
            <a:r>
              <a:rPr spc="-65" dirty="0"/>
              <a:t> </a:t>
            </a:r>
            <a:r>
              <a:rPr dirty="0"/>
              <a:t>problema</a:t>
            </a:r>
            <a:r>
              <a:rPr spc="-75" dirty="0"/>
              <a:t> </a:t>
            </a:r>
            <a:r>
              <a:rPr dirty="0"/>
              <a:t>da</a:t>
            </a:r>
            <a:r>
              <a:rPr spc="-60" dirty="0"/>
              <a:t> </a:t>
            </a:r>
            <a:r>
              <a:rPr dirty="0"/>
              <a:t>inteligência</a:t>
            </a:r>
            <a:r>
              <a:rPr spc="-35" dirty="0"/>
              <a:t> </a:t>
            </a:r>
            <a:r>
              <a:rPr spc="-10" dirty="0"/>
              <a:t>artificial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556884" y="1793493"/>
            <a:ext cx="6316980" cy="2500630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1300" marR="5080" indent="-228600">
              <a:lnSpc>
                <a:spcPct val="90000"/>
              </a:lnSpc>
              <a:spcBef>
                <a:spcPts val="43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Criar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máquinas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FF0000"/>
                </a:solidFill>
                <a:latin typeface="Calibri"/>
                <a:cs typeface="Calibri"/>
              </a:rPr>
              <a:t>emulem</a:t>
            </a:r>
            <a:r>
              <a:rPr sz="2800" b="1" i="1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inteligência </a:t>
            </a:r>
            <a:r>
              <a:rPr sz="2800" dirty="0">
                <a:latin typeface="Calibri"/>
                <a:cs typeface="Calibri"/>
              </a:rPr>
              <a:t>humana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problema</a:t>
            </a:r>
            <a:r>
              <a:rPr sz="2800" b="1" i="1" spc="-7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muito</a:t>
            </a:r>
            <a:r>
              <a:rPr sz="2800" b="1" i="1" spc="-80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complexo </a:t>
            </a:r>
            <a:r>
              <a:rPr sz="2800" b="1" i="1" dirty="0">
                <a:latin typeface="Calibri"/>
                <a:cs typeface="Calibri"/>
              </a:rPr>
              <a:t>e</a:t>
            </a:r>
            <a:r>
              <a:rPr sz="2800" b="1" i="1" spc="-5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difícil</a:t>
            </a:r>
            <a:r>
              <a:rPr sz="2800" b="1" i="1" spc="-5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de</a:t>
            </a:r>
            <a:r>
              <a:rPr sz="2800" b="1" i="1" spc="-5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ser</a:t>
            </a:r>
            <a:r>
              <a:rPr sz="2800" b="1" i="1" spc="-4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resolvido</a:t>
            </a:r>
            <a:r>
              <a:rPr sz="2800" b="1" i="1" spc="-30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de</a:t>
            </a:r>
            <a:r>
              <a:rPr sz="2800" b="1" i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uma</a:t>
            </a:r>
            <a:r>
              <a:rPr sz="2800" b="1" i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só</a:t>
            </a:r>
            <a:r>
              <a:rPr sz="2800" b="1" i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spc="-20" dirty="0">
                <a:solidFill>
                  <a:srgbClr val="6F2F9F"/>
                </a:solidFill>
                <a:latin typeface="Calibri"/>
                <a:cs typeface="Calibri"/>
              </a:rPr>
              <a:t>vez</a:t>
            </a:r>
            <a:r>
              <a:rPr sz="2800" b="1" i="1" spc="-2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marR="473709" indent="-228600">
              <a:lnSpc>
                <a:spcPct val="90000"/>
              </a:lnSpc>
              <a:spcBef>
                <a:spcPts val="101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Sendo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assim,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b="1" i="1" spc="-25" dirty="0">
                <a:solidFill>
                  <a:srgbClr val="00AF50"/>
                </a:solidFill>
                <a:latin typeface="Calibri"/>
                <a:cs typeface="Calibri"/>
              </a:rPr>
              <a:t>divide-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se</a:t>
            </a:r>
            <a:r>
              <a:rPr sz="2800" b="1" i="1" spc="-3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o</a:t>
            </a:r>
            <a:r>
              <a:rPr sz="2800" b="1" i="1" spc="-5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problema</a:t>
            </a:r>
            <a:r>
              <a:rPr sz="2800" b="1" i="1" spc="-3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25" dirty="0">
                <a:solidFill>
                  <a:srgbClr val="00AF50"/>
                </a:solidFill>
                <a:latin typeface="Calibri"/>
                <a:cs typeface="Calibri"/>
              </a:rPr>
              <a:t>em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problemas</a:t>
            </a:r>
            <a:r>
              <a:rPr sz="2800" b="1" i="1" spc="-13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menores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11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chamadas</a:t>
            </a:r>
            <a:r>
              <a:rPr sz="2800" spc="-13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de </a:t>
            </a:r>
            <a:r>
              <a:rPr sz="2800" b="1" i="1" dirty="0">
                <a:latin typeface="Calibri"/>
                <a:cs typeface="Calibri"/>
              </a:rPr>
              <a:t>subáreas</a:t>
            </a:r>
            <a:r>
              <a:rPr sz="2800" b="1" i="1" spc="-9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da</a:t>
            </a:r>
            <a:r>
              <a:rPr sz="2800" b="1" i="1" spc="-80" dirty="0">
                <a:latin typeface="Calibri"/>
                <a:cs typeface="Calibri"/>
              </a:rPr>
              <a:t> </a:t>
            </a:r>
            <a:r>
              <a:rPr sz="2800" b="1" i="1" spc="-25" dirty="0">
                <a:latin typeface="Calibri"/>
                <a:cs typeface="Calibri"/>
              </a:rPr>
              <a:t>IA</a:t>
            </a:r>
            <a:r>
              <a:rPr sz="2800" spc="-25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48029" y="2222068"/>
            <a:ext cx="3849370" cy="575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i="1" dirty="0">
                <a:latin typeface="Calibri"/>
                <a:cs typeface="Calibri"/>
              </a:rPr>
              <a:t>IA</a:t>
            </a:r>
            <a:r>
              <a:rPr sz="1800" b="1" i="1" spc="-5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é</a:t>
            </a:r>
            <a:r>
              <a:rPr sz="1800" b="1" i="1" spc="-10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uma</a:t>
            </a:r>
            <a:r>
              <a:rPr sz="1800" b="1" i="1" spc="-10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área</a:t>
            </a:r>
            <a:r>
              <a:rPr sz="1800" b="1" i="1" spc="5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muito ampla</a:t>
            </a:r>
            <a:r>
              <a:rPr sz="1800" b="1" i="1" spc="-15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que</a:t>
            </a:r>
            <a:r>
              <a:rPr sz="1800" b="1" i="1" spc="5" dirty="0">
                <a:latin typeface="Calibri"/>
                <a:cs typeface="Calibri"/>
              </a:rPr>
              <a:t> </a:t>
            </a:r>
            <a:r>
              <a:rPr sz="1800" b="1" i="1" spc="-10" dirty="0">
                <a:latin typeface="Calibri"/>
                <a:cs typeface="Calibri"/>
              </a:rPr>
              <a:t>engloba</a:t>
            </a:r>
            <a:endParaRPr sz="1800" dirty="0">
              <a:latin typeface="Calibri"/>
              <a:cs typeface="Calibri"/>
            </a:endParaRPr>
          </a:p>
          <a:p>
            <a:pPr marL="60960">
              <a:lnSpc>
                <a:spcPct val="100000"/>
              </a:lnSpc>
              <a:spcBef>
                <a:spcPts val="5"/>
              </a:spcBef>
            </a:pPr>
            <a:r>
              <a:rPr sz="1800" b="1" i="1" dirty="0">
                <a:latin typeface="Calibri"/>
                <a:cs typeface="Calibri"/>
              </a:rPr>
              <a:t>várias</a:t>
            </a:r>
            <a:r>
              <a:rPr sz="1800" b="1" i="1" spc="-15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aplicações</a:t>
            </a:r>
            <a:r>
              <a:rPr sz="1800" b="1" i="1" spc="-40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(subáreas)</a:t>
            </a:r>
            <a:r>
              <a:rPr sz="1800" b="1" i="1" spc="5" dirty="0">
                <a:latin typeface="Calibri"/>
                <a:cs typeface="Calibri"/>
              </a:rPr>
              <a:t> </a:t>
            </a:r>
            <a:r>
              <a:rPr sz="1800" b="1" i="1" spc="-10" dirty="0">
                <a:latin typeface="Calibri"/>
                <a:cs typeface="Calibri"/>
              </a:rPr>
              <a:t>diferentes.</a:t>
            </a:r>
            <a:endParaRPr sz="1800" dirty="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02258" y="2850514"/>
            <a:ext cx="3003476" cy="2277363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2665602" y="3199638"/>
            <a:ext cx="2908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25" dirty="0">
                <a:solidFill>
                  <a:srgbClr val="FFFFFF"/>
                </a:solidFill>
                <a:latin typeface="Calibri"/>
                <a:cs typeface="Calibri"/>
              </a:rPr>
              <a:t>IA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633342" y="3953636"/>
            <a:ext cx="3162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ML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180589" y="3932935"/>
            <a:ext cx="3867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PLN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87932" y="3826002"/>
            <a:ext cx="8375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Robótica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076701" y="3904233"/>
            <a:ext cx="2736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VC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052698" y="4183253"/>
            <a:ext cx="1637664" cy="833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37490">
              <a:lnSpc>
                <a:spcPct val="147300"/>
              </a:lnSpc>
              <a:spcBef>
                <a:spcPts val="100"/>
              </a:spcBef>
            </a:pPr>
            <a:r>
              <a:rPr sz="1800" spc="-20" dirty="0">
                <a:latin typeface="Calibri"/>
                <a:cs typeface="Calibri"/>
              </a:rPr>
              <a:t>Representação </a:t>
            </a:r>
            <a:r>
              <a:rPr sz="1800" spc="-10" dirty="0">
                <a:latin typeface="Calibri"/>
                <a:cs typeface="Calibri"/>
              </a:rPr>
              <a:t>Planejamento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951735" y="4767833"/>
            <a:ext cx="3587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IAG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327530" y="4313046"/>
            <a:ext cx="9677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Raciocínio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Subáreas</a:t>
            </a:r>
            <a:r>
              <a:rPr spc="-95" dirty="0"/>
              <a:t> </a:t>
            </a:r>
            <a:r>
              <a:rPr dirty="0"/>
              <a:t>da</a:t>
            </a:r>
            <a:r>
              <a:rPr spc="-65" dirty="0"/>
              <a:t> </a:t>
            </a:r>
            <a:r>
              <a:rPr dirty="0"/>
              <a:t>inteligência</a:t>
            </a:r>
            <a:r>
              <a:rPr spc="-45" dirty="0"/>
              <a:t> </a:t>
            </a:r>
            <a:r>
              <a:rPr spc="-10" dirty="0"/>
              <a:t>artificial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502402" y="1756830"/>
            <a:ext cx="6163945" cy="4914265"/>
          </a:xfrm>
          <a:prstGeom prst="rect">
            <a:avLst/>
          </a:prstGeom>
        </p:spPr>
        <p:txBody>
          <a:bodyPr vert="horz" wrap="square" lIns="0" tIns="48894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384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20" dirty="0">
                <a:latin typeface="Calibri"/>
                <a:cs typeface="Calibri"/>
              </a:rPr>
              <a:t>Processamento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linguagem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natural.</a:t>
            </a:r>
            <a:endParaRPr sz="2800" dirty="0">
              <a:latin typeface="Calibri"/>
              <a:cs typeface="Calibri"/>
            </a:endParaRPr>
          </a:p>
          <a:p>
            <a:pPr marL="698500" marR="5080" lvl="1" indent="-228600">
              <a:lnSpc>
                <a:spcPts val="2590"/>
              </a:lnSpc>
              <a:spcBef>
                <a:spcPts val="575"/>
              </a:spcBef>
              <a:buFont typeface="Wingdings"/>
              <a:buChar char=""/>
              <a:tabLst>
                <a:tab pos="698500" algn="l"/>
              </a:tabLst>
            </a:pPr>
            <a:r>
              <a:rPr sz="2400" dirty="0">
                <a:latin typeface="Calibri"/>
                <a:cs typeface="Calibri"/>
              </a:rPr>
              <a:t>Compreensão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interpretação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 </a:t>
            </a:r>
            <a:r>
              <a:rPr sz="2400" spc="-10" dirty="0">
                <a:latin typeface="Calibri"/>
                <a:cs typeface="Calibri"/>
              </a:rPr>
              <a:t>linguagens humanas.</a:t>
            </a:r>
            <a:endParaRPr sz="24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59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20" dirty="0">
                <a:latin typeface="Calibri"/>
                <a:cs typeface="Calibri"/>
              </a:rPr>
              <a:t>Representação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conhecimento.</a:t>
            </a:r>
            <a:endParaRPr sz="2800" dirty="0">
              <a:latin typeface="Calibri"/>
              <a:cs typeface="Calibri"/>
            </a:endParaRPr>
          </a:p>
          <a:p>
            <a:pPr marL="698500" lvl="1" indent="-228600">
              <a:lnSpc>
                <a:spcPts val="2735"/>
              </a:lnSpc>
              <a:spcBef>
                <a:spcPts val="244"/>
              </a:spcBef>
              <a:buFont typeface="Wingdings"/>
              <a:buChar char=""/>
              <a:tabLst>
                <a:tab pos="698500" algn="l"/>
              </a:tabLst>
            </a:pPr>
            <a:r>
              <a:rPr sz="2400" dirty="0">
                <a:latin typeface="Calibri"/>
                <a:cs typeface="Calibri"/>
              </a:rPr>
              <a:t>Extração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armazenamento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eficiente</a:t>
            </a:r>
            <a:r>
              <a:rPr sz="2400" spc="-25" dirty="0">
                <a:latin typeface="Calibri"/>
                <a:cs typeface="Calibri"/>
              </a:rPr>
              <a:t> de</a:t>
            </a:r>
            <a:endParaRPr sz="2400" dirty="0">
              <a:latin typeface="Calibri"/>
              <a:cs typeface="Calibri"/>
            </a:endParaRPr>
          </a:p>
          <a:p>
            <a:pPr marL="698500">
              <a:lnSpc>
                <a:spcPts val="2735"/>
              </a:lnSpc>
            </a:pPr>
            <a:r>
              <a:rPr sz="2400" dirty="0">
                <a:latin typeface="Calibri"/>
                <a:cs typeface="Calibri"/>
              </a:rPr>
              <a:t>conhecimento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mundo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real.</a:t>
            </a:r>
            <a:endParaRPr sz="24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3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Raciocínio</a:t>
            </a:r>
            <a:r>
              <a:rPr sz="2800" spc="-13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automatizado.</a:t>
            </a:r>
            <a:endParaRPr sz="2800" dirty="0">
              <a:latin typeface="Calibri"/>
              <a:cs typeface="Calibri"/>
            </a:endParaRPr>
          </a:p>
          <a:p>
            <a:pPr marL="698500" lvl="1" indent="-228600">
              <a:lnSpc>
                <a:spcPts val="2740"/>
              </a:lnSpc>
              <a:spcBef>
                <a:spcPts val="245"/>
              </a:spcBef>
              <a:buFont typeface="Wingdings"/>
              <a:buChar char=""/>
              <a:tabLst>
                <a:tab pos="698500" algn="l"/>
              </a:tabLst>
            </a:pPr>
            <a:r>
              <a:rPr sz="2400" dirty="0">
                <a:latin typeface="Calibri"/>
                <a:cs typeface="Calibri"/>
              </a:rPr>
              <a:t>Resolução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problemas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complexos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partir</a:t>
            </a:r>
            <a:endParaRPr sz="2400" dirty="0">
              <a:latin typeface="Calibri"/>
              <a:cs typeface="Calibri"/>
            </a:endParaRPr>
          </a:p>
          <a:p>
            <a:pPr marL="698500">
              <a:lnSpc>
                <a:spcPts val="2740"/>
              </a:lnSpc>
            </a:pPr>
            <a:r>
              <a:rPr sz="2400" dirty="0">
                <a:latin typeface="Calibri"/>
                <a:cs typeface="Calibri"/>
              </a:rPr>
              <a:t>de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conhecimento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prévio.</a:t>
            </a:r>
            <a:endParaRPr sz="24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3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Planejamento.</a:t>
            </a:r>
            <a:endParaRPr sz="2800" dirty="0">
              <a:latin typeface="Calibri"/>
              <a:cs typeface="Calibri"/>
            </a:endParaRPr>
          </a:p>
          <a:p>
            <a:pPr marL="698500" lvl="1" indent="-228600">
              <a:lnSpc>
                <a:spcPts val="2735"/>
              </a:lnSpc>
              <a:spcBef>
                <a:spcPts val="245"/>
              </a:spcBef>
              <a:buFont typeface="Wingdings"/>
              <a:buChar char=""/>
              <a:tabLst>
                <a:tab pos="698500" algn="l"/>
              </a:tabLst>
            </a:pPr>
            <a:r>
              <a:rPr sz="2400" dirty="0">
                <a:latin typeface="Calibri"/>
                <a:cs typeface="Calibri"/>
              </a:rPr>
              <a:t>Criação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planos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permitam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uma</a:t>
            </a:r>
            <a:endParaRPr sz="2400" dirty="0">
              <a:latin typeface="Calibri"/>
              <a:cs typeface="Calibri"/>
            </a:endParaRPr>
          </a:p>
          <a:p>
            <a:pPr marL="698500">
              <a:lnSpc>
                <a:spcPts val="2735"/>
              </a:lnSpc>
            </a:pPr>
            <a:r>
              <a:rPr sz="2400" dirty="0">
                <a:latin typeface="Calibri"/>
                <a:cs typeface="Calibri"/>
              </a:rPr>
              <a:t>máquina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execute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uma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tarefa.</a:t>
            </a:r>
            <a:endParaRPr sz="2400" dirty="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65100" y="1562353"/>
            <a:ext cx="5177790" cy="5213350"/>
            <a:chOff x="165100" y="1562353"/>
            <a:chExt cx="5177790" cy="521335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56739" y="1562353"/>
              <a:ext cx="2875661" cy="150495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5100" y="3067430"/>
              <a:ext cx="2771140" cy="201764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356739" y="5085085"/>
              <a:ext cx="2986024" cy="169062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Subáreas</a:t>
            </a:r>
            <a:r>
              <a:rPr spc="-95" dirty="0"/>
              <a:t> </a:t>
            </a:r>
            <a:r>
              <a:rPr dirty="0"/>
              <a:t>da</a:t>
            </a:r>
            <a:r>
              <a:rPr spc="-65" dirty="0"/>
              <a:t> </a:t>
            </a:r>
            <a:r>
              <a:rPr dirty="0"/>
              <a:t>inteligência</a:t>
            </a:r>
            <a:r>
              <a:rPr spc="-45" dirty="0"/>
              <a:t> </a:t>
            </a:r>
            <a:r>
              <a:rPr spc="-10" dirty="0"/>
              <a:t>artificial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0002" y="1756830"/>
            <a:ext cx="6511290" cy="4914265"/>
          </a:xfrm>
          <a:prstGeom prst="rect">
            <a:avLst/>
          </a:prstGeom>
        </p:spPr>
        <p:txBody>
          <a:bodyPr vert="horz" wrap="square" lIns="0" tIns="48894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384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Visão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computacional.</a:t>
            </a:r>
            <a:endParaRPr sz="2800" dirty="0">
              <a:latin typeface="Calibri"/>
              <a:cs typeface="Calibri"/>
            </a:endParaRPr>
          </a:p>
          <a:p>
            <a:pPr marL="698500" marR="424815" lvl="1" indent="-228600">
              <a:lnSpc>
                <a:spcPts val="2590"/>
              </a:lnSpc>
              <a:spcBef>
                <a:spcPts val="575"/>
              </a:spcBef>
              <a:buFont typeface="Wingdings"/>
              <a:buChar char=""/>
              <a:tabLst>
                <a:tab pos="698500" algn="l"/>
              </a:tabLst>
            </a:pPr>
            <a:r>
              <a:rPr sz="2400" dirty="0">
                <a:latin typeface="Calibri"/>
                <a:cs typeface="Calibri"/>
              </a:rPr>
              <a:t>Compreensão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interpretação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imagens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e </a:t>
            </a:r>
            <a:r>
              <a:rPr sz="2400" spc="-10" dirty="0">
                <a:latin typeface="Calibri"/>
                <a:cs typeface="Calibri"/>
              </a:rPr>
              <a:t>vídeos.</a:t>
            </a:r>
            <a:endParaRPr sz="24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59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Robótica.</a:t>
            </a:r>
            <a:endParaRPr sz="2800" dirty="0">
              <a:latin typeface="Calibri"/>
              <a:cs typeface="Calibri"/>
            </a:endParaRPr>
          </a:p>
          <a:p>
            <a:pPr marL="698500" lvl="1" indent="-228600">
              <a:lnSpc>
                <a:spcPts val="2735"/>
              </a:lnSpc>
              <a:spcBef>
                <a:spcPts val="244"/>
              </a:spcBef>
              <a:buFont typeface="Wingdings"/>
              <a:buChar char=""/>
              <a:tabLst>
                <a:tab pos="698500" algn="l"/>
              </a:tabLst>
            </a:pPr>
            <a:r>
              <a:rPr sz="2400" dirty="0">
                <a:latin typeface="Calibri"/>
                <a:cs typeface="Calibri"/>
              </a:rPr>
              <a:t>Criação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robôs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capazes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realizar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tarefas</a:t>
            </a:r>
            <a:endParaRPr sz="2400" dirty="0">
              <a:latin typeface="Calibri"/>
              <a:cs typeface="Calibri"/>
            </a:endParaRPr>
          </a:p>
          <a:p>
            <a:pPr marL="698500">
              <a:lnSpc>
                <a:spcPts val="2735"/>
              </a:lnSpc>
            </a:pPr>
            <a:r>
              <a:rPr sz="2400" dirty="0">
                <a:latin typeface="Calibri"/>
                <a:cs typeface="Calibri"/>
              </a:rPr>
              <a:t>físicas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interagir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ambiente.</a:t>
            </a:r>
            <a:endParaRPr sz="24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3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Aprendizado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máquina.</a:t>
            </a:r>
            <a:endParaRPr sz="2800" dirty="0">
              <a:latin typeface="Calibri"/>
              <a:cs typeface="Calibri"/>
            </a:endParaRPr>
          </a:p>
          <a:p>
            <a:pPr marL="698500" lvl="1" indent="-228600">
              <a:lnSpc>
                <a:spcPts val="2740"/>
              </a:lnSpc>
              <a:spcBef>
                <a:spcPts val="245"/>
              </a:spcBef>
              <a:buFont typeface="Wingdings"/>
              <a:buChar char=""/>
              <a:tabLst>
                <a:tab pos="698500" algn="l"/>
              </a:tabLst>
            </a:pPr>
            <a:r>
              <a:rPr sz="2400" dirty="0">
                <a:latin typeface="Calibri"/>
                <a:cs typeface="Calibri"/>
              </a:rPr>
              <a:t>Criação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máquinas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aprendem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através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de</a:t>
            </a:r>
            <a:endParaRPr sz="2400" dirty="0">
              <a:latin typeface="Calibri"/>
              <a:cs typeface="Calibri"/>
            </a:endParaRPr>
          </a:p>
          <a:p>
            <a:pPr marL="698500">
              <a:lnSpc>
                <a:spcPts val="2740"/>
              </a:lnSpc>
            </a:pPr>
            <a:r>
              <a:rPr sz="2400" dirty="0">
                <a:latin typeface="Calibri"/>
                <a:cs typeface="Calibri"/>
              </a:rPr>
              <a:t>experiências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prévias.</a:t>
            </a:r>
            <a:endParaRPr sz="24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3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Inteligência</a:t>
            </a:r>
            <a:r>
              <a:rPr sz="2800" spc="-1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artificial</a:t>
            </a:r>
            <a:r>
              <a:rPr sz="2800" spc="-1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geral.</a:t>
            </a:r>
            <a:endParaRPr sz="2800" dirty="0">
              <a:latin typeface="Calibri"/>
              <a:cs typeface="Calibri"/>
            </a:endParaRPr>
          </a:p>
          <a:p>
            <a:pPr marL="698500" lvl="1" indent="-228600">
              <a:lnSpc>
                <a:spcPts val="2735"/>
              </a:lnSpc>
              <a:spcBef>
                <a:spcPts val="245"/>
              </a:spcBef>
              <a:buFont typeface="Wingdings"/>
              <a:buChar char=""/>
              <a:tabLst>
                <a:tab pos="698500" algn="l"/>
              </a:tabLst>
            </a:pPr>
            <a:r>
              <a:rPr sz="2400" dirty="0">
                <a:latin typeface="Calibri"/>
                <a:cs typeface="Calibri"/>
              </a:rPr>
              <a:t>Criação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máquinas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comportem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como</a:t>
            </a:r>
            <a:endParaRPr sz="2400" dirty="0">
              <a:latin typeface="Calibri"/>
              <a:cs typeface="Calibri"/>
            </a:endParaRPr>
          </a:p>
          <a:p>
            <a:pPr marL="698500">
              <a:lnSpc>
                <a:spcPts val="2735"/>
              </a:lnSpc>
            </a:pPr>
            <a:r>
              <a:rPr sz="2400" dirty="0">
                <a:latin typeface="Calibri"/>
                <a:cs typeface="Calibri"/>
              </a:rPr>
              <a:t>seres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humanos.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É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meta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final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IA.</a:t>
            </a:r>
            <a:endParaRPr sz="24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7939" y="2108200"/>
            <a:ext cx="1796542" cy="168668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10006" y="4290148"/>
            <a:ext cx="3280029" cy="21717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250058" y="2185923"/>
            <a:ext cx="2917317" cy="187807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470407"/>
            <a:ext cx="314896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Foco</a:t>
            </a:r>
            <a:r>
              <a:rPr spc="-40" dirty="0"/>
              <a:t> </a:t>
            </a:r>
            <a:r>
              <a:rPr dirty="0"/>
              <a:t>do</a:t>
            </a:r>
            <a:r>
              <a:rPr spc="-60" dirty="0"/>
              <a:t> </a:t>
            </a:r>
            <a:r>
              <a:rPr spc="-10" dirty="0"/>
              <a:t>curso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569466"/>
            <a:ext cx="11008995" cy="4899025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241300" marR="527050" indent="-228600">
              <a:lnSpc>
                <a:spcPts val="2690"/>
              </a:lnSpc>
              <a:spcBef>
                <a:spcPts val="74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Como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vimos,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área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muito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ampla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não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teríamos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tempo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para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ver </a:t>
            </a:r>
            <a:r>
              <a:rPr sz="2800" dirty="0">
                <a:latin typeface="Calibri"/>
                <a:cs typeface="Calibri"/>
              </a:rPr>
              <a:t>todas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subáreas.</a:t>
            </a:r>
            <a:endParaRPr sz="2800" dirty="0">
              <a:latin typeface="Calibri"/>
              <a:cs typeface="Calibri"/>
            </a:endParaRPr>
          </a:p>
          <a:p>
            <a:pPr marL="241300" marR="1278255" indent="-228600">
              <a:lnSpc>
                <a:spcPts val="2690"/>
              </a:lnSpc>
              <a:spcBef>
                <a:spcPts val="100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Assim,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focaremos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estudo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fundamentos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140" dirty="0"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aprendizado</a:t>
            </a:r>
            <a:r>
              <a:rPr sz="2800" b="1" i="1" spc="-7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25" dirty="0">
                <a:solidFill>
                  <a:srgbClr val="00AF50"/>
                </a:solidFill>
                <a:latin typeface="Calibri"/>
                <a:cs typeface="Calibri"/>
              </a:rPr>
              <a:t>de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máquina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indent="-228600">
              <a:lnSpc>
                <a:spcPts val="3325"/>
              </a:lnSpc>
              <a:spcBef>
                <a:spcPts val="355"/>
              </a:spcBef>
              <a:buFont typeface="Arial"/>
              <a:buChar char="•"/>
              <a:tabLst>
                <a:tab pos="241300" algn="l"/>
              </a:tabLst>
            </a:pPr>
            <a:r>
              <a:rPr sz="2800" b="1" dirty="0">
                <a:latin typeface="Calibri"/>
                <a:cs typeface="Calibri"/>
              </a:rPr>
              <a:t>Por</a:t>
            </a:r>
            <a:r>
              <a:rPr sz="2800" b="1" spc="-80" dirty="0">
                <a:latin typeface="Calibri"/>
                <a:cs typeface="Calibri"/>
              </a:rPr>
              <a:t> </a:t>
            </a:r>
            <a:r>
              <a:rPr sz="2800" b="1" spc="-20" dirty="0">
                <a:latin typeface="Calibri"/>
                <a:cs typeface="Calibri"/>
              </a:rPr>
              <a:t>quê?</a:t>
            </a:r>
            <a:endParaRPr sz="2800" dirty="0">
              <a:latin typeface="Calibri"/>
              <a:cs typeface="Calibri"/>
            </a:endParaRPr>
          </a:p>
          <a:p>
            <a:pPr marL="698500" marR="139065" lvl="1" indent="-228600">
              <a:lnSpc>
                <a:spcPct val="80000"/>
              </a:lnSpc>
              <a:spcBef>
                <a:spcPts val="540"/>
              </a:spcBef>
              <a:buFont typeface="Wingdings"/>
              <a:buChar char=""/>
              <a:tabLst>
                <a:tab pos="699135" algn="l"/>
              </a:tabLst>
            </a:pPr>
            <a:r>
              <a:rPr sz="2400" b="1" i="1" dirty="0">
                <a:latin typeface="Calibri"/>
                <a:cs typeface="Calibri"/>
              </a:rPr>
              <a:t>Caixa</a:t>
            </a:r>
            <a:r>
              <a:rPr sz="2400" b="1" i="1" spc="-6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de</a:t>
            </a:r>
            <a:r>
              <a:rPr sz="2400" b="1" i="1" spc="-5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ferramentas</a:t>
            </a:r>
            <a:r>
              <a:rPr sz="2400" dirty="0">
                <a:latin typeface="Calibri"/>
                <a:cs typeface="Calibri"/>
              </a:rPr>
              <a:t>: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ML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oferece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ferramentas</a:t>
            </a:r>
            <a:r>
              <a:rPr sz="2400" b="1" i="1" spc="-2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para</a:t>
            </a:r>
            <a:r>
              <a:rPr sz="2400" b="1" i="1" spc="-6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a</a:t>
            </a:r>
            <a:r>
              <a:rPr sz="2400" b="1" i="1" spc="-4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análise</a:t>
            </a:r>
            <a:r>
              <a:rPr sz="2400" b="1" i="1" spc="-6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e</a:t>
            </a:r>
            <a:r>
              <a:rPr sz="2400" b="1" i="1" spc="-4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solução</a:t>
            </a:r>
            <a:r>
              <a:rPr sz="2400" b="1" i="1" spc="-3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de</a:t>
            </a:r>
            <a:r>
              <a:rPr sz="2400" b="1" i="1" spc="-50" dirty="0">
                <a:latin typeface="Calibri"/>
                <a:cs typeface="Calibri"/>
              </a:rPr>
              <a:t> </a:t>
            </a:r>
            <a:r>
              <a:rPr sz="2400" b="1" i="1" spc="-10" dirty="0">
                <a:latin typeface="Calibri"/>
                <a:cs typeface="Calibri"/>
              </a:rPr>
              <a:t>vários </a:t>
            </a:r>
            <a:r>
              <a:rPr sz="2400" b="1" i="1" dirty="0">
                <a:latin typeface="Calibri"/>
                <a:cs typeface="Calibri"/>
              </a:rPr>
              <a:t>problemas</a:t>
            </a:r>
            <a:r>
              <a:rPr sz="2400" b="1" i="1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em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várias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áreas,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incluindo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telecomunicações,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forma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eficiente.</a:t>
            </a:r>
            <a:endParaRPr sz="2400" dirty="0">
              <a:latin typeface="Calibri"/>
              <a:cs typeface="Calibri"/>
            </a:endParaRPr>
          </a:p>
          <a:p>
            <a:pPr marL="698500" marR="5080" lvl="1" indent="-228600">
              <a:lnSpc>
                <a:spcPct val="80000"/>
              </a:lnSpc>
              <a:spcBef>
                <a:spcPts val="505"/>
              </a:spcBef>
              <a:buFont typeface="Wingdings"/>
              <a:buChar char=""/>
              <a:tabLst>
                <a:tab pos="699135" algn="l"/>
              </a:tabLst>
            </a:pPr>
            <a:r>
              <a:rPr sz="2400" b="1" i="1" dirty="0">
                <a:latin typeface="Calibri"/>
                <a:cs typeface="Calibri"/>
              </a:rPr>
              <a:t>Redução</a:t>
            </a:r>
            <a:r>
              <a:rPr sz="2400" b="1" i="1" spc="-5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de</a:t>
            </a:r>
            <a:r>
              <a:rPr sz="2400" b="1" i="1" spc="-35" dirty="0">
                <a:latin typeface="Calibri"/>
                <a:cs typeface="Calibri"/>
              </a:rPr>
              <a:t> </a:t>
            </a:r>
            <a:r>
              <a:rPr sz="2400" b="1" i="1" spc="-10" dirty="0">
                <a:latin typeface="Calibri"/>
                <a:cs typeface="Calibri"/>
              </a:rPr>
              <a:t>complexidade</a:t>
            </a:r>
            <a:r>
              <a:rPr sz="2400" b="1" i="1" spc="-7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e</a:t>
            </a:r>
            <a:r>
              <a:rPr sz="2400" b="1" i="1" spc="-3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custo</a:t>
            </a:r>
            <a:r>
              <a:rPr sz="2400" dirty="0">
                <a:latin typeface="Calibri"/>
                <a:cs typeface="Calibri"/>
              </a:rPr>
              <a:t>: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ML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pode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reduzir</a:t>
            </a:r>
            <a:r>
              <a:rPr sz="2400" b="1" i="1" spc="-2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o</a:t>
            </a:r>
            <a:r>
              <a:rPr sz="2400" b="1" i="1" spc="-3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custo</a:t>
            </a:r>
            <a:r>
              <a:rPr sz="2400" b="1" i="1" spc="-3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e</a:t>
            </a:r>
            <a:r>
              <a:rPr sz="2400" b="1" i="1" spc="-2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a</a:t>
            </a:r>
            <a:r>
              <a:rPr sz="2400" b="1" i="1" spc="-30" dirty="0">
                <a:latin typeface="Calibri"/>
                <a:cs typeface="Calibri"/>
              </a:rPr>
              <a:t> </a:t>
            </a:r>
            <a:r>
              <a:rPr sz="2400" b="1" i="1" spc="-10" dirty="0">
                <a:latin typeface="Calibri"/>
                <a:cs typeface="Calibri"/>
              </a:rPr>
              <a:t>complexidade </a:t>
            </a:r>
            <a:r>
              <a:rPr sz="2400" b="1" i="1" dirty="0">
                <a:latin typeface="Calibri"/>
                <a:cs typeface="Calibri"/>
              </a:rPr>
              <a:t>computacional</a:t>
            </a:r>
            <a:r>
              <a:rPr sz="2400" b="1" i="1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procedimentos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processos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muitas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vezes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têm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desempenho </a:t>
            </a:r>
            <a:r>
              <a:rPr sz="2400" dirty="0">
                <a:latin typeface="Calibri"/>
                <a:cs typeface="Calibri"/>
              </a:rPr>
              <a:t>ótimo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na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teoria,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não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são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usados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na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prática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devido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sua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alta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complexidade </a:t>
            </a:r>
            <a:r>
              <a:rPr sz="2400" dirty="0">
                <a:latin typeface="Calibri"/>
                <a:cs typeface="Calibri"/>
              </a:rPr>
              <a:t>e/ou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custo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proibitivo.</a:t>
            </a:r>
            <a:endParaRPr sz="2400" dirty="0">
              <a:latin typeface="Calibri"/>
              <a:cs typeface="Calibri"/>
            </a:endParaRPr>
          </a:p>
          <a:p>
            <a:pPr marL="698500" marR="85090" lvl="1" indent="-228600">
              <a:lnSpc>
                <a:spcPct val="80000"/>
              </a:lnSpc>
              <a:spcBef>
                <a:spcPts val="505"/>
              </a:spcBef>
              <a:buFont typeface="Wingdings"/>
              <a:buChar char=""/>
              <a:tabLst>
                <a:tab pos="699135" algn="l"/>
              </a:tabLst>
            </a:pPr>
            <a:r>
              <a:rPr sz="2400" b="1" i="1" dirty="0">
                <a:latin typeface="Calibri"/>
                <a:cs typeface="Calibri"/>
              </a:rPr>
              <a:t>Oportunidades</a:t>
            </a:r>
            <a:r>
              <a:rPr sz="2400" dirty="0">
                <a:latin typeface="Calibri"/>
                <a:cs typeface="Calibri"/>
              </a:rPr>
              <a:t>: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existem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muitos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empregos</a:t>
            </a:r>
            <a:r>
              <a:rPr sz="2400" b="1" i="1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área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análise,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ciência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engenharia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dados,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além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pesquisas</a:t>
            </a:r>
            <a:r>
              <a:rPr sz="2400" b="1" i="1" spc="-3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inovadoras</a:t>
            </a:r>
            <a:r>
              <a:rPr sz="2400" dirty="0">
                <a:latin typeface="Calibri"/>
                <a:cs typeface="Calibri"/>
              </a:rPr>
              <a:t>,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usam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ML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para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solução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de </a:t>
            </a:r>
            <a:r>
              <a:rPr sz="2400" dirty="0">
                <a:latin typeface="Calibri"/>
                <a:cs typeface="Calibri"/>
              </a:rPr>
              <a:t>problemas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em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diversas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áreas.</a:t>
            </a:r>
            <a:endParaRPr sz="24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46471" y="91185"/>
            <a:ext cx="1734184" cy="150190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863076" y="49148"/>
            <a:ext cx="2860675" cy="150177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O</a:t>
            </a:r>
            <a:r>
              <a:rPr spc="-30" dirty="0"/>
              <a:t> </a:t>
            </a:r>
            <a:r>
              <a:rPr dirty="0"/>
              <a:t>que</a:t>
            </a:r>
            <a:r>
              <a:rPr spc="-30" dirty="0"/>
              <a:t> </a:t>
            </a:r>
            <a:r>
              <a:rPr dirty="0"/>
              <a:t>é</a:t>
            </a:r>
            <a:r>
              <a:rPr spc="-30" dirty="0"/>
              <a:t> </a:t>
            </a:r>
            <a:r>
              <a:rPr dirty="0"/>
              <a:t>o</a:t>
            </a:r>
            <a:r>
              <a:rPr spc="-20" dirty="0"/>
              <a:t> </a:t>
            </a:r>
            <a:r>
              <a:rPr dirty="0"/>
              <a:t>aprendizado</a:t>
            </a:r>
            <a:r>
              <a:rPr spc="-30" dirty="0"/>
              <a:t> </a:t>
            </a:r>
            <a:r>
              <a:rPr dirty="0"/>
              <a:t>de</a:t>
            </a:r>
            <a:r>
              <a:rPr spc="-25" dirty="0"/>
              <a:t> </a:t>
            </a:r>
            <a:r>
              <a:rPr spc="-10" dirty="0"/>
              <a:t>máquina?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17827"/>
            <a:ext cx="8141334" cy="472440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42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É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uma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subáreas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inteligência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artificial.</a:t>
            </a:r>
            <a:endParaRPr sz="2800" dirty="0">
              <a:latin typeface="Calibri"/>
              <a:cs typeface="Calibri"/>
            </a:endParaRPr>
          </a:p>
          <a:p>
            <a:pPr marL="241300" marR="694690" indent="-228600">
              <a:lnSpc>
                <a:spcPts val="2690"/>
              </a:lnSpc>
              <a:spcBef>
                <a:spcPts val="97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termo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foi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cunhado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em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1959,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pelo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cientista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da </a:t>
            </a:r>
            <a:r>
              <a:rPr sz="2800" spc="-10" dirty="0">
                <a:latin typeface="Calibri"/>
                <a:cs typeface="Calibri"/>
              </a:rPr>
              <a:t>computação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Arthur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Samuel,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definiu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o</a:t>
            </a:r>
            <a:endParaRPr sz="2800" dirty="0">
              <a:latin typeface="Calibri"/>
              <a:cs typeface="Calibri"/>
            </a:endParaRPr>
          </a:p>
          <a:p>
            <a:pPr marL="492759" marR="358775" indent="-3175" algn="ctr">
              <a:lnSpc>
                <a:spcPts val="2690"/>
              </a:lnSpc>
              <a:spcBef>
                <a:spcPts val="1005"/>
              </a:spcBef>
            </a:pPr>
            <a:r>
              <a:rPr sz="2800" dirty="0">
                <a:latin typeface="Calibri"/>
                <a:cs typeface="Calibri"/>
              </a:rPr>
              <a:t>“</a:t>
            </a:r>
            <a:r>
              <a:rPr sz="2800" i="1" dirty="0">
                <a:latin typeface="Calibri"/>
                <a:cs typeface="Calibri"/>
              </a:rPr>
              <a:t>Campo</a:t>
            </a:r>
            <a:r>
              <a:rPr sz="2800" i="1" spc="-65" dirty="0">
                <a:latin typeface="Calibri"/>
                <a:cs typeface="Calibri"/>
              </a:rPr>
              <a:t> </a:t>
            </a:r>
            <a:r>
              <a:rPr sz="2800" i="1" dirty="0">
                <a:latin typeface="Calibri"/>
                <a:cs typeface="Calibri"/>
              </a:rPr>
              <a:t>de</a:t>
            </a:r>
            <a:r>
              <a:rPr sz="2800" i="1" spc="-70" dirty="0">
                <a:latin typeface="Calibri"/>
                <a:cs typeface="Calibri"/>
              </a:rPr>
              <a:t> </a:t>
            </a:r>
            <a:r>
              <a:rPr sz="2800" i="1" dirty="0">
                <a:latin typeface="Calibri"/>
                <a:cs typeface="Calibri"/>
              </a:rPr>
              <a:t>estudo</a:t>
            </a:r>
            <a:r>
              <a:rPr sz="2800" i="1" spc="-65" dirty="0">
                <a:latin typeface="Calibri"/>
                <a:cs typeface="Calibri"/>
              </a:rPr>
              <a:t> </a:t>
            </a:r>
            <a:r>
              <a:rPr sz="2800" i="1" dirty="0">
                <a:latin typeface="Calibri"/>
                <a:cs typeface="Calibri"/>
              </a:rPr>
              <a:t>que</a:t>
            </a:r>
            <a:r>
              <a:rPr sz="2800" i="1" spc="-70" dirty="0">
                <a:latin typeface="Calibri"/>
                <a:cs typeface="Calibri"/>
              </a:rPr>
              <a:t> </a:t>
            </a:r>
            <a:r>
              <a:rPr sz="2800" i="1" dirty="0">
                <a:latin typeface="Calibri"/>
                <a:cs typeface="Calibri"/>
              </a:rPr>
              <a:t>dá</a:t>
            </a:r>
            <a:r>
              <a:rPr sz="2800" i="1" spc="-70" dirty="0">
                <a:latin typeface="Calibri"/>
                <a:cs typeface="Calibri"/>
              </a:rPr>
              <a:t> </a:t>
            </a:r>
            <a:r>
              <a:rPr sz="2800" i="1" dirty="0">
                <a:latin typeface="Calibri"/>
                <a:cs typeface="Calibri"/>
              </a:rPr>
              <a:t>aos</a:t>
            </a:r>
            <a:r>
              <a:rPr sz="2800" i="1" spc="-75" dirty="0">
                <a:latin typeface="Calibri"/>
                <a:cs typeface="Calibri"/>
              </a:rPr>
              <a:t> </a:t>
            </a:r>
            <a:r>
              <a:rPr sz="2800" i="1" spc="-10" dirty="0">
                <a:latin typeface="Calibri"/>
                <a:cs typeface="Calibri"/>
              </a:rPr>
              <a:t>computadores</a:t>
            </a:r>
            <a:r>
              <a:rPr sz="2800" i="1" spc="-70" dirty="0">
                <a:latin typeface="Calibri"/>
                <a:cs typeface="Calibri"/>
              </a:rPr>
              <a:t> </a:t>
            </a:r>
            <a:r>
              <a:rPr sz="2800" i="1" spc="-50" dirty="0">
                <a:latin typeface="Calibri"/>
                <a:cs typeface="Calibri"/>
              </a:rPr>
              <a:t>a </a:t>
            </a:r>
            <a:r>
              <a:rPr sz="2800" i="1" spc="-10" dirty="0">
                <a:latin typeface="Calibri"/>
                <a:cs typeface="Calibri"/>
              </a:rPr>
              <a:t>habilidade</a:t>
            </a:r>
            <a:r>
              <a:rPr sz="2800" i="1" spc="-85" dirty="0">
                <a:latin typeface="Calibri"/>
                <a:cs typeface="Calibri"/>
              </a:rPr>
              <a:t> </a:t>
            </a:r>
            <a:r>
              <a:rPr sz="2800" i="1" dirty="0">
                <a:latin typeface="Calibri"/>
                <a:cs typeface="Calibri"/>
              </a:rPr>
              <a:t>de</a:t>
            </a:r>
            <a:r>
              <a:rPr sz="2800" i="1" spc="-75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EF"/>
                </a:solidFill>
                <a:latin typeface="Calibri"/>
                <a:cs typeface="Calibri"/>
              </a:rPr>
              <a:t>aprender</a:t>
            </a:r>
            <a:r>
              <a:rPr sz="2800" b="1" i="1" spc="-70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EF"/>
                </a:solidFill>
                <a:latin typeface="Calibri"/>
                <a:cs typeface="Calibri"/>
              </a:rPr>
              <a:t>sem</a:t>
            </a:r>
            <a:r>
              <a:rPr sz="2800" b="1" i="1" spc="-80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EF"/>
                </a:solidFill>
                <a:latin typeface="Calibri"/>
                <a:cs typeface="Calibri"/>
              </a:rPr>
              <a:t>serem</a:t>
            </a:r>
            <a:r>
              <a:rPr sz="2800" b="1" i="1" spc="-70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EF"/>
                </a:solidFill>
                <a:latin typeface="Calibri"/>
                <a:cs typeface="Calibri"/>
              </a:rPr>
              <a:t>explicitamente programados</a:t>
            </a:r>
            <a:r>
              <a:rPr sz="2800" spc="-10" dirty="0">
                <a:latin typeface="Calibri"/>
                <a:cs typeface="Calibri"/>
              </a:rPr>
              <a:t>.”</a:t>
            </a:r>
            <a:endParaRPr sz="2800" dirty="0">
              <a:latin typeface="Calibri"/>
              <a:cs typeface="Calibri"/>
            </a:endParaRPr>
          </a:p>
          <a:p>
            <a:pPr marL="241300" indent="-228600">
              <a:lnSpc>
                <a:spcPts val="3329"/>
              </a:lnSpc>
              <a:spcBef>
                <a:spcPts val="34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Mas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como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eles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aprendem?</a:t>
            </a:r>
            <a:endParaRPr sz="2800" dirty="0">
              <a:latin typeface="Calibri"/>
              <a:cs typeface="Calibri"/>
            </a:endParaRPr>
          </a:p>
          <a:p>
            <a:pPr marL="698500" marR="5080" lvl="1" indent="-228600">
              <a:lnSpc>
                <a:spcPct val="80000"/>
              </a:lnSpc>
              <a:spcBef>
                <a:spcPts val="545"/>
              </a:spcBef>
              <a:buFont typeface="Wingdings"/>
              <a:buChar char=""/>
              <a:tabLst>
                <a:tab pos="699135" algn="l"/>
              </a:tabLst>
            </a:pPr>
            <a:r>
              <a:rPr sz="2400" spc="-10" dirty="0">
                <a:latin typeface="Calibri"/>
                <a:cs typeface="Calibri"/>
              </a:rPr>
              <a:t>Através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experiências</a:t>
            </a:r>
            <a:r>
              <a:rPr sz="2400" b="1" i="1" spc="-6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prévias</a:t>
            </a:r>
            <a:r>
              <a:rPr sz="2400" dirty="0">
                <a:latin typeface="Calibri"/>
                <a:cs typeface="Calibri"/>
              </a:rPr>
              <a:t>,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b="1" i="1" spc="-10" dirty="0">
                <a:latin typeface="Calibri"/>
                <a:cs typeface="Calibri"/>
              </a:rPr>
              <a:t>induz-</a:t>
            </a:r>
            <a:r>
              <a:rPr sz="2400" b="1" i="1" dirty="0">
                <a:latin typeface="Calibri"/>
                <a:cs typeface="Calibri"/>
              </a:rPr>
              <a:t>se</a:t>
            </a:r>
            <a:r>
              <a:rPr sz="2400" b="1" i="1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conhecimento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nas </a:t>
            </a:r>
            <a:r>
              <a:rPr sz="2400" spc="-10" dirty="0">
                <a:latin typeface="Calibri"/>
                <a:cs typeface="Calibri"/>
              </a:rPr>
              <a:t>máquinas.</a:t>
            </a:r>
            <a:endParaRPr sz="2400" dirty="0">
              <a:latin typeface="Calibri"/>
              <a:cs typeface="Calibri"/>
            </a:endParaRPr>
          </a:p>
          <a:p>
            <a:pPr marL="241300" marR="92075" indent="-228600">
              <a:lnSpc>
                <a:spcPct val="80000"/>
              </a:lnSpc>
              <a:spcBef>
                <a:spcPts val="98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Algoritmos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ML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são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orientados</a:t>
            </a:r>
            <a:r>
              <a:rPr sz="2800" b="1" i="1" spc="-5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a</a:t>
            </a:r>
            <a:r>
              <a:rPr sz="2800" b="1" i="1" spc="-7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dados</a:t>
            </a:r>
            <a:r>
              <a:rPr sz="2800" b="1" i="1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pois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eles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dependem</a:t>
            </a:r>
            <a:r>
              <a:rPr sz="2800" b="1" i="1" spc="-50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EC7C30"/>
                </a:solidFill>
                <a:latin typeface="Calibri"/>
                <a:cs typeface="Calibri"/>
              </a:rPr>
              <a:t>fortemente</a:t>
            </a:r>
            <a:r>
              <a:rPr sz="2800" b="1" i="1" spc="-45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de</a:t>
            </a:r>
            <a:r>
              <a:rPr sz="2800" b="1" i="1" spc="-60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um</a:t>
            </a:r>
            <a:r>
              <a:rPr sz="2800" b="1" i="1" spc="-70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EC7C30"/>
                </a:solidFill>
                <a:latin typeface="Calibri"/>
                <a:cs typeface="Calibri"/>
              </a:rPr>
              <a:t>conjunto</a:t>
            </a:r>
            <a:r>
              <a:rPr sz="2800" b="1" i="1" spc="-80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de</a:t>
            </a:r>
            <a:r>
              <a:rPr sz="2800" b="1" i="1" spc="-80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dados</a:t>
            </a:r>
            <a:r>
              <a:rPr sz="2800" b="1" i="1" spc="-135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para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aprender</a:t>
            </a:r>
            <a:r>
              <a:rPr sz="2800" b="1" i="1" spc="-10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uma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solução</a:t>
            </a:r>
            <a:r>
              <a:rPr sz="2800" b="1" i="1" spc="-11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6F2F9F"/>
                </a:solidFill>
                <a:latin typeface="Calibri"/>
                <a:cs typeface="Calibri"/>
              </a:rPr>
              <a:t>geral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65411" y="1955419"/>
            <a:ext cx="1915922" cy="127800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265411" y="5369001"/>
            <a:ext cx="2819273" cy="1205966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904309" y="369944"/>
            <a:ext cx="1939495" cy="129135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730231" y="3498596"/>
            <a:ext cx="2354453" cy="136194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Paradigma</a:t>
            </a:r>
            <a:r>
              <a:rPr spc="-125" dirty="0"/>
              <a:t> </a:t>
            </a:r>
            <a:r>
              <a:rPr dirty="0"/>
              <a:t>da</a:t>
            </a:r>
            <a:r>
              <a:rPr spc="-125" dirty="0"/>
              <a:t> </a:t>
            </a:r>
            <a:r>
              <a:rPr dirty="0"/>
              <a:t>programação</a:t>
            </a:r>
            <a:r>
              <a:rPr spc="-140" dirty="0"/>
              <a:t> </a:t>
            </a:r>
            <a:r>
              <a:rPr spc="-10" dirty="0"/>
              <a:t>tradicional</a:t>
            </a:r>
          </a:p>
        </p:txBody>
      </p:sp>
      <p:sp>
        <p:nvSpPr>
          <p:cNvPr id="3" name="object 3"/>
          <p:cNvSpPr/>
          <p:nvPr/>
        </p:nvSpPr>
        <p:spPr>
          <a:xfrm>
            <a:off x="9723881" y="3175254"/>
            <a:ext cx="437515" cy="328930"/>
          </a:xfrm>
          <a:custGeom>
            <a:avLst/>
            <a:gdLst/>
            <a:ahLst/>
            <a:cxnLst/>
            <a:rect l="l" t="t" r="r" b="b"/>
            <a:pathLst>
              <a:path w="437515" h="328929">
                <a:moveTo>
                  <a:pt x="332104" y="0"/>
                </a:moveTo>
                <a:lnTo>
                  <a:pt x="327406" y="13335"/>
                </a:lnTo>
                <a:lnTo>
                  <a:pt x="346456" y="21597"/>
                </a:lnTo>
                <a:lnTo>
                  <a:pt x="362839" y="33051"/>
                </a:lnTo>
                <a:lnTo>
                  <a:pt x="387603" y="65532"/>
                </a:lnTo>
                <a:lnTo>
                  <a:pt x="402177" y="109219"/>
                </a:lnTo>
                <a:lnTo>
                  <a:pt x="407035" y="162813"/>
                </a:lnTo>
                <a:lnTo>
                  <a:pt x="405800" y="191845"/>
                </a:lnTo>
                <a:lnTo>
                  <a:pt x="395997" y="241859"/>
                </a:lnTo>
                <a:lnTo>
                  <a:pt x="376455" y="280965"/>
                </a:lnTo>
                <a:lnTo>
                  <a:pt x="346650" y="307306"/>
                </a:lnTo>
                <a:lnTo>
                  <a:pt x="327914" y="315595"/>
                </a:lnTo>
                <a:lnTo>
                  <a:pt x="332104" y="328930"/>
                </a:lnTo>
                <a:lnTo>
                  <a:pt x="376935" y="307895"/>
                </a:lnTo>
                <a:lnTo>
                  <a:pt x="409956" y="271525"/>
                </a:lnTo>
                <a:lnTo>
                  <a:pt x="430244" y="222678"/>
                </a:lnTo>
                <a:lnTo>
                  <a:pt x="437007" y="164592"/>
                </a:lnTo>
                <a:lnTo>
                  <a:pt x="435296" y="134417"/>
                </a:lnTo>
                <a:lnTo>
                  <a:pt x="421683" y="80974"/>
                </a:lnTo>
                <a:lnTo>
                  <a:pt x="394827" y="37468"/>
                </a:lnTo>
                <a:lnTo>
                  <a:pt x="355965" y="8616"/>
                </a:lnTo>
                <a:lnTo>
                  <a:pt x="332104" y="0"/>
                </a:lnTo>
                <a:close/>
              </a:path>
              <a:path w="437515" h="328929">
                <a:moveTo>
                  <a:pt x="104901" y="0"/>
                </a:moveTo>
                <a:lnTo>
                  <a:pt x="60118" y="21113"/>
                </a:lnTo>
                <a:lnTo>
                  <a:pt x="27050" y="57658"/>
                </a:lnTo>
                <a:lnTo>
                  <a:pt x="6762" y="106552"/>
                </a:lnTo>
                <a:lnTo>
                  <a:pt x="0" y="164592"/>
                </a:lnTo>
                <a:lnTo>
                  <a:pt x="1690" y="194784"/>
                </a:lnTo>
                <a:lnTo>
                  <a:pt x="15216" y="248263"/>
                </a:lnTo>
                <a:lnTo>
                  <a:pt x="42054" y="291621"/>
                </a:lnTo>
                <a:lnTo>
                  <a:pt x="80968" y="320335"/>
                </a:lnTo>
                <a:lnTo>
                  <a:pt x="104901" y="328930"/>
                </a:lnTo>
                <a:lnTo>
                  <a:pt x="108966" y="315595"/>
                </a:lnTo>
                <a:lnTo>
                  <a:pt x="90249" y="307306"/>
                </a:lnTo>
                <a:lnTo>
                  <a:pt x="74104" y="295767"/>
                </a:lnTo>
                <a:lnTo>
                  <a:pt x="49529" y="262890"/>
                </a:lnTo>
                <a:lnTo>
                  <a:pt x="34845" y="218186"/>
                </a:lnTo>
                <a:lnTo>
                  <a:pt x="29972" y="162813"/>
                </a:lnTo>
                <a:lnTo>
                  <a:pt x="31188" y="134790"/>
                </a:lnTo>
                <a:lnTo>
                  <a:pt x="40955" y="86125"/>
                </a:lnTo>
                <a:lnTo>
                  <a:pt x="60577" y="47696"/>
                </a:lnTo>
                <a:lnTo>
                  <a:pt x="90624" y="21597"/>
                </a:lnTo>
                <a:lnTo>
                  <a:pt x="109600" y="13335"/>
                </a:lnTo>
                <a:lnTo>
                  <a:pt x="104901" y="0"/>
                </a:lnTo>
                <a:close/>
              </a:path>
            </a:pathLst>
          </a:custGeom>
          <a:solidFill>
            <a:srgbClr val="00AF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8135873" y="3687317"/>
            <a:ext cx="437515" cy="328930"/>
          </a:xfrm>
          <a:custGeom>
            <a:avLst/>
            <a:gdLst/>
            <a:ahLst/>
            <a:cxnLst/>
            <a:rect l="l" t="t" r="r" b="b"/>
            <a:pathLst>
              <a:path w="437515" h="328929">
                <a:moveTo>
                  <a:pt x="332104" y="0"/>
                </a:moveTo>
                <a:lnTo>
                  <a:pt x="327405" y="13334"/>
                </a:lnTo>
                <a:lnTo>
                  <a:pt x="346455" y="21597"/>
                </a:lnTo>
                <a:lnTo>
                  <a:pt x="362838" y="33051"/>
                </a:lnTo>
                <a:lnTo>
                  <a:pt x="387603" y="65531"/>
                </a:lnTo>
                <a:lnTo>
                  <a:pt x="402177" y="109219"/>
                </a:lnTo>
                <a:lnTo>
                  <a:pt x="407034" y="162813"/>
                </a:lnTo>
                <a:lnTo>
                  <a:pt x="405800" y="191845"/>
                </a:lnTo>
                <a:lnTo>
                  <a:pt x="395997" y="241859"/>
                </a:lnTo>
                <a:lnTo>
                  <a:pt x="376455" y="280965"/>
                </a:lnTo>
                <a:lnTo>
                  <a:pt x="346650" y="307306"/>
                </a:lnTo>
                <a:lnTo>
                  <a:pt x="327914" y="315594"/>
                </a:lnTo>
                <a:lnTo>
                  <a:pt x="332104" y="328929"/>
                </a:lnTo>
                <a:lnTo>
                  <a:pt x="376936" y="307895"/>
                </a:lnTo>
                <a:lnTo>
                  <a:pt x="409955" y="271525"/>
                </a:lnTo>
                <a:lnTo>
                  <a:pt x="430244" y="222678"/>
                </a:lnTo>
                <a:lnTo>
                  <a:pt x="437006" y="164591"/>
                </a:lnTo>
                <a:lnTo>
                  <a:pt x="435296" y="134417"/>
                </a:lnTo>
                <a:lnTo>
                  <a:pt x="421683" y="80974"/>
                </a:lnTo>
                <a:lnTo>
                  <a:pt x="394827" y="37468"/>
                </a:lnTo>
                <a:lnTo>
                  <a:pt x="355965" y="8616"/>
                </a:lnTo>
                <a:lnTo>
                  <a:pt x="332104" y="0"/>
                </a:lnTo>
                <a:close/>
              </a:path>
              <a:path w="437515" h="328929">
                <a:moveTo>
                  <a:pt x="104901" y="0"/>
                </a:moveTo>
                <a:lnTo>
                  <a:pt x="60118" y="21113"/>
                </a:lnTo>
                <a:lnTo>
                  <a:pt x="27050" y="57657"/>
                </a:lnTo>
                <a:lnTo>
                  <a:pt x="6762" y="106552"/>
                </a:lnTo>
                <a:lnTo>
                  <a:pt x="0" y="164591"/>
                </a:lnTo>
                <a:lnTo>
                  <a:pt x="1690" y="194784"/>
                </a:lnTo>
                <a:lnTo>
                  <a:pt x="15216" y="248263"/>
                </a:lnTo>
                <a:lnTo>
                  <a:pt x="42054" y="291621"/>
                </a:lnTo>
                <a:lnTo>
                  <a:pt x="80968" y="320335"/>
                </a:lnTo>
                <a:lnTo>
                  <a:pt x="104901" y="328929"/>
                </a:lnTo>
                <a:lnTo>
                  <a:pt x="108966" y="315594"/>
                </a:lnTo>
                <a:lnTo>
                  <a:pt x="90249" y="307306"/>
                </a:lnTo>
                <a:lnTo>
                  <a:pt x="74104" y="295767"/>
                </a:lnTo>
                <a:lnTo>
                  <a:pt x="49529" y="262889"/>
                </a:lnTo>
                <a:lnTo>
                  <a:pt x="34845" y="218185"/>
                </a:lnTo>
                <a:lnTo>
                  <a:pt x="29972" y="162813"/>
                </a:lnTo>
                <a:lnTo>
                  <a:pt x="31188" y="134790"/>
                </a:lnTo>
                <a:lnTo>
                  <a:pt x="40955" y="86125"/>
                </a:lnTo>
                <a:lnTo>
                  <a:pt x="60577" y="47696"/>
                </a:lnTo>
                <a:lnTo>
                  <a:pt x="90624" y="21597"/>
                </a:lnTo>
                <a:lnTo>
                  <a:pt x="109600" y="13334"/>
                </a:lnTo>
                <a:lnTo>
                  <a:pt x="104901" y="0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16939" y="1793493"/>
            <a:ext cx="10774680" cy="26269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8600">
              <a:lnSpc>
                <a:spcPts val="3195"/>
              </a:lnSpc>
              <a:spcBef>
                <a:spcPts val="9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Para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entendermos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aprendizado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máquina,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vamos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fazer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um</a:t>
            </a:r>
            <a:endParaRPr sz="2800" dirty="0">
              <a:latin typeface="Calibri"/>
              <a:cs typeface="Calibri"/>
            </a:endParaRPr>
          </a:p>
          <a:p>
            <a:pPr marL="241300">
              <a:lnSpc>
                <a:spcPts val="3195"/>
              </a:lnSpc>
            </a:pPr>
            <a:r>
              <a:rPr sz="2800" b="1" i="1" dirty="0">
                <a:latin typeface="Calibri"/>
                <a:cs typeface="Calibri"/>
              </a:rPr>
              <a:t>paralelo</a:t>
            </a:r>
            <a:r>
              <a:rPr sz="2800" b="1" i="1" spc="-8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com</a:t>
            </a:r>
            <a:r>
              <a:rPr sz="2800" b="1" i="1" spc="-8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a</a:t>
            </a:r>
            <a:r>
              <a:rPr sz="2800" b="1" i="1" spc="-7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programação</a:t>
            </a:r>
            <a:r>
              <a:rPr sz="2800" b="1" i="1" spc="-80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tradicional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marR="1343660" indent="-228600">
              <a:lnSpc>
                <a:spcPts val="3020"/>
              </a:lnSpc>
              <a:spcBef>
                <a:spcPts val="1055"/>
              </a:spcBef>
              <a:buFont typeface="Arial"/>
              <a:buChar char="•"/>
              <a:tabLst>
                <a:tab pos="241300" algn="l"/>
                <a:tab pos="8924290" algn="l"/>
                <a:tab pos="9277985" algn="l"/>
              </a:tabLst>
            </a:pPr>
            <a:r>
              <a:rPr sz="2800" dirty="0">
                <a:latin typeface="Calibri"/>
                <a:cs typeface="Calibri"/>
              </a:rPr>
              <a:t>Na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programação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tradicional,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programador</a:t>
            </a:r>
            <a:r>
              <a:rPr sz="2800" b="1" i="1" spc="-5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cria</a:t>
            </a:r>
            <a:r>
              <a:rPr sz="2800" b="1" i="1" spc="-6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as</a:t>
            </a:r>
            <a:r>
              <a:rPr sz="2800" b="1" i="1" spc="-6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regras</a:t>
            </a:r>
            <a:r>
              <a:rPr sz="2800" b="1" i="1" spc="-5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(i.e., programa)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que</a:t>
            </a:r>
            <a:r>
              <a:rPr sz="2800" b="1" i="1" spc="-7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mapeiam</a:t>
            </a:r>
            <a:r>
              <a:rPr sz="2800" b="1" i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as</a:t>
            </a:r>
            <a:r>
              <a:rPr sz="2800" b="1" i="1" spc="-7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entradas,</a:t>
            </a:r>
            <a:r>
              <a:rPr sz="2800" b="1" i="1" spc="-7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AF50"/>
                </a:solidFill>
                <a:latin typeface="Cambria Math"/>
                <a:cs typeface="Cambria Math"/>
              </a:rPr>
              <a:t>𝒙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,</a:t>
            </a:r>
            <a:r>
              <a:rPr sz="2800" b="1" i="1" spc="-5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nas</a:t>
            </a:r>
            <a:r>
              <a:rPr sz="2800" b="1" i="1" spc="-7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saídas,</a:t>
            </a:r>
            <a:r>
              <a:rPr sz="2800" b="1" i="1" spc="-6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AF50"/>
                </a:solidFill>
                <a:latin typeface="Cambria Math"/>
                <a:cs typeface="Cambria Math"/>
              </a:rPr>
              <a:t>𝒚</a:t>
            </a:r>
            <a:r>
              <a:rPr sz="2800" spc="80" dirty="0">
                <a:solidFill>
                  <a:srgbClr val="00AF50"/>
                </a:solidFill>
                <a:latin typeface="Cambria Math"/>
                <a:cs typeface="Cambria Math"/>
              </a:rPr>
              <a:t> </a:t>
            </a:r>
            <a:r>
              <a:rPr sz="2800" dirty="0">
                <a:solidFill>
                  <a:srgbClr val="00AF50"/>
                </a:solidFill>
                <a:latin typeface="Cambria Math"/>
                <a:cs typeface="Cambria Math"/>
              </a:rPr>
              <a:t>=</a:t>
            </a:r>
            <a:r>
              <a:rPr sz="2800" spc="80" dirty="0">
                <a:solidFill>
                  <a:srgbClr val="00AF50"/>
                </a:solidFill>
                <a:latin typeface="Cambria Math"/>
                <a:cs typeface="Cambria Math"/>
              </a:rPr>
              <a:t> </a:t>
            </a:r>
            <a:r>
              <a:rPr sz="2800" spc="-50" dirty="0">
                <a:solidFill>
                  <a:srgbClr val="00AF50"/>
                </a:solidFill>
                <a:latin typeface="Cambria Math"/>
                <a:cs typeface="Cambria Math"/>
              </a:rPr>
              <a:t>𝒇</a:t>
            </a:r>
            <a:r>
              <a:rPr sz="2800" dirty="0">
                <a:solidFill>
                  <a:srgbClr val="00AF50"/>
                </a:solidFill>
                <a:latin typeface="Cambria Math"/>
                <a:cs typeface="Cambria Math"/>
              </a:rPr>
              <a:t>	</a:t>
            </a:r>
            <a:r>
              <a:rPr sz="2800" spc="-50" dirty="0">
                <a:solidFill>
                  <a:srgbClr val="00AF50"/>
                </a:solidFill>
                <a:latin typeface="Cambria Math"/>
                <a:cs typeface="Cambria Math"/>
              </a:rPr>
              <a:t>𝒙</a:t>
            </a:r>
            <a:r>
              <a:rPr sz="2800" dirty="0">
                <a:solidFill>
                  <a:srgbClr val="00AF50"/>
                </a:solidFill>
                <a:latin typeface="Cambria Math"/>
                <a:cs typeface="Cambria Math"/>
              </a:rPr>
              <a:t>	</a:t>
            </a:r>
            <a:r>
              <a:rPr sz="2800" spc="-5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marR="5080" indent="-228600">
              <a:lnSpc>
                <a:spcPts val="3010"/>
              </a:lnSpc>
              <a:spcBef>
                <a:spcPts val="1025"/>
              </a:spcBef>
              <a:buFont typeface="Arial"/>
              <a:buChar char="•"/>
              <a:tabLst>
                <a:tab pos="241300" algn="l"/>
                <a:tab pos="7336155" algn="l"/>
                <a:tab pos="7687945" algn="l"/>
              </a:tabLst>
            </a:pPr>
            <a:r>
              <a:rPr sz="2800" dirty="0">
                <a:latin typeface="Calibri"/>
                <a:cs typeface="Calibri"/>
              </a:rPr>
              <a:t>Imaginem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problema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onde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130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solução</a:t>
            </a:r>
            <a:r>
              <a:rPr sz="2800" b="1" i="1" spc="-9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geral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50" dirty="0">
                <a:solidFill>
                  <a:srgbClr val="6F2F9F"/>
                </a:solidFill>
                <a:latin typeface="Cambria Math"/>
                <a:cs typeface="Cambria Math"/>
              </a:rPr>
              <a:t>𝒇</a:t>
            </a:r>
            <a:r>
              <a:rPr sz="2800" dirty="0">
                <a:solidFill>
                  <a:srgbClr val="6F2F9F"/>
                </a:solidFill>
                <a:latin typeface="Cambria Math"/>
                <a:cs typeface="Cambria Math"/>
              </a:rPr>
              <a:t>	</a:t>
            </a:r>
            <a:r>
              <a:rPr sz="2800" spc="-50" dirty="0">
                <a:solidFill>
                  <a:srgbClr val="6F2F9F"/>
                </a:solidFill>
                <a:latin typeface="Cambria Math"/>
                <a:cs typeface="Cambria Math"/>
              </a:rPr>
              <a:t>𝒙</a:t>
            </a:r>
            <a:r>
              <a:rPr sz="2800" dirty="0">
                <a:solidFill>
                  <a:srgbClr val="6F2F9F"/>
                </a:solidFill>
                <a:latin typeface="Cambria Math"/>
                <a:cs typeface="Cambria Math"/>
              </a:rPr>
              <a:t>	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equação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uma </a:t>
            </a:r>
            <a:r>
              <a:rPr sz="2800" spc="-10" dirty="0">
                <a:latin typeface="Calibri"/>
                <a:cs typeface="Calibri"/>
              </a:rPr>
              <a:t>reta.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239384" y="5316092"/>
            <a:ext cx="1910714" cy="84963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endParaRPr sz="1850">
              <a:latin typeface="Times New Roman"/>
              <a:cs typeface="Times New Roman"/>
            </a:endParaRPr>
          </a:p>
          <a:p>
            <a:pPr marL="370840">
              <a:lnSpc>
                <a:spcPct val="100000"/>
              </a:lnSpc>
              <a:spcBef>
                <a:spcPts val="5"/>
              </a:spcBef>
            </a:pPr>
            <a:r>
              <a:rPr sz="1800" spc="-10" dirty="0">
                <a:latin typeface="Calibri"/>
                <a:cs typeface="Calibri"/>
              </a:rPr>
              <a:t>Computador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625085" y="4798821"/>
            <a:ext cx="31407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Calibri"/>
                <a:cs typeface="Calibri"/>
              </a:rPr>
              <a:t>Programação</a:t>
            </a:r>
            <a:r>
              <a:rPr sz="2400" b="1" spc="-13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Tradicional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411471" y="5457571"/>
            <a:ext cx="828040" cy="76200"/>
          </a:xfrm>
          <a:custGeom>
            <a:avLst/>
            <a:gdLst/>
            <a:ahLst/>
            <a:cxnLst/>
            <a:rect l="l" t="t" r="r" b="b"/>
            <a:pathLst>
              <a:path w="828039" h="76200">
                <a:moveTo>
                  <a:pt x="751713" y="0"/>
                </a:moveTo>
                <a:lnTo>
                  <a:pt x="751713" y="76199"/>
                </a:lnTo>
                <a:lnTo>
                  <a:pt x="808863" y="47624"/>
                </a:lnTo>
                <a:lnTo>
                  <a:pt x="764413" y="47624"/>
                </a:lnTo>
                <a:lnTo>
                  <a:pt x="764413" y="28574"/>
                </a:lnTo>
                <a:lnTo>
                  <a:pt x="808863" y="28574"/>
                </a:lnTo>
                <a:lnTo>
                  <a:pt x="751713" y="0"/>
                </a:lnTo>
                <a:close/>
              </a:path>
              <a:path w="828039" h="76200">
                <a:moveTo>
                  <a:pt x="751713" y="28574"/>
                </a:moveTo>
                <a:lnTo>
                  <a:pt x="0" y="28574"/>
                </a:lnTo>
                <a:lnTo>
                  <a:pt x="0" y="47624"/>
                </a:lnTo>
                <a:lnTo>
                  <a:pt x="751713" y="47624"/>
                </a:lnTo>
                <a:lnTo>
                  <a:pt x="751713" y="28574"/>
                </a:lnTo>
                <a:close/>
              </a:path>
              <a:path w="828039" h="76200">
                <a:moveTo>
                  <a:pt x="808863" y="28574"/>
                </a:moveTo>
                <a:lnTo>
                  <a:pt x="764413" y="28574"/>
                </a:lnTo>
                <a:lnTo>
                  <a:pt x="764413" y="47624"/>
                </a:lnTo>
                <a:lnTo>
                  <a:pt x="808863" y="47624"/>
                </a:lnTo>
                <a:lnTo>
                  <a:pt x="827913" y="38099"/>
                </a:lnTo>
                <a:lnTo>
                  <a:pt x="808863" y="28574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411471" y="5952896"/>
            <a:ext cx="828040" cy="76200"/>
          </a:xfrm>
          <a:custGeom>
            <a:avLst/>
            <a:gdLst/>
            <a:ahLst/>
            <a:cxnLst/>
            <a:rect l="l" t="t" r="r" b="b"/>
            <a:pathLst>
              <a:path w="828039" h="76200">
                <a:moveTo>
                  <a:pt x="751713" y="0"/>
                </a:moveTo>
                <a:lnTo>
                  <a:pt x="751713" y="76200"/>
                </a:lnTo>
                <a:lnTo>
                  <a:pt x="808863" y="47625"/>
                </a:lnTo>
                <a:lnTo>
                  <a:pt x="764413" y="47625"/>
                </a:lnTo>
                <a:lnTo>
                  <a:pt x="764413" y="28575"/>
                </a:lnTo>
                <a:lnTo>
                  <a:pt x="808863" y="28575"/>
                </a:lnTo>
                <a:lnTo>
                  <a:pt x="751713" y="0"/>
                </a:lnTo>
                <a:close/>
              </a:path>
              <a:path w="828039" h="76200">
                <a:moveTo>
                  <a:pt x="751713" y="28575"/>
                </a:moveTo>
                <a:lnTo>
                  <a:pt x="0" y="28575"/>
                </a:lnTo>
                <a:lnTo>
                  <a:pt x="0" y="47625"/>
                </a:lnTo>
                <a:lnTo>
                  <a:pt x="751713" y="47625"/>
                </a:lnTo>
                <a:lnTo>
                  <a:pt x="751713" y="28575"/>
                </a:lnTo>
                <a:close/>
              </a:path>
              <a:path w="828039" h="76200">
                <a:moveTo>
                  <a:pt x="808863" y="28575"/>
                </a:moveTo>
                <a:lnTo>
                  <a:pt x="764413" y="28575"/>
                </a:lnTo>
                <a:lnTo>
                  <a:pt x="764413" y="47625"/>
                </a:lnTo>
                <a:lnTo>
                  <a:pt x="808863" y="47625"/>
                </a:lnTo>
                <a:lnTo>
                  <a:pt x="827913" y="38100"/>
                </a:lnTo>
                <a:lnTo>
                  <a:pt x="808863" y="28575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63416" y="5561838"/>
            <a:ext cx="217932" cy="165150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2996564" y="5011673"/>
            <a:ext cx="1450975" cy="12960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7495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Programa</a:t>
            </a:r>
            <a:endParaRPr sz="1800">
              <a:latin typeface="Calibri"/>
              <a:cs typeface="Calibri"/>
            </a:endParaRPr>
          </a:p>
          <a:p>
            <a:pPr marL="3810" algn="ctr">
              <a:lnSpc>
                <a:spcPct val="100000"/>
              </a:lnSpc>
              <a:spcBef>
                <a:spcPts val="25"/>
              </a:spcBef>
            </a:pPr>
            <a:r>
              <a:rPr sz="1400" dirty="0">
                <a:latin typeface="Calibri"/>
                <a:cs typeface="Calibri"/>
              </a:rPr>
              <a:t>e.g.,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uma </a:t>
            </a:r>
            <a:r>
              <a:rPr sz="1400" spc="-10" dirty="0">
                <a:latin typeface="Calibri"/>
                <a:cs typeface="Calibri"/>
              </a:rPr>
              <a:t>função:</a:t>
            </a:r>
            <a:endParaRPr sz="1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5"/>
              </a:spcBef>
              <a:tabLst>
                <a:tab pos="735965" algn="l"/>
              </a:tabLst>
            </a:pPr>
            <a:r>
              <a:rPr sz="1400" dirty="0">
                <a:latin typeface="Cambria Math"/>
                <a:cs typeface="Cambria Math"/>
              </a:rPr>
              <a:t>𝑦</a:t>
            </a:r>
            <a:r>
              <a:rPr sz="1400" spc="100" dirty="0">
                <a:latin typeface="Cambria Math"/>
                <a:cs typeface="Cambria Math"/>
              </a:rPr>
              <a:t> </a:t>
            </a:r>
            <a:r>
              <a:rPr sz="1400" dirty="0">
                <a:latin typeface="Cambria Math"/>
                <a:cs typeface="Cambria Math"/>
              </a:rPr>
              <a:t>=</a:t>
            </a:r>
            <a:r>
              <a:rPr sz="1400" spc="80" dirty="0">
                <a:latin typeface="Cambria Math"/>
                <a:cs typeface="Cambria Math"/>
              </a:rPr>
              <a:t> </a:t>
            </a:r>
            <a:r>
              <a:rPr sz="1400" dirty="0">
                <a:latin typeface="Cambria Math"/>
                <a:cs typeface="Cambria Math"/>
              </a:rPr>
              <a:t>𝑓</a:t>
            </a:r>
            <a:r>
              <a:rPr sz="1400" spc="315" dirty="0">
                <a:latin typeface="Cambria Math"/>
                <a:cs typeface="Cambria Math"/>
              </a:rPr>
              <a:t> </a:t>
            </a:r>
            <a:r>
              <a:rPr sz="1400" spc="-50" dirty="0">
                <a:latin typeface="Cambria Math"/>
                <a:cs typeface="Cambria Math"/>
              </a:rPr>
              <a:t>𝑥</a:t>
            </a:r>
            <a:r>
              <a:rPr sz="1400" dirty="0">
                <a:latin typeface="Cambria Math"/>
                <a:cs typeface="Cambria Math"/>
              </a:rPr>
              <a:t>	=</a:t>
            </a:r>
            <a:r>
              <a:rPr sz="1400" spc="70" dirty="0">
                <a:latin typeface="Cambria Math"/>
                <a:cs typeface="Cambria Math"/>
              </a:rPr>
              <a:t> </a:t>
            </a:r>
            <a:r>
              <a:rPr sz="1400" dirty="0">
                <a:latin typeface="Cambria Math"/>
                <a:cs typeface="Cambria Math"/>
              </a:rPr>
              <a:t>𝑎</a:t>
            </a:r>
            <a:r>
              <a:rPr sz="1400" spc="35" dirty="0">
                <a:latin typeface="Cambria Math"/>
                <a:cs typeface="Cambria Math"/>
              </a:rPr>
              <a:t> </a:t>
            </a:r>
            <a:r>
              <a:rPr sz="1400" dirty="0">
                <a:latin typeface="Cambria Math"/>
                <a:cs typeface="Cambria Math"/>
              </a:rPr>
              <a:t>+</a:t>
            </a:r>
            <a:r>
              <a:rPr sz="1400" spc="-5" dirty="0">
                <a:latin typeface="Cambria Math"/>
                <a:cs typeface="Cambria Math"/>
              </a:rPr>
              <a:t> </a:t>
            </a:r>
            <a:r>
              <a:rPr sz="1400" spc="-25" dirty="0">
                <a:latin typeface="Cambria Math"/>
                <a:cs typeface="Cambria Math"/>
              </a:rPr>
              <a:t>𝑏𝑥</a:t>
            </a:r>
            <a:endParaRPr sz="1400">
              <a:latin typeface="Cambria Math"/>
              <a:cs typeface="Cambria Math"/>
            </a:endParaRPr>
          </a:p>
          <a:p>
            <a:pPr marL="370205">
              <a:lnSpc>
                <a:spcPct val="100000"/>
              </a:lnSpc>
              <a:spcBef>
                <a:spcPts val="560"/>
              </a:spcBef>
            </a:pPr>
            <a:r>
              <a:rPr sz="1800" spc="-10" dirty="0">
                <a:latin typeface="Calibri"/>
                <a:cs typeface="Calibri"/>
              </a:rPr>
              <a:t>Entradas</a:t>
            </a:r>
            <a:endParaRPr sz="1800">
              <a:latin typeface="Calibri"/>
              <a:cs typeface="Calibri"/>
            </a:endParaRPr>
          </a:p>
          <a:p>
            <a:pPr marL="551815">
              <a:lnSpc>
                <a:spcPct val="100000"/>
              </a:lnSpc>
              <a:spcBef>
                <a:spcPts val="40"/>
              </a:spcBef>
            </a:pPr>
            <a:r>
              <a:rPr sz="1400" dirty="0">
                <a:latin typeface="Calibri"/>
                <a:cs typeface="Calibri"/>
              </a:rPr>
              <a:t>e.g.,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spc="-50" dirty="0">
                <a:latin typeface="Cambria Math"/>
                <a:cs typeface="Cambria Math"/>
              </a:rPr>
              <a:t>𝑥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7149845" y="5702528"/>
            <a:ext cx="828040" cy="76200"/>
          </a:xfrm>
          <a:custGeom>
            <a:avLst/>
            <a:gdLst/>
            <a:ahLst/>
            <a:cxnLst/>
            <a:rect l="l" t="t" r="r" b="b"/>
            <a:pathLst>
              <a:path w="828040" h="76200">
                <a:moveTo>
                  <a:pt x="751839" y="0"/>
                </a:moveTo>
                <a:lnTo>
                  <a:pt x="751839" y="76199"/>
                </a:lnTo>
                <a:lnTo>
                  <a:pt x="808989" y="47624"/>
                </a:lnTo>
                <a:lnTo>
                  <a:pt x="764539" y="47624"/>
                </a:lnTo>
                <a:lnTo>
                  <a:pt x="764539" y="28574"/>
                </a:lnTo>
                <a:lnTo>
                  <a:pt x="808989" y="28574"/>
                </a:lnTo>
                <a:lnTo>
                  <a:pt x="751839" y="0"/>
                </a:lnTo>
                <a:close/>
              </a:path>
              <a:path w="828040" h="76200">
                <a:moveTo>
                  <a:pt x="751839" y="28574"/>
                </a:moveTo>
                <a:lnTo>
                  <a:pt x="0" y="28574"/>
                </a:lnTo>
                <a:lnTo>
                  <a:pt x="0" y="47624"/>
                </a:lnTo>
                <a:lnTo>
                  <a:pt x="751839" y="47624"/>
                </a:lnTo>
                <a:lnTo>
                  <a:pt x="751839" y="28574"/>
                </a:lnTo>
                <a:close/>
              </a:path>
              <a:path w="828040" h="76200">
                <a:moveTo>
                  <a:pt x="808989" y="28574"/>
                </a:moveTo>
                <a:lnTo>
                  <a:pt x="764539" y="28574"/>
                </a:lnTo>
                <a:lnTo>
                  <a:pt x="764539" y="47624"/>
                </a:lnTo>
                <a:lnTo>
                  <a:pt x="808989" y="47624"/>
                </a:lnTo>
                <a:lnTo>
                  <a:pt x="828039" y="38099"/>
                </a:lnTo>
                <a:lnTo>
                  <a:pt x="808989" y="28574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object 1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285223" y="5694489"/>
            <a:ext cx="217931" cy="165163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7977631" y="5357876"/>
            <a:ext cx="2044700" cy="518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Resultados/Respostas</a:t>
            </a:r>
            <a:endParaRPr sz="1800">
              <a:latin typeface="Calibri"/>
              <a:cs typeface="Calibri"/>
            </a:endParaRPr>
          </a:p>
          <a:p>
            <a:pPr marL="506095">
              <a:lnSpc>
                <a:spcPct val="100000"/>
              </a:lnSpc>
              <a:spcBef>
                <a:spcPts val="40"/>
              </a:spcBef>
            </a:pPr>
            <a:r>
              <a:rPr sz="1400" dirty="0">
                <a:latin typeface="Calibri"/>
                <a:cs typeface="Calibri"/>
              </a:rPr>
              <a:t>e.g.,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mbria Math"/>
                <a:cs typeface="Cambria Math"/>
              </a:rPr>
              <a:t>𝑦</a:t>
            </a:r>
            <a:r>
              <a:rPr sz="1400" spc="105" dirty="0">
                <a:latin typeface="Cambria Math"/>
                <a:cs typeface="Cambria Math"/>
              </a:rPr>
              <a:t> </a:t>
            </a:r>
            <a:r>
              <a:rPr sz="1400" dirty="0">
                <a:latin typeface="Cambria Math"/>
                <a:cs typeface="Cambria Math"/>
              </a:rPr>
              <a:t>=</a:t>
            </a:r>
            <a:r>
              <a:rPr sz="1400" spc="85" dirty="0">
                <a:latin typeface="Cambria Math"/>
                <a:cs typeface="Cambria Math"/>
              </a:rPr>
              <a:t> </a:t>
            </a:r>
            <a:r>
              <a:rPr sz="1400" dirty="0">
                <a:latin typeface="Cambria Math"/>
                <a:cs typeface="Cambria Math"/>
              </a:rPr>
              <a:t>𝑓</a:t>
            </a:r>
            <a:r>
              <a:rPr sz="1400" spc="325" dirty="0">
                <a:latin typeface="Cambria Math"/>
                <a:cs typeface="Cambria Math"/>
              </a:rPr>
              <a:t> </a:t>
            </a:r>
            <a:r>
              <a:rPr sz="1400" spc="-50" dirty="0">
                <a:latin typeface="Cambria Math"/>
                <a:cs typeface="Cambria Math"/>
              </a:rPr>
              <a:t>𝑥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610360" y="4932934"/>
            <a:ext cx="1026794" cy="10934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0000FF"/>
                </a:solidFill>
                <a:latin typeface="Calibri"/>
                <a:cs typeface="Calibri"/>
              </a:rPr>
              <a:t>def</a:t>
            </a:r>
            <a:r>
              <a:rPr sz="1400" b="1" spc="-5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00FF"/>
                </a:solidFill>
                <a:latin typeface="Calibri"/>
                <a:cs typeface="Calibri"/>
              </a:rPr>
              <a:t>f</a:t>
            </a:r>
            <a:r>
              <a:rPr sz="1400" b="1" spc="-10" dirty="0">
                <a:solidFill>
                  <a:srgbClr val="000080"/>
                </a:solidFill>
                <a:latin typeface="Calibri"/>
                <a:cs typeface="Calibri"/>
              </a:rPr>
              <a:t>(</a:t>
            </a:r>
            <a:r>
              <a:rPr sz="1400" spc="-10" dirty="0">
                <a:latin typeface="Calibri"/>
                <a:cs typeface="Calibri"/>
              </a:rPr>
              <a:t>x</a:t>
            </a:r>
            <a:r>
              <a:rPr sz="1400" b="1" spc="-10" dirty="0">
                <a:solidFill>
                  <a:srgbClr val="000080"/>
                </a:solidFill>
                <a:latin typeface="Calibri"/>
                <a:cs typeface="Calibri"/>
              </a:rPr>
              <a:t>):</a:t>
            </a:r>
            <a:endParaRPr sz="1400">
              <a:latin typeface="Calibri"/>
              <a:cs typeface="Calibri"/>
            </a:endParaRPr>
          </a:p>
          <a:p>
            <a:pPr marL="170815">
              <a:lnSpc>
                <a:spcPct val="100000"/>
              </a:lnSpc>
            </a:pPr>
            <a:r>
              <a:rPr sz="1400" dirty="0">
                <a:latin typeface="Calibri"/>
                <a:cs typeface="Calibri"/>
              </a:rPr>
              <a:t>a</a:t>
            </a:r>
            <a:r>
              <a:rPr sz="1400" spc="-5" dirty="0"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000080"/>
                </a:solidFill>
                <a:latin typeface="Calibri"/>
                <a:cs typeface="Calibri"/>
              </a:rPr>
              <a:t>= </a:t>
            </a:r>
            <a:r>
              <a:rPr sz="1400" spc="-25" dirty="0">
                <a:solidFill>
                  <a:srgbClr val="FF0000"/>
                </a:solidFill>
                <a:latin typeface="Calibri"/>
                <a:cs typeface="Calibri"/>
              </a:rPr>
              <a:t>1.0</a:t>
            </a:r>
            <a:endParaRPr sz="1400">
              <a:latin typeface="Calibri"/>
              <a:cs typeface="Calibri"/>
            </a:endParaRPr>
          </a:p>
          <a:p>
            <a:pPr marL="170815">
              <a:lnSpc>
                <a:spcPct val="100000"/>
              </a:lnSpc>
            </a:pPr>
            <a:r>
              <a:rPr sz="1400" dirty="0">
                <a:latin typeface="Calibri"/>
                <a:cs typeface="Calibri"/>
              </a:rPr>
              <a:t>b </a:t>
            </a:r>
            <a:r>
              <a:rPr sz="1400" b="1" dirty="0">
                <a:solidFill>
                  <a:srgbClr val="000080"/>
                </a:solidFill>
                <a:latin typeface="Calibri"/>
                <a:cs typeface="Calibri"/>
              </a:rPr>
              <a:t>=</a:t>
            </a:r>
            <a:r>
              <a:rPr sz="1400" b="1" spc="-10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FF0000"/>
                </a:solidFill>
                <a:latin typeface="Calibri"/>
                <a:cs typeface="Calibri"/>
              </a:rPr>
              <a:t>2.0</a:t>
            </a:r>
            <a:endParaRPr sz="1400">
              <a:latin typeface="Calibri"/>
              <a:cs typeface="Calibri"/>
            </a:endParaRPr>
          </a:p>
          <a:p>
            <a:pPr marL="170815">
              <a:lnSpc>
                <a:spcPct val="100000"/>
              </a:lnSpc>
              <a:spcBef>
                <a:spcPts val="5"/>
              </a:spcBef>
            </a:pPr>
            <a:r>
              <a:rPr sz="1400" dirty="0">
                <a:latin typeface="Calibri"/>
                <a:cs typeface="Calibri"/>
              </a:rPr>
              <a:t>y</a:t>
            </a:r>
            <a:r>
              <a:rPr sz="1400" spc="-5" dirty="0"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000080"/>
                </a:solidFill>
                <a:latin typeface="Calibri"/>
                <a:cs typeface="Calibri"/>
              </a:rPr>
              <a:t>= </a:t>
            </a:r>
            <a:r>
              <a:rPr sz="1400" dirty="0">
                <a:latin typeface="Calibri"/>
                <a:cs typeface="Calibri"/>
              </a:rPr>
              <a:t>a</a:t>
            </a:r>
            <a:r>
              <a:rPr sz="1400" spc="-5" dirty="0"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000080"/>
                </a:solidFill>
                <a:latin typeface="Calibri"/>
                <a:cs typeface="Calibri"/>
              </a:rPr>
              <a:t>+</a:t>
            </a:r>
            <a:r>
              <a:rPr sz="1400" b="1" spc="-10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 </a:t>
            </a:r>
            <a:r>
              <a:rPr sz="1400" b="1" dirty="0">
                <a:solidFill>
                  <a:srgbClr val="000080"/>
                </a:solidFill>
                <a:latin typeface="Calibri"/>
                <a:cs typeface="Calibri"/>
              </a:rPr>
              <a:t>*</a:t>
            </a:r>
            <a:r>
              <a:rPr sz="1400" b="1" spc="-10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1400" spc="-50" dirty="0">
                <a:latin typeface="Calibri"/>
                <a:cs typeface="Calibri"/>
              </a:rPr>
              <a:t>x</a:t>
            </a:r>
            <a:endParaRPr sz="1400">
              <a:latin typeface="Calibri"/>
              <a:cs typeface="Calibri"/>
            </a:endParaRPr>
          </a:p>
          <a:p>
            <a:pPr marL="170815">
              <a:lnSpc>
                <a:spcPct val="100000"/>
              </a:lnSpc>
            </a:pPr>
            <a:r>
              <a:rPr sz="1400" b="1" dirty="0">
                <a:solidFill>
                  <a:srgbClr val="0000FF"/>
                </a:solidFill>
                <a:latin typeface="Calibri"/>
                <a:cs typeface="Calibri"/>
              </a:rPr>
              <a:t>return</a:t>
            </a:r>
            <a:r>
              <a:rPr sz="1400" b="1" spc="-6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400" spc="-50" dirty="0">
                <a:latin typeface="Calibri"/>
                <a:cs typeface="Calibri"/>
              </a:rPr>
              <a:t>y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669667" y="4910963"/>
            <a:ext cx="236854" cy="1169670"/>
          </a:xfrm>
          <a:custGeom>
            <a:avLst/>
            <a:gdLst/>
            <a:ahLst/>
            <a:cxnLst/>
            <a:rect l="l" t="t" r="r" b="b"/>
            <a:pathLst>
              <a:path w="236855" h="1169670">
                <a:moveTo>
                  <a:pt x="0" y="0"/>
                </a:moveTo>
                <a:lnTo>
                  <a:pt x="46087" y="1539"/>
                </a:lnTo>
                <a:lnTo>
                  <a:pt x="83708" y="5746"/>
                </a:lnTo>
                <a:lnTo>
                  <a:pt x="109067" y="12001"/>
                </a:lnTo>
                <a:lnTo>
                  <a:pt x="118363" y="19685"/>
                </a:lnTo>
                <a:lnTo>
                  <a:pt x="118363" y="565023"/>
                </a:lnTo>
                <a:lnTo>
                  <a:pt x="127680" y="572706"/>
                </a:lnTo>
                <a:lnTo>
                  <a:pt x="153082" y="578961"/>
                </a:lnTo>
                <a:lnTo>
                  <a:pt x="190748" y="583168"/>
                </a:lnTo>
                <a:lnTo>
                  <a:pt x="236855" y="584708"/>
                </a:lnTo>
                <a:lnTo>
                  <a:pt x="190748" y="586267"/>
                </a:lnTo>
                <a:lnTo>
                  <a:pt x="153082" y="590518"/>
                </a:lnTo>
                <a:lnTo>
                  <a:pt x="127680" y="596816"/>
                </a:lnTo>
                <a:lnTo>
                  <a:pt x="118363" y="604520"/>
                </a:lnTo>
                <a:lnTo>
                  <a:pt x="118363" y="1149769"/>
                </a:lnTo>
                <a:lnTo>
                  <a:pt x="109067" y="1157457"/>
                </a:lnTo>
                <a:lnTo>
                  <a:pt x="83708" y="1163734"/>
                </a:lnTo>
                <a:lnTo>
                  <a:pt x="46087" y="1167966"/>
                </a:lnTo>
                <a:lnTo>
                  <a:pt x="0" y="1169517"/>
                </a:lnTo>
              </a:path>
            </a:pathLst>
          </a:custGeom>
          <a:ln w="6350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3866" y="4639856"/>
            <a:ext cx="2940374" cy="199472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O</a:t>
            </a:r>
            <a:r>
              <a:rPr spc="-65" dirty="0"/>
              <a:t> </a:t>
            </a:r>
            <a:r>
              <a:rPr dirty="0"/>
              <a:t>paradigma</a:t>
            </a:r>
            <a:r>
              <a:rPr spc="-60" dirty="0"/>
              <a:t> </a:t>
            </a:r>
            <a:r>
              <a:rPr dirty="0"/>
              <a:t>do</a:t>
            </a:r>
            <a:r>
              <a:rPr spc="-50" dirty="0"/>
              <a:t> </a:t>
            </a:r>
            <a:r>
              <a:rPr dirty="0"/>
              <a:t>aprendizado</a:t>
            </a:r>
            <a:r>
              <a:rPr spc="-50" dirty="0"/>
              <a:t> </a:t>
            </a:r>
            <a:r>
              <a:rPr dirty="0"/>
              <a:t>de</a:t>
            </a:r>
            <a:r>
              <a:rPr spc="-50" dirty="0"/>
              <a:t> </a:t>
            </a:r>
            <a:r>
              <a:rPr spc="-10" dirty="0"/>
              <a:t>máquina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16939" y="1707159"/>
            <a:ext cx="10749915" cy="2329180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77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45" dirty="0">
                <a:latin typeface="Calibri"/>
                <a:cs typeface="Calibri"/>
              </a:rPr>
              <a:t>“</a:t>
            </a:r>
            <a:r>
              <a:rPr sz="2800" spc="-45" dirty="0">
                <a:solidFill>
                  <a:srgbClr val="00AFEF"/>
                </a:solidFill>
                <a:latin typeface="Calibri"/>
                <a:cs typeface="Calibri"/>
              </a:rPr>
              <a:t>...</a:t>
            </a:r>
            <a:r>
              <a:rPr sz="2800" spc="-7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EF"/>
                </a:solidFill>
                <a:latin typeface="Calibri"/>
                <a:cs typeface="Calibri"/>
              </a:rPr>
              <a:t>aprender</a:t>
            </a:r>
            <a:r>
              <a:rPr sz="2800" b="1" i="1" spc="-7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EF"/>
                </a:solidFill>
                <a:latin typeface="Calibri"/>
                <a:cs typeface="Calibri"/>
              </a:rPr>
              <a:t>sem</a:t>
            </a:r>
            <a:r>
              <a:rPr sz="2800" b="1" i="1" spc="-8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EF"/>
                </a:solidFill>
                <a:latin typeface="Calibri"/>
                <a:cs typeface="Calibri"/>
              </a:rPr>
              <a:t>serem</a:t>
            </a:r>
            <a:r>
              <a:rPr sz="2800" b="1" i="1" spc="-7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800" b="1" i="1" spc="-20" dirty="0">
                <a:solidFill>
                  <a:srgbClr val="00AFEF"/>
                </a:solidFill>
                <a:latin typeface="Calibri"/>
                <a:cs typeface="Calibri"/>
              </a:rPr>
              <a:t>explicitamente</a:t>
            </a:r>
            <a:r>
              <a:rPr sz="2800" b="1" i="1" spc="-60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EF"/>
                </a:solidFill>
                <a:latin typeface="Calibri"/>
                <a:cs typeface="Calibri"/>
              </a:rPr>
              <a:t>programados</a:t>
            </a:r>
            <a:r>
              <a:rPr sz="2800" spc="-10" dirty="0">
                <a:solidFill>
                  <a:srgbClr val="00AFEF"/>
                </a:solidFill>
                <a:latin typeface="Calibri"/>
                <a:cs typeface="Calibri"/>
              </a:rPr>
              <a:t>.</a:t>
            </a:r>
            <a:r>
              <a:rPr sz="2800" spc="-10" dirty="0">
                <a:latin typeface="Calibri"/>
                <a:cs typeface="Calibri"/>
              </a:rPr>
              <a:t>”</a:t>
            </a:r>
            <a:endParaRPr sz="28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Esse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trecho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pode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ser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entendido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reorganizarmos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figura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anterior.</a:t>
            </a:r>
            <a:endParaRPr sz="2800" dirty="0">
              <a:latin typeface="Calibri"/>
              <a:cs typeface="Calibri"/>
            </a:endParaRPr>
          </a:p>
          <a:p>
            <a:pPr marL="241300" marR="5080" indent="-228600">
              <a:lnSpc>
                <a:spcPct val="90000"/>
              </a:lnSpc>
              <a:spcBef>
                <a:spcPts val="994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No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ML,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nós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fornecemos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entradas</a:t>
            </a:r>
            <a:r>
              <a:rPr sz="2800" b="1" i="1" spc="-6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respostas</a:t>
            </a:r>
            <a:r>
              <a:rPr sz="2800" b="1" i="1" spc="-5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esperadas</a:t>
            </a:r>
            <a:r>
              <a:rPr sz="2800" b="1" i="1" spc="-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ao </a:t>
            </a:r>
            <a:r>
              <a:rPr sz="2800" spc="-10" dirty="0">
                <a:latin typeface="Calibri"/>
                <a:cs typeface="Calibri"/>
              </a:rPr>
              <a:t>computador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deixamos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ele</a:t>
            </a:r>
            <a:r>
              <a:rPr sz="2800" spc="-150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aprenda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através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6F2F9F"/>
                </a:solidFill>
                <a:latin typeface="Calibri"/>
                <a:cs typeface="Calibri"/>
              </a:rPr>
              <a:t>treinamento</a:t>
            </a:r>
            <a:r>
              <a:rPr sz="2800" spc="-10" dirty="0">
                <a:latin typeface="Calibri"/>
                <a:cs typeface="Calibri"/>
              </a:rPr>
              <a:t>,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um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modelo</a:t>
            </a:r>
            <a:r>
              <a:rPr sz="2800" b="1" i="1" spc="-8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(i.e.,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regras)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mapeie</a:t>
            </a:r>
            <a:r>
              <a:rPr sz="2800" b="1" i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entradas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nas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respostas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esperadas.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788152" y="5120868"/>
            <a:ext cx="1910714" cy="84963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endParaRPr sz="1850">
              <a:latin typeface="Times New Roman"/>
              <a:cs typeface="Times New Roman"/>
            </a:endParaRPr>
          </a:p>
          <a:p>
            <a:pPr marL="370840">
              <a:lnSpc>
                <a:spcPct val="100000"/>
              </a:lnSpc>
            </a:pPr>
            <a:r>
              <a:rPr sz="1800" spc="-10" dirty="0">
                <a:latin typeface="Calibri"/>
                <a:cs typeface="Calibri"/>
              </a:rPr>
              <a:t>Computador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116448" y="4603191"/>
            <a:ext cx="321437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Calibri"/>
                <a:cs typeface="Calibri"/>
              </a:rPr>
              <a:t>Aprendizado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de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Máquina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4689983" y="5262371"/>
            <a:ext cx="1098550" cy="1035685"/>
            <a:chOff x="4689983" y="5262371"/>
            <a:chExt cx="1098550" cy="1035685"/>
          </a:xfrm>
        </p:grpSpPr>
        <p:sp>
          <p:nvSpPr>
            <p:cNvPr id="8" name="object 8"/>
            <p:cNvSpPr/>
            <p:nvPr/>
          </p:nvSpPr>
          <p:spPr>
            <a:xfrm>
              <a:off x="4960112" y="5262371"/>
              <a:ext cx="828040" cy="572135"/>
            </a:xfrm>
            <a:custGeom>
              <a:avLst/>
              <a:gdLst/>
              <a:ahLst/>
              <a:cxnLst/>
              <a:rect l="l" t="t" r="r" b="b"/>
              <a:pathLst>
                <a:path w="828039" h="572135">
                  <a:moveTo>
                    <a:pt x="828040" y="533412"/>
                  </a:moveTo>
                  <a:lnTo>
                    <a:pt x="808990" y="523887"/>
                  </a:lnTo>
                  <a:lnTo>
                    <a:pt x="751840" y="495312"/>
                  </a:lnTo>
                  <a:lnTo>
                    <a:pt x="751840" y="523887"/>
                  </a:lnTo>
                  <a:lnTo>
                    <a:pt x="0" y="523887"/>
                  </a:lnTo>
                  <a:lnTo>
                    <a:pt x="0" y="542937"/>
                  </a:lnTo>
                  <a:lnTo>
                    <a:pt x="751840" y="542937"/>
                  </a:lnTo>
                  <a:lnTo>
                    <a:pt x="751840" y="571512"/>
                  </a:lnTo>
                  <a:lnTo>
                    <a:pt x="808990" y="542937"/>
                  </a:lnTo>
                  <a:lnTo>
                    <a:pt x="828040" y="533412"/>
                  </a:lnTo>
                  <a:close/>
                </a:path>
                <a:path w="828039" h="572135">
                  <a:moveTo>
                    <a:pt x="828040" y="38100"/>
                  </a:moveTo>
                  <a:lnTo>
                    <a:pt x="808990" y="28575"/>
                  </a:lnTo>
                  <a:lnTo>
                    <a:pt x="751840" y="0"/>
                  </a:lnTo>
                  <a:lnTo>
                    <a:pt x="751840" y="28575"/>
                  </a:lnTo>
                  <a:lnTo>
                    <a:pt x="0" y="28575"/>
                  </a:lnTo>
                  <a:lnTo>
                    <a:pt x="0" y="47625"/>
                  </a:lnTo>
                  <a:lnTo>
                    <a:pt x="751840" y="47625"/>
                  </a:lnTo>
                  <a:lnTo>
                    <a:pt x="751840" y="76200"/>
                  </a:lnTo>
                  <a:lnTo>
                    <a:pt x="808990" y="47625"/>
                  </a:lnTo>
                  <a:lnTo>
                    <a:pt x="828040" y="3810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89983" y="6132601"/>
              <a:ext cx="217931" cy="165163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3875659" y="5020132"/>
            <a:ext cx="1047115" cy="12947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0010" algn="ctr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Entradas</a:t>
            </a:r>
            <a:endParaRPr sz="1800">
              <a:latin typeface="Calibri"/>
              <a:cs typeface="Calibri"/>
            </a:endParaRPr>
          </a:p>
          <a:p>
            <a:pPr marL="75565" algn="ctr">
              <a:lnSpc>
                <a:spcPct val="100000"/>
              </a:lnSpc>
              <a:spcBef>
                <a:spcPts val="45"/>
              </a:spcBef>
            </a:pPr>
            <a:r>
              <a:rPr sz="1400" dirty="0">
                <a:latin typeface="Calibri"/>
                <a:cs typeface="Calibri"/>
              </a:rPr>
              <a:t>e.g.,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spc="-50" dirty="0">
                <a:latin typeface="Cambria Math"/>
                <a:cs typeface="Cambria Math"/>
              </a:rPr>
              <a:t>𝑥</a:t>
            </a:r>
            <a:endParaRPr sz="1400">
              <a:latin typeface="Cambria Math"/>
              <a:cs typeface="Cambria Math"/>
            </a:endParaRPr>
          </a:p>
          <a:p>
            <a:pPr marL="26034">
              <a:lnSpc>
                <a:spcPct val="100000"/>
              </a:lnSpc>
              <a:spcBef>
                <a:spcPts val="60"/>
              </a:spcBef>
            </a:pPr>
            <a:r>
              <a:rPr sz="1800" spc="-10" dirty="0">
                <a:latin typeface="Calibri"/>
                <a:cs typeface="Calibri"/>
              </a:rPr>
              <a:t>Resultados</a:t>
            </a:r>
            <a:endParaRPr sz="1800">
              <a:latin typeface="Calibri"/>
              <a:cs typeface="Calibri"/>
            </a:endParaRPr>
          </a:p>
          <a:p>
            <a:pPr marL="53340">
              <a:lnSpc>
                <a:spcPct val="100000"/>
              </a:lnSpc>
            </a:pPr>
            <a:r>
              <a:rPr sz="1800" spc="-10" dirty="0">
                <a:latin typeface="Calibri"/>
                <a:cs typeface="Calibri"/>
              </a:rPr>
              <a:t>esperados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1400" dirty="0">
                <a:latin typeface="Calibri"/>
                <a:cs typeface="Calibri"/>
              </a:rPr>
              <a:t>e.g.,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mbria Math"/>
                <a:cs typeface="Cambria Math"/>
              </a:rPr>
              <a:t>𝑦</a:t>
            </a:r>
            <a:r>
              <a:rPr sz="1400" spc="105" dirty="0">
                <a:latin typeface="Cambria Math"/>
                <a:cs typeface="Cambria Math"/>
              </a:rPr>
              <a:t> </a:t>
            </a:r>
            <a:r>
              <a:rPr sz="1400" dirty="0">
                <a:latin typeface="Cambria Math"/>
                <a:cs typeface="Cambria Math"/>
              </a:rPr>
              <a:t>=</a:t>
            </a:r>
            <a:r>
              <a:rPr sz="1400" spc="85" dirty="0">
                <a:latin typeface="Cambria Math"/>
                <a:cs typeface="Cambria Math"/>
              </a:rPr>
              <a:t> </a:t>
            </a:r>
            <a:r>
              <a:rPr sz="1400" dirty="0">
                <a:latin typeface="Cambria Math"/>
                <a:cs typeface="Cambria Math"/>
              </a:rPr>
              <a:t>𝑓</a:t>
            </a:r>
            <a:r>
              <a:rPr sz="1400" spc="325" dirty="0">
                <a:latin typeface="Cambria Math"/>
                <a:cs typeface="Cambria Math"/>
              </a:rPr>
              <a:t> </a:t>
            </a:r>
            <a:r>
              <a:rPr sz="1400" spc="-50" dirty="0">
                <a:latin typeface="Cambria Math"/>
                <a:cs typeface="Cambria Math"/>
              </a:rPr>
              <a:t>𝑥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7698613" y="5507354"/>
            <a:ext cx="828040" cy="76200"/>
          </a:xfrm>
          <a:custGeom>
            <a:avLst/>
            <a:gdLst/>
            <a:ahLst/>
            <a:cxnLst/>
            <a:rect l="l" t="t" r="r" b="b"/>
            <a:pathLst>
              <a:path w="828040" h="76200">
                <a:moveTo>
                  <a:pt x="751712" y="0"/>
                </a:moveTo>
                <a:lnTo>
                  <a:pt x="751712" y="76200"/>
                </a:lnTo>
                <a:lnTo>
                  <a:pt x="808862" y="47625"/>
                </a:lnTo>
                <a:lnTo>
                  <a:pt x="764412" y="47625"/>
                </a:lnTo>
                <a:lnTo>
                  <a:pt x="764412" y="28575"/>
                </a:lnTo>
                <a:lnTo>
                  <a:pt x="808862" y="28575"/>
                </a:lnTo>
                <a:lnTo>
                  <a:pt x="751712" y="0"/>
                </a:lnTo>
                <a:close/>
              </a:path>
              <a:path w="828040" h="76200">
                <a:moveTo>
                  <a:pt x="751712" y="28575"/>
                </a:moveTo>
                <a:lnTo>
                  <a:pt x="0" y="28575"/>
                </a:lnTo>
                <a:lnTo>
                  <a:pt x="0" y="47625"/>
                </a:lnTo>
                <a:lnTo>
                  <a:pt x="751712" y="47625"/>
                </a:lnTo>
                <a:lnTo>
                  <a:pt x="751712" y="28575"/>
                </a:lnTo>
                <a:close/>
              </a:path>
              <a:path w="828040" h="76200">
                <a:moveTo>
                  <a:pt x="808862" y="28575"/>
                </a:moveTo>
                <a:lnTo>
                  <a:pt x="764412" y="28575"/>
                </a:lnTo>
                <a:lnTo>
                  <a:pt x="764412" y="47625"/>
                </a:lnTo>
                <a:lnTo>
                  <a:pt x="808862" y="47625"/>
                </a:lnTo>
                <a:lnTo>
                  <a:pt x="827912" y="38100"/>
                </a:lnTo>
                <a:lnTo>
                  <a:pt x="808862" y="28575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782936" y="5727763"/>
            <a:ext cx="217932" cy="165163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8662796" y="5116829"/>
            <a:ext cx="2415540" cy="793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905" algn="ctr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Programa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Modelo</a:t>
            </a:r>
            <a:r>
              <a:rPr sz="1800" b="1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spc="-25" dirty="0">
                <a:solidFill>
                  <a:srgbClr val="FF0000"/>
                </a:solidFill>
                <a:latin typeface="Calibri"/>
                <a:cs typeface="Calibri"/>
              </a:rPr>
              <a:t>de </a:t>
            </a:r>
            <a:r>
              <a:rPr sz="1800" b="1" spc="-10" dirty="0">
                <a:solidFill>
                  <a:srgbClr val="FF0000"/>
                </a:solidFill>
                <a:latin typeface="Calibri"/>
                <a:cs typeface="Calibri"/>
              </a:rPr>
              <a:t>Aprendizado</a:t>
            </a:r>
            <a:r>
              <a:rPr sz="1800" b="1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de</a:t>
            </a:r>
            <a:r>
              <a:rPr sz="1800" b="1" spc="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FF0000"/>
                </a:solidFill>
                <a:latin typeface="Calibri"/>
                <a:cs typeface="Calibri"/>
              </a:rPr>
              <a:t>Máquina</a:t>
            </a:r>
            <a:endParaRPr sz="1800" dirty="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40"/>
              </a:spcBef>
              <a:tabLst>
                <a:tab pos="1085215" algn="l"/>
              </a:tabLst>
            </a:pPr>
            <a:r>
              <a:rPr sz="1400" dirty="0">
                <a:latin typeface="Calibri"/>
                <a:cs typeface="Calibri"/>
              </a:rPr>
              <a:t>e.g.,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mbria Math"/>
                <a:cs typeface="Cambria Math"/>
              </a:rPr>
              <a:t>𝑦</a:t>
            </a:r>
            <a:r>
              <a:rPr sz="1400" spc="105" dirty="0">
                <a:latin typeface="Cambria Math"/>
                <a:cs typeface="Cambria Math"/>
              </a:rPr>
              <a:t> </a:t>
            </a:r>
            <a:r>
              <a:rPr sz="1400" dirty="0">
                <a:latin typeface="Cambria Math"/>
                <a:cs typeface="Cambria Math"/>
              </a:rPr>
              <a:t>=</a:t>
            </a:r>
            <a:r>
              <a:rPr sz="1400" spc="85" dirty="0">
                <a:latin typeface="Cambria Math"/>
                <a:cs typeface="Cambria Math"/>
              </a:rPr>
              <a:t> </a:t>
            </a:r>
            <a:r>
              <a:rPr sz="1400" dirty="0">
                <a:latin typeface="Cambria Math"/>
                <a:cs typeface="Cambria Math"/>
              </a:rPr>
              <a:t>𝑓</a:t>
            </a:r>
            <a:r>
              <a:rPr sz="1400" spc="325" dirty="0">
                <a:latin typeface="Cambria Math"/>
                <a:cs typeface="Cambria Math"/>
              </a:rPr>
              <a:t> </a:t>
            </a:r>
            <a:r>
              <a:rPr sz="1400" spc="-50" dirty="0">
                <a:latin typeface="Cambria Math"/>
                <a:cs typeface="Cambria Math"/>
              </a:rPr>
              <a:t>𝑥</a:t>
            </a:r>
            <a:r>
              <a:rPr sz="1400" dirty="0">
                <a:latin typeface="Cambria Math"/>
                <a:cs typeface="Cambria Math"/>
              </a:rPr>
              <a:t>	=</a:t>
            </a:r>
            <a:r>
              <a:rPr sz="1400" spc="70" dirty="0">
                <a:latin typeface="Cambria Math"/>
                <a:cs typeface="Cambria Math"/>
              </a:rPr>
              <a:t> </a:t>
            </a:r>
            <a:r>
              <a:rPr sz="1400" dirty="0">
                <a:latin typeface="Cambria Math"/>
                <a:cs typeface="Cambria Math"/>
              </a:rPr>
              <a:t>𝑎</a:t>
            </a:r>
            <a:r>
              <a:rPr sz="1400" spc="25" dirty="0">
                <a:latin typeface="Cambria Math"/>
                <a:cs typeface="Cambria Math"/>
              </a:rPr>
              <a:t> </a:t>
            </a:r>
            <a:r>
              <a:rPr sz="1400" dirty="0">
                <a:latin typeface="Cambria Math"/>
                <a:cs typeface="Cambria Math"/>
              </a:rPr>
              <a:t>+</a:t>
            </a:r>
            <a:r>
              <a:rPr sz="1400" spc="-5" dirty="0">
                <a:latin typeface="Cambria Math"/>
                <a:cs typeface="Cambria Math"/>
              </a:rPr>
              <a:t> </a:t>
            </a:r>
            <a:r>
              <a:rPr sz="1400" spc="-25" dirty="0">
                <a:latin typeface="Cambria Math"/>
                <a:cs typeface="Cambria Math"/>
              </a:rPr>
              <a:t>𝑏𝑥</a:t>
            </a:r>
            <a:endParaRPr sz="1400" dirty="0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329809" y="6331102"/>
            <a:ext cx="55067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i="1" dirty="0">
                <a:latin typeface="Calibri"/>
                <a:cs typeface="Calibri"/>
              </a:rPr>
              <a:t>Conjunto</a:t>
            </a:r>
            <a:r>
              <a:rPr sz="1800" b="1" i="1" spc="-5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de</a:t>
            </a:r>
            <a:r>
              <a:rPr sz="1800" b="1" i="1" spc="-20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dados</a:t>
            </a:r>
            <a:r>
              <a:rPr sz="1800" b="1" i="1" spc="-5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de</a:t>
            </a:r>
            <a:r>
              <a:rPr sz="1800" b="1" i="1" spc="-20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treinamento</a:t>
            </a:r>
            <a:r>
              <a:rPr sz="1800" b="1" i="1" spc="-15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=</a:t>
            </a:r>
            <a:r>
              <a:rPr sz="1800" b="1" i="1" spc="-25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experiências</a:t>
            </a:r>
            <a:r>
              <a:rPr sz="1800" b="1" i="1" spc="-30" dirty="0">
                <a:latin typeface="Calibri"/>
                <a:cs typeface="Calibri"/>
              </a:rPr>
              <a:t> </a:t>
            </a:r>
            <a:r>
              <a:rPr sz="1800" b="1" i="1" spc="-10" dirty="0">
                <a:latin typeface="Calibri"/>
                <a:cs typeface="Calibri"/>
              </a:rPr>
              <a:t>prévias.</a:t>
            </a:r>
            <a:endParaRPr sz="1800" dirty="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3371151" y="4949126"/>
            <a:ext cx="2091055" cy="1580515"/>
            <a:chOff x="3371151" y="4949126"/>
            <a:chExt cx="2091055" cy="1580515"/>
          </a:xfrm>
        </p:grpSpPr>
        <p:sp>
          <p:nvSpPr>
            <p:cNvPr id="16" name="object 16"/>
            <p:cNvSpPr/>
            <p:nvPr/>
          </p:nvSpPr>
          <p:spPr>
            <a:xfrm>
              <a:off x="4414774" y="6384506"/>
              <a:ext cx="835660" cy="144780"/>
            </a:xfrm>
            <a:custGeom>
              <a:avLst/>
              <a:gdLst/>
              <a:ahLst/>
              <a:cxnLst/>
              <a:rect l="l" t="t" r="r" b="b"/>
              <a:pathLst>
                <a:path w="835660" h="144779">
                  <a:moveTo>
                    <a:pt x="748834" y="116192"/>
                  </a:moveTo>
                  <a:lnTo>
                    <a:pt x="745489" y="144576"/>
                  </a:lnTo>
                  <a:lnTo>
                    <a:pt x="819425" y="117856"/>
                  </a:lnTo>
                  <a:lnTo>
                    <a:pt x="763015" y="117856"/>
                  </a:lnTo>
                  <a:lnTo>
                    <a:pt x="748834" y="116192"/>
                  </a:lnTo>
                  <a:close/>
                </a:path>
                <a:path w="835660" h="144779">
                  <a:moveTo>
                    <a:pt x="752178" y="87813"/>
                  </a:moveTo>
                  <a:lnTo>
                    <a:pt x="748834" y="116192"/>
                  </a:lnTo>
                  <a:lnTo>
                    <a:pt x="763015" y="117856"/>
                  </a:lnTo>
                  <a:lnTo>
                    <a:pt x="766317" y="89471"/>
                  </a:lnTo>
                  <a:lnTo>
                    <a:pt x="752178" y="87813"/>
                  </a:lnTo>
                  <a:close/>
                </a:path>
                <a:path w="835660" h="144779">
                  <a:moveTo>
                    <a:pt x="755523" y="59423"/>
                  </a:moveTo>
                  <a:lnTo>
                    <a:pt x="752178" y="87813"/>
                  </a:lnTo>
                  <a:lnTo>
                    <a:pt x="766317" y="89471"/>
                  </a:lnTo>
                  <a:lnTo>
                    <a:pt x="763015" y="117856"/>
                  </a:lnTo>
                  <a:lnTo>
                    <a:pt x="819425" y="117856"/>
                  </a:lnTo>
                  <a:lnTo>
                    <a:pt x="835660" y="111988"/>
                  </a:lnTo>
                  <a:lnTo>
                    <a:pt x="755523" y="59423"/>
                  </a:lnTo>
                  <a:close/>
                </a:path>
                <a:path w="835660" h="144779">
                  <a:moveTo>
                    <a:pt x="3301" y="0"/>
                  </a:moveTo>
                  <a:lnTo>
                    <a:pt x="0" y="28371"/>
                  </a:lnTo>
                  <a:lnTo>
                    <a:pt x="748834" y="116192"/>
                  </a:lnTo>
                  <a:lnTo>
                    <a:pt x="752178" y="87813"/>
                  </a:lnTo>
                  <a:lnTo>
                    <a:pt x="3301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385439" y="4963414"/>
              <a:ext cx="2062480" cy="1435735"/>
            </a:xfrm>
            <a:custGeom>
              <a:avLst/>
              <a:gdLst/>
              <a:ahLst/>
              <a:cxnLst/>
              <a:rect l="l" t="t" r="r" b="b"/>
              <a:pathLst>
                <a:path w="2062479" h="1435735">
                  <a:moveTo>
                    <a:pt x="0" y="717638"/>
                  </a:moveTo>
                  <a:lnTo>
                    <a:pt x="1525" y="678265"/>
                  </a:lnTo>
                  <a:lnTo>
                    <a:pt x="6050" y="639446"/>
                  </a:lnTo>
                  <a:lnTo>
                    <a:pt x="13495" y="601237"/>
                  </a:lnTo>
                  <a:lnTo>
                    <a:pt x="23782" y="563692"/>
                  </a:lnTo>
                  <a:lnTo>
                    <a:pt x="36831" y="526866"/>
                  </a:lnTo>
                  <a:lnTo>
                    <a:pt x="52565" y="490814"/>
                  </a:lnTo>
                  <a:lnTo>
                    <a:pt x="70905" y="455590"/>
                  </a:lnTo>
                  <a:lnTo>
                    <a:pt x="91772" y="421250"/>
                  </a:lnTo>
                  <a:lnTo>
                    <a:pt x="115087" y="387847"/>
                  </a:lnTo>
                  <a:lnTo>
                    <a:pt x="140772" y="355438"/>
                  </a:lnTo>
                  <a:lnTo>
                    <a:pt x="168748" y="324075"/>
                  </a:lnTo>
                  <a:lnTo>
                    <a:pt x="198936" y="293815"/>
                  </a:lnTo>
                  <a:lnTo>
                    <a:pt x="231259" y="264712"/>
                  </a:lnTo>
                  <a:lnTo>
                    <a:pt x="265636" y="236821"/>
                  </a:lnTo>
                  <a:lnTo>
                    <a:pt x="301990" y="210196"/>
                  </a:lnTo>
                  <a:lnTo>
                    <a:pt x="340241" y="184892"/>
                  </a:lnTo>
                  <a:lnTo>
                    <a:pt x="380312" y="160963"/>
                  </a:lnTo>
                  <a:lnTo>
                    <a:pt x="422123" y="138466"/>
                  </a:lnTo>
                  <a:lnTo>
                    <a:pt x="465596" y="117453"/>
                  </a:lnTo>
                  <a:lnTo>
                    <a:pt x="510652" y="97981"/>
                  </a:lnTo>
                  <a:lnTo>
                    <a:pt x="557213" y="80103"/>
                  </a:lnTo>
                  <a:lnTo>
                    <a:pt x="605200" y="63875"/>
                  </a:lnTo>
                  <a:lnTo>
                    <a:pt x="654534" y="49351"/>
                  </a:lnTo>
                  <a:lnTo>
                    <a:pt x="705136" y="36586"/>
                  </a:lnTo>
                  <a:lnTo>
                    <a:pt x="756928" y="25635"/>
                  </a:lnTo>
                  <a:lnTo>
                    <a:pt x="809832" y="16552"/>
                  </a:lnTo>
                  <a:lnTo>
                    <a:pt x="863768" y="9393"/>
                  </a:lnTo>
                  <a:lnTo>
                    <a:pt x="918658" y="4211"/>
                  </a:lnTo>
                  <a:lnTo>
                    <a:pt x="974423" y="1061"/>
                  </a:lnTo>
                  <a:lnTo>
                    <a:pt x="1030986" y="0"/>
                  </a:lnTo>
                  <a:lnTo>
                    <a:pt x="1087560" y="1061"/>
                  </a:lnTo>
                  <a:lnTo>
                    <a:pt x="1143337" y="4211"/>
                  </a:lnTo>
                  <a:lnTo>
                    <a:pt x="1198237" y="9393"/>
                  </a:lnTo>
                  <a:lnTo>
                    <a:pt x="1252183" y="16552"/>
                  </a:lnTo>
                  <a:lnTo>
                    <a:pt x="1305096" y="25635"/>
                  </a:lnTo>
                  <a:lnTo>
                    <a:pt x="1356897" y="36586"/>
                  </a:lnTo>
                  <a:lnTo>
                    <a:pt x="1407507" y="49351"/>
                  </a:lnTo>
                  <a:lnTo>
                    <a:pt x="1456848" y="63875"/>
                  </a:lnTo>
                  <a:lnTo>
                    <a:pt x="1504841" y="80103"/>
                  </a:lnTo>
                  <a:lnTo>
                    <a:pt x="1551408" y="97981"/>
                  </a:lnTo>
                  <a:lnTo>
                    <a:pt x="1596470" y="117453"/>
                  </a:lnTo>
                  <a:lnTo>
                    <a:pt x="1639947" y="138466"/>
                  </a:lnTo>
                  <a:lnTo>
                    <a:pt x="1681763" y="160963"/>
                  </a:lnTo>
                  <a:lnTo>
                    <a:pt x="1721838" y="184892"/>
                  </a:lnTo>
                  <a:lnTo>
                    <a:pt x="1760092" y="210196"/>
                  </a:lnTo>
                  <a:lnTo>
                    <a:pt x="1796449" y="236821"/>
                  </a:lnTo>
                  <a:lnTo>
                    <a:pt x="1830829" y="264712"/>
                  </a:lnTo>
                  <a:lnTo>
                    <a:pt x="1863154" y="293815"/>
                  </a:lnTo>
                  <a:lnTo>
                    <a:pt x="1893344" y="324075"/>
                  </a:lnTo>
                  <a:lnTo>
                    <a:pt x="1921321" y="355438"/>
                  </a:lnTo>
                  <a:lnTo>
                    <a:pt x="1947008" y="387847"/>
                  </a:lnTo>
                  <a:lnTo>
                    <a:pt x="1970324" y="421250"/>
                  </a:lnTo>
                  <a:lnTo>
                    <a:pt x="1991191" y="455590"/>
                  </a:lnTo>
                  <a:lnTo>
                    <a:pt x="2009532" y="490814"/>
                  </a:lnTo>
                  <a:lnTo>
                    <a:pt x="2025266" y="526866"/>
                  </a:lnTo>
                  <a:lnTo>
                    <a:pt x="2038316" y="563692"/>
                  </a:lnTo>
                  <a:lnTo>
                    <a:pt x="2048603" y="601237"/>
                  </a:lnTo>
                  <a:lnTo>
                    <a:pt x="2056048" y="639446"/>
                  </a:lnTo>
                  <a:lnTo>
                    <a:pt x="2060573" y="678265"/>
                  </a:lnTo>
                  <a:lnTo>
                    <a:pt x="2062099" y="717638"/>
                  </a:lnTo>
                  <a:lnTo>
                    <a:pt x="2060573" y="757013"/>
                  </a:lnTo>
                  <a:lnTo>
                    <a:pt x="2056048" y="795833"/>
                  </a:lnTo>
                  <a:lnTo>
                    <a:pt x="2048603" y="834043"/>
                  </a:lnTo>
                  <a:lnTo>
                    <a:pt x="2038316" y="871589"/>
                  </a:lnTo>
                  <a:lnTo>
                    <a:pt x="2025266" y="908415"/>
                  </a:lnTo>
                  <a:lnTo>
                    <a:pt x="2009532" y="944468"/>
                  </a:lnTo>
                  <a:lnTo>
                    <a:pt x="1991191" y="979692"/>
                  </a:lnTo>
                  <a:lnTo>
                    <a:pt x="1970324" y="1014033"/>
                  </a:lnTo>
                  <a:lnTo>
                    <a:pt x="1947008" y="1047435"/>
                  </a:lnTo>
                  <a:lnTo>
                    <a:pt x="1921321" y="1079845"/>
                  </a:lnTo>
                  <a:lnTo>
                    <a:pt x="1893344" y="1111207"/>
                  </a:lnTo>
                  <a:lnTo>
                    <a:pt x="1863154" y="1141467"/>
                  </a:lnTo>
                  <a:lnTo>
                    <a:pt x="1830829" y="1170570"/>
                  </a:lnTo>
                  <a:lnTo>
                    <a:pt x="1796449" y="1198461"/>
                  </a:lnTo>
                  <a:lnTo>
                    <a:pt x="1760092" y="1225086"/>
                  </a:lnTo>
                  <a:lnTo>
                    <a:pt x="1721838" y="1250390"/>
                  </a:lnTo>
                  <a:lnTo>
                    <a:pt x="1681763" y="1274318"/>
                  </a:lnTo>
                  <a:lnTo>
                    <a:pt x="1639947" y="1296815"/>
                  </a:lnTo>
                  <a:lnTo>
                    <a:pt x="1596470" y="1317827"/>
                  </a:lnTo>
                  <a:lnTo>
                    <a:pt x="1551408" y="1337299"/>
                  </a:lnTo>
                  <a:lnTo>
                    <a:pt x="1504841" y="1355176"/>
                  </a:lnTo>
                  <a:lnTo>
                    <a:pt x="1456848" y="1371404"/>
                  </a:lnTo>
                  <a:lnTo>
                    <a:pt x="1407507" y="1385927"/>
                  </a:lnTo>
                  <a:lnTo>
                    <a:pt x="1356897" y="1398692"/>
                  </a:lnTo>
                  <a:lnTo>
                    <a:pt x="1305096" y="1409643"/>
                  </a:lnTo>
                  <a:lnTo>
                    <a:pt x="1252183" y="1418725"/>
                  </a:lnTo>
                  <a:lnTo>
                    <a:pt x="1198237" y="1425885"/>
                  </a:lnTo>
                  <a:lnTo>
                    <a:pt x="1143337" y="1431066"/>
                  </a:lnTo>
                  <a:lnTo>
                    <a:pt x="1087560" y="1434215"/>
                  </a:lnTo>
                  <a:lnTo>
                    <a:pt x="1030986" y="1435277"/>
                  </a:lnTo>
                  <a:lnTo>
                    <a:pt x="974423" y="1434215"/>
                  </a:lnTo>
                  <a:lnTo>
                    <a:pt x="918658" y="1431066"/>
                  </a:lnTo>
                  <a:lnTo>
                    <a:pt x="863768" y="1425885"/>
                  </a:lnTo>
                  <a:lnTo>
                    <a:pt x="809832" y="1418725"/>
                  </a:lnTo>
                  <a:lnTo>
                    <a:pt x="756928" y="1409643"/>
                  </a:lnTo>
                  <a:lnTo>
                    <a:pt x="705136" y="1398692"/>
                  </a:lnTo>
                  <a:lnTo>
                    <a:pt x="654534" y="1385927"/>
                  </a:lnTo>
                  <a:lnTo>
                    <a:pt x="605200" y="1371404"/>
                  </a:lnTo>
                  <a:lnTo>
                    <a:pt x="557213" y="1355176"/>
                  </a:lnTo>
                  <a:lnTo>
                    <a:pt x="510652" y="1337299"/>
                  </a:lnTo>
                  <a:lnTo>
                    <a:pt x="465596" y="1317827"/>
                  </a:lnTo>
                  <a:lnTo>
                    <a:pt x="422123" y="1296815"/>
                  </a:lnTo>
                  <a:lnTo>
                    <a:pt x="380312" y="1274318"/>
                  </a:lnTo>
                  <a:lnTo>
                    <a:pt x="340241" y="1250390"/>
                  </a:lnTo>
                  <a:lnTo>
                    <a:pt x="301990" y="1225086"/>
                  </a:lnTo>
                  <a:lnTo>
                    <a:pt x="265636" y="1198461"/>
                  </a:lnTo>
                  <a:lnTo>
                    <a:pt x="231259" y="1170570"/>
                  </a:lnTo>
                  <a:lnTo>
                    <a:pt x="198936" y="1141467"/>
                  </a:lnTo>
                  <a:lnTo>
                    <a:pt x="168748" y="1111207"/>
                  </a:lnTo>
                  <a:lnTo>
                    <a:pt x="140772" y="1079845"/>
                  </a:lnTo>
                  <a:lnTo>
                    <a:pt x="115087" y="1047435"/>
                  </a:lnTo>
                  <a:lnTo>
                    <a:pt x="91772" y="1014033"/>
                  </a:lnTo>
                  <a:lnTo>
                    <a:pt x="70905" y="979692"/>
                  </a:lnTo>
                  <a:lnTo>
                    <a:pt x="52565" y="944468"/>
                  </a:lnTo>
                  <a:lnTo>
                    <a:pt x="36831" y="908415"/>
                  </a:lnTo>
                  <a:lnTo>
                    <a:pt x="23782" y="871589"/>
                  </a:lnTo>
                  <a:lnTo>
                    <a:pt x="13495" y="834043"/>
                  </a:lnTo>
                  <a:lnTo>
                    <a:pt x="6050" y="795833"/>
                  </a:lnTo>
                  <a:lnTo>
                    <a:pt x="1525" y="757013"/>
                  </a:lnTo>
                  <a:lnTo>
                    <a:pt x="0" y="717638"/>
                  </a:lnTo>
                  <a:close/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/>
          <p:nvPr/>
        </p:nvSpPr>
        <p:spPr>
          <a:xfrm>
            <a:off x="9185147" y="4463796"/>
            <a:ext cx="1169670" cy="682625"/>
          </a:xfrm>
          <a:custGeom>
            <a:avLst/>
            <a:gdLst/>
            <a:ahLst/>
            <a:cxnLst/>
            <a:rect l="l" t="t" r="r" b="b"/>
            <a:pathLst>
              <a:path w="1169670" h="682625">
                <a:moveTo>
                  <a:pt x="0" y="0"/>
                </a:moveTo>
                <a:lnTo>
                  <a:pt x="194818" y="0"/>
                </a:lnTo>
                <a:lnTo>
                  <a:pt x="487172" y="0"/>
                </a:lnTo>
                <a:lnTo>
                  <a:pt x="1169416" y="0"/>
                </a:lnTo>
                <a:lnTo>
                  <a:pt x="1169416" y="246125"/>
                </a:lnTo>
                <a:lnTo>
                  <a:pt x="1169416" y="351662"/>
                </a:lnTo>
                <a:lnTo>
                  <a:pt x="1169416" y="422020"/>
                </a:lnTo>
                <a:lnTo>
                  <a:pt x="487172" y="422020"/>
                </a:lnTo>
                <a:lnTo>
                  <a:pt x="68199" y="682370"/>
                </a:lnTo>
                <a:lnTo>
                  <a:pt x="194818" y="422020"/>
                </a:lnTo>
                <a:lnTo>
                  <a:pt x="0" y="422020"/>
                </a:lnTo>
                <a:lnTo>
                  <a:pt x="0" y="351662"/>
                </a:lnTo>
                <a:lnTo>
                  <a:pt x="0" y="246125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2E528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9285223" y="4437634"/>
            <a:ext cx="97155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925" marR="5080" indent="-2286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alibri"/>
                <a:cs typeface="Calibri"/>
              </a:rPr>
              <a:t>Resultado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spc="-35" dirty="0">
                <a:latin typeface="Calibri"/>
                <a:cs typeface="Calibri"/>
              </a:rPr>
              <a:t>do </a:t>
            </a:r>
            <a:r>
              <a:rPr sz="1400" spc="-10" dirty="0">
                <a:latin typeface="Calibri"/>
                <a:cs typeface="Calibri"/>
              </a:rPr>
              <a:t>treinamento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441450" y="4334636"/>
            <a:ext cx="185673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i="1" dirty="0">
                <a:solidFill>
                  <a:srgbClr val="6F2F9F"/>
                </a:solidFill>
                <a:latin typeface="Calibri"/>
                <a:cs typeface="Calibri"/>
              </a:rPr>
              <a:t>Paleteria</a:t>
            </a:r>
            <a:r>
              <a:rPr sz="1800" b="1" i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1800" b="1" i="1" spc="-10" dirty="0">
                <a:solidFill>
                  <a:srgbClr val="6F2F9F"/>
                </a:solidFill>
                <a:latin typeface="Calibri"/>
                <a:cs typeface="Calibri"/>
              </a:rPr>
              <a:t>Mexicana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Generalização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16042" y="4518443"/>
            <a:ext cx="1910714" cy="84963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7620" rIns="0" bIns="0" rtlCol="0">
            <a:spAutoFit/>
          </a:bodyPr>
          <a:lstStyle/>
          <a:p>
            <a:pPr marL="144780" marR="137795" algn="ctr">
              <a:lnSpc>
                <a:spcPts val="2160"/>
              </a:lnSpc>
              <a:spcBef>
                <a:spcPts val="60"/>
              </a:spcBef>
            </a:pPr>
            <a:r>
              <a:rPr sz="1800" dirty="0">
                <a:latin typeface="Calibri"/>
                <a:cs typeface="Calibri"/>
              </a:rPr>
              <a:t>Computador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com </a:t>
            </a:r>
            <a:r>
              <a:rPr sz="1800" dirty="0">
                <a:latin typeface="Calibri"/>
                <a:cs typeface="Calibri"/>
              </a:rPr>
              <a:t>modelo de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ML </a:t>
            </a:r>
            <a:r>
              <a:rPr sz="1800" b="1" i="1" spc="-10" dirty="0">
                <a:solidFill>
                  <a:srgbClr val="00AFEF"/>
                </a:solidFill>
                <a:latin typeface="Calibri"/>
                <a:cs typeface="Calibri"/>
              </a:rPr>
              <a:t>treinado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6939" y="1759966"/>
            <a:ext cx="11011535" cy="2632710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241300" marR="5080" indent="-228600">
              <a:lnSpc>
                <a:spcPts val="2690"/>
              </a:lnSpc>
              <a:spcBef>
                <a:spcPts val="74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Porém,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não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basta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algoritmo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ML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aprenda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modelo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faça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um </a:t>
            </a:r>
            <a:r>
              <a:rPr sz="2800" dirty="0">
                <a:latin typeface="Calibri"/>
                <a:cs typeface="Calibri"/>
              </a:rPr>
              <a:t>bom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mapeamento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apenas</a:t>
            </a:r>
            <a:r>
              <a:rPr sz="2800" b="1" i="1" spc="-7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para</a:t>
            </a:r>
            <a:r>
              <a:rPr sz="2800" b="1" i="1" spc="-7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os</a:t>
            </a:r>
            <a:r>
              <a:rPr sz="2800" b="1" i="1" spc="-6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dados</a:t>
            </a:r>
            <a:r>
              <a:rPr sz="2800" b="1" i="1" spc="-8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do</a:t>
            </a:r>
            <a:r>
              <a:rPr sz="2800" b="1" i="1" spc="-65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conjunto</a:t>
            </a:r>
            <a:r>
              <a:rPr sz="2800" b="1" i="1" spc="-7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de</a:t>
            </a:r>
            <a:r>
              <a:rPr sz="2800" b="1" i="1" spc="-70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treinamento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marR="521970" indent="-228600">
              <a:lnSpc>
                <a:spcPct val="80000"/>
              </a:lnSpc>
              <a:spcBef>
                <a:spcPts val="1019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algoritmo</a:t>
            </a:r>
            <a:r>
              <a:rPr sz="2800" b="1" i="1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ML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deve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treinar</a:t>
            </a:r>
            <a:r>
              <a:rPr sz="2800" b="1" i="1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modelo</a:t>
            </a:r>
            <a:r>
              <a:rPr sz="2800" b="1" i="1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aprenda</a:t>
            </a:r>
            <a:r>
              <a:rPr sz="2800" b="1" i="1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uma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6F2F9F"/>
                </a:solidFill>
                <a:latin typeface="Calibri"/>
                <a:cs typeface="Calibri"/>
              </a:rPr>
              <a:t>solução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geral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ou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seja,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generalize</a:t>
            </a:r>
            <a:r>
              <a:rPr sz="2800" b="1" i="1" spc="-8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para</a:t>
            </a:r>
            <a:r>
              <a:rPr sz="2800" b="1" i="1" spc="-10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entradas</a:t>
            </a:r>
            <a:r>
              <a:rPr sz="2800" b="1" i="1" spc="-7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não</a:t>
            </a:r>
            <a:r>
              <a:rPr sz="2800" b="1" i="1" spc="-9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vistas</a:t>
            </a:r>
            <a:r>
              <a:rPr sz="2800" b="1" i="1" spc="-9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durante</a:t>
            </a:r>
            <a:r>
              <a:rPr sz="2800" b="1" i="1" spc="-9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50" dirty="0">
                <a:solidFill>
                  <a:srgbClr val="00AF50"/>
                </a:solidFill>
                <a:latin typeface="Calibri"/>
                <a:cs typeface="Calibri"/>
              </a:rPr>
              <a:t>o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treinamento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050" dirty="0">
              <a:latin typeface="Calibri"/>
              <a:cs typeface="Calibri"/>
            </a:endParaRPr>
          </a:p>
          <a:p>
            <a:pPr marL="3339465">
              <a:lnSpc>
                <a:spcPct val="100000"/>
              </a:lnSpc>
            </a:pPr>
            <a:r>
              <a:rPr sz="2400" b="1" dirty="0">
                <a:latin typeface="Calibri"/>
                <a:cs typeface="Calibri"/>
              </a:rPr>
              <a:t>Aprendizado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de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Máquina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088003" y="4904866"/>
            <a:ext cx="828040" cy="76200"/>
          </a:xfrm>
          <a:custGeom>
            <a:avLst/>
            <a:gdLst/>
            <a:ahLst/>
            <a:cxnLst/>
            <a:rect l="l" t="t" r="r" b="b"/>
            <a:pathLst>
              <a:path w="828039" h="76200">
                <a:moveTo>
                  <a:pt x="751839" y="0"/>
                </a:moveTo>
                <a:lnTo>
                  <a:pt x="751839" y="76199"/>
                </a:lnTo>
                <a:lnTo>
                  <a:pt x="808989" y="47624"/>
                </a:lnTo>
                <a:lnTo>
                  <a:pt x="764539" y="47624"/>
                </a:lnTo>
                <a:lnTo>
                  <a:pt x="764539" y="28574"/>
                </a:lnTo>
                <a:lnTo>
                  <a:pt x="808989" y="28574"/>
                </a:lnTo>
                <a:lnTo>
                  <a:pt x="751839" y="0"/>
                </a:lnTo>
                <a:close/>
              </a:path>
              <a:path w="828039" h="76200">
                <a:moveTo>
                  <a:pt x="751839" y="28574"/>
                </a:moveTo>
                <a:lnTo>
                  <a:pt x="0" y="28574"/>
                </a:lnTo>
                <a:lnTo>
                  <a:pt x="0" y="47624"/>
                </a:lnTo>
                <a:lnTo>
                  <a:pt x="751839" y="47624"/>
                </a:lnTo>
                <a:lnTo>
                  <a:pt x="751839" y="28574"/>
                </a:lnTo>
                <a:close/>
              </a:path>
              <a:path w="828039" h="76200">
                <a:moveTo>
                  <a:pt x="808989" y="28574"/>
                </a:moveTo>
                <a:lnTo>
                  <a:pt x="764539" y="28574"/>
                </a:lnTo>
                <a:lnTo>
                  <a:pt x="764539" y="47624"/>
                </a:lnTo>
                <a:lnTo>
                  <a:pt x="808989" y="47624"/>
                </a:lnTo>
                <a:lnTo>
                  <a:pt x="828039" y="38099"/>
                </a:lnTo>
                <a:lnTo>
                  <a:pt x="808989" y="28574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209289" y="4638802"/>
            <a:ext cx="83566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2069" marR="5080" indent="-40005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Calibri"/>
                <a:cs typeface="Calibri"/>
              </a:rPr>
              <a:t>Entradas </a:t>
            </a:r>
            <a:r>
              <a:rPr sz="1800" spc="-10" dirty="0">
                <a:latin typeface="Calibri"/>
                <a:cs typeface="Calibri"/>
              </a:rPr>
              <a:t>inéditas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826377" y="4904866"/>
            <a:ext cx="828040" cy="76200"/>
          </a:xfrm>
          <a:custGeom>
            <a:avLst/>
            <a:gdLst/>
            <a:ahLst/>
            <a:cxnLst/>
            <a:rect l="l" t="t" r="r" b="b"/>
            <a:pathLst>
              <a:path w="828040" h="76200">
                <a:moveTo>
                  <a:pt x="751840" y="0"/>
                </a:moveTo>
                <a:lnTo>
                  <a:pt x="751840" y="76199"/>
                </a:lnTo>
                <a:lnTo>
                  <a:pt x="808990" y="47624"/>
                </a:lnTo>
                <a:lnTo>
                  <a:pt x="764540" y="47624"/>
                </a:lnTo>
                <a:lnTo>
                  <a:pt x="764540" y="28574"/>
                </a:lnTo>
                <a:lnTo>
                  <a:pt x="808990" y="28574"/>
                </a:lnTo>
                <a:lnTo>
                  <a:pt x="751840" y="0"/>
                </a:lnTo>
                <a:close/>
              </a:path>
              <a:path w="828040" h="76200">
                <a:moveTo>
                  <a:pt x="751840" y="28574"/>
                </a:moveTo>
                <a:lnTo>
                  <a:pt x="0" y="28574"/>
                </a:lnTo>
                <a:lnTo>
                  <a:pt x="0" y="47624"/>
                </a:lnTo>
                <a:lnTo>
                  <a:pt x="751840" y="47624"/>
                </a:lnTo>
                <a:lnTo>
                  <a:pt x="751840" y="28574"/>
                </a:lnTo>
                <a:close/>
              </a:path>
              <a:path w="828040" h="76200">
                <a:moveTo>
                  <a:pt x="808990" y="28574"/>
                </a:moveTo>
                <a:lnTo>
                  <a:pt x="764540" y="28574"/>
                </a:lnTo>
                <a:lnTo>
                  <a:pt x="764540" y="47624"/>
                </a:lnTo>
                <a:lnTo>
                  <a:pt x="808990" y="47624"/>
                </a:lnTo>
                <a:lnTo>
                  <a:pt x="828040" y="38099"/>
                </a:lnTo>
                <a:lnTo>
                  <a:pt x="808990" y="28574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7652766" y="4679391"/>
            <a:ext cx="94297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62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Saída</a:t>
            </a:r>
            <a:r>
              <a:rPr sz="1800" spc="-25" dirty="0">
                <a:latin typeface="Calibri"/>
                <a:cs typeface="Calibri"/>
              </a:rPr>
              <a:t> ou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spc="-10" dirty="0">
                <a:latin typeface="Calibri"/>
                <a:cs typeface="Calibri"/>
              </a:rPr>
              <a:t>inferência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13740" y="6027216"/>
            <a:ext cx="3023870" cy="666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635" algn="ctr">
              <a:lnSpc>
                <a:spcPct val="100000"/>
              </a:lnSpc>
              <a:spcBef>
                <a:spcPts val="100"/>
              </a:spcBef>
            </a:pPr>
            <a:r>
              <a:rPr sz="1400" b="1" i="1" dirty="0">
                <a:solidFill>
                  <a:srgbClr val="00AF50"/>
                </a:solidFill>
                <a:latin typeface="Calibri"/>
                <a:cs typeface="Calibri"/>
              </a:rPr>
              <a:t>Qual</a:t>
            </a:r>
            <a:r>
              <a:rPr sz="1400" b="1" i="1" spc="-3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1400" b="1" i="1" dirty="0">
                <a:solidFill>
                  <a:srgbClr val="00AF50"/>
                </a:solidFill>
                <a:latin typeface="Calibri"/>
                <a:cs typeface="Calibri"/>
              </a:rPr>
              <a:t>é</a:t>
            </a:r>
            <a:r>
              <a:rPr sz="1400" b="1" i="1" spc="-1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1400" b="1" i="1" dirty="0">
                <a:solidFill>
                  <a:srgbClr val="00AF50"/>
                </a:solidFill>
                <a:latin typeface="Calibri"/>
                <a:cs typeface="Calibri"/>
              </a:rPr>
              <a:t>a</a:t>
            </a:r>
            <a:r>
              <a:rPr sz="1400" b="1" i="1" spc="-2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1400" b="1" i="1" dirty="0">
                <a:solidFill>
                  <a:srgbClr val="00AF50"/>
                </a:solidFill>
                <a:latin typeface="Calibri"/>
                <a:cs typeface="Calibri"/>
              </a:rPr>
              <a:t>estimativa</a:t>
            </a:r>
            <a:r>
              <a:rPr sz="1400" b="1" i="1" spc="-3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1400" b="1" i="1" dirty="0">
                <a:solidFill>
                  <a:srgbClr val="00AF50"/>
                </a:solidFill>
                <a:latin typeface="Calibri"/>
                <a:cs typeface="Calibri"/>
              </a:rPr>
              <a:t>de</a:t>
            </a:r>
            <a:r>
              <a:rPr sz="1400" b="1" i="1" spc="-2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1400" b="1" i="1" dirty="0">
                <a:solidFill>
                  <a:srgbClr val="00AF50"/>
                </a:solidFill>
                <a:latin typeface="Calibri"/>
                <a:cs typeface="Calibri"/>
              </a:rPr>
              <a:t>paletas</a:t>
            </a:r>
            <a:r>
              <a:rPr sz="1400" b="1" i="1" spc="-3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1400" b="1" i="1" spc="-10" dirty="0">
                <a:solidFill>
                  <a:srgbClr val="00AF50"/>
                </a:solidFill>
                <a:latin typeface="Calibri"/>
                <a:cs typeface="Calibri"/>
              </a:rPr>
              <a:t>vendidas </a:t>
            </a:r>
            <a:r>
              <a:rPr sz="1400" b="1" i="1" dirty="0">
                <a:solidFill>
                  <a:srgbClr val="00AF50"/>
                </a:solidFill>
                <a:latin typeface="Calibri"/>
                <a:cs typeface="Calibri"/>
              </a:rPr>
              <a:t>quando</a:t>
            </a:r>
            <a:r>
              <a:rPr sz="1400" b="1" i="1" spc="-5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1400" b="1" i="1" dirty="0">
                <a:solidFill>
                  <a:srgbClr val="00AF50"/>
                </a:solidFill>
                <a:latin typeface="Calibri"/>
                <a:cs typeface="Calibri"/>
              </a:rPr>
              <a:t>a</a:t>
            </a:r>
            <a:r>
              <a:rPr sz="1400" b="1" i="1" spc="-2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1400" b="1" i="1" dirty="0">
                <a:solidFill>
                  <a:srgbClr val="00AF50"/>
                </a:solidFill>
                <a:latin typeface="Calibri"/>
                <a:cs typeface="Calibri"/>
              </a:rPr>
              <a:t>temperatura</a:t>
            </a:r>
            <a:r>
              <a:rPr sz="1400" b="1" i="1" spc="-4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1400" b="1" i="1" dirty="0">
                <a:solidFill>
                  <a:srgbClr val="00AF50"/>
                </a:solidFill>
                <a:latin typeface="Calibri"/>
                <a:cs typeface="Calibri"/>
              </a:rPr>
              <a:t>é</a:t>
            </a:r>
            <a:r>
              <a:rPr sz="1400" b="1" i="1" spc="-1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1400" b="1" i="1" dirty="0">
                <a:solidFill>
                  <a:srgbClr val="00AF50"/>
                </a:solidFill>
                <a:latin typeface="Calibri"/>
                <a:cs typeface="Calibri"/>
              </a:rPr>
              <a:t>de</a:t>
            </a:r>
            <a:r>
              <a:rPr sz="1400" b="1" i="1" spc="-1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0AF50"/>
                </a:solidFill>
                <a:latin typeface="Cambria Math"/>
                <a:cs typeface="Cambria Math"/>
              </a:rPr>
              <a:t>≈</a:t>
            </a:r>
            <a:r>
              <a:rPr sz="1400" spc="-15" dirty="0">
                <a:solidFill>
                  <a:srgbClr val="00AF50"/>
                </a:solidFill>
                <a:latin typeface="Cambria Math"/>
                <a:cs typeface="Cambria Math"/>
              </a:rPr>
              <a:t> </a:t>
            </a:r>
            <a:r>
              <a:rPr sz="1400" b="1" i="1" dirty="0">
                <a:solidFill>
                  <a:srgbClr val="00AF50"/>
                </a:solidFill>
                <a:latin typeface="Calibri"/>
                <a:cs typeface="Calibri"/>
              </a:rPr>
              <a:t>6 </a:t>
            </a:r>
            <a:r>
              <a:rPr sz="1400" b="1" i="1" spc="-20" dirty="0">
                <a:solidFill>
                  <a:srgbClr val="00AF50"/>
                </a:solidFill>
                <a:latin typeface="Calibri"/>
                <a:cs typeface="Calibri"/>
              </a:rPr>
              <a:t>graus </a:t>
            </a:r>
            <a:r>
              <a:rPr sz="1400" b="1" i="1" dirty="0">
                <a:solidFill>
                  <a:srgbClr val="00AF50"/>
                </a:solidFill>
                <a:latin typeface="Calibri"/>
                <a:cs typeface="Calibri"/>
              </a:rPr>
              <a:t>(valor</a:t>
            </a:r>
            <a:r>
              <a:rPr sz="1400" b="1" i="1" spc="-3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1400" b="1" i="1" dirty="0">
                <a:solidFill>
                  <a:srgbClr val="00AF50"/>
                </a:solidFill>
                <a:latin typeface="Calibri"/>
                <a:cs typeface="Calibri"/>
              </a:rPr>
              <a:t>não</a:t>
            </a:r>
            <a:r>
              <a:rPr sz="1400" b="1" i="1" spc="-2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1400" b="1" i="1" dirty="0">
                <a:solidFill>
                  <a:srgbClr val="00AF50"/>
                </a:solidFill>
                <a:latin typeface="Calibri"/>
                <a:cs typeface="Calibri"/>
              </a:rPr>
              <a:t>visto</a:t>
            </a:r>
            <a:r>
              <a:rPr sz="1400" b="1" i="1" spc="-2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1400" b="1" i="1" spc="-10" dirty="0">
                <a:solidFill>
                  <a:srgbClr val="00AF50"/>
                </a:solidFill>
                <a:latin typeface="Calibri"/>
                <a:cs typeface="Calibri"/>
              </a:rPr>
              <a:t>durante</a:t>
            </a:r>
            <a:r>
              <a:rPr sz="1400" b="1" i="1" spc="-5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1400" b="1" i="1" dirty="0">
                <a:solidFill>
                  <a:srgbClr val="00AF50"/>
                </a:solidFill>
                <a:latin typeface="Calibri"/>
                <a:cs typeface="Calibri"/>
              </a:rPr>
              <a:t>o</a:t>
            </a:r>
            <a:r>
              <a:rPr sz="1400" b="1" i="1" spc="-2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1400" b="1" i="1" spc="-10" dirty="0">
                <a:solidFill>
                  <a:srgbClr val="00AF50"/>
                </a:solidFill>
                <a:latin typeface="Calibri"/>
                <a:cs typeface="Calibri"/>
              </a:rPr>
              <a:t>treinamento)?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431284" y="4584954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6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112000" y="4592573"/>
            <a:ext cx="2571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0000"/>
                </a:solidFill>
                <a:latin typeface="Calibri"/>
                <a:cs typeface="Calibri"/>
              </a:rPr>
              <a:t>23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60150" y="4083183"/>
            <a:ext cx="2825115" cy="1916430"/>
            <a:chOff x="260150" y="4083183"/>
            <a:chExt cx="2825115" cy="1916430"/>
          </a:xfrm>
        </p:grpSpPr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0150" y="4083183"/>
              <a:ext cx="2824554" cy="1916151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025855" y="4283456"/>
              <a:ext cx="0" cy="1476375"/>
            </a:xfrm>
            <a:custGeom>
              <a:avLst/>
              <a:gdLst/>
              <a:ahLst/>
              <a:cxnLst/>
              <a:rect l="l" t="t" r="r" b="b"/>
              <a:pathLst>
                <a:path h="1476375">
                  <a:moveTo>
                    <a:pt x="0" y="0"/>
                  </a:moveTo>
                  <a:lnTo>
                    <a:pt x="0" y="1475955"/>
                  </a:lnTo>
                </a:path>
              </a:pathLst>
            </a:custGeom>
            <a:ln w="12700">
              <a:solidFill>
                <a:srgbClr val="FF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979119" y="5743447"/>
            <a:ext cx="9398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solidFill>
                  <a:srgbClr val="FF0000"/>
                </a:solidFill>
                <a:latin typeface="Calibri"/>
                <a:cs typeface="Calibri"/>
              </a:rPr>
              <a:t>6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227703" y="5507228"/>
            <a:ext cx="328549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23315" marR="5080" indent="-1111250">
              <a:lnSpc>
                <a:spcPct val="100000"/>
              </a:lnSpc>
              <a:spcBef>
                <a:spcPts val="100"/>
              </a:spcBef>
            </a:pPr>
            <a:r>
              <a:rPr sz="1400" b="1" i="1" dirty="0">
                <a:solidFill>
                  <a:srgbClr val="00AF50"/>
                </a:solidFill>
                <a:latin typeface="Calibri"/>
                <a:cs typeface="Calibri"/>
              </a:rPr>
              <a:t>O</a:t>
            </a:r>
            <a:r>
              <a:rPr sz="1400" b="1" i="1" spc="-3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1400" b="1" i="1" dirty="0">
                <a:solidFill>
                  <a:srgbClr val="00AF50"/>
                </a:solidFill>
                <a:latin typeface="Calibri"/>
                <a:cs typeface="Calibri"/>
              </a:rPr>
              <a:t>modelo</a:t>
            </a:r>
            <a:r>
              <a:rPr sz="1400" b="1" i="1" spc="-2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1400" b="1" i="1" dirty="0">
                <a:solidFill>
                  <a:srgbClr val="00AF50"/>
                </a:solidFill>
                <a:latin typeface="Calibri"/>
                <a:cs typeface="Calibri"/>
              </a:rPr>
              <a:t>aprendeu</a:t>
            </a:r>
            <a:r>
              <a:rPr sz="1400" b="1" i="1" spc="-4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1400" b="1" i="1" dirty="0">
                <a:solidFill>
                  <a:srgbClr val="00AF50"/>
                </a:solidFill>
                <a:latin typeface="Calibri"/>
                <a:cs typeface="Calibri"/>
              </a:rPr>
              <a:t>que</a:t>
            </a:r>
            <a:r>
              <a:rPr sz="1400" b="1" i="1" spc="-2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1400" b="1" i="1" dirty="0">
                <a:solidFill>
                  <a:srgbClr val="00AF50"/>
                </a:solidFill>
                <a:latin typeface="Calibri"/>
                <a:cs typeface="Calibri"/>
              </a:rPr>
              <a:t>uma</a:t>
            </a:r>
            <a:r>
              <a:rPr sz="1400" b="1" i="1" spc="-2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1400" b="1" i="1" dirty="0">
                <a:solidFill>
                  <a:srgbClr val="EC7C30"/>
                </a:solidFill>
                <a:latin typeface="Calibri"/>
                <a:cs typeface="Calibri"/>
              </a:rPr>
              <a:t>reta</a:t>
            </a:r>
            <a:r>
              <a:rPr sz="1400" b="1" i="1" spc="-25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1400" b="1" i="1" dirty="0">
                <a:solidFill>
                  <a:srgbClr val="00AF50"/>
                </a:solidFill>
                <a:latin typeface="Calibri"/>
                <a:cs typeface="Calibri"/>
              </a:rPr>
              <a:t>é</a:t>
            </a:r>
            <a:r>
              <a:rPr sz="1400" b="1" i="1" spc="-1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1400" b="1" i="1" dirty="0">
                <a:solidFill>
                  <a:srgbClr val="00AF50"/>
                </a:solidFill>
                <a:latin typeface="Calibri"/>
                <a:cs typeface="Calibri"/>
              </a:rPr>
              <a:t>um</a:t>
            </a:r>
            <a:r>
              <a:rPr sz="1400" b="1" i="1" spc="-2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1400" b="1" i="1" spc="-25" dirty="0">
                <a:solidFill>
                  <a:srgbClr val="6F2F9F"/>
                </a:solidFill>
                <a:latin typeface="Calibri"/>
                <a:cs typeface="Calibri"/>
              </a:rPr>
              <a:t>bom </a:t>
            </a:r>
            <a:r>
              <a:rPr sz="1400" b="1" i="1" spc="-10" dirty="0">
                <a:solidFill>
                  <a:srgbClr val="00AF50"/>
                </a:solidFill>
                <a:latin typeface="Calibri"/>
                <a:cs typeface="Calibri"/>
              </a:rPr>
              <a:t>mapeamento.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423909" y="6030569"/>
            <a:ext cx="3585845" cy="666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z="1400" b="1" i="1" dirty="0">
                <a:solidFill>
                  <a:srgbClr val="00AF50"/>
                </a:solidFill>
                <a:latin typeface="Calibri"/>
                <a:cs typeface="Calibri"/>
              </a:rPr>
              <a:t>A</a:t>
            </a:r>
            <a:r>
              <a:rPr sz="1400" b="1" i="1" spc="-3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1400" b="1" i="1" dirty="0">
                <a:solidFill>
                  <a:srgbClr val="00AF50"/>
                </a:solidFill>
                <a:latin typeface="Calibri"/>
                <a:cs typeface="Calibri"/>
              </a:rPr>
              <a:t>partir</a:t>
            </a:r>
            <a:r>
              <a:rPr sz="1400" b="1" i="1" spc="-5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1400" b="1" i="1" dirty="0">
                <a:solidFill>
                  <a:srgbClr val="00AF50"/>
                </a:solidFill>
                <a:latin typeface="Calibri"/>
                <a:cs typeface="Calibri"/>
              </a:rPr>
              <a:t>do</a:t>
            </a:r>
            <a:r>
              <a:rPr sz="1400" b="1" i="1" spc="-3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1400" b="1" i="1" dirty="0">
                <a:solidFill>
                  <a:srgbClr val="00AF50"/>
                </a:solidFill>
                <a:latin typeface="Calibri"/>
                <a:cs typeface="Calibri"/>
              </a:rPr>
              <a:t>mapeamento</a:t>
            </a:r>
            <a:r>
              <a:rPr sz="1400" b="1" i="1" spc="-5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1400" b="1" i="1" dirty="0">
                <a:solidFill>
                  <a:srgbClr val="00AF50"/>
                </a:solidFill>
                <a:latin typeface="Calibri"/>
                <a:cs typeface="Calibri"/>
              </a:rPr>
              <a:t>aprendido</a:t>
            </a:r>
            <a:r>
              <a:rPr sz="1400" b="1" i="1" spc="-6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1400" b="1" i="1" dirty="0">
                <a:solidFill>
                  <a:srgbClr val="00AF50"/>
                </a:solidFill>
                <a:latin typeface="Calibri"/>
                <a:cs typeface="Calibri"/>
              </a:rPr>
              <a:t>(i.e., </a:t>
            </a:r>
            <a:r>
              <a:rPr sz="1400" b="1" i="1" dirty="0">
                <a:solidFill>
                  <a:srgbClr val="EC7C30"/>
                </a:solidFill>
                <a:latin typeface="Calibri"/>
                <a:cs typeface="Calibri"/>
              </a:rPr>
              <a:t>reta</a:t>
            </a:r>
            <a:r>
              <a:rPr sz="1400" b="1" i="1" dirty="0">
                <a:solidFill>
                  <a:srgbClr val="00AF50"/>
                </a:solidFill>
                <a:latin typeface="Calibri"/>
                <a:cs typeface="Calibri"/>
              </a:rPr>
              <a:t>),</a:t>
            </a:r>
            <a:r>
              <a:rPr sz="1400" b="1" i="1" spc="-2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1400" b="1" i="1" spc="-50" dirty="0">
                <a:solidFill>
                  <a:srgbClr val="00AF50"/>
                </a:solidFill>
                <a:latin typeface="Calibri"/>
                <a:cs typeface="Calibri"/>
              </a:rPr>
              <a:t>o </a:t>
            </a:r>
            <a:r>
              <a:rPr sz="1400" b="1" i="1" dirty="0">
                <a:solidFill>
                  <a:srgbClr val="00AF50"/>
                </a:solidFill>
                <a:latin typeface="Calibri"/>
                <a:cs typeface="Calibri"/>
              </a:rPr>
              <a:t>modelo</a:t>
            </a:r>
            <a:r>
              <a:rPr sz="1400" b="1" i="1" spc="-2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1400" b="1" i="1" dirty="0">
                <a:solidFill>
                  <a:srgbClr val="00AF50"/>
                </a:solidFill>
                <a:latin typeface="Calibri"/>
                <a:cs typeface="Calibri"/>
              </a:rPr>
              <a:t>gera</a:t>
            </a:r>
            <a:r>
              <a:rPr sz="1400" b="1" i="1" spc="-4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1400" b="1" i="1" dirty="0">
                <a:solidFill>
                  <a:srgbClr val="00AF50"/>
                </a:solidFill>
                <a:latin typeface="Calibri"/>
                <a:cs typeface="Calibri"/>
              </a:rPr>
              <a:t>como</a:t>
            </a:r>
            <a:r>
              <a:rPr sz="1400" b="1" i="1" spc="-2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1400" b="1" i="1" dirty="0">
                <a:solidFill>
                  <a:srgbClr val="00AF50"/>
                </a:solidFill>
                <a:latin typeface="Calibri"/>
                <a:cs typeface="Calibri"/>
              </a:rPr>
              <a:t>saída</a:t>
            </a:r>
            <a:r>
              <a:rPr sz="1400" b="1" i="1" spc="-3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1400" b="1" i="1" dirty="0">
                <a:solidFill>
                  <a:srgbClr val="00AF50"/>
                </a:solidFill>
                <a:latin typeface="Calibri"/>
                <a:cs typeface="Calibri"/>
              </a:rPr>
              <a:t>o</a:t>
            </a:r>
            <a:r>
              <a:rPr sz="1400" b="1" i="1" spc="-1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1400" b="1" i="1" dirty="0">
                <a:solidFill>
                  <a:srgbClr val="00AF50"/>
                </a:solidFill>
                <a:latin typeface="Calibri"/>
                <a:cs typeface="Calibri"/>
              </a:rPr>
              <a:t>valor</a:t>
            </a:r>
            <a:r>
              <a:rPr sz="1400" b="1" i="1" spc="-3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1400" b="1" i="1" dirty="0">
                <a:solidFill>
                  <a:srgbClr val="00AF50"/>
                </a:solidFill>
                <a:latin typeface="Calibri"/>
                <a:cs typeface="Calibri"/>
              </a:rPr>
              <a:t>23,</a:t>
            </a:r>
            <a:r>
              <a:rPr sz="1400" b="1" i="1" spc="-1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1400" b="1" i="1" dirty="0">
                <a:solidFill>
                  <a:srgbClr val="00AF50"/>
                </a:solidFill>
                <a:latin typeface="Calibri"/>
                <a:cs typeface="Calibri"/>
              </a:rPr>
              <a:t>que</a:t>
            </a:r>
            <a:r>
              <a:rPr sz="1400" b="1" i="1" spc="-3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1400" b="1" i="1" spc="-50" dirty="0">
                <a:solidFill>
                  <a:srgbClr val="00AF50"/>
                </a:solidFill>
                <a:latin typeface="Calibri"/>
                <a:cs typeface="Calibri"/>
              </a:rPr>
              <a:t>é </a:t>
            </a:r>
            <a:r>
              <a:rPr sz="1400" b="1" i="1" spc="-10" dirty="0">
                <a:solidFill>
                  <a:srgbClr val="6F2F9F"/>
                </a:solidFill>
                <a:latin typeface="Calibri"/>
                <a:cs typeface="Calibri"/>
              </a:rPr>
              <a:t>coerente</a:t>
            </a:r>
            <a:r>
              <a:rPr sz="1400" b="1" i="1" spc="-1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1400" b="1" i="1" dirty="0">
                <a:solidFill>
                  <a:srgbClr val="00AF50"/>
                </a:solidFill>
                <a:latin typeface="Calibri"/>
                <a:cs typeface="Calibri"/>
              </a:rPr>
              <a:t>com</a:t>
            </a:r>
            <a:r>
              <a:rPr sz="1400" b="1" i="1" spc="-1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1400" b="1" i="1" dirty="0">
                <a:solidFill>
                  <a:srgbClr val="00AF50"/>
                </a:solidFill>
                <a:latin typeface="Calibri"/>
                <a:cs typeface="Calibri"/>
              </a:rPr>
              <a:t>o</a:t>
            </a:r>
            <a:r>
              <a:rPr sz="1400" b="1" i="1" spc="-10" dirty="0">
                <a:solidFill>
                  <a:srgbClr val="00AF50"/>
                </a:solidFill>
                <a:latin typeface="Calibri"/>
                <a:cs typeface="Calibri"/>
              </a:rPr>
              <a:t> restante</a:t>
            </a:r>
            <a:r>
              <a:rPr sz="1400" b="1" i="1" spc="-3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1400" b="1" i="1" dirty="0">
                <a:solidFill>
                  <a:srgbClr val="00AF50"/>
                </a:solidFill>
                <a:latin typeface="Calibri"/>
                <a:cs typeface="Calibri"/>
              </a:rPr>
              <a:t>dos</a:t>
            </a:r>
            <a:r>
              <a:rPr sz="1400" b="1" i="1" spc="-1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1400" b="1" i="1" spc="-10" dirty="0">
                <a:solidFill>
                  <a:srgbClr val="00AF50"/>
                </a:solidFill>
                <a:latin typeface="Calibri"/>
                <a:cs typeface="Calibri"/>
              </a:rPr>
              <a:t>dados.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8673479" y="4032726"/>
            <a:ext cx="2932430" cy="1983105"/>
            <a:chOff x="8673479" y="4032726"/>
            <a:chExt cx="2932430" cy="1983105"/>
          </a:xfrm>
        </p:grpSpPr>
        <p:pic>
          <p:nvPicPr>
            <p:cNvPr id="19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673479" y="4032726"/>
              <a:ext cx="2931900" cy="1982988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9457943" y="5425440"/>
              <a:ext cx="0" cy="360680"/>
            </a:xfrm>
            <a:custGeom>
              <a:avLst/>
              <a:gdLst/>
              <a:ahLst/>
              <a:cxnLst/>
              <a:rect l="l" t="t" r="r" b="b"/>
              <a:pathLst>
                <a:path h="360679">
                  <a:moveTo>
                    <a:pt x="0" y="0"/>
                  </a:moveTo>
                  <a:lnTo>
                    <a:pt x="0" y="360057"/>
                  </a:lnTo>
                </a:path>
              </a:pathLst>
            </a:custGeom>
            <a:ln w="12700">
              <a:solidFill>
                <a:srgbClr val="FF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9412351" y="5763564"/>
            <a:ext cx="9398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solidFill>
                  <a:srgbClr val="FF0000"/>
                </a:solidFill>
                <a:latin typeface="Calibri"/>
                <a:cs typeface="Calibri"/>
              </a:rPr>
              <a:t>6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9441180" y="5404230"/>
            <a:ext cx="36195" cy="36195"/>
          </a:xfrm>
          <a:custGeom>
            <a:avLst/>
            <a:gdLst/>
            <a:ahLst/>
            <a:cxnLst/>
            <a:rect l="l" t="t" r="r" b="b"/>
            <a:pathLst>
              <a:path w="36195" h="36195">
                <a:moveTo>
                  <a:pt x="0" y="0"/>
                </a:moveTo>
                <a:lnTo>
                  <a:pt x="36068" y="35941"/>
                </a:lnTo>
              </a:path>
              <a:path w="36195" h="36195">
                <a:moveTo>
                  <a:pt x="36068" y="0"/>
                </a:moveTo>
                <a:lnTo>
                  <a:pt x="0" y="35941"/>
                </a:lnTo>
              </a:path>
            </a:pathLst>
          </a:custGeom>
          <a:ln w="127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7295515" y="4977638"/>
            <a:ext cx="2047239" cy="447675"/>
          </a:xfrm>
          <a:custGeom>
            <a:avLst/>
            <a:gdLst/>
            <a:ahLst/>
            <a:cxnLst/>
            <a:rect l="l" t="t" r="r" b="b"/>
            <a:pathLst>
              <a:path w="2047240" h="447675">
                <a:moveTo>
                  <a:pt x="1971724" y="413491"/>
                </a:moveTo>
                <a:lnTo>
                  <a:pt x="1964689" y="447675"/>
                </a:lnTo>
                <a:lnTo>
                  <a:pt x="2046985" y="425831"/>
                </a:lnTo>
                <a:lnTo>
                  <a:pt x="2034597" y="416052"/>
                </a:lnTo>
                <a:lnTo>
                  <a:pt x="1984120" y="416052"/>
                </a:lnTo>
                <a:lnTo>
                  <a:pt x="1971724" y="413491"/>
                </a:lnTo>
                <a:close/>
              </a:path>
              <a:path w="2047240" h="447675">
                <a:moveTo>
                  <a:pt x="1973009" y="407245"/>
                </a:moveTo>
                <a:lnTo>
                  <a:pt x="1971724" y="413491"/>
                </a:lnTo>
                <a:lnTo>
                  <a:pt x="1984120" y="416052"/>
                </a:lnTo>
                <a:lnTo>
                  <a:pt x="1985517" y="409828"/>
                </a:lnTo>
                <a:lnTo>
                  <a:pt x="1973009" y="407245"/>
                </a:lnTo>
                <a:close/>
              </a:path>
              <a:path w="2047240" h="447675">
                <a:moveTo>
                  <a:pt x="1980056" y="372999"/>
                </a:moveTo>
                <a:lnTo>
                  <a:pt x="1973009" y="407245"/>
                </a:lnTo>
                <a:lnTo>
                  <a:pt x="1985517" y="409828"/>
                </a:lnTo>
                <a:lnTo>
                  <a:pt x="1984120" y="416052"/>
                </a:lnTo>
                <a:lnTo>
                  <a:pt x="2034597" y="416052"/>
                </a:lnTo>
                <a:lnTo>
                  <a:pt x="1980056" y="372999"/>
                </a:lnTo>
                <a:close/>
              </a:path>
              <a:path w="2047240" h="447675">
                <a:moveTo>
                  <a:pt x="1269" y="0"/>
                </a:moveTo>
                <a:lnTo>
                  <a:pt x="0" y="6223"/>
                </a:lnTo>
                <a:lnTo>
                  <a:pt x="1971724" y="413491"/>
                </a:lnTo>
                <a:lnTo>
                  <a:pt x="1973009" y="407245"/>
                </a:lnTo>
                <a:lnTo>
                  <a:pt x="126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Exemplos</a:t>
            </a:r>
            <a:r>
              <a:rPr spc="-55" dirty="0"/>
              <a:t> </a:t>
            </a:r>
            <a:r>
              <a:rPr dirty="0"/>
              <a:t>de</a:t>
            </a:r>
            <a:r>
              <a:rPr spc="-45" dirty="0"/>
              <a:t> </a:t>
            </a:r>
            <a:r>
              <a:rPr dirty="0"/>
              <a:t>aplicações</a:t>
            </a:r>
            <a:r>
              <a:rPr spc="-20" dirty="0"/>
              <a:t> </a:t>
            </a:r>
            <a:r>
              <a:rPr dirty="0"/>
              <a:t>de</a:t>
            </a:r>
            <a:r>
              <a:rPr spc="-45" dirty="0"/>
              <a:t> </a:t>
            </a:r>
            <a:r>
              <a:rPr dirty="0"/>
              <a:t>ML</a:t>
            </a:r>
            <a:r>
              <a:rPr spc="-40" dirty="0"/>
              <a:t> </a:t>
            </a:r>
            <a:r>
              <a:rPr dirty="0"/>
              <a:t>em</a:t>
            </a:r>
            <a:r>
              <a:rPr spc="-55" dirty="0"/>
              <a:t> </a:t>
            </a:r>
            <a:r>
              <a:rPr dirty="0"/>
              <a:t>várias</a:t>
            </a:r>
            <a:r>
              <a:rPr spc="-40" dirty="0"/>
              <a:t> </a:t>
            </a:r>
            <a:r>
              <a:rPr spc="-10" dirty="0"/>
              <a:t>áreas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07159"/>
            <a:ext cx="9907270" cy="3862704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775"/>
              </a:spcBef>
              <a:buFont typeface="Arial"/>
              <a:buChar char="•"/>
              <a:tabLst>
                <a:tab pos="241300" algn="l"/>
              </a:tabLst>
            </a:pPr>
            <a:r>
              <a:rPr sz="2800" b="1" spc="-25" dirty="0">
                <a:latin typeface="Calibri"/>
                <a:cs typeface="Calibri"/>
              </a:rPr>
              <a:t>Transporte</a:t>
            </a:r>
            <a:r>
              <a:rPr sz="2800" spc="-25" dirty="0">
                <a:latin typeface="Calibri"/>
                <a:cs typeface="Calibri"/>
              </a:rPr>
              <a:t>: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veículos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autônomos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(e.g.,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spc="-30" dirty="0">
                <a:latin typeface="Calibri"/>
                <a:cs typeface="Calibri"/>
              </a:rPr>
              <a:t>Tesla,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Waymo).</a:t>
            </a:r>
            <a:endParaRPr sz="2800" dirty="0">
              <a:latin typeface="Calibri"/>
              <a:cs typeface="Calibri"/>
            </a:endParaRPr>
          </a:p>
          <a:p>
            <a:pPr marL="241300" marR="5080" indent="-228600">
              <a:lnSpc>
                <a:spcPts val="3020"/>
              </a:lnSpc>
              <a:spcBef>
                <a:spcPts val="1060"/>
              </a:spcBef>
              <a:buFont typeface="Arial"/>
              <a:buChar char="•"/>
              <a:tabLst>
                <a:tab pos="241300" algn="l"/>
              </a:tabLst>
            </a:pPr>
            <a:r>
              <a:rPr sz="2800" b="1" dirty="0">
                <a:latin typeface="Calibri"/>
                <a:cs typeface="Calibri"/>
              </a:rPr>
              <a:t>Negócios</a:t>
            </a:r>
            <a:r>
              <a:rPr sz="2800" dirty="0">
                <a:latin typeface="Calibri"/>
                <a:cs typeface="Calibri"/>
              </a:rPr>
              <a:t>: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recomendação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produtos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conteúdos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(e.g.,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Amazon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e </a:t>
            </a:r>
            <a:r>
              <a:rPr sz="2800" spc="-10" dirty="0">
                <a:latin typeface="Calibri"/>
                <a:cs typeface="Calibri"/>
              </a:rPr>
              <a:t>Netflix).</a:t>
            </a:r>
            <a:endParaRPr sz="28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20"/>
              </a:spcBef>
              <a:buFont typeface="Arial"/>
              <a:buChar char="•"/>
              <a:tabLst>
                <a:tab pos="241300" algn="l"/>
              </a:tabLst>
            </a:pPr>
            <a:r>
              <a:rPr sz="2800" b="1" spc="-10" dirty="0">
                <a:latin typeface="Calibri"/>
                <a:cs typeface="Calibri"/>
              </a:rPr>
              <a:t>Educação</a:t>
            </a:r>
            <a:r>
              <a:rPr sz="2800" spc="-10" dirty="0">
                <a:latin typeface="Calibri"/>
                <a:cs typeface="Calibri"/>
              </a:rPr>
              <a:t>: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pontuação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automatizada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fala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em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testes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Inglês.</a:t>
            </a:r>
            <a:endParaRPr sz="2800" dirty="0">
              <a:latin typeface="Calibri"/>
              <a:cs typeface="Calibri"/>
            </a:endParaRPr>
          </a:p>
          <a:p>
            <a:pPr marL="241300" marR="763270" indent="-228600">
              <a:lnSpc>
                <a:spcPts val="3020"/>
              </a:lnSpc>
              <a:spcBef>
                <a:spcPts val="1045"/>
              </a:spcBef>
              <a:buFont typeface="Arial"/>
              <a:buChar char="•"/>
              <a:tabLst>
                <a:tab pos="241300" algn="l"/>
              </a:tabLst>
            </a:pPr>
            <a:r>
              <a:rPr sz="2800" b="1" dirty="0">
                <a:latin typeface="Calibri"/>
                <a:cs typeface="Calibri"/>
              </a:rPr>
              <a:t>Saúde</a:t>
            </a:r>
            <a:r>
              <a:rPr sz="2800" dirty="0">
                <a:latin typeface="Calibri"/>
                <a:cs typeface="Calibri"/>
              </a:rPr>
              <a:t>: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detecção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diagnóstico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doenças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30" dirty="0">
                <a:latin typeface="Calibri"/>
                <a:cs typeface="Calibri"/>
              </a:rPr>
              <a:t>(câncer,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Alzheimer, </a:t>
            </a:r>
            <a:r>
              <a:rPr sz="2800" dirty="0">
                <a:latin typeface="Calibri"/>
                <a:cs typeface="Calibri"/>
              </a:rPr>
              <a:t>pneumonia,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40" dirty="0">
                <a:latin typeface="Calibri"/>
                <a:cs typeface="Calibri"/>
              </a:rPr>
              <a:t>COVID-</a:t>
            </a:r>
            <a:r>
              <a:rPr sz="2800" dirty="0">
                <a:latin typeface="Calibri"/>
                <a:cs typeface="Calibri"/>
              </a:rPr>
              <a:t>19,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etc.).</a:t>
            </a:r>
            <a:endParaRPr sz="28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30"/>
              </a:spcBef>
              <a:buFont typeface="Arial"/>
              <a:buChar char="•"/>
              <a:tabLst>
                <a:tab pos="241300" algn="l"/>
              </a:tabLst>
            </a:pPr>
            <a:r>
              <a:rPr sz="2800" b="1" dirty="0">
                <a:latin typeface="Calibri"/>
                <a:cs typeface="Calibri"/>
              </a:rPr>
              <a:t>Finanças</a:t>
            </a:r>
            <a:r>
              <a:rPr sz="2800" dirty="0">
                <a:latin typeface="Calibri"/>
                <a:cs typeface="Calibri"/>
              </a:rPr>
              <a:t>: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detecção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fraudes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cartão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crédito.</a:t>
            </a:r>
            <a:endParaRPr sz="28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65"/>
              </a:spcBef>
              <a:buFont typeface="Arial"/>
              <a:buChar char="•"/>
              <a:tabLst>
                <a:tab pos="241300" algn="l"/>
              </a:tabLst>
            </a:pPr>
            <a:r>
              <a:rPr sz="2800" b="1" spc="-30" dirty="0">
                <a:latin typeface="Calibri"/>
                <a:cs typeface="Calibri"/>
              </a:rPr>
              <a:t>Tecnologia</a:t>
            </a:r>
            <a:r>
              <a:rPr sz="2800" spc="-30" dirty="0">
                <a:latin typeface="Calibri"/>
                <a:cs typeface="Calibri"/>
              </a:rPr>
              <a:t>: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assistentes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pessoais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(e.g.,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i="1" dirty="0">
                <a:latin typeface="Calibri"/>
                <a:cs typeface="Calibri"/>
              </a:rPr>
              <a:t>Siri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i="1" spc="-10" dirty="0">
                <a:latin typeface="Calibri"/>
                <a:cs typeface="Calibri"/>
              </a:rPr>
              <a:t>Alexa</a:t>
            </a:r>
            <a:r>
              <a:rPr sz="2800" spc="-10" dirty="0">
                <a:latin typeface="Calibri"/>
                <a:cs typeface="Calibri"/>
              </a:rPr>
              <a:t>,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i="1" dirty="0">
                <a:latin typeface="Calibri"/>
                <a:cs typeface="Calibri"/>
              </a:rPr>
              <a:t>Cortana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etc.).</a:t>
            </a:r>
            <a:endParaRPr sz="28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205" y="5808764"/>
            <a:ext cx="1618729" cy="91050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93780" y="5776407"/>
            <a:ext cx="976167" cy="97616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210942" y="6199537"/>
            <a:ext cx="1092720" cy="619987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852417" y="5681113"/>
            <a:ext cx="1343533" cy="116580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618098" y="5758878"/>
            <a:ext cx="2339848" cy="966851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784588" y="5690793"/>
            <a:ext cx="2221229" cy="1017498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123442" y="5698812"/>
            <a:ext cx="1362935" cy="417849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Principais</a:t>
            </a:r>
            <a:r>
              <a:rPr spc="-25" dirty="0"/>
              <a:t> </a:t>
            </a:r>
            <a:r>
              <a:rPr dirty="0"/>
              <a:t>motivos</a:t>
            </a:r>
            <a:r>
              <a:rPr spc="-5" dirty="0"/>
              <a:t> </a:t>
            </a:r>
            <a:r>
              <a:rPr dirty="0"/>
              <a:t>da</a:t>
            </a:r>
            <a:r>
              <a:rPr spc="-20" dirty="0"/>
              <a:t> </a:t>
            </a:r>
            <a:r>
              <a:rPr dirty="0"/>
              <a:t>difusão</a:t>
            </a:r>
            <a:r>
              <a:rPr spc="-30" dirty="0"/>
              <a:t> </a:t>
            </a:r>
            <a:r>
              <a:rPr dirty="0"/>
              <a:t>do</a:t>
            </a:r>
            <a:r>
              <a:rPr spc="-25" dirty="0"/>
              <a:t> ML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8066"/>
            <a:ext cx="10880090" cy="4013835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241300" marR="5080" indent="-228600">
              <a:lnSpc>
                <a:spcPct val="90000"/>
              </a:lnSpc>
              <a:spcBef>
                <a:spcPts val="415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A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possibilidade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00AF50"/>
                </a:solidFill>
                <a:latin typeface="Calibri"/>
                <a:cs typeface="Calibri"/>
              </a:rPr>
              <a:t>analisar</a:t>
            </a:r>
            <a:r>
              <a:rPr sz="2600" b="1" i="1" spc="-4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00AF50"/>
                </a:solidFill>
                <a:latin typeface="Calibri"/>
                <a:cs typeface="Calibri"/>
              </a:rPr>
              <a:t>e</a:t>
            </a:r>
            <a:r>
              <a:rPr sz="2600" b="1" i="1" spc="-3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00AF50"/>
                </a:solidFill>
                <a:latin typeface="Calibri"/>
                <a:cs typeface="Calibri"/>
              </a:rPr>
              <a:t>extrair</a:t>
            </a:r>
            <a:r>
              <a:rPr sz="2600" b="1" i="1" spc="-4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00AF50"/>
                </a:solidFill>
                <a:latin typeface="Calibri"/>
                <a:cs typeface="Calibri"/>
              </a:rPr>
              <a:t>informações</a:t>
            </a:r>
            <a:r>
              <a:rPr sz="2600" b="1" i="1" spc="-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00AF50"/>
                </a:solidFill>
                <a:latin typeface="Calibri"/>
                <a:cs typeface="Calibri"/>
              </a:rPr>
              <a:t>úteis</a:t>
            </a:r>
            <a:r>
              <a:rPr sz="2600" b="1" i="1" spc="-7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de</a:t>
            </a:r>
            <a:r>
              <a:rPr sz="2600" b="1" i="1" spc="-2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enormes</a:t>
            </a:r>
            <a:r>
              <a:rPr sz="2600" b="1" i="1" spc="-3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volumes</a:t>
            </a:r>
            <a:r>
              <a:rPr sz="2600" b="1" i="1" spc="-15" dirty="0">
                <a:latin typeface="Calibri"/>
                <a:cs typeface="Calibri"/>
              </a:rPr>
              <a:t> </a:t>
            </a:r>
            <a:r>
              <a:rPr sz="2600" b="1" i="1" spc="-25" dirty="0">
                <a:latin typeface="Calibri"/>
                <a:cs typeface="Calibri"/>
              </a:rPr>
              <a:t>de </a:t>
            </a:r>
            <a:r>
              <a:rPr sz="2600" b="1" i="1" dirty="0">
                <a:latin typeface="Calibri"/>
                <a:cs typeface="Calibri"/>
              </a:rPr>
              <a:t>dados</a:t>
            </a:r>
            <a:r>
              <a:rPr sz="2600" b="1" i="1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(centenas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terabytes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por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dia)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disponíveis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atualmente,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que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seria </a:t>
            </a:r>
            <a:r>
              <a:rPr sz="2600" dirty="0">
                <a:latin typeface="Calibri"/>
                <a:cs typeface="Calibri"/>
              </a:rPr>
              <a:t>impossível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para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nós,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vale</a:t>
            </a:r>
            <a:r>
              <a:rPr sz="2600" b="1" i="1" spc="-4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ouro</a:t>
            </a:r>
            <a:r>
              <a:rPr sz="2600" dirty="0">
                <a:latin typeface="Calibri"/>
                <a:cs typeface="Calibri"/>
              </a:rPr>
              <a:t>,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pois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tem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grande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potencial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para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aumentar</a:t>
            </a:r>
            <a:r>
              <a:rPr sz="2600" b="1" i="1" spc="-35" dirty="0">
                <a:latin typeface="Calibri"/>
                <a:cs typeface="Calibri"/>
              </a:rPr>
              <a:t> </a:t>
            </a:r>
            <a:r>
              <a:rPr sz="2600" b="1" i="1" spc="-50" dirty="0">
                <a:latin typeface="Calibri"/>
                <a:cs typeface="Calibri"/>
              </a:rPr>
              <a:t>o </a:t>
            </a:r>
            <a:r>
              <a:rPr sz="2600" b="1" i="1" dirty="0">
                <a:latin typeface="Calibri"/>
                <a:cs typeface="Calibri"/>
              </a:rPr>
              <a:t>lucro</a:t>
            </a:r>
            <a:r>
              <a:rPr sz="2600" b="1" i="1" spc="-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das</a:t>
            </a:r>
            <a:r>
              <a:rPr sz="2600" b="1" i="1" spc="-20" dirty="0">
                <a:latin typeface="Calibri"/>
                <a:cs typeface="Calibri"/>
              </a:rPr>
              <a:t> </a:t>
            </a:r>
            <a:r>
              <a:rPr sz="2600" b="1" i="1" spc="-10" dirty="0">
                <a:latin typeface="Calibri"/>
                <a:cs typeface="Calibri"/>
              </a:rPr>
              <a:t>empresas</a:t>
            </a:r>
            <a:r>
              <a:rPr sz="2600" spc="-10" dirty="0">
                <a:latin typeface="Calibri"/>
                <a:cs typeface="Calibri"/>
              </a:rPr>
              <a:t>.</a:t>
            </a:r>
            <a:endParaRPr sz="2600" dirty="0">
              <a:latin typeface="Calibri"/>
              <a:cs typeface="Calibri"/>
            </a:endParaRPr>
          </a:p>
          <a:p>
            <a:pPr marL="241300" marR="57150" indent="-228600">
              <a:lnSpc>
                <a:spcPts val="2810"/>
              </a:lnSpc>
              <a:spcBef>
                <a:spcPts val="1035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O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surgimento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00AF50"/>
                </a:solidFill>
                <a:latin typeface="Calibri"/>
                <a:cs typeface="Calibri"/>
              </a:rPr>
              <a:t>recursos</a:t>
            </a:r>
            <a:r>
              <a:rPr sz="2600" b="1" i="1" spc="-4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00AF50"/>
                </a:solidFill>
                <a:latin typeface="Calibri"/>
                <a:cs typeface="Calibri"/>
              </a:rPr>
              <a:t>computacionais</a:t>
            </a:r>
            <a:r>
              <a:rPr sz="2600" b="1" i="1" spc="-2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00AF50"/>
                </a:solidFill>
                <a:latin typeface="Calibri"/>
                <a:cs typeface="Calibri"/>
              </a:rPr>
              <a:t>poderosos</a:t>
            </a:r>
            <a:r>
              <a:rPr sz="2600" b="1" i="1" spc="-5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tais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como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GPUs,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FPGAs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spc="-50" dirty="0">
                <a:latin typeface="Calibri"/>
                <a:cs typeface="Calibri"/>
              </a:rPr>
              <a:t>e </a:t>
            </a:r>
            <a:r>
              <a:rPr sz="2600" dirty="0">
                <a:latin typeface="Calibri"/>
                <a:cs typeface="Calibri"/>
              </a:rPr>
              <a:t>CPUs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com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múltiplos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cores.</a:t>
            </a:r>
            <a:endParaRPr sz="2600" dirty="0">
              <a:latin typeface="Calibri"/>
              <a:cs typeface="Calibri"/>
            </a:endParaRPr>
          </a:p>
          <a:p>
            <a:pPr marL="241300" marR="262890" indent="-228600">
              <a:lnSpc>
                <a:spcPts val="2810"/>
              </a:lnSpc>
              <a:spcBef>
                <a:spcPts val="1005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Surgimento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00AF50"/>
                </a:solidFill>
                <a:latin typeface="Calibri"/>
                <a:cs typeface="Calibri"/>
              </a:rPr>
              <a:t>novas</a:t>
            </a:r>
            <a:r>
              <a:rPr sz="2600" b="1" i="1" spc="-2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00AF50"/>
                </a:solidFill>
                <a:latin typeface="Calibri"/>
                <a:cs typeface="Calibri"/>
              </a:rPr>
              <a:t>estratégias</a:t>
            </a:r>
            <a:r>
              <a:rPr sz="2600" b="1" i="1" spc="-6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00AF50"/>
                </a:solidFill>
                <a:latin typeface="Calibri"/>
                <a:cs typeface="Calibri"/>
              </a:rPr>
              <a:t>de</a:t>
            </a:r>
            <a:r>
              <a:rPr sz="2600" b="1" i="1" spc="-3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00AF50"/>
                </a:solidFill>
                <a:latin typeface="Calibri"/>
                <a:cs typeface="Calibri"/>
              </a:rPr>
              <a:t>aprendizagem</a:t>
            </a:r>
            <a:r>
              <a:rPr sz="2600" dirty="0">
                <a:latin typeface="Calibri"/>
                <a:cs typeface="Calibri"/>
              </a:rPr>
              <a:t>,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e.g.,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i="1" dirty="0">
                <a:latin typeface="Calibri"/>
                <a:cs typeface="Calibri"/>
              </a:rPr>
              <a:t>deep-learning</a:t>
            </a:r>
            <a:r>
              <a:rPr sz="2600" dirty="0">
                <a:latin typeface="Calibri"/>
                <a:cs typeface="Calibri"/>
              </a:rPr>
              <a:t>,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i="1" spc="-20" dirty="0">
                <a:latin typeface="Calibri"/>
                <a:cs typeface="Calibri"/>
              </a:rPr>
              <a:t>deep </a:t>
            </a:r>
            <a:r>
              <a:rPr sz="2600" i="1" spc="-10" dirty="0">
                <a:latin typeface="Calibri"/>
                <a:cs typeface="Calibri"/>
              </a:rPr>
              <a:t>reinforment-</a:t>
            </a:r>
            <a:r>
              <a:rPr sz="2600" i="1" dirty="0">
                <a:latin typeface="Calibri"/>
                <a:cs typeface="Calibri"/>
              </a:rPr>
              <a:t>learning</a:t>
            </a:r>
            <a:r>
              <a:rPr sz="2600" dirty="0">
                <a:latin typeface="Calibri"/>
                <a:cs typeface="Calibri"/>
              </a:rPr>
              <a:t>,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i="1" dirty="0">
                <a:latin typeface="Calibri"/>
                <a:cs typeface="Calibri"/>
              </a:rPr>
              <a:t>generative</a:t>
            </a:r>
            <a:r>
              <a:rPr sz="2600" i="1" spc="-65" dirty="0">
                <a:latin typeface="Calibri"/>
                <a:cs typeface="Calibri"/>
              </a:rPr>
              <a:t> </a:t>
            </a:r>
            <a:r>
              <a:rPr sz="2600" i="1" dirty="0">
                <a:latin typeface="Calibri"/>
                <a:cs typeface="Calibri"/>
              </a:rPr>
              <a:t>adversarial</a:t>
            </a:r>
            <a:r>
              <a:rPr sz="2600" i="1" spc="-55" dirty="0">
                <a:latin typeface="Calibri"/>
                <a:cs typeface="Calibri"/>
              </a:rPr>
              <a:t> </a:t>
            </a:r>
            <a:r>
              <a:rPr sz="2600" i="1" dirty="0">
                <a:latin typeface="Calibri"/>
                <a:cs typeface="Calibri"/>
              </a:rPr>
              <a:t>learning</a:t>
            </a:r>
            <a:r>
              <a:rPr sz="2600" dirty="0">
                <a:latin typeface="Calibri"/>
                <a:cs typeface="Calibri"/>
              </a:rPr>
              <a:t>,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i="1" dirty="0">
                <a:latin typeface="Calibri"/>
                <a:cs typeface="Calibri"/>
              </a:rPr>
              <a:t>transformers</a:t>
            </a:r>
            <a:r>
              <a:rPr sz="2600" i="1" spc="-5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etc.</a:t>
            </a:r>
            <a:endParaRPr sz="2600" dirty="0">
              <a:latin typeface="Calibri"/>
              <a:cs typeface="Calibri"/>
            </a:endParaRPr>
          </a:p>
          <a:p>
            <a:pPr marL="241300" marR="425450" indent="-228600">
              <a:lnSpc>
                <a:spcPts val="2810"/>
              </a:lnSpc>
              <a:spcBef>
                <a:spcPts val="994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Disponibilidade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00AF50"/>
                </a:solidFill>
                <a:latin typeface="Calibri"/>
                <a:cs typeface="Calibri"/>
              </a:rPr>
              <a:t>bibliotecas</a:t>
            </a:r>
            <a:r>
              <a:rPr sz="2600" b="1" i="1" spc="-3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00AF50"/>
                </a:solidFill>
                <a:latin typeface="Calibri"/>
                <a:cs typeface="Calibri"/>
              </a:rPr>
              <a:t>que</a:t>
            </a:r>
            <a:r>
              <a:rPr sz="2600" b="1" i="1" spc="-4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00AF50"/>
                </a:solidFill>
                <a:latin typeface="Calibri"/>
                <a:cs typeface="Calibri"/>
              </a:rPr>
              <a:t>facilitam</a:t>
            </a:r>
            <a:r>
              <a:rPr sz="2600" b="1" i="1" spc="-3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00AF50"/>
                </a:solidFill>
                <a:latin typeface="Calibri"/>
                <a:cs typeface="Calibri"/>
              </a:rPr>
              <a:t>o</a:t>
            </a:r>
            <a:r>
              <a:rPr sz="2600" b="1" i="1" spc="-4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00AF50"/>
                </a:solidFill>
                <a:latin typeface="Calibri"/>
                <a:cs typeface="Calibri"/>
              </a:rPr>
              <a:t>desenvolvimento</a:t>
            </a:r>
            <a:r>
              <a:rPr sz="2600" b="1" i="1" spc="-5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soluções </a:t>
            </a:r>
            <a:r>
              <a:rPr sz="2600" dirty="0">
                <a:latin typeface="Calibri"/>
                <a:cs typeface="Calibri"/>
              </a:rPr>
              <a:t>com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ML.</a:t>
            </a:r>
            <a:endParaRPr sz="26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58921" y="5657138"/>
            <a:ext cx="1299972" cy="108335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67762" y="6042123"/>
            <a:ext cx="2043831" cy="626827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9194292" y="5417769"/>
            <a:ext cx="2852420" cy="1434465"/>
            <a:chOff x="9194292" y="5417769"/>
            <a:chExt cx="2852420" cy="1434465"/>
          </a:xfrm>
        </p:grpSpPr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311638" y="5729274"/>
              <a:ext cx="1734498" cy="1122347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194292" y="5417769"/>
              <a:ext cx="1617599" cy="872236"/>
            </a:xfrm>
            <a:prstGeom prst="rect">
              <a:avLst/>
            </a:prstGeom>
          </p:spPr>
        </p:pic>
      </p:grpSp>
      <p:grpSp>
        <p:nvGrpSpPr>
          <p:cNvPr id="9" name="object 9"/>
          <p:cNvGrpSpPr/>
          <p:nvPr/>
        </p:nvGrpSpPr>
        <p:grpSpPr>
          <a:xfrm>
            <a:off x="5124549" y="5458624"/>
            <a:ext cx="3862704" cy="1336675"/>
            <a:chOff x="5124549" y="5458624"/>
            <a:chExt cx="3862704" cy="1336675"/>
          </a:xfrm>
        </p:grpSpPr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124549" y="5759163"/>
              <a:ext cx="1942901" cy="47720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890259" y="6190951"/>
              <a:ext cx="2190241" cy="60384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396352" y="5458624"/>
              <a:ext cx="1590548" cy="83501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Paradigmas</a:t>
            </a:r>
            <a:r>
              <a:rPr spc="-105" dirty="0"/>
              <a:t> </a:t>
            </a:r>
            <a:r>
              <a:rPr dirty="0"/>
              <a:t>de</a:t>
            </a:r>
            <a:r>
              <a:rPr spc="-85" dirty="0"/>
              <a:t> </a:t>
            </a:r>
            <a:r>
              <a:rPr dirty="0"/>
              <a:t>aprendizado</a:t>
            </a:r>
            <a:r>
              <a:rPr spc="-90" dirty="0"/>
              <a:t> </a:t>
            </a:r>
            <a:r>
              <a:rPr dirty="0"/>
              <a:t>de</a:t>
            </a:r>
            <a:r>
              <a:rPr spc="-85" dirty="0"/>
              <a:t> </a:t>
            </a:r>
            <a:r>
              <a:rPr spc="-10" dirty="0"/>
              <a:t>máquina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3493"/>
            <a:ext cx="6329045" cy="3459479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2700" marR="5080">
              <a:lnSpc>
                <a:spcPct val="90000"/>
              </a:lnSpc>
              <a:spcBef>
                <a:spcPts val="430"/>
              </a:spcBef>
            </a:pPr>
            <a:r>
              <a:rPr sz="2800" dirty="0">
                <a:latin typeface="Calibri"/>
                <a:cs typeface="Calibri"/>
              </a:rPr>
              <a:t>Os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algortimos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aprendizado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máquina </a:t>
            </a:r>
            <a:r>
              <a:rPr sz="2800" dirty="0">
                <a:latin typeface="Calibri"/>
                <a:cs typeface="Calibri"/>
              </a:rPr>
              <a:t>podem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ser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agrupados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acordo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b="1" i="1" spc="-20" dirty="0">
                <a:solidFill>
                  <a:srgbClr val="00AF50"/>
                </a:solidFill>
                <a:latin typeface="Calibri"/>
                <a:cs typeface="Calibri"/>
              </a:rPr>
              <a:t>tipo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de</a:t>
            </a:r>
            <a:r>
              <a:rPr sz="2800" b="1" i="1" spc="-5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aprendizado</a:t>
            </a:r>
            <a:r>
              <a:rPr sz="2800" b="1" i="1" spc="-4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que</a:t>
            </a:r>
            <a:r>
              <a:rPr sz="2800" b="1" i="1" spc="-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realizam</a:t>
            </a:r>
            <a:r>
              <a:rPr sz="2800" spc="-10" dirty="0">
                <a:latin typeface="Calibri"/>
                <a:cs typeface="Calibri"/>
              </a:rPr>
              <a:t>:</a:t>
            </a:r>
            <a:endParaRPr sz="2800" dirty="0">
              <a:latin typeface="Calibri"/>
              <a:cs typeface="Calibri"/>
            </a:endParaRPr>
          </a:p>
          <a:p>
            <a:pPr marL="698500" indent="-229235">
              <a:lnSpc>
                <a:spcPct val="100000"/>
              </a:lnSpc>
              <a:spcBef>
                <a:spcPts val="170"/>
              </a:spcBef>
              <a:buFont typeface="Arial"/>
              <a:buChar char="•"/>
              <a:tabLst>
                <a:tab pos="699135" algn="l"/>
              </a:tabLst>
            </a:pPr>
            <a:r>
              <a:rPr sz="2800" spc="-10" dirty="0">
                <a:latin typeface="Calibri"/>
                <a:cs typeface="Calibri"/>
              </a:rPr>
              <a:t>Supervisionado</a:t>
            </a:r>
            <a:endParaRPr sz="2800" dirty="0">
              <a:latin typeface="Calibri"/>
              <a:cs typeface="Calibri"/>
            </a:endParaRPr>
          </a:p>
          <a:p>
            <a:pPr marL="698500" indent="-229235">
              <a:lnSpc>
                <a:spcPct val="100000"/>
              </a:lnSpc>
              <a:spcBef>
                <a:spcPts val="165"/>
              </a:spcBef>
              <a:buFont typeface="Arial"/>
              <a:buChar char="•"/>
              <a:tabLst>
                <a:tab pos="699135" algn="l"/>
              </a:tabLst>
            </a:pPr>
            <a:r>
              <a:rPr sz="2800" spc="-25" dirty="0">
                <a:latin typeface="Calibri"/>
                <a:cs typeface="Calibri"/>
              </a:rPr>
              <a:t>Não-</a:t>
            </a:r>
            <a:r>
              <a:rPr sz="2800" spc="-10" dirty="0">
                <a:latin typeface="Calibri"/>
                <a:cs typeface="Calibri"/>
              </a:rPr>
              <a:t>Supervisionado</a:t>
            </a:r>
            <a:endParaRPr sz="2800" dirty="0">
              <a:latin typeface="Calibri"/>
              <a:cs typeface="Calibri"/>
            </a:endParaRPr>
          </a:p>
          <a:p>
            <a:pPr marL="698500" indent="-229235">
              <a:lnSpc>
                <a:spcPct val="100000"/>
              </a:lnSpc>
              <a:spcBef>
                <a:spcPts val="160"/>
              </a:spcBef>
              <a:buFont typeface="Arial"/>
              <a:buChar char="•"/>
              <a:tabLst>
                <a:tab pos="699135" algn="l"/>
              </a:tabLst>
            </a:pPr>
            <a:r>
              <a:rPr sz="2800" spc="-25" dirty="0">
                <a:latin typeface="Calibri"/>
                <a:cs typeface="Calibri"/>
              </a:rPr>
              <a:t>Semi-</a:t>
            </a:r>
            <a:r>
              <a:rPr sz="2800" spc="-10" dirty="0">
                <a:latin typeface="Calibri"/>
                <a:cs typeface="Calibri"/>
              </a:rPr>
              <a:t>Supervisionado</a:t>
            </a:r>
            <a:endParaRPr sz="2800" dirty="0">
              <a:latin typeface="Calibri"/>
              <a:cs typeface="Calibri"/>
            </a:endParaRPr>
          </a:p>
          <a:p>
            <a:pPr marL="698500" indent="-229235">
              <a:lnSpc>
                <a:spcPct val="100000"/>
              </a:lnSpc>
              <a:spcBef>
                <a:spcPts val="170"/>
              </a:spcBef>
              <a:buFont typeface="Arial"/>
              <a:buChar char="•"/>
              <a:tabLst>
                <a:tab pos="699135" algn="l"/>
              </a:tabLst>
            </a:pPr>
            <a:r>
              <a:rPr sz="2800" dirty="0">
                <a:latin typeface="Calibri"/>
                <a:cs typeface="Calibri"/>
              </a:rPr>
              <a:t>Por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Reforço</a:t>
            </a:r>
            <a:endParaRPr sz="2800" dirty="0">
              <a:latin typeface="Calibri"/>
              <a:cs typeface="Calibri"/>
            </a:endParaRPr>
          </a:p>
          <a:p>
            <a:pPr marL="698500" indent="-229235">
              <a:lnSpc>
                <a:spcPct val="100000"/>
              </a:lnSpc>
              <a:spcBef>
                <a:spcPts val="165"/>
              </a:spcBef>
              <a:buFont typeface="Arial"/>
              <a:buChar char="•"/>
              <a:tabLst>
                <a:tab pos="699135" algn="l"/>
              </a:tabLst>
            </a:pPr>
            <a:r>
              <a:rPr sz="2800" spc="-10" dirty="0">
                <a:latin typeface="Calibri"/>
                <a:cs typeface="Calibri"/>
              </a:rPr>
              <a:t>Metaheurístico</a:t>
            </a:r>
            <a:endParaRPr sz="28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71080" y="1418691"/>
            <a:ext cx="4637658" cy="5290312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Aprendizado</a:t>
            </a:r>
            <a:r>
              <a:rPr spc="-180" dirty="0"/>
              <a:t> </a:t>
            </a:r>
            <a:r>
              <a:rPr spc="-10" dirty="0"/>
              <a:t>supervisionado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75782" y="1793493"/>
            <a:ext cx="6089015" cy="472503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41300" marR="207010" indent="-228600">
              <a:lnSpc>
                <a:spcPct val="90100"/>
              </a:lnSpc>
              <a:spcBef>
                <a:spcPts val="42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No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aprendizado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supervisionado,</a:t>
            </a:r>
            <a:r>
              <a:rPr sz="2800" spc="-50" dirty="0">
                <a:latin typeface="Calibri"/>
                <a:cs typeface="Calibri"/>
              </a:rPr>
              <a:t> o </a:t>
            </a:r>
            <a:r>
              <a:rPr sz="2800" b="1" i="1" dirty="0">
                <a:latin typeface="Calibri"/>
                <a:cs typeface="Calibri"/>
              </a:rPr>
              <a:t>algoritmo</a:t>
            </a:r>
            <a:r>
              <a:rPr sz="2800" b="1" i="1" spc="-6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de</a:t>
            </a:r>
            <a:r>
              <a:rPr sz="2800" b="1" i="1" spc="-6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ML</a:t>
            </a:r>
            <a:r>
              <a:rPr sz="2800" b="1" i="1" spc="-6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tem</a:t>
            </a:r>
            <a:r>
              <a:rPr sz="2800" b="1" i="1" spc="-5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acesso</a:t>
            </a:r>
            <a:r>
              <a:rPr sz="2800" b="1" i="1" spc="-7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às</a:t>
            </a:r>
            <a:r>
              <a:rPr sz="2800" b="1" i="1" spc="-55" dirty="0"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saídas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esperadas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mbria Math"/>
                <a:cs typeface="Cambria Math"/>
              </a:rPr>
              <a:t>𝑦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chamadas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rótulos</a:t>
            </a:r>
            <a:r>
              <a:rPr sz="2800" b="1" i="1" spc="-6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(ou </a:t>
            </a:r>
            <a:r>
              <a:rPr sz="2800" i="1" dirty="0">
                <a:latin typeface="Calibri"/>
                <a:cs typeface="Calibri"/>
              </a:rPr>
              <a:t>labels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em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inglês),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para</a:t>
            </a:r>
            <a:r>
              <a:rPr sz="2800" b="1" i="1" spc="-7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o</a:t>
            </a:r>
            <a:r>
              <a:rPr sz="2800" b="1" i="1" spc="-7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conjunto</a:t>
            </a:r>
            <a:r>
              <a:rPr sz="2800" b="1" i="1" spc="-8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25" dirty="0">
                <a:solidFill>
                  <a:srgbClr val="00AF50"/>
                </a:solidFill>
                <a:latin typeface="Calibri"/>
                <a:cs typeface="Calibri"/>
              </a:rPr>
              <a:t>de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valores</a:t>
            </a:r>
            <a:r>
              <a:rPr sz="2800" b="1" i="1" spc="-10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de</a:t>
            </a:r>
            <a:r>
              <a:rPr sz="2800" b="1" i="1" spc="-10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entrada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chamados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de </a:t>
            </a:r>
            <a:r>
              <a:rPr sz="2800" b="1" i="1" dirty="0">
                <a:latin typeface="Calibri"/>
                <a:cs typeface="Calibri"/>
              </a:rPr>
              <a:t>atributos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145" dirty="0">
                <a:latin typeface="Calibri"/>
                <a:cs typeface="Calibri"/>
              </a:rPr>
              <a:t> </a:t>
            </a:r>
            <a:r>
              <a:rPr sz="2800" spc="-25" dirty="0">
                <a:latin typeface="Cambria Math"/>
                <a:cs typeface="Cambria Math"/>
              </a:rPr>
              <a:t>𝒙</a:t>
            </a:r>
            <a:r>
              <a:rPr sz="2800" spc="-25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marR="269875" indent="-228600">
              <a:lnSpc>
                <a:spcPct val="90100"/>
              </a:lnSpc>
              <a:spcBef>
                <a:spcPts val="58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Em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outras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palavras,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cada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b="1" i="1" spc="-20" dirty="0">
                <a:latin typeface="Calibri"/>
                <a:cs typeface="Calibri"/>
              </a:rPr>
              <a:t>exemplo</a:t>
            </a:r>
            <a:r>
              <a:rPr sz="2800" b="1" i="1" spc="-85" dirty="0">
                <a:latin typeface="Calibri"/>
                <a:cs typeface="Calibri"/>
              </a:rPr>
              <a:t> </a:t>
            </a:r>
            <a:r>
              <a:rPr sz="2800" b="1" i="1" spc="-25" dirty="0">
                <a:latin typeface="Calibri"/>
                <a:cs typeface="Calibri"/>
              </a:rPr>
              <a:t>de </a:t>
            </a:r>
            <a:r>
              <a:rPr sz="2800" b="1" i="1" spc="-10" dirty="0">
                <a:latin typeface="Calibri"/>
                <a:cs typeface="Calibri"/>
              </a:rPr>
              <a:t>treinamento</a:t>
            </a:r>
            <a:r>
              <a:rPr sz="2800" b="1" i="1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composto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pelos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valores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entrada,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mbria Math"/>
                <a:cs typeface="Cambria Math"/>
              </a:rPr>
              <a:t>𝒙</a:t>
            </a:r>
            <a:r>
              <a:rPr sz="2800" spc="-30" dirty="0">
                <a:latin typeface="Cambria Math"/>
                <a:cs typeface="Cambria Math"/>
              </a:rPr>
              <a:t> </a:t>
            </a:r>
            <a:r>
              <a:rPr sz="2800" spc="-10" dirty="0">
                <a:latin typeface="Calibri"/>
                <a:cs typeface="Calibri"/>
              </a:rPr>
              <a:t>(</a:t>
            </a:r>
            <a:r>
              <a:rPr sz="2800" b="1" i="1" spc="-10" dirty="0">
                <a:solidFill>
                  <a:srgbClr val="6F2F9F"/>
                </a:solidFill>
                <a:latin typeface="Calibri"/>
                <a:cs typeface="Calibri"/>
              </a:rPr>
              <a:t>atributos</a:t>
            </a:r>
            <a:r>
              <a:rPr sz="2800" spc="-10" dirty="0">
                <a:latin typeface="Calibri"/>
                <a:cs typeface="Calibri"/>
              </a:rPr>
              <a:t>),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sua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saída </a:t>
            </a:r>
            <a:r>
              <a:rPr sz="2800" spc="-20" dirty="0">
                <a:latin typeface="Calibri"/>
                <a:cs typeface="Calibri"/>
              </a:rPr>
              <a:t>correspondente,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dirty="0">
                <a:latin typeface="Cambria Math"/>
                <a:cs typeface="Cambria Math"/>
              </a:rPr>
              <a:t>𝑦</a:t>
            </a:r>
            <a:r>
              <a:rPr sz="2800" spc="35" dirty="0">
                <a:latin typeface="Cambria Math"/>
                <a:cs typeface="Cambria Math"/>
              </a:rPr>
              <a:t> </a:t>
            </a:r>
            <a:r>
              <a:rPr sz="2800" spc="-10" dirty="0">
                <a:latin typeface="Calibri"/>
                <a:cs typeface="Calibri"/>
              </a:rPr>
              <a:t>(</a:t>
            </a:r>
            <a:r>
              <a:rPr sz="2800" b="1" i="1" spc="-10" dirty="0">
                <a:solidFill>
                  <a:srgbClr val="6F2F9F"/>
                </a:solidFill>
                <a:latin typeface="Calibri"/>
                <a:cs typeface="Calibri"/>
              </a:rPr>
              <a:t>rótulo</a:t>
            </a:r>
            <a:r>
              <a:rPr sz="2800" spc="-10" dirty="0">
                <a:latin typeface="Calibri"/>
                <a:cs typeface="Calibri"/>
              </a:rPr>
              <a:t>).</a:t>
            </a:r>
            <a:endParaRPr sz="2800" dirty="0">
              <a:latin typeface="Calibri"/>
              <a:cs typeface="Calibri"/>
            </a:endParaRPr>
          </a:p>
          <a:p>
            <a:pPr marL="697865" marR="5080" lvl="1" indent="-228600">
              <a:lnSpc>
                <a:spcPts val="2600"/>
              </a:lnSpc>
              <a:spcBef>
                <a:spcPts val="650"/>
              </a:spcBef>
              <a:buFont typeface="Wingdings"/>
              <a:buChar char=""/>
              <a:tabLst>
                <a:tab pos="698500" algn="l"/>
              </a:tabLst>
            </a:pPr>
            <a:r>
              <a:rPr sz="2400" dirty="0">
                <a:latin typeface="Calibri"/>
                <a:cs typeface="Calibri"/>
              </a:rPr>
              <a:t>OBS.: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Em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alguns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casos,</a:t>
            </a:r>
            <a:r>
              <a:rPr sz="2400" spc="-10" dirty="0">
                <a:latin typeface="Calibri"/>
                <a:cs typeface="Calibri"/>
              </a:rPr>
              <a:t> têm-</a:t>
            </a:r>
            <a:r>
              <a:rPr sz="2400" dirty="0">
                <a:latin typeface="Calibri"/>
                <a:cs typeface="Calibri"/>
              </a:rPr>
              <a:t>se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mais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uma </a:t>
            </a:r>
            <a:r>
              <a:rPr sz="2400" dirty="0">
                <a:latin typeface="Calibri"/>
                <a:cs typeface="Calibri"/>
              </a:rPr>
              <a:t>saída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esperada,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25" dirty="0">
                <a:latin typeface="Cambria Math"/>
                <a:cs typeface="Cambria Math"/>
              </a:rPr>
              <a:t>𝒚</a:t>
            </a:r>
            <a:r>
              <a:rPr sz="2400" spc="-25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2007" y="1928473"/>
            <a:ext cx="3564084" cy="239704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429127" y="4150232"/>
            <a:ext cx="2381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latin typeface="Cambria Math"/>
                <a:cs typeface="Cambria Math"/>
              </a:rPr>
              <a:t>(𝑥)</a:t>
            </a:r>
            <a:endParaRPr sz="1200">
              <a:latin typeface="Cambria Math"/>
              <a:cs typeface="Cambria Math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53360" y="2412492"/>
            <a:ext cx="185800" cy="141224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2139188" y="2361691"/>
            <a:ext cx="25907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mbria Math"/>
                <a:cs typeface="Cambria Math"/>
              </a:rPr>
              <a:t>𝑓</a:t>
            </a:r>
            <a:r>
              <a:rPr sz="1200" spc="270" dirty="0">
                <a:latin typeface="Cambria Math"/>
                <a:cs typeface="Cambria Math"/>
              </a:rPr>
              <a:t> </a:t>
            </a:r>
            <a:r>
              <a:rPr sz="1200" spc="-50" dirty="0">
                <a:latin typeface="Cambria Math"/>
                <a:cs typeface="Cambria Math"/>
              </a:rPr>
              <a:t>𝑥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482088" y="2361691"/>
            <a:ext cx="6159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mbria Math"/>
                <a:cs typeface="Cambria Math"/>
              </a:rPr>
              <a:t>=</a:t>
            </a:r>
            <a:r>
              <a:rPr sz="1200" spc="75" dirty="0">
                <a:latin typeface="Cambria Math"/>
                <a:cs typeface="Cambria Math"/>
              </a:rPr>
              <a:t> </a:t>
            </a:r>
            <a:r>
              <a:rPr sz="1200" dirty="0">
                <a:latin typeface="Cambria Math"/>
                <a:cs typeface="Cambria Math"/>
              </a:rPr>
              <a:t>𝑎</a:t>
            </a:r>
            <a:r>
              <a:rPr sz="1200" spc="25" dirty="0">
                <a:latin typeface="Cambria Math"/>
                <a:cs typeface="Cambria Math"/>
              </a:rPr>
              <a:t> </a:t>
            </a:r>
            <a:r>
              <a:rPr sz="1200" dirty="0">
                <a:latin typeface="Cambria Math"/>
                <a:cs typeface="Cambria Math"/>
              </a:rPr>
              <a:t>+ </a:t>
            </a:r>
            <a:r>
              <a:rPr sz="1200" spc="-25" dirty="0">
                <a:latin typeface="Cambria Math"/>
                <a:cs typeface="Cambria Math"/>
              </a:rPr>
              <a:t>𝑏𝑥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95548" y="2634863"/>
            <a:ext cx="178435" cy="24130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275"/>
              </a:lnSpc>
            </a:pPr>
            <a:r>
              <a:rPr sz="1200" spc="-25" dirty="0">
                <a:latin typeface="Cambria Math"/>
                <a:cs typeface="Cambria Math"/>
              </a:rPr>
              <a:t>(𝑦)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104260" y="2475102"/>
            <a:ext cx="366395" cy="162560"/>
          </a:xfrm>
          <a:custGeom>
            <a:avLst/>
            <a:gdLst/>
            <a:ahLst/>
            <a:cxnLst/>
            <a:rect l="l" t="t" r="r" b="b"/>
            <a:pathLst>
              <a:path w="366395" h="162560">
                <a:moveTo>
                  <a:pt x="330226" y="138884"/>
                </a:moveTo>
                <a:lnTo>
                  <a:pt x="266318" y="149225"/>
                </a:lnTo>
                <a:lnTo>
                  <a:pt x="262889" y="149860"/>
                </a:lnTo>
                <a:lnTo>
                  <a:pt x="260476" y="153035"/>
                </a:lnTo>
                <a:lnTo>
                  <a:pt x="261112" y="156591"/>
                </a:lnTo>
                <a:lnTo>
                  <a:pt x="261619" y="160020"/>
                </a:lnTo>
                <a:lnTo>
                  <a:pt x="264922" y="162306"/>
                </a:lnTo>
                <a:lnTo>
                  <a:pt x="268350" y="161798"/>
                </a:lnTo>
                <a:lnTo>
                  <a:pt x="357535" y="147320"/>
                </a:lnTo>
                <a:lnTo>
                  <a:pt x="352171" y="147320"/>
                </a:lnTo>
                <a:lnTo>
                  <a:pt x="330226" y="138884"/>
                </a:lnTo>
                <a:close/>
              </a:path>
              <a:path w="366395" h="162560">
                <a:moveTo>
                  <a:pt x="342649" y="136874"/>
                </a:moveTo>
                <a:lnTo>
                  <a:pt x="330226" y="138884"/>
                </a:lnTo>
                <a:lnTo>
                  <a:pt x="352171" y="147320"/>
                </a:lnTo>
                <a:lnTo>
                  <a:pt x="352908" y="145414"/>
                </a:lnTo>
                <a:lnTo>
                  <a:pt x="349503" y="145414"/>
                </a:lnTo>
                <a:lnTo>
                  <a:pt x="342649" y="136874"/>
                </a:lnTo>
                <a:close/>
              </a:path>
              <a:path w="366395" h="162560">
                <a:moveTo>
                  <a:pt x="297941" y="65405"/>
                </a:moveTo>
                <a:lnTo>
                  <a:pt x="292480" y="69850"/>
                </a:lnTo>
                <a:lnTo>
                  <a:pt x="292100" y="73787"/>
                </a:lnTo>
                <a:lnTo>
                  <a:pt x="294259" y="76581"/>
                </a:lnTo>
                <a:lnTo>
                  <a:pt x="334766" y="127053"/>
                </a:lnTo>
                <a:lnTo>
                  <a:pt x="356742" y="135509"/>
                </a:lnTo>
                <a:lnTo>
                  <a:pt x="352171" y="147320"/>
                </a:lnTo>
                <a:lnTo>
                  <a:pt x="357535" y="147320"/>
                </a:lnTo>
                <a:lnTo>
                  <a:pt x="366140" y="145923"/>
                </a:lnTo>
                <a:lnTo>
                  <a:pt x="304164" y="68580"/>
                </a:lnTo>
                <a:lnTo>
                  <a:pt x="302005" y="65912"/>
                </a:lnTo>
                <a:lnTo>
                  <a:pt x="297941" y="65405"/>
                </a:lnTo>
                <a:close/>
              </a:path>
              <a:path w="366395" h="162560">
                <a:moveTo>
                  <a:pt x="353440" y="135127"/>
                </a:moveTo>
                <a:lnTo>
                  <a:pt x="342649" y="136874"/>
                </a:lnTo>
                <a:lnTo>
                  <a:pt x="349503" y="145414"/>
                </a:lnTo>
                <a:lnTo>
                  <a:pt x="353440" y="135127"/>
                </a:lnTo>
                <a:close/>
              </a:path>
              <a:path w="366395" h="162560">
                <a:moveTo>
                  <a:pt x="355752" y="135127"/>
                </a:moveTo>
                <a:lnTo>
                  <a:pt x="353440" y="135127"/>
                </a:lnTo>
                <a:lnTo>
                  <a:pt x="349503" y="145414"/>
                </a:lnTo>
                <a:lnTo>
                  <a:pt x="352908" y="145414"/>
                </a:lnTo>
                <a:lnTo>
                  <a:pt x="356742" y="135509"/>
                </a:lnTo>
                <a:lnTo>
                  <a:pt x="355752" y="135127"/>
                </a:lnTo>
                <a:close/>
              </a:path>
              <a:path w="366395" h="162560">
                <a:moveTo>
                  <a:pt x="4571" y="0"/>
                </a:moveTo>
                <a:lnTo>
                  <a:pt x="0" y="11937"/>
                </a:lnTo>
                <a:lnTo>
                  <a:pt x="330226" y="138884"/>
                </a:lnTo>
                <a:lnTo>
                  <a:pt x="342649" y="136874"/>
                </a:lnTo>
                <a:lnTo>
                  <a:pt x="334766" y="127053"/>
                </a:lnTo>
                <a:lnTo>
                  <a:pt x="4571" y="0"/>
                </a:lnTo>
                <a:close/>
              </a:path>
              <a:path w="366395" h="162560">
                <a:moveTo>
                  <a:pt x="334766" y="127053"/>
                </a:moveTo>
                <a:lnTo>
                  <a:pt x="342649" y="136874"/>
                </a:lnTo>
                <a:lnTo>
                  <a:pt x="353440" y="135127"/>
                </a:lnTo>
                <a:lnTo>
                  <a:pt x="355752" y="135127"/>
                </a:lnTo>
                <a:lnTo>
                  <a:pt x="334766" y="127053"/>
                </a:lnTo>
                <a:close/>
              </a:path>
            </a:pathLst>
          </a:custGeom>
          <a:solidFill>
            <a:srgbClr val="2E528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2744" y="4706124"/>
            <a:ext cx="5086858" cy="1627251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651459" y="6358839"/>
            <a:ext cx="336169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dirty="0">
                <a:latin typeface="Cambria Math"/>
                <a:cs typeface="Cambria Math"/>
              </a:rPr>
              <a:t>𝒙</a:t>
            </a:r>
            <a:r>
              <a:rPr sz="1300" spc="25" dirty="0">
                <a:latin typeface="Cambria Math"/>
                <a:cs typeface="Cambria Math"/>
              </a:rPr>
              <a:t> </a:t>
            </a:r>
            <a:r>
              <a:rPr sz="1300" dirty="0">
                <a:latin typeface="Cambria Math"/>
                <a:cs typeface="Cambria Math"/>
              </a:rPr>
              <a:t>=</a:t>
            </a:r>
            <a:r>
              <a:rPr sz="1300" spc="55" dirty="0">
                <a:latin typeface="Cambria Math"/>
                <a:cs typeface="Cambria Math"/>
              </a:rPr>
              <a:t> </a:t>
            </a:r>
            <a:r>
              <a:rPr sz="1300" dirty="0">
                <a:latin typeface="Cambria Math"/>
                <a:cs typeface="Cambria Math"/>
              </a:rPr>
              <a:t>[𝑥</a:t>
            </a:r>
            <a:r>
              <a:rPr sz="1300" spc="250" dirty="0">
                <a:latin typeface="Cambria Math"/>
                <a:cs typeface="Cambria Math"/>
              </a:rPr>
              <a:t> </a:t>
            </a:r>
            <a:r>
              <a:rPr sz="1300" spc="-10" dirty="0">
                <a:latin typeface="Cambria Math"/>
                <a:cs typeface="Cambria Math"/>
              </a:rPr>
              <a:t>,</a:t>
            </a:r>
            <a:r>
              <a:rPr sz="1300" spc="-85" dirty="0">
                <a:latin typeface="Cambria Math"/>
                <a:cs typeface="Cambria Math"/>
              </a:rPr>
              <a:t> </a:t>
            </a:r>
            <a:r>
              <a:rPr sz="1300" dirty="0">
                <a:latin typeface="Cambria Math"/>
                <a:cs typeface="Cambria Math"/>
              </a:rPr>
              <a:t>𝑥</a:t>
            </a:r>
            <a:r>
              <a:rPr sz="1300" spc="275" dirty="0">
                <a:latin typeface="Cambria Math"/>
                <a:cs typeface="Cambria Math"/>
              </a:rPr>
              <a:t> </a:t>
            </a:r>
            <a:r>
              <a:rPr sz="1300" spc="-10" dirty="0">
                <a:latin typeface="Cambria Math"/>
                <a:cs typeface="Cambria Math"/>
              </a:rPr>
              <a:t>,</a:t>
            </a:r>
            <a:r>
              <a:rPr sz="1300" spc="-75" dirty="0">
                <a:latin typeface="Cambria Math"/>
                <a:cs typeface="Cambria Math"/>
              </a:rPr>
              <a:t> </a:t>
            </a:r>
            <a:r>
              <a:rPr sz="1300" dirty="0">
                <a:latin typeface="Cambria Math"/>
                <a:cs typeface="Cambria Math"/>
              </a:rPr>
              <a:t>𝑥</a:t>
            </a:r>
            <a:r>
              <a:rPr sz="1300" spc="280" dirty="0">
                <a:latin typeface="Cambria Math"/>
                <a:cs typeface="Cambria Math"/>
              </a:rPr>
              <a:t> </a:t>
            </a:r>
            <a:r>
              <a:rPr sz="1300" spc="-10" dirty="0">
                <a:latin typeface="Cambria Math"/>
                <a:cs typeface="Cambria Math"/>
              </a:rPr>
              <a:t>,</a:t>
            </a:r>
            <a:r>
              <a:rPr sz="1300" spc="-85" dirty="0">
                <a:latin typeface="Cambria Math"/>
                <a:cs typeface="Cambria Math"/>
              </a:rPr>
              <a:t> </a:t>
            </a:r>
            <a:r>
              <a:rPr sz="1300" spc="-10" dirty="0">
                <a:latin typeface="Cambria Math"/>
                <a:cs typeface="Cambria Math"/>
              </a:rPr>
              <a:t>…</a:t>
            </a:r>
            <a:r>
              <a:rPr sz="1300" spc="-65" dirty="0">
                <a:latin typeface="Cambria Math"/>
                <a:cs typeface="Cambria Math"/>
              </a:rPr>
              <a:t> </a:t>
            </a:r>
            <a:r>
              <a:rPr sz="1300" dirty="0">
                <a:latin typeface="Cambria Math"/>
                <a:cs typeface="Cambria Math"/>
              </a:rPr>
              <a:t>]</a:t>
            </a:r>
            <a:r>
              <a:rPr sz="1300" dirty="0">
                <a:latin typeface="Calibri"/>
                <a:cs typeface="Calibri"/>
              </a:rPr>
              <a:t>:</a:t>
            </a:r>
            <a:r>
              <a:rPr sz="1300" spc="-1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data, </a:t>
            </a:r>
            <a:r>
              <a:rPr sz="1300" spc="-10" dirty="0">
                <a:latin typeface="Calibri"/>
                <a:cs typeface="Calibri"/>
              </a:rPr>
              <a:t>remetente,</a:t>
            </a:r>
            <a:r>
              <a:rPr sz="1300" spc="1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assunto,</a:t>
            </a:r>
            <a:r>
              <a:rPr sz="1300" spc="25" dirty="0">
                <a:latin typeface="Calibri"/>
                <a:cs typeface="Calibri"/>
              </a:rPr>
              <a:t> </a:t>
            </a:r>
            <a:r>
              <a:rPr sz="1300" spc="-20" dirty="0">
                <a:latin typeface="Calibri"/>
                <a:cs typeface="Calibri"/>
              </a:rPr>
              <a:t>etc.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51459" y="6436563"/>
            <a:ext cx="1115060" cy="3435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2280">
              <a:lnSpc>
                <a:spcPts val="1045"/>
              </a:lnSpc>
              <a:spcBef>
                <a:spcPts val="95"/>
              </a:spcBef>
              <a:tabLst>
                <a:tab pos="684530" algn="l"/>
                <a:tab pos="908685" algn="l"/>
              </a:tabLst>
            </a:pPr>
            <a:r>
              <a:rPr sz="950" spc="-50" dirty="0">
                <a:latin typeface="Cambria Math"/>
                <a:cs typeface="Cambria Math"/>
              </a:rPr>
              <a:t>1</a:t>
            </a:r>
            <a:r>
              <a:rPr sz="950" dirty="0">
                <a:latin typeface="Cambria Math"/>
                <a:cs typeface="Cambria Math"/>
              </a:rPr>
              <a:t>	</a:t>
            </a:r>
            <a:r>
              <a:rPr sz="950" spc="-50" dirty="0">
                <a:latin typeface="Cambria Math"/>
                <a:cs typeface="Cambria Math"/>
              </a:rPr>
              <a:t>2</a:t>
            </a:r>
            <a:r>
              <a:rPr sz="950" dirty="0">
                <a:latin typeface="Cambria Math"/>
                <a:cs typeface="Cambria Math"/>
              </a:rPr>
              <a:t>	</a:t>
            </a:r>
            <a:r>
              <a:rPr sz="950" spc="-50" dirty="0">
                <a:latin typeface="Cambria Math"/>
                <a:cs typeface="Cambria Math"/>
              </a:rPr>
              <a:t>3</a:t>
            </a:r>
            <a:endParaRPr sz="950">
              <a:latin typeface="Cambria Math"/>
              <a:cs typeface="Cambria Math"/>
            </a:endParaRPr>
          </a:p>
          <a:p>
            <a:pPr marL="12700">
              <a:lnSpc>
                <a:spcPts val="1465"/>
              </a:lnSpc>
            </a:pPr>
            <a:r>
              <a:rPr sz="1300" dirty="0">
                <a:latin typeface="Cambria Math"/>
                <a:cs typeface="Cambria Math"/>
              </a:rPr>
              <a:t>𝑦</a:t>
            </a:r>
            <a:r>
              <a:rPr sz="1300" dirty="0">
                <a:latin typeface="Calibri"/>
                <a:cs typeface="Calibri"/>
              </a:rPr>
              <a:t>:</a:t>
            </a:r>
            <a:r>
              <a:rPr sz="1300" spc="-1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spam</a:t>
            </a:r>
            <a:r>
              <a:rPr sz="1300" spc="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ou </a:t>
            </a:r>
            <a:r>
              <a:rPr sz="1300" spc="-25" dirty="0">
                <a:latin typeface="Calibri"/>
                <a:cs typeface="Calibri"/>
              </a:rPr>
              <a:t>ham</a:t>
            </a:r>
            <a:endParaRPr sz="1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Aprendizado</a:t>
            </a:r>
            <a:r>
              <a:rPr spc="-180" dirty="0"/>
              <a:t> </a:t>
            </a:r>
            <a:r>
              <a:rPr spc="-10" dirty="0"/>
              <a:t>supervisionado</a:t>
            </a:r>
          </a:p>
        </p:txBody>
      </p:sp>
      <p:sp>
        <p:nvSpPr>
          <p:cNvPr id="3" name="object 3"/>
          <p:cNvSpPr/>
          <p:nvPr/>
        </p:nvSpPr>
        <p:spPr>
          <a:xfrm>
            <a:off x="10630281" y="3048761"/>
            <a:ext cx="437515" cy="328930"/>
          </a:xfrm>
          <a:custGeom>
            <a:avLst/>
            <a:gdLst/>
            <a:ahLst/>
            <a:cxnLst/>
            <a:rect l="l" t="t" r="r" b="b"/>
            <a:pathLst>
              <a:path w="437515" h="328929">
                <a:moveTo>
                  <a:pt x="332104" y="0"/>
                </a:moveTo>
                <a:lnTo>
                  <a:pt x="327405" y="13335"/>
                </a:lnTo>
                <a:lnTo>
                  <a:pt x="346436" y="21597"/>
                </a:lnTo>
                <a:lnTo>
                  <a:pt x="362775" y="33051"/>
                </a:lnTo>
                <a:lnTo>
                  <a:pt x="387476" y="65532"/>
                </a:lnTo>
                <a:lnTo>
                  <a:pt x="402050" y="109219"/>
                </a:lnTo>
                <a:lnTo>
                  <a:pt x="406908" y="162813"/>
                </a:lnTo>
                <a:lnTo>
                  <a:pt x="405693" y="191845"/>
                </a:lnTo>
                <a:lnTo>
                  <a:pt x="395978" y="241859"/>
                </a:lnTo>
                <a:lnTo>
                  <a:pt x="376402" y="280965"/>
                </a:lnTo>
                <a:lnTo>
                  <a:pt x="346632" y="307306"/>
                </a:lnTo>
                <a:lnTo>
                  <a:pt x="327914" y="315595"/>
                </a:lnTo>
                <a:lnTo>
                  <a:pt x="332104" y="328929"/>
                </a:lnTo>
                <a:lnTo>
                  <a:pt x="376936" y="307895"/>
                </a:lnTo>
                <a:lnTo>
                  <a:pt x="409955" y="271525"/>
                </a:lnTo>
                <a:lnTo>
                  <a:pt x="430244" y="222678"/>
                </a:lnTo>
                <a:lnTo>
                  <a:pt x="437007" y="164591"/>
                </a:lnTo>
                <a:lnTo>
                  <a:pt x="435296" y="134417"/>
                </a:lnTo>
                <a:lnTo>
                  <a:pt x="421683" y="80974"/>
                </a:lnTo>
                <a:lnTo>
                  <a:pt x="394755" y="37468"/>
                </a:lnTo>
                <a:lnTo>
                  <a:pt x="355893" y="8616"/>
                </a:lnTo>
                <a:lnTo>
                  <a:pt x="332104" y="0"/>
                </a:lnTo>
                <a:close/>
              </a:path>
              <a:path w="437515" h="328929">
                <a:moveTo>
                  <a:pt x="104901" y="0"/>
                </a:moveTo>
                <a:lnTo>
                  <a:pt x="60118" y="21113"/>
                </a:lnTo>
                <a:lnTo>
                  <a:pt x="27050" y="57658"/>
                </a:lnTo>
                <a:lnTo>
                  <a:pt x="6762" y="106553"/>
                </a:lnTo>
                <a:lnTo>
                  <a:pt x="0" y="164591"/>
                </a:lnTo>
                <a:lnTo>
                  <a:pt x="1690" y="194784"/>
                </a:lnTo>
                <a:lnTo>
                  <a:pt x="15216" y="248263"/>
                </a:lnTo>
                <a:lnTo>
                  <a:pt x="42054" y="291621"/>
                </a:lnTo>
                <a:lnTo>
                  <a:pt x="80968" y="320335"/>
                </a:lnTo>
                <a:lnTo>
                  <a:pt x="104901" y="328929"/>
                </a:lnTo>
                <a:lnTo>
                  <a:pt x="108966" y="315595"/>
                </a:lnTo>
                <a:lnTo>
                  <a:pt x="90247" y="307306"/>
                </a:lnTo>
                <a:lnTo>
                  <a:pt x="74088" y="295767"/>
                </a:lnTo>
                <a:lnTo>
                  <a:pt x="49402" y="262889"/>
                </a:lnTo>
                <a:lnTo>
                  <a:pt x="34829" y="218186"/>
                </a:lnTo>
                <a:lnTo>
                  <a:pt x="29972" y="162813"/>
                </a:lnTo>
                <a:lnTo>
                  <a:pt x="31186" y="134790"/>
                </a:lnTo>
                <a:lnTo>
                  <a:pt x="40901" y="86125"/>
                </a:lnTo>
                <a:lnTo>
                  <a:pt x="60503" y="47696"/>
                </a:lnTo>
                <a:lnTo>
                  <a:pt x="90515" y="21597"/>
                </a:lnTo>
                <a:lnTo>
                  <a:pt x="109474" y="13335"/>
                </a:lnTo>
                <a:lnTo>
                  <a:pt x="10490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312409" y="1793493"/>
            <a:ext cx="6550025" cy="495617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41300" marR="460375" indent="-228600">
              <a:lnSpc>
                <a:spcPct val="90100"/>
              </a:lnSpc>
              <a:spcBef>
                <a:spcPts val="425"/>
              </a:spcBef>
              <a:buFont typeface="Arial"/>
              <a:buChar char="•"/>
              <a:tabLst>
                <a:tab pos="241300" algn="l"/>
                <a:tab pos="5435600" algn="l"/>
                <a:tab pos="5787390" algn="l"/>
              </a:tabLst>
            </a:pPr>
            <a:r>
              <a:rPr sz="2800" b="1" spc="-10" dirty="0">
                <a:latin typeface="Calibri"/>
                <a:cs typeface="Calibri"/>
              </a:rPr>
              <a:t>Objetivo</a:t>
            </a:r>
            <a:r>
              <a:rPr sz="2800" spc="-10" dirty="0">
                <a:latin typeface="Calibri"/>
                <a:cs typeface="Calibri"/>
              </a:rPr>
              <a:t>: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algoritmos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supervisionados </a:t>
            </a:r>
            <a:r>
              <a:rPr sz="2800" dirty="0">
                <a:latin typeface="Calibri"/>
                <a:cs typeface="Calibri"/>
              </a:rPr>
              <a:t>devem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aprender</a:t>
            </a:r>
            <a:r>
              <a:rPr sz="2800" b="1" i="1" spc="-9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uma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função</a:t>
            </a:r>
            <a:r>
              <a:rPr sz="2800" b="1" i="1" spc="-8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(i.e.,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o </a:t>
            </a:r>
            <a:r>
              <a:rPr sz="2800" dirty="0">
                <a:latin typeface="Calibri"/>
                <a:cs typeface="Calibri"/>
              </a:rPr>
              <a:t>modelo)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FF0000"/>
                </a:solidFill>
                <a:latin typeface="Calibri"/>
                <a:cs typeface="Calibri"/>
              </a:rPr>
              <a:t>mapeie</a:t>
            </a:r>
            <a:r>
              <a:rPr sz="2800" b="1" i="1" spc="-7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entradas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mbria Math"/>
                <a:cs typeface="Cambria Math"/>
              </a:rPr>
              <a:t>𝒙</a:t>
            </a:r>
            <a:r>
              <a:rPr sz="2800" spc="-80" dirty="0">
                <a:latin typeface="Cambria Math"/>
                <a:cs typeface="Cambria Math"/>
              </a:rPr>
              <a:t> </a:t>
            </a:r>
            <a:r>
              <a:rPr sz="2800" spc="-25" dirty="0">
                <a:latin typeface="Calibri"/>
                <a:cs typeface="Calibri"/>
              </a:rPr>
              <a:t>nas </a:t>
            </a:r>
            <a:r>
              <a:rPr sz="2800" dirty="0">
                <a:latin typeface="Calibri"/>
                <a:cs typeface="Calibri"/>
              </a:rPr>
              <a:t>saídas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esperadas,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dirty="0">
                <a:latin typeface="Cambria Math"/>
                <a:cs typeface="Cambria Math"/>
              </a:rPr>
              <a:t>𝑦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ou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seja,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mbria Math"/>
                <a:cs typeface="Cambria Math"/>
              </a:rPr>
              <a:t>𝑦</a:t>
            </a:r>
            <a:r>
              <a:rPr sz="2800" spc="150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=</a:t>
            </a:r>
            <a:r>
              <a:rPr sz="2800" spc="110" dirty="0">
                <a:latin typeface="Cambria Math"/>
                <a:cs typeface="Cambria Math"/>
              </a:rPr>
              <a:t> </a:t>
            </a:r>
            <a:r>
              <a:rPr sz="2800" spc="-50" dirty="0">
                <a:latin typeface="Cambria Math"/>
                <a:cs typeface="Cambria Math"/>
              </a:rPr>
              <a:t>𝑓</a:t>
            </a:r>
            <a:r>
              <a:rPr sz="2800" dirty="0">
                <a:latin typeface="Cambria Math"/>
                <a:cs typeface="Cambria Math"/>
              </a:rPr>
              <a:t>	</a:t>
            </a:r>
            <a:r>
              <a:rPr sz="2800" spc="-50" dirty="0">
                <a:latin typeface="Cambria Math"/>
                <a:cs typeface="Cambria Math"/>
              </a:rPr>
              <a:t>𝒙</a:t>
            </a:r>
            <a:r>
              <a:rPr sz="2800" dirty="0">
                <a:latin typeface="Cambria Math"/>
                <a:cs typeface="Cambria Math"/>
              </a:rPr>
              <a:t>	</a:t>
            </a:r>
            <a:r>
              <a:rPr sz="2800" spc="-5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indent="-228600">
              <a:lnSpc>
                <a:spcPts val="3195"/>
              </a:lnSpc>
              <a:spcBef>
                <a:spcPts val="254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Esse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tipo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aprendizado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dividido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em</a:t>
            </a:r>
            <a:endParaRPr sz="2800" dirty="0">
              <a:latin typeface="Calibri"/>
              <a:cs typeface="Calibri"/>
            </a:endParaRPr>
          </a:p>
          <a:p>
            <a:pPr marL="241300">
              <a:lnSpc>
                <a:spcPts val="3195"/>
              </a:lnSpc>
            </a:pPr>
            <a:r>
              <a:rPr sz="2800" b="1" i="1" dirty="0">
                <a:solidFill>
                  <a:srgbClr val="FF0000"/>
                </a:solidFill>
                <a:latin typeface="Calibri"/>
                <a:cs typeface="Calibri"/>
              </a:rPr>
              <a:t>problemas</a:t>
            </a:r>
            <a:r>
              <a:rPr sz="2800" b="1" i="1" spc="-7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regressão</a:t>
            </a:r>
            <a:r>
              <a:rPr sz="2800" b="1" i="1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classificação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698500" marR="5080" lvl="1" indent="-228600">
              <a:lnSpc>
                <a:spcPts val="2580"/>
              </a:lnSpc>
              <a:spcBef>
                <a:spcPts val="685"/>
              </a:spcBef>
              <a:buFont typeface="Wingdings"/>
              <a:buChar char=""/>
              <a:tabLst>
                <a:tab pos="698500" algn="l"/>
              </a:tabLst>
            </a:pPr>
            <a:r>
              <a:rPr sz="2400" b="1" dirty="0">
                <a:latin typeface="Calibri"/>
                <a:cs typeface="Calibri"/>
              </a:rPr>
              <a:t>Regressão</a:t>
            </a:r>
            <a:r>
              <a:rPr sz="2400" dirty="0">
                <a:latin typeface="Calibri"/>
                <a:cs typeface="Calibri"/>
              </a:rPr>
              <a:t>: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rótulo,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mbria Math"/>
                <a:cs typeface="Cambria Math"/>
              </a:rPr>
              <a:t>𝑦</a:t>
            </a:r>
            <a:r>
              <a:rPr sz="2400" dirty="0">
                <a:latin typeface="Calibri"/>
                <a:cs typeface="Calibri"/>
              </a:rPr>
              <a:t>,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pertence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um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b="1" i="1" spc="-10" dirty="0">
                <a:latin typeface="Calibri"/>
                <a:cs typeface="Calibri"/>
              </a:rPr>
              <a:t>conjunto </a:t>
            </a:r>
            <a:r>
              <a:rPr sz="2400" b="1" i="1" dirty="0">
                <a:latin typeface="Calibri"/>
                <a:cs typeface="Calibri"/>
              </a:rPr>
              <a:t>infinito</a:t>
            </a:r>
            <a:r>
              <a:rPr sz="2400" b="1" i="1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valores,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i.e.,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números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reais.</a:t>
            </a:r>
            <a:endParaRPr sz="2400" dirty="0">
              <a:latin typeface="Calibri"/>
              <a:cs typeface="Calibri"/>
            </a:endParaRPr>
          </a:p>
          <a:p>
            <a:pPr marL="1155700" lvl="2" indent="-228600">
              <a:lnSpc>
                <a:spcPct val="100000"/>
              </a:lnSpc>
              <a:spcBef>
                <a:spcPts val="355"/>
              </a:spcBef>
              <a:buFont typeface="Wingdings"/>
              <a:buChar char=""/>
              <a:tabLst>
                <a:tab pos="1155700" algn="l"/>
              </a:tabLst>
            </a:pPr>
            <a:r>
              <a:rPr sz="2000" b="1" dirty="0">
                <a:latin typeface="Calibri"/>
                <a:cs typeface="Calibri"/>
              </a:rPr>
              <a:t>Exemplo</a:t>
            </a:r>
            <a:r>
              <a:rPr sz="2000" dirty="0">
                <a:latin typeface="Calibri"/>
                <a:cs typeface="Calibri"/>
              </a:rPr>
              <a:t>: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anos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experiência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versus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salário.</a:t>
            </a:r>
            <a:endParaRPr sz="2000" dirty="0">
              <a:latin typeface="Calibri"/>
              <a:cs typeface="Calibri"/>
            </a:endParaRPr>
          </a:p>
          <a:p>
            <a:pPr marL="698500" marR="788670" lvl="1" indent="-228600" algn="just">
              <a:lnSpc>
                <a:spcPct val="89800"/>
              </a:lnSpc>
              <a:spcBef>
                <a:spcPts val="590"/>
              </a:spcBef>
              <a:buFont typeface="Wingdings"/>
              <a:buChar char=""/>
              <a:tabLst>
                <a:tab pos="698500" algn="l"/>
              </a:tabLst>
            </a:pPr>
            <a:r>
              <a:rPr sz="2400" b="1" dirty="0">
                <a:latin typeface="Calibri"/>
                <a:cs typeface="Calibri"/>
              </a:rPr>
              <a:t>Classificação</a:t>
            </a:r>
            <a:r>
              <a:rPr sz="2400" dirty="0">
                <a:latin typeface="Calibri"/>
                <a:cs typeface="Calibri"/>
              </a:rPr>
              <a:t>: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rótulo,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mbria Math"/>
                <a:cs typeface="Cambria Math"/>
              </a:rPr>
              <a:t>𝑦</a:t>
            </a:r>
            <a:r>
              <a:rPr sz="2400" dirty="0">
                <a:latin typeface="Calibri"/>
                <a:cs typeface="Calibri"/>
              </a:rPr>
              <a:t>,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pertence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25" dirty="0">
                <a:latin typeface="Calibri"/>
                <a:cs typeface="Calibri"/>
              </a:rPr>
              <a:t> um </a:t>
            </a:r>
            <a:r>
              <a:rPr sz="2400" b="1" i="1" dirty="0">
                <a:latin typeface="Calibri"/>
                <a:cs typeface="Calibri"/>
              </a:rPr>
              <a:t>conjunto</a:t>
            </a:r>
            <a:r>
              <a:rPr sz="2400" b="1" i="1" spc="-6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finito</a:t>
            </a:r>
            <a:r>
              <a:rPr sz="2400" b="1" i="1" spc="-6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e</a:t>
            </a:r>
            <a:r>
              <a:rPr sz="2400" b="1" i="1" spc="-5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discreto</a:t>
            </a:r>
            <a:r>
              <a:rPr sz="2400" b="1" i="1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valores,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i.e., </a:t>
            </a:r>
            <a:r>
              <a:rPr sz="2400" dirty="0">
                <a:latin typeface="Calibri"/>
                <a:cs typeface="Calibri"/>
              </a:rPr>
              <a:t>número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possíveis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classes.</a:t>
            </a:r>
            <a:endParaRPr sz="2400" dirty="0">
              <a:latin typeface="Calibri"/>
              <a:cs typeface="Calibri"/>
            </a:endParaRPr>
          </a:p>
          <a:p>
            <a:pPr marL="1155700" lvl="2" indent="-228600" algn="just">
              <a:lnSpc>
                <a:spcPct val="100000"/>
              </a:lnSpc>
              <a:spcBef>
                <a:spcPts val="390"/>
              </a:spcBef>
              <a:buFont typeface="Wingdings"/>
              <a:buChar char=""/>
              <a:tabLst>
                <a:tab pos="1155700" algn="l"/>
              </a:tabLst>
            </a:pPr>
            <a:r>
              <a:rPr sz="2000" b="1" dirty="0">
                <a:latin typeface="Calibri"/>
                <a:cs typeface="Calibri"/>
              </a:rPr>
              <a:t>Exemplo</a:t>
            </a:r>
            <a:r>
              <a:rPr sz="2000" dirty="0">
                <a:latin typeface="Calibri"/>
                <a:cs typeface="Calibri"/>
              </a:rPr>
              <a:t>: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filtro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spam.</a:t>
            </a:r>
            <a:endParaRPr sz="2000" dirty="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3697" y="1928473"/>
            <a:ext cx="3564084" cy="239704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3230626" y="4150232"/>
            <a:ext cx="2381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latin typeface="Cambria Math"/>
                <a:cs typeface="Cambria Math"/>
              </a:rPr>
              <a:t>(𝑥)</a:t>
            </a:r>
            <a:endParaRPr sz="1200">
              <a:latin typeface="Cambria Math"/>
              <a:cs typeface="Cambria Math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55114" y="2412492"/>
            <a:ext cx="185800" cy="141224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940814" y="2361691"/>
            <a:ext cx="25907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mbria Math"/>
                <a:cs typeface="Cambria Math"/>
              </a:rPr>
              <a:t>𝑓</a:t>
            </a:r>
            <a:r>
              <a:rPr sz="1200" spc="270" dirty="0">
                <a:latin typeface="Cambria Math"/>
                <a:cs typeface="Cambria Math"/>
              </a:rPr>
              <a:t> </a:t>
            </a:r>
            <a:r>
              <a:rPr sz="1200" spc="-50" dirty="0">
                <a:latin typeface="Cambria Math"/>
                <a:cs typeface="Cambria Math"/>
              </a:rPr>
              <a:t>𝑥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283714" y="2361691"/>
            <a:ext cx="6159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mbria Math"/>
                <a:cs typeface="Cambria Math"/>
              </a:rPr>
              <a:t>=</a:t>
            </a:r>
            <a:r>
              <a:rPr sz="1200" spc="75" dirty="0">
                <a:latin typeface="Cambria Math"/>
                <a:cs typeface="Cambria Math"/>
              </a:rPr>
              <a:t> </a:t>
            </a:r>
            <a:r>
              <a:rPr sz="1200" dirty="0">
                <a:latin typeface="Cambria Math"/>
                <a:cs typeface="Cambria Math"/>
              </a:rPr>
              <a:t>𝑎</a:t>
            </a:r>
            <a:r>
              <a:rPr sz="1200" spc="25" dirty="0">
                <a:latin typeface="Cambria Math"/>
                <a:cs typeface="Cambria Math"/>
              </a:rPr>
              <a:t> </a:t>
            </a:r>
            <a:r>
              <a:rPr sz="1200" dirty="0">
                <a:latin typeface="Cambria Math"/>
                <a:cs typeface="Cambria Math"/>
              </a:rPr>
              <a:t>+</a:t>
            </a:r>
            <a:r>
              <a:rPr sz="1200" spc="5" dirty="0">
                <a:latin typeface="Cambria Math"/>
                <a:cs typeface="Cambria Math"/>
              </a:rPr>
              <a:t> </a:t>
            </a:r>
            <a:r>
              <a:rPr sz="1200" spc="-25" dirty="0">
                <a:latin typeface="Cambria Math"/>
                <a:cs typeface="Cambria Math"/>
              </a:rPr>
              <a:t>𝑏𝑥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97665" y="2634990"/>
            <a:ext cx="178435" cy="24130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275"/>
              </a:lnSpc>
            </a:pPr>
            <a:r>
              <a:rPr sz="1200" spc="-25" dirty="0">
                <a:latin typeface="Cambria Math"/>
                <a:cs typeface="Cambria Math"/>
              </a:rPr>
              <a:t>(𝑦)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905886" y="2475102"/>
            <a:ext cx="366395" cy="162560"/>
          </a:xfrm>
          <a:custGeom>
            <a:avLst/>
            <a:gdLst/>
            <a:ahLst/>
            <a:cxnLst/>
            <a:rect l="l" t="t" r="r" b="b"/>
            <a:pathLst>
              <a:path w="366395" h="162560">
                <a:moveTo>
                  <a:pt x="330226" y="138884"/>
                </a:moveTo>
                <a:lnTo>
                  <a:pt x="266319" y="149225"/>
                </a:lnTo>
                <a:lnTo>
                  <a:pt x="262889" y="149860"/>
                </a:lnTo>
                <a:lnTo>
                  <a:pt x="260604" y="153035"/>
                </a:lnTo>
                <a:lnTo>
                  <a:pt x="261112" y="156591"/>
                </a:lnTo>
                <a:lnTo>
                  <a:pt x="261746" y="160020"/>
                </a:lnTo>
                <a:lnTo>
                  <a:pt x="264921" y="162306"/>
                </a:lnTo>
                <a:lnTo>
                  <a:pt x="268350" y="161798"/>
                </a:lnTo>
                <a:lnTo>
                  <a:pt x="357651" y="147320"/>
                </a:lnTo>
                <a:lnTo>
                  <a:pt x="352171" y="147320"/>
                </a:lnTo>
                <a:lnTo>
                  <a:pt x="330226" y="138884"/>
                </a:lnTo>
                <a:close/>
              </a:path>
              <a:path w="366395" h="162560">
                <a:moveTo>
                  <a:pt x="342663" y="136871"/>
                </a:moveTo>
                <a:lnTo>
                  <a:pt x="330226" y="138884"/>
                </a:lnTo>
                <a:lnTo>
                  <a:pt x="352171" y="147320"/>
                </a:lnTo>
                <a:lnTo>
                  <a:pt x="352908" y="145414"/>
                </a:lnTo>
                <a:lnTo>
                  <a:pt x="349503" y="145414"/>
                </a:lnTo>
                <a:lnTo>
                  <a:pt x="342663" y="136871"/>
                </a:lnTo>
                <a:close/>
              </a:path>
              <a:path w="366395" h="162560">
                <a:moveTo>
                  <a:pt x="298069" y="65405"/>
                </a:moveTo>
                <a:lnTo>
                  <a:pt x="295275" y="67563"/>
                </a:lnTo>
                <a:lnTo>
                  <a:pt x="292607" y="69850"/>
                </a:lnTo>
                <a:lnTo>
                  <a:pt x="292100" y="73787"/>
                </a:lnTo>
                <a:lnTo>
                  <a:pt x="294386" y="76581"/>
                </a:lnTo>
                <a:lnTo>
                  <a:pt x="334815" y="127071"/>
                </a:lnTo>
                <a:lnTo>
                  <a:pt x="356742" y="135509"/>
                </a:lnTo>
                <a:lnTo>
                  <a:pt x="352171" y="147320"/>
                </a:lnTo>
                <a:lnTo>
                  <a:pt x="357651" y="147320"/>
                </a:lnTo>
                <a:lnTo>
                  <a:pt x="366267" y="145923"/>
                </a:lnTo>
                <a:lnTo>
                  <a:pt x="304292" y="68580"/>
                </a:lnTo>
                <a:lnTo>
                  <a:pt x="302006" y="65912"/>
                </a:lnTo>
                <a:lnTo>
                  <a:pt x="298069" y="65405"/>
                </a:lnTo>
                <a:close/>
              </a:path>
              <a:path w="366395" h="162560">
                <a:moveTo>
                  <a:pt x="353440" y="135127"/>
                </a:moveTo>
                <a:lnTo>
                  <a:pt x="342663" y="136871"/>
                </a:lnTo>
                <a:lnTo>
                  <a:pt x="349503" y="145414"/>
                </a:lnTo>
                <a:lnTo>
                  <a:pt x="353440" y="135127"/>
                </a:lnTo>
                <a:close/>
              </a:path>
              <a:path w="366395" h="162560">
                <a:moveTo>
                  <a:pt x="355752" y="135127"/>
                </a:moveTo>
                <a:lnTo>
                  <a:pt x="353440" y="135127"/>
                </a:lnTo>
                <a:lnTo>
                  <a:pt x="349503" y="145414"/>
                </a:lnTo>
                <a:lnTo>
                  <a:pt x="352908" y="145414"/>
                </a:lnTo>
                <a:lnTo>
                  <a:pt x="356742" y="135509"/>
                </a:lnTo>
                <a:lnTo>
                  <a:pt x="355752" y="135127"/>
                </a:lnTo>
                <a:close/>
              </a:path>
              <a:path w="366395" h="162560">
                <a:moveTo>
                  <a:pt x="4571" y="0"/>
                </a:moveTo>
                <a:lnTo>
                  <a:pt x="0" y="11937"/>
                </a:lnTo>
                <a:lnTo>
                  <a:pt x="330226" y="138884"/>
                </a:lnTo>
                <a:lnTo>
                  <a:pt x="342663" y="136871"/>
                </a:lnTo>
                <a:lnTo>
                  <a:pt x="334815" y="127071"/>
                </a:lnTo>
                <a:lnTo>
                  <a:pt x="4571" y="0"/>
                </a:lnTo>
                <a:close/>
              </a:path>
              <a:path w="366395" h="162560">
                <a:moveTo>
                  <a:pt x="334815" y="127071"/>
                </a:moveTo>
                <a:lnTo>
                  <a:pt x="342663" y="136871"/>
                </a:lnTo>
                <a:lnTo>
                  <a:pt x="353440" y="135127"/>
                </a:lnTo>
                <a:lnTo>
                  <a:pt x="355752" y="135127"/>
                </a:lnTo>
                <a:lnTo>
                  <a:pt x="334815" y="127071"/>
                </a:lnTo>
                <a:close/>
              </a:path>
            </a:pathLst>
          </a:custGeom>
          <a:solidFill>
            <a:srgbClr val="2E528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74434" y="4706124"/>
            <a:ext cx="5086858" cy="1627251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427939" y="6358839"/>
            <a:ext cx="3412490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300" dirty="0">
                <a:latin typeface="Cambria Math"/>
                <a:cs typeface="Cambria Math"/>
              </a:rPr>
              <a:t>𝒙</a:t>
            </a:r>
            <a:r>
              <a:rPr sz="1300" spc="40" dirty="0">
                <a:latin typeface="Cambria Math"/>
                <a:cs typeface="Cambria Math"/>
              </a:rPr>
              <a:t> </a:t>
            </a:r>
            <a:r>
              <a:rPr sz="1300" dirty="0">
                <a:latin typeface="Cambria Math"/>
                <a:cs typeface="Cambria Math"/>
              </a:rPr>
              <a:t>=</a:t>
            </a:r>
            <a:r>
              <a:rPr sz="1300" spc="65" dirty="0">
                <a:latin typeface="Cambria Math"/>
                <a:cs typeface="Cambria Math"/>
              </a:rPr>
              <a:t> </a:t>
            </a:r>
            <a:r>
              <a:rPr sz="1300" dirty="0">
                <a:latin typeface="Cambria Math"/>
                <a:cs typeface="Cambria Math"/>
              </a:rPr>
              <a:t>[𝑥</a:t>
            </a:r>
            <a:r>
              <a:rPr sz="1425" baseline="-14619" dirty="0">
                <a:latin typeface="Cambria Math"/>
                <a:cs typeface="Cambria Math"/>
              </a:rPr>
              <a:t>1</a:t>
            </a:r>
            <a:r>
              <a:rPr sz="1300" dirty="0">
                <a:latin typeface="Cambria Math"/>
                <a:cs typeface="Cambria Math"/>
              </a:rPr>
              <a:t>,</a:t>
            </a:r>
            <a:r>
              <a:rPr sz="1300" spc="-85" dirty="0">
                <a:latin typeface="Cambria Math"/>
                <a:cs typeface="Cambria Math"/>
              </a:rPr>
              <a:t> </a:t>
            </a:r>
            <a:r>
              <a:rPr sz="1300" dirty="0">
                <a:latin typeface="Cambria Math"/>
                <a:cs typeface="Cambria Math"/>
              </a:rPr>
              <a:t>𝑥</a:t>
            </a:r>
            <a:r>
              <a:rPr sz="1425" baseline="-14619" dirty="0">
                <a:latin typeface="Cambria Math"/>
                <a:cs typeface="Cambria Math"/>
              </a:rPr>
              <a:t>2</a:t>
            </a:r>
            <a:r>
              <a:rPr sz="1300" dirty="0">
                <a:latin typeface="Cambria Math"/>
                <a:cs typeface="Cambria Math"/>
              </a:rPr>
              <a:t>,</a:t>
            </a:r>
            <a:r>
              <a:rPr sz="1300" spc="-75" dirty="0">
                <a:latin typeface="Cambria Math"/>
                <a:cs typeface="Cambria Math"/>
              </a:rPr>
              <a:t> </a:t>
            </a:r>
            <a:r>
              <a:rPr sz="1300" dirty="0">
                <a:latin typeface="Cambria Math"/>
                <a:cs typeface="Cambria Math"/>
              </a:rPr>
              <a:t>𝑥</a:t>
            </a:r>
            <a:r>
              <a:rPr sz="1425" baseline="-14619" dirty="0">
                <a:latin typeface="Cambria Math"/>
                <a:cs typeface="Cambria Math"/>
              </a:rPr>
              <a:t>3</a:t>
            </a:r>
            <a:r>
              <a:rPr sz="1300" dirty="0">
                <a:latin typeface="Cambria Math"/>
                <a:cs typeface="Cambria Math"/>
              </a:rPr>
              <a:t>,</a:t>
            </a:r>
            <a:r>
              <a:rPr sz="1300" spc="-85" dirty="0">
                <a:latin typeface="Cambria Math"/>
                <a:cs typeface="Cambria Math"/>
              </a:rPr>
              <a:t> </a:t>
            </a:r>
            <a:r>
              <a:rPr sz="1300" spc="-10" dirty="0">
                <a:latin typeface="Cambria Math"/>
                <a:cs typeface="Cambria Math"/>
              </a:rPr>
              <a:t>…</a:t>
            </a:r>
            <a:r>
              <a:rPr sz="1300" spc="-65" dirty="0">
                <a:latin typeface="Cambria Math"/>
                <a:cs typeface="Cambria Math"/>
              </a:rPr>
              <a:t> </a:t>
            </a:r>
            <a:r>
              <a:rPr sz="1300" dirty="0">
                <a:latin typeface="Cambria Math"/>
                <a:cs typeface="Cambria Math"/>
              </a:rPr>
              <a:t>]</a:t>
            </a:r>
            <a:r>
              <a:rPr sz="1300" dirty="0">
                <a:latin typeface="Calibri"/>
                <a:cs typeface="Calibri"/>
              </a:rPr>
              <a:t>:</a:t>
            </a:r>
            <a:r>
              <a:rPr sz="1300" spc="-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data,</a:t>
            </a:r>
            <a:r>
              <a:rPr sz="1300" spc="5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remetente,</a:t>
            </a:r>
            <a:r>
              <a:rPr sz="1300" spc="1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assunto,</a:t>
            </a:r>
            <a:r>
              <a:rPr sz="1300" spc="30" dirty="0">
                <a:latin typeface="Calibri"/>
                <a:cs typeface="Calibri"/>
              </a:rPr>
              <a:t> </a:t>
            </a:r>
            <a:r>
              <a:rPr sz="1300" spc="-20" dirty="0">
                <a:latin typeface="Calibri"/>
                <a:cs typeface="Calibri"/>
              </a:rPr>
              <a:t>etc.</a:t>
            </a:r>
            <a:endParaRPr sz="1300">
              <a:latin typeface="Calibri"/>
              <a:cs typeface="Calibri"/>
            </a:endParaRPr>
          </a:p>
          <a:p>
            <a:pPr marL="38100">
              <a:lnSpc>
                <a:spcPct val="100000"/>
              </a:lnSpc>
            </a:pPr>
            <a:r>
              <a:rPr sz="1300" dirty="0">
                <a:latin typeface="Cambria Math"/>
                <a:cs typeface="Cambria Math"/>
              </a:rPr>
              <a:t>𝑦</a:t>
            </a:r>
            <a:r>
              <a:rPr sz="1300" dirty="0">
                <a:latin typeface="Calibri"/>
                <a:cs typeface="Calibri"/>
              </a:rPr>
              <a:t>:</a:t>
            </a:r>
            <a:r>
              <a:rPr sz="1300" spc="-1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spam</a:t>
            </a:r>
            <a:r>
              <a:rPr sz="1300" spc="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ou</a:t>
            </a:r>
            <a:r>
              <a:rPr sz="1300" spc="-5" dirty="0">
                <a:latin typeface="Calibri"/>
                <a:cs typeface="Calibri"/>
              </a:rPr>
              <a:t> </a:t>
            </a:r>
            <a:r>
              <a:rPr sz="1300" spc="-25" dirty="0">
                <a:latin typeface="Calibri"/>
                <a:cs typeface="Calibri"/>
              </a:rPr>
              <a:t>ham</a:t>
            </a:r>
            <a:endParaRPr sz="1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489584"/>
            <a:ext cx="740600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Aprendizado</a:t>
            </a:r>
            <a:r>
              <a:rPr spc="-140" dirty="0"/>
              <a:t> </a:t>
            </a:r>
            <a:r>
              <a:rPr spc="-10" dirty="0"/>
              <a:t>não-supervisionado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43562" y="2876880"/>
            <a:ext cx="5687060" cy="3373231"/>
          </a:xfrm>
          <a:prstGeom prst="rect">
            <a:avLst/>
          </a:prstGeom>
        </p:spPr>
        <p:txBody>
          <a:bodyPr vert="horz" wrap="square" lIns="0" tIns="96520" rIns="0" bIns="0" rtlCol="0">
            <a:spAutoFit/>
          </a:bodyPr>
          <a:lstStyle/>
          <a:p>
            <a:pPr marL="241300" indent="-228600">
              <a:lnSpc>
                <a:spcPts val="3190"/>
              </a:lnSpc>
              <a:spcBef>
                <a:spcPts val="66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 err="1">
                <a:latin typeface="Calibri"/>
                <a:cs typeface="Calibri"/>
              </a:rPr>
              <a:t>Os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algoritmos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só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têm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acesso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aos</a:t>
            </a:r>
            <a:endParaRPr sz="2800" dirty="0">
              <a:latin typeface="Calibri"/>
              <a:cs typeface="Calibri"/>
            </a:endParaRPr>
          </a:p>
          <a:p>
            <a:pPr marL="241300">
              <a:lnSpc>
                <a:spcPts val="3190"/>
              </a:lnSpc>
            </a:pP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atributos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155" dirty="0">
                <a:latin typeface="Calibri"/>
                <a:cs typeface="Calibri"/>
              </a:rPr>
              <a:t> </a:t>
            </a:r>
            <a:r>
              <a:rPr sz="2800" spc="-25" dirty="0">
                <a:latin typeface="Cambria Math"/>
                <a:cs typeface="Cambria Math"/>
              </a:rPr>
              <a:t>𝒙</a:t>
            </a:r>
            <a:r>
              <a:rPr sz="2800" spc="-25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marR="5080" indent="-228600">
              <a:lnSpc>
                <a:spcPct val="90000"/>
              </a:lnSpc>
              <a:spcBef>
                <a:spcPts val="994"/>
              </a:spcBef>
              <a:buFont typeface="Arial"/>
              <a:buChar char="•"/>
              <a:tabLst>
                <a:tab pos="241300" algn="l"/>
              </a:tabLst>
            </a:pPr>
            <a:r>
              <a:rPr sz="2800" b="1" spc="-10" dirty="0">
                <a:latin typeface="Calibri"/>
                <a:cs typeface="Calibri"/>
              </a:rPr>
              <a:t>Objetivo</a:t>
            </a:r>
            <a:r>
              <a:rPr sz="2800" spc="-10" dirty="0">
                <a:latin typeface="Calibri"/>
                <a:cs typeface="Calibri"/>
              </a:rPr>
              <a:t>: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algoritmos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devem </a:t>
            </a:r>
            <a:r>
              <a:rPr sz="2800" b="1" i="1" spc="-10" dirty="0">
                <a:latin typeface="Calibri"/>
                <a:cs typeface="Calibri"/>
              </a:rPr>
              <a:t>aprender/descobrir</a:t>
            </a:r>
            <a:r>
              <a:rPr sz="2800" b="1" i="1" spc="-1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padrões,</a:t>
            </a:r>
            <a:r>
              <a:rPr sz="2800" spc="-1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muitas vezes</a:t>
            </a:r>
            <a:r>
              <a:rPr sz="2800" spc="-1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ocultos,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presentes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nos</a:t>
            </a:r>
            <a:r>
              <a:rPr sz="2800" spc="-11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dados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se </a:t>
            </a:r>
            <a:r>
              <a:rPr sz="2800" dirty="0">
                <a:latin typeface="Calibri"/>
                <a:cs typeface="Calibri"/>
              </a:rPr>
              <a:t>baseando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apenas,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por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exemplo,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na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similaridade</a:t>
            </a:r>
            <a:r>
              <a:rPr sz="2800" b="1" i="1" spc="-8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entre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os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atributos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mbria Math"/>
                <a:cs typeface="Cambria Math"/>
              </a:rPr>
              <a:t>𝒙</a:t>
            </a:r>
            <a:r>
              <a:rPr sz="2800" spc="-105" dirty="0">
                <a:latin typeface="Cambria Math"/>
                <a:cs typeface="Cambria Math"/>
              </a:rPr>
              <a:t> </a:t>
            </a:r>
            <a:r>
              <a:rPr sz="2800" spc="-25" dirty="0">
                <a:latin typeface="Calibri"/>
                <a:cs typeface="Calibri"/>
              </a:rPr>
              <a:t>ou </a:t>
            </a:r>
            <a:r>
              <a:rPr sz="2800" dirty="0">
                <a:latin typeface="Calibri"/>
                <a:cs typeface="Calibri"/>
              </a:rPr>
              <a:t>seja,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sem</a:t>
            </a:r>
            <a:r>
              <a:rPr sz="2800" b="1" i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a</a:t>
            </a:r>
            <a:r>
              <a:rPr sz="2800" b="1" i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presença</a:t>
            </a:r>
            <a:r>
              <a:rPr sz="2800" b="1" i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de</a:t>
            </a:r>
            <a:r>
              <a:rPr sz="2800" b="1" i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6F2F9F"/>
                </a:solidFill>
                <a:latin typeface="Calibri"/>
                <a:cs typeface="Calibri"/>
              </a:rPr>
              <a:t>rótulos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14140" y="1639801"/>
            <a:ext cx="2901877" cy="215927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670356" y="1602104"/>
            <a:ext cx="11310620" cy="1663276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5389880" marR="5080" indent="-228600">
              <a:lnSpc>
                <a:spcPts val="3030"/>
              </a:lnSpc>
              <a:spcBef>
                <a:spcPts val="470"/>
              </a:spcBef>
              <a:buFont typeface="Arial"/>
              <a:buChar char="•"/>
              <a:tabLst>
                <a:tab pos="5390515" algn="l"/>
              </a:tabLst>
            </a:pPr>
            <a:r>
              <a:rPr sz="2800" dirty="0">
                <a:latin typeface="Calibri"/>
                <a:cs typeface="Calibri"/>
              </a:rPr>
              <a:t>Neste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tipo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aprendizado,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algoritmos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ML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não</a:t>
            </a:r>
            <a:r>
              <a:rPr sz="2800" b="1" i="1" spc="-5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têm</a:t>
            </a:r>
            <a:r>
              <a:rPr sz="2800" b="1" i="1" spc="-5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 err="1">
                <a:solidFill>
                  <a:srgbClr val="00AF50"/>
                </a:solidFill>
                <a:latin typeface="Calibri"/>
                <a:cs typeface="Calibri"/>
              </a:rPr>
              <a:t>acesso</a:t>
            </a:r>
            <a:r>
              <a:rPr sz="2800" b="1" i="1" spc="-6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lang="pt-BR" sz="2800" b="1" i="1" spc="-65" dirty="0">
                <a:solidFill>
                  <a:srgbClr val="00AF50"/>
                </a:solidFill>
                <a:latin typeface="Calibri"/>
                <a:cs typeface="Calibri"/>
              </a:rPr>
              <a:t>a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s</a:t>
            </a:r>
            <a:r>
              <a:rPr sz="2800" b="1" i="1" spc="-5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 err="1">
                <a:solidFill>
                  <a:srgbClr val="00AF50"/>
                </a:solidFill>
                <a:latin typeface="Calibri"/>
                <a:cs typeface="Calibri"/>
              </a:rPr>
              <a:t>saídas</a:t>
            </a:r>
            <a:r>
              <a:rPr lang="pt-BR"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lang="pt-BR" sz="2800" b="1" i="1" dirty="0">
                <a:solidFill>
                  <a:srgbClr val="00AF50"/>
                </a:solidFill>
                <a:latin typeface="Calibri"/>
                <a:cs typeface="Calibri"/>
              </a:rPr>
              <a:t>esperadas</a:t>
            </a:r>
            <a:r>
              <a:rPr lang="pt-BR" sz="2800" dirty="0">
                <a:latin typeface="Calibri"/>
                <a:cs typeface="Calibri"/>
              </a:rPr>
              <a:t>,</a:t>
            </a:r>
            <a:r>
              <a:rPr lang="pt-BR" sz="2800" spc="-160" dirty="0">
                <a:latin typeface="Calibri"/>
                <a:cs typeface="Calibri"/>
              </a:rPr>
              <a:t> </a:t>
            </a:r>
            <a:r>
              <a:rPr lang="pt-BR" sz="2800" spc="-25" dirty="0">
                <a:latin typeface="Cambria Math"/>
                <a:cs typeface="Cambria Math"/>
              </a:rPr>
              <a:t>𝑦</a:t>
            </a:r>
            <a:r>
              <a:rPr lang="pt-BR" sz="2800" spc="-25" dirty="0">
                <a:latin typeface="Calibri"/>
                <a:cs typeface="Calibri"/>
              </a:rPr>
              <a:t>.</a:t>
            </a:r>
            <a:endParaRPr lang="pt-BR" sz="2800" dirty="0">
              <a:latin typeface="Calibri"/>
              <a:cs typeface="Calibri"/>
            </a:endParaRPr>
          </a:p>
          <a:p>
            <a:pPr marL="5389880" marR="5080" indent="-228600">
              <a:lnSpc>
                <a:spcPts val="3030"/>
              </a:lnSpc>
              <a:spcBef>
                <a:spcPts val="470"/>
              </a:spcBef>
              <a:buFont typeface="Arial"/>
              <a:buChar char="•"/>
              <a:tabLst>
                <a:tab pos="5390515" algn="l"/>
              </a:tabLst>
            </a:pPr>
            <a:endParaRPr lang="pt-BR" sz="2800" dirty="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14108" y="4466691"/>
            <a:ext cx="2901909" cy="2181987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3101720" y="3887215"/>
            <a:ext cx="310515" cy="491490"/>
            <a:chOff x="3101720" y="3887215"/>
            <a:chExt cx="310515" cy="491490"/>
          </a:xfrm>
        </p:grpSpPr>
        <p:sp>
          <p:nvSpPr>
            <p:cNvPr id="8" name="object 8"/>
            <p:cNvSpPr/>
            <p:nvPr/>
          </p:nvSpPr>
          <p:spPr>
            <a:xfrm>
              <a:off x="3108070" y="3893565"/>
              <a:ext cx="297815" cy="478790"/>
            </a:xfrm>
            <a:custGeom>
              <a:avLst/>
              <a:gdLst/>
              <a:ahLst/>
              <a:cxnLst/>
              <a:rect l="l" t="t" r="r" b="b"/>
              <a:pathLst>
                <a:path w="297814" h="478789">
                  <a:moveTo>
                    <a:pt x="223012" y="0"/>
                  </a:moveTo>
                  <a:lnTo>
                    <a:pt x="74295" y="0"/>
                  </a:lnTo>
                  <a:lnTo>
                    <a:pt x="74295" y="329945"/>
                  </a:lnTo>
                  <a:lnTo>
                    <a:pt x="0" y="329945"/>
                  </a:lnTo>
                  <a:lnTo>
                    <a:pt x="148717" y="478662"/>
                  </a:lnTo>
                  <a:lnTo>
                    <a:pt x="297433" y="329945"/>
                  </a:lnTo>
                  <a:lnTo>
                    <a:pt x="223012" y="329945"/>
                  </a:lnTo>
                  <a:lnTo>
                    <a:pt x="223012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108070" y="3893565"/>
              <a:ext cx="297815" cy="478790"/>
            </a:xfrm>
            <a:custGeom>
              <a:avLst/>
              <a:gdLst/>
              <a:ahLst/>
              <a:cxnLst/>
              <a:rect l="l" t="t" r="r" b="b"/>
              <a:pathLst>
                <a:path w="297814" h="478789">
                  <a:moveTo>
                    <a:pt x="0" y="329945"/>
                  </a:moveTo>
                  <a:lnTo>
                    <a:pt x="74295" y="329945"/>
                  </a:lnTo>
                  <a:lnTo>
                    <a:pt x="74295" y="0"/>
                  </a:lnTo>
                  <a:lnTo>
                    <a:pt x="223012" y="0"/>
                  </a:lnTo>
                  <a:lnTo>
                    <a:pt x="223012" y="329945"/>
                  </a:lnTo>
                  <a:lnTo>
                    <a:pt x="297433" y="329945"/>
                  </a:lnTo>
                  <a:lnTo>
                    <a:pt x="148717" y="478662"/>
                  </a:lnTo>
                  <a:lnTo>
                    <a:pt x="0" y="329945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92100" y="5114620"/>
            <a:ext cx="1398270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635" algn="ctr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Calibri"/>
                <a:cs typeface="Calibri"/>
              </a:rPr>
              <a:t>Dados </a:t>
            </a:r>
            <a:r>
              <a:rPr sz="1800" b="1" dirty="0">
                <a:latin typeface="Calibri"/>
                <a:cs typeface="Calibri"/>
              </a:rPr>
              <a:t>agrupados</a:t>
            </a:r>
            <a:r>
              <a:rPr sz="1800" b="1" spc="-45" dirty="0">
                <a:latin typeface="Calibri"/>
                <a:cs typeface="Calibri"/>
              </a:rPr>
              <a:t> </a:t>
            </a:r>
            <a:r>
              <a:rPr sz="1800" b="1" spc="-25" dirty="0">
                <a:latin typeface="Calibri"/>
                <a:cs typeface="Calibri"/>
              </a:rPr>
              <a:t>por </a:t>
            </a:r>
            <a:r>
              <a:rPr sz="1800" b="1" spc="-10" dirty="0">
                <a:latin typeface="Calibri"/>
                <a:cs typeface="Calibri"/>
              </a:rPr>
              <a:t>proximidade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444366" y="3862197"/>
            <a:ext cx="216725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Calibri"/>
                <a:cs typeface="Calibri"/>
              </a:rPr>
              <a:t>Algoritmo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aprendizado</a:t>
            </a:r>
            <a:endParaRPr sz="1600">
              <a:latin typeface="Calibri"/>
              <a:cs typeface="Calibri"/>
            </a:endParaRPr>
          </a:p>
          <a:p>
            <a:pPr marL="635" algn="ctr">
              <a:lnSpc>
                <a:spcPct val="100000"/>
              </a:lnSpc>
            </a:pPr>
            <a:r>
              <a:rPr sz="1600" spc="-10" dirty="0">
                <a:latin typeface="Calibri"/>
                <a:cs typeface="Calibri"/>
              </a:rPr>
              <a:t>não-supervisionado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156D4286-D60B-9AA6-DCEB-45A2117C0966}"/>
              </a:ext>
            </a:extLst>
          </p:cNvPr>
          <p:cNvSpPr txBox="1"/>
          <p:nvPr/>
        </p:nvSpPr>
        <p:spPr>
          <a:xfrm>
            <a:off x="533400" y="2343808"/>
            <a:ext cx="1280708" cy="6591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pt-BR" sz="1800" b="1" dirty="0">
                <a:latin typeface="Calibri"/>
                <a:cs typeface="Calibri"/>
              </a:rPr>
              <a:t>Dados</a:t>
            </a:r>
            <a:r>
              <a:rPr lang="pt-BR" sz="1800" b="1" spc="-20" dirty="0">
                <a:latin typeface="Calibri"/>
                <a:cs typeface="Calibri"/>
              </a:rPr>
              <a:t> </a:t>
            </a:r>
            <a:r>
              <a:rPr lang="pt-BR" sz="1800" b="1" spc="-25" dirty="0">
                <a:latin typeface="Calibri"/>
                <a:cs typeface="Calibri"/>
              </a:rPr>
              <a:t>não</a:t>
            </a:r>
            <a:endParaRPr lang="pt-BR" sz="18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z="1800" b="1" spc="-10" dirty="0">
                <a:latin typeface="Calibri"/>
                <a:cs typeface="Calibri"/>
              </a:rPr>
              <a:t>rotulados</a:t>
            </a:r>
            <a:endParaRPr lang="pt-BR" sz="1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51128"/>
            <a:ext cx="740600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Aprendizado</a:t>
            </a:r>
            <a:r>
              <a:rPr spc="-140" dirty="0"/>
              <a:t> </a:t>
            </a:r>
            <a:r>
              <a:rPr spc="-10" dirty="0"/>
              <a:t>não-supervisionado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879842" y="1793493"/>
            <a:ext cx="3915410" cy="3399154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241300" marR="301625" indent="-228600">
              <a:lnSpc>
                <a:spcPts val="3030"/>
              </a:lnSpc>
              <a:spcBef>
                <a:spcPts val="47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Esses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algoritmos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ML </a:t>
            </a:r>
            <a:r>
              <a:rPr sz="2800" spc="-10" dirty="0">
                <a:latin typeface="Calibri"/>
                <a:cs typeface="Calibri"/>
              </a:rPr>
              <a:t>tratam</a:t>
            </a:r>
            <a:r>
              <a:rPr sz="2800" spc="-13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problemas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de</a:t>
            </a:r>
            <a:endParaRPr sz="2800" dirty="0">
              <a:latin typeface="Calibri"/>
              <a:cs typeface="Calibri"/>
            </a:endParaRPr>
          </a:p>
          <a:p>
            <a:pPr marL="698500" lvl="1" indent="-228600">
              <a:lnSpc>
                <a:spcPct val="100000"/>
              </a:lnSpc>
              <a:spcBef>
                <a:spcPts val="195"/>
              </a:spcBef>
              <a:buFont typeface="Wingdings"/>
              <a:buChar char=""/>
              <a:tabLst>
                <a:tab pos="698500" algn="l"/>
              </a:tabLst>
            </a:pPr>
            <a:r>
              <a:rPr sz="2400" b="1" i="1" spc="-10" dirty="0">
                <a:latin typeface="Calibri"/>
                <a:cs typeface="Calibri"/>
              </a:rPr>
              <a:t>clusterização</a:t>
            </a:r>
            <a:r>
              <a:rPr sz="2400" spc="-10" dirty="0">
                <a:latin typeface="Calibri"/>
                <a:cs typeface="Calibri"/>
              </a:rPr>
              <a:t>,</a:t>
            </a:r>
            <a:endParaRPr sz="2400" dirty="0">
              <a:latin typeface="Calibri"/>
              <a:cs typeface="Calibri"/>
            </a:endParaRPr>
          </a:p>
          <a:p>
            <a:pPr marL="698500" lvl="1" indent="-228600">
              <a:lnSpc>
                <a:spcPts val="2735"/>
              </a:lnSpc>
              <a:spcBef>
                <a:spcPts val="215"/>
              </a:spcBef>
              <a:buFont typeface="Wingdings"/>
              <a:buChar char=""/>
              <a:tabLst>
                <a:tab pos="698500" algn="l"/>
              </a:tabLst>
            </a:pPr>
            <a:r>
              <a:rPr sz="2400" b="1" i="1" dirty="0">
                <a:latin typeface="Calibri"/>
                <a:cs typeface="Calibri"/>
              </a:rPr>
              <a:t>detecção</a:t>
            </a:r>
            <a:r>
              <a:rPr sz="2400" b="1" i="1" spc="-6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de</a:t>
            </a:r>
            <a:r>
              <a:rPr sz="2400" b="1" i="1" spc="-65" dirty="0">
                <a:latin typeface="Calibri"/>
                <a:cs typeface="Calibri"/>
              </a:rPr>
              <a:t> </a:t>
            </a:r>
            <a:r>
              <a:rPr sz="2400" b="1" i="1" spc="-10" dirty="0">
                <a:latin typeface="Calibri"/>
                <a:cs typeface="Calibri"/>
              </a:rPr>
              <a:t>anomalias</a:t>
            </a:r>
            <a:endParaRPr sz="2400" dirty="0">
              <a:latin typeface="Calibri"/>
              <a:cs typeface="Calibri"/>
            </a:endParaRPr>
          </a:p>
          <a:p>
            <a:pPr marL="698500">
              <a:lnSpc>
                <a:spcPts val="2735"/>
              </a:lnSpc>
            </a:pPr>
            <a:r>
              <a:rPr sz="2400" spc="-10" dirty="0">
                <a:latin typeface="Calibri"/>
                <a:cs typeface="Calibri"/>
              </a:rPr>
              <a:t>(</a:t>
            </a:r>
            <a:r>
              <a:rPr sz="2400" i="1" spc="-10" dirty="0">
                <a:latin typeface="Calibri"/>
                <a:cs typeface="Calibri"/>
              </a:rPr>
              <a:t>outliers</a:t>
            </a:r>
            <a:r>
              <a:rPr sz="2400" spc="-10" dirty="0">
                <a:latin typeface="Calibri"/>
                <a:cs typeface="Calibri"/>
              </a:rPr>
              <a:t>),</a:t>
            </a:r>
            <a:endParaRPr sz="2400" dirty="0">
              <a:latin typeface="Calibri"/>
              <a:cs typeface="Calibri"/>
            </a:endParaRPr>
          </a:p>
          <a:p>
            <a:pPr marL="698500" marR="653415" lvl="1" indent="-228600">
              <a:lnSpc>
                <a:spcPts val="2590"/>
              </a:lnSpc>
              <a:spcBef>
                <a:spcPts val="535"/>
              </a:spcBef>
              <a:buFont typeface="Wingdings"/>
              <a:buChar char=""/>
              <a:tabLst>
                <a:tab pos="698500" algn="l"/>
              </a:tabLst>
            </a:pPr>
            <a:r>
              <a:rPr sz="2400" b="1" dirty="0">
                <a:latin typeface="Calibri"/>
                <a:cs typeface="Calibri"/>
              </a:rPr>
              <a:t>redução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spc="-25" dirty="0">
                <a:latin typeface="Calibri"/>
                <a:cs typeface="Calibri"/>
              </a:rPr>
              <a:t>de </a:t>
            </a:r>
            <a:r>
              <a:rPr sz="2400" b="1" dirty="0">
                <a:latin typeface="Calibri"/>
                <a:cs typeface="Calibri"/>
              </a:rPr>
              <a:t>dimensionalidade</a:t>
            </a:r>
            <a:r>
              <a:rPr sz="2400" dirty="0">
                <a:latin typeface="Calibri"/>
                <a:cs typeface="Calibri"/>
              </a:rPr>
              <a:t>,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e</a:t>
            </a:r>
            <a:endParaRPr sz="2400" dirty="0">
              <a:latin typeface="Calibri"/>
              <a:cs typeface="Calibri"/>
            </a:endParaRPr>
          </a:p>
          <a:p>
            <a:pPr marL="698500" marR="5080" lvl="1" indent="-228600">
              <a:lnSpc>
                <a:spcPts val="2590"/>
              </a:lnSpc>
              <a:spcBef>
                <a:spcPts val="509"/>
              </a:spcBef>
              <a:buFont typeface="Wingdings"/>
              <a:buChar char=""/>
              <a:tabLst>
                <a:tab pos="698500" algn="l"/>
              </a:tabLst>
            </a:pPr>
            <a:r>
              <a:rPr sz="2400" b="1" i="1" dirty="0">
                <a:latin typeface="Calibri"/>
                <a:cs typeface="Calibri"/>
              </a:rPr>
              <a:t>aprendizado</a:t>
            </a:r>
            <a:r>
              <a:rPr sz="2400" b="1" i="1" spc="-7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de</a:t>
            </a:r>
            <a:r>
              <a:rPr sz="2400" b="1" i="1" spc="-4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regras</a:t>
            </a:r>
            <a:r>
              <a:rPr sz="2400" b="1" i="1" spc="-25" dirty="0">
                <a:latin typeface="Calibri"/>
                <a:cs typeface="Calibri"/>
              </a:rPr>
              <a:t> de </a:t>
            </a:r>
            <a:r>
              <a:rPr sz="2400" b="1" i="1" spc="-10" dirty="0">
                <a:latin typeface="Calibri"/>
                <a:cs typeface="Calibri"/>
              </a:rPr>
              <a:t>associação</a:t>
            </a:r>
            <a:r>
              <a:rPr sz="2400" spc="-10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7324" y="2035208"/>
            <a:ext cx="4243218" cy="176583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2481" y="4444730"/>
            <a:ext cx="4144645" cy="235241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617973" y="4487402"/>
            <a:ext cx="3184017" cy="2301970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5179314" y="1493901"/>
            <a:ext cx="22383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bri"/>
                <a:cs typeface="Calibri"/>
              </a:rPr>
              <a:t>Detecção</a:t>
            </a:r>
            <a:r>
              <a:rPr sz="1800" b="1" spc="-4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de</a:t>
            </a:r>
            <a:r>
              <a:rPr sz="1800" b="1" spc="-6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Anomalias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92860" y="4094226"/>
            <a:ext cx="28702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bri"/>
                <a:cs typeface="Calibri"/>
              </a:rPr>
              <a:t>Redução</a:t>
            </a:r>
            <a:r>
              <a:rPr sz="1800" b="1" spc="-3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de</a:t>
            </a:r>
            <a:r>
              <a:rPr sz="1800" b="1" spc="-60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dimensionalidade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584452" y="1645665"/>
            <a:ext cx="12731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Calibri"/>
                <a:cs typeface="Calibri"/>
              </a:rPr>
              <a:t>Clusterização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146675" y="4094226"/>
            <a:ext cx="20072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bri"/>
                <a:cs typeface="Calibri"/>
              </a:rPr>
              <a:t>Regras</a:t>
            </a:r>
            <a:r>
              <a:rPr sz="1800" b="1" spc="-6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de</a:t>
            </a:r>
            <a:r>
              <a:rPr sz="1800" b="1" spc="-5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associação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734559" y="1845182"/>
            <a:ext cx="2950972" cy="2123821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Aprendizado</a:t>
            </a:r>
            <a:r>
              <a:rPr spc="-175" dirty="0"/>
              <a:t> </a:t>
            </a:r>
            <a:r>
              <a:rPr spc="-10" dirty="0"/>
              <a:t>semi-supervisionado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79084" y="1793493"/>
            <a:ext cx="5834380" cy="3268979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1300" marR="207010" indent="-228600">
              <a:lnSpc>
                <a:spcPct val="90000"/>
              </a:lnSpc>
              <a:spcBef>
                <a:spcPts val="43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Neste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tipo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aprendizado,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os </a:t>
            </a:r>
            <a:r>
              <a:rPr sz="2800" dirty="0">
                <a:latin typeface="Calibri"/>
                <a:cs typeface="Calibri"/>
              </a:rPr>
              <a:t>algoritmos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ML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têm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acesso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a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exemplos</a:t>
            </a:r>
            <a:r>
              <a:rPr sz="2800" b="1" i="1" spc="-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de</a:t>
            </a:r>
            <a:r>
              <a:rPr sz="2800" b="1" i="1" spc="-8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treinamento</a:t>
            </a:r>
            <a:r>
              <a:rPr sz="2800" b="1" i="1" spc="-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com</a:t>
            </a:r>
            <a:r>
              <a:rPr sz="2800" b="1" i="1" spc="-7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e</a:t>
            </a:r>
            <a:r>
              <a:rPr sz="2800" b="1" i="1" spc="-8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25" dirty="0">
                <a:solidFill>
                  <a:srgbClr val="00AF50"/>
                </a:solidFill>
                <a:latin typeface="Calibri"/>
                <a:cs typeface="Calibri"/>
              </a:rPr>
              <a:t>sem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rótulos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marR="5080" indent="-228600">
              <a:lnSpc>
                <a:spcPct val="90000"/>
              </a:lnSpc>
              <a:spcBef>
                <a:spcPts val="101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20" dirty="0">
                <a:latin typeface="Calibri"/>
                <a:cs typeface="Calibri"/>
              </a:rPr>
              <a:t>Geralmente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envolve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6F2F9F"/>
                </a:solidFill>
                <a:latin typeface="Calibri"/>
                <a:cs typeface="Calibri"/>
              </a:rPr>
              <a:t>pequena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quantidade</a:t>
            </a:r>
            <a:r>
              <a:rPr sz="2800" b="1" i="1" spc="-7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de</a:t>
            </a:r>
            <a:r>
              <a:rPr sz="2800" b="1" i="1" spc="-8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dados</a:t>
            </a:r>
            <a:r>
              <a:rPr sz="2800" b="1" i="1" spc="-8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rotulados</a:t>
            </a:r>
            <a:r>
              <a:rPr sz="2800" b="1" i="1" spc="-8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uma </a:t>
            </a:r>
            <a:r>
              <a:rPr sz="2800" b="1" i="1" dirty="0">
                <a:latin typeface="Calibri"/>
                <a:cs typeface="Calibri"/>
              </a:rPr>
              <a:t>grande</a:t>
            </a:r>
            <a:r>
              <a:rPr sz="2800" b="1" i="1" spc="-7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quantidade</a:t>
            </a:r>
            <a:r>
              <a:rPr sz="2800" b="1" i="1" spc="-8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de</a:t>
            </a:r>
            <a:r>
              <a:rPr sz="2800" b="1" i="1" spc="-8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dados</a:t>
            </a:r>
            <a:r>
              <a:rPr sz="2800" b="1" i="1" spc="-90" dirty="0">
                <a:latin typeface="Calibri"/>
                <a:cs typeface="Calibri"/>
              </a:rPr>
              <a:t> </a:t>
            </a:r>
            <a:r>
              <a:rPr sz="2800" b="1" i="1" spc="-20" dirty="0">
                <a:latin typeface="Calibri"/>
                <a:cs typeface="Calibri"/>
              </a:rPr>
              <a:t>não- </a:t>
            </a:r>
            <a:r>
              <a:rPr sz="2800" b="1" i="1" spc="-10" dirty="0">
                <a:latin typeface="Calibri"/>
                <a:cs typeface="Calibri"/>
              </a:rPr>
              <a:t>rotulados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879084" y="5121402"/>
            <a:ext cx="5955665" cy="1604010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1300" marR="5080" indent="-228600">
              <a:lnSpc>
                <a:spcPct val="90000"/>
              </a:lnSpc>
              <a:spcBef>
                <a:spcPts val="43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É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grande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ajuda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em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casos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onde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ter </a:t>
            </a:r>
            <a:r>
              <a:rPr sz="2800" dirty="0">
                <a:latin typeface="Calibri"/>
                <a:cs typeface="Calibri"/>
              </a:rPr>
              <a:t>uma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grande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quantidade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dados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rotulados</a:t>
            </a:r>
            <a:r>
              <a:rPr sz="2800" b="1" i="1" spc="-9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é</a:t>
            </a:r>
            <a:r>
              <a:rPr sz="2800" b="1" i="1" spc="-8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muito</a:t>
            </a:r>
            <a:r>
              <a:rPr sz="2800" b="1" i="1" spc="-9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demorado,</a:t>
            </a:r>
            <a:r>
              <a:rPr sz="2800" b="1" i="1" spc="-7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caro</a:t>
            </a:r>
            <a:r>
              <a:rPr sz="2800" b="1" i="1" spc="-8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25" dirty="0">
                <a:solidFill>
                  <a:srgbClr val="00AF50"/>
                </a:solidFill>
                <a:latin typeface="Calibri"/>
                <a:cs typeface="Calibri"/>
              </a:rPr>
              <a:t>ou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complexo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</p:txBody>
      </p:sp>
      <p:pic>
        <p:nvPicPr>
          <p:cNvPr id="45" name="Imagem 44">
            <a:extLst>
              <a:ext uri="{FF2B5EF4-FFF2-40B4-BE49-F238E27FC236}">
                <a16:creationId xmlns:a16="http://schemas.microsoft.com/office/drawing/2014/main" id="{C845C352-F08B-2606-B1DD-91566E59DE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793493"/>
            <a:ext cx="5462680" cy="4625153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Aprendizado</a:t>
            </a:r>
            <a:r>
              <a:rPr spc="-175" dirty="0"/>
              <a:t> </a:t>
            </a:r>
            <a:r>
              <a:rPr spc="-10" dirty="0"/>
              <a:t>semi-supervisionado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04417" y="1793493"/>
            <a:ext cx="10423525" cy="24568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28600" marR="260350" indent="-228600" algn="r">
              <a:lnSpc>
                <a:spcPts val="3195"/>
              </a:lnSpc>
              <a:spcBef>
                <a:spcPts val="95"/>
              </a:spcBef>
              <a:buFont typeface="Arial"/>
              <a:buChar char="•"/>
              <a:tabLst>
                <a:tab pos="228600" algn="l"/>
              </a:tabLst>
            </a:pPr>
            <a:r>
              <a:rPr sz="2800" dirty="0">
                <a:latin typeface="Calibri"/>
                <a:cs typeface="Calibri"/>
              </a:rPr>
              <a:t>Algoritmos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aprendizagem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semi-</a:t>
            </a:r>
            <a:r>
              <a:rPr sz="2800" dirty="0">
                <a:latin typeface="Calibri"/>
                <a:cs typeface="Calibri"/>
              </a:rPr>
              <a:t>supervisionada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são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resultado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da</a:t>
            </a:r>
            <a:endParaRPr sz="2800" dirty="0">
              <a:latin typeface="Calibri"/>
              <a:cs typeface="Calibri"/>
            </a:endParaRPr>
          </a:p>
          <a:p>
            <a:pPr marR="338455" algn="r">
              <a:lnSpc>
                <a:spcPts val="3195"/>
              </a:lnSpc>
            </a:pP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combinação</a:t>
            </a:r>
            <a:r>
              <a:rPr sz="2800" b="1" i="1" spc="-7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de</a:t>
            </a:r>
            <a:r>
              <a:rPr sz="2800" b="1" i="1" spc="-5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algoritmos</a:t>
            </a:r>
            <a:r>
              <a:rPr sz="2800" b="1" i="1" spc="-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25" dirty="0">
                <a:solidFill>
                  <a:srgbClr val="00AF50"/>
                </a:solidFill>
                <a:latin typeface="Calibri"/>
                <a:cs typeface="Calibri"/>
              </a:rPr>
              <a:t>não-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supervisionados</a:t>
            </a:r>
            <a:r>
              <a:rPr sz="2800" b="1" i="1" spc="-5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e</a:t>
            </a:r>
            <a:r>
              <a:rPr sz="2800" b="1" i="1" spc="-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supervisionados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marR="5080" indent="-228600">
              <a:lnSpc>
                <a:spcPts val="3020"/>
              </a:lnSpc>
              <a:spcBef>
                <a:spcPts val="105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Uma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maneira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realizar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aprendizado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semi-</a:t>
            </a:r>
            <a:r>
              <a:rPr sz="2800" dirty="0">
                <a:latin typeface="Calibri"/>
                <a:cs typeface="Calibri"/>
              </a:rPr>
              <a:t>supervisionado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combinar </a:t>
            </a:r>
            <a:r>
              <a:rPr sz="2800" dirty="0">
                <a:latin typeface="Calibri"/>
                <a:cs typeface="Calibri"/>
              </a:rPr>
              <a:t>algoritmos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b="1" i="1" spc="-20" dirty="0">
                <a:latin typeface="Calibri"/>
                <a:cs typeface="Calibri"/>
              </a:rPr>
              <a:t>clusterização</a:t>
            </a:r>
            <a:r>
              <a:rPr sz="2800" b="1" i="1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classificação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698500" lvl="1" indent="-229235">
              <a:lnSpc>
                <a:spcPts val="2735"/>
              </a:lnSpc>
              <a:spcBef>
                <a:spcPts val="190"/>
              </a:spcBef>
              <a:buFont typeface="Wingdings"/>
              <a:buChar char="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Por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exemplo,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como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classificaríamos</a:t>
            </a:r>
            <a:r>
              <a:rPr sz="2400" b="1" i="1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uma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quantidade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massiva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textos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b="1" i="1" spc="-20" dirty="0">
                <a:latin typeface="Calibri"/>
                <a:cs typeface="Calibri"/>
              </a:rPr>
              <a:t>não-</a:t>
            </a:r>
            <a:endParaRPr sz="2400" dirty="0">
              <a:latin typeface="Calibri"/>
              <a:cs typeface="Calibri"/>
            </a:endParaRPr>
          </a:p>
          <a:p>
            <a:pPr marL="698500">
              <a:lnSpc>
                <a:spcPts val="2735"/>
              </a:lnSpc>
            </a:pPr>
            <a:r>
              <a:rPr sz="2400" b="1" i="1" dirty="0">
                <a:latin typeface="Calibri"/>
                <a:cs typeface="Calibri"/>
              </a:rPr>
              <a:t>rotulados</a:t>
            </a:r>
            <a:r>
              <a:rPr sz="2400" b="1" i="1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internet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nas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6F2F9F"/>
                </a:solidFill>
                <a:latin typeface="Calibri"/>
                <a:cs typeface="Calibri"/>
              </a:rPr>
              <a:t>quatro</a:t>
            </a:r>
            <a:r>
              <a:rPr sz="2400" b="1" i="1" spc="-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classes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abaixo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?</a:t>
            </a:r>
            <a:endParaRPr sz="24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38516" y="4322890"/>
            <a:ext cx="9828704" cy="245122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892422" y="4704079"/>
            <a:ext cx="167703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Calibri"/>
                <a:cs typeface="Calibri"/>
              </a:rPr>
              <a:t>Não-supervisionado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730997" y="4704079"/>
            <a:ext cx="129286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Calibri"/>
                <a:cs typeface="Calibri"/>
              </a:rPr>
              <a:t>Supervisionado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438657"/>
            <a:ext cx="549338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Aprendizado</a:t>
            </a:r>
            <a:r>
              <a:rPr spc="-100" dirty="0"/>
              <a:t> </a:t>
            </a:r>
            <a:r>
              <a:rPr dirty="0"/>
              <a:t>por</a:t>
            </a:r>
            <a:r>
              <a:rPr spc="-70" dirty="0"/>
              <a:t> </a:t>
            </a:r>
            <a:r>
              <a:rPr spc="-35" dirty="0"/>
              <a:t>reforço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521833" y="1791461"/>
            <a:ext cx="6186805" cy="4803775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241300" marR="94615" indent="-228600">
              <a:lnSpc>
                <a:spcPct val="80000"/>
              </a:lnSpc>
              <a:spcBef>
                <a:spcPts val="76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Abordagem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aprendizado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totalmente </a:t>
            </a:r>
            <a:r>
              <a:rPr sz="2800" spc="-20" dirty="0">
                <a:latin typeface="Calibri"/>
                <a:cs typeface="Calibri"/>
              </a:rPr>
              <a:t>diferente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anteriores,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pois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não</a:t>
            </a:r>
            <a:r>
              <a:rPr sz="2800" b="1" i="1" spc="-7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6F2F9F"/>
                </a:solidFill>
                <a:latin typeface="Calibri"/>
                <a:cs typeface="Calibri"/>
              </a:rPr>
              <a:t>temos </a:t>
            </a:r>
            <a:r>
              <a:rPr sz="2800" b="1" i="1" spc="-20" dirty="0">
                <a:solidFill>
                  <a:srgbClr val="6F2F9F"/>
                </a:solidFill>
                <a:latin typeface="Calibri"/>
                <a:cs typeface="Calibri"/>
              </a:rPr>
              <a:t>exemplos</a:t>
            </a:r>
            <a:r>
              <a:rPr sz="2800" b="1" i="1" spc="-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de</a:t>
            </a:r>
            <a:r>
              <a:rPr sz="2800" b="1" i="1" spc="-8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6F2F9F"/>
                </a:solidFill>
                <a:latin typeface="Calibri"/>
                <a:cs typeface="Calibri"/>
              </a:rPr>
              <a:t>treinamento</a:t>
            </a:r>
            <a:r>
              <a:rPr sz="2800" spc="-10" dirty="0">
                <a:latin typeface="Calibri"/>
                <a:cs typeface="Calibri"/>
              </a:rPr>
              <a:t>,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sejam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eles </a:t>
            </a:r>
            <a:r>
              <a:rPr sz="2800" spc="-10" dirty="0">
                <a:latin typeface="Calibri"/>
                <a:cs typeface="Calibri"/>
              </a:rPr>
              <a:t>rotulados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ou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não.</a:t>
            </a:r>
            <a:endParaRPr sz="2800" dirty="0">
              <a:latin typeface="Calibri"/>
              <a:cs typeface="Calibri"/>
            </a:endParaRPr>
          </a:p>
          <a:p>
            <a:pPr marL="184785" marR="190500" indent="-172720">
              <a:lnSpc>
                <a:spcPct val="80000"/>
              </a:lnSpc>
              <a:spcBef>
                <a:spcPts val="1000"/>
              </a:spcBef>
              <a:buFont typeface="Arial"/>
              <a:buChar char="•"/>
              <a:tabLst>
                <a:tab pos="185420" algn="l"/>
              </a:tabLst>
            </a:pPr>
            <a:r>
              <a:rPr sz="2800" dirty="0">
                <a:latin typeface="Calibri"/>
                <a:cs typeface="Calibri"/>
              </a:rPr>
              <a:t>O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algoritmo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aprendizado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por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reforço, </a:t>
            </a:r>
            <a:r>
              <a:rPr sz="2800" dirty="0">
                <a:latin typeface="Calibri"/>
                <a:cs typeface="Calibri"/>
              </a:rPr>
              <a:t>chamado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agente</a:t>
            </a:r>
            <a:r>
              <a:rPr sz="2800" b="1" i="1" spc="-9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nesse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contexto, </a:t>
            </a:r>
            <a:r>
              <a:rPr sz="2800" dirty="0">
                <a:latin typeface="Calibri"/>
                <a:cs typeface="Calibri"/>
              </a:rPr>
              <a:t>aprende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como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comportar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em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um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ambiente</a:t>
            </a:r>
            <a:r>
              <a:rPr sz="2800" b="1" i="1" spc="-7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através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interações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tipo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tentativa</a:t>
            </a:r>
            <a:r>
              <a:rPr sz="2800" b="1" i="1" spc="-5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e</a:t>
            </a:r>
            <a:r>
              <a:rPr sz="2800" b="1" i="1" spc="-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20" dirty="0">
                <a:solidFill>
                  <a:srgbClr val="00AF50"/>
                </a:solidFill>
                <a:latin typeface="Calibri"/>
                <a:cs typeface="Calibri"/>
              </a:rPr>
              <a:t>erro</a:t>
            </a:r>
            <a:r>
              <a:rPr sz="2800" spc="-2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marR="5080" indent="-228600">
              <a:lnSpc>
                <a:spcPct val="80000"/>
              </a:lnSpc>
              <a:spcBef>
                <a:spcPts val="100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O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agente</a:t>
            </a:r>
            <a:r>
              <a:rPr sz="2800" b="1" i="1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observa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estado</a:t>
            </a:r>
            <a:r>
              <a:rPr sz="2800" b="1" i="1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ambiente</a:t>
            </a:r>
            <a:r>
              <a:rPr sz="2800" spc="-10" dirty="0">
                <a:latin typeface="Calibri"/>
                <a:cs typeface="Calibri"/>
              </a:rPr>
              <a:t>, </a:t>
            </a:r>
            <a:r>
              <a:rPr sz="2800" dirty="0">
                <a:latin typeface="Calibri"/>
                <a:cs typeface="Calibri"/>
              </a:rPr>
              <a:t>seleciona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executa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uma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ação</a:t>
            </a:r>
            <a:r>
              <a:rPr sz="2800" b="1" i="1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recebe </a:t>
            </a:r>
            <a:r>
              <a:rPr sz="2800" dirty="0">
                <a:latin typeface="Calibri"/>
                <a:cs typeface="Calibri"/>
              </a:rPr>
              <a:t>um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reforço</a:t>
            </a:r>
            <a:r>
              <a:rPr sz="2800" b="1" i="1" spc="-35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+</a:t>
            </a:r>
            <a:r>
              <a:rPr sz="2800" b="1" i="1" spc="-50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ou</a:t>
            </a:r>
            <a:r>
              <a:rPr sz="2800" b="1" i="1" spc="-55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-</a:t>
            </a:r>
            <a:r>
              <a:rPr sz="2800" b="1" i="1" spc="-50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(</a:t>
            </a:r>
            <a:r>
              <a:rPr sz="2800" b="1" i="1" spc="-10" dirty="0">
                <a:latin typeface="Calibri"/>
                <a:cs typeface="Calibri"/>
              </a:rPr>
              <a:t>recompensa</a:t>
            </a:r>
            <a:r>
              <a:rPr sz="2800" spc="-10" dirty="0">
                <a:latin typeface="Calibri"/>
                <a:cs typeface="Calibri"/>
              </a:rPr>
              <a:t>)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em </a:t>
            </a:r>
            <a:r>
              <a:rPr sz="2800" spc="-10" dirty="0">
                <a:latin typeface="Calibri"/>
                <a:cs typeface="Calibri"/>
              </a:rPr>
              <a:t>consequência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ação</a:t>
            </a:r>
            <a:r>
              <a:rPr sz="2800" b="1" i="1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tomada.</a:t>
            </a:r>
            <a:endParaRPr sz="28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8492" y="2144891"/>
            <a:ext cx="4810712" cy="360323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438657"/>
            <a:ext cx="549338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Aprendizado</a:t>
            </a:r>
            <a:r>
              <a:rPr spc="-100" dirty="0"/>
              <a:t> </a:t>
            </a:r>
            <a:r>
              <a:rPr dirty="0"/>
              <a:t>por</a:t>
            </a:r>
            <a:r>
              <a:rPr spc="-70" dirty="0"/>
              <a:t> </a:t>
            </a:r>
            <a:r>
              <a:rPr spc="-35" dirty="0"/>
              <a:t>reforço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43347" y="1824989"/>
            <a:ext cx="6904990" cy="493204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1300" marR="95250" indent="-228600">
              <a:lnSpc>
                <a:spcPct val="90000"/>
              </a:lnSpc>
              <a:spcBef>
                <a:spcPts val="43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Repetindo</a:t>
            </a:r>
            <a:r>
              <a:rPr sz="2800" spc="-11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estes</a:t>
            </a:r>
            <a:r>
              <a:rPr sz="2800" spc="-1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passos</a:t>
            </a:r>
            <a:r>
              <a:rPr sz="2800" spc="-1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inúmeras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vezes,</a:t>
            </a:r>
            <a:r>
              <a:rPr sz="2800" spc="-130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o </a:t>
            </a:r>
            <a:r>
              <a:rPr sz="2800" dirty="0">
                <a:latin typeface="Calibri"/>
                <a:cs typeface="Calibri"/>
              </a:rPr>
              <a:t>agente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aprende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por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si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só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qual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melhor </a:t>
            </a:r>
            <a:r>
              <a:rPr sz="2800" b="1" i="1" spc="-10" dirty="0">
                <a:solidFill>
                  <a:srgbClr val="6F2F9F"/>
                </a:solidFill>
                <a:latin typeface="Calibri"/>
                <a:cs typeface="Calibri"/>
              </a:rPr>
              <a:t>estratégia</a:t>
            </a:r>
            <a:r>
              <a:rPr sz="2800" spc="-10" dirty="0">
                <a:latin typeface="Calibri"/>
                <a:cs typeface="Calibri"/>
              </a:rPr>
              <a:t>,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chamada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política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para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obter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o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maior</a:t>
            </a:r>
            <a:r>
              <a:rPr sz="2800" b="1" i="1" spc="-5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acúmulo</a:t>
            </a:r>
            <a:r>
              <a:rPr sz="2800" b="1" i="1" spc="-6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possível</a:t>
            </a:r>
            <a:r>
              <a:rPr sz="2800" b="1" i="1" spc="-6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de</a:t>
            </a:r>
            <a:r>
              <a:rPr sz="2800" b="1" i="1" spc="-5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recompensas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positivas</a:t>
            </a:r>
            <a:r>
              <a:rPr sz="2800" b="1" i="1" spc="-5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ao</a:t>
            </a:r>
            <a:r>
              <a:rPr sz="2800" b="1" i="1" spc="-5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longo</a:t>
            </a:r>
            <a:r>
              <a:rPr sz="2800" b="1" i="1" spc="-5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do</a:t>
            </a:r>
            <a:r>
              <a:rPr sz="2800" b="1" i="1" spc="-5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tempo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marR="159385" indent="-228600">
              <a:lnSpc>
                <a:spcPts val="3030"/>
              </a:lnSpc>
              <a:spcBef>
                <a:spcPts val="105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Uma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política</a:t>
            </a:r>
            <a:r>
              <a:rPr sz="2800" b="1" i="1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define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qual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ação</a:t>
            </a:r>
            <a:r>
              <a:rPr sz="2800" b="1" i="1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agente</a:t>
            </a:r>
            <a:r>
              <a:rPr sz="2800" b="1" i="1" spc="-8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deve </a:t>
            </a:r>
            <a:r>
              <a:rPr sz="2800" dirty="0">
                <a:latin typeface="Calibri"/>
                <a:cs typeface="Calibri"/>
              </a:rPr>
              <a:t>escolher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quando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ambiente</a:t>
            </a:r>
            <a:r>
              <a:rPr sz="2800" b="1" i="1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estiver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em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um </a:t>
            </a:r>
            <a:r>
              <a:rPr sz="2800" spc="-10" dirty="0">
                <a:latin typeface="Calibri"/>
                <a:cs typeface="Calibri"/>
              </a:rPr>
              <a:t>determinado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estado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marR="5080" indent="-228600">
              <a:lnSpc>
                <a:spcPct val="90000"/>
              </a:lnSpc>
              <a:spcBef>
                <a:spcPts val="94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20" dirty="0">
                <a:latin typeface="Calibri"/>
                <a:cs typeface="Calibri"/>
              </a:rPr>
              <a:t>Portanto,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política</a:t>
            </a:r>
            <a:r>
              <a:rPr sz="2800" b="1" i="1" spc="-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função</a:t>
            </a:r>
            <a:r>
              <a:rPr sz="2800" b="1" i="1" spc="-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que</a:t>
            </a:r>
            <a:r>
              <a:rPr sz="2800" b="1" i="1" spc="-7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mapeia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os</a:t>
            </a:r>
            <a:r>
              <a:rPr sz="2800" b="1" i="1" spc="-8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estados</a:t>
            </a:r>
            <a:r>
              <a:rPr sz="2800" b="1" i="1" spc="-7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do</a:t>
            </a:r>
            <a:r>
              <a:rPr sz="2800" b="1" i="1" spc="-7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ambiente</a:t>
            </a:r>
            <a:r>
              <a:rPr sz="2800" b="1" i="1" spc="-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em</a:t>
            </a:r>
            <a:r>
              <a:rPr sz="2800" b="1" i="1" spc="-7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ações</a:t>
            </a:r>
            <a:r>
              <a:rPr sz="2800" b="1" i="1" spc="-114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o </a:t>
            </a:r>
            <a:r>
              <a:rPr sz="2800" b="1" i="1" dirty="0">
                <a:latin typeface="Calibri"/>
                <a:cs typeface="Calibri"/>
              </a:rPr>
              <a:t>agente</a:t>
            </a:r>
            <a:r>
              <a:rPr sz="2800" b="1" i="1" spc="-11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deve</a:t>
            </a:r>
            <a:r>
              <a:rPr sz="2800" spc="-1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tomar</a:t>
            </a:r>
            <a:r>
              <a:rPr sz="2800" spc="-11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para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maximizar</a:t>
            </a:r>
            <a:r>
              <a:rPr sz="2800" b="1" i="1" spc="-8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25" dirty="0">
                <a:solidFill>
                  <a:srgbClr val="00AF50"/>
                </a:solidFill>
                <a:latin typeface="Calibri"/>
                <a:cs typeface="Calibri"/>
              </a:rPr>
              <a:t>as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recompensas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78000" y="1337988"/>
            <a:ext cx="1865249" cy="542854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548753" y="6606337"/>
            <a:ext cx="3543933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alibri"/>
                <a:cs typeface="Calibri"/>
              </a:rPr>
              <a:t>Exemplo: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u="sng" dirty="0">
                <a:solidFill>
                  <a:srgbClr val="944F71"/>
                </a:solidFill>
                <a:uFill>
                  <a:solidFill>
                    <a:srgbClr val="944F71"/>
                  </a:solidFill>
                </a:uFill>
                <a:latin typeface="Calibri"/>
                <a:cs typeface="Calibri"/>
                <a:hlinkClick r:id="rId3"/>
              </a:rPr>
              <a:t>Aprendendo</a:t>
            </a:r>
            <a:r>
              <a:rPr sz="1400" u="sng" spc="-45" dirty="0">
                <a:solidFill>
                  <a:srgbClr val="944F71"/>
                </a:solidFill>
                <a:uFill>
                  <a:solidFill>
                    <a:srgbClr val="944F71"/>
                  </a:solidFill>
                </a:uFill>
                <a:latin typeface="Calibri"/>
                <a:cs typeface="Calibri"/>
                <a:hlinkClick r:id="rId3"/>
              </a:rPr>
              <a:t> </a:t>
            </a:r>
            <a:r>
              <a:rPr sz="1400" u="sng" dirty="0">
                <a:solidFill>
                  <a:srgbClr val="944F71"/>
                </a:solidFill>
                <a:uFill>
                  <a:solidFill>
                    <a:srgbClr val="944F71"/>
                  </a:solidFill>
                </a:uFill>
                <a:latin typeface="Calibri"/>
                <a:cs typeface="Calibri"/>
                <a:hlinkClick r:id="rId3"/>
              </a:rPr>
              <a:t>a</a:t>
            </a:r>
            <a:r>
              <a:rPr sz="1400" u="sng" spc="-15" dirty="0">
                <a:solidFill>
                  <a:srgbClr val="944F71"/>
                </a:solidFill>
                <a:uFill>
                  <a:solidFill>
                    <a:srgbClr val="944F71"/>
                  </a:solidFill>
                </a:uFill>
                <a:latin typeface="Calibri"/>
                <a:cs typeface="Calibri"/>
                <a:hlinkClick r:id="rId3"/>
              </a:rPr>
              <a:t> </a:t>
            </a:r>
            <a:r>
              <a:rPr sz="1400" u="sng" dirty="0">
                <a:solidFill>
                  <a:srgbClr val="944F71"/>
                </a:solidFill>
                <a:uFill>
                  <a:solidFill>
                    <a:srgbClr val="944F71"/>
                  </a:solidFill>
                </a:uFill>
                <a:latin typeface="Calibri"/>
                <a:cs typeface="Calibri"/>
                <a:hlinkClick r:id="rId3"/>
              </a:rPr>
              <a:t>jogar</a:t>
            </a:r>
            <a:r>
              <a:rPr sz="1400" u="sng" spc="-25" dirty="0">
                <a:solidFill>
                  <a:srgbClr val="944F71"/>
                </a:solidFill>
                <a:uFill>
                  <a:solidFill>
                    <a:srgbClr val="944F71"/>
                  </a:solidFill>
                </a:uFill>
                <a:latin typeface="Calibri"/>
                <a:cs typeface="Calibri"/>
                <a:hlinkClick r:id="rId3"/>
              </a:rPr>
              <a:t> </a:t>
            </a:r>
            <a:r>
              <a:rPr sz="1400" u="sng" spc="-10" dirty="0">
                <a:solidFill>
                  <a:srgbClr val="944F71"/>
                </a:solidFill>
                <a:uFill>
                  <a:solidFill>
                    <a:srgbClr val="944F71"/>
                  </a:solidFill>
                </a:uFill>
                <a:latin typeface="Calibri"/>
                <a:cs typeface="Calibri"/>
                <a:hlinkClick r:id="rId3"/>
              </a:rPr>
              <a:t>Pac-</a:t>
            </a:r>
            <a:r>
              <a:rPr sz="1400" u="sng" dirty="0">
                <a:solidFill>
                  <a:srgbClr val="944F71"/>
                </a:solidFill>
                <a:uFill>
                  <a:solidFill>
                    <a:srgbClr val="944F71"/>
                  </a:solidFill>
                </a:uFill>
                <a:latin typeface="Calibri"/>
                <a:cs typeface="Calibri"/>
                <a:hlinkClick r:id="rId3"/>
              </a:rPr>
              <a:t>man</a:t>
            </a:r>
            <a:r>
              <a:rPr sz="1400" u="sng" spc="-20" dirty="0">
                <a:solidFill>
                  <a:srgbClr val="944F71"/>
                </a:solidFill>
                <a:uFill>
                  <a:solidFill>
                    <a:srgbClr val="944F71"/>
                  </a:solidFill>
                </a:uFill>
                <a:latin typeface="Calibri"/>
                <a:cs typeface="Calibri"/>
                <a:hlinkClick r:id="rId3"/>
              </a:rPr>
              <a:t> </a:t>
            </a:r>
            <a:r>
              <a:rPr sz="1400" u="sng" dirty="0">
                <a:solidFill>
                  <a:srgbClr val="944F71"/>
                </a:solidFill>
                <a:uFill>
                  <a:solidFill>
                    <a:srgbClr val="944F71"/>
                  </a:solidFill>
                </a:uFill>
                <a:latin typeface="Calibri"/>
                <a:cs typeface="Calibri"/>
                <a:hlinkClick r:id="rId3"/>
              </a:rPr>
              <a:t>com </a:t>
            </a:r>
            <a:r>
              <a:rPr sz="1400" u="sng" spc="-25" dirty="0">
                <a:solidFill>
                  <a:srgbClr val="944F71"/>
                </a:solidFill>
                <a:uFill>
                  <a:solidFill>
                    <a:srgbClr val="944F71"/>
                  </a:solidFill>
                </a:uFill>
                <a:latin typeface="Calibri"/>
                <a:cs typeface="Calibri"/>
                <a:hlinkClick r:id="rId3"/>
              </a:rPr>
              <a:t>RL</a:t>
            </a:r>
            <a:endParaRPr sz="1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495376"/>
            <a:ext cx="635000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Aprendizado</a:t>
            </a:r>
            <a:r>
              <a:rPr spc="-195" dirty="0"/>
              <a:t> </a:t>
            </a:r>
            <a:r>
              <a:rPr spc="-10" dirty="0"/>
              <a:t>metaheurístico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331711" y="1501521"/>
            <a:ext cx="5615305" cy="403669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0665" marR="5080" indent="-228600">
              <a:lnSpc>
                <a:spcPct val="90000"/>
              </a:lnSpc>
              <a:spcBef>
                <a:spcPts val="430"/>
              </a:spcBef>
              <a:buFont typeface="Arial"/>
              <a:buChar char="•"/>
              <a:tabLst>
                <a:tab pos="241300" algn="l"/>
              </a:tabLst>
            </a:pPr>
            <a:r>
              <a:rPr sz="2800" b="1" i="1" spc="-10" dirty="0">
                <a:latin typeface="Calibri"/>
                <a:cs typeface="Calibri"/>
              </a:rPr>
              <a:t>Metaheurísticas</a:t>
            </a:r>
            <a:r>
              <a:rPr sz="2800" b="1" i="1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são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algoritmos </a:t>
            </a:r>
            <a:r>
              <a:rPr sz="2800" dirty="0">
                <a:latin typeface="Calibri"/>
                <a:cs typeface="Calibri"/>
              </a:rPr>
              <a:t>usados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para</a:t>
            </a:r>
            <a:r>
              <a:rPr sz="2800" spc="-1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encontrar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soluções</a:t>
            </a:r>
            <a:r>
              <a:rPr sz="2800" spc="-11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de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forma</a:t>
            </a:r>
            <a:r>
              <a:rPr sz="2800" b="1" i="1" spc="-80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rápida</a:t>
            </a:r>
            <a:r>
              <a:rPr sz="2800" b="1" i="1" spc="-80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e</a:t>
            </a:r>
            <a:r>
              <a:rPr sz="2800" b="1" i="1" spc="-75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genérica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muitas vezes</a:t>
            </a:r>
            <a:r>
              <a:rPr sz="2800" spc="-120" dirty="0">
                <a:latin typeface="Calibri"/>
                <a:cs typeface="Calibri"/>
              </a:rPr>
              <a:t> </a:t>
            </a:r>
            <a:r>
              <a:rPr sz="2800" b="1" i="1" spc="-20" dirty="0">
                <a:latin typeface="Calibri"/>
                <a:cs typeface="Calibri"/>
              </a:rPr>
              <a:t>sub-</a:t>
            </a:r>
            <a:r>
              <a:rPr sz="2800" b="1" i="1" dirty="0">
                <a:latin typeface="Calibri"/>
                <a:cs typeface="Calibri"/>
              </a:rPr>
              <a:t>ótimas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para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problemas </a:t>
            </a:r>
            <a:r>
              <a:rPr sz="2800" b="1" i="1" spc="-20" dirty="0">
                <a:latin typeface="Calibri"/>
                <a:cs typeface="Calibri"/>
              </a:rPr>
              <a:t>complexos</a:t>
            </a:r>
            <a:r>
              <a:rPr sz="2800" b="1" i="1" spc="-6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de</a:t>
            </a:r>
            <a:r>
              <a:rPr sz="2800" b="1" i="1" spc="-70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otimização.</a:t>
            </a:r>
            <a:endParaRPr sz="2800" dirty="0">
              <a:latin typeface="Calibri"/>
              <a:cs typeface="Calibri"/>
            </a:endParaRPr>
          </a:p>
          <a:p>
            <a:pPr marL="240665" marR="39370" indent="-228600">
              <a:lnSpc>
                <a:spcPct val="90000"/>
              </a:lnSpc>
              <a:spcBef>
                <a:spcPts val="101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São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aplicadas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problemas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onde </a:t>
            </a:r>
            <a:r>
              <a:rPr sz="2800" b="1" i="1" spc="-10" dirty="0">
                <a:solidFill>
                  <a:srgbClr val="6F2F9F"/>
                </a:solidFill>
                <a:latin typeface="Calibri"/>
                <a:cs typeface="Calibri"/>
              </a:rPr>
              <a:t>métodos</a:t>
            </a:r>
            <a:r>
              <a:rPr sz="2800" b="1" i="1" spc="-12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6F2F9F"/>
                </a:solidFill>
                <a:latin typeface="Calibri"/>
                <a:cs typeface="Calibri"/>
              </a:rPr>
              <a:t>convencionais</a:t>
            </a:r>
            <a:r>
              <a:rPr sz="2800" b="1" i="1" spc="-114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são </a:t>
            </a:r>
            <a:r>
              <a:rPr sz="2800" spc="-20" dirty="0">
                <a:latin typeface="Calibri"/>
                <a:cs typeface="Calibri"/>
              </a:rPr>
              <a:t>impraticáveis,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devido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à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b="1" i="1" spc="-20" dirty="0">
                <a:solidFill>
                  <a:srgbClr val="6F2F9F"/>
                </a:solidFill>
                <a:latin typeface="Calibri"/>
                <a:cs typeface="Calibri"/>
              </a:rPr>
              <a:t>alta complexidade</a:t>
            </a:r>
            <a:r>
              <a:rPr sz="2800" spc="-20" dirty="0">
                <a:latin typeface="Calibri"/>
                <a:cs typeface="Calibri"/>
              </a:rPr>
              <a:t>,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ou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espaço</a:t>
            </a:r>
            <a:r>
              <a:rPr sz="2800" b="1" i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de</a:t>
            </a:r>
            <a:r>
              <a:rPr sz="2800" b="1" i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6F2F9F"/>
                </a:solidFill>
                <a:latin typeface="Calibri"/>
                <a:cs typeface="Calibri"/>
              </a:rPr>
              <a:t>busca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é</a:t>
            </a:r>
            <a:r>
              <a:rPr sz="2800" b="1" i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spc="-20" dirty="0">
                <a:solidFill>
                  <a:srgbClr val="6F2F9F"/>
                </a:solidFill>
                <a:latin typeface="Calibri"/>
                <a:cs typeface="Calibri"/>
              </a:rPr>
              <a:t>extremamente</a:t>
            </a:r>
            <a:r>
              <a:rPr sz="2800" b="1" i="1" spc="-1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6F2F9F"/>
                </a:solidFill>
                <a:latin typeface="Calibri"/>
                <a:cs typeface="Calibri"/>
              </a:rPr>
              <a:t>grande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75513" y="1944032"/>
            <a:ext cx="5638165" cy="3992879"/>
            <a:chOff x="375513" y="1944032"/>
            <a:chExt cx="5638165" cy="3992879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5513" y="1944032"/>
              <a:ext cx="2906609" cy="215569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07215" y="4015714"/>
              <a:ext cx="2705853" cy="1920620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788314" y="1551813"/>
            <a:ext cx="183451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bri"/>
                <a:cs typeface="Calibri"/>
              </a:rPr>
              <a:t>Algoritmo</a:t>
            </a:r>
            <a:r>
              <a:rPr sz="1800" b="1" spc="-2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genético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2875" y="5327306"/>
            <a:ext cx="2914650" cy="1333498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209499" y="4688281"/>
            <a:ext cx="243268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bri"/>
                <a:cs typeface="Calibri"/>
              </a:rPr>
              <a:t>Otimização</a:t>
            </a:r>
            <a:r>
              <a:rPr sz="1800" b="1" spc="-7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por</a:t>
            </a:r>
            <a:r>
              <a:rPr sz="1800" b="1" spc="-4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exame</a:t>
            </a:r>
            <a:r>
              <a:rPr sz="1800" b="1" spc="-55" dirty="0">
                <a:latin typeface="Calibri"/>
                <a:cs typeface="Calibri"/>
              </a:rPr>
              <a:t> </a:t>
            </a:r>
            <a:r>
              <a:rPr sz="1800" b="1" spc="-25" dirty="0">
                <a:latin typeface="Calibri"/>
                <a:cs typeface="Calibri"/>
              </a:rPr>
              <a:t>de</a:t>
            </a:r>
            <a:endParaRPr sz="1800">
              <a:latin typeface="Calibri"/>
              <a:cs typeface="Calibri"/>
            </a:endParaRPr>
          </a:p>
          <a:p>
            <a:pPr marL="635" algn="ctr">
              <a:lnSpc>
                <a:spcPct val="100000"/>
              </a:lnSpc>
              <a:spcBef>
                <a:spcPts val="5"/>
              </a:spcBef>
            </a:pPr>
            <a:r>
              <a:rPr sz="1800" b="1" spc="-10" dirty="0">
                <a:latin typeface="Calibri"/>
                <a:cs typeface="Calibri"/>
              </a:rPr>
              <a:t>partículas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521709" y="3375101"/>
            <a:ext cx="2205355" cy="575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bri"/>
                <a:cs typeface="Calibri"/>
              </a:rPr>
              <a:t>Otimização</a:t>
            </a:r>
            <a:r>
              <a:rPr sz="1800" b="1" spc="-6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por</a:t>
            </a:r>
            <a:r>
              <a:rPr sz="1800" b="1" spc="-40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colônia</a:t>
            </a:r>
            <a:endParaRPr sz="1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800" b="1" dirty="0">
                <a:latin typeface="Calibri"/>
                <a:cs typeface="Calibri"/>
              </a:rPr>
              <a:t>de</a:t>
            </a:r>
            <a:r>
              <a:rPr sz="1800" b="1" spc="-10" dirty="0">
                <a:latin typeface="Calibri"/>
                <a:cs typeface="Calibri"/>
              </a:rPr>
              <a:t> formigas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Aprendizado</a:t>
            </a:r>
            <a:r>
              <a:rPr spc="-195" dirty="0"/>
              <a:t> </a:t>
            </a:r>
            <a:r>
              <a:rPr spc="-10" dirty="0"/>
              <a:t>metaheurístico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56830"/>
            <a:ext cx="10819130" cy="4381500"/>
          </a:xfrm>
          <a:prstGeom prst="rect">
            <a:avLst/>
          </a:prstGeom>
        </p:spPr>
        <p:txBody>
          <a:bodyPr vert="horz" wrap="square" lIns="0" tIns="48894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384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Características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das</a:t>
            </a:r>
            <a:r>
              <a:rPr sz="2800" spc="-1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metaheurísticas:</a:t>
            </a:r>
            <a:endParaRPr sz="2800" dirty="0">
              <a:latin typeface="Calibri"/>
              <a:cs typeface="Calibri"/>
            </a:endParaRPr>
          </a:p>
          <a:p>
            <a:pPr marL="698500" marR="351790" lvl="1" indent="-228600">
              <a:lnSpc>
                <a:spcPts val="2590"/>
              </a:lnSpc>
              <a:spcBef>
                <a:spcPts val="575"/>
              </a:spcBef>
              <a:buFont typeface="Wingdings"/>
              <a:buChar char="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não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garantem</a:t>
            </a:r>
            <a:r>
              <a:rPr sz="2400" b="1" i="1" spc="-4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que</a:t>
            </a:r>
            <a:r>
              <a:rPr sz="2400" b="1" i="1" spc="-4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uma</a:t>
            </a:r>
            <a:r>
              <a:rPr sz="2400" b="1" i="1" spc="-4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solução</a:t>
            </a:r>
            <a:r>
              <a:rPr sz="2400" b="1" i="1" spc="-2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ótima</a:t>
            </a:r>
            <a:r>
              <a:rPr sz="2400" b="1" i="1" spc="-2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seja</a:t>
            </a:r>
            <a:r>
              <a:rPr sz="2400" b="1" i="1" spc="-4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encontrada</a:t>
            </a:r>
            <a:r>
              <a:rPr sz="2400" dirty="0">
                <a:latin typeface="Calibri"/>
                <a:cs typeface="Calibri"/>
              </a:rPr>
              <a:t>,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podem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encontrar </a:t>
            </a:r>
            <a:r>
              <a:rPr sz="2400" dirty="0">
                <a:latin typeface="Calibri"/>
                <a:cs typeface="Calibri"/>
              </a:rPr>
              <a:t>uma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solução</a:t>
            </a:r>
            <a:r>
              <a:rPr sz="2400" b="1" i="1" spc="-15" dirty="0">
                <a:latin typeface="Calibri"/>
                <a:cs typeface="Calibri"/>
              </a:rPr>
              <a:t> </a:t>
            </a:r>
            <a:r>
              <a:rPr sz="2400" b="1" i="1" spc="-10" dirty="0">
                <a:latin typeface="Calibri"/>
                <a:cs typeface="Calibri"/>
              </a:rPr>
              <a:t>suficientemente</a:t>
            </a:r>
            <a:r>
              <a:rPr sz="2400" b="1" i="1" spc="-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boa</a:t>
            </a:r>
            <a:r>
              <a:rPr sz="2400" b="1" i="1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(i.e.,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sub-ótima).</a:t>
            </a:r>
            <a:endParaRPr sz="24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180"/>
              </a:spcBef>
              <a:buFont typeface="Wingdings"/>
              <a:buChar char="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são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estratégias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que</a:t>
            </a:r>
            <a:r>
              <a:rPr sz="2400" b="1" i="1" spc="-3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orientam</a:t>
            </a:r>
            <a:r>
              <a:rPr sz="2400" b="1" i="1" spc="-1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o</a:t>
            </a:r>
            <a:r>
              <a:rPr sz="2400" b="1" i="1" spc="-2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processo</a:t>
            </a:r>
            <a:r>
              <a:rPr sz="2400" b="1" i="1" spc="-1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de</a:t>
            </a:r>
            <a:r>
              <a:rPr sz="2400" b="1" i="1" spc="-3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busca</a:t>
            </a:r>
            <a:r>
              <a:rPr sz="2400" b="1" i="1" spc="-2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através</a:t>
            </a:r>
            <a:r>
              <a:rPr sz="2400" b="1" i="1" spc="-3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do</a:t>
            </a:r>
            <a:r>
              <a:rPr sz="2400" b="1" i="1" spc="-2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espaço</a:t>
            </a:r>
            <a:r>
              <a:rPr sz="2400" b="1" i="1" spc="-3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de</a:t>
            </a:r>
            <a:r>
              <a:rPr sz="2400" b="1" i="1" spc="-30" dirty="0">
                <a:latin typeface="Calibri"/>
                <a:cs typeface="Calibri"/>
              </a:rPr>
              <a:t> </a:t>
            </a:r>
            <a:r>
              <a:rPr sz="2400" b="1" i="1" spc="-10" dirty="0">
                <a:latin typeface="Calibri"/>
                <a:cs typeface="Calibri"/>
              </a:rPr>
              <a:t>soluções</a:t>
            </a:r>
            <a:r>
              <a:rPr sz="2400" spc="-10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00"/>
              </a:spcBef>
              <a:buFont typeface="Wingdings"/>
              <a:buChar char="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não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são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específicas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um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problema,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ou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seja,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são</a:t>
            </a:r>
            <a:r>
              <a:rPr sz="2400" b="1" i="1" spc="-35" dirty="0">
                <a:latin typeface="Calibri"/>
                <a:cs typeface="Calibri"/>
              </a:rPr>
              <a:t> </a:t>
            </a:r>
            <a:r>
              <a:rPr sz="2400" b="1" i="1" spc="-10" dirty="0">
                <a:latin typeface="Calibri"/>
                <a:cs typeface="Calibri"/>
              </a:rPr>
              <a:t>genéricas</a:t>
            </a:r>
            <a:r>
              <a:rPr sz="2400" spc="-10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698500" lvl="1" indent="-229235">
              <a:lnSpc>
                <a:spcPts val="2735"/>
              </a:lnSpc>
              <a:spcBef>
                <a:spcPts val="220"/>
              </a:spcBef>
              <a:buFont typeface="Wingdings"/>
              <a:buChar char="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funcionam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bem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mesmo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em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dispositivos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capacidade</a:t>
            </a:r>
            <a:r>
              <a:rPr sz="2400" b="1" i="1" spc="-7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computacional</a:t>
            </a:r>
            <a:r>
              <a:rPr sz="2400" b="1" i="1" spc="-50" dirty="0">
                <a:latin typeface="Calibri"/>
                <a:cs typeface="Calibri"/>
              </a:rPr>
              <a:t> </a:t>
            </a:r>
            <a:r>
              <a:rPr sz="2400" b="1" i="1" spc="-10" dirty="0">
                <a:latin typeface="Calibri"/>
                <a:cs typeface="Calibri"/>
              </a:rPr>
              <a:t>limitada</a:t>
            </a:r>
            <a:endParaRPr sz="2400" dirty="0">
              <a:latin typeface="Calibri"/>
              <a:cs typeface="Calibri"/>
            </a:endParaRPr>
          </a:p>
          <a:p>
            <a:pPr marL="698500">
              <a:lnSpc>
                <a:spcPts val="2735"/>
              </a:lnSpc>
            </a:pPr>
            <a:r>
              <a:rPr sz="2400" dirty="0">
                <a:latin typeface="Calibri"/>
                <a:cs typeface="Calibri"/>
              </a:rPr>
              <a:t>(e.g.,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dispositivos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IoT).</a:t>
            </a:r>
            <a:endParaRPr sz="2400" dirty="0">
              <a:latin typeface="Calibri"/>
              <a:cs typeface="Calibri"/>
            </a:endParaRPr>
          </a:p>
          <a:p>
            <a:pPr marL="241300" marR="789940" indent="-228600">
              <a:lnSpc>
                <a:spcPct val="90000"/>
              </a:lnSpc>
              <a:spcBef>
                <a:spcPts val="97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São,</a:t>
            </a:r>
            <a:r>
              <a:rPr sz="2800" spc="-1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em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sua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grande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maioria,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algoritmos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inspirados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pelo</a:t>
            </a:r>
            <a:r>
              <a:rPr sz="2800" spc="-14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processo</a:t>
            </a:r>
            <a:r>
              <a:rPr sz="2800" b="1" i="1" spc="-105" dirty="0">
                <a:latin typeface="Calibri"/>
                <a:cs typeface="Calibri"/>
              </a:rPr>
              <a:t> </a:t>
            </a:r>
            <a:r>
              <a:rPr sz="2800" b="1" i="1" spc="-25" dirty="0">
                <a:latin typeface="Calibri"/>
                <a:cs typeface="Calibri"/>
              </a:rPr>
              <a:t>de </a:t>
            </a:r>
            <a:r>
              <a:rPr sz="2800" b="1" i="1" dirty="0">
                <a:latin typeface="Calibri"/>
                <a:cs typeface="Calibri"/>
              </a:rPr>
              <a:t>seleção</a:t>
            </a:r>
            <a:r>
              <a:rPr sz="2800" b="1" i="1" spc="-6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natural</a:t>
            </a:r>
            <a:r>
              <a:rPr sz="2800" b="1" i="1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(e.g.,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algoritmo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genético)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ou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b="1" i="1" spc="-20" dirty="0">
                <a:latin typeface="Calibri"/>
                <a:cs typeface="Calibri"/>
              </a:rPr>
              <a:t>comportamento</a:t>
            </a:r>
            <a:r>
              <a:rPr sz="2800" b="1" i="1" spc="-70" dirty="0">
                <a:latin typeface="Calibri"/>
                <a:cs typeface="Calibri"/>
              </a:rPr>
              <a:t> </a:t>
            </a:r>
            <a:r>
              <a:rPr sz="2800" b="1" i="1" spc="-25" dirty="0">
                <a:latin typeface="Calibri"/>
                <a:cs typeface="Calibri"/>
              </a:rPr>
              <a:t>de </a:t>
            </a:r>
            <a:r>
              <a:rPr sz="2800" b="1" i="1" dirty="0">
                <a:latin typeface="Calibri"/>
                <a:cs typeface="Calibri"/>
              </a:rPr>
              <a:t>grupos</a:t>
            </a:r>
            <a:r>
              <a:rPr sz="2800" b="1" i="1" spc="-7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de</a:t>
            </a:r>
            <a:r>
              <a:rPr sz="2800" b="1" i="1" spc="-8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animais</a:t>
            </a:r>
            <a:r>
              <a:rPr sz="2800" b="1" i="1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(e.g.,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algoritmos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otimização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por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exame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de </a:t>
            </a:r>
            <a:r>
              <a:rPr sz="2800" dirty="0">
                <a:latin typeface="Calibri"/>
                <a:cs typeface="Calibri"/>
              </a:rPr>
              <a:t>partículas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por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colônia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formigas).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Executando</a:t>
            </a:r>
            <a:r>
              <a:rPr spc="-210" dirty="0"/>
              <a:t> </a:t>
            </a:r>
            <a:r>
              <a:rPr spc="-10" dirty="0"/>
              <a:t>códigos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635502" y="1759966"/>
            <a:ext cx="8190865" cy="4861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28600" marR="384175" indent="-229235" algn="r">
              <a:lnSpc>
                <a:spcPts val="3329"/>
              </a:lnSpc>
              <a:spcBef>
                <a:spcPts val="95"/>
              </a:spcBef>
              <a:buFont typeface="Arial"/>
              <a:buChar char="•"/>
              <a:tabLst>
                <a:tab pos="229235" algn="l"/>
              </a:tabLst>
            </a:pPr>
            <a:r>
              <a:rPr sz="2800" dirty="0">
                <a:latin typeface="Calibri"/>
                <a:cs typeface="Calibri"/>
              </a:rPr>
              <a:t>Usaremos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Python</a:t>
            </a:r>
            <a:r>
              <a:rPr sz="2800" b="1" i="1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como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linguagem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programação.</a:t>
            </a:r>
            <a:endParaRPr sz="2800" dirty="0">
              <a:latin typeface="Calibri"/>
              <a:cs typeface="Calibri"/>
            </a:endParaRPr>
          </a:p>
          <a:p>
            <a:pPr marL="228600" marR="385445" lvl="1" indent="-228600" algn="r">
              <a:lnSpc>
                <a:spcPts val="2565"/>
              </a:lnSpc>
              <a:buFont typeface="Wingdings"/>
              <a:buChar char=""/>
              <a:tabLst>
                <a:tab pos="228600" algn="l"/>
              </a:tabLst>
            </a:pPr>
            <a:r>
              <a:rPr sz="2400" dirty="0">
                <a:latin typeface="Calibri"/>
                <a:cs typeface="Calibri"/>
              </a:rPr>
              <a:t>Fácil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aprender,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possui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várias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bibliotecas,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é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linguagem</a:t>
            </a:r>
            <a:endParaRPr sz="2400" dirty="0">
              <a:latin typeface="Calibri"/>
              <a:cs typeface="Calibri"/>
            </a:endParaRPr>
          </a:p>
          <a:p>
            <a:pPr marL="698500">
              <a:lnSpc>
                <a:spcPts val="2595"/>
              </a:lnSpc>
            </a:pPr>
            <a:r>
              <a:rPr sz="2400" dirty="0">
                <a:latin typeface="Calibri"/>
                <a:cs typeface="Calibri"/>
              </a:rPr>
              <a:t>mais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utilizada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em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ML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é </a:t>
            </a:r>
            <a:r>
              <a:rPr sz="2400" i="1" spc="-10" dirty="0">
                <a:latin typeface="Calibri"/>
                <a:cs typeface="Calibri"/>
              </a:rPr>
              <a:t>open-</a:t>
            </a:r>
            <a:r>
              <a:rPr sz="2400" i="1" dirty="0">
                <a:latin typeface="Calibri"/>
                <a:cs typeface="Calibri"/>
              </a:rPr>
              <a:t>source </a:t>
            </a:r>
            <a:r>
              <a:rPr sz="2400" dirty="0">
                <a:latin typeface="Calibri"/>
                <a:cs typeface="Calibri"/>
              </a:rPr>
              <a:t>e </a:t>
            </a:r>
            <a:r>
              <a:rPr sz="2400" spc="-10" dirty="0">
                <a:latin typeface="Calibri"/>
                <a:cs typeface="Calibri"/>
              </a:rPr>
              <a:t>gratuita.</a:t>
            </a:r>
            <a:endParaRPr sz="2400" dirty="0">
              <a:latin typeface="Calibri"/>
              <a:cs typeface="Calibri"/>
            </a:endParaRPr>
          </a:p>
          <a:p>
            <a:pPr marL="241300" indent="-229235">
              <a:lnSpc>
                <a:spcPts val="3025"/>
              </a:lnSpc>
              <a:spcBef>
                <a:spcPts val="309"/>
              </a:spcBef>
              <a:buFont typeface="Arial"/>
              <a:buChar char="•"/>
              <a:tabLst>
                <a:tab pos="241935" algn="l"/>
              </a:tabLst>
            </a:pPr>
            <a:r>
              <a:rPr sz="2800" dirty="0">
                <a:latin typeface="Calibri"/>
                <a:cs typeface="Calibri"/>
              </a:rPr>
              <a:t>Usaremos</a:t>
            </a:r>
            <a:r>
              <a:rPr sz="2800" spc="-110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documentos</a:t>
            </a:r>
            <a:r>
              <a:rPr sz="2800" b="1" i="1" spc="-12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virtuais</a:t>
            </a:r>
            <a:r>
              <a:rPr sz="2800" b="1" i="1" spc="-1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chamados</a:t>
            </a:r>
            <a:endParaRPr sz="2800" dirty="0">
              <a:latin typeface="Calibri"/>
              <a:cs typeface="Calibri"/>
            </a:endParaRPr>
          </a:p>
          <a:p>
            <a:pPr marL="241300" marR="1257935">
              <a:lnSpc>
                <a:spcPts val="2690"/>
              </a:lnSpc>
              <a:spcBef>
                <a:spcPts val="310"/>
              </a:spcBef>
            </a:pPr>
            <a:r>
              <a:rPr sz="2800" dirty="0">
                <a:latin typeface="Calibri"/>
                <a:cs typeface="Calibri"/>
              </a:rPr>
              <a:t>de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notebooks</a:t>
            </a:r>
            <a:r>
              <a:rPr sz="2800" b="1" i="1" spc="-10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Jupyter</a:t>
            </a:r>
            <a:r>
              <a:rPr sz="2800" b="1" i="1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para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desenvolvimento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e </a:t>
            </a:r>
            <a:r>
              <a:rPr sz="2800" spc="-10" dirty="0">
                <a:latin typeface="Calibri"/>
                <a:cs typeface="Calibri"/>
              </a:rPr>
              <a:t>documentação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código.</a:t>
            </a:r>
            <a:endParaRPr sz="2800" dirty="0">
              <a:latin typeface="Calibri"/>
              <a:cs typeface="Calibri"/>
            </a:endParaRPr>
          </a:p>
          <a:p>
            <a:pPr marL="698500" marR="720090" lvl="1" indent="-228600">
              <a:lnSpc>
                <a:spcPct val="80000"/>
              </a:lnSpc>
              <a:spcBef>
                <a:spcPts val="540"/>
              </a:spcBef>
              <a:buFont typeface="Wingdings"/>
              <a:buChar char="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Podemos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adicionar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equações,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gráficos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texto,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além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de </a:t>
            </a:r>
            <a:r>
              <a:rPr sz="2400" spc="-10" dirty="0">
                <a:latin typeface="Calibri"/>
                <a:cs typeface="Calibri"/>
              </a:rPr>
              <a:t>código.</a:t>
            </a:r>
            <a:endParaRPr sz="2400" dirty="0">
              <a:latin typeface="Calibri"/>
              <a:cs typeface="Calibri"/>
            </a:endParaRPr>
          </a:p>
          <a:p>
            <a:pPr marL="241300" marR="5080" indent="-229235">
              <a:lnSpc>
                <a:spcPct val="80000"/>
              </a:lnSpc>
              <a:spcBef>
                <a:spcPts val="980"/>
              </a:spcBef>
              <a:buFont typeface="Arial"/>
              <a:buChar char="•"/>
              <a:tabLst>
                <a:tab pos="241935" algn="l"/>
              </a:tabLst>
            </a:pPr>
            <a:r>
              <a:rPr sz="2800" spc="-20" dirty="0">
                <a:latin typeface="Calibri"/>
                <a:cs typeface="Calibri"/>
              </a:rPr>
              <a:t>Para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40" dirty="0">
                <a:latin typeface="Calibri"/>
                <a:cs typeface="Calibri"/>
              </a:rPr>
              <a:t>executá-</a:t>
            </a:r>
            <a:r>
              <a:rPr sz="2800" dirty="0">
                <a:latin typeface="Calibri"/>
                <a:cs typeface="Calibri"/>
              </a:rPr>
              <a:t>los,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usaremos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Google</a:t>
            </a:r>
            <a:r>
              <a:rPr sz="2800" b="1" i="1" spc="-75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Colaboratory</a:t>
            </a:r>
            <a:r>
              <a:rPr sz="2800" spc="-10" dirty="0">
                <a:latin typeface="Calibri"/>
                <a:cs typeface="Calibri"/>
              </a:rPr>
              <a:t>,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ambiente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computacional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gratuito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hospedado </a:t>
            </a:r>
            <a:r>
              <a:rPr sz="2800" dirty="0">
                <a:latin typeface="Calibri"/>
                <a:cs typeface="Calibri"/>
              </a:rPr>
              <a:t>na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nuvem.</a:t>
            </a:r>
            <a:endParaRPr sz="2800" dirty="0">
              <a:latin typeface="Calibri"/>
              <a:cs typeface="Calibri"/>
            </a:endParaRPr>
          </a:p>
          <a:p>
            <a:pPr marL="241300" marR="410845" indent="-229235">
              <a:lnSpc>
                <a:spcPct val="80000"/>
              </a:lnSpc>
              <a:spcBef>
                <a:spcPts val="1000"/>
              </a:spcBef>
              <a:buFont typeface="Arial"/>
              <a:buChar char="•"/>
              <a:tabLst>
                <a:tab pos="241935" algn="l"/>
              </a:tabLst>
            </a:pPr>
            <a:r>
              <a:rPr sz="2800" spc="-25" dirty="0">
                <a:latin typeface="Calibri"/>
                <a:cs typeface="Calibri"/>
              </a:rPr>
              <a:t>Portanto,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vocês</a:t>
            </a:r>
            <a:r>
              <a:rPr sz="2800" b="1" i="1" spc="-8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não</a:t>
            </a:r>
            <a:r>
              <a:rPr sz="2800" b="1" i="1" spc="-8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precisam</a:t>
            </a:r>
            <a:r>
              <a:rPr sz="2800" b="1" i="1" spc="-85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instalar</a:t>
            </a:r>
            <a:r>
              <a:rPr sz="2800" b="1" i="1" spc="-8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nada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apenas </a:t>
            </a:r>
            <a:r>
              <a:rPr sz="2800" dirty="0">
                <a:latin typeface="Calibri"/>
                <a:cs typeface="Calibri"/>
              </a:rPr>
              <a:t>terem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navegador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web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conexão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internet.</a:t>
            </a:r>
            <a:endParaRPr sz="28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9356" y="2831286"/>
            <a:ext cx="913440" cy="1053402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1169771" y="2854337"/>
            <a:ext cx="2243455" cy="902335"/>
            <a:chOff x="1169771" y="2854337"/>
            <a:chExt cx="2243455" cy="902335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29893" y="2854337"/>
              <a:ext cx="1982753" cy="901966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176121" y="3169919"/>
              <a:ext cx="311785" cy="377190"/>
            </a:xfrm>
            <a:custGeom>
              <a:avLst/>
              <a:gdLst/>
              <a:ahLst/>
              <a:cxnLst/>
              <a:rect l="l" t="t" r="r" b="b"/>
              <a:pathLst>
                <a:path w="311784" h="377189">
                  <a:moveTo>
                    <a:pt x="311683" y="138430"/>
                  </a:moveTo>
                  <a:lnTo>
                    <a:pt x="205765" y="138430"/>
                  </a:lnTo>
                  <a:lnTo>
                    <a:pt x="205765" y="0"/>
                  </a:lnTo>
                  <a:lnTo>
                    <a:pt x="105943" y="0"/>
                  </a:lnTo>
                  <a:lnTo>
                    <a:pt x="105943" y="138430"/>
                  </a:lnTo>
                  <a:lnTo>
                    <a:pt x="0" y="138430"/>
                  </a:lnTo>
                  <a:lnTo>
                    <a:pt x="0" y="237490"/>
                  </a:lnTo>
                  <a:lnTo>
                    <a:pt x="105943" y="237490"/>
                  </a:lnTo>
                  <a:lnTo>
                    <a:pt x="105943" y="377190"/>
                  </a:lnTo>
                  <a:lnTo>
                    <a:pt x="205765" y="377190"/>
                  </a:lnTo>
                  <a:lnTo>
                    <a:pt x="205765" y="237490"/>
                  </a:lnTo>
                  <a:lnTo>
                    <a:pt x="311683" y="237490"/>
                  </a:lnTo>
                  <a:lnTo>
                    <a:pt x="311683" y="13843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176121" y="3169285"/>
              <a:ext cx="311785" cy="377825"/>
            </a:xfrm>
            <a:custGeom>
              <a:avLst/>
              <a:gdLst/>
              <a:ahLst/>
              <a:cxnLst/>
              <a:rect l="l" t="t" r="r" b="b"/>
              <a:pathLst>
                <a:path w="311784" h="377825">
                  <a:moveTo>
                    <a:pt x="0" y="138811"/>
                  </a:moveTo>
                  <a:lnTo>
                    <a:pt x="105943" y="138811"/>
                  </a:lnTo>
                  <a:lnTo>
                    <a:pt x="105943" y="0"/>
                  </a:lnTo>
                  <a:lnTo>
                    <a:pt x="205765" y="0"/>
                  </a:lnTo>
                  <a:lnTo>
                    <a:pt x="205765" y="138811"/>
                  </a:lnTo>
                  <a:lnTo>
                    <a:pt x="311683" y="138811"/>
                  </a:lnTo>
                  <a:lnTo>
                    <a:pt x="311683" y="238632"/>
                  </a:lnTo>
                  <a:lnTo>
                    <a:pt x="205765" y="238632"/>
                  </a:lnTo>
                  <a:lnTo>
                    <a:pt x="205765" y="377443"/>
                  </a:lnTo>
                  <a:lnTo>
                    <a:pt x="105943" y="377443"/>
                  </a:lnTo>
                  <a:lnTo>
                    <a:pt x="105943" y="238632"/>
                  </a:lnTo>
                  <a:lnTo>
                    <a:pt x="0" y="238632"/>
                  </a:lnTo>
                  <a:lnTo>
                    <a:pt x="0" y="138811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92505" y="4530280"/>
            <a:ext cx="1384427" cy="572198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1326133" y="4059046"/>
            <a:ext cx="582930" cy="347980"/>
            <a:chOff x="1326133" y="4059046"/>
            <a:chExt cx="582930" cy="347980"/>
          </a:xfrm>
        </p:grpSpPr>
        <p:sp>
          <p:nvSpPr>
            <p:cNvPr id="11" name="object 11"/>
            <p:cNvSpPr/>
            <p:nvPr/>
          </p:nvSpPr>
          <p:spPr>
            <a:xfrm>
              <a:off x="1332483" y="4065396"/>
              <a:ext cx="570230" cy="335280"/>
            </a:xfrm>
            <a:custGeom>
              <a:avLst/>
              <a:gdLst/>
              <a:ahLst/>
              <a:cxnLst/>
              <a:rect l="l" t="t" r="r" b="b"/>
              <a:pathLst>
                <a:path w="570230" h="335279">
                  <a:moveTo>
                    <a:pt x="427228" y="0"/>
                  </a:moveTo>
                  <a:lnTo>
                    <a:pt x="142366" y="0"/>
                  </a:lnTo>
                  <a:lnTo>
                    <a:pt x="142366" y="167385"/>
                  </a:lnTo>
                  <a:lnTo>
                    <a:pt x="0" y="167385"/>
                  </a:lnTo>
                  <a:lnTo>
                    <a:pt x="284860" y="334771"/>
                  </a:lnTo>
                  <a:lnTo>
                    <a:pt x="569722" y="167385"/>
                  </a:lnTo>
                  <a:lnTo>
                    <a:pt x="427228" y="167385"/>
                  </a:lnTo>
                  <a:lnTo>
                    <a:pt x="427228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332483" y="4065396"/>
              <a:ext cx="570230" cy="335280"/>
            </a:xfrm>
            <a:custGeom>
              <a:avLst/>
              <a:gdLst/>
              <a:ahLst/>
              <a:cxnLst/>
              <a:rect l="l" t="t" r="r" b="b"/>
              <a:pathLst>
                <a:path w="570230" h="335279">
                  <a:moveTo>
                    <a:pt x="0" y="167385"/>
                  </a:moveTo>
                  <a:lnTo>
                    <a:pt x="142366" y="167385"/>
                  </a:lnTo>
                  <a:lnTo>
                    <a:pt x="142366" y="0"/>
                  </a:lnTo>
                  <a:lnTo>
                    <a:pt x="427228" y="0"/>
                  </a:lnTo>
                  <a:lnTo>
                    <a:pt x="427228" y="167385"/>
                  </a:lnTo>
                  <a:lnTo>
                    <a:pt x="569722" y="167385"/>
                  </a:lnTo>
                  <a:lnTo>
                    <a:pt x="284860" y="334771"/>
                  </a:lnTo>
                  <a:lnTo>
                    <a:pt x="0" y="167385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Goolge</a:t>
            </a:r>
            <a:r>
              <a:rPr spc="-120" dirty="0"/>
              <a:t> </a:t>
            </a:r>
            <a:r>
              <a:rPr dirty="0"/>
              <a:t>Colaboratory</a:t>
            </a:r>
            <a:r>
              <a:rPr spc="-125" dirty="0"/>
              <a:t> </a:t>
            </a:r>
            <a:r>
              <a:rPr spc="-10" dirty="0"/>
              <a:t>(Colab)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2222119"/>
            <a:ext cx="10553700" cy="45415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indent="-228600">
              <a:lnSpc>
                <a:spcPts val="2965"/>
              </a:lnSpc>
              <a:spcBef>
                <a:spcPts val="105"/>
              </a:spcBef>
              <a:buFont typeface="Arial"/>
              <a:buChar char="•"/>
              <a:tabLst>
                <a:tab pos="241300" algn="l"/>
              </a:tabLst>
            </a:pPr>
            <a:r>
              <a:rPr sz="2600" b="1" dirty="0">
                <a:latin typeface="Calibri"/>
                <a:cs typeface="Calibri"/>
              </a:rPr>
              <a:t>Colab</a:t>
            </a:r>
            <a:r>
              <a:rPr sz="2600" dirty="0">
                <a:latin typeface="Calibri"/>
                <a:cs typeface="Calibri"/>
              </a:rPr>
              <a:t>: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aplicação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web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gratuita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que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permite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criação,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edição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execução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de</a:t>
            </a:r>
            <a:endParaRPr sz="2600" dirty="0">
              <a:latin typeface="Calibri"/>
              <a:cs typeface="Calibri"/>
            </a:endParaRPr>
          </a:p>
          <a:p>
            <a:pPr marL="241300">
              <a:lnSpc>
                <a:spcPts val="2965"/>
              </a:lnSpc>
            </a:pPr>
            <a:r>
              <a:rPr sz="2600" b="1" i="1" dirty="0">
                <a:latin typeface="Calibri"/>
                <a:cs typeface="Calibri"/>
              </a:rPr>
              <a:t>notebooks</a:t>
            </a:r>
            <a:r>
              <a:rPr sz="2600" b="1" i="1" spc="-5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Jupyter</a:t>
            </a:r>
            <a:r>
              <a:rPr sz="2600" b="1" i="1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em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navegadores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web.</a:t>
            </a:r>
            <a:endParaRPr sz="26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85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É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um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produto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da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Google.</a:t>
            </a:r>
            <a:endParaRPr sz="26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95"/>
              </a:spcBef>
              <a:buFont typeface="Arial"/>
              <a:buChar char="•"/>
              <a:tabLst>
                <a:tab pos="241300" algn="l"/>
              </a:tabLst>
            </a:pPr>
            <a:r>
              <a:rPr sz="2600" spc="-10" dirty="0">
                <a:latin typeface="Calibri"/>
                <a:cs typeface="Calibri"/>
              </a:rPr>
              <a:t>Vantagens:</a:t>
            </a:r>
            <a:endParaRPr sz="26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54"/>
              </a:spcBef>
              <a:buFont typeface="Wingdings"/>
              <a:buChar char=""/>
              <a:tabLst>
                <a:tab pos="699135" algn="l"/>
              </a:tabLst>
            </a:pPr>
            <a:r>
              <a:rPr sz="2200" spc="-10" dirty="0">
                <a:latin typeface="Calibri"/>
                <a:cs typeface="Calibri"/>
              </a:rPr>
              <a:t>Grande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número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servidores.</a:t>
            </a:r>
            <a:endParaRPr sz="22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44"/>
              </a:spcBef>
              <a:buFont typeface="Wingdings"/>
              <a:buChar char=""/>
              <a:tabLst>
                <a:tab pos="699135" algn="l"/>
              </a:tabLst>
            </a:pPr>
            <a:r>
              <a:rPr sz="2200" dirty="0">
                <a:latin typeface="Calibri"/>
                <a:cs typeface="Calibri"/>
              </a:rPr>
              <a:t>Rápida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inicialização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processamento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do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código.</a:t>
            </a:r>
            <a:endParaRPr sz="22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25"/>
              </a:spcBef>
              <a:buFont typeface="Wingdings"/>
              <a:buChar char=""/>
              <a:tabLst>
                <a:tab pos="699135" algn="l"/>
              </a:tabLst>
            </a:pPr>
            <a:r>
              <a:rPr sz="2200" dirty="0">
                <a:latin typeface="Calibri"/>
                <a:cs typeface="Calibri"/>
              </a:rPr>
              <a:t>Fornece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acesso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GPUs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TPUs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gratuitamente.</a:t>
            </a:r>
            <a:endParaRPr sz="22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40"/>
              </a:spcBef>
              <a:buFont typeface="Wingdings"/>
              <a:buChar char=""/>
              <a:tabLst>
                <a:tab pos="699135" algn="l"/>
              </a:tabLst>
            </a:pPr>
            <a:r>
              <a:rPr sz="2200" dirty="0">
                <a:latin typeface="Calibri"/>
                <a:cs typeface="Calibri"/>
              </a:rPr>
              <a:t>Notebooks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podem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ser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salvos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no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seu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Google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Drive,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evitando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que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você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perca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seu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código.</a:t>
            </a:r>
            <a:endParaRPr sz="22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70"/>
              </a:spcBef>
              <a:buFont typeface="Arial"/>
              <a:buChar char="•"/>
              <a:tabLst>
                <a:tab pos="241300" algn="l"/>
              </a:tabLst>
            </a:pPr>
            <a:r>
              <a:rPr sz="2600" spc="-10" dirty="0">
                <a:latin typeface="Calibri"/>
                <a:cs typeface="Calibri"/>
              </a:rPr>
              <a:t>Desvantagem</a:t>
            </a:r>
            <a:endParaRPr sz="26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59"/>
              </a:spcBef>
              <a:buFont typeface="Wingdings"/>
              <a:buChar char=""/>
              <a:tabLst>
                <a:tab pos="699135" algn="l"/>
              </a:tabLst>
            </a:pPr>
            <a:r>
              <a:rPr sz="2200" dirty="0">
                <a:latin typeface="Calibri"/>
                <a:cs typeface="Calibri"/>
              </a:rPr>
              <a:t>Por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hora,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suporta</a:t>
            </a:r>
            <a:r>
              <a:rPr sz="2200" spc="-8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apenas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execução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códigos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escritos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em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Python.</a:t>
            </a:r>
            <a:endParaRPr sz="22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65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URL: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https://colab.research.google.com/</a:t>
            </a:r>
            <a:endParaRPr sz="26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004809" y="283336"/>
            <a:ext cx="3864863" cy="1489075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Exemplo</a:t>
            </a:r>
            <a:r>
              <a:rPr spc="-105" dirty="0"/>
              <a:t> </a:t>
            </a:r>
            <a:r>
              <a:rPr dirty="0"/>
              <a:t>de</a:t>
            </a:r>
            <a:r>
              <a:rPr spc="-60" dirty="0"/>
              <a:t> </a:t>
            </a:r>
            <a:r>
              <a:rPr dirty="0"/>
              <a:t>uso</a:t>
            </a:r>
            <a:r>
              <a:rPr spc="-60" dirty="0"/>
              <a:t> </a:t>
            </a:r>
            <a:r>
              <a:rPr dirty="0"/>
              <a:t>dos</a:t>
            </a:r>
            <a:r>
              <a:rPr spc="-70" dirty="0"/>
              <a:t> </a:t>
            </a:r>
            <a:r>
              <a:rPr dirty="0"/>
              <a:t>notebooks</a:t>
            </a:r>
            <a:r>
              <a:rPr spc="-45" dirty="0"/>
              <a:t> </a:t>
            </a:r>
            <a:r>
              <a:rPr spc="-10" dirty="0"/>
              <a:t>Jupyter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23722" y="1978112"/>
            <a:ext cx="1500519" cy="1625679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5104003" y="2013564"/>
            <a:ext cx="3680460" cy="1391920"/>
            <a:chOff x="5104003" y="2013564"/>
            <a:chExt cx="3680460" cy="139192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27167" y="2013564"/>
              <a:ext cx="3257124" cy="1391907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110353" y="2499359"/>
              <a:ext cx="512445" cy="582930"/>
            </a:xfrm>
            <a:custGeom>
              <a:avLst/>
              <a:gdLst/>
              <a:ahLst/>
              <a:cxnLst/>
              <a:rect l="l" t="t" r="r" b="b"/>
              <a:pathLst>
                <a:path w="512445" h="582930">
                  <a:moveTo>
                    <a:pt x="512191" y="209550"/>
                  </a:moveTo>
                  <a:lnTo>
                    <a:pt x="338074" y="209550"/>
                  </a:lnTo>
                  <a:lnTo>
                    <a:pt x="338074" y="0"/>
                  </a:lnTo>
                  <a:lnTo>
                    <a:pt x="174117" y="0"/>
                  </a:lnTo>
                  <a:lnTo>
                    <a:pt x="174117" y="209550"/>
                  </a:lnTo>
                  <a:lnTo>
                    <a:pt x="0" y="209550"/>
                  </a:lnTo>
                  <a:lnTo>
                    <a:pt x="0" y="373380"/>
                  </a:lnTo>
                  <a:lnTo>
                    <a:pt x="174117" y="373380"/>
                  </a:lnTo>
                  <a:lnTo>
                    <a:pt x="174117" y="582930"/>
                  </a:lnTo>
                  <a:lnTo>
                    <a:pt x="338074" y="582930"/>
                  </a:lnTo>
                  <a:lnTo>
                    <a:pt x="338074" y="373380"/>
                  </a:lnTo>
                  <a:lnTo>
                    <a:pt x="512191" y="373380"/>
                  </a:lnTo>
                  <a:lnTo>
                    <a:pt x="512191" y="20955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110353" y="2499613"/>
              <a:ext cx="512445" cy="582930"/>
            </a:xfrm>
            <a:custGeom>
              <a:avLst/>
              <a:gdLst/>
              <a:ahLst/>
              <a:cxnLst/>
              <a:rect l="l" t="t" r="r" b="b"/>
              <a:pathLst>
                <a:path w="512445" h="582930">
                  <a:moveTo>
                    <a:pt x="0" y="209423"/>
                  </a:moveTo>
                  <a:lnTo>
                    <a:pt x="174117" y="209423"/>
                  </a:lnTo>
                  <a:lnTo>
                    <a:pt x="174117" y="0"/>
                  </a:lnTo>
                  <a:lnTo>
                    <a:pt x="338074" y="0"/>
                  </a:lnTo>
                  <a:lnTo>
                    <a:pt x="338074" y="209423"/>
                  </a:lnTo>
                  <a:lnTo>
                    <a:pt x="512191" y="209423"/>
                  </a:lnTo>
                  <a:lnTo>
                    <a:pt x="512191" y="373252"/>
                  </a:lnTo>
                  <a:lnTo>
                    <a:pt x="338074" y="373252"/>
                  </a:lnTo>
                  <a:lnTo>
                    <a:pt x="338074" y="582676"/>
                  </a:lnTo>
                  <a:lnTo>
                    <a:pt x="174117" y="582676"/>
                  </a:lnTo>
                  <a:lnTo>
                    <a:pt x="174117" y="373252"/>
                  </a:lnTo>
                  <a:lnTo>
                    <a:pt x="0" y="373252"/>
                  </a:lnTo>
                  <a:lnTo>
                    <a:pt x="0" y="209423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577715" y="4533023"/>
            <a:ext cx="2274316" cy="883018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5360796" y="3876294"/>
            <a:ext cx="948690" cy="529590"/>
            <a:chOff x="5360796" y="3876294"/>
            <a:chExt cx="948690" cy="529590"/>
          </a:xfrm>
        </p:grpSpPr>
        <p:sp>
          <p:nvSpPr>
            <p:cNvPr id="10" name="object 10"/>
            <p:cNvSpPr/>
            <p:nvPr/>
          </p:nvSpPr>
          <p:spPr>
            <a:xfrm>
              <a:off x="5367146" y="3882644"/>
              <a:ext cx="935990" cy="516890"/>
            </a:xfrm>
            <a:custGeom>
              <a:avLst/>
              <a:gdLst/>
              <a:ahLst/>
              <a:cxnLst/>
              <a:rect l="l" t="t" r="r" b="b"/>
              <a:pathLst>
                <a:path w="935989" h="516889">
                  <a:moveTo>
                    <a:pt x="701928" y="0"/>
                  </a:moveTo>
                  <a:lnTo>
                    <a:pt x="234061" y="0"/>
                  </a:lnTo>
                  <a:lnTo>
                    <a:pt x="234061" y="258317"/>
                  </a:lnTo>
                  <a:lnTo>
                    <a:pt x="0" y="258317"/>
                  </a:lnTo>
                  <a:lnTo>
                    <a:pt x="467994" y="516635"/>
                  </a:lnTo>
                  <a:lnTo>
                    <a:pt x="935989" y="258317"/>
                  </a:lnTo>
                  <a:lnTo>
                    <a:pt x="701928" y="258317"/>
                  </a:lnTo>
                  <a:lnTo>
                    <a:pt x="701928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367146" y="3882644"/>
              <a:ext cx="935990" cy="516890"/>
            </a:xfrm>
            <a:custGeom>
              <a:avLst/>
              <a:gdLst/>
              <a:ahLst/>
              <a:cxnLst/>
              <a:rect l="l" t="t" r="r" b="b"/>
              <a:pathLst>
                <a:path w="935989" h="516889">
                  <a:moveTo>
                    <a:pt x="0" y="258317"/>
                  </a:moveTo>
                  <a:lnTo>
                    <a:pt x="234061" y="258317"/>
                  </a:lnTo>
                  <a:lnTo>
                    <a:pt x="234061" y="0"/>
                  </a:lnTo>
                  <a:lnTo>
                    <a:pt x="701928" y="0"/>
                  </a:lnTo>
                  <a:lnTo>
                    <a:pt x="701928" y="258317"/>
                  </a:lnTo>
                  <a:lnTo>
                    <a:pt x="935989" y="258317"/>
                  </a:lnTo>
                  <a:lnTo>
                    <a:pt x="467994" y="516635"/>
                  </a:lnTo>
                  <a:lnTo>
                    <a:pt x="0" y="258317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4871084" y="5981191"/>
            <a:ext cx="242125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5"/>
              </a:rPr>
              <a:t>Figura_2D.ipynb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0" dirty="0"/>
              <a:t>Referências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588973"/>
            <a:ext cx="10865485" cy="51803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065">
              <a:lnSpc>
                <a:spcPts val="2810"/>
              </a:lnSpc>
              <a:spcBef>
                <a:spcPts val="105"/>
              </a:spcBef>
              <a:tabLst>
                <a:tab pos="459105" algn="l"/>
              </a:tabLst>
            </a:pPr>
            <a:r>
              <a:rPr lang="pt-BR" sz="2600" dirty="0">
                <a:latin typeface="Calibri"/>
                <a:cs typeface="Calibri"/>
              </a:rPr>
              <a:t>[1] </a:t>
            </a:r>
            <a:r>
              <a:rPr sz="2600" dirty="0">
                <a:latin typeface="Calibri"/>
                <a:cs typeface="Calibri"/>
              </a:rPr>
              <a:t>Stuart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Russell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Peter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Norvig,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“</a:t>
            </a:r>
            <a:r>
              <a:rPr sz="2600" i="1" dirty="0">
                <a:latin typeface="Calibri"/>
                <a:cs typeface="Calibri"/>
              </a:rPr>
              <a:t>Artificial</a:t>
            </a:r>
            <a:r>
              <a:rPr sz="2600" i="1" spc="-45" dirty="0">
                <a:latin typeface="Calibri"/>
                <a:cs typeface="Calibri"/>
              </a:rPr>
              <a:t> </a:t>
            </a:r>
            <a:r>
              <a:rPr sz="2600" i="1" dirty="0">
                <a:latin typeface="Calibri"/>
                <a:cs typeface="Calibri"/>
              </a:rPr>
              <a:t>Intelligence:</a:t>
            </a:r>
            <a:r>
              <a:rPr sz="2600" i="1" spc="-50" dirty="0">
                <a:latin typeface="Calibri"/>
                <a:cs typeface="Calibri"/>
              </a:rPr>
              <a:t> </a:t>
            </a:r>
            <a:r>
              <a:rPr sz="2600" i="1" dirty="0">
                <a:latin typeface="Calibri"/>
                <a:cs typeface="Calibri"/>
              </a:rPr>
              <a:t>A</a:t>
            </a:r>
            <a:r>
              <a:rPr sz="2600" i="1" spc="-30" dirty="0">
                <a:latin typeface="Calibri"/>
                <a:cs typeface="Calibri"/>
              </a:rPr>
              <a:t> </a:t>
            </a:r>
            <a:r>
              <a:rPr sz="2600" i="1" dirty="0">
                <a:latin typeface="Calibri"/>
                <a:cs typeface="Calibri"/>
              </a:rPr>
              <a:t>Modern</a:t>
            </a:r>
            <a:r>
              <a:rPr sz="2600" i="1" spc="-60" dirty="0">
                <a:latin typeface="Calibri"/>
                <a:cs typeface="Calibri"/>
              </a:rPr>
              <a:t> </a:t>
            </a:r>
            <a:r>
              <a:rPr sz="2600" i="1" spc="-10" dirty="0">
                <a:latin typeface="Calibri"/>
                <a:cs typeface="Calibri"/>
              </a:rPr>
              <a:t>Approach</a:t>
            </a:r>
            <a:r>
              <a:rPr sz="2600" spc="-10" dirty="0">
                <a:latin typeface="Calibri"/>
                <a:cs typeface="Calibri"/>
              </a:rPr>
              <a:t>,”</a:t>
            </a:r>
            <a:endParaRPr sz="2600" dirty="0">
              <a:latin typeface="Calibri"/>
              <a:cs typeface="Calibri"/>
            </a:endParaRPr>
          </a:p>
          <a:p>
            <a:pPr marL="12700">
              <a:lnSpc>
                <a:spcPts val="2810"/>
              </a:lnSpc>
            </a:pPr>
            <a:r>
              <a:rPr sz="2600" dirty="0">
                <a:latin typeface="Calibri"/>
                <a:cs typeface="Calibri"/>
              </a:rPr>
              <a:t>Prentice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Hall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Series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Artificial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Intelligence,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3rd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ed.,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2015.</a:t>
            </a:r>
            <a:endParaRPr sz="2600" dirty="0">
              <a:latin typeface="Calibri"/>
              <a:cs typeface="Calibri"/>
            </a:endParaRPr>
          </a:p>
          <a:p>
            <a:pPr marL="12700" marR="5080">
              <a:lnSpc>
                <a:spcPts val="2500"/>
              </a:lnSpc>
              <a:spcBef>
                <a:spcPts val="969"/>
              </a:spcBef>
              <a:tabLst>
                <a:tab pos="458470" algn="l"/>
              </a:tabLst>
            </a:pPr>
            <a:r>
              <a:rPr lang="pt-BR" sz="2600" dirty="0">
                <a:latin typeface="Calibri"/>
                <a:cs typeface="Calibri"/>
              </a:rPr>
              <a:t>[2] </a:t>
            </a:r>
            <a:r>
              <a:rPr sz="2600" dirty="0" err="1">
                <a:latin typeface="Calibri"/>
                <a:cs typeface="Calibri"/>
              </a:rPr>
              <a:t>Aurélien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Géron,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“</a:t>
            </a:r>
            <a:r>
              <a:rPr sz="2600" i="1" spc="-10" dirty="0">
                <a:latin typeface="Calibri"/>
                <a:cs typeface="Calibri"/>
              </a:rPr>
              <a:t>Hands-</a:t>
            </a:r>
            <a:r>
              <a:rPr sz="2600" i="1" dirty="0">
                <a:latin typeface="Calibri"/>
                <a:cs typeface="Calibri"/>
              </a:rPr>
              <a:t>On</a:t>
            </a:r>
            <a:r>
              <a:rPr sz="2600" i="1" spc="-5" dirty="0">
                <a:latin typeface="Calibri"/>
                <a:cs typeface="Calibri"/>
              </a:rPr>
              <a:t> </a:t>
            </a:r>
            <a:r>
              <a:rPr sz="2600" i="1" dirty="0">
                <a:latin typeface="Calibri"/>
                <a:cs typeface="Calibri"/>
              </a:rPr>
              <a:t>Machine</a:t>
            </a:r>
            <a:r>
              <a:rPr sz="2600" i="1" spc="-25" dirty="0">
                <a:latin typeface="Calibri"/>
                <a:cs typeface="Calibri"/>
              </a:rPr>
              <a:t> </a:t>
            </a:r>
            <a:r>
              <a:rPr sz="2600" i="1" dirty="0">
                <a:latin typeface="Calibri"/>
                <a:cs typeface="Calibri"/>
              </a:rPr>
              <a:t>Learning</a:t>
            </a:r>
            <a:r>
              <a:rPr sz="2600" i="1" spc="-25" dirty="0">
                <a:latin typeface="Calibri"/>
                <a:cs typeface="Calibri"/>
              </a:rPr>
              <a:t> </a:t>
            </a:r>
            <a:r>
              <a:rPr sz="2600" i="1" dirty="0">
                <a:latin typeface="Calibri"/>
                <a:cs typeface="Calibri"/>
              </a:rPr>
              <a:t>with</a:t>
            </a:r>
            <a:r>
              <a:rPr sz="2600" i="1" spc="-5" dirty="0">
                <a:latin typeface="Calibri"/>
                <a:cs typeface="Calibri"/>
              </a:rPr>
              <a:t> </a:t>
            </a:r>
            <a:r>
              <a:rPr sz="2600" i="1" spc="-10" dirty="0">
                <a:latin typeface="Calibri"/>
                <a:cs typeface="Calibri"/>
              </a:rPr>
              <a:t>Scikit-</a:t>
            </a:r>
            <a:r>
              <a:rPr sz="2600" i="1" dirty="0">
                <a:latin typeface="Calibri"/>
                <a:cs typeface="Calibri"/>
              </a:rPr>
              <a:t>Learn</a:t>
            </a:r>
            <a:r>
              <a:rPr sz="2600" i="1" spc="-5" dirty="0">
                <a:latin typeface="Calibri"/>
                <a:cs typeface="Calibri"/>
              </a:rPr>
              <a:t> </a:t>
            </a:r>
            <a:r>
              <a:rPr sz="2600" i="1" spc="-25" dirty="0">
                <a:latin typeface="Calibri"/>
                <a:cs typeface="Calibri"/>
              </a:rPr>
              <a:t>and </a:t>
            </a:r>
            <a:r>
              <a:rPr sz="2600" i="1" spc="-20" dirty="0">
                <a:latin typeface="Calibri"/>
                <a:cs typeface="Calibri"/>
              </a:rPr>
              <a:t>TensorFlow:</a:t>
            </a:r>
            <a:r>
              <a:rPr sz="2600" i="1" spc="-60" dirty="0">
                <a:latin typeface="Calibri"/>
                <a:cs typeface="Calibri"/>
              </a:rPr>
              <a:t> </a:t>
            </a:r>
            <a:r>
              <a:rPr sz="2600" i="1" dirty="0">
                <a:latin typeface="Calibri"/>
                <a:cs typeface="Calibri"/>
              </a:rPr>
              <a:t>Concepts,</a:t>
            </a:r>
            <a:r>
              <a:rPr sz="2600" i="1" spc="-40" dirty="0">
                <a:latin typeface="Calibri"/>
                <a:cs typeface="Calibri"/>
              </a:rPr>
              <a:t> </a:t>
            </a:r>
            <a:r>
              <a:rPr sz="2600" i="1" spc="-25" dirty="0">
                <a:latin typeface="Calibri"/>
                <a:cs typeface="Calibri"/>
              </a:rPr>
              <a:t>Tools,</a:t>
            </a:r>
            <a:r>
              <a:rPr sz="2600" i="1" spc="-50" dirty="0">
                <a:latin typeface="Calibri"/>
                <a:cs typeface="Calibri"/>
              </a:rPr>
              <a:t> </a:t>
            </a:r>
            <a:r>
              <a:rPr sz="2600" i="1" dirty="0">
                <a:latin typeface="Calibri"/>
                <a:cs typeface="Calibri"/>
              </a:rPr>
              <a:t>and</a:t>
            </a:r>
            <a:r>
              <a:rPr sz="2600" i="1" spc="-50" dirty="0">
                <a:latin typeface="Calibri"/>
                <a:cs typeface="Calibri"/>
              </a:rPr>
              <a:t> </a:t>
            </a:r>
            <a:r>
              <a:rPr sz="2600" i="1" spc="-20" dirty="0">
                <a:latin typeface="Calibri"/>
                <a:cs typeface="Calibri"/>
              </a:rPr>
              <a:t>Techniques</a:t>
            </a:r>
            <a:r>
              <a:rPr sz="2600" i="1" spc="-75" dirty="0">
                <a:latin typeface="Calibri"/>
                <a:cs typeface="Calibri"/>
              </a:rPr>
              <a:t> </a:t>
            </a:r>
            <a:r>
              <a:rPr sz="2600" i="1" dirty="0">
                <a:latin typeface="Calibri"/>
                <a:cs typeface="Calibri"/>
              </a:rPr>
              <a:t>to</a:t>
            </a:r>
            <a:r>
              <a:rPr sz="2600" i="1" spc="-45" dirty="0">
                <a:latin typeface="Calibri"/>
                <a:cs typeface="Calibri"/>
              </a:rPr>
              <a:t> </a:t>
            </a:r>
            <a:r>
              <a:rPr sz="2600" i="1" dirty="0">
                <a:latin typeface="Calibri"/>
                <a:cs typeface="Calibri"/>
              </a:rPr>
              <a:t>Build</a:t>
            </a:r>
            <a:r>
              <a:rPr sz="2600" i="1" spc="-50" dirty="0">
                <a:latin typeface="Calibri"/>
                <a:cs typeface="Calibri"/>
              </a:rPr>
              <a:t> </a:t>
            </a:r>
            <a:r>
              <a:rPr sz="2600" i="1" dirty="0">
                <a:latin typeface="Calibri"/>
                <a:cs typeface="Calibri"/>
              </a:rPr>
              <a:t>Intelligent</a:t>
            </a:r>
            <a:r>
              <a:rPr sz="2600" i="1" spc="-70" dirty="0">
                <a:latin typeface="Calibri"/>
                <a:cs typeface="Calibri"/>
              </a:rPr>
              <a:t> </a:t>
            </a:r>
            <a:r>
              <a:rPr sz="2600" i="1" spc="-30" dirty="0">
                <a:latin typeface="Calibri"/>
                <a:cs typeface="Calibri"/>
              </a:rPr>
              <a:t>Systems</a:t>
            </a:r>
            <a:r>
              <a:rPr sz="2600" spc="-30" dirty="0">
                <a:latin typeface="Calibri"/>
                <a:cs typeface="Calibri"/>
              </a:rPr>
              <a:t>”,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1st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ed., </a:t>
            </a:r>
            <a:r>
              <a:rPr sz="2600" dirty="0">
                <a:latin typeface="Calibri"/>
                <a:cs typeface="Calibri"/>
              </a:rPr>
              <a:t>O'Reilly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Media,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2017.</a:t>
            </a:r>
            <a:endParaRPr sz="2600" dirty="0">
              <a:latin typeface="Calibri"/>
              <a:cs typeface="Calibri"/>
            </a:endParaRPr>
          </a:p>
          <a:p>
            <a:pPr marL="12700" marR="434975">
              <a:lnSpc>
                <a:spcPct val="80000"/>
              </a:lnSpc>
              <a:spcBef>
                <a:spcPts val="1025"/>
              </a:spcBef>
              <a:tabLst>
                <a:tab pos="457834" algn="l"/>
              </a:tabLst>
            </a:pPr>
            <a:r>
              <a:rPr lang="pt-BR" sz="2600" dirty="0">
                <a:latin typeface="Calibri"/>
                <a:cs typeface="Calibri"/>
              </a:rPr>
              <a:t>[3] </a:t>
            </a:r>
            <a:r>
              <a:rPr sz="2600" dirty="0">
                <a:latin typeface="Calibri"/>
                <a:cs typeface="Calibri"/>
              </a:rPr>
              <a:t>Levy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Boccato,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“Notas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aula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do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curso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30" dirty="0">
                <a:latin typeface="Calibri"/>
                <a:cs typeface="Calibri"/>
              </a:rPr>
              <a:t>Tópicos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em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Sistemas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Inteligentes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II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50" dirty="0">
                <a:latin typeface="Calibri"/>
                <a:cs typeface="Calibri"/>
              </a:rPr>
              <a:t>- </a:t>
            </a:r>
            <a:r>
              <a:rPr sz="2600" dirty="0">
                <a:latin typeface="Calibri"/>
                <a:cs typeface="Calibri"/>
              </a:rPr>
              <a:t>Aprendizado</a:t>
            </a:r>
            <a:r>
              <a:rPr sz="2600" spc="-9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Máquina”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(IA006),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disponíveis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em </a:t>
            </a:r>
            <a:r>
              <a:rPr sz="2600" u="sng" spc="-2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https://www.dca.fee.unicamp.br/~lboccato/ia006_2s2019.html</a:t>
            </a:r>
            <a:r>
              <a:rPr sz="2600" spc="440" dirty="0">
                <a:solidFill>
                  <a:srgbClr val="0462C1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(2019).</a:t>
            </a:r>
            <a:endParaRPr sz="2600" dirty="0">
              <a:latin typeface="Calibri"/>
              <a:cs typeface="Calibri"/>
            </a:endParaRPr>
          </a:p>
          <a:p>
            <a:pPr marL="12700" marR="281940">
              <a:lnSpc>
                <a:spcPct val="80000"/>
              </a:lnSpc>
              <a:spcBef>
                <a:spcPts val="994"/>
              </a:spcBef>
              <a:tabLst>
                <a:tab pos="459105" algn="l"/>
              </a:tabLst>
            </a:pPr>
            <a:r>
              <a:rPr lang="pt-BR" sz="2600" dirty="0">
                <a:latin typeface="Calibri"/>
                <a:cs typeface="Calibri"/>
              </a:rPr>
              <a:t>[4] </a:t>
            </a:r>
            <a:r>
              <a:rPr sz="2600" dirty="0">
                <a:latin typeface="Calibri"/>
                <a:cs typeface="Calibri"/>
              </a:rPr>
              <a:t>Joseph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Misiti,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“</a:t>
            </a:r>
            <a:r>
              <a:rPr sz="2600" i="1" dirty="0">
                <a:latin typeface="Calibri"/>
                <a:cs typeface="Calibri"/>
              </a:rPr>
              <a:t>Awesome</a:t>
            </a:r>
            <a:r>
              <a:rPr sz="2600" i="1" spc="-55" dirty="0">
                <a:latin typeface="Calibri"/>
                <a:cs typeface="Calibri"/>
              </a:rPr>
              <a:t> </a:t>
            </a:r>
            <a:r>
              <a:rPr sz="2600" i="1" dirty="0">
                <a:latin typeface="Calibri"/>
                <a:cs typeface="Calibri"/>
              </a:rPr>
              <a:t>Machine-</a:t>
            </a:r>
            <a:r>
              <a:rPr sz="2600" i="1" spc="-20" dirty="0">
                <a:latin typeface="Calibri"/>
                <a:cs typeface="Calibri"/>
              </a:rPr>
              <a:t>Learning</a:t>
            </a:r>
            <a:r>
              <a:rPr sz="2600" spc="-20" dirty="0">
                <a:latin typeface="Calibri"/>
                <a:cs typeface="Calibri"/>
              </a:rPr>
              <a:t>,”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on-</a:t>
            </a:r>
            <a:r>
              <a:rPr sz="2600" dirty="0">
                <a:latin typeface="Calibri"/>
                <a:cs typeface="Calibri"/>
              </a:rPr>
              <a:t>line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data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base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with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several </a:t>
            </a:r>
            <a:r>
              <a:rPr sz="2600" dirty="0">
                <a:latin typeface="Calibri"/>
                <a:cs typeface="Calibri"/>
              </a:rPr>
              <a:t>free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and/or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open-</a:t>
            </a:r>
            <a:r>
              <a:rPr sz="2600" dirty="0">
                <a:latin typeface="Calibri"/>
                <a:cs typeface="Calibri"/>
              </a:rPr>
              <a:t>source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books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(https://github.com/josephmisiti/awesome- machine-learning).</a:t>
            </a:r>
            <a:endParaRPr sz="2600" dirty="0">
              <a:latin typeface="Calibri"/>
              <a:cs typeface="Calibri"/>
            </a:endParaRPr>
          </a:p>
          <a:p>
            <a:pPr marL="12065">
              <a:lnSpc>
                <a:spcPts val="2810"/>
              </a:lnSpc>
              <a:spcBef>
                <a:spcPts val="370"/>
              </a:spcBef>
              <a:tabLst>
                <a:tab pos="459105" algn="l"/>
              </a:tabLst>
            </a:pPr>
            <a:r>
              <a:rPr lang="pt-BR" sz="2600" dirty="0">
                <a:latin typeface="Calibri"/>
                <a:cs typeface="Calibri"/>
              </a:rPr>
              <a:t>[5] </a:t>
            </a:r>
            <a:r>
              <a:rPr sz="2600" dirty="0">
                <a:latin typeface="Calibri"/>
                <a:cs typeface="Calibri"/>
              </a:rPr>
              <a:t>C.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M.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Bishop,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“</a:t>
            </a:r>
            <a:r>
              <a:rPr sz="2600" i="1" dirty="0">
                <a:latin typeface="Calibri"/>
                <a:cs typeface="Calibri"/>
              </a:rPr>
              <a:t>Pattern</a:t>
            </a:r>
            <a:r>
              <a:rPr sz="2600" i="1" spc="-65" dirty="0">
                <a:latin typeface="Calibri"/>
                <a:cs typeface="Calibri"/>
              </a:rPr>
              <a:t> </a:t>
            </a:r>
            <a:r>
              <a:rPr sz="2600" i="1" dirty="0">
                <a:latin typeface="Calibri"/>
                <a:cs typeface="Calibri"/>
              </a:rPr>
              <a:t>Recognition</a:t>
            </a:r>
            <a:r>
              <a:rPr sz="2600" i="1" spc="-40" dirty="0">
                <a:latin typeface="Calibri"/>
                <a:cs typeface="Calibri"/>
              </a:rPr>
              <a:t> </a:t>
            </a:r>
            <a:r>
              <a:rPr sz="2600" i="1" dirty="0">
                <a:latin typeface="Calibri"/>
                <a:cs typeface="Calibri"/>
              </a:rPr>
              <a:t>and</a:t>
            </a:r>
            <a:r>
              <a:rPr sz="2600" i="1" spc="-55" dirty="0">
                <a:latin typeface="Calibri"/>
                <a:cs typeface="Calibri"/>
              </a:rPr>
              <a:t> </a:t>
            </a:r>
            <a:r>
              <a:rPr sz="2600" i="1" dirty="0">
                <a:latin typeface="Calibri"/>
                <a:cs typeface="Calibri"/>
              </a:rPr>
              <a:t>Machine</a:t>
            </a:r>
            <a:r>
              <a:rPr sz="2600" i="1" spc="-45" dirty="0">
                <a:latin typeface="Calibri"/>
                <a:cs typeface="Calibri"/>
              </a:rPr>
              <a:t> </a:t>
            </a:r>
            <a:r>
              <a:rPr sz="2600" i="1" spc="-20" dirty="0">
                <a:latin typeface="Calibri"/>
                <a:cs typeface="Calibri"/>
              </a:rPr>
              <a:t>Learning</a:t>
            </a:r>
            <a:r>
              <a:rPr sz="2600" spc="-20" dirty="0">
                <a:latin typeface="Calibri"/>
                <a:cs typeface="Calibri"/>
              </a:rPr>
              <a:t>,”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Springer,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1st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ed.,</a:t>
            </a:r>
            <a:endParaRPr sz="2600" dirty="0">
              <a:latin typeface="Calibri"/>
              <a:cs typeface="Calibri"/>
            </a:endParaRPr>
          </a:p>
          <a:p>
            <a:pPr marL="12700">
              <a:lnSpc>
                <a:spcPts val="2810"/>
              </a:lnSpc>
            </a:pPr>
            <a:r>
              <a:rPr sz="2600" spc="-10" dirty="0">
                <a:latin typeface="Calibri"/>
                <a:cs typeface="Calibri"/>
              </a:rPr>
              <a:t>2006.</a:t>
            </a:r>
            <a:endParaRPr sz="2600" dirty="0">
              <a:latin typeface="Calibri"/>
              <a:cs typeface="Calibri"/>
            </a:endParaRPr>
          </a:p>
          <a:p>
            <a:pPr marL="12066">
              <a:lnSpc>
                <a:spcPct val="100000"/>
              </a:lnSpc>
              <a:spcBef>
                <a:spcPts val="385"/>
              </a:spcBef>
              <a:tabLst>
                <a:tab pos="457834" algn="l"/>
              </a:tabLst>
            </a:pPr>
            <a:r>
              <a:rPr lang="pt-BR" sz="2600" dirty="0">
                <a:latin typeface="Calibri"/>
                <a:cs typeface="Calibri"/>
              </a:rPr>
              <a:t>[6] </a:t>
            </a:r>
            <a:r>
              <a:rPr sz="2600" dirty="0" err="1">
                <a:latin typeface="Calibri"/>
                <a:cs typeface="Calibri"/>
              </a:rPr>
              <a:t>Coleção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livros,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https://tinyurl.com/mp64ksye</a:t>
            </a:r>
            <a:endParaRPr sz="26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Avisos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56830"/>
            <a:ext cx="8126095" cy="3491339"/>
          </a:xfrm>
          <a:prstGeom prst="rect">
            <a:avLst/>
          </a:prstGeom>
        </p:spPr>
        <p:txBody>
          <a:bodyPr vert="horz" wrap="square" lIns="0" tIns="48894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384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Vocês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já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podem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começar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trabalhar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nas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listas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#0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#1.</a:t>
            </a:r>
            <a:endParaRPr sz="28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45"/>
              </a:spcBef>
              <a:buClr>
                <a:srgbClr val="000000"/>
              </a:buClr>
              <a:buFont typeface="Wingdings"/>
              <a:buChar char=""/>
              <a:tabLst>
                <a:tab pos="699135" algn="l"/>
              </a:tabLst>
            </a:pPr>
            <a:r>
              <a:rPr lang="pt-BR" sz="24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https://github.com/luiz10ml/tp555-ml/tree/main/listas</a:t>
            </a:r>
            <a:endParaRPr lang="pt-BR" sz="2400" u="sng" spc="-10" dirty="0">
              <a:solidFill>
                <a:srgbClr val="0462C1"/>
              </a:solidFill>
              <a:uFill>
                <a:solidFill>
                  <a:srgbClr val="0462C1"/>
                </a:solidFill>
              </a:uFill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45"/>
              </a:spcBef>
              <a:buClr>
                <a:srgbClr val="000000"/>
              </a:buClr>
              <a:buFont typeface="Wingdings"/>
              <a:buChar char=""/>
              <a:tabLst>
                <a:tab pos="699135" algn="l"/>
              </a:tabLst>
            </a:pPr>
            <a:r>
              <a:rPr sz="2800" dirty="0">
                <a:latin typeface="Calibri"/>
                <a:cs typeface="Calibri"/>
              </a:rPr>
              <a:t>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descrição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projeto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final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está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disponível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no</a:t>
            </a:r>
            <a:r>
              <a:rPr sz="2800" spc="-135" dirty="0">
                <a:latin typeface="Calibri"/>
                <a:cs typeface="Calibri"/>
              </a:rPr>
              <a:t> </a:t>
            </a:r>
            <a:r>
              <a:rPr sz="28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Github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45"/>
              </a:spcBef>
              <a:buFont typeface="Wingdings"/>
              <a:buChar char="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Se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atentem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prazo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entrega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FF0000"/>
                </a:solidFill>
                <a:latin typeface="Calibri"/>
                <a:cs typeface="Calibri"/>
              </a:rPr>
              <a:t>proposta</a:t>
            </a:r>
            <a:r>
              <a:rPr sz="2400" b="1" i="1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projeto.</a:t>
            </a:r>
            <a:endParaRPr sz="24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3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Horário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Atendimento</a:t>
            </a:r>
            <a:endParaRPr sz="28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45"/>
              </a:spcBef>
              <a:buFont typeface="Wingdings"/>
              <a:buChar char=""/>
              <a:tabLst>
                <a:tab pos="699135" algn="l"/>
              </a:tabLst>
            </a:pPr>
            <a:r>
              <a:rPr sz="2400" spc="-30" dirty="0">
                <a:latin typeface="Calibri"/>
                <a:cs typeface="Calibri"/>
              </a:rPr>
              <a:t>Todas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lang="pt-BR" sz="2400" spc="-10" dirty="0">
                <a:latin typeface="Calibri"/>
                <a:cs typeface="Calibri"/>
              </a:rPr>
              <a:t>Quintas</a:t>
            </a:r>
            <a:r>
              <a:rPr sz="2400" spc="-10" dirty="0">
                <a:latin typeface="Calibri"/>
                <a:cs typeface="Calibri"/>
              </a:rPr>
              <a:t>-</a:t>
            </a:r>
            <a:r>
              <a:rPr sz="2400" dirty="0" err="1">
                <a:latin typeface="Calibri"/>
                <a:cs typeface="Calibri"/>
              </a:rPr>
              <a:t>feiras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1</a:t>
            </a:r>
            <a:r>
              <a:rPr lang="pt-BR" sz="2400" dirty="0">
                <a:latin typeface="Calibri"/>
                <a:cs typeface="Calibri"/>
              </a:rPr>
              <a:t>5</a:t>
            </a:r>
            <a:r>
              <a:rPr sz="2400" dirty="0">
                <a:latin typeface="Calibri"/>
                <a:cs typeface="Calibri"/>
              </a:rPr>
              <a:t>:</a:t>
            </a:r>
            <a:r>
              <a:rPr lang="pt-BR" sz="2400" dirty="0">
                <a:latin typeface="Calibri"/>
                <a:cs typeface="Calibri"/>
              </a:rPr>
              <a:t>3</a:t>
            </a:r>
            <a:r>
              <a:rPr sz="2400" dirty="0">
                <a:latin typeface="Calibri"/>
                <a:cs typeface="Calibri"/>
              </a:rPr>
              <a:t>0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 err="1">
                <a:latin typeface="Calibri"/>
                <a:cs typeface="Calibri"/>
              </a:rPr>
              <a:t>às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1</a:t>
            </a:r>
            <a:r>
              <a:rPr lang="pt-BR" sz="2400" spc="-10" dirty="0">
                <a:latin typeface="Calibri"/>
                <a:cs typeface="Calibri"/>
              </a:rPr>
              <a:t>7</a:t>
            </a:r>
            <a:r>
              <a:rPr sz="2400" spc="-10" dirty="0">
                <a:latin typeface="Calibri"/>
                <a:cs typeface="Calibri"/>
              </a:rPr>
              <a:t>:</a:t>
            </a:r>
            <a:r>
              <a:rPr lang="pt-BR" sz="2400" spc="-10" dirty="0">
                <a:latin typeface="Calibri"/>
                <a:cs typeface="Calibri"/>
              </a:rPr>
              <a:t>3</a:t>
            </a:r>
            <a:r>
              <a:rPr sz="2400" spc="-10">
                <a:latin typeface="Calibri"/>
                <a:cs typeface="Calibri"/>
              </a:rPr>
              <a:t>0</a:t>
            </a:r>
            <a:r>
              <a:rPr sz="2400" spc="-10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15"/>
              </a:spcBef>
              <a:buFont typeface="Wingdings"/>
              <a:buChar char="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Presencialmente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(prédio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3,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segundo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andar).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26484" y="2616530"/>
            <a:ext cx="3756660" cy="1031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600" spc="-35" dirty="0"/>
              <a:t>Perguntas?</a:t>
            </a:r>
            <a:endParaRPr sz="660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03267" y="2616530"/>
            <a:ext cx="3402965" cy="1031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600" spc="-10" dirty="0"/>
              <a:t>Obrigado!</a:t>
            </a:r>
            <a:endParaRPr sz="660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6454" y="334645"/>
            <a:ext cx="6161912" cy="1923923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106673" y="2470276"/>
            <a:ext cx="6450583" cy="200609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285866" y="4688078"/>
            <a:ext cx="6706869" cy="2038985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4252" y="1290319"/>
            <a:ext cx="4698746" cy="446900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119122" y="1459179"/>
            <a:ext cx="1971039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FFFFFF"/>
                </a:solidFill>
                <a:latin typeface="Calibri"/>
                <a:cs typeface="Calibri"/>
              </a:rPr>
              <a:t>Inteligência</a:t>
            </a:r>
            <a:r>
              <a:rPr sz="18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Calibri"/>
                <a:cs typeface="Calibri"/>
              </a:rPr>
              <a:t>Artificial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46097" y="1736547"/>
            <a:ext cx="3114675" cy="453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Programas</a:t>
            </a:r>
            <a:r>
              <a:rPr sz="14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que</a:t>
            </a:r>
            <a:r>
              <a:rPr sz="14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podem</a:t>
            </a:r>
            <a:r>
              <a:rPr sz="1400" spc="-20" dirty="0">
                <a:solidFill>
                  <a:srgbClr val="FFFFFF"/>
                </a:solidFill>
                <a:latin typeface="Calibri"/>
                <a:cs typeface="Calibri"/>
              </a:rPr>
              <a:t> sentir,</a:t>
            </a:r>
            <a:r>
              <a:rPr sz="14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raciocinar,</a:t>
            </a:r>
            <a:endParaRPr sz="1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1400" spc="-20" dirty="0">
                <a:solidFill>
                  <a:srgbClr val="FFFFFF"/>
                </a:solidFill>
                <a:latin typeface="Calibri"/>
                <a:cs typeface="Calibri"/>
              </a:rPr>
              <a:t>agir,</a:t>
            </a:r>
            <a:r>
              <a:rPr sz="14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aprender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14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se</a:t>
            </a:r>
            <a:r>
              <a:rPr sz="14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adaptar</a:t>
            </a:r>
            <a:r>
              <a:rPr sz="14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como</a:t>
            </a:r>
            <a:r>
              <a:rPr sz="14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humanos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80794" y="2558288"/>
            <a:ext cx="2624455" cy="9442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6205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FFFFFF"/>
                </a:solidFill>
                <a:latin typeface="Calibri"/>
                <a:cs typeface="Calibri"/>
              </a:rPr>
              <a:t>Aprendizado</a:t>
            </a:r>
            <a:r>
              <a:rPr sz="18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sz="1800" b="1" spc="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Calibri"/>
                <a:cs typeface="Calibri"/>
              </a:rPr>
              <a:t>Máquina</a:t>
            </a:r>
            <a:endParaRPr sz="1800">
              <a:latin typeface="Calibri"/>
              <a:cs typeface="Calibri"/>
            </a:endParaRPr>
          </a:p>
          <a:p>
            <a:pPr marL="12700" marR="5080" indent="31750" algn="just">
              <a:lnSpc>
                <a:spcPct val="100000"/>
              </a:lnSpc>
              <a:spcBef>
                <a:spcPts val="25"/>
              </a:spcBef>
            </a:pP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Algoritmos</a:t>
            </a:r>
            <a:r>
              <a:rPr sz="14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que</a:t>
            </a:r>
            <a:r>
              <a:rPr sz="14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permitem</a:t>
            </a:r>
            <a:r>
              <a:rPr sz="14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que</a:t>
            </a:r>
            <a:r>
              <a:rPr sz="1400" spc="-25" dirty="0">
                <a:solidFill>
                  <a:srgbClr val="FFFFFF"/>
                </a:solidFill>
                <a:latin typeface="Calibri"/>
                <a:cs typeface="Calibri"/>
              </a:rPr>
              <a:t> uma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máquina</a:t>
            </a:r>
            <a:r>
              <a:rPr sz="14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aprenda</a:t>
            </a:r>
            <a:r>
              <a:rPr sz="14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automaticamente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sem</a:t>
            </a:r>
            <a:r>
              <a:rPr sz="14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ser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explicitamente</a:t>
            </a:r>
            <a:r>
              <a:rPr sz="1400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programada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220595" y="3723843"/>
            <a:ext cx="1802764" cy="12185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Redes</a:t>
            </a:r>
            <a:r>
              <a:rPr sz="1800" b="1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Calibri"/>
                <a:cs typeface="Calibri"/>
              </a:rPr>
              <a:t>Neurais</a:t>
            </a:r>
            <a:endParaRPr sz="1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800" b="1" spc="-10" dirty="0">
                <a:solidFill>
                  <a:srgbClr val="FFFFFF"/>
                </a:solidFill>
                <a:latin typeface="Calibri"/>
                <a:cs typeface="Calibri"/>
              </a:rPr>
              <a:t>Artificiais</a:t>
            </a:r>
            <a:endParaRPr sz="1800">
              <a:latin typeface="Calibri"/>
              <a:cs typeface="Calibri"/>
            </a:endParaRPr>
          </a:p>
          <a:p>
            <a:pPr marL="12065" marR="5080" indent="-1270" algn="ctr">
              <a:lnSpc>
                <a:spcPct val="100000"/>
              </a:lnSpc>
              <a:spcBef>
                <a:spcPts val="25"/>
              </a:spcBef>
            </a:pP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Multilayer</a:t>
            </a:r>
            <a:r>
              <a:rPr sz="14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perceptron,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Convolutional,</a:t>
            </a:r>
            <a:r>
              <a:rPr sz="14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Recursive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Networks,</a:t>
            </a:r>
            <a:r>
              <a:rPr sz="14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Calibri"/>
                <a:cs typeface="Calibri"/>
              </a:rPr>
              <a:t>etc.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960486" y="2343785"/>
            <a:ext cx="3003476" cy="2277364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9324593" y="2692653"/>
            <a:ext cx="2908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25" dirty="0">
                <a:solidFill>
                  <a:srgbClr val="FFFFFF"/>
                </a:solidFill>
                <a:latin typeface="Calibri"/>
                <a:cs typeface="Calibri"/>
              </a:rPr>
              <a:t>IA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292333" y="3446779"/>
            <a:ext cx="3162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ML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235822" y="3385820"/>
            <a:ext cx="3879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NLP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173339" y="3856101"/>
            <a:ext cx="7943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robótica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734168" y="3397377"/>
            <a:ext cx="2774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CV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999344" y="4084701"/>
            <a:ext cx="5492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Calibri"/>
                <a:cs typeface="Calibri"/>
              </a:rPr>
              <a:t>KR&amp;R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9751" y="1709521"/>
            <a:ext cx="1338580" cy="50419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99695" rIns="0" bIns="0" rtlCol="0">
            <a:spAutoFit/>
          </a:bodyPr>
          <a:lstStyle/>
          <a:p>
            <a:pPr marL="112395">
              <a:lnSpc>
                <a:spcPct val="100000"/>
              </a:lnSpc>
              <a:spcBef>
                <a:spcPts val="785"/>
              </a:spcBef>
            </a:pPr>
            <a:r>
              <a:rPr sz="1800" b="0" spc="-10" dirty="0">
                <a:latin typeface="Calibri"/>
                <a:cs typeface="Calibri"/>
              </a:rPr>
              <a:t>Inicialização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49751" y="2534513"/>
            <a:ext cx="1338580" cy="50419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99695" rIns="0" bIns="0" rtlCol="0">
            <a:spAutoFit/>
          </a:bodyPr>
          <a:lstStyle/>
          <a:p>
            <a:pPr marL="313690">
              <a:lnSpc>
                <a:spcPct val="100000"/>
              </a:lnSpc>
              <a:spcBef>
                <a:spcPts val="785"/>
              </a:spcBef>
            </a:pPr>
            <a:r>
              <a:rPr sz="1800" spc="-10" dirty="0">
                <a:latin typeface="Calibri"/>
                <a:cs typeface="Calibri"/>
              </a:rPr>
              <a:t>Seleção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480940" y="2213101"/>
            <a:ext cx="76200" cy="321310"/>
          </a:xfrm>
          <a:custGeom>
            <a:avLst/>
            <a:gdLst/>
            <a:ahLst/>
            <a:cxnLst/>
            <a:rect l="l" t="t" r="r" b="b"/>
            <a:pathLst>
              <a:path w="76200" h="321310">
                <a:moveTo>
                  <a:pt x="34925" y="245110"/>
                </a:moveTo>
                <a:lnTo>
                  <a:pt x="0" y="245110"/>
                </a:lnTo>
                <a:lnTo>
                  <a:pt x="38100" y="321310"/>
                </a:lnTo>
                <a:lnTo>
                  <a:pt x="69850" y="257810"/>
                </a:lnTo>
                <a:lnTo>
                  <a:pt x="34925" y="257810"/>
                </a:lnTo>
                <a:lnTo>
                  <a:pt x="34925" y="245110"/>
                </a:lnTo>
                <a:close/>
              </a:path>
              <a:path w="76200" h="321310">
                <a:moveTo>
                  <a:pt x="41275" y="0"/>
                </a:moveTo>
                <a:lnTo>
                  <a:pt x="34925" y="0"/>
                </a:lnTo>
                <a:lnTo>
                  <a:pt x="34925" y="257810"/>
                </a:lnTo>
                <a:lnTo>
                  <a:pt x="41275" y="257810"/>
                </a:lnTo>
                <a:lnTo>
                  <a:pt x="41275" y="0"/>
                </a:lnTo>
                <a:close/>
              </a:path>
              <a:path w="76200" h="321310">
                <a:moveTo>
                  <a:pt x="76200" y="245110"/>
                </a:moveTo>
                <a:lnTo>
                  <a:pt x="41275" y="245110"/>
                </a:lnTo>
                <a:lnTo>
                  <a:pt x="41275" y="257810"/>
                </a:lnTo>
                <a:lnTo>
                  <a:pt x="69850" y="257810"/>
                </a:lnTo>
                <a:lnTo>
                  <a:pt x="76200" y="24511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4248022" y="3040126"/>
            <a:ext cx="542290" cy="746760"/>
            <a:chOff x="4248022" y="3040126"/>
            <a:chExt cx="542290" cy="746760"/>
          </a:xfrm>
        </p:grpSpPr>
        <p:sp>
          <p:nvSpPr>
            <p:cNvPr id="6" name="object 6"/>
            <p:cNvSpPr/>
            <p:nvPr/>
          </p:nvSpPr>
          <p:spPr>
            <a:xfrm>
              <a:off x="4254372" y="3361436"/>
              <a:ext cx="529590" cy="419100"/>
            </a:xfrm>
            <a:custGeom>
              <a:avLst/>
              <a:gdLst/>
              <a:ahLst/>
              <a:cxnLst/>
              <a:rect l="l" t="t" r="r" b="b"/>
              <a:pathLst>
                <a:path w="529589" h="419100">
                  <a:moveTo>
                    <a:pt x="0" y="209550"/>
                  </a:moveTo>
                  <a:lnTo>
                    <a:pt x="264667" y="0"/>
                  </a:lnTo>
                  <a:lnTo>
                    <a:pt x="529209" y="209550"/>
                  </a:lnTo>
                  <a:lnTo>
                    <a:pt x="264667" y="419100"/>
                  </a:lnTo>
                  <a:lnTo>
                    <a:pt x="0" y="20955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480940" y="3040126"/>
              <a:ext cx="76200" cy="321310"/>
            </a:xfrm>
            <a:custGeom>
              <a:avLst/>
              <a:gdLst/>
              <a:ahLst/>
              <a:cxnLst/>
              <a:rect l="l" t="t" r="r" b="b"/>
              <a:pathLst>
                <a:path w="76200" h="321310">
                  <a:moveTo>
                    <a:pt x="34925" y="245110"/>
                  </a:moveTo>
                  <a:lnTo>
                    <a:pt x="0" y="245110"/>
                  </a:lnTo>
                  <a:lnTo>
                    <a:pt x="38100" y="321310"/>
                  </a:lnTo>
                  <a:lnTo>
                    <a:pt x="69850" y="257810"/>
                  </a:lnTo>
                  <a:lnTo>
                    <a:pt x="34925" y="257810"/>
                  </a:lnTo>
                  <a:lnTo>
                    <a:pt x="34925" y="245110"/>
                  </a:lnTo>
                  <a:close/>
                </a:path>
                <a:path w="76200" h="321310">
                  <a:moveTo>
                    <a:pt x="41275" y="0"/>
                  </a:moveTo>
                  <a:lnTo>
                    <a:pt x="34925" y="0"/>
                  </a:lnTo>
                  <a:lnTo>
                    <a:pt x="34925" y="257810"/>
                  </a:lnTo>
                  <a:lnTo>
                    <a:pt x="41275" y="257810"/>
                  </a:lnTo>
                  <a:lnTo>
                    <a:pt x="41275" y="0"/>
                  </a:lnTo>
                  <a:close/>
                </a:path>
                <a:path w="76200" h="321310">
                  <a:moveTo>
                    <a:pt x="76200" y="245110"/>
                  </a:moveTo>
                  <a:lnTo>
                    <a:pt x="41275" y="245110"/>
                  </a:lnTo>
                  <a:lnTo>
                    <a:pt x="41275" y="257810"/>
                  </a:lnTo>
                  <a:lnTo>
                    <a:pt x="69850" y="257810"/>
                  </a:lnTo>
                  <a:lnTo>
                    <a:pt x="76200" y="24511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4608067" y="3695827"/>
            <a:ext cx="820419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0541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Calibri"/>
                <a:cs typeface="Calibri"/>
              </a:rPr>
              <a:t>critério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25" dirty="0">
                <a:latin typeface="Calibri"/>
                <a:cs typeface="Calibri"/>
              </a:rPr>
              <a:t>de </a:t>
            </a:r>
            <a:r>
              <a:rPr sz="1100" dirty="0">
                <a:latin typeface="Calibri"/>
                <a:cs typeface="Calibri"/>
              </a:rPr>
              <a:t>parada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=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false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81040" y="3492753"/>
            <a:ext cx="156718" cy="156591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4925059" y="3128899"/>
            <a:ext cx="793750" cy="3613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91440"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latin typeface="Calibri"/>
                <a:cs typeface="Calibri"/>
              </a:rPr>
              <a:t>critério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25" dirty="0">
                <a:latin typeface="Calibri"/>
                <a:cs typeface="Calibri"/>
              </a:rPr>
              <a:t>de </a:t>
            </a:r>
            <a:r>
              <a:rPr sz="1100" dirty="0">
                <a:latin typeface="Calibri"/>
                <a:cs typeface="Calibri"/>
              </a:rPr>
              <a:t>parada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=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spc="-20" dirty="0">
                <a:latin typeface="Calibri"/>
                <a:cs typeface="Calibri"/>
              </a:rPr>
              <a:t>true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436364" y="1244853"/>
            <a:ext cx="156845" cy="478790"/>
            <a:chOff x="4436364" y="1244853"/>
            <a:chExt cx="156845" cy="478790"/>
          </a:xfrm>
        </p:grpSpPr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36364" y="1244853"/>
              <a:ext cx="156718" cy="156718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4476623" y="1402206"/>
              <a:ext cx="76200" cy="321310"/>
            </a:xfrm>
            <a:custGeom>
              <a:avLst/>
              <a:gdLst/>
              <a:ahLst/>
              <a:cxnLst/>
              <a:rect l="l" t="t" r="r" b="b"/>
              <a:pathLst>
                <a:path w="76200" h="321310">
                  <a:moveTo>
                    <a:pt x="34925" y="245109"/>
                  </a:moveTo>
                  <a:lnTo>
                    <a:pt x="0" y="245109"/>
                  </a:lnTo>
                  <a:lnTo>
                    <a:pt x="38100" y="321309"/>
                  </a:lnTo>
                  <a:lnTo>
                    <a:pt x="69850" y="257809"/>
                  </a:lnTo>
                  <a:lnTo>
                    <a:pt x="34925" y="257809"/>
                  </a:lnTo>
                  <a:lnTo>
                    <a:pt x="34925" y="245109"/>
                  </a:lnTo>
                  <a:close/>
                </a:path>
                <a:path w="76200" h="321310">
                  <a:moveTo>
                    <a:pt x="41275" y="0"/>
                  </a:moveTo>
                  <a:lnTo>
                    <a:pt x="34925" y="0"/>
                  </a:lnTo>
                  <a:lnTo>
                    <a:pt x="34925" y="257809"/>
                  </a:lnTo>
                  <a:lnTo>
                    <a:pt x="41275" y="257809"/>
                  </a:lnTo>
                  <a:lnTo>
                    <a:pt x="41275" y="0"/>
                  </a:lnTo>
                  <a:close/>
                </a:path>
                <a:path w="76200" h="321310">
                  <a:moveTo>
                    <a:pt x="76200" y="245109"/>
                  </a:moveTo>
                  <a:lnTo>
                    <a:pt x="41275" y="245109"/>
                  </a:lnTo>
                  <a:lnTo>
                    <a:pt x="41275" y="257809"/>
                  </a:lnTo>
                  <a:lnTo>
                    <a:pt x="69850" y="257809"/>
                  </a:lnTo>
                  <a:lnTo>
                    <a:pt x="76200" y="24510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/>
          <p:nvPr/>
        </p:nvSpPr>
        <p:spPr>
          <a:xfrm>
            <a:off x="2393314" y="1297050"/>
            <a:ext cx="1393825" cy="825500"/>
          </a:xfrm>
          <a:custGeom>
            <a:avLst/>
            <a:gdLst/>
            <a:ahLst/>
            <a:cxnLst/>
            <a:rect l="l" t="t" r="r" b="b"/>
            <a:pathLst>
              <a:path w="1393825" h="825500">
                <a:moveTo>
                  <a:pt x="0" y="0"/>
                </a:moveTo>
                <a:lnTo>
                  <a:pt x="655701" y="0"/>
                </a:lnTo>
                <a:lnTo>
                  <a:pt x="936625" y="0"/>
                </a:lnTo>
                <a:lnTo>
                  <a:pt x="1123950" y="0"/>
                </a:lnTo>
                <a:lnTo>
                  <a:pt x="1123950" y="481202"/>
                </a:lnTo>
                <a:lnTo>
                  <a:pt x="1393698" y="670940"/>
                </a:lnTo>
                <a:lnTo>
                  <a:pt x="1123950" y="687451"/>
                </a:lnTo>
                <a:lnTo>
                  <a:pt x="1123950" y="824991"/>
                </a:lnTo>
                <a:lnTo>
                  <a:pt x="936625" y="824991"/>
                </a:lnTo>
                <a:lnTo>
                  <a:pt x="655701" y="824991"/>
                </a:lnTo>
                <a:lnTo>
                  <a:pt x="0" y="824991"/>
                </a:lnTo>
                <a:lnTo>
                  <a:pt x="0" y="687451"/>
                </a:lnTo>
                <a:lnTo>
                  <a:pt x="0" y="481202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2474467" y="1413764"/>
            <a:ext cx="96011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Indivíduos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com </a:t>
            </a:r>
            <a:r>
              <a:rPr sz="1200" spc="-10" dirty="0">
                <a:latin typeface="Calibri"/>
                <a:cs typeface="Calibri"/>
              </a:rPr>
              <a:t>diferentes características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393314" y="2373757"/>
            <a:ext cx="1412875" cy="1297305"/>
          </a:xfrm>
          <a:custGeom>
            <a:avLst/>
            <a:gdLst/>
            <a:ahLst/>
            <a:cxnLst/>
            <a:rect l="l" t="t" r="r" b="b"/>
            <a:pathLst>
              <a:path w="1412875" h="1297304">
                <a:moveTo>
                  <a:pt x="0" y="0"/>
                </a:moveTo>
                <a:lnTo>
                  <a:pt x="655701" y="0"/>
                </a:lnTo>
                <a:lnTo>
                  <a:pt x="936625" y="0"/>
                </a:lnTo>
                <a:lnTo>
                  <a:pt x="1123950" y="0"/>
                </a:lnTo>
                <a:lnTo>
                  <a:pt x="1123950" y="216280"/>
                </a:lnTo>
                <a:lnTo>
                  <a:pt x="1412748" y="342900"/>
                </a:lnTo>
                <a:lnTo>
                  <a:pt x="1123950" y="540512"/>
                </a:lnTo>
                <a:lnTo>
                  <a:pt x="1123950" y="1297304"/>
                </a:lnTo>
                <a:lnTo>
                  <a:pt x="936625" y="1297304"/>
                </a:lnTo>
                <a:lnTo>
                  <a:pt x="655701" y="1297304"/>
                </a:lnTo>
                <a:lnTo>
                  <a:pt x="0" y="1297304"/>
                </a:lnTo>
                <a:lnTo>
                  <a:pt x="0" y="540512"/>
                </a:lnTo>
                <a:lnTo>
                  <a:pt x="0" y="21628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2535427" y="2361057"/>
            <a:ext cx="839469" cy="1306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635" algn="ctr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Função</a:t>
            </a:r>
            <a:r>
              <a:rPr sz="1200" spc="-25" dirty="0">
                <a:latin typeface="Calibri"/>
                <a:cs typeface="Calibri"/>
              </a:rPr>
              <a:t> de </a:t>
            </a:r>
            <a:r>
              <a:rPr sz="1200" spc="-10" dirty="0">
                <a:latin typeface="Calibri"/>
                <a:cs typeface="Calibri"/>
              </a:rPr>
              <a:t>aptidão </a:t>
            </a:r>
            <a:r>
              <a:rPr sz="1200" dirty="0">
                <a:latin typeface="Calibri"/>
                <a:cs typeface="Calibri"/>
              </a:rPr>
              <a:t>seleciona</a:t>
            </a:r>
            <a:r>
              <a:rPr sz="1200" spc="-25" dirty="0">
                <a:latin typeface="Calibri"/>
                <a:cs typeface="Calibri"/>
              </a:rPr>
              <a:t> os </a:t>
            </a:r>
            <a:r>
              <a:rPr sz="1200" spc="-10" dirty="0">
                <a:latin typeface="Calibri"/>
                <a:cs typeface="Calibri"/>
              </a:rPr>
              <a:t>melhores indivíduos </a:t>
            </a:r>
            <a:r>
              <a:rPr sz="1200" dirty="0">
                <a:latin typeface="Calibri"/>
                <a:cs typeface="Calibri"/>
              </a:rPr>
              <a:t>para</a:t>
            </a:r>
            <a:r>
              <a:rPr sz="1200" spc="-4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próxima geração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859276" y="4101947"/>
            <a:ext cx="1338580" cy="50419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100330" rIns="0" bIns="0" rtlCol="0">
            <a:spAutoFit/>
          </a:bodyPr>
          <a:lstStyle/>
          <a:p>
            <a:pPr marL="104775">
              <a:lnSpc>
                <a:spcPct val="100000"/>
              </a:lnSpc>
              <a:spcBef>
                <a:spcPts val="790"/>
              </a:spcBef>
            </a:pPr>
            <a:r>
              <a:rPr sz="1800" spc="-10" dirty="0">
                <a:latin typeface="Calibri"/>
                <a:cs typeface="Calibri"/>
              </a:rPr>
              <a:t>Cruzamento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859276" y="4926939"/>
            <a:ext cx="1338580" cy="50419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100330" rIns="0" bIns="0" rtlCol="0">
            <a:spAutoFit/>
          </a:bodyPr>
          <a:lstStyle/>
          <a:p>
            <a:pPr marL="257175">
              <a:lnSpc>
                <a:spcPct val="100000"/>
              </a:lnSpc>
              <a:spcBef>
                <a:spcPts val="790"/>
              </a:spcBef>
            </a:pPr>
            <a:r>
              <a:rPr sz="1800" spc="-10" dirty="0">
                <a:latin typeface="Calibri"/>
                <a:cs typeface="Calibri"/>
              </a:rPr>
              <a:t>Mutação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4490465" y="3780535"/>
            <a:ext cx="76200" cy="321945"/>
          </a:xfrm>
          <a:custGeom>
            <a:avLst/>
            <a:gdLst/>
            <a:ahLst/>
            <a:cxnLst/>
            <a:rect l="l" t="t" r="r" b="b"/>
            <a:pathLst>
              <a:path w="76200" h="321945">
                <a:moveTo>
                  <a:pt x="34925" y="245237"/>
                </a:moveTo>
                <a:lnTo>
                  <a:pt x="0" y="245237"/>
                </a:lnTo>
                <a:lnTo>
                  <a:pt x="38100" y="321437"/>
                </a:lnTo>
                <a:lnTo>
                  <a:pt x="69850" y="257937"/>
                </a:lnTo>
                <a:lnTo>
                  <a:pt x="34925" y="257937"/>
                </a:lnTo>
                <a:lnTo>
                  <a:pt x="34925" y="245237"/>
                </a:lnTo>
                <a:close/>
              </a:path>
              <a:path w="76200" h="321945">
                <a:moveTo>
                  <a:pt x="41275" y="0"/>
                </a:moveTo>
                <a:lnTo>
                  <a:pt x="34925" y="0"/>
                </a:lnTo>
                <a:lnTo>
                  <a:pt x="34925" y="257937"/>
                </a:lnTo>
                <a:lnTo>
                  <a:pt x="41275" y="257937"/>
                </a:lnTo>
                <a:lnTo>
                  <a:pt x="41275" y="0"/>
                </a:lnTo>
                <a:close/>
              </a:path>
              <a:path w="76200" h="321945">
                <a:moveTo>
                  <a:pt x="76200" y="245237"/>
                </a:moveTo>
                <a:lnTo>
                  <a:pt x="41275" y="245237"/>
                </a:lnTo>
                <a:lnTo>
                  <a:pt x="41275" y="257937"/>
                </a:lnTo>
                <a:lnTo>
                  <a:pt x="69850" y="257937"/>
                </a:lnTo>
                <a:lnTo>
                  <a:pt x="76200" y="24523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4490465" y="4605528"/>
            <a:ext cx="76200" cy="321945"/>
          </a:xfrm>
          <a:custGeom>
            <a:avLst/>
            <a:gdLst/>
            <a:ahLst/>
            <a:cxnLst/>
            <a:rect l="l" t="t" r="r" b="b"/>
            <a:pathLst>
              <a:path w="76200" h="321945">
                <a:moveTo>
                  <a:pt x="34925" y="245237"/>
                </a:moveTo>
                <a:lnTo>
                  <a:pt x="0" y="245237"/>
                </a:lnTo>
                <a:lnTo>
                  <a:pt x="38100" y="321437"/>
                </a:lnTo>
                <a:lnTo>
                  <a:pt x="69850" y="257937"/>
                </a:lnTo>
                <a:lnTo>
                  <a:pt x="34925" y="257937"/>
                </a:lnTo>
                <a:lnTo>
                  <a:pt x="34925" y="245237"/>
                </a:lnTo>
                <a:close/>
              </a:path>
              <a:path w="76200" h="321945">
                <a:moveTo>
                  <a:pt x="41275" y="0"/>
                </a:moveTo>
                <a:lnTo>
                  <a:pt x="34925" y="0"/>
                </a:lnTo>
                <a:lnTo>
                  <a:pt x="34925" y="257937"/>
                </a:lnTo>
                <a:lnTo>
                  <a:pt x="41275" y="257937"/>
                </a:lnTo>
                <a:lnTo>
                  <a:pt x="41275" y="0"/>
                </a:lnTo>
                <a:close/>
              </a:path>
              <a:path w="76200" h="321945">
                <a:moveTo>
                  <a:pt x="76200" y="245237"/>
                </a:moveTo>
                <a:lnTo>
                  <a:pt x="41275" y="245237"/>
                </a:lnTo>
                <a:lnTo>
                  <a:pt x="41275" y="257937"/>
                </a:lnTo>
                <a:lnTo>
                  <a:pt x="69850" y="257937"/>
                </a:lnTo>
                <a:lnTo>
                  <a:pt x="76200" y="24523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793107" y="2748152"/>
            <a:ext cx="1265555" cy="2433955"/>
          </a:xfrm>
          <a:custGeom>
            <a:avLst/>
            <a:gdLst/>
            <a:ahLst/>
            <a:cxnLst/>
            <a:rect l="l" t="t" r="r" b="b"/>
            <a:pathLst>
              <a:path w="1265554" h="2433954">
                <a:moveTo>
                  <a:pt x="494284" y="822833"/>
                </a:moveTo>
                <a:lnTo>
                  <a:pt x="487934" y="819658"/>
                </a:lnTo>
                <a:lnTo>
                  <a:pt x="418084" y="784733"/>
                </a:lnTo>
                <a:lnTo>
                  <a:pt x="418084" y="819658"/>
                </a:lnTo>
                <a:lnTo>
                  <a:pt x="0" y="819658"/>
                </a:lnTo>
                <a:lnTo>
                  <a:pt x="0" y="826008"/>
                </a:lnTo>
                <a:lnTo>
                  <a:pt x="418084" y="826008"/>
                </a:lnTo>
                <a:lnTo>
                  <a:pt x="418084" y="860933"/>
                </a:lnTo>
                <a:lnTo>
                  <a:pt x="487934" y="826008"/>
                </a:lnTo>
                <a:lnTo>
                  <a:pt x="494284" y="822833"/>
                </a:lnTo>
                <a:close/>
              </a:path>
              <a:path w="1265554" h="2433954">
                <a:moveTo>
                  <a:pt x="1265047" y="34925"/>
                </a:moveTo>
                <a:lnTo>
                  <a:pt x="471297" y="34925"/>
                </a:lnTo>
                <a:lnTo>
                  <a:pt x="471297" y="0"/>
                </a:lnTo>
                <a:lnTo>
                  <a:pt x="395097" y="38100"/>
                </a:lnTo>
                <a:lnTo>
                  <a:pt x="471297" y="76200"/>
                </a:lnTo>
                <a:lnTo>
                  <a:pt x="471297" y="41275"/>
                </a:lnTo>
                <a:lnTo>
                  <a:pt x="1258697" y="41275"/>
                </a:lnTo>
                <a:lnTo>
                  <a:pt x="1258697" y="2427351"/>
                </a:lnTo>
                <a:lnTo>
                  <a:pt x="404622" y="2427351"/>
                </a:lnTo>
                <a:lnTo>
                  <a:pt x="404622" y="2433701"/>
                </a:lnTo>
                <a:lnTo>
                  <a:pt x="1265047" y="2433701"/>
                </a:lnTo>
                <a:lnTo>
                  <a:pt x="1265047" y="2430526"/>
                </a:lnTo>
                <a:lnTo>
                  <a:pt x="1265047" y="2427351"/>
                </a:lnTo>
                <a:lnTo>
                  <a:pt x="1265047" y="41275"/>
                </a:lnTo>
                <a:lnTo>
                  <a:pt x="1265047" y="38100"/>
                </a:lnTo>
                <a:lnTo>
                  <a:pt x="1265047" y="349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56</TotalTime>
  <Words>3091</Words>
  <Application>Microsoft Office PowerPoint</Application>
  <PresentationFormat>Widescreen</PresentationFormat>
  <Paragraphs>338</Paragraphs>
  <Slides>40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40</vt:i4>
      </vt:variant>
    </vt:vector>
  </HeadingPairs>
  <TitlesOfParts>
    <vt:vector size="48" baseType="lpstr">
      <vt:lpstr>Arial</vt:lpstr>
      <vt:lpstr>Calibri</vt:lpstr>
      <vt:lpstr>Calibri Light</vt:lpstr>
      <vt:lpstr>Cambria Math</vt:lpstr>
      <vt:lpstr>Courier New</vt:lpstr>
      <vt:lpstr>Times New Roman</vt:lpstr>
      <vt:lpstr>Wingdings</vt:lpstr>
      <vt:lpstr>Office Theme</vt:lpstr>
      <vt:lpstr>TP555 - Inteligência Artificial e Machine Learning: Introdução</vt:lpstr>
      <vt:lpstr>A disciplina</vt:lpstr>
      <vt:lpstr>Objetivo do curso</vt:lpstr>
      <vt:lpstr>Avaliação do Curso</vt:lpstr>
      <vt:lpstr>Motivação</vt:lpstr>
      <vt:lpstr>Motivação</vt:lpstr>
      <vt:lpstr>Motivação</vt:lpstr>
      <vt:lpstr>O que é inteligência artificial?</vt:lpstr>
      <vt:lpstr>O que é inteligência artificial?</vt:lpstr>
      <vt:lpstr>O problema da inteligência artificial</vt:lpstr>
      <vt:lpstr>Subáreas da inteligência artificial</vt:lpstr>
      <vt:lpstr>Subáreas da inteligência artificial</vt:lpstr>
      <vt:lpstr>Foco do curso</vt:lpstr>
      <vt:lpstr>O que é o aprendizado de máquina?</vt:lpstr>
      <vt:lpstr>Paradigma da programação tradicional</vt:lpstr>
      <vt:lpstr>O paradigma do aprendizado de máquina</vt:lpstr>
      <vt:lpstr>Generalização</vt:lpstr>
      <vt:lpstr>Exemplos de aplicações de ML em várias áreas</vt:lpstr>
      <vt:lpstr>Principais motivos da difusão do ML</vt:lpstr>
      <vt:lpstr>Paradigmas de aprendizado de máquina</vt:lpstr>
      <vt:lpstr>Aprendizado supervisionado</vt:lpstr>
      <vt:lpstr>Aprendizado supervisionado</vt:lpstr>
      <vt:lpstr>Aprendizado não-supervisionado</vt:lpstr>
      <vt:lpstr>Aprendizado não-supervisionado</vt:lpstr>
      <vt:lpstr>Aprendizado semi-supervisionado</vt:lpstr>
      <vt:lpstr>Aprendizado semi-supervisionado</vt:lpstr>
      <vt:lpstr>Aprendizado por reforço</vt:lpstr>
      <vt:lpstr>Aprendizado por reforço</vt:lpstr>
      <vt:lpstr>Aprendizado metaheurístico</vt:lpstr>
      <vt:lpstr>Aprendizado metaheurístico</vt:lpstr>
      <vt:lpstr>Executando códigos</vt:lpstr>
      <vt:lpstr>Goolge Colaboratory (Colab)</vt:lpstr>
      <vt:lpstr>Exemplo de uso dos notebooks Jupyter</vt:lpstr>
      <vt:lpstr>Referências</vt:lpstr>
      <vt:lpstr>Avisos</vt:lpstr>
      <vt:lpstr>Perguntas?</vt:lpstr>
      <vt:lpstr>Obrigado!</vt:lpstr>
      <vt:lpstr>Apresentação do PowerPoint</vt:lpstr>
      <vt:lpstr>Inteligência Artificial</vt:lpstr>
      <vt:lpstr>Inicialização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TP555 - Inteligência Artificial e Machine Learning</dc:title>
  <dc:creator>Felipe Augusto Pereira de Figueiredo</dc:creator>
  <cp:lastModifiedBy>Luiz Augusto Melo Pereira</cp:lastModifiedBy>
  <cp:revision>4</cp:revision>
  <dcterms:created xsi:type="dcterms:W3CDTF">2025-01-23T00:42:20Z</dcterms:created>
  <dcterms:modified xsi:type="dcterms:W3CDTF">2025-03-07T23:09:30Z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2024-08-07T00:00:00Z</vt:filetime>
  </property>
  <property fmtid="{D5CDD505-2E9C-101B-9397-08002B2CF9AE}" pid="3" name="Creator">
    <vt:lpwstr>Microsoft® PowerPoint® LTSC</vt:lpwstr>
  </property>
  <property fmtid="{D5CDD505-2E9C-101B-9397-08002B2CF9AE}" pid="4" name="LastSaved">
    <vt:filetime>2025-01-23T00:00:00Z</vt:filetime>
  </property>
  <property fmtid="{D5CDD505-2E9C-101B-9397-08002B2CF9AE}" pid="5" name="Producer">
    <vt:lpwstr>Microsoft® PowerPoint® LTSC</vt:lpwstr>
  </property>
</Properties>
</file>