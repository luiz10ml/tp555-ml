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58532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9966"/>
            <a:ext cx="10876915" cy="4715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github/luiz10ml/tp555-ml/blob/main/exemplos/linear-regression/formatos_diferentes_da_superficie_de_erro.ipynb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github/luiz10ml/tp555-ml/blob/main/exemplos/linear-regression/formatos_diferentes_da_superficie_de_erro.ipynb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github/luiz10ml/tp555-ml/blob/main/exemplos/linear-regression/formatos_diferentes_da_superficie_de_erro.ipynb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1620" y="512191"/>
            <a:ext cx="7588250" cy="14439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477645" marR="5080" indent="-1464945">
              <a:lnSpc>
                <a:spcPts val="5290"/>
              </a:lnSpc>
              <a:spcBef>
                <a:spcPts val="760"/>
              </a:spcBef>
            </a:pPr>
            <a:r>
              <a:rPr sz="4900" b="0" dirty="0">
                <a:latin typeface="Calibri Light"/>
                <a:cs typeface="Calibri Light"/>
              </a:rPr>
              <a:t>TP555</a:t>
            </a:r>
            <a:r>
              <a:rPr sz="4900" b="0" spc="-125" dirty="0">
                <a:latin typeface="Calibri Light"/>
                <a:cs typeface="Calibri Light"/>
              </a:rPr>
              <a:t> </a:t>
            </a:r>
            <a:r>
              <a:rPr sz="4900" b="0" dirty="0">
                <a:latin typeface="Calibri Light"/>
                <a:cs typeface="Calibri Light"/>
              </a:rPr>
              <a:t>-</a:t>
            </a:r>
            <a:r>
              <a:rPr sz="4900" b="0" spc="-145" dirty="0">
                <a:latin typeface="Calibri Light"/>
                <a:cs typeface="Calibri Light"/>
              </a:rPr>
              <a:t> </a:t>
            </a:r>
            <a:r>
              <a:rPr sz="4900" b="0" spc="-10" dirty="0">
                <a:latin typeface="Calibri Light"/>
                <a:cs typeface="Calibri Light"/>
              </a:rPr>
              <a:t>Inteligência</a:t>
            </a:r>
            <a:r>
              <a:rPr sz="4900" b="0" spc="-80" dirty="0">
                <a:latin typeface="Calibri Light"/>
                <a:cs typeface="Calibri Light"/>
              </a:rPr>
              <a:t> </a:t>
            </a:r>
            <a:r>
              <a:rPr sz="4900" b="0" dirty="0">
                <a:latin typeface="Calibri Light"/>
                <a:cs typeface="Calibri Light"/>
              </a:rPr>
              <a:t>Artificial</a:t>
            </a:r>
            <a:r>
              <a:rPr sz="4900" b="0" spc="-110" dirty="0">
                <a:latin typeface="Calibri Light"/>
                <a:cs typeface="Calibri Light"/>
              </a:rPr>
              <a:t> </a:t>
            </a:r>
            <a:r>
              <a:rPr sz="4900" b="0" spc="-50" dirty="0">
                <a:latin typeface="Calibri Light"/>
                <a:cs typeface="Calibri Light"/>
              </a:rPr>
              <a:t>e </a:t>
            </a:r>
            <a:r>
              <a:rPr sz="4900" b="0" dirty="0">
                <a:latin typeface="Calibri Light"/>
                <a:cs typeface="Calibri Light"/>
              </a:rPr>
              <a:t>Machine</a:t>
            </a:r>
            <a:r>
              <a:rPr sz="4900" b="0" spc="-150" dirty="0">
                <a:latin typeface="Calibri Light"/>
                <a:cs typeface="Calibri Light"/>
              </a:rPr>
              <a:t> </a:t>
            </a:r>
            <a:r>
              <a:rPr sz="4900" b="0" spc="-10" dirty="0">
                <a:latin typeface="Calibri Light"/>
                <a:cs typeface="Calibri Light"/>
              </a:rPr>
              <a:t>Learning:</a:t>
            </a:r>
            <a:endParaRPr sz="4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80157" y="1844421"/>
            <a:ext cx="6637655" cy="15894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984885" marR="5080" indent="-972819">
              <a:lnSpc>
                <a:spcPts val="5830"/>
              </a:lnSpc>
              <a:spcBef>
                <a:spcPts val="835"/>
              </a:spcBef>
            </a:pPr>
            <a:r>
              <a:rPr sz="5400" i="1" spc="-50" dirty="0">
                <a:latin typeface="Calibri Light"/>
                <a:cs typeface="Calibri Light"/>
              </a:rPr>
              <a:t>Variações</a:t>
            </a:r>
            <a:r>
              <a:rPr sz="5400" i="1" spc="-210" dirty="0">
                <a:latin typeface="Calibri Light"/>
                <a:cs typeface="Calibri Light"/>
              </a:rPr>
              <a:t> </a:t>
            </a:r>
            <a:r>
              <a:rPr sz="5400" i="1" dirty="0">
                <a:latin typeface="Calibri Light"/>
                <a:cs typeface="Calibri Light"/>
              </a:rPr>
              <a:t>do</a:t>
            </a:r>
            <a:r>
              <a:rPr sz="5400" i="1" spc="-195" dirty="0">
                <a:latin typeface="Calibri Light"/>
                <a:cs typeface="Calibri Light"/>
              </a:rPr>
              <a:t> </a:t>
            </a:r>
            <a:r>
              <a:rPr sz="5400" i="1" spc="-35" dirty="0">
                <a:latin typeface="Calibri Light"/>
                <a:cs typeface="Calibri Light"/>
              </a:rPr>
              <a:t>formato</a:t>
            </a:r>
            <a:r>
              <a:rPr sz="5400" i="1" spc="-210" dirty="0">
                <a:latin typeface="Calibri Light"/>
                <a:cs typeface="Calibri Light"/>
              </a:rPr>
              <a:t> </a:t>
            </a:r>
            <a:r>
              <a:rPr sz="5400" i="1" spc="-25" dirty="0">
                <a:latin typeface="Calibri Light"/>
                <a:cs typeface="Calibri Light"/>
              </a:rPr>
              <a:t>da </a:t>
            </a:r>
            <a:r>
              <a:rPr sz="5400" i="1" spc="-20" dirty="0">
                <a:latin typeface="Calibri Light"/>
                <a:cs typeface="Calibri Light"/>
              </a:rPr>
              <a:t>superfície</a:t>
            </a:r>
            <a:r>
              <a:rPr sz="5400" i="1" spc="-195" dirty="0">
                <a:latin typeface="Calibri Light"/>
                <a:cs typeface="Calibri Light"/>
              </a:rPr>
              <a:t> </a:t>
            </a:r>
            <a:r>
              <a:rPr sz="5400" i="1" dirty="0">
                <a:latin typeface="Calibri Light"/>
                <a:cs typeface="Calibri Light"/>
              </a:rPr>
              <a:t>de</a:t>
            </a:r>
            <a:r>
              <a:rPr sz="5400" i="1" spc="-170" dirty="0">
                <a:latin typeface="Calibri Light"/>
                <a:cs typeface="Calibri Light"/>
              </a:rPr>
              <a:t> </a:t>
            </a:r>
            <a:r>
              <a:rPr sz="5400" i="1" spc="-20" dirty="0">
                <a:latin typeface="Calibri Light"/>
                <a:cs typeface="Calibri Light"/>
              </a:rPr>
              <a:t>erro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416934"/>
            <a:ext cx="2261361" cy="2237104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7BDDFE80-80B5-FBB0-AD71-019538158609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8B7894-BDF0-A7D7-A464-BC788B1D483F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Recapitulando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37215" cy="31375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13601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Vimos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anteriormente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plotar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variação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anotando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respectivos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erros.</a:t>
            </a:r>
            <a:endParaRPr sz="2800">
              <a:latin typeface="Calibri"/>
              <a:cs typeface="Calibri"/>
            </a:endParaRPr>
          </a:p>
          <a:p>
            <a:pPr marL="241300" marR="508634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tinha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tigela,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dirty="0">
                <a:latin typeface="Calibri"/>
                <a:cs typeface="Calibri"/>
              </a:rPr>
              <a:t>linhas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contorno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círculos.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igualmente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variações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pesos.</a:t>
            </a:r>
            <a:endParaRPr sz="2800">
              <a:latin typeface="Calibri"/>
              <a:cs typeface="Calibri"/>
            </a:endParaRPr>
          </a:p>
          <a:p>
            <a:pPr marL="241300" marR="15303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nem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toda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superfície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tem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formato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tigela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vale</a:t>
            </a:r>
            <a:r>
              <a:rPr sz="2800" spc="-1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0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superfície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69220" cy="23698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latin typeface="Calibri"/>
                <a:cs typeface="Calibri"/>
              </a:rPr>
              <a:t>Nem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toda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superfície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formato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tigela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alguns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casos, </a:t>
            </a:r>
            <a:r>
              <a:rPr sz="2800" dirty="0">
                <a:latin typeface="Calibri"/>
                <a:cs typeface="Calibri"/>
              </a:rPr>
              <a:t>elas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têm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vale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assemelham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U)</a:t>
            </a:r>
            <a:r>
              <a:rPr sz="2800" spc="-25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independente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formato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todas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continuam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sendo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EF"/>
                </a:solidFill>
                <a:latin typeface="Calibri"/>
                <a:cs typeface="Calibri"/>
              </a:rPr>
              <a:t>convexas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continuam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ponto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mínimo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demonstrar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seguinte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observável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2615" y="4182236"/>
            <a:ext cx="9410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spc="104" baseline="11904" dirty="0">
                <a:latin typeface="Cambria Math"/>
                <a:cs typeface="Cambria Math"/>
              </a:rPr>
              <a:t>𝑦</a:t>
            </a:r>
            <a:r>
              <a:rPr sz="2050" spc="70" dirty="0">
                <a:latin typeface="Cambria Math"/>
                <a:cs typeface="Cambria Math"/>
              </a:rPr>
              <a:t>noisy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62194" y="4210050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29">
                <a:moveTo>
                  <a:pt x="338200" y="0"/>
                </a:moveTo>
                <a:lnTo>
                  <a:pt x="333501" y="13335"/>
                </a:lnTo>
                <a:lnTo>
                  <a:pt x="352551" y="21597"/>
                </a:lnTo>
                <a:lnTo>
                  <a:pt x="368935" y="33051"/>
                </a:lnTo>
                <a:lnTo>
                  <a:pt x="393700" y="65531"/>
                </a:lnTo>
                <a:lnTo>
                  <a:pt x="408273" y="109219"/>
                </a:lnTo>
                <a:lnTo>
                  <a:pt x="413130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09" y="315594"/>
                </a:lnTo>
                <a:lnTo>
                  <a:pt x="338200" y="328930"/>
                </a:lnTo>
                <a:lnTo>
                  <a:pt x="383031" y="307879"/>
                </a:lnTo>
                <a:lnTo>
                  <a:pt x="416051" y="271399"/>
                </a:lnTo>
                <a:lnTo>
                  <a:pt x="436340" y="222662"/>
                </a:lnTo>
                <a:lnTo>
                  <a:pt x="443102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1" y="328930"/>
                </a:lnTo>
                <a:lnTo>
                  <a:pt x="108965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5"/>
                </a:lnTo>
                <a:lnTo>
                  <a:pt x="29971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35673" y="4210050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29">
                <a:moveTo>
                  <a:pt x="338200" y="0"/>
                </a:moveTo>
                <a:lnTo>
                  <a:pt x="333501" y="13335"/>
                </a:lnTo>
                <a:lnTo>
                  <a:pt x="352551" y="21597"/>
                </a:lnTo>
                <a:lnTo>
                  <a:pt x="368934" y="33051"/>
                </a:lnTo>
                <a:lnTo>
                  <a:pt x="393700" y="65531"/>
                </a:lnTo>
                <a:lnTo>
                  <a:pt x="408273" y="109219"/>
                </a:lnTo>
                <a:lnTo>
                  <a:pt x="413130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09" y="315594"/>
                </a:lnTo>
                <a:lnTo>
                  <a:pt x="338200" y="328930"/>
                </a:lnTo>
                <a:lnTo>
                  <a:pt x="383032" y="307879"/>
                </a:lnTo>
                <a:lnTo>
                  <a:pt x="416051" y="271399"/>
                </a:lnTo>
                <a:lnTo>
                  <a:pt x="436340" y="222662"/>
                </a:lnTo>
                <a:lnTo>
                  <a:pt x="443102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1" y="328930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38109" y="4210050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29">
                <a:moveTo>
                  <a:pt x="338200" y="0"/>
                </a:moveTo>
                <a:lnTo>
                  <a:pt x="333501" y="13335"/>
                </a:lnTo>
                <a:lnTo>
                  <a:pt x="352552" y="21597"/>
                </a:lnTo>
                <a:lnTo>
                  <a:pt x="368935" y="33051"/>
                </a:lnTo>
                <a:lnTo>
                  <a:pt x="393700" y="65531"/>
                </a:lnTo>
                <a:lnTo>
                  <a:pt x="408273" y="109219"/>
                </a:lnTo>
                <a:lnTo>
                  <a:pt x="413131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10" y="315594"/>
                </a:lnTo>
                <a:lnTo>
                  <a:pt x="338200" y="328930"/>
                </a:lnTo>
                <a:lnTo>
                  <a:pt x="383032" y="307879"/>
                </a:lnTo>
                <a:lnTo>
                  <a:pt x="416051" y="271399"/>
                </a:lnTo>
                <a:lnTo>
                  <a:pt x="436340" y="222662"/>
                </a:lnTo>
                <a:lnTo>
                  <a:pt x="443103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1" y="328930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66715" y="4109084"/>
            <a:ext cx="2832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  <a:tab pos="1186180" algn="l"/>
                <a:tab pos="1623695" algn="l"/>
                <a:tab pos="2388235" algn="l"/>
                <a:tab pos="2746375" algn="l"/>
              </a:tabLst>
            </a:pP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𝑦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+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𝑤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55997" y="5129021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29">
                <a:moveTo>
                  <a:pt x="338200" y="0"/>
                </a:moveTo>
                <a:lnTo>
                  <a:pt x="333501" y="13334"/>
                </a:lnTo>
                <a:lnTo>
                  <a:pt x="352551" y="21597"/>
                </a:lnTo>
                <a:lnTo>
                  <a:pt x="368935" y="33051"/>
                </a:lnTo>
                <a:lnTo>
                  <a:pt x="393700" y="65531"/>
                </a:lnTo>
                <a:lnTo>
                  <a:pt x="408273" y="109219"/>
                </a:lnTo>
                <a:lnTo>
                  <a:pt x="413130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10" y="315594"/>
                </a:lnTo>
                <a:lnTo>
                  <a:pt x="338200" y="328929"/>
                </a:lnTo>
                <a:lnTo>
                  <a:pt x="383031" y="307895"/>
                </a:lnTo>
                <a:lnTo>
                  <a:pt x="416051" y="271525"/>
                </a:lnTo>
                <a:lnTo>
                  <a:pt x="436340" y="222678"/>
                </a:lnTo>
                <a:lnTo>
                  <a:pt x="443102" y="164591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5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23253" y="5129021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29">
                <a:moveTo>
                  <a:pt x="338200" y="0"/>
                </a:moveTo>
                <a:lnTo>
                  <a:pt x="333501" y="13334"/>
                </a:lnTo>
                <a:lnTo>
                  <a:pt x="352551" y="21597"/>
                </a:lnTo>
                <a:lnTo>
                  <a:pt x="368934" y="33051"/>
                </a:lnTo>
                <a:lnTo>
                  <a:pt x="393700" y="65531"/>
                </a:lnTo>
                <a:lnTo>
                  <a:pt x="408273" y="109219"/>
                </a:lnTo>
                <a:lnTo>
                  <a:pt x="413130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10" y="315594"/>
                </a:lnTo>
                <a:lnTo>
                  <a:pt x="338200" y="328929"/>
                </a:lnTo>
                <a:lnTo>
                  <a:pt x="383032" y="307895"/>
                </a:lnTo>
                <a:lnTo>
                  <a:pt x="416051" y="271525"/>
                </a:lnTo>
                <a:lnTo>
                  <a:pt x="436340" y="222678"/>
                </a:lnTo>
                <a:lnTo>
                  <a:pt x="443102" y="164591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67650" y="5129021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29">
                <a:moveTo>
                  <a:pt x="338200" y="0"/>
                </a:moveTo>
                <a:lnTo>
                  <a:pt x="333501" y="13334"/>
                </a:lnTo>
                <a:lnTo>
                  <a:pt x="352551" y="21597"/>
                </a:lnTo>
                <a:lnTo>
                  <a:pt x="368934" y="33051"/>
                </a:lnTo>
                <a:lnTo>
                  <a:pt x="393700" y="65531"/>
                </a:lnTo>
                <a:lnTo>
                  <a:pt x="408273" y="109219"/>
                </a:lnTo>
                <a:lnTo>
                  <a:pt x="413130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09" y="315594"/>
                </a:lnTo>
                <a:lnTo>
                  <a:pt x="338200" y="328929"/>
                </a:lnTo>
                <a:lnTo>
                  <a:pt x="383032" y="307895"/>
                </a:lnTo>
                <a:lnTo>
                  <a:pt x="416051" y="271525"/>
                </a:lnTo>
                <a:lnTo>
                  <a:pt x="436340" y="222678"/>
                </a:lnTo>
                <a:lnTo>
                  <a:pt x="443102" y="164591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53439" y="4642180"/>
            <a:ext cx="7600950" cy="83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ts val="32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objetivo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>
              <a:latin typeface="Calibri"/>
              <a:cs typeface="Calibri"/>
            </a:endParaRPr>
          </a:p>
          <a:p>
            <a:pPr marL="3467735">
              <a:lnSpc>
                <a:spcPts val="3200"/>
              </a:lnSpc>
              <a:tabLst>
                <a:tab pos="3819525" algn="l"/>
                <a:tab pos="4276725" algn="l"/>
                <a:tab pos="5487035" algn="l"/>
                <a:tab pos="5924550" algn="l"/>
                <a:tab pos="7131050" algn="l"/>
                <a:tab pos="7489190" algn="l"/>
              </a:tabLst>
            </a:pPr>
            <a:r>
              <a:rPr sz="2800" spc="-50" dirty="0">
                <a:latin typeface="Cambria Math"/>
                <a:cs typeface="Cambria Math"/>
              </a:rPr>
              <a:t>𝑦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𝑎</a:t>
            </a:r>
            <a:r>
              <a:rPr sz="3075" spc="-30" baseline="-16260" dirty="0">
                <a:latin typeface="Cambria Math"/>
                <a:cs typeface="Cambria Math"/>
              </a:rPr>
              <a:t>1</a:t>
            </a:r>
            <a:r>
              <a:rPr sz="2800" spc="-20" dirty="0">
                <a:latin typeface="Cambria Math"/>
                <a:cs typeface="Cambria Math"/>
              </a:rPr>
              <a:t>𝑥</a:t>
            </a:r>
            <a:r>
              <a:rPr sz="3075" spc="-30" baseline="-16260" dirty="0">
                <a:latin typeface="Cambria Math"/>
                <a:cs typeface="Cambria Math"/>
              </a:rPr>
              <a:t>1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+</a:t>
            </a:r>
            <a:r>
              <a:rPr sz="2800" spc="-20" dirty="0">
                <a:latin typeface="Cambria Math"/>
                <a:cs typeface="Cambria Math"/>
              </a:rPr>
              <a:t> 𝑎</a:t>
            </a:r>
            <a:r>
              <a:rPr sz="3075" spc="-30" baseline="-16260" dirty="0">
                <a:latin typeface="Cambria Math"/>
                <a:cs typeface="Cambria Math"/>
              </a:rPr>
              <a:t>2</a:t>
            </a:r>
            <a:r>
              <a:rPr sz="2800" spc="-20" dirty="0">
                <a:latin typeface="Cambria Math"/>
                <a:cs typeface="Cambria Math"/>
              </a:rPr>
              <a:t>𝑥</a:t>
            </a:r>
            <a:r>
              <a:rPr sz="3075" spc="-30" baseline="-16260" dirty="0">
                <a:latin typeface="Cambria Math"/>
                <a:cs typeface="Cambria Math"/>
              </a:rPr>
              <a:t>2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.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837882" y="1438369"/>
            <a:ext cx="10516235" cy="17126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Agora,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suponhamos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quiséssemos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objetivo</a:t>
            </a:r>
            <a:endParaRPr sz="2800" dirty="0">
              <a:latin typeface="Calibri"/>
              <a:cs typeface="Calibri"/>
            </a:endParaRPr>
          </a:p>
          <a:p>
            <a:pPr marL="279400">
              <a:lnSpc>
                <a:spcPts val="3030"/>
              </a:lnSpc>
            </a:pPr>
            <a:r>
              <a:rPr sz="2800" dirty="0">
                <a:latin typeface="Calibri"/>
                <a:cs typeface="Calibri"/>
              </a:rPr>
              <a:t>com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 err="1">
                <a:latin typeface="Calibri"/>
                <a:cs typeface="Calibri"/>
              </a:rPr>
              <a:t>função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 err="1">
                <a:latin typeface="Calibri"/>
                <a:cs typeface="Calibri"/>
              </a:rPr>
              <a:t>hipótese</a:t>
            </a:r>
            <a:endParaRPr lang="pt-BR" sz="2800" b="1" i="1" spc="-10" dirty="0">
              <a:latin typeface="Calibri"/>
              <a:cs typeface="Calibri"/>
            </a:endParaRPr>
          </a:p>
          <a:p>
            <a:pPr marL="279400">
              <a:lnSpc>
                <a:spcPts val="3030"/>
              </a:lnSpc>
            </a:pPr>
            <a:endParaRPr sz="28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79400" algn="l"/>
                <a:tab pos="5379085" algn="l"/>
              </a:tabLst>
            </a:pPr>
            <a:r>
              <a:rPr sz="2800" dirty="0" err="1">
                <a:latin typeface="Calibri"/>
                <a:cs typeface="Calibri"/>
              </a:rPr>
              <a:t>Substituindo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hipótese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temos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0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superfície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erro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91539" y="4992516"/>
            <a:ext cx="10540365" cy="15606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6700" marR="30480" indent="-228600">
              <a:lnSpc>
                <a:spcPts val="3040"/>
              </a:lnSpc>
              <a:spcBef>
                <a:spcPts val="30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 err="1">
                <a:latin typeface="Calibri"/>
                <a:cs typeface="Calibri"/>
              </a:rPr>
              <a:t>Observando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você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acha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ocorreria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intervalo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3075" spc="359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fosse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?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2975"/>
              </a:lnSpc>
            </a:pP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367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𝑥</a:t>
            </a:r>
            <a:r>
              <a:rPr sz="3075" spc="-30" baseline="-16260" dirty="0">
                <a:latin typeface="Cambria Math"/>
                <a:cs typeface="Cambria Math"/>
              </a:rPr>
              <a:t>1</a:t>
            </a:r>
            <a:r>
              <a:rPr sz="2800" spc="-20" dirty="0">
                <a:latin typeface="Calibri"/>
                <a:cs typeface="Calibri"/>
              </a:rPr>
              <a:t>?)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1000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54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2000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54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1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498FADFE-BA1E-06A4-4283-338F510AC5BF}"/>
                  </a:ext>
                </a:extLst>
              </p:cNvPr>
              <p:cNvSpPr txBox="1"/>
              <p:nvPr/>
            </p:nvSpPr>
            <p:spPr>
              <a:xfrm>
                <a:off x="2956647" y="2286000"/>
                <a:ext cx="62787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498FADFE-BA1E-06A4-4283-338F510AC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647" y="2286000"/>
                <a:ext cx="627870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38CE36D-63F1-DAB5-6756-D6274A4EA461}"/>
                  </a:ext>
                </a:extLst>
              </p:cNvPr>
              <p:cNvSpPr txBox="1"/>
              <p:nvPr/>
            </p:nvSpPr>
            <p:spPr>
              <a:xfrm>
                <a:off x="2143155" y="3429000"/>
                <a:ext cx="7905690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pt-BR" sz="2800" b="0" i="0" smtClean="0">
                                          <a:latin typeface="Cambria Math" panose="02040503050406030204" pitchFamily="18" charset="0"/>
                                        </a:rPr>
                                        <m:t>noisy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38CE36D-63F1-DAB5-6756-D6274A4EA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55" y="3429000"/>
                <a:ext cx="7905690" cy="12119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0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superfície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/>
          <p:nvPr/>
        </p:nvSpPr>
        <p:spPr>
          <a:xfrm>
            <a:off x="2298954" y="1861566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30" h="328930">
                <a:moveTo>
                  <a:pt x="338200" y="0"/>
                </a:moveTo>
                <a:lnTo>
                  <a:pt x="333501" y="13335"/>
                </a:lnTo>
                <a:lnTo>
                  <a:pt x="352551" y="21597"/>
                </a:lnTo>
                <a:lnTo>
                  <a:pt x="368934" y="33051"/>
                </a:lnTo>
                <a:lnTo>
                  <a:pt x="393700" y="65532"/>
                </a:lnTo>
                <a:lnTo>
                  <a:pt x="408273" y="109219"/>
                </a:lnTo>
                <a:lnTo>
                  <a:pt x="413131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09" y="315595"/>
                </a:lnTo>
                <a:lnTo>
                  <a:pt x="338200" y="328930"/>
                </a:lnTo>
                <a:lnTo>
                  <a:pt x="383031" y="307895"/>
                </a:lnTo>
                <a:lnTo>
                  <a:pt x="416051" y="271525"/>
                </a:lnTo>
                <a:lnTo>
                  <a:pt x="436340" y="222678"/>
                </a:lnTo>
                <a:lnTo>
                  <a:pt x="443102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30" h="328930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6"/>
                </a:lnTo>
                <a:lnTo>
                  <a:pt x="29971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70553" y="1861566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30">
                <a:moveTo>
                  <a:pt x="338200" y="0"/>
                </a:moveTo>
                <a:lnTo>
                  <a:pt x="333501" y="13335"/>
                </a:lnTo>
                <a:lnTo>
                  <a:pt x="352551" y="21597"/>
                </a:lnTo>
                <a:lnTo>
                  <a:pt x="368935" y="33051"/>
                </a:lnTo>
                <a:lnTo>
                  <a:pt x="393700" y="65532"/>
                </a:lnTo>
                <a:lnTo>
                  <a:pt x="408273" y="109219"/>
                </a:lnTo>
                <a:lnTo>
                  <a:pt x="413131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10" y="315595"/>
                </a:lnTo>
                <a:lnTo>
                  <a:pt x="338200" y="328930"/>
                </a:lnTo>
                <a:lnTo>
                  <a:pt x="383032" y="307895"/>
                </a:lnTo>
                <a:lnTo>
                  <a:pt x="416051" y="271525"/>
                </a:lnTo>
                <a:lnTo>
                  <a:pt x="436340" y="222678"/>
                </a:lnTo>
                <a:lnTo>
                  <a:pt x="443103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8930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69914" y="1861566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30">
                <a:moveTo>
                  <a:pt x="338201" y="0"/>
                </a:moveTo>
                <a:lnTo>
                  <a:pt x="333502" y="13335"/>
                </a:lnTo>
                <a:lnTo>
                  <a:pt x="352552" y="21597"/>
                </a:lnTo>
                <a:lnTo>
                  <a:pt x="368935" y="33051"/>
                </a:lnTo>
                <a:lnTo>
                  <a:pt x="393700" y="65532"/>
                </a:lnTo>
                <a:lnTo>
                  <a:pt x="408273" y="109219"/>
                </a:lnTo>
                <a:lnTo>
                  <a:pt x="413131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10" y="315595"/>
                </a:lnTo>
                <a:lnTo>
                  <a:pt x="338201" y="328930"/>
                </a:lnTo>
                <a:lnTo>
                  <a:pt x="383032" y="307895"/>
                </a:lnTo>
                <a:lnTo>
                  <a:pt x="416052" y="271525"/>
                </a:lnTo>
                <a:lnTo>
                  <a:pt x="436340" y="222678"/>
                </a:lnTo>
                <a:lnTo>
                  <a:pt x="443103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1" y="0"/>
                </a:lnTo>
                <a:close/>
              </a:path>
              <a:path w="443229" h="328930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2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15339" y="1759966"/>
            <a:ext cx="10888980" cy="7931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42900" marR="4318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342900" algn="l"/>
                <a:tab pos="1600200" algn="l"/>
                <a:tab pos="2057400" algn="l"/>
                <a:tab pos="2971800" algn="l"/>
                <a:tab pos="3329940" algn="l"/>
                <a:tab pos="5471795" algn="l"/>
                <a:tab pos="5910580" algn="l"/>
              </a:tabLst>
            </a:pPr>
            <a:r>
              <a:rPr sz="2800" dirty="0">
                <a:latin typeface="Calibri"/>
                <a:cs typeface="Calibri"/>
              </a:rPr>
              <a:t>Caso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𝑥</a:t>
            </a:r>
            <a:r>
              <a:rPr sz="3075" spc="-37" baseline="-16260" dirty="0">
                <a:latin typeface="Cambria Math"/>
                <a:cs typeface="Cambria Math"/>
              </a:rPr>
              <a:t>1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≫</a:t>
            </a:r>
            <a:r>
              <a:rPr sz="2800" spc="14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𝑥</a:t>
            </a:r>
            <a:r>
              <a:rPr sz="3075" spc="-37" baseline="-16260" dirty="0">
                <a:latin typeface="Cambria Math"/>
                <a:cs typeface="Cambria Math"/>
              </a:rPr>
              <a:t>2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∀𝑛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𝑥</a:t>
            </a:r>
            <a:r>
              <a:rPr sz="3075" spc="-37" baseline="-16260" dirty="0">
                <a:latin typeface="Cambria Math"/>
                <a:cs typeface="Cambria Math"/>
              </a:rPr>
              <a:t>1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terá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influência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maior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erro </a:t>
            </a:r>
            <a:r>
              <a:rPr sz="2800" b="1" i="1" spc="-10" dirty="0">
                <a:latin typeface="Calibri"/>
                <a:cs typeface="Calibri"/>
              </a:rPr>
              <a:t>resultante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expresso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aproximada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36158" y="3739388"/>
            <a:ext cx="967740" cy="429259"/>
          </a:xfrm>
          <a:custGeom>
            <a:avLst/>
            <a:gdLst/>
            <a:ahLst/>
            <a:cxnLst/>
            <a:rect l="l" t="t" r="r" b="b"/>
            <a:pathLst>
              <a:path w="967740" h="429260">
                <a:moveTo>
                  <a:pt x="116967" y="14097"/>
                </a:moveTo>
                <a:lnTo>
                  <a:pt x="112649" y="0"/>
                </a:lnTo>
                <a:lnTo>
                  <a:pt x="87134" y="9906"/>
                </a:lnTo>
                <a:lnTo>
                  <a:pt x="64731" y="25501"/>
                </a:lnTo>
                <a:lnTo>
                  <a:pt x="29210" y="73660"/>
                </a:lnTo>
                <a:lnTo>
                  <a:pt x="7315" y="138544"/>
                </a:lnTo>
                <a:lnTo>
                  <a:pt x="0" y="214376"/>
                </a:lnTo>
                <a:lnTo>
                  <a:pt x="1828" y="253695"/>
                </a:lnTo>
                <a:lnTo>
                  <a:pt x="16446" y="324129"/>
                </a:lnTo>
                <a:lnTo>
                  <a:pt x="45415" y="382117"/>
                </a:lnTo>
                <a:lnTo>
                  <a:pt x="87134" y="418934"/>
                </a:lnTo>
                <a:lnTo>
                  <a:pt x="112649" y="428879"/>
                </a:lnTo>
                <a:lnTo>
                  <a:pt x="116967" y="414655"/>
                </a:lnTo>
                <a:lnTo>
                  <a:pt x="97269" y="404444"/>
                </a:lnTo>
                <a:lnTo>
                  <a:pt x="80111" y="389597"/>
                </a:lnTo>
                <a:lnTo>
                  <a:pt x="53467" y="345948"/>
                </a:lnTo>
                <a:lnTo>
                  <a:pt x="37287" y="286626"/>
                </a:lnTo>
                <a:lnTo>
                  <a:pt x="31877" y="214630"/>
                </a:lnTo>
                <a:lnTo>
                  <a:pt x="33223" y="176911"/>
                </a:lnTo>
                <a:lnTo>
                  <a:pt x="44030" y="111086"/>
                </a:lnTo>
                <a:lnTo>
                  <a:pt x="65506" y="58775"/>
                </a:lnTo>
                <a:lnTo>
                  <a:pt x="97269" y="24345"/>
                </a:lnTo>
                <a:lnTo>
                  <a:pt x="116967" y="14097"/>
                </a:lnTo>
                <a:close/>
              </a:path>
              <a:path w="967740" h="429260">
                <a:moveTo>
                  <a:pt x="473837" y="63373"/>
                </a:moveTo>
                <a:lnTo>
                  <a:pt x="469138" y="50038"/>
                </a:lnTo>
                <a:lnTo>
                  <a:pt x="445274" y="58661"/>
                </a:lnTo>
                <a:lnTo>
                  <a:pt x="424345" y="71158"/>
                </a:lnTo>
                <a:lnTo>
                  <a:pt x="391287" y="107696"/>
                </a:lnTo>
                <a:lnTo>
                  <a:pt x="370992" y="156591"/>
                </a:lnTo>
                <a:lnTo>
                  <a:pt x="364236" y="214630"/>
                </a:lnTo>
                <a:lnTo>
                  <a:pt x="365925" y="244830"/>
                </a:lnTo>
                <a:lnTo>
                  <a:pt x="379450" y="298259"/>
                </a:lnTo>
                <a:lnTo>
                  <a:pt x="406285" y="341617"/>
                </a:lnTo>
                <a:lnTo>
                  <a:pt x="445198" y="370382"/>
                </a:lnTo>
                <a:lnTo>
                  <a:pt x="469138" y="378968"/>
                </a:lnTo>
                <a:lnTo>
                  <a:pt x="473202" y="365633"/>
                </a:lnTo>
                <a:lnTo>
                  <a:pt x="454482" y="357352"/>
                </a:lnTo>
                <a:lnTo>
                  <a:pt x="438340" y="345808"/>
                </a:lnTo>
                <a:lnTo>
                  <a:pt x="413766" y="312928"/>
                </a:lnTo>
                <a:lnTo>
                  <a:pt x="399072" y="268224"/>
                </a:lnTo>
                <a:lnTo>
                  <a:pt x="394208" y="212852"/>
                </a:lnTo>
                <a:lnTo>
                  <a:pt x="395414" y="184835"/>
                </a:lnTo>
                <a:lnTo>
                  <a:pt x="405180" y="136169"/>
                </a:lnTo>
                <a:lnTo>
                  <a:pt x="424802" y="97739"/>
                </a:lnTo>
                <a:lnTo>
                  <a:pt x="454850" y="71640"/>
                </a:lnTo>
                <a:lnTo>
                  <a:pt x="473837" y="63373"/>
                </a:lnTo>
                <a:close/>
              </a:path>
              <a:path w="967740" h="429260">
                <a:moveTo>
                  <a:pt x="807339" y="214630"/>
                </a:moveTo>
                <a:lnTo>
                  <a:pt x="800506" y="156591"/>
                </a:lnTo>
                <a:lnTo>
                  <a:pt x="780161" y="107696"/>
                </a:lnTo>
                <a:lnTo>
                  <a:pt x="747204" y="71158"/>
                </a:lnTo>
                <a:lnTo>
                  <a:pt x="702437" y="50038"/>
                </a:lnTo>
                <a:lnTo>
                  <a:pt x="697738" y="63373"/>
                </a:lnTo>
                <a:lnTo>
                  <a:pt x="716788" y="71640"/>
                </a:lnTo>
                <a:lnTo>
                  <a:pt x="733171" y="83096"/>
                </a:lnTo>
                <a:lnTo>
                  <a:pt x="757936" y="115570"/>
                </a:lnTo>
                <a:lnTo>
                  <a:pt x="772502" y="159258"/>
                </a:lnTo>
                <a:lnTo>
                  <a:pt x="777367" y="212852"/>
                </a:lnTo>
                <a:lnTo>
                  <a:pt x="776122" y="241884"/>
                </a:lnTo>
                <a:lnTo>
                  <a:pt x="766318" y="291909"/>
                </a:lnTo>
                <a:lnTo>
                  <a:pt x="746785" y="331012"/>
                </a:lnTo>
                <a:lnTo>
                  <a:pt x="716978" y="357352"/>
                </a:lnTo>
                <a:lnTo>
                  <a:pt x="698246" y="365633"/>
                </a:lnTo>
                <a:lnTo>
                  <a:pt x="702437" y="378968"/>
                </a:lnTo>
                <a:lnTo>
                  <a:pt x="747268" y="357924"/>
                </a:lnTo>
                <a:lnTo>
                  <a:pt x="780288" y="321437"/>
                </a:lnTo>
                <a:lnTo>
                  <a:pt x="800569" y="272707"/>
                </a:lnTo>
                <a:lnTo>
                  <a:pt x="805637" y="244830"/>
                </a:lnTo>
                <a:lnTo>
                  <a:pt x="807339" y="214630"/>
                </a:lnTo>
                <a:close/>
              </a:path>
              <a:path w="967740" h="429260">
                <a:moveTo>
                  <a:pt x="967232" y="214376"/>
                </a:moveTo>
                <a:lnTo>
                  <a:pt x="965390" y="175094"/>
                </a:lnTo>
                <a:lnTo>
                  <a:pt x="950772" y="104749"/>
                </a:lnTo>
                <a:lnTo>
                  <a:pt x="921804" y="46761"/>
                </a:lnTo>
                <a:lnTo>
                  <a:pt x="880084" y="9906"/>
                </a:lnTo>
                <a:lnTo>
                  <a:pt x="854583" y="0"/>
                </a:lnTo>
                <a:lnTo>
                  <a:pt x="850265" y="14097"/>
                </a:lnTo>
                <a:lnTo>
                  <a:pt x="869950" y="24345"/>
                </a:lnTo>
                <a:lnTo>
                  <a:pt x="887107" y="39230"/>
                </a:lnTo>
                <a:lnTo>
                  <a:pt x="913765" y="82931"/>
                </a:lnTo>
                <a:lnTo>
                  <a:pt x="929932" y="142405"/>
                </a:lnTo>
                <a:lnTo>
                  <a:pt x="935355" y="214630"/>
                </a:lnTo>
                <a:lnTo>
                  <a:pt x="933996" y="252209"/>
                </a:lnTo>
                <a:lnTo>
                  <a:pt x="923188" y="317881"/>
                </a:lnTo>
                <a:lnTo>
                  <a:pt x="901712" y="370103"/>
                </a:lnTo>
                <a:lnTo>
                  <a:pt x="869950" y="404444"/>
                </a:lnTo>
                <a:lnTo>
                  <a:pt x="850265" y="414655"/>
                </a:lnTo>
                <a:lnTo>
                  <a:pt x="854583" y="428879"/>
                </a:lnTo>
                <a:lnTo>
                  <a:pt x="902487" y="403339"/>
                </a:lnTo>
                <a:lnTo>
                  <a:pt x="938022" y="355219"/>
                </a:lnTo>
                <a:lnTo>
                  <a:pt x="959904" y="290283"/>
                </a:lnTo>
                <a:lnTo>
                  <a:pt x="965390" y="253695"/>
                </a:lnTo>
                <a:lnTo>
                  <a:pt x="967232" y="2143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32382" y="4149090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30" h="328929">
                <a:moveTo>
                  <a:pt x="338200" y="0"/>
                </a:moveTo>
                <a:lnTo>
                  <a:pt x="333501" y="13335"/>
                </a:lnTo>
                <a:lnTo>
                  <a:pt x="352551" y="21597"/>
                </a:lnTo>
                <a:lnTo>
                  <a:pt x="368934" y="33051"/>
                </a:lnTo>
                <a:lnTo>
                  <a:pt x="393700" y="65532"/>
                </a:lnTo>
                <a:lnTo>
                  <a:pt x="408273" y="109219"/>
                </a:lnTo>
                <a:lnTo>
                  <a:pt x="413131" y="162814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10" y="315595"/>
                </a:lnTo>
                <a:lnTo>
                  <a:pt x="338200" y="328930"/>
                </a:lnTo>
                <a:lnTo>
                  <a:pt x="383031" y="307895"/>
                </a:lnTo>
                <a:lnTo>
                  <a:pt x="416051" y="271526"/>
                </a:lnTo>
                <a:lnTo>
                  <a:pt x="436340" y="222678"/>
                </a:lnTo>
                <a:lnTo>
                  <a:pt x="443103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30" h="328929">
                <a:moveTo>
                  <a:pt x="104901" y="0"/>
                </a:moveTo>
                <a:lnTo>
                  <a:pt x="60118" y="21113"/>
                </a:lnTo>
                <a:lnTo>
                  <a:pt x="27051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6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6"/>
                </a:lnTo>
                <a:lnTo>
                  <a:pt x="29971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20590" y="4958334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29">
                <a:moveTo>
                  <a:pt x="338200" y="0"/>
                </a:moveTo>
                <a:lnTo>
                  <a:pt x="333501" y="13335"/>
                </a:lnTo>
                <a:lnTo>
                  <a:pt x="352551" y="21597"/>
                </a:lnTo>
                <a:lnTo>
                  <a:pt x="368935" y="33051"/>
                </a:lnTo>
                <a:lnTo>
                  <a:pt x="393700" y="65532"/>
                </a:lnTo>
                <a:lnTo>
                  <a:pt x="408273" y="109220"/>
                </a:lnTo>
                <a:lnTo>
                  <a:pt x="413131" y="162814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10" y="315595"/>
                </a:lnTo>
                <a:lnTo>
                  <a:pt x="338200" y="328930"/>
                </a:lnTo>
                <a:lnTo>
                  <a:pt x="383032" y="307879"/>
                </a:lnTo>
                <a:lnTo>
                  <a:pt x="416051" y="271399"/>
                </a:lnTo>
                <a:lnTo>
                  <a:pt x="436340" y="222662"/>
                </a:lnTo>
                <a:lnTo>
                  <a:pt x="443102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6"/>
                </a:lnTo>
                <a:lnTo>
                  <a:pt x="29972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86094" y="4958334"/>
            <a:ext cx="443230" cy="328930"/>
          </a:xfrm>
          <a:custGeom>
            <a:avLst/>
            <a:gdLst/>
            <a:ahLst/>
            <a:cxnLst/>
            <a:rect l="l" t="t" r="r" b="b"/>
            <a:pathLst>
              <a:path w="443229" h="328929">
                <a:moveTo>
                  <a:pt x="338200" y="0"/>
                </a:moveTo>
                <a:lnTo>
                  <a:pt x="333501" y="13335"/>
                </a:lnTo>
                <a:lnTo>
                  <a:pt x="352551" y="21597"/>
                </a:lnTo>
                <a:lnTo>
                  <a:pt x="368935" y="33051"/>
                </a:lnTo>
                <a:lnTo>
                  <a:pt x="393700" y="65532"/>
                </a:lnTo>
                <a:lnTo>
                  <a:pt x="408273" y="109220"/>
                </a:lnTo>
                <a:lnTo>
                  <a:pt x="413130" y="162814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65"/>
                </a:lnTo>
                <a:lnTo>
                  <a:pt x="352746" y="307306"/>
                </a:lnTo>
                <a:lnTo>
                  <a:pt x="334009" y="315595"/>
                </a:lnTo>
                <a:lnTo>
                  <a:pt x="338200" y="328930"/>
                </a:lnTo>
                <a:lnTo>
                  <a:pt x="383031" y="307879"/>
                </a:lnTo>
                <a:lnTo>
                  <a:pt x="416051" y="271399"/>
                </a:lnTo>
                <a:lnTo>
                  <a:pt x="436340" y="222662"/>
                </a:lnTo>
                <a:lnTo>
                  <a:pt x="443102" y="164592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90"/>
                </a:lnTo>
                <a:lnTo>
                  <a:pt x="34845" y="218186"/>
                </a:lnTo>
                <a:lnTo>
                  <a:pt x="29971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45585" y="5299709"/>
            <a:ext cx="443230" cy="329565"/>
          </a:xfrm>
          <a:custGeom>
            <a:avLst/>
            <a:gdLst/>
            <a:ahLst/>
            <a:cxnLst/>
            <a:rect l="l" t="t" r="r" b="b"/>
            <a:pathLst>
              <a:path w="443229" h="329564">
                <a:moveTo>
                  <a:pt x="338200" y="0"/>
                </a:moveTo>
                <a:lnTo>
                  <a:pt x="333501" y="13334"/>
                </a:lnTo>
                <a:lnTo>
                  <a:pt x="352551" y="21597"/>
                </a:lnTo>
                <a:lnTo>
                  <a:pt x="368935" y="33051"/>
                </a:lnTo>
                <a:lnTo>
                  <a:pt x="393700" y="65531"/>
                </a:lnTo>
                <a:lnTo>
                  <a:pt x="408273" y="109219"/>
                </a:lnTo>
                <a:lnTo>
                  <a:pt x="413130" y="162813"/>
                </a:lnTo>
                <a:lnTo>
                  <a:pt x="411896" y="191845"/>
                </a:lnTo>
                <a:lnTo>
                  <a:pt x="402093" y="241859"/>
                </a:lnTo>
                <a:lnTo>
                  <a:pt x="382551" y="280937"/>
                </a:lnTo>
                <a:lnTo>
                  <a:pt x="352746" y="307291"/>
                </a:lnTo>
                <a:lnTo>
                  <a:pt x="334010" y="315594"/>
                </a:lnTo>
                <a:lnTo>
                  <a:pt x="338200" y="328942"/>
                </a:lnTo>
                <a:lnTo>
                  <a:pt x="383031" y="307886"/>
                </a:lnTo>
                <a:lnTo>
                  <a:pt x="416051" y="271398"/>
                </a:lnTo>
                <a:lnTo>
                  <a:pt x="436340" y="222662"/>
                </a:lnTo>
                <a:lnTo>
                  <a:pt x="443102" y="164591"/>
                </a:lnTo>
                <a:lnTo>
                  <a:pt x="441392" y="134417"/>
                </a:lnTo>
                <a:lnTo>
                  <a:pt x="427779" y="80974"/>
                </a:lnTo>
                <a:lnTo>
                  <a:pt x="400923" y="37468"/>
                </a:lnTo>
                <a:lnTo>
                  <a:pt x="362061" y="8616"/>
                </a:lnTo>
                <a:lnTo>
                  <a:pt x="338200" y="0"/>
                </a:lnTo>
                <a:close/>
              </a:path>
              <a:path w="443229" h="329564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73"/>
                </a:lnTo>
                <a:lnTo>
                  <a:pt x="80968" y="320340"/>
                </a:lnTo>
                <a:lnTo>
                  <a:pt x="104901" y="328942"/>
                </a:lnTo>
                <a:lnTo>
                  <a:pt x="108965" y="315594"/>
                </a:lnTo>
                <a:lnTo>
                  <a:pt x="90249" y="307291"/>
                </a:lnTo>
                <a:lnTo>
                  <a:pt x="74104" y="295738"/>
                </a:lnTo>
                <a:lnTo>
                  <a:pt x="49529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24"/>
              <p:cNvSpPr txBox="1"/>
              <p:nvPr/>
            </p:nvSpPr>
            <p:spPr>
              <a:xfrm>
                <a:off x="815339" y="3688460"/>
                <a:ext cx="11030585" cy="282423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42900" indent="-228600">
                  <a:lnSpc>
                    <a:spcPts val="3095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342900" algn="l"/>
                    <a:tab pos="5149850" algn="l"/>
                    <a:tab pos="5502275" algn="l"/>
                    <a:tab pos="6102350" algn="l"/>
                  </a:tabLst>
                </a:pPr>
                <a:r>
                  <a:rPr lang="pt-BR" sz="2800" spc="-20" dirty="0">
                    <a:latin typeface="Calibri"/>
                    <a:cs typeface="Calibri"/>
                  </a:rPr>
                  <a:t>Portanto,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entre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80" dirty="0">
                    <a:latin typeface="Cambria Math"/>
                    <a:cs typeface="Cambria Math"/>
                  </a:rPr>
                  <a:t>𝑦</a:t>
                </a:r>
                <a:r>
                  <a:rPr lang="pt-BR" sz="3075" spc="120" baseline="-16260" dirty="0">
                    <a:latin typeface="Cambria Math"/>
                    <a:cs typeface="Cambria Math"/>
                  </a:rPr>
                  <a:t>noisy</a:t>
                </a:r>
                <a:r>
                  <a:rPr lang="pt-BR" sz="3075" spc="32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e</a:t>
                </a:r>
                <a:r>
                  <a:rPr lang="pt-BR" sz="2800" spc="-65" dirty="0">
                    <a:latin typeface="Cambria Math"/>
                    <a:cs typeface="Cambria Math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ℎ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𝑛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será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dominado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pelo</a:t>
                </a:r>
                <a:r>
                  <a:rPr lang="pt-BR" sz="2800" b="1" i="1" spc="-10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atributo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42900" marR="347980">
                  <a:lnSpc>
                    <a:spcPct val="80000"/>
                  </a:lnSpc>
                  <a:spcBef>
                    <a:spcPts val="409"/>
                  </a:spcBef>
                  <a:tabLst>
                    <a:tab pos="833755" algn="l"/>
                    <a:tab pos="1272540" algn="l"/>
                  </a:tabLst>
                </a:pPr>
                <a:r>
                  <a:rPr lang="pt-BR" sz="28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	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𝑛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e,</a:t>
                </a:r>
                <a:r>
                  <a:rPr lang="pt-BR" sz="2800" spc="-14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portanto,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pequenas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variações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pc="-4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pc="-4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spc="-20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3075" spc="427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farão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varie rapidamente.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42900" marR="68580" indent="-228600">
                  <a:lnSpc>
                    <a:spcPct val="80000"/>
                  </a:lnSpc>
                  <a:spcBef>
                    <a:spcPts val="994"/>
                  </a:spcBef>
                  <a:buFont typeface="Arial"/>
                  <a:buChar char="•"/>
                  <a:tabLst>
                    <a:tab pos="342900" algn="l"/>
                    <a:tab pos="2846705" algn="l"/>
                    <a:tab pos="3284220" algn="l"/>
                    <a:tab pos="4022090" algn="l"/>
                    <a:tab pos="4479290" algn="l"/>
                    <a:tab pos="5387975" algn="l"/>
                    <a:tab pos="5746115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Algo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similar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ocorre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2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	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𝑛</a:t>
                </a:r>
                <a:r>
                  <a:rPr lang="pt-BR" sz="2800" dirty="0">
                    <a:latin typeface="Cambria Math"/>
                    <a:cs typeface="Cambria Math"/>
                  </a:rPr>
                  <a:t>	≫</a:t>
                </a:r>
                <a:r>
                  <a:rPr lang="pt-BR" sz="2800" spc="150" dirty="0">
                    <a:latin typeface="Cambria Math"/>
                    <a:cs typeface="Cambria Math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	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𝑛</a:t>
                </a:r>
                <a:r>
                  <a:rPr lang="pt-BR" sz="2800" dirty="0">
                    <a:latin typeface="Cambria Math"/>
                    <a:cs typeface="Cambria Math"/>
                  </a:rPr>
                  <a:t>	,</a:t>
                </a:r>
                <a:r>
                  <a:rPr lang="pt-BR" sz="2800" spc="-7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nesse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caso,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será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dominado </a:t>
                </a:r>
                <a:r>
                  <a:rPr lang="pt-BR" sz="2800" b="1" i="1" dirty="0">
                    <a:latin typeface="Calibri"/>
                    <a:cs typeface="Calibri"/>
                  </a:rPr>
                  <a:t>pelo</a:t>
                </a:r>
                <a:r>
                  <a:rPr lang="pt-BR" sz="28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atributo</a:t>
                </a:r>
                <a:r>
                  <a:rPr lang="pt-BR" sz="2800" b="1" i="1" spc="-10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2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	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𝑛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e,</a:t>
                </a:r>
                <a:r>
                  <a:rPr lang="pt-BR" sz="2800" spc="-15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portanto,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pequenas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variações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800" b="0" i="1" spc="-5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800" b="0" i="1" spc="-5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spc="-20" dirty="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3075" spc="47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farão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40" dirty="0">
                    <a:latin typeface="Calibri"/>
                    <a:cs typeface="Calibri"/>
                  </a:rPr>
                  <a:t>que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varie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rapidamente.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42900" indent="-228600">
                  <a:lnSpc>
                    <a:spcPct val="100000"/>
                  </a:lnSpc>
                  <a:spcBef>
                    <a:spcPts val="320"/>
                  </a:spcBef>
                  <a:buFont typeface="Arial"/>
                  <a:buChar char="•"/>
                  <a:tabLst>
                    <a:tab pos="342900" algn="l"/>
                  </a:tabLst>
                </a:pPr>
                <a:r>
                  <a:rPr lang="pt-BR" sz="2800" spc="-20" dirty="0">
                    <a:latin typeface="Calibri"/>
                    <a:cs typeface="Calibri"/>
                  </a:rPr>
                  <a:t>Vamos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ver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fica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formato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superfície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estes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casos.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39" y="3688460"/>
                <a:ext cx="11030585" cy="2824235"/>
              </a:xfrm>
              <a:prstGeom prst="rect">
                <a:avLst/>
              </a:prstGeom>
              <a:blipFill>
                <a:blip r:embed="rId2"/>
                <a:stretch>
                  <a:fillRect l="-774" t="-4968" r="-1327" b="-56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08D18B21-B736-574C-6F09-84B3D2758A52}"/>
                  </a:ext>
                </a:extLst>
              </p:cNvPr>
              <p:cNvSpPr txBox="1"/>
              <p:nvPr/>
            </p:nvSpPr>
            <p:spPr>
              <a:xfrm>
                <a:off x="3202227" y="2529851"/>
                <a:ext cx="5787546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pt-BR" sz="2800" b="0" i="0" smtClean="0">
                                          <a:latin typeface="Cambria Math" panose="02040503050406030204" pitchFamily="18" charset="0"/>
                                        </a:rPr>
                                        <m:t>noisy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08D18B21-B736-574C-6F09-84B3D2758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227" y="2529851"/>
                <a:ext cx="5787546" cy="12119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0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superfície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erro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904239" y="1594745"/>
                <a:ext cx="10546715" cy="2778773"/>
              </a:xfrm>
              <a:prstGeom prst="rect">
                <a:avLst/>
              </a:prstGeom>
            </p:spPr>
            <p:txBody>
              <a:bodyPr vert="horz" wrap="square" lIns="0" tIns="39369" rIns="0" bIns="0" rtlCol="0">
                <a:spAutoFit/>
              </a:bodyPr>
              <a:lstStyle/>
              <a:p>
                <a:pPr marL="254000" indent="-228600">
                  <a:lnSpc>
                    <a:spcPct val="100000"/>
                  </a:lnSpc>
                  <a:spcBef>
                    <a:spcPts val="309"/>
                  </a:spcBef>
                  <a:buFont typeface="Arial"/>
                  <a:buChar char="•"/>
                  <a:tabLst>
                    <a:tab pos="253365" algn="l"/>
                    <a:tab pos="254000" algn="l"/>
                  </a:tabLst>
                </a:pPr>
                <a:r>
                  <a:rPr lang="pt-BR" sz="2200" b="1" i="1" dirty="0">
                    <a:latin typeface="Calibri"/>
                    <a:cs typeface="Calibri"/>
                  </a:rPr>
                  <a:t>Primeiro</a:t>
                </a:r>
                <a:r>
                  <a:rPr lang="pt-BR" sz="22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caso</a:t>
                </a:r>
                <a:r>
                  <a:rPr lang="pt-BR" sz="2200" dirty="0">
                    <a:latin typeface="Calibri"/>
                    <a:cs typeface="Calibri"/>
                  </a:rPr>
                  <a:t>: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𝑥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1</a:t>
                </a:r>
                <a:r>
                  <a:rPr lang="pt-BR" sz="2400" spc="254" baseline="-1562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tem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intervalo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variação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maior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2400" spc="-37" baseline="-15625" dirty="0">
                    <a:latin typeface="Cambria Math"/>
                    <a:cs typeface="Cambria Math"/>
                  </a:rPr>
                  <a:t>2</a:t>
                </a:r>
                <a:r>
                  <a:rPr lang="pt-BR" sz="2200" spc="-25" dirty="0">
                    <a:latin typeface="Calibri"/>
                    <a:cs typeface="Calibri"/>
                  </a:rPr>
                  <a:t>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254000" indent="-228600">
                  <a:lnSpc>
                    <a:spcPct val="100000"/>
                  </a:lnSpc>
                  <a:spcBef>
                    <a:spcPts val="204"/>
                  </a:spcBef>
                  <a:buFont typeface="Arial"/>
                  <a:buChar char="•"/>
                  <a:tabLst>
                    <a:tab pos="253365" algn="l"/>
                    <a:tab pos="254000" algn="l"/>
                  </a:tabLst>
                </a:pPr>
                <a:r>
                  <a:rPr lang="pt-BR" sz="2200" spc="-20" dirty="0">
                    <a:latin typeface="Calibri"/>
                    <a:cs typeface="Calibri"/>
                  </a:rPr>
                  <a:t>Portanto,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influência</a:t>
                </a:r>
                <a:r>
                  <a:rPr lang="pt-BR" sz="2200" b="1" i="1" spc="-3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variação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pc="-2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2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>
                    <a:latin typeface="Calibri"/>
                    <a:cs typeface="Calibri"/>
                  </a:rPr>
                  <a:t> no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erro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maior.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254000" marR="17780" indent="-228600">
                  <a:lnSpc>
                    <a:spcPct val="70000"/>
                  </a:lnSpc>
                  <a:spcBef>
                    <a:spcPts val="994"/>
                  </a:spcBef>
                  <a:buFont typeface="Arial"/>
                  <a:buChar char="•"/>
                  <a:tabLst>
                    <a:tab pos="253365" algn="l"/>
                    <a:tab pos="25400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Ou</a:t>
                </a:r>
                <a:r>
                  <a:rPr lang="pt-BR" sz="2200" spc="-9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seja,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erro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varia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mais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rapidamente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com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variações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9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pc="-95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i="1" spc="-9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200" b="0" i="1" spc="-95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spc="-215" dirty="0">
                    <a:latin typeface="Calibri"/>
                    <a:cs typeface="Calibri"/>
                  </a:rPr>
                  <a:t>,</a:t>
                </a:r>
                <a:r>
                  <a:rPr lang="pt-BR" sz="220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resultando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em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uma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superfície </a:t>
                </a:r>
                <a:r>
                  <a:rPr lang="pt-BR" sz="2200" dirty="0">
                    <a:latin typeface="Calibri"/>
                    <a:cs typeface="Calibri"/>
                  </a:rPr>
                  <a:t>com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formato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vale</a:t>
                </a:r>
                <a:r>
                  <a:rPr lang="pt-BR" sz="2200" spc="-10" dirty="0">
                    <a:latin typeface="Calibri"/>
                    <a:cs typeface="Calibri"/>
                  </a:rPr>
                  <a:t>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711200" lvl="1" indent="-229235">
                  <a:lnSpc>
                    <a:spcPts val="2100"/>
                  </a:lnSpc>
                  <a:buFont typeface="Wingdings"/>
                  <a:buChar char=""/>
                  <a:tabLst>
                    <a:tab pos="711835" algn="l"/>
                  </a:tabLst>
                </a:pPr>
                <a:r>
                  <a:rPr lang="pt-BR" sz="1900" dirty="0">
                    <a:latin typeface="Calibri"/>
                    <a:cs typeface="Calibri"/>
                  </a:rPr>
                  <a:t>A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spc="-10" dirty="0">
                    <a:latin typeface="Calibri"/>
                    <a:cs typeface="Calibri"/>
                  </a:rPr>
                  <a:t>superfície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tem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inclinação</a:t>
                </a:r>
                <a:r>
                  <a:rPr lang="pt-BR" sz="1900" spc="-3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maior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no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sentido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do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peso</a:t>
                </a:r>
                <a:r>
                  <a:rPr lang="pt-BR" sz="19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19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19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900" spc="-195" dirty="0">
                    <a:latin typeface="Calibri"/>
                    <a:cs typeface="Calibri"/>
                  </a:rPr>
                  <a:t>.</a:t>
                </a:r>
                <a:endParaRPr lang="pt-BR" sz="1900" dirty="0">
                  <a:latin typeface="Calibri"/>
                  <a:cs typeface="Calibri"/>
                </a:endParaRPr>
              </a:p>
              <a:p>
                <a:pPr marL="254000" indent="-228600">
                  <a:lnSpc>
                    <a:spcPts val="2550"/>
                  </a:lnSpc>
                  <a:spcBef>
                    <a:spcPts val="204"/>
                  </a:spcBef>
                  <a:buFont typeface="Arial"/>
                  <a:buChar char="•"/>
                  <a:tabLst>
                    <a:tab pos="253365" algn="l"/>
                    <a:tab pos="25400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erro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varia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bem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mais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lentamente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com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variações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9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4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4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spc="-1190" dirty="0">
                    <a:latin typeface="Cambria Math"/>
                    <a:cs typeface="Cambria Math"/>
                  </a:rPr>
                  <a:t>.</a:t>
                </a:r>
              </a:p>
              <a:p>
                <a:pPr marL="254000" indent="-228600">
                  <a:lnSpc>
                    <a:spcPts val="2550"/>
                  </a:lnSpc>
                  <a:spcBef>
                    <a:spcPts val="204"/>
                  </a:spcBef>
                  <a:buFont typeface="Arial"/>
                  <a:buChar char="•"/>
                  <a:tabLst>
                    <a:tab pos="253365" algn="l"/>
                    <a:tab pos="254000" algn="l"/>
                  </a:tabLst>
                </a:pPr>
                <a:r>
                  <a:rPr lang="pt-BR" sz="1900" dirty="0">
                    <a:latin typeface="Calibri"/>
                    <a:cs typeface="Calibri"/>
                  </a:rPr>
                  <a:t>A</a:t>
                </a:r>
                <a:r>
                  <a:rPr lang="pt-BR" sz="1900" spc="-5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inclinação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da</a:t>
                </a:r>
                <a:r>
                  <a:rPr lang="pt-BR" sz="1900" spc="-45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superfície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é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bem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menor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no</a:t>
                </a:r>
                <a:r>
                  <a:rPr lang="pt-BR" sz="1900" spc="-5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sentido</a:t>
                </a:r>
                <a:r>
                  <a:rPr lang="pt-BR" sz="1900" spc="-40" dirty="0">
                    <a:latin typeface="Calibri"/>
                    <a:cs typeface="Calibri"/>
                  </a:rPr>
                  <a:t> </a:t>
                </a:r>
                <a:r>
                  <a:rPr lang="pt-BR" sz="1900" dirty="0">
                    <a:latin typeface="Calibri"/>
                    <a:cs typeface="Calibri"/>
                  </a:rPr>
                  <a:t>de</a:t>
                </a:r>
                <a:r>
                  <a:rPr lang="pt-BR" sz="19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0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0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0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900" dirty="0">
                    <a:latin typeface="Calibri"/>
                    <a:cs typeface="Calibri"/>
                  </a:rPr>
                  <a:t>.</a:t>
                </a:r>
              </a:p>
              <a:p>
                <a:pPr marL="254000" indent="-228600">
                  <a:lnSpc>
                    <a:spcPct val="100000"/>
                  </a:lnSpc>
                  <a:spcBef>
                    <a:spcPts val="204"/>
                  </a:spcBef>
                  <a:buFont typeface="Arial"/>
                  <a:buChar char="•"/>
                  <a:tabLst>
                    <a:tab pos="253365" algn="l"/>
                    <a:tab pos="25400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abertura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vale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está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no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sentido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9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4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spc="-225" dirty="0">
                    <a:latin typeface="Calibri"/>
                    <a:cs typeface="Calibri"/>
                  </a:rPr>
                  <a:t>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39" y="1594745"/>
                <a:ext cx="10546715" cy="2778773"/>
              </a:xfrm>
              <a:prstGeom prst="rect">
                <a:avLst/>
              </a:prstGeom>
              <a:blipFill>
                <a:blip r:embed="rId2"/>
                <a:stretch>
                  <a:fillRect l="-1272" t="-2198" r="-751" b="-50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3189" y="4373552"/>
            <a:ext cx="3405963" cy="21905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13430" y="4516628"/>
            <a:ext cx="843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Histograma </a:t>
            </a:r>
            <a:r>
              <a:rPr sz="1200" dirty="0">
                <a:latin typeface="Calibri"/>
                <a:cs typeface="Calibri"/>
              </a:rPr>
              <a:t>dos </a:t>
            </a:r>
            <a:r>
              <a:rPr sz="1200" spc="-10" dirty="0">
                <a:latin typeface="Calibri"/>
                <a:cs typeface="Calibri"/>
              </a:rPr>
              <a:t>atributos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6194" y="4354829"/>
            <a:ext cx="3276461" cy="22373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77633" y="4417263"/>
            <a:ext cx="6426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Superfície</a:t>
            </a:r>
            <a:endParaRPr sz="12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erro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67255" y="5325490"/>
            <a:ext cx="516890" cy="212090"/>
          </a:xfrm>
          <a:custGeom>
            <a:avLst/>
            <a:gdLst/>
            <a:ahLst/>
            <a:cxnLst/>
            <a:rect l="l" t="t" r="r" b="b"/>
            <a:pathLst>
              <a:path w="516889" h="212089">
                <a:moveTo>
                  <a:pt x="448944" y="0"/>
                </a:moveTo>
                <a:lnTo>
                  <a:pt x="446024" y="8509"/>
                </a:lnTo>
                <a:lnTo>
                  <a:pt x="458235" y="13892"/>
                </a:lnTo>
                <a:lnTo>
                  <a:pt x="468756" y="21288"/>
                </a:lnTo>
                <a:lnTo>
                  <a:pt x="490132" y="55429"/>
                </a:lnTo>
                <a:lnTo>
                  <a:pt x="497205" y="104775"/>
                </a:lnTo>
                <a:lnTo>
                  <a:pt x="496419" y="123444"/>
                </a:lnTo>
                <a:lnTo>
                  <a:pt x="484631" y="169164"/>
                </a:lnTo>
                <a:lnTo>
                  <a:pt x="458325" y="197739"/>
                </a:lnTo>
                <a:lnTo>
                  <a:pt x="446277" y="203073"/>
                </a:lnTo>
                <a:lnTo>
                  <a:pt x="448944" y="211709"/>
                </a:lnTo>
                <a:lnTo>
                  <a:pt x="489414" y="187706"/>
                </a:lnTo>
                <a:lnTo>
                  <a:pt x="512143" y="143335"/>
                </a:lnTo>
                <a:lnTo>
                  <a:pt x="516508" y="105918"/>
                </a:lnTo>
                <a:lnTo>
                  <a:pt x="515413" y="86483"/>
                </a:lnTo>
                <a:lnTo>
                  <a:pt x="498982" y="37084"/>
                </a:lnTo>
                <a:lnTo>
                  <a:pt x="464300" y="5526"/>
                </a:lnTo>
                <a:lnTo>
                  <a:pt x="448944" y="0"/>
                </a:lnTo>
                <a:close/>
              </a:path>
              <a:path w="516889" h="212089">
                <a:moveTo>
                  <a:pt x="67563" y="0"/>
                </a:moveTo>
                <a:lnTo>
                  <a:pt x="27219" y="24056"/>
                </a:lnTo>
                <a:lnTo>
                  <a:pt x="4381" y="68548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073"/>
                </a:lnTo>
                <a:lnTo>
                  <a:pt x="58183" y="197739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892"/>
                </a:lnTo>
                <a:lnTo>
                  <a:pt x="70612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95400" y="5592165"/>
            <a:ext cx="516890" cy="212090"/>
          </a:xfrm>
          <a:custGeom>
            <a:avLst/>
            <a:gdLst/>
            <a:ahLst/>
            <a:cxnLst/>
            <a:rect l="l" t="t" r="r" b="b"/>
            <a:pathLst>
              <a:path w="516889" h="212089">
                <a:moveTo>
                  <a:pt x="448944" y="0"/>
                </a:moveTo>
                <a:lnTo>
                  <a:pt x="446024" y="8585"/>
                </a:lnTo>
                <a:lnTo>
                  <a:pt x="458235" y="13909"/>
                </a:lnTo>
                <a:lnTo>
                  <a:pt x="468756" y="21274"/>
                </a:lnTo>
                <a:lnTo>
                  <a:pt x="490132" y="55401"/>
                </a:lnTo>
                <a:lnTo>
                  <a:pt x="497205" y="104813"/>
                </a:lnTo>
                <a:lnTo>
                  <a:pt x="496419" y="123484"/>
                </a:lnTo>
                <a:lnTo>
                  <a:pt x="484631" y="169214"/>
                </a:lnTo>
                <a:lnTo>
                  <a:pt x="458325" y="197805"/>
                </a:lnTo>
                <a:lnTo>
                  <a:pt x="446277" y="203149"/>
                </a:lnTo>
                <a:lnTo>
                  <a:pt x="448944" y="211734"/>
                </a:lnTo>
                <a:lnTo>
                  <a:pt x="489414" y="187702"/>
                </a:lnTo>
                <a:lnTo>
                  <a:pt x="512143" y="143333"/>
                </a:lnTo>
                <a:lnTo>
                  <a:pt x="516508" y="105918"/>
                </a:lnTo>
                <a:lnTo>
                  <a:pt x="515413" y="86508"/>
                </a:lnTo>
                <a:lnTo>
                  <a:pt x="498982" y="37109"/>
                </a:lnTo>
                <a:lnTo>
                  <a:pt x="464300" y="5541"/>
                </a:lnTo>
                <a:lnTo>
                  <a:pt x="448944" y="0"/>
                </a:lnTo>
                <a:close/>
              </a:path>
              <a:path w="516889" h="212089">
                <a:moveTo>
                  <a:pt x="67563" y="0"/>
                </a:moveTo>
                <a:lnTo>
                  <a:pt x="27219" y="24095"/>
                </a:lnTo>
                <a:lnTo>
                  <a:pt x="4381" y="68570"/>
                </a:lnTo>
                <a:lnTo>
                  <a:pt x="0" y="105918"/>
                </a:lnTo>
                <a:lnTo>
                  <a:pt x="1093" y="125377"/>
                </a:lnTo>
                <a:lnTo>
                  <a:pt x="17399" y="174739"/>
                </a:lnTo>
                <a:lnTo>
                  <a:pt x="52153" y="206200"/>
                </a:lnTo>
                <a:lnTo>
                  <a:pt x="67563" y="211734"/>
                </a:lnTo>
                <a:lnTo>
                  <a:pt x="70231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7"/>
                </a:lnTo>
                <a:lnTo>
                  <a:pt x="19303" y="104813"/>
                </a:lnTo>
                <a:lnTo>
                  <a:pt x="20089" y="86743"/>
                </a:lnTo>
                <a:lnTo>
                  <a:pt x="31877" y="42125"/>
                </a:lnTo>
                <a:lnTo>
                  <a:pt x="58398" y="13909"/>
                </a:lnTo>
                <a:lnTo>
                  <a:pt x="70612" y="858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4663" y="4972304"/>
            <a:ext cx="2023110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Atributos</a:t>
            </a:r>
            <a:endParaRPr sz="1800">
              <a:latin typeface="Calibri"/>
              <a:cs typeface="Calibri"/>
            </a:endParaRPr>
          </a:p>
          <a:p>
            <a:pPr marL="76200">
              <a:lnSpc>
                <a:spcPts val="2130"/>
              </a:lnSpc>
              <a:spcBef>
                <a:spcPts val="70"/>
              </a:spcBef>
            </a:pP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39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2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∗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randn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N,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ts val="2130"/>
              </a:lnSpc>
            </a:pP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950" spc="42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randn</a:t>
            </a:r>
            <a:r>
              <a:rPr sz="1800" spc="35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N,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1396" y="4360144"/>
            <a:ext cx="2357699" cy="222141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824084" y="4452366"/>
            <a:ext cx="831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Superfície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de </a:t>
            </a:r>
            <a:r>
              <a:rPr sz="1200" spc="-10" dirty="0">
                <a:latin typeface="Calibri"/>
                <a:cs typeface="Calibri"/>
              </a:rPr>
              <a:t>contorno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619443"/>
            <a:ext cx="38354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Exemplo:</a:t>
            </a:r>
            <a:r>
              <a:rPr sz="1200" b="1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2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formatos_diferentes_da_superfície_de_erro.ipynb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0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superfície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erro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904239" y="1524000"/>
                <a:ext cx="10086340" cy="2686441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254000" indent="-228600">
                  <a:lnSpc>
                    <a:spcPct val="100000"/>
                  </a:lnSpc>
                  <a:spcBef>
                    <a:spcPts val="105"/>
                  </a:spcBef>
                  <a:buFont typeface="Arial"/>
                  <a:buChar char="•"/>
                  <a:tabLst>
                    <a:tab pos="254000" algn="l"/>
                  </a:tabLst>
                </a:pPr>
                <a:r>
                  <a:rPr lang="pt-BR" sz="2600" b="1" i="1" dirty="0">
                    <a:latin typeface="Calibri"/>
                    <a:cs typeface="Calibri"/>
                  </a:rPr>
                  <a:t>Segundo</a:t>
                </a:r>
                <a:r>
                  <a:rPr lang="pt-BR" sz="26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caso</a:t>
                </a:r>
                <a:r>
                  <a:rPr lang="pt-BR" sz="2600" dirty="0">
                    <a:latin typeface="Calibri"/>
                    <a:cs typeface="Calibri"/>
                  </a:rPr>
                  <a:t>: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𝑥</a:t>
                </a:r>
                <a:r>
                  <a:rPr lang="pt-BR" sz="2850" baseline="-16081" dirty="0">
                    <a:latin typeface="Cambria Math"/>
                    <a:cs typeface="Cambria Math"/>
                  </a:rPr>
                  <a:t>2</a:t>
                </a:r>
                <a:r>
                  <a:rPr lang="pt-BR" sz="2850" spc="375" baseline="-16081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tem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intervalo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variação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maior do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que</a:t>
                </a:r>
                <a:r>
                  <a:rPr lang="pt-BR" sz="2600" spc="-80" dirty="0">
                    <a:latin typeface="Calibri"/>
                    <a:cs typeface="Calibri"/>
                  </a:rPr>
                  <a:t> </a:t>
                </a:r>
                <a:r>
                  <a:rPr lang="pt-BR" sz="26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2850" spc="-37" baseline="-16081" dirty="0">
                    <a:latin typeface="Cambria Math"/>
                    <a:cs typeface="Cambria Math"/>
                  </a:rPr>
                  <a:t>1</a:t>
                </a:r>
                <a:r>
                  <a:rPr lang="pt-BR" sz="2600" spc="-25" dirty="0">
                    <a:latin typeface="Calibri"/>
                    <a:cs typeface="Calibri"/>
                  </a:rPr>
                  <a:t>.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254000" marR="17780" indent="-228600">
                  <a:lnSpc>
                    <a:spcPct val="70100"/>
                  </a:lnSpc>
                  <a:spcBef>
                    <a:spcPts val="990"/>
                  </a:spcBef>
                  <a:buFont typeface="Arial"/>
                  <a:buChar char="•"/>
                  <a:tabLst>
                    <a:tab pos="2540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Então,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influência</a:t>
                </a:r>
                <a:r>
                  <a:rPr lang="pt-BR" sz="2600" spc="-6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variação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9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6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ar-AE" sz="26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ar-AE" sz="26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3200" spc="-1190" dirty="0">
                    <a:latin typeface="Cambria Math"/>
                    <a:cs typeface="Cambria Math"/>
                  </a:rPr>
                  <a:t>.     </a:t>
                </a:r>
                <a:r>
                  <a:rPr lang="pt-BR" sz="2600" dirty="0">
                    <a:latin typeface="Calibri"/>
                    <a:cs typeface="Calibri"/>
                  </a:rPr>
                  <a:t>no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erro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spc="-20" dirty="0">
                    <a:latin typeface="Calibri"/>
                    <a:cs typeface="Calibri"/>
                  </a:rPr>
                  <a:t>maior, </a:t>
                </a:r>
                <a:r>
                  <a:rPr lang="pt-BR" sz="2600" dirty="0">
                    <a:latin typeface="Calibri"/>
                    <a:cs typeface="Calibri"/>
                  </a:rPr>
                  <a:t>resultando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em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spc="-95" dirty="0">
                    <a:latin typeface="Calibri"/>
                    <a:cs typeface="Calibri"/>
                  </a:rPr>
                  <a:t>uma </a:t>
                </a:r>
                <a:r>
                  <a:rPr lang="pt-BR" sz="2600" dirty="0">
                    <a:latin typeface="Calibri"/>
                    <a:cs typeface="Calibri"/>
                  </a:rPr>
                  <a:t>superfície</a:t>
                </a:r>
                <a:r>
                  <a:rPr lang="pt-BR" sz="2600" spc="-9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formato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70" dirty="0">
                    <a:latin typeface="Calibri"/>
                    <a:cs typeface="Calibri"/>
                  </a:rPr>
                  <a:t> </a:t>
                </a:r>
                <a:r>
                  <a:rPr lang="pt-BR" sz="2600" b="1" i="1" spc="-10" dirty="0">
                    <a:latin typeface="Calibri"/>
                    <a:cs typeface="Calibri"/>
                  </a:rPr>
                  <a:t>vale</a:t>
                </a:r>
                <a:r>
                  <a:rPr lang="pt-BR" sz="2600" spc="-10" dirty="0">
                    <a:latin typeface="Calibri"/>
                    <a:cs typeface="Calibri"/>
                  </a:rPr>
                  <a:t>.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711200" lvl="1" indent="-229235">
                  <a:lnSpc>
                    <a:spcPts val="2355"/>
                  </a:lnSpc>
                  <a:buFont typeface="Wingdings"/>
                  <a:buChar char=""/>
                  <a:tabLst>
                    <a:tab pos="71183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superfície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tem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inclinação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maior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no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sentido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do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peso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0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ar-AE" sz="20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ar-AE" sz="20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000" spc="-1190" dirty="0">
                    <a:latin typeface="Cambria Math"/>
                    <a:cs typeface="Cambria Math"/>
                  </a:rPr>
                  <a:t>.</a:t>
                </a:r>
                <a:endParaRPr lang="ar-AE" sz="2200" dirty="0">
                  <a:latin typeface="Calibri"/>
                  <a:cs typeface="Calibri"/>
                </a:endParaRPr>
              </a:p>
              <a:p>
                <a:pPr marL="254000" indent="-228600">
                  <a:lnSpc>
                    <a:spcPts val="2980"/>
                  </a:lnSpc>
                  <a:spcBef>
                    <a:spcPts val="55"/>
                  </a:spcBef>
                  <a:buFont typeface="Arial"/>
                  <a:buChar char="•"/>
                  <a:tabLst>
                    <a:tab pos="2540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erro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varia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bem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mais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lentamente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variações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ar-AE" sz="2800" spc="-1190" dirty="0">
                    <a:latin typeface="Cambria Math"/>
                    <a:cs typeface="Cambria Math"/>
                  </a:rPr>
                  <a:t>.</a:t>
                </a:r>
                <a:r>
                  <a:rPr lang="ar-AE" sz="2600" spc="-2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6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ar-AE" sz="26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ar-AE" sz="26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600" spc="-265" dirty="0">
                    <a:latin typeface="Calibri"/>
                    <a:cs typeface="Calibri"/>
                  </a:rPr>
                  <a:t>.</a:t>
                </a:r>
                <a:endParaRPr lang="ar-AE" sz="2600" dirty="0">
                  <a:latin typeface="Calibri"/>
                  <a:cs typeface="Calibri"/>
                </a:endParaRPr>
              </a:p>
              <a:p>
                <a:pPr marL="711200" lvl="1" indent="-229235">
                  <a:lnSpc>
                    <a:spcPts val="2500"/>
                  </a:lnSpc>
                  <a:buFont typeface="Wingdings"/>
                  <a:buChar char=""/>
                  <a:tabLst>
                    <a:tab pos="71183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inclinação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superfície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bem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menor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no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sentido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2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2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spc="-1190" dirty="0">
                    <a:latin typeface="Cambria Math"/>
                    <a:cs typeface="Cambria Math"/>
                  </a:rPr>
                  <a:t>.</a:t>
                </a:r>
                <a:endParaRPr lang="si-LK" sz="2200" dirty="0">
                  <a:latin typeface="Calibri"/>
                  <a:cs typeface="Calibri"/>
                </a:endParaRPr>
              </a:p>
              <a:p>
                <a:pPr marL="254000" indent="-228600">
                  <a:spcBef>
                    <a:spcPts val="60"/>
                  </a:spcBef>
                  <a:buFont typeface="Arial"/>
                  <a:buChar char="•"/>
                  <a:tabLst>
                    <a:tab pos="2540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abertura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vale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está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sentido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8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6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6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spc="-1190" dirty="0">
                    <a:latin typeface="Cambria Math"/>
                    <a:cs typeface="Cambria Math"/>
                  </a:rPr>
                  <a:t>.</a:t>
                </a:r>
                <a:r>
                  <a:rPr lang="si-LK" sz="2600" spc="-265" dirty="0">
                    <a:latin typeface="Calibri"/>
                    <a:cs typeface="Calibri"/>
                  </a:rPr>
                  <a:t>.</a:t>
                </a:r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39" y="1524000"/>
                <a:ext cx="10086340" cy="2686441"/>
              </a:xfrm>
              <a:prstGeom prst="rect">
                <a:avLst/>
              </a:prstGeom>
              <a:blipFill>
                <a:blip r:embed="rId2"/>
                <a:stretch>
                  <a:fillRect l="-1571" t="-3855" r="-967" b="-49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1321053" y="5368671"/>
            <a:ext cx="516890" cy="212090"/>
          </a:xfrm>
          <a:custGeom>
            <a:avLst/>
            <a:gdLst/>
            <a:ahLst/>
            <a:cxnLst/>
            <a:rect l="l" t="t" r="r" b="b"/>
            <a:pathLst>
              <a:path w="516889" h="212089">
                <a:moveTo>
                  <a:pt x="448945" y="0"/>
                </a:moveTo>
                <a:lnTo>
                  <a:pt x="446023" y="8635"/>
                </a:lnTo>
                <a:lnTo>
                  <a:pt x="458237" y="13946"/>
                </a:lnTo>
                <a:lnTo>
                  <a:pt x="468772" y="21304"/>
                </a:lnTo>
                <a:lnTo>
                  <a:pt x="490186" y="55449"/>
                </a:lnTo>
                <a:lnTo>
                  <a:pt x="497204" y="104901"/>
                </a:lnTo>
                <a:lnTo>
                  <a:pt x="496419" y="123570"/>
                </a:lnTo>
                <a:lnTo>
                  <a:pt x="484632" y="169290"/>
                </a:lnTo>
                <a:lnTo>
                  <a:pt x="458378" y="197865"/>
                </a:lnTo>
                <a:lnTo>
                  <a:pt x="446278" y="203199"/>
                </a:lnTo>
                <a:lnTo>
                  <a:pt x="448945" y="211835"/>
                </a:lnTo>
                <a:lnTo>
                  <a:pt x="489467" y="187725"/>
                </a:lnTo>
                <a:lnTo>
                  <a:pt x="512143" y="143382"/>
                </a:lnTo>
                <a:lnTo>
                  <a:pt x="516509" y="105917"/>
                </a:lnTo>
                <a:lnTo>
                  <a:pt x="515415" y="86538"/>
                </a:lnTo>
                <a:lnTo>
                  <a:pt x="499109" y="37210"/>
                </a:lnTo>
                <a:lnTo>
                  <a:pt x="464302" y="5546"/>
                </a:lnTo>
                <a:lnTo>
                  <a:pt x="448945" y="0"/>
                </a:lnTo>
                <a:close/>
              </a:path>
              <a:path w="516889" h="212089">
                <a:moveTo>
                  <a:pt x="67564" y="0"/>
                </a:moveTo>
                <a:lnTo>
                  <a:pt x="27219" y="24163"/>
                </a:lnTo>
                <a:lnTo>
                  <a:pt x="4381" y="68611"/>
                </a:lnTo>
                <a:lnTo>
                  <a:pt x="0" y="105917"/>
                </a:lnTo>
                <a:lnTo>
                  <a:pt x="1095" y="125424"/>
                </a:lnTo>
                <a:lnTo>
                  <a:pt x="17526" y="174751"/>
                </a:lnTo>
                <a:lnTo>
                  <a:pt x="52155" y="206291"/>
                </a:lnTo>
                <a:lnTo>
                  <a:pt x="67564" y="211835"/>
                </a:lnTo>
                <a:lnTo>
                  <a:pt x="70231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04" y="104901"/>
                </a:lnTo>
                <a:lnTo>
                  <a:pt x="20089" y="86830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65477" y="5643029"/>
            <a:ext cx="516890" cy="212090"/>
          </a:xfrm>
          <a:custGeom>
            <a:avLst/>
            <a:gdLst/>
            <a:ahLst/>
            <a:cxnLst/>
            <a:rect l="l" t="t" r="r" b="b"/>
            <a:pathLst>
              <a:path w="516889" h="212089">
                <a:moveTo>
                  <a:pt x="448945" y="0"/>
                </a:moveTo>
                <a:lnTo>
                  <a:pt x="446024" y="8597"/>
                </a:lnTo>
                <a:lnTo>
                  <a:pt x="458237" y="13917"/>
                </a:lnTo>
                <a:lnTo>
                  <a:pt x="468772" y="21282"/>
                </a:lnTo>
                <a:lnTo>
                  <a:pt x="490186" y="55414"/>
                </a:lnTo>
                <a:lnTo>
                  <a:pt x="497205" y="104813"/>
                </a:lnTo>
                <a:lnTo>
                  <a:pt x="496419" y="123491"/>
                </a:lnTo>
                <a:lnTo>
                  <a:pt x="484632" y="169227"/>
                </a:lnTo>
                <a:lnTo>
                  <a:pt x="458378" y="197807"/>
                </a:lnTo>
                <a:lnTo>
                  <a:pt x="446278" y="203149"/>
                </a:lnTo>
                <a:lnTo>
                  <a:pt x="448945" y="211747"/>
                </a:lnTo>
                <a:lnTo>
                  <a:pt x="489467" y="187715"/>
                </a:lnTo>
                <a:lnTo>
                  <a:pt x="512143" y="143336"/>
                </a:lnTo>
                <a:lnTo>
                  <a:pt x="516509" y="105930"/>
                </a:lnTo>
                <a:lnTo>
                  <a:pt x="515415" y="86521"/>
                </a:lnTo>
                <a:lnTo>
                  <a:pt x="499110" y="37122"/>
                </a:lnTo>
                <a:lnTo>
                  <a:pt x="464302" y="5548"/>
                </a:lnTo>
                <a:lnTo>
                  <a:pt x="448945" y="0"/>
                </a:lnTo>
                <a:close/>
              </a:path>
              <a:path w="516889" h="212089">
                <a:moveTo>
                  <a:pt x="67564" y="0"/>
                </a:moveTo>
                <a:lnTo>
                  <a:pt x="27219" y="24108"/>
                </a:lnTo>
                <a:lnTo>
                  <a:pt x="4381" y="68583"/>
                </a:lnTo>
                <a:lnTo>
                  <a:pt x="0" y="105930"/>
                </a:lnTo>
                <a:lnTo>
                  <a:pt x="1095" y="125383"/>
                </a:lnTo>
                <a:lnTo>
                  <a:pt x="17526" y="174752"/>
                </a:lnTo>
                <a:lnTo>
                  <a:pt x="52155" y="206213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7"/>
                </a:lnTo>
                <a:lnTo>
                  <a:pt x="47767" y="190374"/>
                </a:lnTo>
                <a:lnTo>
                  <a:pt x="26376" y="155699"/>
                </a:lnTo>
                <a:lnTo>
                  <a:pt x="19304" y="104813"/>
                </a:lnTo>
                <a:lnTo>
                  <a:pt x="20089" y="86751"/>
                </a:lnTo>
                <a:lnTo>
                  <a:pt x="31877" y="42138"/>
                </a:lnTo>
                <a:lnTo>
                  <a:pt x="58398" y="13917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143" y="5026278"/>
            <a:ext cx="1990725" cy="84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55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Atributos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ts val="2155"/>
              </a:lnSpc>
            </a:pP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41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randn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N,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950" spc="41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2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∗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randn</a:t>
            </a:r>
            <a:r>
              <a:rPr sz="1800" spc="35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N,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0730" y="4377764"/>
            <a:ext cx="3400006" cy="21762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93619" y="4460494"/>
            <a:ext cx="843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Histograma </a:t>
            </a:r>
            <a:r>
              <a:rPr sz="1200" dirty="0">
                <a:latin typeface="Calibri"/>
                <a:cs typeface="Calibri"/>
              </a:rPr>
              <a:t>dos </a:t>
            </a:r>
            <a:r>
              <a:rPr sz="1200" spc="-10" dirty="0">
                <a:latin typeface="Calibri"/>
                <a:cs typeface="Calibri"/>
              </a:rPr>
              <a:t>atributos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7866" y="4336897"/>
            <a:ext cx="3279404" cy="22157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767830" y="4351146"/>
            <a:ext cx="641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Superfície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erro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74966" y="4344353"/>
            <a:ext cx="2352527" cy="221397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26828" y="4374895"/>
            <a:ext cx="831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Superfície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de </a:t>
            </a:r>
            <a:r>
              <a:rPr sz="1200" spc="-10" dirty="0">
                <a:latin typeface="Calibri"/>
                <a:cs typeface="Calibri"/>
              </a:rPr>
              <a:t>contorno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F9F3487D-49B5-17C1-D337-F2F4EDC2C134}"/>
              </a:ext>
            </a:extLst>
          </p:cNvPr>
          <p:cNvSpPr txBox="1"/>
          <p:nvPr/>
        </p:nvSpPr>
        <p:spPr>
          <a:xfrm>
            <a:off x="78739" y="6619443"/>
            <a:ext cx="38354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Exemplo:</a:t>
            </a:r>
            <a:r>
              <a:rPr sz="1200" b="1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2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formatos_diferentes_da_superfície_de_erro.ipynb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0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superfície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erro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891539" y="1717827"/>
                <a:ext cx="10829925" cy="2485937"/>
              </a:xfrm>
              <a:prstGeom prst="rect">
                <a:avLst/>
              </a:prstGeom>
            </p:spPr>
            <p:txBody>
              <a:bodyPr vert="horz" wrap="square" lIns="0" tIns="5397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42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b="1" i="1" spc="-30" dirty="0">
                    <a:latin typeface="Calibri"/>
                    <a:cs typeface="Calibri"/>
                  </a:rPr>
                  <a:t>Terceiro </a:t>
                </a:r>
                <a:r>
                  <a:rPr lang="pt-BR" sz="2800" b="1" i="1" dirty="0">
                    <a:latin typeface="Calibri"/>
                    <a:cs typeface="Calibri"/>
                  </a:rPr>
                  <a:t>caso</a:t>
                </a:r>
                <a:r>
                  <a:rPr lang="pt-BR" sz="2800" dirty="0">
                    <a:latin typeface="Calibri"/>
                    <a:cs typeface="Calibri"/>
                  </a:rPr>
                  <a:t>: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𝑥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3075" spc="345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𝑥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2</a:t>
                </a:r>
                <a:r>
                  <a:rPr lang="pt-BR" sz="3075" spc="330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têm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intervalos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semelhantes.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66700" marR="30480" indent="-228600">
                  <a:lnSpc>
                    <a:spcPts val="2690"/>
                  </a:lnSpc>
                  <a:spcBef>
                    <a:spcPts val="97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spc="-20" dirty="0">
                    <a:latin typeface="Calibri"/>
                    <a:cs typeface="Calibri"/>
                  </a:rPr>
                  <a:t>Portanto,</a:t>
                </a:r>
                <a:r>
                  <a:rPr lang="pt-BR" sz="2800" spc="-1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1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variação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tanto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8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ar-AE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ar-AE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ar-AE" sz="2800" b="0" i="1" spc="-2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pt-BR" sz="2800" dirty="0" err="1">
                    <a:latin typeface="Calibri"/>
                    <a:cs typeface="Calibri"/>
                  </a:rPr>
                  <a:t>quanto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8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ar-AE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ar-AE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ar-AE" sz="2800" b="0" i="1" spc="-2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pt-BR" sz="2800" dirty="0" err="1">
                    <a:latin typeface="Calibri"/>
                    <a:cs typeface="Calibri"/>
                  </a:rPr>
                  <a:t>tem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influência</a:t>
                </a:r>
                <a:r>
                  <a:rPr lang="pt-BR" sz="2800" spc="-70" dirty="0">
                    <a:latin typeface="Calibri"/>
                    <a:cs typeface="Calibri"/>
                  </a:rPr>
                  <a:t> semelhante </a:t>
                </a:r>
                <a:r>
                  <a:rPr lang="pt-BR" sz="2800" dirty="0">
                    <a:latin typeface="Calibri"/>
                    <a:cs typeface="Calibri"/>
                  </a:rPr>
                  <a:t>na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variação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resultando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em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superfície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formato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de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tigela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66700" indent="-228600">
                  <a:lnSpc>
                    <a:spcPts val="3325"/>
                  </a:lnSpc>
                  <a:spcBef>
                    <a:spcPts val="35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varia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forma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similar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variações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1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8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ar-AE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ar-AE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si-LK" sz="3075" spc="44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ou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 spc="-2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8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ar-AE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si-LK" sz="2800" spc="-285" dirty="0">
                    <a:latin typeface="Calibri"/>
                    <a:cs typeface="Calibri"/>
                  </a:rPr>
                  <a:t>.</a:t>
                </a:r>
                <a:endParaRPr lang="si-LK" sz="2800" dirty="0">
                  <a:latin typeface="Calibri"/>
                  <a:cs typeface="Calibri"/>
                </a:endParaRPr>
              </a:p>
              <a:p>
                <a:pPr marL="723900" lvl="1" indent="-229235">
                  <a:lnSpc>
                    <a:spcPts val="2845"/>
                  </a:lnSpc>
                  <a:buFont typeface="Wingdings"/>
                  <a:buChar char=""/>
                  <a:tabLst>
                    <a:tab pos="72453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superfície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tem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inclinação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semelhante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ambas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as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direções.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39" y="1717827"/>
                <a:ext cx="10829925" cy="2485937"/>
              </a:xfrm>
              <a:prstGeom prst="rect">
                <a:avLst/>
              </a:prstGeom>
              <a:blipFill>
                <a:blip r:embed="rId2"/>
                <a:stretch>
                  <a:fillRect l="-1519" t="-2696" r="-732" b="-63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1690242" y="5371846"/>
            <a:ext cx="516890" cy="212090"/>
          </a:xfrm>
          <a:custGeom>
            <a:avLst/>
            <a:gdLst/>
            <a:ahLst/>
            <a:cxnLst/>
            <a:rect l="l" t="t" r="r" b="b"/>
            <a:pathLst>
              <a:path w="516889" h="212089">
                <a:moveTo>
                  <a:pt x="448944" y="0"/>
                </a:moveTo>
                <a:lnTo>
                  <a:pt x="445896" y="8508"/>
                </a:lnTo>
                <a:lnTo>
                  <a:pt x="458182" y="13819"/>
                </a:lnTo>
                <a:lnTo>
                  <a:pt x="468741" y="21177"/>
                </a:lnTo>
                <a:lnTo>
                  <a:pt x="490132" y="55322"/>
                </a:lnTo>
                <a:lnTo>
                  <a:pt x="497205" y="104774"/>
                </a:lnTo>
                <a:lnTo>
                  <a:pt x="496419" y="123443"/>
                </a:lnTo>
                <a:lnTo>
                  <a:pt x="484631" y="169163"/>
                </a:lnTo>
                <a:lnTo>
                  <a:pt x="458325" y="197738"/>
                </a:lnTo>
                <a:lnTo>
                  <a:pt x="446277" y="203072"/>
                </a:lnTo>
                <a:lnTo>
                  <a:pt x="448944" y="211708"/>
                </a:lnTo>
                <a:lnTo>
                  <a:pt x="489414" y="187705"/>
                </a:lnTo>
                <a:lnTo>
                  <a:pt x="512143" y="143287"/>
                </a:lnTo>
                <a:lnTo>
                  <a:pt x="516508" y="105917"/>
                </a:lnTo>
                <a:lnTo>
                  <a:pt x="515413" y="86483"/>
                </a:lnTo>
                <a:lnTo>
                  <a:pt x="498982" y="37083"/>
                </a:lnTo>
                <a:lnTo>
                  <a:pt x="464300" y="5526"/>
                </a:lnTo>
                <a:lnTo>
                  <a:pt x="448944" y="0"/>
                </a:lnTo>
                <a:close/>
              </a:path>
              <a:path w="516889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0" y="105917"/>
                </a:lnTo>
                <a:lnTo>
                  <a:pt x="1093" y="125352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1" y="203072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04" y="104774"/>
                </a:lnTo>
                <a:lnTo>
                  <a:pt x="20089" y="86703"/>
                </a:lnTo>
                <a:lnTo>
                  <a:pt x="31876" y="42036"/>
                </a:lnTo>
                <a:lnTo>
                  <a:pt x="58344" y="13819"/>
                </a:lnTo>
                <a:lnTo>
                  <a:pt x="70612" y="8508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94814" y="5646115"/>
            <a:ext cx="516890" cy="212090"/>
          </a:xfrm>
          <a:custGeom>
            <a:avLst/>
            <a:gdLst/>
            <a:ahLst/>
            <a:cxnLst/>
            <a:rect l="l" t="t" r="r" b="b"/>
            <a:pathLst>
              <a:path w="516889" h="212089">
                <a:moveTo>
                  <a:pt x="448945" y="0"/>
                </a:moveTo>
                <a:lnTo>
                  <a:pt x="445897" y="8597"/>
                </a:lnTo>
                <a:lnTo>
                  <a:pt x="458182" y="13915"/>
                </a:lnTo>
                <a:lnTo>
                  <a:pt x="468741" y="21277"/>
                </a:lnTo>
                <a:lnTo>
                  <a:pt x="490132" y="55406"/>
                </a:lnTo>
                <a:lnTo>
                  <a:pt x="497205" y="104813"/>
                </a:lnTo>
                <a:lnTo>
                  <a:pt x="496419" y="123489"/>
                </a:lnTo>
                <a:lnTo>
                  <a:pt x="484632" y="169214"/>
                </a:lnTo>
                <a:lnTo>
                  <a:pt x="458325" y="197805"/>
                </a:lnTo>
                <a:lnTo>
                  <a:pt x="446278" y="203149"/>
                </a:lnTo>
                <a:lnTo>
                  <a:pt x="448945" y="211747"/>
                </a:lnTo>
                <a:lnTo>
                  <a:pt x="489414" y="187710"/>
                </a:lnTo>
                <a:lnTo>
                  <a:pt x="512143" y="143335"/>
                </a:lnTo>
                <a:lnTo>
                  <a:pt x="516509" y="105930"/>
                </a:lnTo>
                <a:lnTo>
                  <a:pt x="515413" y="86519"/>
                </a:lnTo>
                <a:lnTo>
                  <a:pt x="498983" y="37109"/>
                </a:lnTo>
                <a:lnTo>
                  <a:pt x="464300" y="5541"/>
                </a:lnTo>
                <a:lnTo>
                  <a:pt x="448945" y="0"/>
                </a:lnTo>
                <a:close/>
              </a:path>
              <a:path w="516889" h="212089">
                <a:moveTo>
                  <a:pt x="67564" y="0"/>
                </a:moveTo>
                <a:lnTo>
                  <a:pt x="27166" y="24095"/>
                </a:lnTo>
                <a:lnTo>
                  <a:pt x="4381" y="68576"/>
                </a:lnTo>
                <a:lnTo>
                  <a:pt x="0" y="105930"/>
                </a:lnTo>
                <a:lnTo>
                  <a:pt x="1093" y="125383"/>
                </a:lnTo>
                <a:lnTo>
                  <a:pt x="17399" y="174739"/>
                </a:lnTo>
                <a:lnTo>
                  <a:pt x="52153" y="206212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9"/>
                </a:lnTo>
                <a:lnTo>
                  <a:pt x="19304" y="104813"/>
                </a:lnTo>
                <a:lnTo>
                  <a:pt x="20089" y="86744"/>
                </a:lnTo>
                <a:lnTo>
                  <a:pt x="31877" y="42138"/>
                </a:lnTo>
                <a:lnTo>
                  <a:pt x="58344" y="13915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4404" y="5029327"/>
            <a:ext cx="1990725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55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Atributos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ts val="2155"/>
              </a:lnSpc>
            </a:pP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41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2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∗ randn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N,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950" spc="42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2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∗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randn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N,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1263" y="4365517"/>
            <a:ext cx="3495931" cy="22037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2769" y="4349927"/>
            <a:ext cx="3282448" cy="222184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98685" y="4355307"/>
            <a:ext cx="2357068" cy="221690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64357" y="4472432"/>
            <a:ext cx="843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Histograma </a:t>
            </a:r>
            <a:r>
              <a:rPr sz="1200" dirty="0">
                <a:latin typeface="Calibri"/>
                <a:cs typeface="Calibri"/>
              </a:rPr>
              <a:t>dos </a:t>
            </a:r>
            <a:r>
              <a:rPr sz="1200" spc="-10" dirty="0">
                <a:latin typeface="Calibri"/>
                <a:cs typeface="Calibri"/>
              </a:rPr>
              <a:t>atributos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1604" y="4472432"/>
            <a:ext cx="641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Superfície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erro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88118" y="4462094"/>
            <a:ext cx="8312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Superfície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de</a:t>
            </a:r>
            <a:endParaRPr sz="12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Calibri"/>
                <a:cs typeface="Calibri"/>
              </a:rPr>
              <a:t>contorno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30F3F208-3C4D-EAFE-EE2B-D1A2D980BF29}"/>
              </a:ext>
            </a:extLst>
          </p:cNvPr>
          <p:cNvSpPr txBox="1"/>
          <p:nvPr/>
        </p:nvSpPr>
        <p:spPr>
          <a:xfrm>
            <a:off x="78739" y="6619443"/>
            <a:ext cx="38354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Exemplo:</a:t>
            </a:r>
            <a:r>
              <a:rPr sz="1200" b="1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2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formatos_diferentes_da_superfície_de_erro.ipynb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Variações</a:t>
            </a:r>
            <a:r>
              <a:rPr spc="-55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formato</a:t>
            </a:r>
            <a:r>
              <a:rPr spc="-70" dirty="0"/>
              <a:t> </a:t>
            </a:r>
            <a:r>
              <a:rPr dirty="0"/>
              <a:t>da</a:t>
            </a:r>
            <a:r>
              <a:rPr spc="-65" dirty="0"/>
              <a:t> </a:t>
            </a:r>
            <a:r>
              <a:rPr dirty="0"/>
              <a:t>superfície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20" dirty="0"/>
              <a:t>erro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184785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Nós</a:t>
            </a:r>
            <a:r>
              <a:rPr spc="-60" dirty="0"/>
              <a:t> </a:t>
            </a:r>
            <a:r>
              <a:rPr spc="-10" dirty="0"/>
              <a:t>veremos</a:t>
            </a:r>
            <a:r>
              <a:rPr spc="-80" dirty="0"/>
              <a:t> </a:t>
            </a:r>
            <a:r>
              <a:rPr dirty="0"/>
              <a:t>em</a:t>
            </a:r>
            <a:r>
              <a:rPr spc="-85" dirty="0"/>
              <a:t> </a:t>
            </a:r>
            <a:r>
              <a:rPr dirty="0"/>
              <a:t>breve</a:t>
            </a:r>
            <a:r>
              <a:rPr spc="-70" dirty="0"/>
              <a:t> </a:t>
            </a:r>
            <a:r>
              <a:rPr dirty="0"/>
              <a:t>que</a:t>
            </a:r>
            <a:r>
              <a:rPr spc="-70" dirty="0"/>
              <a:t> </a:t>
            </a:r>
            <a:r>
              <a:rPr dirty="0"/>
              <a:t>superfícies</a:t>
            </a:r>
            <a:r>
              <a:rPr spc="-45" dirty="0"/>
              <a:t> </a:t>
            </a:r>
            <a:r>
              <a:rPr dirty="0"/>
              <a:t>com</a:t>
            </a:r>
            <a:r>
              <a:rPr spc="-70" dirty="0"/>
              <a:t> </a:t>
            </a:r>
            <a:r>
              <a:rPr spc="-10" dirty="0"/>
              <a:t>formato</a:t>
            </a:r>
            <a:r>
              <a:rPr spc="-8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vale</a:t>
            </a:r>
            <a:r>
              <a:rPr spc="-85" dirty="0"/>
              <a:t> </a:t>
            </a:r>
            <a:r>
              <a:rPr dirty="0"/>
              <a:t>têm</a:t>
            </a:r>
            <a:r>
              <a:rPr spc="-75" dirty="0"/>
              <a:t> </a:t>
            </a:r>
            <a:r>
              <a:rPr spc="-25" dirty="0"/>
              <a:t>uma </a:t>
            </a:r>
            <a:r>
              <a:rPr dirty="0"/>
              <a:t>influência</a:t>
            </a:r>
            <a:r>
              <a:rPr spc="-65" dirty="0"/>
              <a:t> </a:t>
            </a:r>
            <a:r>
              <a:rPr spc="-10" dirty="0"/>
              <a:t>negativa</a:t>
            </a:r>
            <a:r>
              <a:rPr spc="-100" dirty="0"/>
              <a:t> </a:t>
            </a:r>
            <a:r>
              <a:rPr dirty="0"/>
              <a:t>na</a:t>
            </a:r>
            <a:r>
              <a:rPr spc="-70" dirty="0"/>
              <a:t> </a:t>
            </a:r>
            <a:r>
              <a:rPr spc="-20" dirty="0"/>
              <a:t>convergência</a:t>
            </a:r>
            <a:r>
              <a:rPr spc="-85" dirty="0"/>
              <a:t> </a:t>
            </a:r>
            <a:r>
              <a:rPr dirty="0"/>
              <a:t>do</a:t>
            </a:r>
            <a:r>
              <a:rPr spc="-75" dirty="0"/>
              <a:t> </a:t>
            </a:r>
            <a:r>
              <a:rPr dirty="0"/>
              <a:t>algoritmo</a:t>
            </a:r>
            <a:r>
              <a:rPr spc="-9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otimização</a:t>
            </a:r>
            <a:r>
              <a:rPr spc="-80" dirty="0"/>
              <a:t> </a:t>
            </a:r>
            <a:r>
              <a:rPr spc="-10" dirty="0"/>
              <a:t>iterativo </a:t>
            </a:r>
            <a:r>
              <a:rPr dirty="0"/>
              <a:t>que</a:t>
            </a:r>
            <a:r>
              <a:rPr spc="-70" dirty="0"/>
              <a:t> </a:t>
            </a:r>
            <a:r>
              <a:rPr dirty="0"/>
              <a:t>iremos</a:t>
            </a:r>
            <a:r>
              <a:rPr spc="-70" dirty="0"/>
              <a:t> </a:t>
            </a:r>
            <a:r>
              <a:rPr spc="-10" dirty="0"/>
              <a:t>utilizar.</a:t>
            </a: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Essas</a:t>
            </a:r>
            <a:r>
              <a:rPr spc="-75" dirty="0"/>
              <a:t> </a:t>
            </a:r>
            <a:r>
              <a:rPr dirty="0"/>
              <a:t>superfícies</a:t>
            </a:r>
            <a:r>
              <a:rPr spc="-55" dirty="0"/>
              <a:t> </a:t>
            </a:r>
            <a:r>
              <a:rPr spc="-10" dirty="0"/>
              <a:t>fazem</a:t>
            </a:r>
            <a:r>
              <a:rPr spc="-85" dirty="0"/>
              <a:t> </a:t>
            </a:r>
            <a:r>
              <a:rPr dirty="0"/>
              <a:t>com</a:t>
            </a:r>
            <a:r>
              <a:rPr spc="-75" dirty="0"/>
              <a:t> </a:t>
            </a:r>
            <a:r>
              <a:rPr dirty="0"/>
              <a:t>que</a:t>
            </a:r>
            <a:r>
              <a:rPr spc="-8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20" dirty="0"/>
              <a:t>convergência</a:t>
            </a:r>
            <a:r>
              <a:rPr spc="-85" dirty="0"/>
              <a:t> </a:t>
            </a:r>
            <a:r>
              <a:rPr dirty="0"/>
              <a:t>seja</a:t>
            </a:r>
            <a:r>
              <a:rPr spc="-80" dirty="0"/>
              <a:t> </a:t>
            </a:r>
            <a:r>
              <a:rPr dirty="0"/>
              <a:t>lenta,</a:t>
            </a:r>
            <a:r>
              <a:rPr spc="-70" dirty="0"/>
              <a:t> </a:t>
            </a:r>
            <a:r>
              <a:rPr dirty="0"/>
              <a:t>levando</a:t>
            </a:r>
            <a:r>
              <a:rPr spc="-70" dirty="0"/>
              <a:t> </a:t>
            </a:r>
            <a:r>
              <a:rPr spc="-10" dirty="0"/>
              <a:t>muito </a:t>
            </a:r>
            <a:r>
              <a:rPr dirty="0"/>
              <a:t>tempo</a:t>
            </a:r>
            <a:r>
              <a:rPr spc="-80" dirty="0"/>
              <a:t> </a:t>
            </a:r>
            <a:r>
              <a:rPr dirty="0"/>
              <a:t>para</a:t>
            </a:r>
            <a:r>
              <a:rPr spc="-80" dirty="0"/>
              <a:t> </a:t>
            </a:r>
            <a:r>
              <a:rPr dirty="0"/>
              <a:t>que</a:t>
            </a:r>
            <a:r>
              <a:rPr spc="-70" dirty="0"/>
              <a:t> </a:t>
            </a:r>
            <a:r>
              <a:rPr spc="-10" dirty="0"/>
              <a:t>encontremos</a:t>
            </a:r>
            <a:r>
              <a:rPr spc="-65" dirty="0"/>
              <a:t> </a:t>
            </a:r>
            <a:r>
              <a:rPr dirty="0"/>
              <a:t>o</a:t>
            </a:r>
            <a:r>
              <a:rPr spc="-85" dirty="0"/>
              <a:t> </a:t>
            </a:r>
            <a:r>
              <a:rPr dirty="0"/>
              <a:t>melhor</a:t>
            </a:r>
            <a:r>
              <a:rPr spc="-75" dirty="0"/>
              <a:t> </a:t>
            </a:r>
            <a:r>
              <a:rPr spc="-10" dirty="0"/>
              <a:t>modelo.</a:t>
            </a:r>
          </a:p>
          <a:p>
            <a:pPr marL="241300" marR="1073785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-65" dirty="0"/>
              <a:t> </a:t>
            </a:r>
            <a:r>
              <a:rPr spc="-20" dirty="0"/>
              <a:t>convergência</a:t>
            </a:r>
            <a:r>
              <a:rPr spc="-70" dirty="0"/>
              <a:t> </a:t>
            </a:r>
            <a:r>
              <a:rPr dirty="0"/>
              <a:t>se</a:t>
            </a:r>
            <a:r>
              <a:rPr spc="-65" dirty="0"/>
              <a:t> </a:t>
            </a:r>
            <a:r>
              <a:rPr dirty="0"/>
              <a:t>torna</a:t>
            </a:r>
            <a:r>
              <a:rPr spc="-60" dirty="0"/>
              <a:t> </a:t>
            </a:r>
            <a:r>
              <a:rPr dirty="0"/>
              <a:t>lenta</a:t>
            </a:r>
            <a:r>
              <a:rPr spc="-65" dirty="0"/>
              <a:t> </a:t>
            </a:r>
            <a:r>
              <a:rPr dirty="0"/>
              <a:t>devido</a:t>
            </a:r>
            <a:r>
              <a:rPr spc="-55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dirty="0"/>
              <a:t>inclinação</a:t>
            </a:r>
            <a:r>
              <a:rPr spc="-40" dirty="0"/>
              <a:t> </a:t>
            </a:r>
            <a:r>
              <a:rPr dirty="0"/>
              <a:t>da</a:t>
            </a:r>
            <a:r>
              <a:rPr spc="-70" dirty="0"/>
              <a:t> </a:t>
            </a:r>
            <a:r>
              <a:rPr dirty="0"/>
              <a:t>superfície</a:t>
            </a:r>
            <a:r>
              <a:rPr spc="-55" dirty="0"/>
              <a:t> </a:t>
            </a:r>
            <a:r>
              <a:rPr spc="-25" dirty="0"/>
              <a:t>ser </a:t>
            </a:r>
            <a:r>
              <a:rPr spc="-20" dirty="0"/>
              <a:t>diferente</a:t>
            </a:r>
            <a:r>
              <a:rPr spc="-75" dirty="0"/>
              <a:t> </a:t>
            </a:r>
            <a:r>
              <a:rPr dirty="0"/>
              <a:t>nas</a:t>
            </a:r>
            <a:r>
              <a:rPr spc="-70" dirty="0"/>
              <a:t> </a:t>
            </a:r>
            <a:r>
              <a:rPr dirty="0"/>
              <a:t>direções</a:t>
            </a:r>
            <a:r>
              <a:rPr spc="-70" dirty="0"/>
              <a:t> </a:t>
            </a:r>
            <a:r>
              <a:rPr dirty="0"/>
              <a:t>dos</a:t>
            </a:r>
            <a:r>
              <a:rPr spc="-65" dirty="0"/>
              <a:t> </a:t>
            </a:r>
            <a:r>
              <a:rPr spc="-10" dirty="0"/>
              <a:t>pesos.</a:t>
            </a:r>
          </a:p>
          <a:p>
            <a:pPr marL="241300" marR="1511935" indent="-228600">
              <a:lnSpc>
                <a:spcPts val="269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Em</a:t>
            </a:r>
            <a:r>
              <a:rPr spc="-70" dirty="0"/>
              <a:t> </a:t>
            </a:r>
            <a:r>
              <a:rPr dirty="0"/>
              <a:t>uma</a:t>
            </a:r>
            <a:r>
              <a:rPr spc="-55" dirty="0"/>
              <a:t> </a:t>
            </a:r>
            <a:r>
              <a:rPr dirty="0"/>
              <a:t>das</a:t>
            </a:r>
            <a:r>
              <a:rPr spc="-50" dirty="0"/>
              <a:t> </a:t>
            </a:r>
            <a:r>
              <a:rPr spc="-10" dirty="0"/>
              <a:t>direções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inclinação</a:t>
            </a:r>
            <a:r>
              <a:rPr spc="-55" dirty="0"/>
              <a:t> </a:t>
            </a:r>
            <a:r>
              <a:rPr dirty="0"/>
              <a:t>é</a:t>
            </a:r>
            <a:r>
              <a:rPr spc="-65" dirty="0"/>
              <a:t> </a:t>
            </a:r>
            <a:r>
              <a:rPr dirty="0"/>
              <a:t>grande,</a:t>
            </a:r>
            <a:r>
              <a:rPr spc="-60" dirty="0"/>
              <a:t> </a:t>
            </a:r>
            <a:r>
              <a:rPr dirty="0"/>
              <a:t>mas</a:t>
            </a:r>
            <a:r>
              <a:rPr spc="-50" dirty="0"/>
              <a:t> </a:t>
            </a:r>
            <a:r>
              <a:rPr dirty="0"/>
              <a:t>em</a:t>
            </a:r>
            <a:r>
              <a:rPr spc="-65" dirty="0"/>
              <a:t> </a:t>
            </a:r>
            <a:r>
              <a:rPr dirty="0"/>
              <a:t>outra</a:t>
            </a:r>
            <a:r>
              <a:rPr spc="-50" dirty="0"/>
              <a:t> </a:t>
            </a:r>
            <a:r>
              <a:rPr dirty="0"/>
              <a:t>ela</a:t>
            </a:r>
            <a:r>
              <a:rPr spc="-70" dirty="0"/>
              <a:t> </a:t>
            </a:r>
            <a:r>
              <a:rPr spc="-50" dirty="0"/>
              <a:t>é </a:t>
            </a:r>
            <a:r>
              <a:rPr spc="-20" dirty="0"/>
              <a:t>praticamente</a:t>
            </a:r>
            <a:r>
              <a:rPr spc="-60" dirty="0"/>
              <a:t> </a:t>
            </a:r>
            <a:r>
              <a:rPr spc="-10" dirty="0"/>
              <a:t>nula.</a:t>
            </a:r>
          </a:p>
          <a:p>
            <a:pPr marL="241300" marR="213995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pc="-25" dirty="0"/>
              <a:t>Veremos</a:t>
            </a:r>
            <a:r>
              <a:rPr spc="-55" dirty="0"/>
              <a:t> </a:t>
            </a:r>
            <a:r>
              <a:rPr dirty="0"/>
              <a:t>também</a:t>
            </a:r>
            <a:r>
              <a:rPr spc="-45" dirty="0"/>
              <a:t> </a:t>
            </a:r>
            <a:r>
              <a:rPr dirty="0"/>
              <a:t>que</a:t>
            </a:r>
            <a:r>
              <a:rPr spc="-65" dirty="0"/>
              <a:t> </a:t>
            </a:r>
            <a:r>
              <a:rPr dirty="0"/>
              <a:t>o</a:t>
            </a:r>
            <a:r>
              <a:rPr spc="-70" dirty="0"/>
              <a:t> </a:t>
            </a:r>
            <a:r>
              <a:rPr dirty="0"/>
              <a:t>melhor</a:t>
            </a:r>
            <a:r>
              <a:rPr spc="-45" dirty="0"/>
              <a:t> </a:t>
            </a:r>
            <a:r>
              <a:rPr spc="-10" dirty="0"/>
              <a:t>formato</a:t>
            </a:r>
            <a:r>
              <a:rPr spc="-80" dirty="0"/>
              <a:t> </a:t>
            </a:r>
            <a:r>
              <a:rPr dirty="0"/>
              <a:t>para</a:t>
            </a:r>
            <a:r>
              <a:rPr spc="-5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superfície</a:t>
            </a:r>
            <a:r>
              <a:rPr spc="-3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erro</a:t>
            </a:r>
            <a:r>
              <a:rPr spc="-55" dirty="0"/>
              <a:t> </a:t>
            </a:r>
            <a:r>
              <a:rPr dirty="0"/>
              <a:t>é</a:t>
            </a:r>
            <a:r>
              <a:rPr spc="-75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spc="-25" dirty="0"/>
              <a:t>de </a:t>
            </a:r>
            <a:r>
              <a:rPr dirty="0"/>
              <a:t>uma</a:t>
            </a:r>
            <a:r>
              <a:rPr spc="-50" dirty="0"/>
              <a:t> </a:t>
            </a:r>
            <a:r>
              <a:rPr dirty="0"/>
              <a:t>tigela,</a:t>
            </a:r>
            <a:r>
              <a:rPr spc="-65" dirty="0"/>
              <a:t> </a:t>
            </a:r>
            <a:r>
              <a:rPr dirty="0"/>
              <a:t>pois</a:t>
            </a:r>
            <a:r>
              <a:rPr spc="-50" dirty="0"/>
              <a:t> </a:t>
            </a:r>
            <a:r>
              <a:rPr dirty="0"/>
              <a:t>sua</a:t>
            </a:r>
            <a:r>
              <a:rPr spc="-50" dirty="0"/>
              <a:t> </a:t>
            </a:r>
            <a:r>
              <a:rPr dirty="0"/>
              <a:t>inclinação</a:t>
            </a:r>
            <a:r>
              <a:rPr spc="-45" dirty="0"/>
              <a:t> </a:t>
            </a:r>
            <a:r>
              <a:rPr dirty="0"/>
              <a:t>é</a:t>
            </a:r>
            <a:r>
              <a:rPr spc="-65" dirty="0"/>
              <a:t> </a:t>
            </a:r>
            <a:r>
              <a:rPr dirty="0"/>
              <a:t>grande</a:t>
            </a:r>
            <a:r>
              <a:rPr spc="-45" dirty="0"/>
              <a:t> </a:t>
            </a:r>
            <a:r>
              <a:rPr dirty="0"/>
              <a:t>e</a:t>
            </a:r>
            <a:r>
              <a:rPr spc="-65" dirty="0"/>
              <a:t> </a:t>
            </a:r>
            <a:r>
              <a:rPr dirty="0"/>
              <a:t>similar</a:t>
            </a:r>
            <a:r>
              <a:rPr spc="-45" dirty="0"/>
              <a:t> </a:t>
            </a:r>
            <a:r>
              <a:rPr dirty="0"/>
              <a:t>em</a:t>
            </a:r>
            <a:r>
              <a:rPr spc="-65" dirty="0"/>
              <a:t> </a:t>
            </a:r>
            <a:r>
              <a:rPr dirty="0"/>
              <a:t>todas</a:t>
            </a:r>
            <a:r>
              <a:rPr spc="-50" dirty="0"/>
              <a:t> </a:t>
            </a:r>
            <a:r>
              <a:rPr dirty="0"/>
              <a:t>as</a:t>
            </a:r>
            <a:r>
              <a:rPr spc="-50" dirty="0"/>
              <a:t> </a:t>
            </a:r>
            <a:r>
              <a:rPr spc="-10" dirty="0"/>
              <a:t>direções, fazendo</a:t>
            </a:r>
            <a:r>
              <a:rPr spc="-60" dirty="0"/>
              <a:t> </a:t>
            </a:r>
            <a:r>
              <a:rPr dirty="0"/>
              <a:t>com</a:t>
            </a:r>
            <a:r>
              <a:rPr spc="-75" dirty="0"/>
              <a:t> </a:t>
            </a:r>
            <a:r>
              <a:rPr dirty="0"/>
              <a:t>que</a:t>
            </a:r>
            <a:r>
              <a:rPr spc="-4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20" dirty="0"/>
              <a:t>convergência</a:t>
            </a:r>
            <a:r>
              <a:rPr spc="-55" dirty="0"/>
              <a:t> </a:t>
            </a:r>
            <a:r>
              <a:rPr dirty="0"/>
              <a:t>seja</a:t>
            </a:r>
            <a:r>
              <a:rPr spc="-65" dirty="0"/>
              <a:t> </a:t>
            </a:r>
            <a:r>
              <a:rPr spc="-10" dirty="0"/>
              <a:t>rápida.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1027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 Theme</vt:lpstr>
      <vt:lpstr>Variações do formato da superfície de erro</vt:lpstr>
      <vt:lpstr>Recapitulando</vt:lpstr>
      <vt:lpstr>Variações do formato da superfície de erro</vt:lpstr>
      <vt:lpstr>Variações do formato da superfície de erro</vt:lpstr>
      <vt:lpstr>Variações do formato da superfície de erro</vt:lpstr>
      <vt:lpstr>Variações do formato da superfície de erro</vt:lpstr>
      <vt:lpstr>Variações do formato da superfície de erro</vt:lpstr>
      <vt:lpstr>Variações do formato da superfície de erro</vt:lpstr>
      <vt:lpstr>Variações do formato da superfície de erro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Felipe Augusto Pereira de Figueiredo (UGent-imec)</dc:creator>
  <cp:lastModifiedBy>Luiz Augusto Melo Pereira</cp:lastModifiedBy>
  <cp:revision>2</cp:revision>
  <dcterms:created xsi:type="dcterms:W3CDTF">2025-01-23T21:12:26Z</dcterms:created>
  <dcterms:modified xsi:type="dcterms:W3CDTF">2025-01-23T13:35:10Z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2024-08-07T00:00:00Z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2025-01-23T00:00:00Z</vt:filetime>
  </property>
  <property fmtid="{D5CDD505-2E9C-101B-9397-08002B2CF9AE}" pid="5" name="Producer">
    <vt:lpwstr>Microsoft® PowerPoint® LTSC</vt:lpwstr>
  </property>
</Properties>
</file>