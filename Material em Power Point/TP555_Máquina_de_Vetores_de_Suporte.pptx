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ABC0DDF6-CB34-4C13-B9BD-F1EE9C6D4D45}"/>
    <pc:docChg chg="undo custSel modSld">
      <pc:chgData name="Luiz Augusto Melo Pereira" userId="4bd5ce759a66f368" providerId="LiveId" clId="{ABC0DDF6-CB34-4C13-B9BD-F1EE9C6D4D45}" dt="2025-01-28T14:16:05.689" v="239" actId="1076"/>
      <pc:docMkLst>
        <pc:docMk/>
      </pc:docMkLst>
      <pc:sldChg chg="modSp mod">
        <pc:chgData name="Luiz Augusto Melo Pereira" userId="4bd5ce759a66f368" providerId="LiveId" clId="{ABC0DDF6-CB34-4C13-B9BD-F1EE9C6D4D45}" dt="2025-01-28T14:10:59.789" v="1" actId="207"/>
        <pc:sldMkLst>
          <pc:docMk/>
          <pc:sldMk cId="0" sldId="256"/>
        </pc:sldMkLst>
        <pc:spChg chg="mod">
          <ac:chgData name="Luiz Augusto Melo Pereira" userId="4bd5ce759a66f368" providerId="LiveId" clId="{ABC0DDF6-CB34-4C13-B9BD-F1EE9C6D4D45}" dt="2025-01-28T14:10:48.511" v="0" actId="207"/>
          <ac:spMkLst>
            <pc:docMk/>
            <pc:sldMk cId="0" sldId="256"/>
            <ac:spMk id="6" creationId="{39D93DE5-E006-3B30-13F1-22A132A4B0B2}"/>
          </ac:spMkLst>
        </pc:spChg>
        <pc:spChg chg="mod">
          <ac:chgData name="Luiz Augusto Melo Pereira" userId="4bd5ce759a66f368" providerId="LiveId" clId="{ABC0DDF6-CB34-4C13-B9BD-F1EE9C6D4D45}" dt="2025-01-28T14:10:59.789" v="1" actId="207"/>
          <ac:spMkLst>
            <pc:docMk/>
            <pc:sldMk cId="0" sldId="256"/>
            <ac:spMk id="7" creationId="{2783240B-D53C-D45B-EB1D-E7143C22C43F}"/>
          </ac:spMkLst>
        </pc:spChg>
      </pc:sldChg>
      <pc:sldChg chg="modSp mod">
        <pc:chgData name="Luiz Augusto Melo Pereira" userId="4bd5ce759a66f368" providerId="LiveId" clId="{ABC0DDF6-CB34-4C13-B9BD-F1EE9C6D4D45}" dt="2025-01-28T14:11:05.101" v="3" actId="1076"/>
        <pc:sldMkLst>
          <pc:docMk/>
          <pc:sldMk cId="0" sldId="257"/>
        </pc:sldMkLst>
        <pc:spChg chg="mod">
          <ac:chgData name="Luiz Augusto Melo Pereira" userId="4bd5ce759a66f368" providerId="LiveId" clId="{ABC0DDF6-CB34-4C13-B9BD-F1EE9C6D4D45}" dt="2025-01-28T14:11:05.101" v="3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1:08.672" v="5" actId="1076"/>
        <pc:sldMkLst>
          <pc:docMk/>
          <pc:sldMk cId="0" sldId="258"/>
        </pc:sldMkLst>
        <pc:spChg chg="mod">
          <ac:chgData name="Luiz Augusto Melo Pereira" userId="4bd5ce759a66f368" providerId="LiveId" clId="{ABC0DDF6-CB34-4C13-B9BD-F1EE9C6D4D45}" dt="2025-01-28T14:11:08.672" v="5" actId="1076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Luiz Augusto Melo Pereira" userId="4bd5ce759a66f368" providerId="LiveId" clId="{ABC0DDF6-CB34-4C13-B9BD-F1EE9C6D4D45}" dt="2025-01-28T14:11:41.734" v="17" actId="1076"/>
        <pc:sldMkLst>
          <pc:docMk/>
          <pc:sldMk cId="0" sldId="259"/>
        </pc:sldMkLst>
        <pc:spChg chg="mod">
          <ac:chgData name="Luiz Augusto Melo Pereira" userId="4bd5ce759a66f368" providerId="LiveId" clId="{ABC0DDF6-CB34-4C13-B9BD-F1EE9C6D4D45}" dt="2025-01-28T14:11:36.655" v="15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Luiz Augusto Melo Pereira" userId="4bd5ce759a66f368" providerId="LiveId" clId="{ABC0DDF6-CB34-4C13-B9BD-F1EE9C6D4D45}" dt="2025-01-28T14:11:41.734" v="17" actId="1076"/>
          <ac:spMkLst>
            <pc:docMk/>
            <pc:sldMk cId="0" sldId="259"/>
            <ac:spMk id="6" creationId="{2116D73A-AB46-64EA-DA56-201DE7112C46}"/>
          </ac:spMkLst>
        </pc:spChg>
      </pc:sldChg>
      <pc:sldChg chg="addSp delSp modSp mod">
        <pc:chgData name="Luiz Augusto Melo Pereira" userId="4bd5ce759a66f368" providerId="LiveId" clId="{ABC0DDF6-CB34-4C13-B9BD-F1EE9C6D4D45}" dt="2025-01-28T14:12:06.837" v="25"/>
        <pc:sldMkLst>
          <pc:docMk/>
          <pc:sldMk cId="0" sldId="260"/>
        </pc:sldMkLst>
        <pc:spChg chg="mod">
          <ac:chgData name="Luiz Augusto Melo Pereira" userId="4bd5ce759a66f368" providerId="LiveId" clId="{ABC0DDF6-CB34-4C13-B9BD-F1EE9C6D4D45}" dt="2025-01-28T14:11:47.895" v="19" actId="107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Luiz Augusto Melo Pereira" userId="4bd5ce759a66f368" providerId="LiveId" clId="{ABC0DDF6-CB34-4C13-B9BD-F1EE9C6D4D45}" dt="2025-01-28T14:12:02.134" v="24" actId="478"/>
          <ac:spMkLst>
            <pc:docMk/>
            <pc:sldMk cId="0" sldId="260"/>
            <ac:spMk id="6" creationId="{21DBB3E5-E569-58F1-7981-0A53B44F8F4C}"/>
          </ac:spMkLst>
        </pc:spChg>
        <pc:spChg chg="add mod">
          <ac:chgData name="Luiz Augusto Melo Pereira" userId="4bd5ce759a66f368" providerId="LiveId" clId="{ABC0DDF6-CB34-4C13-B9BD-F1EE9C6D4D45}" dt="2025-01-28T14:12:06.837" v="25"/>
          <ac:spMkLst>
            <pc:docMk/>
            <pc:sldMk cId="0" sldId="260"/>
            <ac:spMk id="7" creationId="{282AD5B4-03E9-B277-24BB-00671F25259B}"/>
          </ac:spMkLst>
        </pc:spChg>
      </pc:sldChg>
      <pc:sldChg chg="addSp delSp modSp mod">
        <pc:chgData name="Luiz Augusto Melo Pereira" userId="4bd5ce759a66f368" providerId="LiveId" clId="{ABC0DDF6-CB34-4C13-B9BD-F1EE9C6D4D45}" dt="2025-01-28T14:12:17.784" v="30" actId="1076"/>
        <pc:sldMkLst>
          <pc:docMk/>
          <pc:sldMk cId="0" sldId="261"/>
        </pc:sldMkLst>
        <pc:spChg chg="add del mod">
          <ac:chgData name="Luiz Augusto Melo Pereira" userId="4bd5ce759a66f368" providerId="LiveId" clId="{ABC0DDF6-CB34-4C13-B9BD-F1EE9C6D4D45}" dt="2025-01-28T14:12:17.784" v="30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2:21.013" v="31" actId="1076"/>
        <pc:sldMkLst>
          <pc:docMk/>
          <pc:sldMk cId="0" sldId="262"/>
        </pc:sldMkLst>
        <pc:spChg chg="mod">
          <ac:chgData name="Luiz Augusto Melo Pereira" userId="4bd5ce759a66f368" providerId="LiveId" clId="{ABC0DDF6-CB34-4C13-B9BD-F1EE9C6D4D45}" dt="2025-01-28T14:12:21.013" v="31" actId="107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2:28.958" v="34" actId="1076"/>
        <pc:sldMkLst>
          <pc:docMk/>
          <pc:sldMk cId="0" sldId="263"/>
        </pc:sldMkLst>
        <pc:spChg chg="mod">
          <ac:chgData name="Luiz Augusto Melo Pereira" userId="4bd5ce759a66f368" providerId="LiveId" clId="{ABC0DDF6-CB34-4C13-B9BD-F1EE9C6D4D45}" dt="2025-01-28T14:12:23.975" v="32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2:28.958" v="34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2:25.831" v="33" actId="1076"/>
          <ac:spMkLst>
            <pc:docMk/>
            <pc:sldMk cId="0" sldId="263"/>
            <ac:spMk id="11" creationId="{95CE8EEE-9605-7FEC-211D-92A0A1AEF4DD}"/>
          </ac:spMkLst>
        </pc:spChg>
      </pc:sldChg>
      <pc:sldChg chg="modSp mod">
        <pc:chgData name="Luiz Augusto Melo Pereira" userId="4bd5ce759a66f368" providerId="LiveId" clId="{ABC0DDF6-CB34-4C13-B9BD-F1EE9C6D4D45}" dt="2025-01-28T14:12:33.044" v="36" actId="1076"/>
        <pc:sldMkLst>
          <pc:docMk/>
          <pc:sldMk cId="0" sldId="264"/>
        </pc:sldMkLst>
        <pc:spChg chg="mod">
          <ac:chgData name="Luiz Augusto Melo Pereira" userId="4bd5ce759a66f368" providerId="LiveId" clId="{ABC0DDF6-CB34-4C13-B9BD-F1EE9C6D4D45}" dt="2025-01-28T14:12:33.044" v="36" actId="107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2:38.527" v="38" actId="1076"/>
        <pc:sldMkLst>
          <pc:docMk/>
          <pc:sldMk cId="0" sldId="265"/>
        </pc:sldMkLst>
        <pc:spChg chg="mod">
          <ac:chgData name="Luiz Augusto Melo Pereira" userId="4bd5ce759a66f368" providerId="LiveId" clId="{ABC0DDF6-CB34-4C13-B9BD-F1EE9C6D4D45}" dt="2025-01-28T14:12:38.527" v="38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2:46.541" v="41" actId="1076"/>
        <pc:sldMkLst>
          <pc:docMk/>
          <pc:sldMk cId="0" sldId="266"/>
        </pc:sldMkLst>
        <pc:spChg chg="mod">
          <ac:chgData name="Luiz Augusto Melo Pereira" userId="4bd5ce759a66f368" providerId="LiveId" clId="{ABC0DDF6-CB34-4C13-B9BD-F1EE9C6D4D45}" dt="2025-01-28T14:12:42.746" v="40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2:46.541" v="41" actId="1076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2:50.891" v="43" actId="1076"/>
        <pc:sldMkLst>
          <pc:docMk/>
          <pc:sldMk cId="0" sldId="267"/>
        </pc:sldMkLst>
        <pc:spChg chg="mod">
          <ac:chgData name="Luiz Augusto Melo Pereira" userId="4bd5ce759a66f368" providerId="LiveId" clId="{ABC0DDF6-CB34-4C13-B9BD-F1EE9C6D4D45}" dt="2025-01-28T14:12:50.891" v="43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3:04.686" v="52" actId="1076"/>
        <pc:sldMkLst>
          <pc:docMk/>
          <pc:sldMk cId="0" sldId="268"/>
        </pc:sldMkLst>
        <pc:spChg chg="mod">
          <ac:chgData name="Luiz Augusto Melo Pereira" userId="4bd5ce759a66f368" providerId="LiveId" clId="{ABC0DDF6-CB34-4C13-B9BD-F1EE9C6D4D45}" dt="2025-01-28T14:12:55.229" v="44" actId="1076"/>
          <ac:spMkLst>
            <pc:docMk/>
            <pc:sldMk cId="0" sldId="268"/>
            <ac:spMk id="5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2:57.795" v="46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3:04.686" v="52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3:00.134" v="48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3:02.448" v="50" actId="1076"/>
          <ac:spMkLst>
            <pc:docMk/>
            <pc:sldMk cId="0" sldId="268"/>
            <ac:spMk id="16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3:15.895" v="57" actId="1076"/>
        <pc:sldMkLst>
          <pc:docMk/>
          <pc:sldMk cId="0" sldId="269"/>
        </pc:sldMkLst>
        <pc:spChg chg="mod">
          <ac:chgData name="Luiz Augusto Melo Pereira" userId="4bd5ce759a66f368" providerId="LiveId" clId="{ABC0DDF6-CB34-4C13-B9BD-F1EE9C6D4D45}" dt="2025-01-28T14:13:13.742" v="55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3:15.895" v="57" actId="1076"/>
          <ac:spMkLst>
            <pc:docMk/>
            <pc:sldMk cId="0" sldId="269"/>
            <ac:spMk id="10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3:25.945" v="63" actId="1076"/>
        <pc:sldMkLst>
          <pc:docMk/>
          <pc:sldMk cId="0" sldId="270"/>
        </pc:sldMkLst>
        <pc:spChg chg="mod">
          <ac:chgData name="Luiz Augusto Melo Pereira" userId="4bd5ce759a66f368" providerId="LiveId" clId="{ABC0DDF6-CB34-4C13-B9BD-F1EE9C6D4D45}" dt="2025-01-28T14:13:20.470" v="59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3:22.946" v="61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3:25.945" v="63" actId="1076"/>
          <ac:spMkLst>
            <pc:docMk/>
            <pc:sldMk cId="0" sldId="270"/>
            <ac:spMk id="14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3:30.699" v="65" actId="1076"/>
        <pc:sldMkLst>
          <pc:docMk/>
          <pc:sldMk cId="0" sldId="271"/>
        </pc:sldMkLst>
        <pc:spChg chg="mod">
          <ac:chgData name="Luiz Augusto Melo Pereira" userId="4bd5ce759a66f368" providerId="LiveId" clId="{ABC0DDF6-CB34-4C13-B9BD-F1EE9C6D4D45}" dt="2025-01-28T14:13:30.699" v="65" actId="1076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3:33.533" v="67" actId="1076"/>
        <pc:sldMkLst>
          <pc:docMk/>
          <pc:sldMk cId="0" sldId="272"/>
        </pc:sldMkLst>
        <pc:spChg chg="mod">
          <ac:chgData name="Luiz Augusto Melo Pereira" userId="4bd5ce759a66f368" providerId="LiveId" clId="{ABC0DDF6-CB34-4C13-B9BD-F1EE9C6D4D45}" dt="2025-01-28T14:13:33.533" v="67" actId="107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3:36.195" v="69" actId="1076"/>
        <pc:sldMkLst>
          <pc:docMk/>
          <pc:sldMk cId="0" sldId="273"/>
        </pc:sldMkLst>
        <pc:spChg chg="mod">
          <ac:chgData name="Luiz Augusto Melo Pereira" userId="4bd5ce759a66f368" providerId="LiveId" clId="{ABC0DDF6-CB34-4C13-B9BD-F1EE9C6D4D45}" dt="2025-01-28T14:13:36.195" v="69" actId="1076"/>
          <ac:spMkLst>
            <pc:docMk/>
            <pc:sldMk cId="0" sldId="273"/>
            <ac:spMk id="3" creationId="{00000000-0000-0000-0000-000000000000}"/>
          </ac:spMkLst>
        </pc:spChg>
      </pc:sldChg>
      <pc:sldChg chg="addSp modSp mod">
        <pc:chgData name="Luiz Augusto Melo Pereira" userId="4bd5ce759a66f368" providerId="LiveId" clId="{ABC0DDF6-CB34-4C13-B9BD-F1EE9C6D4D45}" dt="2025-01-28T14:15:19.902" v="223" actId="1035"/>
        <pc:sldMkLst>
          <pc:docMk/>
          <pc:sldMk cId="0" sldId="274"/>
        </pc:sldMkLst>
        <pc:spChg chg="mod">
          <ac:chgData name="Luiz Augusto Melo Pereira" userId="4bd5ce759a66f368" providerId="LiveId" clId="{ABC0DDF6-CB34-4C13-B9BD-F1EE9C6D4D45}" dt="2025-01-28T14:13:42.314" v="72" actId="21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Luiz Augusto Melo Pereira" userId="4bd5ce759a66f368" providerId="LiveId" clId="{ABC0DDF6-CB34-4C13-B9BD-F1EE9C6D4D45}" dt="2025-01-28T14:14:38.695" v="119" actId="1035"/>
          <ac:spMkLst>
            <pc:docMk/>
            <pc:sldMk cId="0" sldId="274"/>
            <ac:spMk id="5" creationId="{1EEA3E04-98A7-03A6-CA5C-1C60B625227E}"/>
          </ac:spMkLst>
        </pc:spChg>
        <pc:spChg chg="mod">
          <ac:chgData name="Luiz Augusto Melo Pereira" userId="4bd5ce759a66f368" providerId="LiveId" clId="{ABC0DDF6-CB34-4C13-B9BD-F1EE9C6D4D45}" dt="2025-01-28T14:14:19.343" v="85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4:46.522" v="132" actId="103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4:57.034" v="151" actId="1035"/>
          <ac:spMkLst>
            <pc:docMk/>
            <pc:sldMk cId="0" sldId="274"/>
            <ac:spMk id="21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5:09.104" v="176" actId="1035"/>
          <ac:spMkLst>
            <pc:docMk/>
            <pc:sldMk cId="0" sldId="274"/>
            <ac:spMk id="25" creationId="{7B4B689A-3769-2173-9F1B-6BEDB146D9A5}"/>
          </ac:spMkLst>
        </pc:spChg>
        <pc:spChg chg="mod">
          <ac:chgData name="Luiz Augusto Melo Pereira" userId="4bd5ce759a66f368" providerId="LiveId" clId="{ABC0DDF6-CB34-4C13-B9BD-F1EE9C6D4D45}" dt="2025-01-28T14:15:19.902" v="223" actId="1035"/>
          <ac:spMkLst>
            <pc:docMk/>
            <pc:sldMk cId="0" sldId="274"/>
            <ac:spMk id="26" creationId="{00320588-4B4E-0B19-6D69-B297F202F490}"/>
          </ac:spMkLst>
        </pc:spChg>
      </pc:sldChg>
      <pc:sldChg chg="modSp mod">
        <pc:chgData name="Luiz Augusto Melo Pereira" userId="4bd5ce759a66f368" providerId="LiveId" clId="{ABC0DDF6-CB34-4C13-B9BD-F1EE9C6D4D45}" dt="2025-01-28T14:15:26.590" v="225" actId="1076"/>
        <pc:sldMkLst>
          <pc:docMk/>
          <pc:sldMk cId="0" sldId="275"/>
        </pc:sldMkLst>
        <pc:spChg chg="mod">
          <ac:chgData name="Luiz Augusto Melo Pereira" userId="4bd5ce759a66f368" providerId="LiveId" clId="{ABC0DDF6-CB34-4C13-B9BD-F1EE9C6D4D45}" dt="2025-01-28T14:15:26.590" v="225" actId="1076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5:43.648" v="229" actId="207"/>
        <pc:sldMkLst>
          <pc:docMk/>
          <pc:sldMk cId="0" sldId="276"/>
        </pc:sldMkLst>
        <pc:spChg chg="mod">
          <ac:chgData name="Luiz Augusto Melo Pereira" userId="4bd5ce759a66f368" providerId="LiveId" clId="{ABC0DDF6-CB34-4C13-B9BD-F1EE9C6D4D45}" dt="2025-01-28T14:15:43.648" v="229" actId="207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5:47.915" v="231" actId="1076"/>
        <pc:sldMkLst>
          <pc:docMk/>
          <pc:sldMk cId="0" sldId="277"/>
        </pc:sldMkLst>
        <pc:spChg chg="mod">
          <ac:chgData name="Luiz Augusto Melo Pereira" userId="4bd5ce759a66f368" providerId="LiveId" clId="{ABC0DDF6-CB34-4C13-B9BD-F1EE9C6D4D45}" dt="2025-01-28T14:15:47.915" v="231" actId="1076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5:55.489" v="234" actId="207"/>
        <pc:sldMkLst>
          <pc:docMk/>
          <pc:sldMk cId="0" sldId="278"/>
        </pc:sldMkLst>
        <pc:spChg chg="mod">
          <ac:chgData name="Luiz Augusto Melo Pereira" userId="4bd5ce759a66f368" providerId="LiveId" clId="{ABC0DDF6-CB34-4C13-B9BD-F1EE9C6D4D45}" dt="2025-01-28T14:15:51.757" v="233" actId="1076"/>
          <ac:spMkLst>
            <pc:docMk/>
            <pc:sldMk cId="0" sldId="278"/>
            <ac:spMk id="3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5:55.489" v="234" actId="207"/>
          <ac:spMkLst>
            <pc:docMk/>
            <pc:sldMk cId="0" sldId="278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ABC0DDF6-CB34-4C13-B9BD-F1EE9C6D4D45}" dt="2025-01-28T14:16:05.689" v="239" actId="1076"/>
        <pc:sldMkLst>
          <pc:docMk/>
          <pc:sldMk cId="0" sldId="279"/>
        </pc:sldMkLst>
        <pc:spChg chg="mod">
          <ac:chgData name="Luiz Augusto Melo Pereira" userId="4bd5ce759a66f368" providerId="LiveId" clId="{ABC0DDF6-CB34-4C13-B9BD-F1EE9C6D4D45}" dt="2025-01-28T14:16:05.689" v="239" actId="1076"/>
          <ac:spMkLst>
            <pc:docMk/>
            <pc:sldMk cId="0" sldId="279"/>
            <ac:spMk id="3" creationId="{00000000-0000-0000-0000-000000000000}"/>
          </ac:spMkLst>
        </pc:spChg>
        <pc:spChg chg="mod">
          <ac:chgData name="Luiz Augusto Melo Pereira" userId="4bd5ce759a66f368" providerId="LiveId" clId="{ABC0DDF6-CB34-4C13-B9BD-F1EE9C6D4D45}" dt="2025-01-28T14:16:00.926" v="235" actId="207"/>
          <ac:spMkLst>
            <pc:docMk/>
            <pc:sldMk cId="0" sldId="27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60477"/>
            <a:ext cx="9858375" cy="1146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55216" y="1252854"/>
            <a:ext cx="8481567" cy="2180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SVM/svm_regression1.ipynb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SVM/svm_regression1.ipynb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luiz10ml/tp555-ml/blob/main/exemplos/classification/SVM/svm_exemplo2.ipynb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SVM/svm_sensitivity_to_outliers.ipynb" TargetMode="External"/><Relationship Id="rId2" Type="http://schemas.openxmlformats.org/officeDocument/2006/relationships/hyperlink" Target="https://colab.research.google.com/github/luiz10ml/tp555-ml/blob/main/exemplos/classification/SVM/svm_sensitivity_to_feature_scales.ipynb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SVM/svm_regression1.ipynb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SVM/svm_regression2.ipynb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58470" marR="451484" algn="ctr">
              <a:lnSpc>
                <a:spcPts val="5290"/>
              </a:lnSpc>
              <a:spcBef>
                <a:spcPts val="760"/>
              </a:spcBef>
            </a:pPr>
            <a:r>
              <a:rPr dirty="0"/>
              <a:t>TP555</a:t>
            </a:r>
            <a:r>
              <a:rPr spc="-125" dirty="0"/>
              <a:t> </a:t>
            </a:r>
            <a:r>
              <a:rPr dirty="0"/>
              <a:t>-</a:t>
            </a:r>
            <a:r>
              <a:rPr spc="-145" dirty="0"/>
              <a:t> </a:t>
            </a:r>
            <a:r>
              <a:rPr spc="-10" dirty="0"/>
              <a:t>Inteligência</a:t>
            </a:r>
            <a:r>
              <a:rPr spc="-80" dirty="0"/>
              <a:t> </a:t>
            </a:r>
            <a:r>
              <a:rPr dirty="0"/>
              <a:t>Artificial</a:t>
            </a:r>
            <a:r>
              <a:rPr spc="-110" dirty="0"/>
              <a:t> </a:t>
            </a:r>
            <a:r>
              <a:rPr spc="-50" dirty="0"/>
              <a:t>e </a:t>
            </a:r>
            <a:r>
              <a:rPr dirty="0"/>
              <a:t>Machine</a:t>
            </a:r>
            <a:r>
              <a:rPr spc="-155" dirty="0"/>
              <a:t> </a:t>
            </a:r>
            <a:r>
              <a:rPr spc="-10" dirty="0"/>
              <a:t>Learning:</a:t>
            </a:r>
          </a:p>
          <a:p>
            <a:pPr marL="6985" algn="ctr">
              <a:lnSpc>
                <a:spcPts val="5725"/>
              </a:lnSpc>
            </a:pPr>
            <a:r>
              <a:rPr sz="5400" i="1" spc="-20" dirty="0">
                <a:latin typeface="Calibri Light"/>
                <a:cs typeface="Calibri Light"/>
              </a:rPr>
              <a:t>Máquina</a:t>
            </a:r>
            <a:r>
              <a:rPr sz="5400" i="1" spc="-190" dirty="0">
                <a:latin typeface="Calibri Light"/>
                <a:cs typeface="Calibri Light"/>
              </a:rPr>
              <a:t> </a:t>
            </a:r>
            <a:r>
              <a:rPr sz="5400" i="1" dirty="0">
                <a:latin typeface="Calibri Light"/>
                <a:cs typeface="Calibri Light"/>
              </a:rPr>
              <a:t>de</a:t>
            </a:r>
            <a:r>
              <a:rPr sz="5400" i="1" spc="-165" dirty="0">
                <a:latin typeface="Calibri Light"/>
                <a:cs typeface="Calibri Light"/>
              </a:rPr>
              <a:t> </a:t>
            </a:r>
            <a:r>
              <a:rPr sz="5400" i="1" spc="-75" dirty="0">
                <a:latin typeface="Calibri Light"/>
                <a:cs typeface="Calibri Light"/>
              </a:rPr>
              <a:t>Vetores</a:t>
            </a:r>
            <a:r>
              <a:rPr sz="5400" i="1" spc="-170" dirty="0">
                <a:latin typeface="Calibri Light"/>
                <a:cs typeface="Calibri Light"/>
              </a:rPr>
              <a:t> </a:t>
            </a:r>
            <a:r>
              <a:rPr sz="5400" i="1" dirty="0">
                <a:latin typeface="Calibri Light"/>
                <a:cs typeface="Calibri Light"/>
              </a:rPr>
              <a:t>de</a:t>
            </a:r>
            <a:r>
              <a:rPr sz="5400" i="1" spc="-160" dirty="0">
                <a:latin typeface="Calibri Light"/>
                <a:cs typeface="Calibri Light"/>
              </a:rPr>
              <a:t> </a:t>
            </a:r>
            <a:r>
              <a:rPr sz="5400" i="1" spc="-20" dirty="0">
                <a:latin typeface="Calibri Light"/>
                <a:cs typeface="Calibri Light"/>
              </a:rPr>
              <a:t>Suporte</a:t>
            </a:r>
            <a:endParaRPr sz="5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45" y="5558130"/>
            <a:ext cx="2178468" cy="6185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3442715"/>
            <a:ext cx="2261616" cy="2237232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39D93DE5-E006-3B30-13F1-22A132A4B0B2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solidFill>
                  <a:srgbClr val="000000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luiz</a:t>
            </a:r>
            <a:r>
              <a:rPr lang="pt-BR" sz="1800" spc="-10" dirty="0">
                <a:solidFill>
                  <a:srgbClr val="0070C0"/>
                </a:solidFill>
                <a:latin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.melo@inatel.br</a:t>
            </a:r>
            <a:endParaRPr lang="pt-BR" sz="18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83240B-D53C-D45B-EB1D-E7143C22C43F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solidFill>
                  <a:srgbClr val="0070C0"/>
                </a:solidFill>
                <a:latin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Máquinas</a:t>
            </a:r>
            <a:r>
              <a:rPr spc="-8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5" dirty="0"/>
              <a:t>Vetores</a:t>
            </a:r>
            <a:r>
              <a:rPr spc="-50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Suporte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6688455" cy="467550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Vetores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Suporte,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Inglês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Support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Vector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Machine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(SVM),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muito poderoso,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versátil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capaz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regressão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detecção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outliers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90170" indent="-229235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SVM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atualmente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popular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supervisionado </a:t>
            </a:r>
            <a:r>
              <a:rPr sz="2800" i="1" dirty="0">
                <a:latin typeface="Calibri"/>
                <a:cs typeface="Calibri"/>
              </a:rPr>
              <a:t>pronto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para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uso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você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tiver </a:t>
            </a:r>
            <a:r>
              <a:rPr sz="2800" dirty="0">
                <a:latin typeface="Calibri"/>
                <a:cs typeface="Calibri"/>
              </a:rPr>
              <a:t>nenhum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conhecimento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prévio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especializado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domínio),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então </a:t>
            </a:r>
            <a:r>
              <a:rPr sz="2800" dirty="0">
                <a:latin typeface="Calibri"/>
                <a:cs typeface="Calibri"/>
              </a:rPr>
              <a:t>SVM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execenlte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método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tentar inicialmente.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5511" y="2921507"/>
            <a:ext cx="4572000" cy="2647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Propriedades</a:t>
            </a:r>
            <a:r>
              <a:rPr spc="-75" dirty="0"/>
              <a:t> </a:t>
            </a:r>
            <a:r>
              <a:rPr dirty="0"/>
              <a:t>das</a:t>
            </a:r>
            <a:r>
              <a:rPr spc="-75" dirty="0"/>
              <a:t> </a:t>
            </a:r>
            <a:r>
              <a:rPr spc="-20" dirty="0"/>
              <a:t>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42389"/>
            <a:ext cx="10963275" cy="5175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115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propriedades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tornam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atrativas:</a:t>
            </a:r>
            <a:endParaRPr sz="2600" dirty="0">
              <a:latin typeface="Calibri"/>
              <a:cs typeface="Calibri"/>
            </a:endParaRPr>
          </a:p>
          <a:p>
            <a:pPr marL="984885" marR="5715" indent="-515620">
              <a:lnSpc>
                <a:spcPct val="80100"/>
              </a:lnSpc>
              <a:spcBef>
                <a:spcPts val="520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200" dirty="0">
                <a:latin typeface="Calibri"/>
                <a:cs typeface="Calibri"/>
              </a:rPr>
              <a:t>SVM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constroem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separador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margem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máxima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fronteira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decisão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tem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distância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possível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pontos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próximos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propriedade </a:t>
            </a:r>
            <a:r>
              <a:rPr sz="2200" dirty="0">
                <a:latin typeface="Calibri"/>
                <a:cs typeface="Calibri"/>
              </a:rPr>
              <a:t>ajuda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SVMs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generalizar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bem.</a:t>
            </a:r>
            <a:endParaRPr sz="2200" dirty="0">
              <a:latin typeface="Calibri"/>
              <a:cs typeface="Calibri"/>
            </a:endParaRPr>
          </a:p>
          <a:p>
            <a:pPr marL="984885" marR="88900" indent="-515620">
              <a:lnSpc>
                <a:spcPct val="80000"/>
              </a:lnSpc>
              <a:spcBef>
                <a:spcPts val="490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200" dirty="0">
                <a:latin typeface="Calibri"/>
                <a:cs typeface="Calibri"/>
              </a:rPr>
              <a:t>SVMs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hiperplano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separação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linear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porém,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têm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habilidade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projetar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espaço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dimensão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alta,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usando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 </a:t>
            </a:r>
            <a:r>
              <a:rPr sz="2200" dirty="0">
                <a:latin typeface="Calibri"/>
                <a:cs typeface="Calibri"/>
              </a:rPr>
              <a:t>chamado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truque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kernel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Inglês,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kernel</a:t>
            </a:r>
            <a:r>
              <a:rPr sz="2200" i="1" spc="-7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trick</a:t>
            </a:r>
            <a:r>
              <a:rPr sz="2200" dirty="0">
                <a:latin typeface="Calibri"/>
                <a:cs typeface="Calibri"/>
              </a:rPr>
              <a:t>).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Frequentemente,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não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linearmente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separáveis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espaço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entrada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original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facilmente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separáveis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em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espaço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dimensional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alto.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separador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linear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dimensão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0" dirty="0">
                <a:latin typeface="Calibri"/>
                <a:cs typeface="Calibri"/>
              </a:rPr>
              <a:t> não-</a:t>
            </a:r>
            <a:r>
              <a:rPr sz="2200" dirty="0">
                <a:latin typeface="Calibri"/>
                <a:cs typeface="Calibri"/>
              </a:rPr>
              <a:t>linear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no </a:t>
            </a:r>
            <a:r>
              <a:rPr sz="2200" dirty="0">
                <a:latin typeface="Calibri"/>
                <a:cs typeface="Calibri"/>
              </a:rPr>
              <a:t>espaço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original.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significa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espaço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hipóteses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expandido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relação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aos </a:t>
            </a:r>
            <a:r>
              <a:rPr sz="2200" dirty="0">
                <a:latin typeface="Calibri"/>
                <a:cs typeface="Calibri"/>
              </a:rPr>
              <a:t>métodos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usam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representações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estritamente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lineares.</a:t>
            </a:r>
            <a:endParaRPr sz="2200" dirty="0">
              <a:latin typeface="Calibri"/>
              <a:cs typeface="Calibri"/>
            </a:endParaRPr>
          </a:p>
          <a:p>
            <a:pPr marL="984885" marR="5080" indent="-515620">
              <a:lnSpc>
                <a:spcPct val="80000"/>
              </a:lnSpc>
              <a:spcBef>
                <a:spcPts val="505"/>
              </a:spcBef>
              <a:buAutoNum type="arabicPeriod"/>
              <a:tabLst>
                <a:tab pos="984885" algn="l"/>
                <a:tab pos="985519" algn="l"/>
              </a:tabLst>
            </a:pPr>
            <a:r>
              <a:rPr sz="2200" dirty="0">
                <a:latin typeface="Calibri"/>
                <a:cs typeface="Calibri"/>
              </a:rPr>
              <a:t>SVMs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abordagens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não-</a:t>
            </a:r>
            <a:r>
              <a:rPr sz="2200" spc="-10" dirty="0">
                <a:latin typeface="Calibri"/>
                <a:cs typeface="Calibri"/>
              </a:rPr>
              <a:t>paramétricas.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retêm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treinamento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e, </a:t>
            </a:r>
            <a:r>
              <a:rPr sz="2200" spc="-10" dirty="0">
                <a:latin typeface="Calibri"/>
                <a:cs typeface="Calibri"/>
              </a:rPr>
              <a:t>potencialmente,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precisam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armazená-</a:t>
            </a:r>
            <a:r>
              <a:rPr sz="2200" dirty="0">
                <a:latin typeface="Calibri"/>
                <a:cs typeface="Calibri"/>
              </a:rPr>
              <a:t>los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todos.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lado,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prática,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elas frequentemente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precisam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reter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pequena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fração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número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exemplos; </a:t>
            </a:r>
            <a:r>
              <a:rPr sz="2200" dirty="0">
                <a:latin typeface="Calibri"/>
                <a:cs typeface="Calibri"/>
              </a:rPr>
              <a:t>algumas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vezes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tão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pequeno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pequena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constante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multiplicada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pelo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número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dimensões.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SVMs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combinam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vantagens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paramétricos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não- </a:t>
            </a:r>
            <a:r>
              <a:rPr sz="2200" spc="-10" dirty="0">
                <a:latin typeface="Calibri"/>
                <a:cs typeface="Calibri"/>
              </a:rPr>
              <a:t>paramétricos: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têm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flexibilidade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funções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complexas,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são </a:t>
            </a:r>
            <a:r>
              <a:rPr sz="2200" spc="-10" dirty="0">
                <a:latin typeface="Calibri"/>
                <a:cs typeface="Calibri"/>
              </a:rPr>
              <a:t>resistentes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sobreajuste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700" y="1526228"/>
            <a:ext cx="11169015" cy="489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098800" indent="-229235">
              <a:lnSpc>
                <a:spcPct val="70000"/>
              </a:lnSpc>
              <a:spcBef>
                <a:spcPts val="940"/>
              </a:spcBef>
              <a:buFont typeface="Arial"/>
              <a:buChar char="•"/>
              <a:tabLst>
                <a:tab pos="241935" algn="l"/>
              </a:tabLst>
            </a:pPr>
            <a:r>
              <a:rPr lang="pt-BR" sz="2600">
                <a:latin typeface="Calibri"/>
                <a:cs typeface="Calibri"/>
              </a:rPr>
              <a:t>A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figura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ao</a:t>
            </a:r>
            <a:r>
              <a:rPr lang="pt-BR" sz="2600" spc="-1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lado</a:t>
            </a:r>
            <a:r>
              <a:rPr lang="pt-BR" sz="2600" spc="-2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mostra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2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classes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que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podem</a:t>
            </a:r>
            <a:r>
              <a:rPr lang="pt-BR" sz="2600" spc="-25">
                <a:latin typeface="Calibri"/>
                <a:cs typeface="Calibri"/>
              </a:rPr>
              <a:t> ser </a:t>
            </a:r>
            <a:r>
              <a:rPr lang="pt-BR" sz="2600">
                <a:latin typeface="Calibri"/>
                <a:cs typeface="Calibri"/>
              </a:rPr>
              <a:t>claramente</a:t>
            </a:r>
            <a:r>
              <a:rPr lang="pt-BR" sz="2600" spc="-9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separadas</a:t>
            </a:r>
            <a:r>
              <a:rPr lang="pt-BR" sz="2600" spc="-7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com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uma</a:t>
            </a:r>
            <a:r>
              <a:rPr lang="pt-BR" sz="2600" spc="-6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reta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(elas</a:t>
            </a:r>
            <a:r>
              <a:rPr lang="pt-BR" sz="2600" spc="-7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são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linearmente separáveis).</a:t>
            </a:r>
            <a:endParaRPr lang="pt-BR" sz="2600">
              <a:latin typeface="Calibri"/>
              <a:cs typeface="Calibri"/>
            </a:endParaRPr>
          </a:p>
          <a:p>
            <a:pPr marL="241300" marR="3221990" indent="-229235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lang="pt-BR" sz="2600">
                <a:latin typeface="Calibri"/>
                <a:cs typeface="Calibri"/>
              </a:rPr>
              <a:t>A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figura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superior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mostra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os</a:t>
            </a:r>
            <a:r>
              <a:rPr lang="pt-BR" sz="2600" spc="-2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limites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decisão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 spc="-20">
                <a:latin typeface="Calibri"/>
                <a:cs typeface="Calibri"/>
              </a:rPr>
              <a:t>três </a:t>
            </a:r>
            <a:r>
              <a:rPr lang="pt-BR" sz="2600">
                <a:latin typeface="Calibri"/>
                <a:cs typeface="Calibri"/>
              </a:rPr>
              <a:t>classificadores</a:t>
            </a:r>
            <a:r>
              <a:rPr lang="pt-BR" sz="2600" spc="-7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lineares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possíveis.</a:t>
            </a:r>
            <a:r>
              <a:rPr lang="pt-BR" sz="2600" spc="-6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O</a:t>
            </a:r>
            <a:r>
              <a:rPr lang="pt-BR" sz="2600" spc="-3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modelo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cujo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limite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 spc="-25">
                <a:latin typeface="Calibri"/>
                <a:cs typeface="Calibri"/>
              </a:rPr>
              <a:t>de </a:t>
            </a:r>
            <a:r>
              <a:rPr lang="pt-BR" sz="2600">
                <a:latin typeface="Calibri"/>
                <a:cs typeface="Calibri"/>
              </a:rPr>
              <a:t>decisão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é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representado</a:t>
            </a:r>
            <a:r>
              <a:rPr lang="pt-BR" sz="2600" spc="-6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pela</a:t>
            </a:r>
            <a:r>
              <a:rPr lang="pt-BR" sz="2600" spc="-3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linha</a:t>
            </a:r>
            <a:r>
              <a:rPr lang="pt-BR" sz="2600" spc="-2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preta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é</a:t>
            </a:r>
            <a:r>
              <a:rPr lang="pt-BR" sz="2600" spc="-2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tão</a:t>
            </a:r>
            <a:r>
              <a:rPr lang="pt-BR" sz="2600" spc="-1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ruim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 spc="-25">
                <a:latin typeface="Calibri"/>
                <a:cs typeface="Calibri"/>
              </a:rPr>
              <a:t>que </a:t>
            </a:r>
            <a:r>
              <a:rPr lang="pt-BR" sz="2600">
                <a:latin typeface="Calibri"/>
                <a:cs typeface="Calibri"/>
              </a:rPr>
              <a:t>nem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mesmo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separa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as</a:t>
            </a:r>
            <a:r>
              <a:rPr lang="pt-BR" sz="2600" spc="-2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classes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adequadamente.</a:t>
            </a:r>
            <a:endParaRPr lang="pt-BR" sz="2600">
              <a:latin typeface="Calibri"/>
              <a:cs typeface="Calibri"/>
            </a:endParaRPr>
          </a:p>
          <a:p>
            <a:pPr marL="241300" marR="3458210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lang="pt-BR" sz="2600">
                <a:latin typeface="Calibri"/>
                <a:cs typeface="Calibri"/>
              </a:rPr>
              <a:t>Os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outros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dois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modelos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funcionam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perfeitamente</a:t>
            </a:r>
            <a:r>
              <a:rPr lang="pt-BR" sz="2600" spc="-7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neste </a:t>
            </a:r>
            <a:r>
              <a:rPr lang="pt-BR" sz="2600">
                <a:latin typeface="Calibri"/>
                <a:cs typeface="Calibri"/>
              </a:rPr>
              <a:t>conjunto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treinamento,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mas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seus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limites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decisão </a:t>
            </a:r>
            <a:r>
              <a:rPr lang="pt-BR" sz="2600">
                <a:latin typeface="Calibri"/>
                <a:cs typeface="Calibri"/>
              </a:rPr>
              <a:t>chegam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tão</a:t>
            </a:r>
            <a:r>
              <a:rPr lang="pt-BR" sz="2600" spc="-2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perto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dos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exemplos</a:t>
            </a:r>
            <a:r>
              <a:rPr lang="pt-BR" sz="2600" spc="-6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que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esses</a:t>
            </a:r>
            <a:r>
              <a:rPr lang="pt-BR" sz="2600" spc="-60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modelos </a:t>
            </a:r>
            <a:r>
              <a:rPr lang="pt-BR" sz="2600" spc="-20">
                <a:latin typeface="Calibri"/>
                <a:cs typeface="Calibri"/>
              </a:rPr>
              <a:t>provavelmente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não</a:t>
            </a:r>
            <a:r>
              <a:rPr lang="pt-BR" sz="2600" spc="-10">
                <a:latin typeface="Calibri"/>
                <a:cs typeface="Calibri"/>
              </a:rPr>
              <a:t> generalizarão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 spc="-20">
                <a:latin typeface="Calibri"/>
                <a:cs typeface="Calibri"/>
              </a:rPr>
              <a:t>bem.</a:t>
            </a:r>
            <a:endParaRPr lang="pt-BR" sz="2600">
              <a:latin typeface="Calibri"/>
              <a:cs typeface="Calibri"/>
            </a:endParaRPr>
          </a:p>
          <a:p>
            <a:pPr marL="241300" marR="3164840" indent="-229235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lang="pt-BR" sz="2600">
                <a:latin typeface="Calibri"/>
                <a:cs typeface="Calibri"/>
              </a:rPr>
              <a:t>Em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contraste,</a:t>
            </a:r>
            <a:r>
              <a:rPr lang="pt-BR" sz="2600" spc="-6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a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linha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sólida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na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figura</a:t>
            </a:r>
            <a:r>
              <a:rPr lang="pt-BR" sz="2600" spc="-5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inferior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representa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 spc="-50">
                <a:latin typeface="Calibri"/>
                <a:cs typeface="Calibri"/>
              </a:rPr>
              <a:t>o </a:t>
            </a:r>
            <a:r>
              <a:rPr lang="pt-BR" sz="2600">
                <a:latin typeface="Calibri"/>
                <a:cs typeface="Calibri"/>
              </a:rPr>
              <a:t>limite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decisão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um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classificador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SVM.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Esta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linha</a:t>
            </a:r>
            <a:r>
              <a:rPr lang="pt-BR" sz="2600" spc="-15">
                <a:latin typeface="Calibri"/>
                <a:cs typeface="Calibri"/>
              </a:rPr>
              <a:t> </a:t>
            </a:r>
            <a:r>
              <a:rPr lang="pt-BR" sz="2600" spc="-25">
                <a:latin typeface="Calibri"/>
                <a:cs typeface="Calibri"/>
              </a:rPr>
              <a:t>não </a:t>
            </a:r>
            <a:r>
              <a:rPr lang="pt-BR" sz="2600">
                <a:latin typeface="Calibri"/>
                <a:cs typeface="Calibri"/>
              </a:rPr>
              <a:t>apenas</a:t>
            </a:r>
            <a:r>
              <a:rPr lang="pt-BR" sz="2600" spc="-4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separa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as</a:t>
            </a:r>
            <a:r>
              <a:rPr lang="pt-BR" sz="2600" spc="-1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duas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classes,</a:t>
            </a:r>
            <a:r>
              <a:rPr lang="pt-BR" sz="2600" spc="-40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mas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também</a:t>
            </a:r>
            <a:r>
              <a:rPr lang="pt-BR" sz="2600" spc="-3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fica</a:t>
            </a:r>
            <a:r>
              <a:rPr lang="pt-BR" sz="2600" spc="-1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o</a:t>
            </a:r>
            <a:r>
              <a:rPr lang="pt-BR" sz="2600" spc="-20">
                <a:latin typeface="Calibri"/>
                <a:cs typeface="Calibri"/>
              </a:rPr>
              <a:t> mais </a:t>
            </a:r>
            <a:r>
              <a:rPr lang="pt-BR" sz="2600">
                <a:latin typeface="Calibri"/>
                <a:cs typeface="Calibri"/>
              </a:rPr>
              <a:t>longe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possível</a:t>
            </a:r>
            <a:r>
              <a:rPr lang="pt-BR" sz="2600" spc="-6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dos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 spc="-10">
                <a:latin typeface="Calibri"/>
                <a:cs typeface="Calibri"/>
              </a:rPr>
              <a:t>exemplos</a:t>
            </a:r>
            <a:r>
              <a:rPr lang="pt-BR" sz="2600" spc="-7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de</a:t>
            </a:r>
            <a:r>
              <a:rPr lang="pt-BR" sz="2600" spc="-55">
                <a:latin typeface="Calibri"/>
                <a:cs typeface="Calibri"/>
              </a:rPr>
              <a:t> </a:t>
            </a:r>
            <a:r>
              <a:rPr lang="pt-BR" sz="2600">
                <a:latin typeface="Calibri"/>
                <a:cs typeface="Calibri"/>
              </a:rPr>
              <a:t>treinamento</a:t>
            </a:r>
            <a:r>
              <a:rPr lang="pt-BR" sz="2600" spc="-65">
                <a:latin typeface="Calibri"/>
                <a:cs typeface="Calibri"/>
              </a:rPr>
              <a:t> </a:t>
            </a:r>
            <a:r>
              <a:rPr lang="pt-BR" sz="2600" spc="-20">
                <a:latin typeface="Calibri"/>
                <a:cs typeface="Calibri"/>
              </a:rPr>
              <a:t>mais </a:t>
            </a:r>
            <a:r>
              <a:rPr lang="pt-BR" sz="2600" spc="-10">
                <a:latin typeface="Calibri"/>
                <a:cs typeface="Calibri"/>
              </a:rPr>
              <a:t>próximos.</a:t>
            </a:r>
            <a:endParaRPr lang="pt-BR" sz="2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4782" y="1781291"/>
            <a:ext cx="3090102" cy="43866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Ideia</a:t>
            </a:r>
            <a:r>
              <a:rPr spc="-55" dirty="0"/>
              <a:t> </a:t>
            </a:r>
            <a:r>
              <a:rPr dirty="0"/>
              <a:t>fundamental</a:t>
            </a:r>
            <a:r>
              <a:rPr spc="-60" dirty="0"/>
              <a:t> </a:t>
            </a:r>
            <a:r>
              <a:rPr dirty="0"/>
              <a:t>por</a:t>
            </a:r>
            <a:r>
              <a:rPr spc="-45" dirty="0"/>
              <a:t> </a:t>
            </a:r>
            <a:r>
              <a:rPr dirty="0"/>
              <a:t>trás</a:t>
            </a:r>
            <a:r>
              <a:rPr spc="-60" dirty="0"/>
              <a:t> </a:t>
            </a:r>
            <a:r>
              <a:rPr dirty="0"/>
              <a:t>das</a:t>
            </a:r>
            <a:r>
              <a:rPr spc="-40" dirty="0"/>
              <a:t> </a:t>
            </a:r>
            <a:r>
              <a:rPr spc="-20" dirty="0"/>
              <a:t>SVMs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16D73A-AB46-64EA-DA56-201DE7112C46}"/>
              </a:ext>
            </a:extLst>
          </p:cNvPr>
          <p:cNvSpPr txBox="1"/>
          <p:nvPr/>
        </p:nvSpPr>
        <p:spPr>
          <a:xfrm>
            <a:off x="6051384" y="1377302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lang="pt-BR" sz="1800" spc="-60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800" spc="-10" dirty="0">
                <a:solidFill>
                  <a:srgbClr val="0070C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svm_exemplo1.ipynb</a:t>
            </a:r>
            <a:endParaRPr lang="pt-BR" sz="18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460" y="1666267"/>
            <a:ext cx="11169015" cy="46166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090545" indent="-229235" algn="just">
              <a:lnSpc>
                <a:spcPct val="70000"/>
              </a:lnSpc>
              <a:spcBef>
                <a:spcPts val="94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0" dirty="0" err="1">
                <a:latin typeface="Calibri"/>
                <a:cs typeface="Calibri"/>
              </a:rPr>
              <a:t>Portanto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pensar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4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</a:t>
            </a:r>
            <a:r>
              <a:rPr sz="2600" spc="48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estivesse</a:t>
            </a:r>
            <a:r>
              <a:rPr sz="2600" spc="5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criando</a:t>
            </a:r>
            <a:r>
              <a:rPr sz="2600" spc="4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4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rua,</a:t>
            </a:r>
            <a:r>
              <a:rPr sz="2600" spc="5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4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4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larga</a:t>
            </a:r>
            <a:r>
              <a:rPr sz="2600" spc="5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possível </a:t>
            </a:r>
            <a:r>
              <a:rPr sz="2600" dirty="0">
                <a:latin typeface="Calibri"/>
                <a:cs typeface="Calibri"/>
              </a:rPr>
              <a:t>(representada</a:t>
            </a:r>
            <a:r>
              <a:rPr sz="2600" spc="2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linhas</a:t>
            </a:r>
            <a:r>
              <a:rPr sz="2600" spc="2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tracejadas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paralelas),</a:t>
            </a:r>
            <a:r>
              <a:rPr sz="2600" spc="22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2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spc="-10" dirty="0">
                <a:latin typeface="Calibri"/>
                <a:cs typeface="Calibri"/>
              </a:rPr>
              <a:t>classes.</a:t>
            </a:r>
            <a:endParaRPr sz="2600" dirty="0">
              <a:latin typeface="Calibri"/>
              <a:cs typeface="Calibri"/>
            </a:endParaRPr>
          </a:p>
          <a:p>
            <a:pPr marL="241300" marR="3243580" indent="-229235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linha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sólida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separador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margem </a:t>
            </a:r>
            <a:r>
              <a:rPr sz="2600" b="1" i="1" dirty="0">
                <a:latin typeface="Calibri"/>
                <a:cs typeface="Calibri"/>
              </a:rPr>
              <a:t>máxima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médio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margens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(área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linhas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tracejadas).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 </a:t>
            </a:r>
            <a:r>
              <a:rPr sz="2600" b="1" i="1" dirty="0">
                <a:latin typeface="Calibri"/>
                <a:cs typeface="Calibri"/>
              </a:rPr>
              <a:t>classificador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margem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máxima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372485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Observem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adicionar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 </a:t>
            </a:r>
            <a:r>
              <a:rPr sz="2600" dirty="0">
                <a:latin typeface="Calibri"/>
                <a:cs typeface="Calibri"/>
              </a:rPr>
              <a:t>“</a:t>
            </a:r>
            <a:r>
              <a:rPr sz="2600" i="1" dirty="0">
                <a:latin typeface="Calibri"/>
                <a:cs typeface="Calibri"/>
              </a:rPr>
              <a:t>fora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da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rua</a:t>
            </a:r>
            <a:r>
              <a:rPr sz="2600" dirty="0">
                <a:latin typeface="Calibri"/>
                <a:cs typeface="Calibri"/>
              </a:rPr>
              <a:t>”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afetará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decisão: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totalmente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determinado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10" dirty="0">
                <a:latin typeface="Calibri"/>
                <a:cs typeface="Calibri"/>
              </a:rPr>
              <a:t> “</a:t>
            </a:r>
            <a:r>
              <a:rPr sz="2600" i="1" spc="-10" dirty="0">
                <a:latin typeface="Calibri"/>
                <a:cs typeface="Calibri"/>
              </a:rPr>
              <a:t>suportado</a:t>
            </a:r>
            <a:r>
              <a:rPr sz="2600" spc="-10" dirty="0">
                <a:latin typeface="Calibri"/>
                <a:cs typeface="Calibri"/>
              </a:rPr>
              <a:t>”) </a:t>
            </a:r>
            <a:r>
              <a:rPr sz="2600" dirty="0">
                <a:latin typeface="Calibri"/>
                <a:cs typeface="Calibri"/>
              </a:rPr>
              <a:t>pelos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localizados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beira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rua.</a:t>
            </a:r>
            <a:endParaRPr sz="2600" dirty="0">
              <a:latin typeface="Calibri"/>
              <a:cs typeface="Calibri"/>
            </a:endParaRPr>
          </a:p>
          <a:p>
            <a:pPr marL="241300" marR="3855720" indent="-229235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suporte </a:t>
            </a:r>
            <a:r>
              <a:rPr sz="2600" dirty="0">
                <a:latin typeface="Calibri"/>
                <a:cs typeface="Calibri"/>
              </a:rPr>
              <a:t>(círculos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grandes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verdes)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mais </a:t>
            </a:r>
            <a:r>
              <a:rPr sz="2600" dirty="0">
                <a:latin typeface="Calibri"/>
                <a:cs typeface="Calibri"/>
              </a:rPr>
              <a:t>próximos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separador.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4782" y="1781291"/>
            <a:ext cx="3090102" cy="43866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Ideia</a:t>
            </a:r>
            <a:r>
              <a:rPr spc="-55" dirty="0"/>
              <a:t> </a:t>
            </a:r>
            <a:r>
              <a:rPr dirty="0"/>
              <a:t>fundamental</a:t>
            </a:r>
            <a:r>
              <a:rPr spc="-60" dirty="0"/>
              <a:t> </a:t>
            </a:r>
            <a:r>
              <a:rPr dirty="0"/>
              <a:t>por</a:t>
            </a:r>
            <a:r>
              <a:rPr spc="-45" dirty="0"/>
              <a:t> </a:t>
            </a:r>
            <a:r>
              <a:rPr dirty="0"/>
              <a:t>trás</a:t>
            </a:r>
            <a:r>
              <a:rPr spc="-60" dirty="0"/>
              <a:t> </a:t>
            </a:r>
            <a:r>
              <a:rPr dirty="0"/>
              <a:t>das</a:t>
            </a:r>
            <a:r>
              <a:rPr spc="-40" dirty="0"/>
              <a:t> </a:t>
            </a:r>
            <a:r>
              <a:rPr spc="-20" dirty="0"/>
              <a:t>SVMs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2AD5B4-03E9-B277-24BB-00671F25259B}"/>
              </a:ext>
            </a:extLst>
          </p:cNvPr>
          <p:cNvSpPr txBox="1"/>
          <p:nvPr/>
        </p:nvSpPr>
        <p:spPr>
          <a:xfrm>
            <a:off x="6051384" y="1377302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lang="pt-BR" sz="1800" spc="-60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800" spc="-10" dirty="0">
                <a:solidFill>
                  <a:srgbClr val="0070C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svm_exemplo1.ipynb</a:t>
            </a:r>
            <a:endParaRPr lang="pt-BR" sz="18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Separador</a:t>
            </a:r>
            <a:r>
              <a:rPr spc="-10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Margem</a:t>
            </a:r>
            <a:r>
              <a:rPr spc="-105" dirty="0"/>
              <a:t> </a:t>
            </a:r>
            <a:r>
              <a:rPr spc="-10" dirty="0"/>
              <a:t>Máxima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3198" y="1524000"/>
            <a:ext cx="10916920" cy="481393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perda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empírica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tentam </a:t>
            </a:r>
            <a:r>
              <a:rPr sz="2600" dirty="0">
                <a:latin typeface="Calibri"/>
                <a:cs typeface="Calibri"/>
              </a:rPr>
              <a:t>minimizar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perda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generalização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2655"/>
              </a:lnSpc>
              <a:spcBef>
                <a:spcPts val="6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sabemos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ainda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vistos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cair,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sob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suposição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probabilística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extraídos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distribuição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que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anteriores,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existem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argumentos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vindos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teoria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b="1" i="1" dirty="0">
                <a:latin typeface="Calibri"/>
                <a:cs typeface="Calibri"/>
              </a:rPr>
              <a:t>aprendizagem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computacional </a:t>
            </a:r>
            <a:r>
              <a:rPr sz="2600" dirty="0">
                <a:latin typeface="Calibri"/>
                <a:cs typeface="Calibri"/>
              </a:rPr>
              <a:t>sugerindo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minimize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perda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 marR="1297940">
              <a:lnSpc>
                <a:spcPct val="70000"/>
              </a:lnSpc>
              <a:spcBef>
                <a:spcPts val="465"/>
              </a:spcBef>
            </a:pPr>
            <a:r>
              <a:rPr sz="2600" b="1" i="1" dirty="0">
                <a:latin typeface="Calibri"/>
                <a:cs typeface="Calibri"/>
              </a:rPr>
              <a:t>generalização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escolhendo-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separador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esteja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dos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vistos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agora.</a:t>
            </a:r>
            <a:endParaRPr sz="2600" dirty="0">
              <a:latin typeface="Calibri"/>
              <a:cs typeface="Calibri"/>
            </a:endParaRPr>
          </a:p>
          <a:p>
            <a:pPr marL="241300" marR="401320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Nós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chamamos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separador,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mostrado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separador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margem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máxima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2650"/>
              </a:lnSpc>
              <a:spcBef>
                <a:spcPts val="7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margem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largura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área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delimitada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linhas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tracejadas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</a:t>
            </a:r>
            <a:endParaRPr sz="2600" dirty="0">
              <a:latin typeface="Calibri"/>
              <a:cs typeface="Calibri"/>
            </a:endParaRPr>
          </a:p>
          <a:p>
            <a:pPr marL="241300" marR="1190625">
              <a:lnSpc>
                <a:spcPct val="70000"/>
              </a:lnSpc>
              <a:spcBef>
                <a:spcPts val="470"/>
              </a:spcBef>
            </a:pP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vezes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distância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separador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mais </a:t>
            </a:r>
            <a:r>
              <a:rPr sz="2600" spc="-10" dirty="0">
                <a:latin typeface="Calibri"/>
                <a:cs typeface="Calibri"/>
              </a:rPr>
              <a:t>próximo.</a:t>
            </a:r>
            <a:endParaRPr sz="2600" dirty="0">
              <a:latin typeface="Calibri"/>
              <a:cs typeface="Calibri"/>
            </a:endParaRPr>
          </a:p>
          <a:p>
            <a:pPr marL="241300" marR="1100455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Agora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fica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pergunta,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separador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dirty="0">
                <a:latin typeface="Calibri"/>
                <a:cs typeface="Calibri"/>
              </a:rPr>
              <a:t>margem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máxima</a:t>
            </a:r>
            <a:r>
              <a:rPr sz="2600" spc="-10" dirty="0">
                <a:latin typeface="Calibri"/>
                <a:cs typeface="Calibri"/>
              </a:rPr>
              <a:t>?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Separador</a:t>
            </a:r>
            <a:r>
              <a:rPr spc="-9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Margem</a:t>
            </a:r>
            <a:r>
              <a:rPr spc="-100" dirty="0"/>
              <a:t> </a:t>
            </a:r>
            <a:r>
              <a:rPr spc="-10" dirty="0"/>
              <a:t>Máxima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1916" y="1600200"/>
            <a:ext cx="10906125" cy="47351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66700" marR="464820" indent="-229235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67335" algn="l"/>
              </a:tabLst>
            </a:pPr>
            <a:r>
              <a:rPr sz="2600" dirty="0">
                <a:latin typeface="Calibri"/>
                <a:cs typeface="Calibri"/>
              </a:rPr>
              <a:t>Antes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separador,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precisamos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algumas </a:t>
            </a:r>
            <a:r>
              <a:rPr sz="2600" dirty="0">
                <a:latin typeface="Calibri"/>
                <a:cs typeface="Calibri"/>
              </a:rPr>
              <a:t>notações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SVMs.</a:t>
            </a:r>
            <a:endParaRPr sz="2600" dirty="0">
              <a:latin typeface="Calibri"/>
              <a:cs typeface="Calibri"/>
            </a:endParaRPr>
          </a:p>
          <a:p>
            <a:pPr marL="266700" indent="-229235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67335" algn="l"/>
              </a:tabLst>
            </a:pPr>
            <a:r>
              <a:rPr sz="2600" spc="-20" dirty="0">
                <a:latin typeface="Calibri"/>
                <a:cs typeface="Calibri"/>
              </a:rPr>
              <a:t>Tradicionalmente,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convenção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rótulos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são</a:t>
            </a:r>
            <a:endParaRPr sz="2600" dirty="0">
              <a:latin typeface="Calibri"/>
              <a:cs typeface="Calibri"/>
            </a:endParaRPr>
          </a:p>
          <a:p>
            <a:pPr marL="266700">
              <a:lnSpc>
                <a:spcPts val="2810"/>
              </a:lnSpc>
            </a:pP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-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−1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+1</a:t>
            </a:r>
            <a:r>
              <a:rPr sz="2600" spc="-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0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agora.</a:t>
            </a:r>
            <a:endParaRPr sz="2600" dirty="0">
              <a:latin typeface="Calibri"/>
              <a:cs typeface="Calibri"/>
            </a:endParaRPr>
          </a:p>
          <a:p>
            <a:pPr marL="266700" marR="30480" indent="-229235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67335" algn="l"/>
              </a:tabLst>
            </a:pPr>
            <a:r>
              <a:rPr sz="2600" dirty="0">
                <a:latin typeface="Calibri"/>
                <a:cs typeface="Calibri"/>
              </a:rPr>
              <a:t>Além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disso,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diferentemente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fazíamos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anteriormente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colocávamos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interseção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𝒘</a:t>
            </a:r>
            <a:r>
              <a:rPr sz="2600" spc="-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(e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correspondente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ao </a:t>
            </a:r>
            <a:r>
              <a:rPr sz="2600" dirty="0">
                <a:latin typeface="Calibri"/>
                <a:cs typeface="Calibri"/>
              </a:rPr>
              <a:t>atributo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850" baseline="-16081" dirty="0">
                <a:latin typeface="Cambria Math"/>
                <a:cs typeface="Cambria Math"/>
              </a:rPr>
              <a:t>0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fazem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mantêm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interseção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parâmetro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separado,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𝑏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indent="-229235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67335" algn="l"/>
              </a:tabLst>
            </a:pP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mente,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separador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pontos</a:t>
            </a:r>
            <a:endParaRPr sz="2600" dirty="0">
              <a:latin typeface="Calibri"/>
              <a:cs typeface="Calibri"/>
            </a:endParaRPr>
          </a:p>
          <a:p>
            <a:pPr marL="394335">
              <a:lnSpc>
                <a:spcPts val="2810"/>
              </a:lnSpc>
              <a:tabLst>
                <a:tab pos="2877820" algn="l"/>
              </a:tabLst>
            </a:pPr>
            <a:r>
              <a:rPr lang="pt-BR" sz="2600" dirty="0">
                <a:latin typeface="Cambria Math"/>
                <a:cs typeface="Cambria Math"/>
              </a:rPr>
              <a:t>{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600" spc="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∶</a:t>
            </a:r>
            <a:r>
              <a:rPr sz="2600" spc="1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𝒘 </a:t>
            </a:r>
            <a:r>
              <a:rPr sz="2600" spc="85" dirty="0">
                <a:latin typeface="Cambria Math"/>
                <a:cs typeface="Cambria Math"/>
              </a:rPr>
              <a:t>∙</a:t>
            </a:r>
            <a:r>
              <a:rPr sz="2600" dirty="0">
                <a:latin typeface="Cambria Math"/>
                <a:cs typeface="Cambria Math"/>
              </a:rPr>
              <a:t> 𝒙</a:t>
            </a:r>
            <a:r>
              <a:rPr sz="2600" spc="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𝑏</a:t>
            </a:r>
            <a:r>
              <a:rPr sz="2600" spc="204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35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0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lang="pt-BR" sz="2600" dirty="0">
                <a:latin typeface="Cambria Math"/>
                <a:cs typeface="Cambria Math"/>
              </a:rPr>
              <a:t>}</a:t>
            </a:r>
            <a:r>
              <a:rPr sz="2600" spc="-5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marR="519430" indent="-229235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67335" algn="l"/>
              </a:tabLst>
            </a:pPr>
            <a:r>
              <a:rPr sz="2600" dirty="0">
                <a:latin typeface="Calibri"/>
                <a:cs typeface="Calibri"/>
              </a:rPr>
              <a:t>Nós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poderíamos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pesquisar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espaço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𝒘</a:t>
            </a:r>
            <a:r>
              <a:rPr sz="2600" spc="-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𝑏</a:t>
            </a:r>
            <a:r>
              <a:rPr sz="2600" spc="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descendente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parâmetros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maximizam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margem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enquanto </a:t>
            </a:r>
            <a:r>
              <a:rPr sz="2600" dirty="0">
                <a:latin typeface="Calibri"/>
                <a:cs typeface="Calibri"/>
              </a:rPr>
              <a:t>classificamos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corretamente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Separador</a:t>
            </a:r>
            <a:r>
              <a:rPr spc="-9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Margem</a:t>
            </a:r>
            <a:r>
              <a:rPr spc="-100" dirty="0"/>
              <a:t> </a:t>
            </a:r>
            <a:r>
              <a:rPr spc="-10" dirty="0"/>
              <a:t>Máxima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484038"/>
            <a:ext cx="10185400" cy="1556836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entanto,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resolver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problema.</a:t>
            </a:r>
            <a:endParaRPr sz="26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Nós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detalhes,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diremos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spc="-10" dirty="0">
                <a:latin typeface="Calibri"/>
                <a:cs typeface="Calibri"/>
              </a:rPr>
              <a:t>representação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alternativa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representação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dual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solução </a:t>
            </a:r>
            <a:r>
              <a:rPr sz="2600" dirty="0">
                <a:latin typeface="Calibri"/>
                <a:cs typeface="Calibri"/>
              </a:rPr>
              <a:t>ótima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encontrada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resolvendo</a:t>
            </a:r>
            <a:r>
              <a:rPr sz="2600" spc="-10" dirty="0">
                <a:latin typeface="Calibri"/>
                <a:cs typeface="Calibri"/>
              </a:rPr>
              <a:t>-</a:t>
            </a:r>
            <a:r>
              <a:rPr sz="2600" spc="-25" dirty="0">
                <a:latin typeface="Calibri"/>
                <a:cs typeface="Calibri"/>
              </a:rPr>
              <a:t>se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0"/>
              <p:cNvSpPr txBox="1"/>
              <p:nvPr/>
            </p:nvSpPr>
            <p:spPr>
              <a:xfrm>
                <a:off x="1003299" y="4151800"/>
                <a:ext cx="10185400" cy="2444323"/>
              </a:xfrm>
              <a:prstGeom prst="rect">
                <a:avLst/>
              </a:prstGeom>
            </p:spPr>
            <p:txBody>
              <a:bodyPr vert="horz" wrap="square" lIns="0" tIns="8699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685"/>
                  </a:spcBef>
                </a:pPr>
                <a:r>
                  <a:rPr lang="pt-BR" sz="2600" dirty="0">
                    <a:latin typeface="Calibri"/>
                    <a:cs typeface="Calibri"/>
                  </a:rPr>
                  <a:t>sujeito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às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restrições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𝛼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𝑗</a:t>
                </a:r>
                <a:r>
                  <a:rPr lang="pt-BR" sz="2850" spc="690" baseline="-16081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≥</a:t>
                </a:r>
                <a:r>
                  <a:rPr lang="pt-BR" sz="2600" spc="14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0</a:t>
                </a:r>
                <a:r>
                  <a:rPr lang="pt-BR" sz="2600" spc="1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ar-AE" sz="26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ar-AE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𝛼</m:t>
                            </m:r>
                          </m:e>
                          <m:sub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</m:e>
                    </m:nary>
                  </m:oMath>
                </a14:m>
                <a:endParaRPr lang="ar-AE" sz="2600" dirty="0">
                  <a:latin typeface="Calibri"/>
                  <a:cs typeface="Calibri"/>
                </a:endParaRPr>
              </a:p>
              <a:p>
                <a:pPr marL="266700" marR="30480" indent="-229235">
                  <a:lnSpc>
                    <a:spcPts val="2500"/>
                  </a:lnSpc>
                  <a:spcBef>
                    <a:spcPts val="1190"/>
                  </a:spcBef>
                  <a:buFont typeface="Arial"/>
                  <a:buChar char="•"/>
                  <a:tabLst>
                    <a:tab pos="26733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Este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um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problema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otimização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programação</a:t>
                </a:r>
                <a:r>
                  <a:rPr lang="pt-BR" sz="26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quadrática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qual </a:t>
                </a:r>
                <a:r>
                  <a:rPr lang="pt-BR" sz="2600" spc="-10" dirty="0">
                    <a:latin typeface="Calibri"/>
                    <a:cs typeface="Calibri"/>
                  </a:rPr>
                  <a:t>existem</a:t>
                </a:r>
                <a:r>
                  <a:rPr lang="pt-BR" sz="2600" spc="-8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boas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bibliotecas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soluções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software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(e.g.,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APMonitor,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CPLEX, </a:t>
                </a:r>
                <a:r>
                  <a:rPr lang="pt-BR" sz="2600" dirty="0">
                    <a:latin typeface="Calibri"/>
                    <a:cs typeface="Calibri"/>
                  </a:rPr>
                  <a:t>Matlab,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Mathematica,</a:t>
                </a:r>
                <a:r>
                  <a:rPr lang="pt-BR" sz="2600" spc="-6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etc.).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266700" indent="-229235">
                  <a:lnSpc>
                    <a:spcPts val="2850"/>
                  </a:lnSpc>
                  <a:spcBef>
                    <a:spcPts val="385"/>
                  </a:spcBef>
                  <a:buFont typeface="Arial"/>
                  <a:buChar char="•"/>
                  <a:tabLst>
                    <a:tab pos="26733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Uma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vez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encontrado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vetor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𝛼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podemos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voltar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𝒘</a:t>
                </a:r>
                <a:r>
                  <a:rPr lang="pt-BR" sz="2600" spc="-1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equação 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𝒘</a:t>
                </a:r>
                <a:r>
                  <a:rPr lang="pt-BR" sz="2600" spc="-5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pt-BR" sz="260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pt-BR" sz="2600" b="0" i="1" spc="-5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sz="2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600" b="0" i="1" spc="-5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pt-BR" sz="2600" b="0" i="1" spc="-5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pt-BR" sz="2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600" b="1" i="1" spc="-5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600" b="0" i="1" spc="-5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sz="2600" b="0" i="1" spc="-50" smtClean="0">
                            <a:latin typeface="Cambria Math" panose="02040503050406030204" pitchFamily="18" charset="0"/>
                          </a:rPr>
                          <m:t>, </m:t>
                        </m:r>
                      </m:e>
                    </m:nary>
                    <m:r>
                      <a:rPr lang="pt-BR" sz="2600" b="0" i="1" spc="-5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ou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podemos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permanecer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representação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dual.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99" y="4151800"/>
                <a:ext cx="10185400" cy="2444323"/>
              </a:xfrm>
              <a:prstGeom prst="rect">
                <a:avLst/>
              </a:prstGeom>
              <a:blipFill>
                <a:blip r:embed="rId2"/>
                <a:stretch>
                  <a:fillRect l="-1617" t="-748" b="-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5CE8EEE-9605-7FEC-211D-92A0A1AEF4DD}"/>
                  </a:ext>
                </a:extLst>
              </p:cNvPr>
              <p:cNvSpPr txBox="1"/>
              <p:nvPr/>
            </p:nvSpPr>
            <p:spPr>
              <a:xfrm>
                <a:off x="3469287" y="3203132"/>
                <a:ext cx="5253425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4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5CE8EEE-9605-7FEC-211D-92A0A1AEF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287" y="3203132"/>
                <a:ext cx="5253425" cy="93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Separador</a:t>
            </a:r>
            <a:r>
              <a:rPr spc="-8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Margem</a:t>
            </a:r>
            <a:r>
              <a:rPr spc="-95" dirty="0"/>
              <a:t> </a:t>
            </a:r>
            <a:r>
              <a:rPr spc="-10" dirty="0"/>
              <a:t>Máxima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0862" y="1141835"/>
            <a:ext cx="11090275" cy="5555688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92100" indent="-22923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92100" algn="l"/>
                <a:tab pos="29273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equação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anterior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possui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três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propriedades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importantes.</a:t>
            </a:r>
            <a:endParaRPr sz="2200" dirty="0">
              <a:latin typeface="Calibri"/>
              <a:cs typeface="Calibri"/>
            </a:endParaRPr>
          </a:p>
          <a:p>
            <a:pPr marL="292100" marR="869315" indent="-229235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92100" algn="l"/>
                <a:tab pos="292735" algn="l"/>
              </a:tabLst>
            </a:pPr>
            <a:r>
              <a:rPr sz="2200" spc="-10" dirty="0">
                <a:latin typeface="Calibri"/>
                <a:cs typeface="Calibri"/>
              </a:rPr>
              <a:t>Primeiro,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expressão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convexa,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máximo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global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ser </a:t>
            </a:r>
            <a:r>
              <a:rPr sz="2200" spc="-10" dirty="0">
                <a:latin typeface="Calibri"/>
                <a:cs typeface="Calibri"/>
              </a:rPr>
              <a:t>encontrado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eficiência.</a:t>
            </a:r>
            <a:endParaRPr sz="2200" dirty="0">
              <a:latin typeface="Calibri"/>
              <a:cs typeface="Calibri"/>
            </a:endParaRPr>
          </a:p>
          <a:p>
            <a:pPr marL="292100" marR="55880" indent="-229235">
              <a:lnSpc>
                <a:spcPct val="71100"/>
              </a:lnSpc>
              <a:spcBef>
                <a:spcPts val="970"/>
              </a:spcBef>
              <a:buFont typeface="Arial"/>
              <a:buChar char="•"/>
              <a:tabLst>
                <a:tab pos="292100" algn="l"/>
                <a:tab pos="292735" algn="l"/>
              </a:tabLst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segundo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lugar,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valores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entram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expressão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apenas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forma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produtos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escalares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dirty="0">
                <a:latin typeface="Calibri"/>
                <a:cs typeface="Calibri"/>
              </a:rPr>
              <a:t>pares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pontos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segunda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propriedade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verdadeira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equação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próprio </a:t>
            </a:r>
            <a:r>
              <a:rPr sz="2200" spc="-30" dirty="0">
                <a:latin typeface="Calibri"/>
                <a:cs typeface="Calibri"/>
              </a:rPr>
              <a:t>separador,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vez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𝑗</a:t>
            </a:r>
            <a:r>
              <a:rPr sz="2400" spc="33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ideal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tenha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calculado,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seja</a:t>
            </a:r>
            <a:endParaRPr sz="2200" dirty="0">
              <a:latin typeface="Calibri"/>
              <a:cs typeface="Calibri"/>
            </a:endParaRPr>
          </a:p>
          <a:p>
            <a:pPr marL="88265" algn="ctr">
              <a:lnSpc>
                <a:spcPct val="100000"/>
              </a:lnSpc>
              <a:spcBef>
                <a:spcPts val="1040"/>
              </a:spcBef>
              <a:tabLst>
                <a:tab pos="719455" algn="l"/>
                <a:tab pos="1713230" algn="l"/>
                <a:tab pos="2758440" algn="l"/>
                <a:tab pos="3558540" algn="l"/>
                <a:tab pos="4202430" algn="l"/>
              </a:tabLst>
            </a:pPr>
            <a:endParaRPr lang="pt-BR" sz="2200" dirty="0">
              <a:latin typeface="Cambria Math"/>
              <a:cs typeface="Cambria Math"/>
            </a:endParaRPr>
          </a:p>
          <a:p>
            <a:pPr marL="88265" algn="ctr">
              <a:lnSpc>
                <a:spcPct val="100000"/>
              </a:lnSpc>
              <a:spcBef>
                <a:spcPts val="1040"/>
              </a:spcBef>
              <a:tabLst>
                <a:tab pos="719455" algn="l"/>
                <a:tab pos="1713230" algn="l"/>
                <a:tab pos="2758440" algn="l"/>
                <a:tab pos="3558540" algn="l"/>
                <a:tab pos="4202430" algn="l"/>
              </a:tabLst>
            </a:pPr>
            <a:endParaRPr sz="2200" dirty="0">
              <a:latin typeface="Cambria Math"/>
              <a:cs typeface="Cambria Math"/>
            </a:endParaRPr>
          </a:p>
          <a:p>
            <a:pPr marR="461645" algn="ctr">
              <a:lnSpc>
                <a:spcPct val="100000"/>
              </a:lnSpc>
              <a:spcBef>
                <a:spcPts val="760"/>
              </a:spcBef>
            </a:pPr>
            <a:endParaRPr sz="1600" dirty="0">
              <a:latin typeface="Cambria Math"/>
              <a:cs typeface="Cambria Math"/>
            </a:endParaRPr>
          </a:p>
          <a:p>
            <a:pPr marL="63500">
              <a:lnSpc>
                <a:spcPts val="2285"/>
              </a:lnSpc>
              <a:spcBef>
                <a:spcPts val="145"/>
              </a:spcBef>
            </a:pPr>
            <a:r>
              <a:rPr sz="2200" dirty="0">
                <a:latin typeface="Calibri"/>
                <a:cs typeface="Calibri"/>
              </a:rPr>
              <a:t>onde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mbria Math"/>
                <a:cs typeface="Cambria Math"/>
              </a:rPr>
              <a:t>sign(.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)</a:t>
            </a:r>
            <a:r>
              <a:rPr sz="2200" spc="-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1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sinal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sz="2400" baseline="-15625" dirty="0">
                <a:latin typeface="Cambria Math"/>
                <a:cs typeface="Cambria Math"/>
              </a:rPr>
              <a:t>𝑗</a:t>
            </a:r>
            <a:r>
              <a:rPr sz="2200" dirty="0">
                <a:latin typeface="Cambria Math"/>
                <a:cs typeface="Cambria Math"/>
              </a:rPr>
              <a:t>,</a:t>
            </a:r>
            <a:r>
              <a:rPr sz="2200" spc="-120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∀𝑗</a:t>
            </a:r>
            <a:r>
              <a:rPr sz="2200" spc="30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vetores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suporte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𝑗</a:t>
            </a:r>
            <a:r>
              <a:rPr sz="2200" dirty="0">
                <a:latin typeface="Cambria Math"/>
                <a:cs typeface="Cambria Math"/>
              </a:rPr>
              <a:t>,</a:t>
            </a:r>
            <a:r>
              <a:rPr sz="2200" spc="-1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∀𝑗</a:t>
            </a:r>
            <a:r>
              <a:rPr sz="2200" spc="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pesos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ou</a:t>
            </a:r>
            <a:endParaRPr sz="2200" dirty="0">
              <a:latin typeface="Calibri"/>
              <a:cs typeface="Calibri"/>
            </a:endParaRPr>
          </a:p>
          <a:p>
            <a:pPr marL="63500">
              <a:lnSpc>
                <a:spcPts val="2285"/>
              </a:lnSpc>
            </a:pPr>
            <a:r>
              <a:rPr sz="2200" b="1" i="1" spc="-10" dirty="0">
                <a:latin typeface="Calibri"/>
                <a:cs typeface="Calibri"/>
              </a:rPr>
              <a:t>coeficientes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Lagrange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92100" marR="482600" indent="-229235">
              <a:lnSpc>
                <a:spcPct val="71800"/>
              </a:lnSpc>
              <a:spcBef>
                <a:spcPts val="1010"/>
              </a:spcBef>
              <a:buFont typeface="Arial"/>
              <a:buChar char="•"/>
              <a:tabLst>
                <a:tab pos="292100" algn="l"/>
                <a:tab pos="292735" algn="l"/>
              </a:tabLst>
            </a:pPr>
            <a:r>
              <a:rPr sz="2200" dirty="0">
                <a:latin typeface="Calibri"/>
                <a:cs typeface="Calibri"/>
              </a:rPr>
              <a:t>Uma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propriedade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𝛼</a:t>
            </a:r>
            <a:r>
              <a:rPr sz="2400" baseline="-15625" dirty="0">
                <a:latin typeface="Cambria Math"/>
                <a:cs typeface="Cambria Math"/>
              </a:rPr>
              <a:t>𝑗</a:t>
            </a:r>
            <a:r>
              <a:rPr sz="2400" spc="33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associados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ponto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são </a:t>
            </a:r>
            <a:r>
              <a:rPr sz="2200" dirty="0">
                <a:latin typeface="Calibri"/>
                <a:cs typeface="Calibri"/>
              </a:rPr>
              <a:t>iguais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zero,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exceto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vetores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suporte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pontos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próximos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 </a:t>
            </a:r>
            <a:r>
              <a:rPr sz="2200" spc="-10" dirty="0">
                <a:latin typeface="Calibri"/>
                <a:cs typeface="Calibri"/>
              </a:rPr>
              <a:t>separador.</a:t>
            </a:r>
            <a:endParaRPr sz="2200" dirty="0">
              <a:latin typeface="Calibri"/>
              <a:cs typeface="Calibri"/>
            </a:endParaRPr>
          </a:p>
          <a:p>
            <a:pPr marL="292100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92100" algn="l"/>
                <a:tab pos="292735" algn="l"/>
              </a:tabLst>
            </a:pPr>
            <a:r>
              <a:rPr sz="2200" dirty="0">
                <a:latin typeface="Calibri"/>
                <a:cs typeface="Calibri"/>
              </a:rPr>
              <a:t>Eles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são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chamados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vetores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suporte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sustentam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separação.</a:t>
            </a:r>
            <a:endParaRPr sz="2200" dirty="0">
              <a:latin typeface="Calibri"/>
              <a:cs typeface="Calibri"/>
            </a:endParaRPr>
          </a:p>
          <a:p>
            <a:pPr marL="292100" marR="618490" indent="-229235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92100" algn="l"/>
                <a:tab pos="292735" algn="l"/>
              </a:tabLst>
            </a:pPr>
            <a:r>
              <a:rPr sz="2200" dirty="0">
                <a:latin typeface="Calibri"/>
                <a:cs typeface="Calibri"/>
              </a:rPr>
              <a:t>Como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geralmente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há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menos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vetores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suporte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exemplos,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SVMs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ganham </a:t>
            </a:r>
            <a:r>
              <a:rPr sz="2200" dirty="0">
                <a:latin typeface="Calibri"/>
                <a:cs typeface="Calibri"/>
              </a:rPr>
              <a:t>algumas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vantagens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paramétricos.</a:t>
            </a:r>
            <a:endParaRPr sz="2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A5A58BD-71BC-C7EF-D11E-8C0E6AAEE396}"/>
                  </a:ext>
                </a:extLst>
              </p:cNvPr>
              <p:cNvSpPr txBox="1"/>
              <p:nvPr/>
            </p:nvSpPr>
            <p:spPr>
              <a:xfrm>
                <a:off x="3536199" y="3047656"/>
                <a:ext cx="4619854" cy="9545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A5A58BD-71BC-C7EF-D11E-8C0E6AAEE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199" y="3047656"/>
                <a:ext cx="4619854" cy="9545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Separador</a:t>
            </a:r>
            <a:r>
              <a:rPr spc="-9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Margem</a:t>
            </a:r>
            <a:r>
              <a:rPr spc="-100" dirty="0"/>
              <a:t> </a:t>
            </a:r>
            <a:r>
              <a:rPr spc="-10" dirty="0"/>
              <a:t>Máxima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657" y="1752600"/>
            <a:ext cx="10814685" cy="4545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85420" indent="-229235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classificador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margem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máxima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0" dirty="0">
                <a:latin typeface="Calibri"/>
                <a:cs typeface="Calibri"/>
              </a:rPr>
              <a:t> separáveis </a:t>
            </a:r>
            <a:r>
              <a:rPr sz="2600" dirty="0">
                <a:latin typeface="Calibri"/>
                <a:cs typeface="Calibri"/>
              </a:rPr>
              <a:t>linearmente,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desejada.</a:t>
            </a:r>
            <a:endParaRPr sz="2600" dirty="0">
              <a:latin typeface="Calibri"/>
              <a:cs typeface="Calibri"/>
            </a:endParaRPr>
          </a:p>
          <a:p>
            <a:pPr marL="241300" marR="147955" indent="-229235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Isso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evidenciado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representação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dual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dados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linearmente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separáveis,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cresce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arbitrariamente.</a:t>
            </a:r>
            <a:endParaRPr sz="2600" dirty="0">
              <a:latin typeface="Calibri"/>
              <a:cs typeface="Calibri"/>
            </a:endParaRPr>
          </a:p>
          <a:p>
            <a:pPr marL="241300" marR="286385" indent="-229235">
              <a:lnSpc>
                <a:spcPts val="25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principal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sempre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constrói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hipóteses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baseiam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inexistência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erros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treinamento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04775" indent="-229235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Entretanto,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ruídos,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geralmente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implica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separação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não </a:t>
            </a:r>
            <a:r>
              <a:rPr sz="2600" spc="-20" dirty="0">
                <a:latin typeface="Calibri"/>
                <a:cs typeface="Calibri"/>
              </a:rPr>
              <a:t>linear,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maximização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representação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dual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ser </a:t>
            </a:r>
            <a:r>
              <a:rPr sz="2600" dirty="0">
                <a:latin typeface="Calibri"/>
                <a:cs typeface="Calibri"/>
              </a:rPr>
              <a:t>calculado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dessa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causar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overfitting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9235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Essas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desvantagens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motivaram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desenvolvimento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permitem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spc="-10" dirty="0">
                <a:latin typeface="Calibri"/>
                <a:cs typeface="Calibri"/>
              </a:rPr>
              <a:t>tratamento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linearmente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separáveis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SVMs.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Então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linearmente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separáveis?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31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Classes</a:t>
            </a:r>
            <a:r>
              <a:rPr spc="-105" dirty="0"/>
              <a:t> </a:t>
            </a:r>
            <a:r>
              <a:rPr dirty="0"/>
              <a:t>não</a:t>
            </a:r>
            <a:r>
              <a:rPr spc="-85" dirty="0"/>
              <a:t> </a:t>
            </a:r>
            <a:r>
              <a:rPr dirty="0"/>
              <a:t>separáveis</a:t>
            </a:r>
            <a:r>
              <a:rPr spc="-75" dirty="0"/>
              <a:t> </a:t>
            </a:r>
            <a:r>
              <a:rPr spc="-10" dirty="0"/>
              <a:t>linearmente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1593468"/>
            <a:ext cx="7911465" cy="435375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6700" marR="340360" indent="-229235">
              <a:lnSpc>
                <a:spcPct val="90100"/>
              </a:lnSpc>
              <a:spcBef>
                <a:spcPts val="425"/>
              </a:spcBef>
              <a:buFont typeface="Arial"/>
              <a:buChar char="•"/>
              <a:tabLst>
                <a:tab pos="267335" algn="l"/>
                <a:tab pos="5800725" algn="l"/>
                <a:tab pos="677481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superior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3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=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2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𝑥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r>
              <a:rPr lang="pt-BR" sz="3075" spc="-37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+1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dentro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círculo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negativos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8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−1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fora.</a:t>
            </a:r>
            <a:endParaRPr sz="2800" dirty="0">
              <a:latin typeface="Calibri"/>
              <a:cs typeface="Calibri"/>
            </a:endParaRPr>
          </a:p>
          <a:p>
            <a:pPr marL="266700" marR="946785" indent="-229235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20" dirty="0">
                <a:latin typeface="Calibri"/>
                <a:cs typeface="Calibri"/>
              </a:rPr>
              <a:t>Claramente,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separador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esse </a:t>
            </a:r>
            <a:r>
              <a:rPr sz="2800" spc="-10" dirty="0">
                <a:latin typeface="Calibri"/>
                <a:cs typeface="Calibri"/>
              </a:rPr>
              <a:t>problema.</a:t>
            </a:r>
            <a:endParaRPr sz="2800" dirty="0">
              <a:latin typeface="Calibri"/>
              <a:cs typeface="Calibri"/>
            </a:endParaRPr>
          </a:p>
          <a:p>
            <a:pPr marL="266700" marR="17780" indent="-229235">
              <a:lnSpc>
                <a:spcPct val="90200"/>
              </a:lnSpc>
              <a:spcBef>
                <a:spcPts val="950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0" dirty="0">
                <a:latin typeface="Calibri"/>
                <a:cs typeface="Calibri"/>
              </a:rPr>
              <a:t>Agora,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suponha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reexpressemos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entrada,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mapeamos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𝒙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𝐹(𝒙)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923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particular,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2071210" y="6212699"/>
                <a:ext cx="5622608" cy="62773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76200">
                  <a:lnSpc>
                    <a:spcPts val="2375"/>
                  </a:lnSpc>
                  <a:spcBef>
                    <a:spcPts val="95"/>
                  </a:spcBef>
                  <a:tabLst>
                    <a:tab pos="1639570" algn="l"/>
                    <a:tab pos="3209290" algn="l"/>
                    <a:tab pos="361378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bSup>
                      <m:sSubSup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p>
                    </m:sSubSup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,   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bSup>
                      <m:sSubSup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p>
                    </m:sSubSup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,    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  <a:cs typeface="Cambria Math"/>
                          </a:rPr>
                          <m:t>3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50" dirty="0">
                    <a:latin typeface="Cambria Math"/>
                    <a:cs typeface="Cambria Math"/>
                  </a:rPr>
                  <a:t>		</a:t>
                </a:r>
                <a:endParaRPr sz="3075" baseline="1355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210" y="6212699"/>
                <a:ext cx="5622608" cy="627736"/>
              </a:xfrm>
              <a:prstGeom prst="rect">
                <a:avLst/>
              </a:prstGeom>
              <a:blipFill>
                <a:blip r:embed="rId2"/>
                <a:stretch>
                  <a:fillRect t="-116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object 8"/>
          <p:cNvGrpSpPr/>
          <p:nvPr/>
        </p:nvGrpSpPr>
        <p:grpSpPr>
          <a:xfrm>
            <a:off x="8886443" y="937260"/>
            <a:ext cx="3220720" cy="5825490"/>
            <a:chOff x="8886443" y="937260"/>
            <a:chExt cx="3220720" cy="58254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6443" y="3886198"/>
              <a:ext cx="3190668" cy="28760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86443" y="937260"/>
              <a:ext cx="3220211" cy="30495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096247" y="585038"/>
            <a:ext cx="29051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EF"/>
                </a:solidFill>
                <a:latin typeface="Calibri"/>
                <a:cs typeface="Calibri"/>
                <a:hlinkClick r:id="rId5"/>
              </a:rPr>
              <a:t>Exemplo:</a:t>
            </a:r>
            <a:r>
              <a:rPr sz="1800" spc="-55" dirty="0">
                <a:solidFill>
                  <a:srgbClr val="00AFEF"/>
                </a:solidFill>
                <a:latin typeface="Calibri"/>
                <a:cs typeface="Calibri"/>
                <a:hlinkClick r:id="rId5"/>
              </a:rPr>
              <a:t> </a:t>
            </a:r>
            <a:r>
              <a:rPr sz="1800" spc="-10" dirty="0">
                <a:solidFill>
                  <a:srgbClr val="00AFEF"/>
                </a:solidFill>
                <a:latin typeface="Calibri"/>
                <a:cs typeface="Calibri"/>
                <a:hlinkClick r:id="rId5"/>
              </a:rPr>
              <a:t>svm_exemplo2.ipynb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Classes</a:t>
            </a:r>
            <a:r>
              <a:rPr spc="-90" dirty="0"/>
              <a:t> </a:t>
            </a:r>
            <a:r>
              <a:rPr dirty="0"/>
              <a:t>não</a:t>
            </a:r>
            <a:r>
              <a:rPr spc="-85" dirty="0"/>
              <a:t> </a:t>
            </a:r>
            <a:r>
              <a:rPr dirty="0"/>
              <a:t>separáveis</a:t>
            </a:r>
            <a:r>
              <a:rPr spc="-75" dirty="0"/>
              <a:t> </a:t>
            </a:r>
            <a:r>
              <a:rPr spc="-10" dirty="0"/>
              <a:t>linearmente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4102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998855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Nós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breve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vieram,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 </a:t>
            </a:r>
            <a:r>
              <a:rPr sz="2800" spc="-10" dirty="0">
                <a:latin typeface="Calibri"/>
                <a:cs typeface="Calibri"/>
              </a:rPr>
              <a:t>enquanto,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acontece.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inferior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tridimensional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definido </a:t>
            </a:r>
            <a:r>
              <a:rPr sz="2800" dirty="0">
                <a:latin typeface="Calibri"/>
                <a:cs typeface="Calibri"/>
              </a:rPr>
              <a:t>pelos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Vejam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linearmente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separáveis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espaço.</a:t>
            </a:r>
            <a:endParaRPr sz="2800" dirty="0">
              <a:latin typeface="Calibri"/>
              <a:cs typeface="Calibri"/>
            </a:endParaRPr>
          </a:p>
          <a:p>
            <a:pPr marL="241300" marR="245110" indent="-229235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Este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fenômeno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verdade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bastante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mapeados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suficientemente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quase </a:t>
            </a:r>
            <a:r>
              <a:rPr sz="2800" dirty="0">
                <a:latin typeface="Calibri"/>
                <a:cs typeface="Calibri"/>
              </a:rPr>
              <a:t>sempre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serão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linearmente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separáveis.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Classes</a:t>
            </a:r>
            <a:r>
              <a:rPr spc="-90" dirty="0"/>
              <a:t> </a:t>
            </a:r>
            <a:r>
              <a:rPr dirty="0"/>
              <a:t>não</a:t>
            </a:r>
            <a:r>
              <a:rPr spc="-85" dirty="0"/>
              <a:t> </a:t>
            </a:r>
            <a:r>
              <a:rPr dirty="0"/>
              <a:t>separáveis</a:t>
            </a:r>
            <a:r>
              <a:rPr spc="-75" dirty="0"/>
              <a:t> </a:t>
            </a:r>
            <a:r>
              <a:rPr spc="-10" dirty="0"/>
              <a:t>linearmente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294434"/>
            <a:ext cx="10901045" cy="27559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2100" marR="196850" indent="-229235">
              <a:lnSpc>
                <a:spcPct val="72600"/>
              </a:lnSpc>
              <a:spcBef>
                <a:spcPts val="890"/>
              </a:spcBef>
              <a:buFont typeface="Arial"/>
              <a:buChar char="•"/>
              <a:tabLst>
                <a:tab pos="292735" algn="l"/>
                <a:tab pos="2423795" algn="l"/>
                <a:tab pos="2794635" algn="l"/>
              </a:tabLst>
            </a:pPr>
            <a:r>
              <a:rPr sz="2400" dirty="0">
                <a:latin typeface="Calibri"/>
                <a:cs typeface="Calibri"/>
              </a:rPr>
              <a:t>Nós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normalmente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esperaríamos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separador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separadores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alta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dimensão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𝐹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simplesmente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substituindo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625" spc="427" baseline="-15873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∙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𝑘</a:t>
            </a:r>
            <a:r>
              <a:rPr sz="2625" spc="44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otimização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b="1" i="1" dirty="0">
                <a:latin typeface="Calibri"/>
                <a:cs typeface="Calibri"/>
              </a:rPr>
              <a:t>programação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quadrática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𝐹(𝒙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∙</a:t>
            </a:r>
            <a:r>
              <a:rPr sz="2400" spc="30" dirty="0">
                <a:latin typeface="Cambria Math"/>
                <a:cs typeface="Cambria Math"/>
              </a:rPr>
              <a:t> </a:t>
            </a:r>
            <a:r>
              <a:rPr sz="2400" spc="40" dirty="0">
                <a:latin typeface="Cambria Math"/>
                <a:cs typeface="Cambria Math"/>
              </a:rPr>
              <a:t>𝐹(𝒙</a:t>
            </a:r>
            <a:r>
              <a:rPr sz="2625" spc="60" baseline="-15873" dirty="0">
                <a:latin typeface="Cambria Math"/>
                <a:cs typeface="Cambria Math"/>
              </a:rPr>
              <a:t>𝑘</a:t>
            </a:r>
            <a:r>
              <a:rPr sz="2400" spc="40" dirty="0">
                <a:latin typeface="Cambria Math"/>
                <a:cs typeface="Cambria Math"/>
              </a:rPr>
              <a:t>)</a:t>
            </a:r>
            <a:r>
              <a:rPr sz="2400" spc="4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92100" marR="30480" indent="-229235">
              <a:lnSpc>
                <a:spcPct val="70000"/>
              </a:lnSpc>
              <a:spcBef>
                <a:spcPts val="1095"/>
              </a:spcBef>
              <a:buFont typeface="Arial"/>
              <a:buChar char="•"/>
              <a:tabLst>
                <a:tab pos="292735" algn="l"/>
                <a:tab pos="6653530" algn="l"/>
                <a:tab pos="7025640" algn="l"/>
              </a:tabLst>
            </a:pPr>
            <a:r>
              <a:rPr sz="2400" dirty="0">
                <a:latin typeface="Calibri"/>
                <a:cs typeface="Calibri"/>
              </a:rPr>
              <a:t>Isso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só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notável.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Substituir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 err="1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𝐹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 </a:t>
            </a:r>
            <a:r>
              <a:rPr sz="2400" dirty="0" err="1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qualquer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aprendizado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máquina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efeito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algumas </a:t>
            </a:r>
            <a:r>
              <a:rPr sz="2400" dirty="0">
                <a:latin typeface="Calibri"/>
                <a:cs typeface="Calibri"/>
              </a:rPr>
              <a:t>propriedades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especiais.</a:t>
            </a:r>
            <a:endParaRPr sz="2400" dirty="0">
              <a:latin typeface="Calibri"/>
              <a:cs typeface="Calibri"/>
            </a:endParaRPr>
          </a:p>
          <a:p>
            <a:pPr marL="292100" indent="-229235">
              <a:lnSpc>
                <a:spcPts val="2495"/>
              </a:lnSpc>
              <a:spcBef>
                <a:spcPts val="200"/>
              </a:spcBef>
              <a:buFont typeface="Arial"/>
              <a:buChar char="•"/>
              <a:tabLst>
                <a:tab pos="292735" algn="l"/>
              </a:tabLst>
            </a:pPr>
            <a:r>
              <a:rPr sz="2400" dirty="0">
                <a:latin typeface="Calibri"/>
                <a:cs typeface="Calibri"/>
              </a:rPr>
              <a:t>Acontece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𝐹(𝒙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∙</a:t>
            </a:r>
            <a:r>
              <a:rPr sz="2400" dirty="0">
                <a:latin typeface="Cambria Math"/>
                <a:cs typeface="Cambria Math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𝐹(𝒙</a:t>
            </a:r>
            <a:r>
              <a:rPr sz="2625" spc="97" baseline="-15873" dirty="0">
                <a:latin typeface="Cambria Math"/>
                <a:cs typeface="Cambria Math"/>
              </a:rPr>
              <a:t>𝑘</a:t>
            </a:r>
            <a:r>
              <a:rPr sz="2400" spc="65" dirty="0">
                <a:latin typeface="Cambria Math"/>
                <a:cs typeface="Cambria Math"/>
              </a:rPr>
              <a:t>)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muitas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 ser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calcular</a:t>
            </a:r>
            <a:endParaRPr sz="2400" dirty="0">
              <a:latin typeface="Calibri"/>
              <a:cs typeface="Calibri"/>
            </a:endParaRPr>
          </a:p>
          <a:p>
            <a:pPr marL="292100">
              <a:lnSpc>
                <a:spcPts val="2495"/>
              </a:lnSpc>
            </a:pPr>
            <a:r>
              <a:rPr sz="2400" dirty="0">
                <a:latin typeface="Cambria Math"/>
                <a:cs typeface="Cambria Math"/>
              </a:rPr>
              <a:t>𝐹(.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ponto.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916939" y="4214357"/>
                <a:ext cx="10284461" cy="80727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9235">
                  <a:spcBef>
                    <a:spcPts val="100"/>
                  </a:spcBef>
                  <a:buFont typeface="Arial"/>
                  <a:buChar char="•"/>
                  <a:tabLst>
                    <a:tab pos="2673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nosso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espaço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atributos</a:t>
                </a:r>
                <a:r>
                  <a:rPr lang="pt-BR" sz="2400" spc="-7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tridimensionais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definido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pelas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equações</a:t>
                </a:r>
              </a:p>
              <a:p>
                <a:pPr marL="37465">
                  <a:spcBef>
                    <a:spcPts val="100"/>
                  </a:spcBef>
                  <a:tabLst>
                    <a:tab pos="267335" algn="l"/>
                  </a:tabLst>
                </a:pP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pt-BR" sz="2400" b="0" i="0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0" spc="85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bSup>
                      <m:sSubSupPr>
                        <m:ctrlP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40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</m:e>
                      <m:sub>
                        <m: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b>
                      <m:sup>
                        <m: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p>
                    </m:sSubSup>
                    <m:r>
                      <a:rPr lang="pt-BR" sz="2400" b="0" i="1" spc="85" dirty="0" smtClean="0">
                        <a:latin typeface="Cambria Math" panose="02040503050406030204" pitchFamily="18" charset="0"/>
                        <a:cs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 </m:t>
                        </m:r>
                        <m: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pt-BR" sz="2400" b="0" i="1" spc="85" dirty="0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b>
                    </m:sSub>
                    <m:r>
                      <a:rPr lang="pt-BR" sz="2400" b="0" i="1" spc="85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bSup>
                      <m:sSubSupPr>
                        <m:ctrlPr>
                          <a:rPr lang="ar-AE" sz="2625" b="0" i="1" spc="382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ar-AE" sz="2625" b="0" i="1" spc="382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</m:e>
                      <m:sub>
                        <m:r>
                          <a:rPr lang="ar-AE" sz="2625" b="0" i="1" spc="382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b>
                      <m:sup>
                        <m:r>
                          <a:rPr lang="ar-AE" sz="2625" b="0" i="1" spc="382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p>
                    </m:sSubSup>
                    <m:r>
                      <m:rPr>
                        <m:nor/>
                      </m:rPr>
                      <a:rPr lang="ar-AE" sz="2625" spc="382" baseline="28571" dirty="0">
                        <a:latin typeface="Cambria Math"/>
                        <a:cs typeface="Cambria Math"/>
                      </a:rPr>
                      <m:t> 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e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 </m:t>
                    </m:r>
                    <m:sSub>
                      <m:sSubPr>
                        <m:ctrlPr>
                          <a:rPr lang="ar-AE" sz="24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ar-AE" sz="240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ar-AE" sz="24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3</m:t>
                        </m:r>
                      </m:sub>
                    </m:sSub>
                    <m:r>
                      <a:rPr lang="ar-AE" sz="24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sSubPr>
                        <m:ctrlP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400" b="0" i="1" spc="-5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ar-AE" sz="2400" dirty="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um</m:t>
                    </m:r>
                    <m:r>
                      <m:rPr>
                        <m:nor/>
                      </m:rPr>
                      <a:rPr lang="pt-BR" sz="2400" spc="-60" dirty="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pouco</m:t>
                    </m:r>
                    <m:r>
                      <m:rPr>
                        <m:nor/>
                      </m:rPr>
                      <a:rPr lang="pt-BR" sz="2400" spc="-50" dirty="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de</m:t>
                    </m:r>
                    <m:r>
                      <m:rPr>
                        <m:nor/>
                      </m:rPr>
                      <a:rPr lang="pt-BR" sz="2400" spc="-40" dirty="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á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lgebra</m:t>
                    </m:r>
                    <m:r>
                      <m:rPr>
                        <m:nor/>
                      </m:rPr>
                      <a:rPr lang="pt-BR" sz="2400" spc="-55" dirty="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pt-BR" sz="2400" dirty="0">
                        <a:latin typeface="Calibri"/>
                        <a:cs typeface="Calibri"/>
                      </a:rPr>
                      <m:t>mostra</m:t>
                    </m:r>
                    <m:r>
                      <m:rPr>
                        <m:nor/>
                      </m:rPr>
                      <a:rPr lang="pt-BR" sz="2400" spc="-45" dirty="0">
                        <a:latin typeface="Calibri"/>
                        <a:cs typeface="Calibri"/>
                      </a:rPr>
                      <m:t> </m:t>
                    </m:r>
                    <m:r>
                      <m:rPr>
                        <m:nor/>
                      </m:rPr>
                      <a:rPr lang="pt-BR" sz="2400" spc="-25" dirty="0">
                        <a:latin typeface="Calibri"/>
                        <a:cs typeface="Calibri"/>
                      </a:rPr>
                      <m:t>que</m:t>
                    </m:r>
                  </m:oMath>
                </a14:m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214357"/>
                <a:ext cx="10284461" cy="807272"/>
              </a:xfrm>
              <a:prstGeom prst="rect">
                <a:avLst/>
              </a:prstGeom>
              <a:blipFill>
                <a:blip r:embed="rId2"/>
                <a:stretch>
                  <a:fillRect l="-1303" t="-97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3"/>
              <p:cNvSpPr txBox="1"/>
              <p:nvPr/>
            </p:nvSpPr>
            <p:spPr>
              <a:xfrm>
                <a:off x="916939" y="5623661"/>
                <a:ext cx="5179061" cy="41812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9235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419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esse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 err="1">
                    <a:latin typeface="Calibri"/>
                    <a:cs typeface="Calibri"/>
                  </a:rPr>
                  <a:t>motivo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 err="1">
                    <a:latin typeface="Calibri"/>
                    <a:cs typeface="Calibri"/>
                  </a:rPr>
                  <a:t>temos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40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radPr>
                      <m:deg/>
                      <m:e>
                        <m:r>
                          <a:rPr lang="ar-AE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e>
                    </m:rad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3</m:t>
                        </m:r>
                      </m:sub>
                    </m:sSub>
                  </m:oMath>
                </a14:m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5623661"/>
                <a:ext cx="5179061" cy="418128"/>
              </a:xfrm>
              <a:prstGeom prst="rect">
                <a:avLst/>
              </a:prstGeom>
              <a:blipFill>
                <a:blip r:embed="rId3"/>
                <a:stretch>
                  <a:fillRect l="-3059" t="-11765" b="-441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15"/>
          <p:cNvSpPr txBox="1"/>
          <p:nvPr/>
        </p:nvSpPr>
        <p:spPr>
          <a:xfrm>
            <a:off x="4112895" y="5067593"/>
            <a:ext cx="3966210" cy="49500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85140">
              <a:lnSpc>
                <a:spcPct val="100000"/>
              </a:lnSpc>
              <a:spcBef>
                <a:spcPts val="710"/>
              </a:spcBef>
              <a:tabLst>
                <a:tab pos="2748280" algn="l"/>
                <a:tab pos="3851910" algn="l"/>
              </a:tabLst>
            </a:pPr>
            <a:r>
              <a:rPr sz="2400" dirty="0">
                <a:latin typeface="Cambria Math"/>
                <a:cs typeface="Cambria Math"/>
              </a:rPr>
              <a:t>𝐹(𝒙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400" dirty="0">
                <a:latin typeface="Cambria Math"/>
                <a:cs typeface="Cambria Math"/>
              </a:rPr>
              <a:t>)</a:t>
            </a:r>
            <a:r>
              <a:rPr sz="2400" spc="80" dirty="0">
                <a:latin typeface="Cambria Math"/>
                <a:cs typeface="Cambria Math"/>
              </a:rPr>
              <a:t> ∙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𝐹(𝒙</a:t>
            </a:r>
            <a:r>
              <a:rPr sz="2625" spc="97" baseline="-15873" dirty="0">
                <a:latin typeface="Cambria Math"/>
                <a:cs typeface="Cambria Math"/>
              </a:rPr>
              <a:t>𝑘</a:t>
            </a:r>
            <a:r>
              <a:rPr sz="2400" spc="65" dirty="0">
                <a:latin typeface="Cambria Math"/>
                <a:cs typeface="Cambria Math"/>
              </a:rPr>
              <a:t>)</a:t>
            </a:r>
            <a:r>
              <a:rPr sz="2400" spc="229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lang="pt-BR" sz="240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𝑗</a:t>
            </a:r>
            <a:r>
              <a:rPr sz="2625" spc="442" baseline="-15873" dirty="0">
                <a:latin typeface="Cambria Math"/>
                <a:cs typeface="Cambria Math"/>
              </a:rPr>
              <a:t> </a:t>
            </a:r>
            <a:r>
              <a:rPr sz="2400" spc="80" dirty="0">
                <a:latin typeface="Cambria Math"/>
                <a:cs typeface="Cambria Math"/>
              </a:rPr>
              <a:t>∙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𝒙</a:t>
            </a:r>
            <a:r>
              <a:rPr sz="2625" spc="-37" baseline="-15873" dirty="0">
                <a:latin typeface="Cambria Math"/>
                <a:cs typeface="Cambria Math"/>
              </a:rPr>
              <a:t>𝑘</a:t>
            </a:r>
            <a:r>
              <a:rPr lang="pt-BR" sz="2625" spc="-37" dirty="0">
                <a:latin typeface="Cambria Math"/>
                <a:cs typeface="Cambria Math"/>
              </a:rPr>
              <a:t>)</a:t>
            </a:r>
            <a:r>
              <a:rPr lang="pt-BR" sz="2625" spc="-37" baseline="30000" dirty="0">
                <a:latin typeface="Cambria Math"/>
                <a:cs typeface="Cambria Math"/>
              </a:rPr>
              <a:t>2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6939" y="6014415"/>
            <a:ext cx="10538460" cy="6477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Percebam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quadrado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produto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originais.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Função</a:t>
            </a:r>
            <a:r>
              <a:rPr spc="-2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762000" y="1605283"/>
                <a:ext cx="9498209" cy="99193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41300" indent="-229235">
                  <a:spcBef>
                    <a:spcPts val="105"/>
                  </a:spcBef>
                  <a:buFont typeface="Arial"/>
                  <a:buChar char="•"/>
                  <a:tabLst>
                    <a:tab pos="24193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 err="1">
                    <a:latin typeface="Calibri"/>
                    <a:cs typeface="Calibri"/>
                  </a:rPr>
                  <a:t>expressão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260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6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ar-AE" sz="2600" b="1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6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6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pt-BR" sz="26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600" b="1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600" b="0" i="1" spc="-1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sz="26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 é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chamada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função</a:t>
                </a:r>
                <a:r>
                  <a:rPr lang="pt-BR" sz="2600" b="1" i="1" spc="-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kernel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geralmente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escrita </a:t>
                </a:r>
                <a:r>
                  <a:rPr lang="pt-BR" sz="2600" dirty="0">
                    <a:latin typeface="Calibri"/>
                    <a:cs typeface="Calibri"/>
                  </a:rPr>
                  <a:t>como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𝐾(</a:t>
                </a:r>
                <a:r>
                  <a:rPr lang="pt-BR" sz="2600" dirty="0">
                    <a:latin typeface="Cambria Math"/>
                    <a:cs typeface="Cambria Math"/>
                  </a:rPr>
                  <a:t>𝒙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𝑗</a:t>
                </a:r>
                <a:r>
                  <a:rPr lang="pt-BR" sz="2600" dirty="0">
                    <a:latin typeface="Cambria Math"/>
                    <a:cs typeface="Cambria Math"/>
                  </a:rPr>
                  <a:t>,</a:t>
                </a:r>
                <a:r>
                  <a:rPr lang="pt-BR" sz="2600" spc="-10" dirty="0">
                    <a:latin typeface="Cambria Math"/>
                    <a:cs typeface="Cambria Math"/>
                  </a:rPr>
                  <a:t> </a:t>
                </a:r>
                <a:r>
                  <a:rPr lang="pt-BR" sz="2600" spc="-25" dirty="0">
                    <a:latin typeface="Cambria Math"/>
                    <a:cs typeface="Cambria Math"/>
                  </a:rPr>
                  <a:t>𝒙</a:t>
                </a:r>
                <a:r>
                  <a:rPr lang="pt-BR" sz="2850" spc="-37" baseline="-16081" dirty="0">
                    <a:latin typeface="Cambria Math"/>
                    <a:cs typeface="Cambria Math"/>
                  </a:rPr>
                  <a:t>𝑘</a:t>
                </a:r>
                <a:r>
                  <a:rPr lang="pt-BR" sz="2850" spc="-37" dirty="0">
                    <a:latin typeface="Cambria Math"/>
                    <a:cs typeface="Cambria Math"/>
                  </a:rPr>
                  <a:t>)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	</a:t>
                </a:r>
                <a:r>
                  <a:rPr lang="pt-BR" sz="2600" spc="-50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05283"/>
                <a:ext cx="9498209" cy="991938"/>
              </a:xfrm>
              <a:prstGeom prst="rect">
                <a:avLst/>
              </a:prstGeom>
              <a:blipFill>
                <a:blip r:embed="rId2"/>
                <a:stretch>
                  <a:fillRect l="-1797" r="-513" b="-208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762000" y="2895600"/>
            <a:ext cx="10839450" cy="33815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04800" marR="68580" indent="-229235">
              <a:lnSpc>
                <a:spcPts val="2810"/>
              </a:lnSpc>
              <a:spcBef>
                <a:spcPts val="1160"/>
              </a:spcBef>
              <a:buFont typeface="Arial"/>
              <a:buChar char="•"/>
              <a:tabLst>
                <a:tab pos="3054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kernel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entrada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avaliar </a:t>
            </a:r>
            <a:r>
              <a:rPr sz="2600" dirty="0">
                <a:latin typeface="Calibri"/>
                <a:cs typeface="Calibri"/>
              </a:rPr>
              <a:t>produtos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escalares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espaço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correspondente.</a:t>
            </a:r>
            <a:endParaRPr sz="2600" dirty="0">
              <a:latin typeface="Calibri"/>
              <a:cs typeface="Calibri"/>
            </a:endParaRPr>
          </a:p>
          <a:p>
            <a:pPr marL="304800" marR="140335" indent="-229235">
              <a:lnSpc>
                <a:spcPct val="98500"/>
              </a:lnSpc>
              <a:spcBef>
                <a:spcPts val="700"/>
              </a:spcBef>
              <a:buFont typeface="Arial"/>
              <a:buChar char="•"/>
              <a:tabLst>
                <a:tab pos="305435" algn="l"/>
                <a:tab pos="2618740" algn="l"/>
                <a:tab pos="3020695" algn="l"/>
                <a:tab pos="9681845" algn="l"/>
                <a:tab pos="10606405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separadores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espaço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alta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dimensão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𝐹</a:t>
            </a:r>
            <a:r>
              <a:rPr lang="pt-BR" sz="2600" spc="-50" dirty="0">
                <a:latin typeface="Cambria Math"/>
                <a:cs typeface="Cambria Math"/>
              </a:rPr>
              <a:t>(</a:t>
            </a:r>
            <a:r>
              <a:rPr sz="2600" spc="-50" dirty="0">
                <a:latin typeface="Cambria Math"/>
                <a:cs typeface="Cambria Math"/>
              </a:rPr>
              <a:t>𝒙</a:t>
            </a:r>
            <a:r>
              <a:rPr lang="pt-BR" sz="2600" spc="-50" dirty="0">
                <a:latin typeface="Cambria Math"/>
                <a:cs typeface="Cambria Math"/>
              </a:rPr>
              <a:t>) </a:t>
            </a:r>
            <a:r>
              <a:rPr sz="2600" spc="-10" dirty="0" err="1">
                <a:latin typeface="Calibri"/>
                <a:cs typeface="Calibri"/>
              </a:rPr>
              <a:t>simplesmente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substituindo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850" baseline="-16081" dirty="0">
                <a:latin typeface="Cambria Math"/>
                <a:cs typeface="Cambria Math"/>
              </a:rPr>
              <a:t>𝑗</a:t>
            </a:r>
            <a:r>
              <a:rPr sz="2850" spc="465" baseline="-16081" dirty="0">
                <a:latin typeface="Cambria Math"/>
                <a:cs typeface="Cambria Math"/>
              </a:rPr>
              <a:t> </a:t>
            </a:r>
            <a:r>
              <a:rPr sz="2600" spc="85" dirty="0">
                <a:latin typeface="Cambria Math"/>
                <a:cs typeface="Cambria Math"/>
              </a:rPr>
              <a:t>∙</a:t>
            </a:r>
            <a:r>
              <a:rPr sz="2600" spc="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850" baseline="-16081" dirty="0">
                <a:latin typeface="Cambria Math"/>
                <a:cs typeface="Cambria Math"/>
              </a:rPr>
              <a:t>𝑘</a:t>
            </a:r>
            <a:r>
              <a:rPr sz="2850" spc="480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25" dirty="0">
                <a:latin typeface="Calibri"/>
                <a:cs typeface="Calibri"/>
              </a:rPr>
              <a:t> de </a:t>
            </a:r>
            <a:r>
              <a:rPr sz="2600" dirty="0">
                <a:latin typeface="Calibri"/>
                <a:cs typeface="Calibri"/>
              </a:rPr>
              <a:t>otimização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programação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quadrática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kernel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𝐾</a:t>
            </a:r>
            <a:r>
              <a:rPr lang="pt-BR" sz="2600" spc="-50" dirty="0">
                <a:latin typeface="Cambria Math"/>
                <a:cs typeface="Cambria Math"/>
              </a:rPr>
              <a:t>(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850" baseline="-16081" dirty="0">
                <a:latin typeface="Cambria Math"/>
                <a:cs typeface="Cambria Math"/>
              </a:rPr>
              <a:t>𝑗</a:t>
            </a:r>
            <a:r>
              <a:rPr sz="2600" dirty="0">
                <a:latin typeface="Cambria Math"/>
                <a:cs typeface="Cambria Math"/>
              </a:rPr>
              <a:t>, </a:t>
            </a:r>
            <a:r>
              <a:rPr sz="2600" spc="-25" dirty="0">
                <a:latin typeface="Cambria Math"/>
                <a:cs typeface="Cambria Math"/>
              </a:rPr>
              <a:t>𝒙</a:t>
            </a:r>
            <a:r>
              <a:rPr sz="2850" spc="-37" baseline="-16081" dirty="0">
                <a:latin typeface="Cambria Math"/>
                <a:cs typeface="Cambria Math"/>
              </a:rPr>
              <a:t>𝑘</a:t>
            </a:r>
            <a:r>
              <a:rPr lang="pt-BR" sz="2850" spc="-37" dirty="0">
                <a:latin typeface="Cambria Math"/>
                <a:cs typeface="Cambria Math"/>
              </a:rPr>
              <a:t>)</a:t>
            </a:r>
            <a:r>
              <a:rPr sz="2850" baseline="-16081" dirty="0">
                <a:latin typeface="Cambria Math"/>
                <a:cs typeface="Cambria Math"/>
              </a:rPr>
              <a:t>	</a:t>
            </a:r>
            <a:r>
              <a:rPr sz="2600" spc="-5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304800" marR="101600" indent="-229235">
              <a:lnSpc>
                <a:spcPts val="2810"/>
              </a:lnSpc>
              <a:spcBef>
                <a:spcPts val="1155"/>
              </a:spcBef>
              <a:buFont typeface="Arial"/>
              <a:buChar char="•"/>
              <a:tabLst>
                <a:tab pos="305435" algn="l"/>
              </a:tabLst>
            </a:pP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aprender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espaço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dimensão,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calculamos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kernel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vez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completa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cada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dados.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Função</a:t>
            </a:r>
            <a:r>
              <a:rPr spc="-20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457200" y="1562937"/>
                <a:ext cx="11038840" cy="46903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9235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267335" algn="l"/>
                    <a:tab pos="8651240" algn="l"/>
                    <a:tab pos="9509125" algn="l"/>
                    <a:tab pos="9920605" algn="l"/>
                    <a:tab pos="10231755" algn="l"/>
                    <a:tab pos="1080198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próxima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etapa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verificar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não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há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nada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especial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sobre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kernel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200" i="1" spc="-50" dirty="0" smtClean="0">
                        <a:latin typeface="Cambria Math" panose="02040503050406030204" pitchFamily="18" charset="0"/>
                        <a:cs typeface="Cambria Math"/>
                      </a:rPr>
                      <m:t>𝐾</m:t>
                    </m:r>
                    <m:d>
                      <m:dPr>
                        <m:ctrlPr>
                          <a:rPr lang="ar-AE" sz="2200" i="1" spc="-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 b="1" i="1" spc="-5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sz="2200" b="0" i="1" spc="-5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1" i="1" spc="-5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200" b="0" i="1" spc="-5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200" b="0" i="1" spc="-5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1" i="1" spc="-50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1" i="1" spc="-50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sz="2200" b="0" i="1" spc="-5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200" spc="30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62937"/>
                <a:ext cx="11038840" cy="469039"/>
              </a:xfrm>
              <a:prstGeom prst="rect">
                <a:avLst/>
              </a:prstGeom>
              <a:blipFill>
                <a:blip r:embed="rId2"/>
                <a:stretch>
                  <a:fillRect l="-1104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>
              <a:xfrm>
                <a:off x="457200" y="2198032"/>
                <a:ext cx="11582400" cy="361137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00" indent="-229235">
                  <a:lnSpc>
                    <a:spcPts val="224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317500" algn="l"/>
                    <a:tab pos="31813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kernel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corresponde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determinado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espaço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atributos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alta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dimensão,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mas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outras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17500">
                  <a:lnSpc>
                    <a:spcPts val="2245"/>
                  </a:lnSpc>
                </a:pPr>
                <a:r>
                  <a:rPr lang="pt-BR" sz="2200" b="1" i="1" dirty="0">
                    <a:latin typeface="Calibri"/>
                    <a:cs typeface="Calibri"/>
                  </a:rPr>
                  <a:t>funções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kernel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correspondem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outros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espaços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atributos.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17500" marR="205104" indent="-229235">
                  <a:lnSpc>
                    <a:spcPct val="75200"/>
                  </a:lnSpc>
                  <a:spcBef>
                    <a:spcPts val="860"/>
                  </a:spcBef>
                  <a:buFont typeface="Arial"/>
                  <a:buChar char="•"/>
                  <a:tabLst>
                    <a:tab pos="317500" algn="l"/>
                    <a:tab pos="318135" algn="l"/>
                    <a:tab pos="2626360" algn="l"/>
                    <a:tab pos="346964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Um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resultado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muito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importante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matemática,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teorema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Mercer</a:t>
                </a:r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diz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qualquer </a:t>
                </a:r>
                <a:r>
                  <a:rPr lang="pt-BR" sz="2200" b="1" i="1" dirty="0">
                    <a:latin typeface="Calibri"/>
                    <a:cs typeface="Calibri"/>
                  </a:rPr>
                  <a:t>função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kernel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spc="-50" dirty="0">
                    <a:latin typeface="Cambria Math"/>
                    <a:cs typeface="Cambria Math"/>
                  </a:rPr>
                  <a:t>𝐾(</a:t>
                </a:r>
                <a:r>
                  <a:rPr lang="pt-BR" sz="2200" dirty="0">
                    <a:latin typeface="Cambria Math"/>
                    <a:cs typeface="Cambria Math"/>
                  </a:rPr>
                  <a:t>𝒙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𝑗</a:t>
                </a:r>
                <a:r>
                  <a:rPr lang="pt-BR" sz="2200" dirty="0">
                    <a:latin typeface="Cambria Math"/>
                    <a:cs typeface="Cambria Math"/>
                  </a:rPr>
                  <a:t>,</a:t>
                </a:r>
                <a:r>
                  <a:rPr lang="pt-BR" sz="2200" spc="-35" dirty="0">
                    <a:latin typeface="Cambria Math"/>
                    <a:cs typeface="Cambria Math"/>
                  </a:rPr>
                  <a:t> </a:t>
                </a:r>
                <a:r>
                  <a:rPr lang="pt-BR" sz="2200" spc="-25" dirty="0">
                    <a:latin typeface="Cambria Math"/>
                    <a:cs typeface="Cambria Math"/>
                  </a:rPr>
                  <a:t>𝒙</a:t>
                </a:r>
                <a:r>
                  <a:rPr lang="pt-BR" sz="2400" spc="-37" baseline="-15625" dirty="0">
                    <a:latin typeface="Cambria Math"/>
                    <a:cs typeface="Cambria Math"/>
                  </a:rPr>
                  <a:t>𝑘</a:t>
                </a:r>
                <a:r>
                  <a:rPr lang="pt-BR" sz="2400" spc="-37" dirty="0">
                    <a:latin typeface="Cambria Math"/>
                    <a:cs typeface="Cambria Math"/>
                  </a:rPr>
                  <a:t>)</a:t>
                </a:r>
                <a:r>
                  <a:rPr lang="pt-BR" sz="2400" spc="-37" baseline="-156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respeite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condição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matemática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chamada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condição</a:t>
                </a:r>
                <a:r>
                  <a:rPr lang="pt-BR" sz="22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de </a:t>
                </a:r>
                <a:r>
                  <a:rPr lang="pt-BR" sz="2200" b="1" i="1" dirty="0">
                    <a:latin typeface="Calibri"/>
                    <a:cs typeface="Calibri"/>
                  </a:rPr>
                  <a:t>Mercer</a:t>
                </a:r>
                <a:r>
                  <a:rPr lang="pt-BR" sz="22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corresponde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algum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espaço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atributos.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17500" marR="279400" indent="-229235">
                  <a:lnSpc>
                    <a:spcPct val="75900"/>
                  </a:lnSpc>
                  <a:spcBef>
                    <a:spcPts val="1035"/>
                  </a:spcBef>
                  <a:buFont typeface="Arial"/>
                  <a:buChar char="•"/>
                  <a:tabLst>
                    <a:tab pos="317500" algn="l"/>
                    <a:tab pos="318135" algn="l"/>
                    <a:tab pos="7661275" algn="l"/>
                    <a:tab pos="844296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função</a:t>
                </a:r>
                <a:r>
                  <a:rPr lang="pt-BR" sz="22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200" b="1" i="1" dirty="0">
                    <a:latin typeface="Calibri"/>
                    <a:cs typeface="Calibri"/>
                  </a:rPr>
                  <a:t>de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kernel</a:t>
                </a:r>
                <a:r>
                  <a:rPr lang="pt-BR" sz="22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que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seja</a:t>
                </a:r>
                <a:r>
                  <a:rPr lang="pt-BR" sz="2200" spc="-1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20" dirty="0">
                    <a:latin typeface="Calibri"/>
                    <a:cs typeface="Calibri"/>
                  </a:rPr>
                  <a:t>positiva-</a:t>
                </a:r>
                <a:r>
                  <a:rPr lang="pt-BR" sz="2200" b="1" i="1" dirty="0">
                    <a:latin typeface="Calibri"/>
                    <a:cs typeface="Calibri"/>
                  </a:rPr>
                  <a:t>definida</a:t>
                </a:r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i.e,</a:t>
                </a:r>
                <a:r>
                  <a:rPr lang="pt-BR" sz="3300" spc="750" baseline="2525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ar-AE" sz="3300" i="1" spc="750" baseline="2525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ar-AE" sz="3300" b="0" i="1" spc="750" baseline="2525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ar-AE" sz="3300" i="1" spc="750" baseline="2525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pt-BR" sz="3300" b="0" i="1" spc="750" baseline="2525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3300" b="0" i="1" spc="750" baseline="2525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3300" b="0" i="1" spc="750" baseline="2525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300" b="0" i="1" spc="750" baseline="2525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3300" b="0" i="1" spc="750" baseline="2525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3300" b="0" i="1" spc="750" baseline="2525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300" b="0" i="1" spc="750" baseline="2525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3300" b="0" i="1" spc="750" baseline="2525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pt-BR" sz="3300" b="0" i="1" spc="750" baseline="2525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pt-BR" sz="3300" b="0" i="1" spc="750" baseline="2525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pt-BR" sz="3300" b="0" i="1" spc="750" baseline="2525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pt-BR" sz="3300" b="0" i="1" spc="750" baseline="2525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e>
                        </m:nary>
                      </m:e>
                    </m:nary>
                  </m:oMath>
                </a14:m>
                <a:r>
                  <a:rPr lang="ar-AE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satisfaz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spc="-50" dirty="0">
                    <a:latin typeface="Calibri"/>
                    <a:cs typeface="Calibri"/>
                  </a:rPr>
                  <a:t>a </a:t>
                </a:r>
                <a:r>
                  <a:rPr lang="pt-BR" sz="2200" spc="-10" dirty="0">
                    <a:latin typeface="Calibri"/>
                    <a:cs typeface="Calibri"/>
                  </a:rPr>
                  <a:t>condição.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17500" marR="171450" indent="-229235">
                  <a:lnSpc>
                    <a:spcPct val="75000"/>
                  </a:lnSpc>
                  <a:spcBef>
                    <a:spcPts val="1080"/>
                  </a:spcBef>
                  <a:buFont typeface="Arial"/>
                  <a:buChar char="•"/>
                  <a:tabLst>
                    <a:tab pos="317500" algn="l"/>
                    <a:tab pos="318135" algn="l"/>
                    <a:tab pos="3233420" algn="l"/>
                    <a:tab pos="407606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outras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palavras,</a:t>
                </a:r>
                <a:r>
                  <a:rPr lang="pt-BR" sz="2200" spc="-9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50" dirty="0">
                    <a:latin typeface="Cambria Math"/>
                    <a:cs typeface="Cambria Math"/>
                  </a:rPr>
                  <a:t>𝐾(</a:t>
                </a:r>
                <a:r>
                  <a:rPr lang="pt-BR" sz="2200" dirty="0">
                    <a:latin typeface="Cambria Math"/>
                    <a:cs typeface="Cambria Math"/>
                  </a:rPr>
                  <a:t>𝒙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𝑗</a:t>
                </a:r>
                <a:r>
                  <a:rPr lang="pt-BR" sz="2200" dirty="0">
                    <a:latin typeface="Cambria Math"/>
                    <a:cs typeface="Cambria Math"/>
                  </a:rPr>
                  <a:t>,</a:t>
                </a:r>
                <a:r>
                  <a:rPr lang="pt-BR" sz="2200" spc="-35" dirty="0">
                    <a:latin typeface="Cambria Math"/>
                    <a:cs typeface="Cambria Math"/>
                  </a:rPr>
                  <a:t> </a:t>
                </a:r>
                <a:r>
                  <a:rPr lang="pt-BR" sz="2200" spc="-25" dirty="0">
                    <a:latin typeface="Cambria Math"/>
                    <a:cs typeface="Cambria Math"/>
                  </a:rPr>
                  <a:t>𝒙</a:t>
                </a:r>
                <a:r>
                  <a:rPr lang="pt-BR" sz="2400" spc="-37" baseline="-15625" dirty="0">
                    <a:latin typeface="Cambria Math"/>
                    <a:cs typeface="Cambria Math"/>
                  </a:rPr>
                  <a:t>𝑘</a:t>
                </a:r>
                <a:r>
                  <a:rPr lang="pt-BR" sz="2400" spc="-37" dirty="0">
                    <a:latin typeface="Cambria Math"/>
                    <a:cs typeface="Cambria Math"/>
                  </a:rPr>
                  <a:t>)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	</a:t>
                </a:r>
                <a:r>
                  <a:rPr lang="pt-BR" sz="2200" dirty="0">
                    <a:latin typeface="Calibri"/>
                    <a:cs typeface="Calibri"/>
                  </a:rPr>
                  <a:t>for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20" dirty="0">
                    <a:latin typeface="Calibri"/>
                    <a:cs typeface="Calibri"/>
                  </a:rPr>
                  <a:t>positiva-</a:t>
                </a:r>
                <a:r>
                  <a:rPr lang="pt-BR" sz="2200" b="1" i="1" dirty="0">
                    <a:latin typeface="Calibri"/>
                    <a:cs typeface="Calibri"/>
                  </a:rPr>
                  <a:t>definida</a:t>
                </a:r>
                <a:r>
                  <a:rPr lang="pt-BR" sz="2200" dirty="0">
                    <a:latin typeface="Calibri"/>
                    <a:cs typeface="Calibri"/>
                  </a:rPr>
                  <a:t>,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então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existe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uma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função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𝐹(.</a:t>
                </a:r>
                <a:r>
                  <a:rPr lang="pt-BR" sz="2200" spc="-1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)</a:t>
                </a:r>
                <a:r>
                  <a:rPr lang="pt-BR" sz="2200" spc="-25" dirty="0">
                    <a:latin typeface="Cambria Math"/>
                    <a:cs typeface="Cambria Math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que </a:t>
                </a:r>
                <a:r>
                  <a:rPr lang="pt-BR" sz="2200" dirty="0">
                    <a:latin typeface="Calibri"/>
                    <a:cs typeface="Calibri"/>
                  </a:rPr>
                  <a:t>mapeia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𝒙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𝑗</a:t>
                </a:r>
                <a:r>
                  <a:rPr lang="pt-BR" sz="2400" spc="307" baseline="-156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𝒙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𝑘</a:t>
                </a:r>
                <a:r>
                  <a:rPr lang="pt-BR" sz="2400" spc="300" baseline="-1562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em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outro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espaço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(possivelmente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dimensões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muito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mais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altas)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tal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que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17500">
                  <a:lnSpc>
                    <a:spcPts val="2150"/>
                  </a:lnSpc>
                  <a:tabLst>
                    <a:tab pos="646430" algn="l"/>
                    <a:tab pos="1504315" algn="l"/>
                  </a:tabLst>
                </a:pPr>
                <a:r>
                  <a:rPr lang="pt-BR" sz="2200" spc="-50" dirty="0">
                    <a:latin typeface="Cambria Math"/>
                    <a:cs typeface="Cambria Math"/>
                  </a:rPr>
                  <a:t>𝐾(</a:t>
                </a:r>
                <a:r>
                  <a:rPr lang="pt-BR" sz="2200" dirty="0">
                    <a:latin typeface="Cambria Math"/>
                    <a:cs typeface="Cambria Math"/>
                  </a:rPr>
                  <a:t>𝒙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𝑗</a:t>
                </a:r>
                <a:r>
                  <a:rPr lang="pt-BR" sz="2200" dirty="0">
                    <a:latin typeface="Cambria Math"/>
                    <a:cs typeface="Cambria Math"/>
                  </a:rPr>
                  <a:t>,</a:t>
                </a:r>
                <a:r>
                  <a:rPr lang="pt-BR" sz="2200" spc="-20" dirty="0">
                    <a:latin typeface="Cambria Math"/>
                    <a:cs typeface="Cambria Math"/>
                  </a:rPr>
                  <a:t> </a:t>
                </a:r>
                <a:r>
                  <a:rPr lang="pt-BR" sz="2200" spc="-35" dirty="0">
                    <a:latin typeface="Cambria Math"/>
                    <a:cs typeface="Cambria Math"/>
                  </a:rPr>
                  <a:t>𝒙</a:t>
                </a:r>
                <a:r>
                  <a:rPr lang="pt-BR" sz="2400" spc="-52" baseline="-15625" dirty="0">
                    <a:latin typeface="Cambria Math"/>
                    <a:cs typeface="Cambria Math"/>
                  </a:rPr>
                  <a:t>𝑘</a:t>
                </a:r>
                <a:r>
                  <a:rPr lang="pt-BR" sz="2400" spc="-52" dirty="0">
                    <a:latin typeface="Cambria Math"/>
                    <a:cs typeface="Cambria Math"/>
                  </a:rPr>
                  <a:t>)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	</a:t>
                </a:r>
                <a:r>
                  <a:rPr lang="pt-BR" sz="2200" dirty="0">
                    <a:latin typeface="Cambria Math"/>
                    <a:cs typeface="Cambria Math"/>
                  </a:rPr>
                  <a:t>=</a:t>
                </a:r>
                <a:r>
                  <a:rPr lang="pt-BR" sz="2200" spc="175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𝐹(𝒙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𝑗</a:t>
                </a:r>
                <a:r>
                  <a:rPr lang="pt-BR" sz="2200" dirty="0">
                    <a:latin typeface="Cambria Math"/>
                    <a:cs typeface="Cambria Math"/>
                  </a:rPr>
                  <a:t>)</a:t>
                </a:r>
                <a:r>
                  <a:rPr lang="pt-BR" sz="2200" spc="35" dirty="0">
                    <a:latin typeface="Cambria Math"/>
                    <a:cs typeface="Cambria Math"/>
                  </a:rPr>
                  <a:t> </a:t>
                </a:r>
                <a:r>
                  <a:rPr lang="pt-BR" sz="2200" spc="75" dirty="0">
                    <a:latin typeface="Cambria Math"/>
                    <a:cs typeface="Cambria Math"/>
                  </a:rPr>
                  <a:t>∙</a:t>
                </a:r>
                <a:r>
                  <a:rPr lang="pt-BR" sz="2200" spc="60" dirty="0">
                    <a:latin typeface="Cambria Math"/>
                    <a:cs typeface="Cambria Math"/>
                  </a:rPr>
                  <a:t> </a:t>
                </a:r>
                <a:r>
                  <a:rPr lang="pt-BR" sz="2200" spc="-10" dirty="0">
                    <a:latin typeface="Cambria Math"/>
                    <a:cs typeface="Cambria Math"/>
                  </a:rPr>
                  <a:t>𝐹(𝒙</a:t>
                </a:r>
                <a:r>
                  <a:rPr lang="pt-BR" sz="2400" spc="-15" baseline="-15625" dirty="0">
                    <a:latin typeface="Cambria Math"/>
                    <a:cs typeface="Cambria Math"/>
                  </a:rPr>
                  <a:t>𝑘</a:t>
                </a:r>
                <a:r>
                  <a:rPr lang="pt-BR" sz="2200" spc="-10" dirty="0">
                    <a:latin typeface="Cambria Math"/>
                    <a:cs typeface="Cambria Math"/>
                  </a:rPr>
                  <a:t>)</a:t>
                </a:r>
                <a:r>
                  <a:rPr lang="pt-BR" sz="2200" spc="-10" dirty="0">
                    <a:latin typeface="Calibri"/>
                    <a:cs typeface="Calibri"/>
                  </a:rPr>
                  <a:t>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17500" marR="425450" indent="-229235">
                  <a:lnSpc>
                    <a:spcPct val="70000"/>
                  </a:lnSpc>
                  <a:spcBef>
                    <a:spcPts val="1070"/>
                  </a:spcBef>
                  <a:buFont typeface="Arial"/>
                  <a:buChar char="•"/>
                  <a:tabLst>
                    <a:tab pos="317500" algn="l"/>
                    <a:tab pos="318135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Esses</a:t>
                </a:r>
                <a:r>
                  <a:rPr lang="pt-BR" sz="2200" spc="-6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espaços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atributos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podem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ser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muito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grandes,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mesmo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para</a:t>
                </a:r>
                <a:r>
                  <a:rPr lang="pt-BR" sz="2200" spc="-9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kernels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8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aparência simples.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98032"/>
                <a:ext cx="11582400" cy="3611373"/>
              </a:xfrm>
              <a:prstGeom prst="rect">
                <a:avLst/>
              </a:prstGeom>
              <a:blipFill>
                <a:blip r:embed="rId3"/>
                <a:stretch>
                  <a:fillRect l="-632" t="-3716" b="-38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>
              <a:xfrm>
                <a:off x="457200" y="5987953"/>
                <a:ext cx="11219815" cy="81464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9235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  <a:tab pos="241935" algn="l"/>
                    <a:tab pos="4426585" algn="l"/>
                    <a:tab pos="52832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Por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exemplo,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kernel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polinomial,</a:t>
                </a:r>
                <a:r>
                  <a:rPr lang="pt-BR" sz="2200" spc="-7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200" i="1" spc="-50" dirty="0" smtClean="0">
                        <a:latin typeface="Cambria Math" panose="02040503050406030204" pitchFamily="18" charset="0"/>
                        <a:cs typeface="Cambria Math"/>
                      </a:rPr>
                      <m:t>𝐾</m:t>
                    </m:r>
                    <m:d>
                      <m:dPr>
                        <m:ctrlPr>
                          <a:rPr lang="ar-AE" sz="2200" i="1" spc="-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200" b="1" i="1" spc="-5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sz="2200" b="0" i="1" spc="-5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200" b="1" i="1" spc="-5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200" b="0" i="1" spc="-5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200" b="0" i="1" spc="-5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1" i="1" spc="-50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200" b="0" i="1" spc="-50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200" b="1" i="1" spc="-50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200" b="0" i="1" spc="-50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sz="2200" b="0" i="1" spc="-50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pt-BR" sz="2200" dirty="0">
                    <a:latin typeface="Cambria Math"/>
                    <a:cs typeface="Cambria Math"/>
                  </a:rPr>
                  <a:t>, corresponde a um espaço de atributos cuja dimensão é exponencial em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</m:oMath>
                </a14:m>
                <a:r>
                  <a:rPr lang="ar-AE" sz="2200" dirty="0">
                    <a:latin typeface="Cambria Math"/>
                    <a:cs typeface="Cambria Math"/>
                  </a:rPr>
                  <a:t>	</a:t>
                </a:r>
                <a:endParaRPr sz="22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87953"/>
                <a:ext cx="11219815" cy="814647"/>
              </a:xfrm>
              <a:prstGeom prst="rect">
                <a:avLst/>
              </a:prstGeom>
              <a:blipFill>
                <a:blip r:embed="rId4"/>
                <a:stretch>
                  <a:fillRect l="-1304" b="-194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Truque</a:t>
            </a:r>
            <a:r>
              <a:rPr spc="-110" dirty="0"/>
              <a:t> </a:t>
            </a:r>
            <a:r>
              <a:rPr dirty="0"/>
              <a:t>do</a:t>
            </a:r>
            <a:r>
              <a:rPr spc="-100" dirty="0"/>
              <a:t> </a:t>
            </a:r>
            <a:r>
              <a:rPr spc="-10" dirty="0"/>
              <a:t>Kernel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5950" y="1600200"/>
            <a:ext cx="10960100" cy="46204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9235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54635" algn="l"/>
              </a:tabLst>
            </a:pPr>
            <a:r>
              <a:rPr sz="2600" dirty="0">
                <a:latin typeface="Calibri"/>
                <a:cs typeface="Calibri"/>
              </a:rPr>
              <a:t>Insight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principal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aqui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aplicarmos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transformação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𝐹(.</a:t>
            </a:r>
            <a:r>
              <a:rPr sz="2600" spc="-15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)</a:t>
            </a:r>
            <a:r>
              <a:rPr sz="2600" spc="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todas </a:t>
            </a:r>
            <a:r>
              <a:rPr sz="2600" spc="-25" dirty="0">
                <a:latin typeface="Calibri"/>
                <a:cs typeface="Calibri"/>
              </a:rPr>
              <a:t>os</a:t>
            </a:r>
            <a:endParaRPr sz="2600" dirty="0">
              <a:latin typeface="Calibri"/>
              <a:cs typeface="Calibri"/>
            </a:endParaRPr>
          </a:p>
          <a:p>
            <a:pPr marL="254000">
              <a:lnSpc>
                <a:spcPts val="2220"/>
              </a:lnSpc>
            </a:pP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conterá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produto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escalar</a:t>
            </a:r>
            <a:endParaRPr sz="2600" dirty="0">
              <a:latin typeface="Calibri"/>
              <a:cs typeface="Calibri"/>
            </a:endParaRPr>
          </a:p>
          <a:p>
            <a:pPr marL="254000" marR="75565">
              <a:lnSpc>
                <a:spcPct val="80800"/>
              </a:lnSpc>
              <a:spcBef>
                <a:spcPts val="165"/>
              </a:spcBef>
              <a:tabLst>
                <a:tab pos="939800" algn="l"/>
                <a:tab pos="2136140" algn="l"/>
              </a:tabLst>
            </a:pPr>
            <a:r>
              <a:rPr sz="2600" dirty="0">
                <a:latin typeface="Cambria Math"/>
                <a:cs typeface="Cambria Math"/>
              </a:rPr>
              <a:t>𝐹(𝒙</a:t>
            </a:r>
            <a:r>
              <a:rPr sz="2850" baseline="-16081" dirty="0">
                <a:latin typeface="Cambria Math"/>
                <a:cs typeface="Cambria Math"/>
              </a:rPr>
              <a:t>𝑗</a:t>
            </a:r>
            <a:r>
              <a:rPr sz="2600" dirty="0">
                <a:latin typeface="Cambria Math"/>
                <a:cs typeface="Cambria Math"/>
              </a:rPr>
              <a:t>) </a:t>
            </a:r>
            <a:r>
              <a:rPr sz="2600" spc="85" dirty="0">
                <a:latin typeface="Cambria Math"/>
                <a:cs typeface="Cambria Math"/>
              </a:rPr>
              <a:t>∙</a:t>
            </a:r>
            <a:r>
              <a:rPr sz="2600" spc="30" dirty="0">
                <a:latin typeface="Cambria Math"/>
                <a:cs typeface="Cambria Math"/>
              </a:rPr>
              <a:t> </a:t>
            </a:r>
            <a:r>
              <a:rPr sz="2600" spc="50" dirty="0">
                <a:latin typeface="Cambria Math"/>
                <a:cs typeface="Cambria Math"/>
              </a:rPr>
              <a:t>𝐹(𝒙</a:t>
            </a:r>
            <a:r>
              <a:rPr sz="2850" spc="75" baseline="-16081" dirty="0">
                <a:latin typeface="Cambria Math"/>
                <a:cs typeface="Cambria Math"/>
              </a:rPr>
              <a:t>𝑘</a:t>
            </a:r>
            <a:r>
              <a:rPr sz="2600" spc="50" dirty="0">
                <a:latin typeface="Cambria Math"/>
                <a:cs typeface="Cambria Math"/>
              </a:rPr>
              <a:t>)</a:t>
            </a:r>
            <a:r>
              <a:rPr sz="2600" spc="50" dirty="0">
                <a:latin typeface="Calibri"/>
                <a:cs typeface="Calibri"/>
              </a:rPr>
              <a:t>,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𝐹(.</a:t>
            </a:r>
            <a:r>
              <a:rPr sz="2600" spc="-1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)</a:t>
            </a:r>
            <a:r>
              <a:rPr sz="2600" spc="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 uma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transformação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polinomial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 2º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grau,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então </a:t>
            </a:r>
            <a:r>
              <a:rPr sz="2600" dirty="0" err="1">
                <a:latin typeface="Calibri"/>
                <a:cs typeface="Calibri"/>
              </a:rPr>
              <a:t>podemos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</a:t>
            </a:r>
            <a:r>
              <a:rPr lang="pt-BR" sz="2600" spc="-10" dirty="0" err="1">
                <a:latin typeface="Calibri"/>
                <a:cs typeface="Calibri"/>
              </a:rPr>
              <a:t>ubstituir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produto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escalar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vetores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transformados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simplesmente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 err="1">
                <a:latin typeface="Calibri"/>
                <a:cs typeface="Calibri"/>
              </a:rPr>
              <a:t>por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(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850" baseline="-16081" dirty="0">
                <a:latin typeface="Cambria Math"/>
                <a:cs typeface="Cambria Math"/>
              </a:rPr>
              <a:t>𝑗</a:t>
            </a:r>
            <a:r>
              <a:rPr sz="2850" spc="472" baseline="-16081" dirty="0">
                <a:latin typeface="Cambria Math"/>
                <a:cs typeface="Cambria Math"/>
              </a:rPr>
              <a:t> </a:t>
            </a:r>
            <a:r>
              <a:rPr sz="2600" spc="85" dirty="0">
                <a:latin typeface="Cambria Math"/>
                <a:cs typeface="Cambria Math"/>
              </a:rPr>
              <a:t>∙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𝒙</a:t>
            </a:r>
            <a:r>
              <a:rPr sz="2850" spc="-37" baseline="-16081" dirty="0">
                <a:latin typeface="Cambria Math"/>
                <a:cs typeface="Cambria Math"/>
              </a:rPr>
              <a:t>𝑘</a:t>
            </a:r>
            <a:r>
              <a:rPr lang="pt-BR" sz="2850" spc="-37" dirty="0">
                <a:latin typeface="Cambria Math"/>
                <a:cs typeface="Cambria Math"/>
              </a:rPr>
              <a:t>)</a:t>
            </a:r>
            <a:r>
              <a:rPr lang="pt-BR" sz="2850" spc="-37" baseline="30000" dirty="0">
                <a:latin typeface="Cambria Math"/>
                <a:cs typeface="Cambria Math"/>
              </a:rPr>
              <a:t>2</a:t>
            </a:r>
            <a:r>
              <a:rPr sz="2600" spc="-5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54000" marR="69215" indent="-229235">
              <a:lnSpc>
                <a:spcPct val="70000"/>
              </a:lnSpc>
              <a:spcBef>
                <a:spcPts val="1190"/>
              </a:spcBef>
              <a:buFont typeface="Arial"/>
              <a:buChar char="•"/>
              <a:tabLst>
                <a:tab pos="254635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seria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tivéssemos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trabalho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transformar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seguida,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treinando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SVM.</a:t>
            </a:r>
            <a:endParaRPr sz="2600" dirty="0">
              <a:latin typeface="Calibri"/>
              <a:cs typeface="Calibri"/>
            </a:endParaRPr>
          </a:p>
          <a:p>
            <a:pPr marL="254000" indent="-229235">
              <a:lnSpc>
                <a:spcPts val="2655"/>
              </a:lnSpc>
              <a:spcBef>
                <a:spcPts val="60"/>
              </a:spcBef>
              <a:buFont typeface="Arial"/>
              <a:buChar char="•"/>
              <a:tabLst>
                <a:tab pos="254635" algn="l"/>
              </a:tabLst>
            </a:pPr>
            <a:r>
              <a:rPr sz="2600" dirty="0">
                <a:latin typeface="Calibri"/>
                <a:cs typeface="Calibri"/>
              </a:rPr>
              <a:t>Este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truque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kernel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conectando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kernels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otimização</a:t>
            </a:r>
            <a:endParaRPr sz="2600" dirty="0">
              <a:latin typeface="Calibri"/>
              <a:cs typeface="Calibri"/>
            </a:endParaRPr>
          </a:p>
          <a:p>
            <a:pPr marL="2540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programação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quadrática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separadores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lineares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ideais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podem</a:t>
            </a:r>
            <a:r>
              <a:rPr sz="2600" i="1" spc="-25" dirty="0">
                <a:latin typeface="Calibri"/>
                <a:cs typeface="Calibri"/>
              </a:rPr>
              <a:t> ser</a:t>
            </a:r>
            <a:endParaRPr sz="2600" dirty="0">
              <a:latin typeface="Calibri"/>
              <a:cs typeface="Calibri"/>
            </a:endParaRPr>
          </a:p>
          <a:p>
            <a:pPr marL="254000" marR="17780">
              <a:lnSpc>
                <a:spcPct val="70000"/>
              </a:lnSpc>
              <a:spcBef>
                <a:spcPts val="465"/>
              </a:spcBef>
            </a:pPr>
            <a:r>
              <a:rPr sz="2600" i="1" dirty="0">
                <a:latin typeface="Calibri"/>
                <a:cs typeface="Calibri"/>
              </a:rPr>
              <a:t>encontrados</a:t>
            </a:r>
            <a:r>
              <a:rPr sz="2600" i="1" spc="-6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com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eficiência</a:t>
            </a:r>
            <a:r>
              <a:rPr sz="2600" i="1" spc="-6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computacional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em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espaços</a:t>
            </a:r>
            <a:r>
              <a:rPr sz="2600" i="1" spc="-4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de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atributos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com</a:t>
            </a:r>
            <a:r>
              <a:rPr sz="2600" i="1" spc="-25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bilhões </a:t>
            </a:r>
            <a:r>
              <a:rPr sz="2600" i="1" dirty="0">
                <a:latin typeface="Calibri"/>
                <a:cs typeface="Calibri"/>
              </a:rPr>
              <a:t>de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(ou,</a:t>
            </a:r>
            <a:r>
              <a:rPr sz="2600" i="1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em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alguns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casos,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infinitas)</a:t>
            </a:r>
            <a:r>
              <a:rPr sz="2600" i="1" spc="-4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dimensões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54000" indent="-229235">
              <a:lnSpc>
                <a:spcPts val="2650"/>
              </a:lnSpc>
              <a:spcBef>
                <a:spcPts val="75"/>
              </a:spcBef>
              <a:buFont typeface="Arial"/>
              <a:buChar char="•"/>
              <a:tabLst>
                <a:tab pos="254635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separadores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resultantes,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mapeados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volta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espaço</a:t>
            </a:r>
            <a:endParaRPr sz="2600" dirty="0">
              <a:latin typeface="Calibri"/>
              <a:cs typeface="Calibri"/>
            </a:endParaRPr>
          </a:p>
          <a:p>
            <a:pPr marL="254000" marR="511809">
              <a:lnSpc>
                <a:spcPct val="70100"/>
              </a:lnSpc>
              <a:spcBef>
                <a:spcPts val="464"/>
              </a:spcBef>
            </a:pP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entrada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original,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corresponder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limiares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decisão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lineares </a:t>
            </a:r>
            <a:r>
              <a:rPr sz="2600" dirty="0">
                <a:latin typeface="Calibri"/>
                <a:cs typeface="Calibri"/>
              </a:rPr>
              <a:t>arbitrariamente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tortuosos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negativa.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Classificador</a:t>
            </a:r>
            <a:r>
              <a:rPr spc="-7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dirty="0"/>
              <a:t>Margem</a:t>
            </a:r>
            <a:r>
              <a:rPr spc="-90" dirty="0"/>
              <a:t> </a:t>
            </a:r>
            <a:r>
              <a:rPr spc="-10" dirty="0"/>
              <a:t>Suave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085070" cy="3779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inerentemente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ruidosos,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separador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dimensão.</a:t>
            </a:r>
            <a:endParaRPr sz="2800" dirty="0">
              <a:latin typeface="Calibri"/>
              <a:cs typeface="Calibri"/>
            </a:endParaRPr>
          </a:p>
          <a:p>
            <a:pPr marL="241300" marR="265430" indent="-22923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disso,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superfície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inferior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separe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maneira </a:t>
            </a:r>
            <a:r>
              <a:rPr sz="2800" dirty="0">
                <a:latin typeface="Calibri"/>
                <a:cs typeface="Calibri"/>
              </a:rPr>
              <a:t>clara,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reflita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realidade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ruidosos.</a:t>
            </a:r>
            <a:endParaRPr sz="2800" dirty="0">
              <a:latin typeface="Calibri"/>
              <a:cs typeface="Calibri"/>
            </a:endParaRPr>
          </a:p>
          <a:p>
            <a:pPr marL="241300" marR="272415" indent="-229235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classificador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margem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suave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permite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caiam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limiar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mas </a:t>
            </a:r>
            <a:r>
              <a:rPr sz="2800" dirty="0">
                <a:latin typeface="Calibri"/>
                <a:cs typeface="Calibri"/>
              </a:rPr>
              <a:t>atribui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penalidade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proporcional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necessária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movê-</a:t>
            </a:r>
            <a:r>
              <a:rPr sz="2800" dirty="0">
                <a:latin typeface="Calibri"/>
                <a:cs typeface="Calibri"/>
              </a:rPr>
              <a:t>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volta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correto.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846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Kernelização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35310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truque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kernel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aplicado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aprendizagem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separadores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ideais,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também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reformulado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funcionar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escalares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  <a:p>
            <a:pPr marL="241300" marR="410845" indent="-229235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escalar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substituído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kernel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versão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kernelizada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algoritmo.</a:t>
            </a:r>
            <a:endParaRPr sz="2800" dirty="0">
              <a:latin typeface="Calibri"/>
              <a:cs typeface="Calibri"/>
            </a:endParaRPr>
          </a:p>
          <a:p>
            <a:pPr marL="241300" marR="255904" indent="-229235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facilmente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algortimos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spc="-10" dirty="0">
                <a:latin typeface="Calibri"/>
                <a:cs typeface="Calibri"/>
              </a:rPr>
              <a:t>próximos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Nearest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Neighbours)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perceptron,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outros.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Outras</a:t>
            </a:r>
            <a:r>
              <a:rPr spc="-70" dirty="0"/>
              <a:t> </a:t>
            </a:r>
            <a:r>
              <a:rPr dirty="0"/>
              <a:t>funções</a:t>
            </a:r>
            <a:r>
              <a:rPr spc="-3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Kernel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1794" y="1627644"/>
            <a:ext cx="4925695" cy="5206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Alguns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kernels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comuns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incluem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1425194" y="2667000"/>
                <a:ext cx="9858375" cy="5189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100"/>
                  </a:spcBef>
                  <a:buFont typeface="Wingdings"/>
                  <a:buChar char=""/>
                  <a:tabLst>
                    <a:tab pos="241300" algn="l"/>
                    <a:tab pos="3867150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Polinomial</a:t>
                </a:r>
                <a:r>
                  <a:rPr lang="pt-BR" sz="2400" b="1" spc="-80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(homogêneo)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-65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d>
                      <m:dPr>
                        <m:ctrlPr>
                          <a:rPr lang="pt-BR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1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  <m:r>
                          <a:rPr lang="pt-BR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1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pc="-65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pt-BR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pt-BR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pt-BR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pt-BR" sz="2400" b="1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pt-BR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sup>
                    </m:sSup>
                  </m:oMath>
                </a14:m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194" y="2667000"/>
                <a:ext cx="9858375" cy="518925"/>
              </a:xfrm>
              <a:prstGeom prst="rect">
                <a:avLst/>
              </a:prstGeom>
              <a:blipFill>
                <a:blip r:embed="rId2"/>
                <a:stretch>
                  <a:fillRect l="-1670" b="-294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>
              <a:xfrm>
                <a:off x="1425194" y="3214875"/>
                <a:ext cx="7375651" cy="51892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100"/>
                  </a:spcBef>
                  <a:buFont typeface="Wingdings"/>
                  <a:buChar char=""/>
                  <a:tabLst>
                    <a:tab pos="241300" algn="l"/>
                    <a:tab pos="4414520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Polinomial</a:t>
                </a:r>
                <a:r>
                  <a:rPr lang="pt-BR" sz="2400" b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(não</a:t>
                </a:r>
                <a:r>
                  <a:rPr lang="pt-BR" sz="2400" b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dirty="0" err="1">
                    <a:latin typeface="Calibri"/>
                    <a:cs typeface="Calibri"/>
                  </a:rPr>
                  <a:t>homogêneo</a:t>
                </a:r>
                <a:r>
                  <a:rPr lang="pt-BR" sz="2400" b="1" dirty="0">
                    <a:latin typeface="Calibri"/>
                    <a:cs typeface="Calibri"/>
                  </a:rPr>
                  <a:t>)</a:t>
                </a:r>
                <a:r>
                  <a:rPr lang="pt-BR" sz="2400" dirty="0">
                    <a:latin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pt-BR" sz="2400" b="0" i="1" spc="-65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d>
                      <m:dPr>
                        <m:ctrlPr>
                          <a:rPr lang="ar-AE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ar-AE" sz="2400" b="1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ar-AE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  <m:r>
                          <a:rPr lang="ar-AE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ar-AE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ar-AE" sz="2400" b="1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ar-AE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ar-AE" sz="2400" b="0" i="1" spc="-65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ar-AE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ar-AE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1</m:t>
                                </m:r>
                                <m:r>
                                  <a:rPr lang="pt-BR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+</m:t>
                                </m:r>
                                <m:r>
                                  <a:rPr lang="ar-AE" sz="2400" b="1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ar-AE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ar-AE" sz="2400" b="0" i="1" spc="-65" smtClean="0">
                                <a:latin typeface="Cambria Math" panose="02040503050406030204" pitchFamily="18" charset="0"/>
                                <a:cs typeface="Calibri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ar-AE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ar-AE" sz="2400" b="1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ar-AE" sz="2400" b="0" i="1" spc="-65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ar-AE" sz="2400" b="0" i="1" spc="-65" smtClean="0">
                            <a:latin typeface="Cambria Math" panose="02040503050406030204" pitchFamily="18" charset="0"/>
                            <a:cs typeface="Calibri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ar-AE" sz="2400" spc="-60" dirty="0">
                    <a:latin typeface="Calibri"/>
                    <a:cs typeface="Calibri"/>
                  </a:rPr>
                  <a:t> 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194" y="3214875"/>
                <a:ext cx="7375651" cy="518925"/>
              </a:xfrm>
              <a:prstGeom prst="rect">
                <a:avLst/>
              </a:prstGeom>
              <a:blipFill>
                <a:blip r:embed="rId3"/>
                <a:stretch>
                  <a:fillRect l="-2231" r="-1405" b="-290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21"/>
              <p:cNvSpPr txBox="1"/>
              <p:nvPr/>
            </p:nvSpPr>
            <p:spPr>
              <a:xfrm>
                <a:off x="1395214" y="3657600"/>
                <a:ext cx="10081006" cy="636521"/>
              </a:xfrm>
              <a:prstGeom prst="rect">
                <a:avLst/>
              </a:prstGeom>
            </p:spPr>
            <p:txBody>
              <a:bodyPr vert="horz" wrap="square" lIns="0" tIns="9969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785"/>
                  </a:spcBef>
                  <a:buFont typeface="Wingdings"/>
                  <a:buChar char=""/>
                  <a:tabLst>
                    <a:tab pos="266700" algn="l"/>
                    <a:tab pos="4815840" algn="l"/>
                  </a:tabLst>
                </a:pPr>
                <a:r>
                  <a:rPr lang="pt-BR" sz="2400" b="1" dirty="0">
                    <a:latin typeface="Calibri"/>
                    <a:cs typeface="Calibri"/>
                  </a:rPr>
                  <a:t>Função</a:t>
                </a:r>
                <a:r>
                  <a:rPr lang="pt-BR" sz="2400" b="1" spc="-60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de</a:t>
                </a:r>
                <a:r>
                  <a:rPr lang="pt-BR" sz="2400" b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base</a:t>
                </a:r>
                <a:r>
                  <a:rPr lang="pt-BR" sz="2400" b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radial</a:t>
                </a:r>
                <a:r>
                  <a:rPr lang="pt-BR" sz="2400" b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gaussiana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-30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d>
                      <m:dPr>
                        <m:ctrlP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1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400" b="0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1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400" b="0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pc="-3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e>
                      <m:sup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−</m:t>
                        </m:r>
                        <m:r>
                          <a:rPr lang="pt-BR" sz="2400" b="0" i="1" spc="-30" smtClean="0">
                            <a:latin typeface="Cambria Math" panose="02040503050406030204" pitchFamily="18" charset="0"/>
                            <a:cs typeface="Calibri"/>
                          </a:rPr>
                          <m:t>𝛾</m:t>
                        </m:r>
                        <m:sSup>
                          <m:sSupPr>
                            <m:ctrlPr>
                              <a:rPr lang="pt-BR" sz="2400" b="0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pt-BR" sz="2400" b="0" i="1" spc="-3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2400" b="0" i="1" spc="-3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pc="-3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pc="-3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pt-BR" sz="2400" b="0" i="1" spc="-3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2400" b="0" i="1" spc="-3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pc="-3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2400" b="0" i="1" spc="-30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pt-BR" sz="2400" b="0" i="1" spc="-30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pt-BR" sz="2625" dirty="0">
                    <a:latin typeface="Cambria Math"/>
                    <a:cs typeface="Cambria Math"/>
                  </a:rPr>
                  <a:t>para </a:t>
                </a:r>
                <a14:m>
                  <m:oMath xmlns:m="http://schemas.openxmlformats.org/officeDocument/2006/math">
                    <m:r>
                      <a:rPr lang="pt-BR" sz="2625" b="0" i="1" smtClean="0">
                        <a:latin typeface="Cambria Math" panose="02040503050406030204" pitchFamily="18" charset="0"/>
                        <a:cs typeface="Cambria Math"/>
                      </a:rPr>
                      <m:t>𝛾</m:t>
                    </m:r>
                    <m:r>
                      <a:rPr lang="pt-BR" sz="2625" b="0" i="1" smtClean="0">
                        <a:latin typeface="Cambria Math" panose="02040503050406030204" pitchFamily="18" charset="0"/>
                        <a:cs typeface="Cambria Math"/>
                      </a:rPr>
                      <m:t>&gt;</m:t>
                    </m:r>
                    <m:r>
                      <a:rPr lang="pt-BR" sz="2625" b="0" i="1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endParaRPr lang="pt-BR" sz="2625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214" y="3657600"/>
                <a:ext cx="10081006" cy="636521"/>
              </a:xfrm>
              <a:prstGeom prst="rect">
                <a:avLst/>
              </a:prstGeom>
              <a:blipFill>
                <a:blip r:embed="rId4"/>
                <a:stretch>
                  <a:fillRect l="-1391" b="-269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7B4B689A-3769-2173-9F1B-6BEDB146D9A5}"/>
                  </a:ext>
                </a:extLst>
              </p:cNvPr>
              <p:cNvSpPr txBox="1"/>
              <p:nvPr/>
            </p:nvSpPr>
            <p:spPr>
              <a:xfrm>
                <a:off x="1310390" y="4572000"/>
                <a:ext cx="10081006" cy="810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6700" indent="-228600">
                  <a:lnSpc>
                    <a:spcPts val="2795"/>
                  </a:lnSpc>
                  <a:spcBef>
                    <a:spcPts val="685"/>
                  </a:spcBef>
                  <a:buFont typeface="Wingdings"/>
                  <a:buChar char=""/>
                  <a:tabLst>
                    <a:tab pos="266700" algn="l"/>
                    <a:tab pos="4817745" algn="l"/>
                  </a:tabLst>
                </a:pPr>
                <a:r>
                  <a:rPr lang="pt-BR" sz="2400" b="1" spc="-25" dirty="0">
                    <a:latin typeface="Calibri"/>
                    <a:cs typeface="Calibri"/>
                  </a:rPr>
                  <a:t>Tangente</a:t>
                </a:r>
                <a:r>
                  <a:rPr lang="pt-BR" sz="2400" b="1" spc="-60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hiperbólica</a:t>
                </a:r>
                <a:r>
                  <a:rPr lang="pt-BR" sz="2400" b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(sigmoide)</a:t>
                </a:r>
                <a:r>
                  <a:rPr lang="pt-BR" sz="2400" dirty="0">
                    <a:latin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𝑗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  <a:cs typeface="Calibri"/>
                      </a:rPr>
                      <m:t>tanh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pt-BR" sz="2400" dirty="0" smtClean="0">
                            <a:latin typeface="Cambria Math"/>
                            <a:cs typeface="Cambria Math"/>
                          </a:rPr>
                          <m:t>𝜅</m:t>
                        </m:r>
                        <m:r>
                          <m:rPr>
                            <m:nor/>
                          </m:rPr>
                          <a:rPr lang="pt-BR" sz="2400" dirty="0" smtClean="0">
                            <a:latin typeface="Cambria Math"/>
                            <a:cs typeface="Cambria Math"/>
                          </a:rPr>
                          <m:t>𝒙</m:t>
                        </m:r>
                        <m:r>
                          <m:rPr>
                            <m:nor/>
                          </m:rPr>
                          <a:rPr lang="pt-BR" sz="2625" baseline="-15873" dirty="0" smtClean="0">
                            <a:latin typeface="Cambria Math"/>
                            <a:cs typeface="Cambria Math"/>
                          </a:rPr>
                          <m:t>𝑗</m:t>
                        </m:r>
                        <m:r>
                          <m:rPr>
                            <m:nor/>
                          </m:rPr>
                          <a:rPr lang="pt-BR" sz="2625" spc="487" baseline="-15873" dirty="0" smtClean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 spc="80" dirty="0" smtClean="0">
                            <a:latin typeface="Cambria Math"/>
                            <a:cs typeface="Cambria Math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pt-BR" sz="2400" spc="15" dirty="0" smtClean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 dirty="0" smtClean="0">
                            <a:latin typeface="Cambria Math"/>
                            <a:cs typeface="Cambria Math"/>
                          </a:rPr>
                          <m:t>𝒙</m:t>
                        </m:r>
                        <m:r>
                          <m:rPr>
                            <m:nor/>
                          </m:rPr>
                          <a:rPr lang="pt-BR" sz="2625" baseline="-15873" dirty="0" smtClean="0">
                            <a:latin typeface="Cambria Math"/>
                            <a:cs typeface="Cambria Math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pt-BR" sz="2625" spc="480" baseline="-15873" dirty="0" smtClean="0">
                            <a:latin typeface="Cambria Math"/>
                            <a:cs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BR" sz="2400" dirty="0" smtClean="0">
                            <a:latin typeface="Cambria Math"/>
                            <a:cs typeface="Cambria Math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pt-BR" sz="2400" spc="-50" dirty="0" smtClean="0">
                            <a:latin typeface="Cambria Math"/>
                            <a:cs typeface="Cambria Math"/>
                          </a:rPr>
                          <m:t>𝑐</m:t>
                        </m:r>
                      </m:e>
                    </m:d>
                  </m:oMath>
                </a14:m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𝜅</a:t>
                </a:r>
                <a:r>
                  <a:rPr lang="pt-BR" sz="2400" spc="19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&gt;</a:t>
                </a:r>
                <a:r>
                  <a:rPr lang="pt-BR" sz="2400" spc="114" dirty="0">
                    <a:latin typeface="Cambria Math"/>
                    <a:cs typeface="Cambria Math"/>
                  </a:rPr>
                  <a:t> </a:t>
                </a:r>
                <a:r>
                  <a:rPr lang="pt-BR" sz="2400" spc="-50" dirty="0">
                    <a:latin typeface="Cambria Math"/>
                    <a:cs typeface="Cambria Math"/>
                  </a:rPr>
                  <a:t>0 e </a:t>
                </a:r>
                <a14:m>
                  <m:oMath xmlns:m="http://schemas.openxmlformats.org/officeDocument/2006/math">
                    <m:r>
                      <a:rPr lang="pt-BR" sz="2400" b="0" i="1" spc="-50" smtClean="0">
                        <a:latin typeface="Cambria Math" panose="02040503050406030204" pitchFamily="18" charset="0"/>
                        <a:cs typeface="Cambria Math"/>
                      </a:rPr>
                      <m:t>𝑐</m:t>
                    </m:r>
                    <m:r>
                      <a:rPr lang="pt-BR" sz="2400" b="0" i="1" spc="-50" smtClean="0">
                        <a:latin typeface="Cambria Math" panose="02040503050406030204" pitchFamily="18" charset="0"/>
                        <a:cs typeface="Cambria Math"/>
                      </a:rPr>
                      <m:t>&lt;</m:t>
                    </m:r>
                    <m:r>
                      <a:rPr lang="pt-BR" sz="2400" b="0" i="1" spc="-50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	</a:t>
                </a:r>
                <a:endParaRPr lang="pt-BR" sz="2800" baseline="-15873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7B4B689A-3769-2173-9F1B-6BEDB146D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390" y="4572000"/>
                <a:ext cx="10081006" cy="810478"/>
              </a:xfrm>
              <a:prstGeom prst="rect">
                <a:avLst/>
              </a:prstGeom>
              <a:blipFill>
                <a:blip r:embed="rId5"/>
                <a:stretch>
                  <a:fillRect l="-484" t="-9774" r="-846" b="-150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aixaDeTexto 25">
            <a:extLst>
              <a:ext uri="{FF2B5EF4-FFF2-40B4-BE49-F238E27FC236}">
                <a16:creationId xmlns:a16="http://schemas.microsoft.com/office/drawing/2014/main" id="{00320588-4B4E-0B19-6D69-B297F202F490}"/>
              </a:ext>
            </a:extLst>
          </p:cNvPr>
          <p:cNvSpPr txBox="1"/>
          <p:nvPr/>
        </p:nvSpPr>
        <p:spPr>
          <a:xfrm>
            <a:off x="1320264" y="5413948"/>
            <a:ext cx="10081006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28600">
              <a:lnSpc>
                <a:spcPts val="2795"/>
              </a:lnSpc>
              <a:spcBef>
                <a:spcPts val="685"/>
              </a:spcBef>
              <a:buFont typeface="Wingdings"/>
              <a:buChar char=""/>
              <a:tabLst>
                <a:tab pos="266700" algn="l"/>
                <a:tab pos="4817745" algn="l"/>
              </a:tabLst>
            </a:pPr>
            <a:r>
              <a:rPr lang="pt-BR" sz="2400" spc="-25" dirty="0">
                <a:latin typeface="Calibri"/>
                <a:cs typeface="Calibri"/>
              </a:rPr>
              <a:t>E várias outras...</a:t>
            </a:r>
            <a:r>
              <a:rPr lang="pt-BR" sz="2400" dirty="0">
                <a:latin typeface="Cambria Math"/>
                <a:cs typeface="Cambria Math"/>
              </a:rPr>
              <a:t>	</a:t>
            </a:r>
            <a:endParaRPr lang="pt-BR" sz="2800" baseline="-15873" dirty="0">
              <a:latin typeface="Cambria Math"/>
              <a:cs typeface="Cambria Math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EA3E04-98A7-03A6-CA5C-1C60B625227E}"/>
              </a:ext>
            </a:extLst>
          </p:cNvPr>
          <p:cNvSpPr txBox="1"/>
          <p:nvPr/>
        </p:nvSpPr>
        <p:spPr>
          <a:xfrm>
            <a:off x="861255" y="2133600"/>
            <a:ext cx="5539545" cy="57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lvl="1" indent="-229235">
              <a:lnSpc>
                <a:spcPct val="100000"/>
              </a:lnSpc>
              <a:spcBef>
                <a:spcPts val="520"/>
              </a:spcBef>
              <a:buFont typeface="Wingdings"/>
              <a:buChar char=""/>
              <a:tabLst>
                <a:tab pos="724535" algn="l"/>
                <a:tab pos="2011680" algn="l"/>
                <a:tab pos="2950845" algn="l"/>
              </a:tabLst>
            </a:pPr>
            <a:r>
              <a:rPr lang="pt-BR" sz="2400" b="1" dirty="0">
                <a:latin typeface="Calibri"/>
                <a:cs typeface="Calibri"/>
              </a:rPr>
              <a:t>Linear: </a:t>
            </a:r>
            <a:r>
              <a:rPr lang="pt-BR" sz="2400" spc="-50" dirty="0">
                <a:latin typeface="Cambria Math"/>
                <a:cs typeface="Cambria Math"/>
              </a:rPr>
              <a:t>𝐾(</a:t>
            </a:r>
            <a:r>
              <a:rPr lang="pt-BR" sz="2400" dirty="0">
                <a:latin typeface="Cambria Math"/>
                <a:cs typeface="Cambria Math"/>
              </a:rPr>
              <a:t>𝒙</a:t>
            </a:r>
            <a:r>
              <a:rPr lang="pt-BR" sz="2800" baseline="-15873" dirty="0">
                <a:latin typeface="Cambria Math"/>
                <a:cs typeface="Cambria Math"/>
              </a:rPr>
              <a:t>𝑗</a:t>
            </a:r>
            <a:r>
              <a:rPr lang="pt-BR" sz="2400" dirty="0">
                <a:latin typeface="Cambria Math"/>
                <a:cs typeface="Cambria Math"/>
              </a:rPr>
              <a:t>, </a:t>
            </a:r>
            <a:r>
              <a:rPr lang="pt-BR" sz="2400" spc="-25" dirty="0">
                <a:latin typeface="Cambria Math"/>
                <a:cs typeface="Cambria Math"/>
              </a:rPr>
              <a:t>𝒙</a:t>
            </a:r>
            <a:r>
              <a:rPr lang="pt-BR" sz="2800" spc="-37" baseline="-15873" dirty="0">
                <a:latin typeface="Cambria Math"/>
                <a:cs typeface="Cambria Math"/>
              </a:rPr>
              <a:t>𝑘</a:t>
            </a:r>
            <a:r>
              <a:rPr lang="pt-BR" sz="2800" spc="-37" dirty="0">
                <a:latin typeface="Cambria Math"/>
                <a:cs typeface="Cambria Math"/>
              </a:rPr>
              <a:t>)</a:t>
            </a:r>
            <a:r>
              <a:rPr lang="pt-BR" sz="2800" spc="-37" baseline="-15873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=</a:t>
            </a:r>
            <a:r>
              <a:rPr lang="pt-BR" sz="2400" spc="114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𝒙</a:t>
            </a:r>
            <a:r>
              <a:rPr lang="pt-BR" sz="2800" baseline="-15873" dirty="0">
                <a:latin typeface="Cambria Math"/>
                <a:cs typeface="Cambria Math"/>
              </a:rPr>
              <a:t>𝑗</a:t>
            </a:r>
            <a:r>
              <a:rPr lang="pt-BR" sz="2800" spc="465" baseline="-15873" dirty="0">
                <a:latin typeface="Cambria Math"/>
                <a:cs typeface="Cambria Math"/>
              </a:rPr>
              <a:t> </a:t>
            </a:r>
            <a:r>
              <a:rPr lang="pt-BR" sz="2400" spc="80" dirty="0">
                <a:latin typeface="Cambria Math"/>
                <a:cs typeface="Cambria Math"/>
              </a:rPr>
              <a:t>∙</a:t>
            </a:r>
            <a:r>
              <a:rPr lang="pt-BR" sz="2400" spc="-15" dirty="0">
                <a:latin typeface="Cambria Math"/>
                <a:cs typeface="Cambria Math"/>
              </a:rPr>
              <a:t> </a:t>
            </a:r>
            <a:r>
              <a:rPr lang="pt-BR" sz="2400" spc="55" dirty="0">
                <a:latin typeface="Cambria Math"/>
                <a:cs typeface="Cambria Math"/>
              </a:rPr>
              <a:t>𝒙</a:t>
            </a:r>
            <a:r>
              <a:rPr lang="pt-BR" sz="2800" spc="82" baseline="-15873" dirty="0">
                <a:latin typeface="Cambria Math"/>
                <a:cs typeface="Cambria Math"/>
              </a:rPr>
              <a:t>𝑘</a:t>
            </a:r>
            <a:r>
              <a:rPr lang="pt-BR" sz="1800" spc="55" dirty="0">
                <a:latin typeface="Calibri"/>
                <a:cs typeface="Calibri"/>
              </a:rPr>
              <a:t>.</a:t>
            </a:r>
            <a:endParaRPr lang="pt-BR"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Vantagens</a:t>
            </a:r>
            <a:r>
              <a:rPr spc="-155" dirty="0"/>
              <a:t> </a:t>
            </a:r>
            <a:r>
              <a:rPr dirty="0"/>
              <a:t>das</a:t>
            </a:r>
            <a:r>
              <a:rPr spc="-135" dirty="0"/>
              <a:t> </a:t>
            </a:r>
            <a:r>
              <a:rPr spc="-20" dirty="0"/>
              <a:t>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6400"/>
            <a:ext cx="11003280" cy="47523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721360" indent="-229235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propriedades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mencionadas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anteriormente,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SVM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também apresentam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proproedades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vantagens: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spcBef>
                <a:spcPts val="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Elas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têm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capacidade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lidar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atributos.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SVMs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sobre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dados.</a:t>
            </a:r>
            <a:endParaRPr sz="2400" dirty="0">
              <a:latin typeface="Calibri"/>
              <a:cs typeface="Calibri"/>
            </a:endParaRPr>
          </a:p>
          <a:p>
            <a:pPr marL="698500" marR="519430" lvl="1" indent="-228600">
              <a:lnSpc>
                <a:spcPts val="23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kernel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verdadeira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força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trás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SVMs.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de </a:t>
            </a:r>
            <a:r>
              <a:rPr sz="2400" b="1" i="1" dirty="0">
                <a:latin typeface="Calibri"/>
                <a:cs typeface="Calibri"/>
              </a:rPr>
              <a:t>kernel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apropriada,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resolver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qualquer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complexo.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9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Elas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escalonam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relativamente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dimensões.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300"/>
              </a:lnSpc>
              <a:spcBef>
                <a:spcPts val="52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geral,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SVMs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generalizam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risco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sobreajustarem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menor,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sobreajustar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amostras.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SVMs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relativamente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memória.</a:t>
            </a:r>
            <a:endParaRPr sz="2400" dirty="0">
              <a:latin typeface="Calibri"/>
              <a:cs typeface="Calibri"/>
            </a:endParaRPr>
          </a:p>
          <a:p>
            <a:pPr marL="698500" marR="171450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SVMs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otimização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convexa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locais)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eficientes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otimização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ótima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mínimog </a:t>
            </a:r>
            <a:r>
              <a:rPr sz="2400" dirty="0">
                <a:latin typeface="Calibri"/>
                <a:cs typeface="Calibri"/>
              </a:rPr>
              <a:t>lobal)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garantida.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25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Limitações</a:t>
            </a:r>
            <a:r>
              <a:rPr spc="-165" dirty="0"/>
              <a:t> </a:t>
            </a:r>
            <a:r>
              <a:rPr dirty="0"/>
              <a:t>das</a:t>
            </a:r>
            <a:r>
              <a:rPr spc="-150" dirty="0"/>
              <a:t> </a:t>
            </a:r>
            <a:r>
              <a:rPr spc="-20" dirty="0"/>
              <a:t>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7274"/>
            <a:ext cx="10868660" cy="418337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limitações/desvantagens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SVMs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são: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sensíveis: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Font typeface="Wingdings"/>
              <a:buChar char="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às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escalas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atributos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sz="2000" b="1" spc="-40" dirty="0">
                <a:solidFill>
                  <a:srgbClr val="000000"/>
                </a:solid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svm_sensitivity_to_feature_scales.ipynb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65"/>
              </a:spcBef>
              <a:buFont typeface="Wingdings"/>
              <a:buChar char=""/>
              <a:tabLst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à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outliers,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atípicos,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discrepantes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sz="2000" b="1" spc="-55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svm_sensitivity_to_outliers.ipynb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Escolher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kernel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“boa”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sempre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fácil.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Longo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grandes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Difícil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entender, </a:t>
            </a:r>
            <a:r>
              <a:rPr sz="2400" dirty="0">
                <a:latin typeface="Calibri"/>
                <a:cs typeface="Calibri"/>
              </a:rPr>
              <a:t>visualizar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final.</a:t>
            </a:r>
            <a:endParaRPr sz="2400" dirty="0">
              <a:latin typeface="Calibri"/>
              <a:cs typeface="Calibri"/>
            </a:endParaRPr>
          </a:p>
          <a:p>
            <a:pPr marL="698500" marR="319405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Já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visualizado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interpretado,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fica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difícil </a:t>
            </a:r>
            <a:r>
              <a:rPr sz="2400" dirty="0">
                <a:latin typeface="Calibri"/>
                <a:cs typeface="Calibri"/>
              </a:rPr>
              <a:t>fazer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pequenos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ajustes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parâmetros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SVMs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fornecem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estimativas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desejável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maioria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classificação.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725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SVMs</a:t>
            </a:r>
            <a:r>
              <a:rPr spc="-75" dirty="0"/>
              <a:t> </a:t>
            </a:r>
            <a:r>
              <a:rPr dirty="0"/>
              <a:t>para</a:t>
            </a:r>
            <a:r>
              <a:rPr spc="-55" dirty="0"/>
              <a:t> </a:t>
            </a:r>
            <a:r>
              <a:rPr dirty="0"/>
              <a:t>problemas</a:t>
            </a:r>
            <a:r>
              <a:rPr spc="-7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dirty="0"/>
              <a:t>múltiplas</a:t>
            </a:r>
            <a:r>
              <a:rPr spc="-50" dirty="0"/>
              <a:t> </a:t>
            </a:r>
            <a:r>
              <a:rPr spc="-10"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79685"/>
            <a:ext cx="10871200" cy="5242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Embora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SVMs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linearmente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duas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</a:t>
            </a:r>
            <a:endParaRPr sz="2600" dirty="0">
              <a:latin typeface="Calibri"/>
              <a:cs typeface="Calibri"/>
            </a:endParaRPr>
          </a:p>
          <a:p>
            <a:pPr marL="241300" marR="325755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possível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estratégia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decomposição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multiclasses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subproblemas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binários.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2655"/>
              </a:lnSpc>
              <a:spcBef>
                <a:spcPts val="6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utilizadas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resolver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</a:t>
            </a:r>
            <a:endParaRPr sz="2600" dirty="0">
              <a:latin typeface="Calibri"/>
              <a:cs typeface="Calibri"/>
            </a:endParaRPr>
          </a:p>
          <a:p>
            <a:pPr marL="241300" marR="504825">
              <a:lnSpc>
                <a:spcPct val="70000"/>
              </a:lnSpc>
              <a:spcBef>
                <a:spcPts val="470"/>
              </a:spcBef>
            </a:pPr>
            <a:r>
              <a:rPr sz="2600" dirty="0">
                <a:latin typeface="Calibri"/>
                <a:cs typeface="Calibri"/>
              </a:rPr>
              <a:t>múltiplas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Um-Contra-</a:t>
            </a:r>
            <a:r>
              <a:rPr sz="2600" b="1" i="1" spc="-20" dirty="0">
                <a:latin typeface="Calibri"/>
                <a:cs typeface="Calibri"/>
              </a:rPr>
              <a:t>Todos</a:t>
            </a:r>
            <a:r>
              <a:rPr sz="2600" b="1" i="1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Um-Contra- </a:t>
            </a:r>
            <a:r>
              <a:rPr sz="2600" b="1" i="1" spc="-25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Seja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Um-Contra-</a:t>
            </a:r>
            <a:r>
              <a:rPr sz="2600" b="1" i="1" spc="-20" dirty="0">
                <a:latin typeface="Calibri"/>
                <a:cs typeface="Calibri"/>
              </a:rPr>
              <a:t>Todos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consiste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separar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𝐴</a:t>
            </a:r>
            <a:r>
              <a:rPr sz="2600" spc="4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 agrupar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9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−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restantes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 uma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𝐵</a:t>
            </a:r>
            <a:r>
              <a:rPr sz="2600" dirty="0">
                <a:latin typeface="Calibri"/>
                <a:cs typeface="Calibri"/>
              </a:rPr>
              <a:t>, a partir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separação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encontraremos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hiperplano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𝐴</a:t>
            </a:r>
            <a:r>
              <a:rPr sz="2600" spc="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𝐵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realizado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55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vezes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</a:t>
            </a:r>
            <a:endParaRPr sz="2600" dirty="0">
              <a:latin typeface="Calibri"/>
              <a:cs typeface="Calibri"/>
            </a:endParaRPr>
          </a:p>
          <a:p>
            <a:pPr marL="241300" marR="417830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pertencente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logo,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encontraremos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5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hiperplanos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que </a:t>
            </a:r>
            <a:r>
              <a:rPr sz="2600" dirty="0">
                <a:latin typeface="Calibri"/>
                <a:cs typeface="Calibri"/>
              </a:rPr>
              <a:t>separam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2650"/>
              </a:lnSpc>
              <a:spcBef>
                <a:spcPts val="7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Seja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7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técnica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Um-Contra-</a:t>
            </a:r>
            <a:r>
              <a:rPr sz="2600" b="1" i="1" dirty="0">
                <a:latin typeface="Calibri"/>
                <a:cs typeface="Calibri"/>
              </a:rPr>
              <a:t>Um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consiste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duas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𝐴</a:t>
            </a:r>
            <a:r>
              <a:rPr sz="2600" spc="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𝐵</a:t>
            </a:r>
            <a:r>
              <a:rPr sz="2600" spc="7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hiperplano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separe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classes.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realizado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</a:t>
            </a:r>
            <a:endParaRPr sz="2600" dirty="0">
              <a:latin typeface="Calibri"/>
              <a:cs typeface="Calibri"/>
            </a:endParaRPr>
          </a:p>
          <a:p>
            <a:pPr marL="241300" marR="76200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pertencente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logo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encontraremos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65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hiperplanos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165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110" dirty="0"/>
              <a:t> </a:t>
            </a:r>
            <a:r>
              <a:rPr dirty="0"/>
              <a:t>linear</a:t>
            </a:r>
            <a:r>
              <a:rPr spc="-75" dirty="0"/>
              <a:t> </a:t>
            </a:r>
            <a:r>
              <a:rPr dirty="0"/>
              <a:t>com</a:t>
            </a:r>
            <a:r>
              <a:rPr spc="-70" dirty="0"/>
              <a:t> </a:t>
            </a:r>
            <a:r>
              <a:rPr spc="-20" dirty="0"/>
              <a:t>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77965"/>
            <a:ext cx="7897495" cy="49961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257175" indent="-229235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SVMs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versátis: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oferecem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suporte</a:t>
            </a:r>
            <a:r>
              <a:rPr sz="2400" spc="-50" dirty="0">
                <a:latin typeface="Calibri"/>
                <a:cs typeface="Calibri"/>
              </a:rPr>
              <a:t> à </a:t>
            </a:r>
            <a:r>
              <a:rPr sz="2400" dirty="0">
                <a:latin typeface="Calibri"/>
                <a:cs typeface="Calibri"/>
              </a:rPr>
              <a:t>classificação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linear,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regressão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10" dirty="0">
                <a:latin typeface="Calibri"/>
                <a:cs typeface="Calibri"/>
              </a:rPr>
              <a:t> linear.</a:t>
            </a:r>
            <a:endParaRPr sz="2400" dirty="0">
              <a:latin typeface="Calibri"/>
              <a:cs typeface="Calibri"/>
            </a:endParaRPr>
          </a:p>
          <a:p>
            <a:pPr marL="241300" marR="88265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inverter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objetivo: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tentar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encontrar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maior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possível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enquanto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violações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margem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margens),</a:t>
            </a:r>
            <a:r>
              <a:rPr sz="2400" spc="-50" dirty="0">
                <a:latin typeface="Calibri"/>
                <a:cs typeface="Calibri"/>
              </a:rPr>
              <a:t> a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SVMs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encaixar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tantos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quanto </a:t>
            </a:r>
            <a:r>
              <a:rPr sz="2400" dirty="0">
                <a:latin typeface="Calibri"/>
                <a:cs typeface="Calibri"/>
              </a:rPr>
              <a:t>possíveis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enquanto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limita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violações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margem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(ou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largura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controlada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hiperparâmetro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𝜖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SVM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linear </a:t>
            </a:r>
            <a:r>
              <a:rPr sz="2400" dirty="0">
                <a:latin typeface="Calibri"/>
                <a:cs typeface="Calibri"/>
              </a:rPr>
              <a:t>treinados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aleatórios,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 </a:t>
            </a:r>
            <a:r>
              <a:rPr sz="2400" dirty="0">
                <a:latin typeface="Calibri"/>
                <a:cs typeface="Calibri"/>
              </a:rPr>
              <a:t>grande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margem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𝜖</a:t>
            </a:r>
            <a:r>
              <a:rPr sz="2400" spc="1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1.5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pequena </a:t>
            </a:r>
            <a:r>
              <a:rPr sz="2400" dirty="0">
                <a:latin typeface="Calibri"/>
                <a:cs typeface="Calibri"/>
              </a:rPr>
              <a:t>margem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𝜖</a:t>
            </a:r>
            <a:r>
              <a:rPr sz="2400" spc="1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0.5</a:t>
            </a:r>
            <a:r>
              <a:rPr sz="2400" spc="-20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241300" marR="160020" indent="-229235" algn="just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400" dirty="0">
                <a:latin typeface="Calibri"/>
                <a:cs typeface="Calibri"/>
              </a:rPr>
              <a:t>Adicionar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dentro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margem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afeta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predições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dito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insensível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variações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𝜖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5607" y="934211"/>
            <a:ext cx="3026664" cy="57424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55785" y="546608"/>
            <a:ext cx="3131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sz="1800" b="1" spc="-80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svm_regression1.ipynb</a:t>
            </a:r>
            <a:endParaRPr sz="18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138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Regressão</a:t>
            </a:r>
            <a:r>
              <a:rPr spc="-80" dirty="0"/>
              <a:t> </a:t>
            </a:r>
            <a:r>
              <a:rPr dirty="0"/>
              <a:t>não</a:t>
            </a:r>
            <a:r>
              <a:rPr spc="-60" dirty="0"/>
              <a:t> </a:t>
            </a:r>
            <a:r>
              <a:rPr dirty="0"/>
              <a:t>linear</a:t>
            </a:r>
            <a:r>
              <a:rPr spc="-55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20" dirty="0"/>
              <a:t>SVMs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7963534" cy="3779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087120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lidar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linear, </a:t>
            </a:r>
            <a:r>
              <a:rPr sz="2800" dirty="0">
                <a:latin typeface="Calibri"/>
                <a:cs typeface="Calibri"/>
              </a:rPr>
              <a:t>podemis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SVM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kernelizado.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com </a:t>
            </a:r>
            <a:r>
              <a:rPr sz="2800" dirty="0">
                <a:latin typeface="Calibri"/>
                <a:cs typeface="Calibri"/>
              </a:rPr>
              <a:t>SVM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quadrático aleatório,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kernel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polinomial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2º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grau.</a:t>
            </a:r>
            <a:endParaRPr sz="2800" dirty="0">
              <a:latin typeface="Calibri"/>
              <a:cs typeface="Calibri"/>
            </a:endParaRPr>
          </a:p>
          <a:p>
            <a:pPr marL="241300" marR="290195" indent="-229235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ver,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pouca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regularização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na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superior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muito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regularização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inferior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pequeno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C</a:t>
            </a:r>
            <a:r>
              <a:rPr sz="2800" spc="-25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7978" y="943367"/>
            <a:ext cx="3052596" cy="57485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09709" y="545972"/>
            <a:ext cx="3131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sz="1800" b="1" spc="-80" dirty="0">
                <a:solidFill>
                  <a:srgbClr val="00000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svm_regression2.ipynb</a:t>
            </a:r>
            <a:endParaRPr sz="18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521" y="2616834"/>
            <a:ext cx="34010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59" y="333756"/>
            <a:ext cx="3256788" cy="26791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1480" y="733044"/>
            <a:ext cx="3666744" cy="18806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0" y="3480815"/>
            <a:ext cx="2827020" cy="23652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90415" y="3752088"/>
            <a:ext cx="3438143" cy="25008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3528" y="3625596"/>
            <a:ext cx="4422648" cy="26222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87952" y="333756"/>
            <a:ext cx="3142488" cy="31470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834"/>
            <a:ext cx="24168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99050" y="3472941"/>
            <a:ext cx="2315845" cy="1459230"/>
            <a:chOff x="5099050" y="3472941"/>
            <a:chExt cx="2315845" cy="1459230"/>
          </a:xfrm>
        </p:grpSpPr>
        <p:sp>
          <p:nvSpPr>
            <p:cNvPr id="3" name="object 3"/>
            <p:cNvSpPr/>
            <p:nvPr/>
          </p:nvSpPr>
          <p:spPr>
            <a:xfrm>
              <a:off x="5105400" y="3479291"/>
              <a:ext cx="2303145" cy="1446530"/>
            </a:xfrm>
            <a:custGeom>
              <a:avLst/>
              <a:gdLst/>
              <a:ahLst/>
              <a:cxnLst/>
              <a:rect l="l" t="t" r="r" b="b"/>
              <a:pathLst>
                <a:path w="2303145" h="1446529">
                  <a:moveTo>
                    <a:pt x="1151382" y="0"/>
                  </a:moveTo>
                  <a:lnTo>
                    <a:pt x="1092132" y="940"/>
                  </a:lnTo>
                  <a:lnTo>
                    <a:pt x="1033660" y="3733"/>
                  </a:lnTo>
                  <a:lnTo>
                    <a:pt x="976038" y="8331"/>
                  </a:lnTo>
                  <a:lnTo>
                    <a:pt x="919338" y="14690"/>
                  </a:lnTo>
                  <a:lnTo>
                    <a:pt x="863634" y="22764"/>
                  </a:lnTo>
                  <a:lnTo>
                    <a:pt x="808996" y="32507"/>
                  </a:lnTo>
                  <a:lnTo>
                    <a:pt x="755498" y="43875"/>
                  </a:lnTo>
                  <a:lnTo>
                    <a:pt x="703212" y="56822"/>
                  </a:lnTo>
                  <a:lnTo>
                    <a:pt x="652211" y="71302"/>
                  </a:lnTo>
                  <a:lnTo>
                    <a:pt x="602565" y="87271"/>
                  </a:lnTo>
                  <a:lnTo>
                    <a:pt x="554349" y="104682"/>
                  </a:lnTo>
                  <a:lnTo>
                    <a:pt x="507634" y="123490"/>
                  </a:lnTo>
                  <a:lnTo>
                    <a:pt x="462492" y="143651"/>
                  </a:lnTo>
                  <a:lnTo>
                    <a:pt x="418996" y="165117"/>
                  </a:lnTo>
                  <a:lnTo>
                    <a:pt x="377219" y="187845"/>
                  </a:lnTo>
                  <a:lnTo>
                    <a:pt x="337232" y="211788"/>
                  </a:lnTo>
                  <a:lnTo>
                    <a:pt x="299108" y="236901"/>
                  </a:lnTo>
                  <a:lnTo>
                    <a:pt x="262920" y="263139"/>
                  </a:lnTo>
                  <a:lnTo>
                    <a:pt x="228739" y="290457"/>
                  </a:lnTo>
                  <a:lnTo>
                    <a:pt x="196638" y="318808"/>
                  </a:lnTo>
                  <a:lnTo>
                    <a:pt x="166689" y="348148"/>
                  </a:lnTo>
                  <a:lnTo>
                    <a:pt x="138965" y="378431"/>
                  </a:lnTo>
                  <a:lnTo>
                    <a:pt x="113539" y="409611"/>
                  </a:lnTo>
                  <a:lnTo>
                    <a:pt x="90481" y="441644"/>
                  </a:lnTo>
                  <a:lnTo>
                    <a:pt x="69865" y="474484"/>
                  </a:lnTo>
                  <a:lnTo>
                    <a:pt x="51764" y="508085"/>
                  </a:lnTo>
                  <a:lnTo>
                    <a:pt x="23392" y="577389"/>
                  </a:lnTo>
                  <a:lnTo>
                    <a:pt x="5944" y="649195"/>
                  </a:lnTo>
                  <a:lnTo>
                    <a:pt x="0" y="723138"/>
                  </a:lnTo>
                  <a:lnTo>
                    <a:pt x="1498" y="760353"/>
                  </a:lnTo>
                  <a:lnTo>
                    <a:pt x="13266" y="833273"/>
                  </a:lnTo>
                  <a:lnTo>
                    <a:pt x="36248" y="903873"/>
                  </a:lnTo>
                  <a:lnTo>
                    <a:pt x="69865" y="971791"/>
                  </a:lnTo>
                  <a:lnTo>
                    <a:pt x="90481" y="1004631"/>
                  </a:lnTo>
                  <a:lnTo>
                    <a:pt x="113539" y="1036664"/>
                  </a:lnTo>
                  <a:lnTo>
                    <a:pt x="138965" y="1067844"/>
                  </a:lnTo>
                  <a:lnTo>
                    <a:pt x="166689" y="1098127"/>
                  </a:lnTo>
                  <a:lnTo>
                    <a:pt x="196638" y="1127467"/>
                  </a:lnTo>
                  <a:lnTo>
                    <a:pt x="228739" y="1155818"/>
                  </a:lnTo>
                  <a:lnTo>
                    <a:pt x="262920" y="1183136"/>
                  </a:lnTo>
                  <a:lnTo>
                    <a:pt x="299108" y="1209374"/>
                  </a:lnTo>
                  <a:lnTo>
                    <a:pt x="337232" y="1234487"/>
                  </a:lnTo>
                  <a:lnTo>
                    <a:pt x="377219" y="1258430"/>
                  </a:lnTo>
                  <a:lnTo>
                    <a:pt x="418996" y="1281158"/>
                  </a:lnTo>
                  <a:lnTo>
                    <a:pt x="462492" y="1302624"/>
                  </a:lnTo>
                  <a:lnTo>
                    <a:pt x="507634" y="1322785"/>
                  </a:lnTo>
                  <a:lnTo>
                    <a:pt x="554349" y="1341593"/>
                  </a:lnTo>
                  <a:lnTo>
                    <a:pt x="602565" y="1359004"/>
                  </a:lnTo>
                  <a:lnTo>
                    <a:pt x="652211" y="1374973"/>
                  </a:lnTo>
                  <a:lnTo>
                    <a:pt x="703212" y="1389453"/>
                  </a:lnTo>
                  <a:lnTo>
                    <a:pt x="755498" y="1402400"/>
                  </a:lnTo>
                  <a:lnTo>
                    <a:pt x="808996" y="1413768"/>
                  </a:lnTo>
                  <a:lnTo>
                    <a:pt x="863634" y="1423511"/>
                  </a:lnTo>
                  <a:lnTo>
                    <a:pt x="919338" y="1431585"/>
                  </a:lnTo>
                  <a:lnTo>
                    <a:pt x="976038" y="1437944"/>
                  </a:lnTo>
                  <a:lnTo>
                    <a:pt x="1033660" y="1442542"/>
                  </a:lnTo>
                  <a:lnTo>
                    <a:pt x="1092132" y="1445335"/>
                  </a:lnTo>
                  <a:lnTo>
                    <a:pt x="1151382" y="1446276"/>
                  </a:lnTo>
                  <a:lnTo>
                    <a:pt x="1210631" y="1445335"/>
                  </a:lnTo>
                  <a:lnTo>
                    <a:pt x="1269103" y="1442542"/>
                  </a:lnTo>
                  <a:lnTo>
                    <a:pt x="1326725" y="1437944"/>
                  </a:lnTo>
                  <a:lnTo>
                    <a:pt x="1383425" y="1431585"/>
                  </a:lnTo>
                  <a:lnTo>
                    <a:pt x="1439129" y="1423511"/>
                  </a:lnTo>
                  <a:lnTo>
                    <a:pt x="1493767" y="1413768"/>
                  </a:lnTo>
                  <a:lnTo>
                    <a:pt x="1547265" y="1402400"/>
                  </a:lnTo>
                  <a:lnTo>
                    <a:pt x="1599551" y="1389453"/>
                  </a:lnTo>
                  <a:lnTo>
                    <a:pt x="1650552" y="1374973"/>
                  </a:lnTo>
                  <a:lnTo>
                    <a:pt x="1700198" y="1359004"/>
                  </a:lnTo>
                  <a:lnTo>
                    <a:pt x="1748414" y="1341593"/>
                  </a:lnTo>
                  <a:lnTo>
                    <a:pt x="1795129" y="1322785"/>
                  </a:lnTo>
                  <a:lnTo>
                    <a:pt x="1840271" y="1302624"/>
                  </a:lnTo>
                  <a:lnTo>
                    <a:pt x="1883767" y="1281158"/>
                  </a:lnTo>
                  <a:lnTo>
                    <a:pt x="1925544" y="1258430"/>
                  </a:lnTo>
                  <a:lnTo>
                    <a:pt x="1965531" y="1234487"/>
                  </a:lnTo>
                  <a:lnTo>
                    <a:pt x="2003655" y="1209374"/>
                  </a:lnTo>
                  <a:lnTo>
                    <a:pt x="2039843" y="1183136"/>
                  </a:lnTo>
                  <a:lnTo>
                    <a:pt x="2074024" y="1155818"/>
                  </a:lnTo>
                  <a:lnTo>
                    <a:pt x="2106125" y="1127467"/>
                  </a:lnTo>
                  <a:lnTo>
                    <a:pt x="2136074" y="1098127"/>
                  </a:lnTo>
                  <a:lnTo>
                    <a:pt x="2163798" y="1067844"/>
                  </a:lnTo>
                  <a:lnTo>
                    <a:pt x="2189224" y="1036664"/>
                  </a:lnTo>
                  <a:lnTo>
                    <a:pt x="2212282" y="1004631"/>
                  </a:lnTo>
                  <a:lnTo>
                    <a:pt x="2232898" y="971791"/>
                  </a:lnTo>
                  <a:lnTo>
                    <a:pt x="2250999" y="938190"/>
                  </a:lnTo>
                  <a:lnTo>
                    <a:pt x="2279371" y="868886"/>
                  </a:lnTo>
                  <a:lnTo>
                    <a:pt x="2296819" y="797080"/>
                  </a:lnTo>
                  <a:lnTo>
                    <a:pt x="2302764" y="723138"/>
                  </a:lnTo>
                  <a:lnTo>
                    <a:pt x="2301265" y="685922"/>
                  </a:lnTo>
                  <a:lnTo>
                    <a:pt x="2289497" y="613002"/>
                  </a:lnTo>
                  <a:lnTo>
                    <a:pt x="2266515" y="542402"/>
                  </a:lnTo>
                  <a:lnTo>
                    <a:pt x="2232898" y="474484"/>
                  </a:lnTo>
                  <a:lnTo>
                    <a:pt x="2212282" y="441644"/>
                  </a:lnTo>
                  <a:lnTo>
                    <a:pt x="2189224" y="409611"/>
                  </a:lnTo>
                  <a:lnTo>
                    <a:pt x="2163798" y="378431"/>
                  </a:lnTo>
                  <a:lnTo>
                    <a:pt x="2136074" y="348148"/>
                  </a:lnTo>
                  <a:lnTo>
                    <a:pt x="2106125" y="318808"/>
                  </a:lnTo>
                  <a:lnTo>
                    <a:pt x="2074024" y="290457"/>
                  </a:lnTo>
                  <a:lnTo>
                    <a:pt x="2039843" y="263139"/>
                  </a:lnTo>
                  <a:lnTo>
                    <a:pt x="2003655" y="236901"/>
                  </a:lnTo>
                  <a:lnTo>
                    <a:pt x="1965531" y="211788"/>
                  </a:lnTo>
                  <a:lnTo>
                    <a:pt x="1925544" y="187845"/>
                  </a:lnTo>
                  <a:lnTo>
                    <a:pt x="1883767" y="165117"/>
                  </a:lnTo>
                  <a:lnTo>
                    <a:pt x="1840271" y="143651"/>
                  </a:lnTo>
                  <a:lnTo>
                    <a:pt x="1795129" y="123490"/>
                  </a:lnTo>
                  <a:lnTo>
                    <a:pt x="1748414" y="104682"/>
                  </a:lnTo>
                  <a:lnTo>
                    <a:pt x="1700198" y="87271"/>
                  </a:lnTo>
                  <a:lnTo>
                    <a:pt x="1650552" y="71302"/>
                  </a:lnTo>
                  <a:lnTo>
                    <a:pt x="1599551" y="56822"/>
                  </a:lnTo>
                  <a:lnTo>
                    <a:pt x="1547265" y="43875"/>
                  </a:lnTo>
                  <a:lnTo>
                    <a:pt x="1493767" y="32507"/>
                  </a:lnTo>
                  <a:lnTo>
                    <a:pt x="1439129" y="22764"/>
                  </a:lnTo>
                  <a:lnTo>
                    <a:pt x="1383425" y="14690"/>
                  </a:lnTo>
                  <a:lnTo>
                    <a:pt x="1326725" y="8331"/>
                  </a:lnTo>
                  <a:lnTo>
                    <a:pt x="1269103" y="3733"/>
                  </a:lnTo>
                  <a:lnTo>
                    <a:pt x="1210631" y="940"/>
                  </a:lnTo>
                  <a:lnTo>
                    <a:pt x="1151382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05400" y="3479291"/>
              <a:ext cx="2303145" cy="1446530"/>
            </a:xfrm>
            <a:custGeom>
              <a:avLst/>
              <a:gdLst/>
              <a:ahLst/>
              <a:cxnLst/>
              <a:rect l="l" t="t" r="r" b="b"/>
              <a:pathLst>
                <a:path w="2303145" h="1446529">
                  <a:moveTo>
                    <a:pt x="0" y="723138"/>
                  </a:moveTo>
                  <a:lnTo>
                    <a:pt x="5944" y="649195"/>
                  </a:lnTo>
                  <a:lnTo>
                    <a:pt x="23392" y="577389"/>
                  </a:lnTo>
                  <a:lnTo>
                    <a:pt x="51764" y="508085"/>
                  </a:lnTo>
                  <a:lnTo>
                    <a:pt x="69865" y="474484"/>
                  </a:lnTo>
                  <a:lnTo>
                    <a:pt x="90481" y="441644"/>
                  </a:lnTo>
                  <a:lnTo>
                    <a:pt x="113539" y="409611"/>
                  </a:lnTo>
                  <a:lnTo>
                    <a:pt x="138965" y="378431"/>
                  </a:lnTo>
                  <a:lnTo>
                    <a:pt x="166689" y="348148"/>
                  </a:lnTo>
                  <a:lnTo>
                    <a:pt x="196638" y="318808"/>
                  </a:lnTo>
                  <a:lnTo>
                    <a:pt x="228739" y="290457"/>
                  </a:lnTo>
                  <a:lnTo>
                    <a:pt x="262920" y="263139"/>
                  </a:lnTo>
                  <a:lnTo>
                    <a:pt x="299108" y="236901"/>
                  </a:lnTo>
                  <a:lnTo>
                    <a:pt x="337232" y="211788"/>
                  </a:lnTo>
                  <a:lnTo>
                    <a:pt x="377219" y="187845"/>
                  </a:lnTo>
                  <a:lnTo>
                    <a:pt x="418996" y="165117"/>
                  </a:lnTo>
                  <a:lnTo>
                    <a:pt x="462492" y="143651"/>
                  </a:lnTo>
                  <a:lnTo>
                    <a:pt x="507634" y="123490"/>
                  </a:lnTo>
                  <a:lnTo>
                    <a:pt x="554349" y="104682"/>
                  </a:lnTo>
                  <a:lnTo>
                    <a:pt x="602565" y="87271"/>
                  </a:lnTo>
                  <a:lnTo>
                    <a:pt x="652211" y="71302"/>
                  </a:lnTo>
                  <a:lnTo>
                    <a:pt x="703212" y="56822"/>
                  </a:lnTo>
                  <a:lnTo>
                    <a:pt x="755498" y="43875"/>
                  </a:lnTo>
                  <a:lnTo>
                    <a:pt x="808996" y="32507"/>
                  </a:lnTo>
                  <a:lnTo>
                    <a:pt x="863634" y="22764"/>
                  </a:lnTo>
                  <a:lnTo>
                    <a:pt x="919338" y="14690"/>
                  </a:lnTo>
                  <a:lnTo>
                    <a:pt x="976038" y="8331"/>
                  </a:lnTo>
                  <a:lnTo>
                    <a:pt x="1033660" y="3733"/>
                  </a:lnTo>
                  <a:lnTo>
                    <a:pt x="1092132" y="940"/>
                  </a:lnTo>
                  <a:lnTo>
                    <a:pt x="1151382" y="0"/>
                  </a:lnTo>
                  <a:lnTo>
                    <a:pt x="1210631" y="940"/>
                  </a:lnTo>
                  <a:lnTo>
                    <a:pt x="1269103" y="3733"/>
                  </a:lnTo>
                  <a:lnTo>
                    <a:pt x="1326725" y="8331"/>
                  </a:lnTo>
                  <a:lnTo>
                    <a:pt x="1383425" y="14690"/>
                  </a:lnTo>
                  <a:lnTo>
                    <a:pt x="1439129" y="22764"/>
                  </a:lnTo>
                  <a:lnTo>
                    <a:pt x="1493767" y="32507"/>
                  </a:lnTo>
                  <a:lnTo>
                    <a:pt x="1547265" y="43875"/>
                  </a:lnTo>
                  <a:lnTo>
                    <a:pt x="1599551" y="56822"/>
                  </a:lnTo>
                  <a:lnTo>
                    <a:pt x="1650552" y="71302"/>
                  </a:lnTo>
                  <a:lnTo>
                    <a:pt x="1700198" y="87271"/>
                  </a:lnTo>
                  <a:lnTo>
                    <a:pt x="1748414" y="104682"/>
                  </a:lnTo>
                  <a:lnTo>
                    <a:pt x="1795129" y="123490"/>
                  </a:lnTo>
                  <a:lnTo>
                    <a:pt x="1840271" y="143651"/>
                  </a:lnTo>
                  <a:lnTo>
                    <a:pt x="1883767" y="165117"/>
                  </a:lnTo>
                  <a:lnTo>
                    <a:pt x="1925544" y="187845"/>
                  </a:lnTo>
                  <a:lnTo>
                    <a:pt x="1965531" y="211788"/>
                  </a:lnTo>
                  <a:lnTo>
                    <a:pt x="2003655" y="236901"/>
                  </a:lnTo>
                  <a:lnTo>
                    <a:pt x="2039843" y="263139"/>
                  </a:lnTo>
                  <a:lnTo>
                    <a:pt x="2074024" y="290457"/>
                  </a:lnTo>
                  <a:lnTo>
                    <a:pt x="2106125" y="318808"/>
                  </a:lnTo>
                  <a:lnTo>
                    <a:pt x="2136074" y="348148"/>
                  </a:lnTo>
                  <a:lnTo>
                    <a:pt x="2163798" y="378431"/>
                  </a:lnTo>
                  <a:lnTo>
                    <a:pt x="2189224" y="409611"/>
                  </a:lnTo>
                  <a:lnTo>
                    <a:pt x="2212282" y="441644"/>
                  </a:lnTo>
                  <a:lnTo>
                    <a:pt x="2232898" y="474484"/>
                  </a:lnTo>
                  <a:lnTo>
                    <a:pt x="2250999" y="508085"/>
                  </a:lnTo>
                  <a:lnTo>
                    <a:pt x="2279371" y="577389"/>
                  </a:lnTo>
                  <a:lnTo>
                    <a:pt x="2296819" y="649195"/>
                  </a:lnTo>
                  <a:lnTo>
                    <a:pt x="2302764" y="723138"/>
                  </a:lnTo>
                  <a:lnTo>
                    <a:pt x="2301265" y="760353"/>
                  </a:lnTo>
                  <a:lnTo>
                    <a:pt x="2289497" y="833273"/>
                  </a:lnTo>
                  <a:lnTo>
                    <a:pt x="2266515" y="903873"/>
                  </a:lnTo>
                  <a:lnTo>
                    <a:pt x="2232898" y="971791"/>
                  </a:lnTo>
                  <a:lnTo>
                    <a:pt x="2212282" y="1004631"/>
                  </a:lnTo>
                  <a:lnTo>
                    <a:pt x="2189224" y="1036664"/>
                  </a:lnTo>
                  <a:lnTo>
                    <a:pt x="2163798" y="1067844"/>
                  </a:lnTo>
                  <a:lnTo>
                    <a:pt x="2136074" y="1098127"/>
                  </a:lnTo>
                  <a:lnTo>
                    <a:pt x="2106125" y="1127467"/>
                  </a:lnTo>
                  <a:lnTo>
                    <a:pt x="2074024" y="1155818"/>
                  </a:lnTo>
                  <a:lnTo>
                    <a:pt x="2039843" y="1183136"/>
                  </a:lnTo>
                  <a:lnTo>
                    <a:pt x="2003655" y="1209374"/>
                  </a:lnTo>
                  <a:lnTo>
                    <a:pt x="1965531" y="1234487"/>
                  </a:lnTo>
                  <a:lnTo>
                    <a:pt x="1925544" y="1258430"/>
                  </a:lnTo>
                  <a:lnTo>
                    <a:pt x="1883767" y="1281158"/>
                  </a:lnTo>
                  <a:lnTo>
                    <a:pt x="1840271" y="1302624"/>
                  </a:lnTo>
                  <a:lnTo>
                    <a:pt x="1795129" y="1322785"/>
                  </a:lnTo>
                  <a:lnTo>
                    <a:pt x="1748414" y="1341593"/>
                  </a:lnTo>
                  <a:lnTo>
                    <a:pt x="1700198" y="1359004"/>
                  </a:lnTo>
                  <a:lnTo>
                    <a:pt x="1650552" y="1374973"/>
                  </a:lnTo>
                  <a:lnTo>
                    <a:pt x="1599551" y="1389453"/>
                  </a:lnTo>
                  <a:lnTo>
                    <a:pt x="1547265" y="1402400"/>
                  </a:lnTo>
                  <a:lnTo>
                    <a:pt x="1493767" y="1413768"/>
                  </a:lnTo>
                  <a:lnTo>
                    <a:pt x="1439129" y="1423511"/>
                  </a:lnTo>
                  <a:lnTo>
                    <a:pt x="1383425" y="1431585"/>
                  </a:lnTo>
                  <a:lnTo>
                    <a:pt x="1326725" y="1437944"/>
                  </a:lnTo>
                  <a:lnTo>
                    <a:pt x="1269103" y="1442542"/>
                  </a:lnTo>
                  <a:lnTo>
                    <a:pt x="1210631" y="1445335"/>
                  </a:lnTo>
                  <a:lnTo>
                    <a:pt x="1151382" y="1446276"/>
                  </a:lnTo>
                  <a:lnTo>
                    <a:pt x="1092132" y="1445335"/>
                  </a:lnTo>
                  <a:lnTo>
                    <a:pt x="1033660" y="1442542"/>
                  </a:lnTo>
                  <a:lnTo>
                    <a:pt x="976038" y="1437944"/>
                  </a:lnTo>
                  <a:lnTo>
                    <a:pt x="919338" y="1431585"/>
                  </a:lnTo>
                  <a:lnTo>
                    <a:pt x="863634" y="1423511"/>
                  </a:lnTo>
                  <a:lnTo>
                    <a:pt x="808996" y="1413768"/>
                  </a:lnTo>
                  <a:lnTo>
                    <a:pt x="755498" y="1402400"/>
                  </a:lnTo>
                  <a:lnTo>
                    <a:pt x="703212" y="1389453"/>
                  </a:lnTo>
                  <a:lnTo>
                    <a:pt x="652211" y="1374973"/>
                  </a:lnTo>
                  <a:lnTo>
                    <a:pt x="602565" y="1359004"/>
                  </a:lnTo>
                  <a:lnTo>
                    <a:pt x="554349" y="1341593"/>
                  </a:lnTo>
                  <a:lnTo>
                    <a:pt x="507634" y="1322785"/>
                  </a:lnTo>
                  <a:lnTo>
                    <a:pt x="462492" y="1302624"/>
                  </a:lnTo>
                  <a:lnTo>
                    <a:pt x="418996" y="1281158"/>
                  </a:lnTo>
                  <a:lnTo>
                    <a:pt x="377219" y="1258430"/>
                  </a:lnTo>
                  <a:lnTo>
                    <a:pt x="337232" y="1234487"/>
                  </a:lnTo>
                  <a:lnTo>
                    <a:pt x="299108" y="1209374"/>
                  </a:lnTo>
                  <a:lnTo>
                    <a:pt x="262920" y="1183136"/>
                  </a:lnTo>
                  <a:lnTo>
                    <a:pt x="228739" y="1155818"/>
                  </a:lnTo>
                  <a:lnTo>
                    <a:pt x="196638" y="1127467"/>
                  </a:lnTo>
                  <a:lnTo>
                    <a:pt x="166689" y="1098127"/>
                  </a:lnTo>
                  <a:lnTo>
                    <a:pt x="138965" y="1067844"/>
                  </a:lnTo>
                  <a:lnTo>
                    <a:pt x="113539" y="1036664"/>
                  </a:lnTo>
                  <a:lnTo>
                    <a:pt x="90481" y="1004631"/>
                  </a:lnTo>
                  <a:lnTo>
                    <a:pt x="69865" y="971791"/>
                  </a:lnTo>
                  <a:lnTo>
                    <a:pt x="51764" y="938190"/>
                  </a:lnTo>
                  <a:lnTo>
                    <a:pt x="23392" y="868886"/>
                  </a:lnTo>
                  <a:lnTo>
                    <a:pt x="5944" y="797080"/>
                  </a:lnTo>
                  <a:lnTo>
                    <a:pt x="0" y="72313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610605" y="3900678"/>
            <a:ext cx="1291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 marR="5080" indent="-3752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Aplicações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20" dirty="0">
                <a:latin typeface="Calibri"/>
                <a:cs typeface="Calibri"/>
              </a:rPr>
              <a:t>SVMs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2488" y="2336292"/>
            <a:ext cx="1908175" cy="82931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Times New Roman"/>
              <a:cs typeface="Times New Roman"/>
            </a:endParaRPr>
          </a:p>
          <a:p>
            <a:pPr marL="9715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Detecção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Faces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7479" y="3374135"/>
            <a:ext cx="1908175" cy="82804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latin typeface="Calibri"/>
                <a:cs typeface="Calibri"/>
              </a:rPr>
              <a:t>Detecção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Fake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News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7479" y="4411979"/>
            <a:ext cx="1908175" cy="82804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1800" dirty="0">
                <a:latin typeface="Calibri"/>
                <a:cs typeface="Calibri"/>
              </a:rPr>
              <a:t>Classificação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Imagens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80915" y="5487923"/>
            <a:ext cx="1908175" cy="82931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800" spc="-10" dirty="0">
                <a:latin typeface="Calibri"/>
                <a:cs typeface="Calibri"/>
              </a:rPr>
              <a:t>Categorização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Texto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6623" y="5474208"/>
            <a:ext cx="1908175" cy="82804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87960" marR="165100" indent="-15240">
              <a:lnSpc>
                <a:spcPct val="100000"/>
              </a:lnSpc>
              <a:spcBef>
                <a:spcPts val="980"/>
              </a:spcBef>
            </a:pPr>
            <a:r>
              <a:rPr sz="1800" spc="-10" dirty="0">
                <a:latin typeface="Calibri"/>
                <a:cs typeface="Calibri"/>
              </a:rPr>
              <a:t>Reconhecimento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escrita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 </a:t>
            </a:r>
            <a:r>
              <a:rPr sz="1800" spc="-25" dirty="0">
                <a:latin typeface="Calibri"/>
                <a:cs typeface="Calibri"/>
              </a:rPr>
              <a:t>mão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01996" y="2223516"/>
            <a:ext cx="1908175" cy="82804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12395" marR="105410" indent="114300">
              <a:lnSpc>
                <a:spcPct val="100000"/>
              </a:lnSpc>
              <a:spcBef>
                <a:spcPts val="975"/>
              </a:spcBef>
            </a:pPr>
            <a:r>
              <a:rPr sz="1800" b="0" dirty="0">
                <a:latin typeface="Calibri"/>
                <a:cs typeface="Calibri"/>
              </a:rPr>
              <a:t>Classificação</a:t>
            </a:r>
            <a:r>
              <a:rPr sz="1800" b="0" spc="-70" dirty="0">
                <a:latin typeface="Calibri"/>
                <a:cs typeface="Calibri"/>
              </a:rPr>
              <a:t> </a:t>
            </a:r>
            <a:r>
              <a:rPr sz="1800" b="0" spc="-25" dirty="0">
                <a:latin typeface="Calibri"/>
                <a:cs typeface="Calibri"/>
              </a:rPr>
              <a:t>de </a:t>
            </a:r>
            <a:r>
              <a:rPr sz="1800" b="0" dirty="0">
                <a:latin typeface="Calibri"/>
                <a:cs typeface="Calibri"/>
              </a:rPr>
              <a:t>Expressões</a:t>
            </a:r>
            <a:r>
              <a:rPr sz="1800" b="0" spc="-65" dirty="0">
                <a:latin typeface="Calibri"/>
                <a:cs typeface="Calibri"/>
              </a:rPr>
              <a:t> </a:t>
            </a:r>
            <a:r>
              <a:rPr sz="1800" b="0" spc="-10" dirty="0">
                <a:latin typeface="Calibri"/>
                <a:cs typeface="Calibri"/>
              </a:rPr>
              <a:t>Faciais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51647" y="3387852"/>
            <a:ext cx="1908175" cy="82804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85"/>
              </a:spcBef>
            </a:pPr>
            <a:r>
              <a:rPr sz="1800" spc="-10" dirty="0">
                <a:latin typeface="Calibri"/>
                <a:cs typeface="Calibri"/>
              </a:rPr>
              <a:t>Reconhecimento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Fala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51647" y="4411979"/>
            <a:ext cx="1908175" cy="82804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60"/>
              </a:lnSpc>
            </a:pPr>
            <a:r>
              <a:rPr sz="1800" dirty="0">
                <a:latin typeface="Calibri"/>
                <a:cs typeface="Calibri"/>
              </a:rPr>
              <a:t>Diagnóstico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Prognóstico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Câncer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16368" y="2314955"/>
            <a:ext cx="1908175" cy="829310"/>
          </a:xfrm>
          <a:prstGeom prst="rect">
            <a:avLst/>
          </a:prstGeom>
          <a:solidFill>
            <a:srgbClr val="DAE2F3"/>
          </a:solidFill>
          <a:ln w="12192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1800" dirty="0">
                <a:latin typeface="Calibri"/>
                <a:cs typeface="Calibri"/>
              </a:rPr>
              <a:t>Detecção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SPAM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02480" y="3051047"/>
            <a:ext cx="3253740" cy="2441575"/>
          </a:xfrm>
          <a:custGeom>
            <a:avLst/>
            <a:gdLst/>
            <a:ahLst/>
            <a:cxnLst/>
            <a:rect l="l" t="t" r="r" b="b"/>
            <a:pathLst>
              <a:path w="3253740" h="2441575">
                <a:moveTo>
                  <a:pt x="566928" y="935355"/>
                </a:moveTo>
                <a:lnTo>
                  <a:pt x="552284" y="920242"/>
                </a:lnTo>
                <a:lnTo>
                  <a:pt x="507619" y="874141"/>
                </a:lnTo>
                <a:lnTo>
                  <a:pt x="497128" y="904100"/>
                </a:lnTo>
                <a:lnTo>
                  <a:pt x="5207" y="731647"/>
                </a:lnTo>
                <a:lnTo>
                  <a:pt x="889" y="743585"/>
                </a:lnTo>
                <a:lnTo>
                  <a:pt x="492950" y="916051"/>
                </a:lnTo>
                <a:lnTo>
                  <a:pt x="482473" y="946023"/>
                </a:lnTo>
                <a:lnTo>
                  <a:pt x="566928" y="935355"/>
                </a:lnTo>
                <a:close/>
              </a:path>
              <a:path w="3253740" h="2441575">
                <a:moveTo>
                  <a:pt x="589407" y="1446276"/>
                </a:moveTo>
                <a:lnTo>
                  <a:pt x="504317" y="1450213"/>
                </a:lnTo>
                <a:lnTo>
                  <a:pt x="519836" y="1477975"/>
                </a:lnTo>
                <a:lnTo>
                  <a:pt x="0" y="1768856"/>
                </a:lnTo>
                <a:lnTo>
                  <a:pt x="6096" y="1780032"/>
                </a:lnTo>
                <a:lnTo>
                  <a:pt x="526021" y="1489049"/>
                </a:lnTo>
                <a:lnTo>
                  <a:pt x="541528" y="1516761"/>
                </a:lnTo>
                <a:lnTo>
                  <a:pt x="572058" y="1471803"/>
                </a:lnTo>
                <a:lnTo>
                  <a:pt x="589407" y="1446276"/>
                </a:lnTo>
                <a:close/>
              </a:path>
              <a:path w="3253740" h="2441575">
                <a:moveTo>
                  <a:pt x="840105" y="640207"/>
                </a:moveTo>
                <a:lnTo>
                  <a:pt x="832497" y="592201"/>
                </a:lnTo>
                <a:lnTo>
                  <a:pt x="826770" y="556006"/>
                </a:lnTo>
                <a:lnTo>
                  <a:pt x="800950" y="574522"/>
                </a:lnTo>
                <a:lnTo>
                  <a:pt x="453263" y="89281"/>
                </a:lnTo>
                <a:lnTo>
                  <a:pt x="442849" y="96647"/>
                </a:lnTo>
                <a:lnTo>
                  <a:pt x="790587" y="581952"/>
                </a:lnTo>
                <a:lnTo>
                  <a:pt x="764794" y="600456"/>
                </a:lnTo>
                <a:lnTo>
                  <a:pt x="840105" y="640207"/>
                </a:lnTo>
                <a:close/>
              </a:path>
              <a:path w="3253740" h="2441575">
                <a:moveTo>
                  <a:pt x="1151128" y="1813560"/>
                </a:moveTo>
                <a:lnTo>
                  <a:pt x="1073150" y="1847850"/>
                </a:lnTo>
                <a:lnTo>
                  <a:pt x="1097495" y="1868093"/>
                </a:lnTo>
                <a:lnTo>
                  <a:pt x="627634" y="2433320"/>
                </a:lnTo>
                <a:lnTo>
                  <a:pt x="637286" y="2441448"/>
                </a:lnTo>
                <a:lnTo>
                  <a:pt x="1107274" y="1876209"/>
                </a:lnTo>
                <a:lnTo>
                  <a:pt x="1131697" y="1896491"/>
                </a:lnTo>
                <a:lnTo>
                  <a:pt x="1140650" y="1858264"/>
                </a:lnTo>
                <a:lnTo>
                  <a:pt x="1151128" y="1813560"/>
                </a:lnTo>
                <a:close/>
              </a:path>
              <a:path w="3253740" h="2441575">
                <a:moveTo>
                  <a:pt x="1691894" y="351409"/>
                </a:moveTo>
                <a:lnTo>
                  <a:pt x="1660131" y="351472"/>
                </a:lnTo>
                <a:lnTo>
                  <a:pt x="1659890" y="0"/>
                </a:lnTo>
                <a:lnTo>
                  <a:pt x="1647190" y="0"/>
                </a:lnTo>
                <a:lnTo>
                  <a:pt x="1647431" y="351485"/>
                </a:lnTo>
                <a:lnTo>
                  <a:pt x="1615694" y="351536"/>
                </a:lnTo>
                <a:lnTo>
                  <a:pt x="1653794" y="427736"/>
                </a:lnTo>
                <a:lnTo>
                  <a:pt x="1685480" y="364236"/>
                </a:lnTo>
                <a:lnTo>
                  <a:pt x="1691894" y="351409"/>
                </a:lnTo>
                <a:close/>
              </a:path>
              <a:path w="3253740" h="2441575">
                <a:moveTo>
                  <a:pt x="2871216" y="2417318"/>
                </a:moveTo>
                <a:lnTo>
                  <a:pt x="2215540" y="1858149"/>
                </a:lnTo>
                <a:lnTo>
                  <a:pt x="2222563" y="1849882"/>
                </a:lnTo>
                <a:lnTo>
                  <a:pt x="2236089" y="1834007"/>
                </a:lnTo>
                <a:lnTo>
                  <a:pt x="2153412" y="1813560"/>
                </a:lnTo>
                <a:lnTo>
                  <a:pt x="2186686" y="1892046"/>
                </a:lnTo>
                <a:lnTo>
                  <a:pt x="2207310" y="1867814"/>
                </a:lnTo>
                <a:lnTo>
                  <a:pt x="2862961" y="2426970"/>
                </a:lnTo>
                <a:lnTo>
                  <a:pt x="2871216" y="2417318"/>
                </a:lnTo>
                <a:close/>
              </a:path>
              <a:path w="3253740" h="2441575">
                <a:moveTo>
                  <a:pt x="2918460" y="97028"/>
                </a:moveTo>
                <a:lnTo>
                  <a:pt x="2908554" y="88900"/>
                </a:lnTo>
                <a:lnTo>
                  <a:pt x="2510612" y="577075"/>
                </a:lnTo>
                <a:lnTo>
                  <a:pt x="2486025" y="557022"/>
                </a:lnTo>
                <a:lnTo>
                  <a:pt x="2467356" y="640207"/>
                </a:lnTo>
                <a:lnTo>
                  <a:pt x="2545080" y="605155"/>
                </a:lnTo>
                <a:lnTo>
                  <a:pt x="2532608" y="594995"/>
                </a:lnTo>
                <a:lnTo>
                  <a:pt x="2520492" y="585127"/>
                </a:lnTo>
                <a:lnTo>
                  <a:pt x="2918460" y="97028"/>
                </a:lnTo>
                <a:close/>
              </a:path>
              <a:path w="3253740" h="2441575">
                <a:moveTo>
                  <a:pt x="3252089" y="757428"/>
                </a:moveTo>
                <a:lnTo>
                  <a:pt x="3248533" y="745236"/>
                </a:lnTo>
                <a:lnTo>
                  <a:pt x="2804071" y="871804"/>
                </a:lnTo>
                <a:lnTo>
                  <a:pt x="2795397" y="841248"/>
                </a:lnTo>
                <a:lnTo>
                  <a:pt x="2732532" y="898779"/>
                </a:lnTo>
                <a:lnTo>
                  <a:pt x="2816225" y="914527"/>
                </a:lnTo>
                <a:lnTo>
                  <a:pt x="2808528" y="887476"/>
                </a:lnTo>
                <a:lnTo>
                  <a:pt x="2807551" y="884021"/>
                </a:lnTo>
                <a:lnTo>
                  <a:pt x="3252089" y="757428"/>
                </a:lnTo>
                <a:close/>
              </a:path>
              <a:path w="3253740" h="2441575">
                <a:moveTo>
                  <a:pt x="3253740" y="1769110"/>
                </a:moveTo>
                <a:lnTo>
                  <a:pt x="2800299" y="1481670"/>
                </a:lnTo>
                <a:lnTo>
                  <a:pt x="2804604" y="1474851"/>
                </a:lnTo>
                <a:lnTo>
                  <a:pt x="2817241" y="1454912"/>
                </a:lnTo>
                <a:lnTo>
                  <a:pt x="2732532" y="1446276"/>
                </a:lnTo>
                <a:lnTo>
                  <a:pt x="2776474" y="1519301"/>
                </a:lnTo>
                <a:lnTo>
                  <a:pt x="2793492" y="1492415"/>
                </a:lnTo>
                <a:lnTo>
                  <a:pt x="3246882" y="1779778"/>
                </a:lnTo>
                <a:lnTo>
                  <a:pt x="3253740" y="176911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3359</Words>
  <Application>Microsoft Office PowerPoint</Application>
  <PresentationFormat>Widescreen</PresentationFormat>
  <Paragraphs>201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Apresentação do PowerPoint</vt:lpstr>
      <vt:lpstr>Máquinas de Vetores de Suporte</vt:lpstr>
      <vt:lpstr>Propriedades das SVMs</vt:lpstr>
      <vt:lpstr>Ideia fundamental por trás das SVMs</vt:lpstr>
      <vt:lpstr>Ideia fundamental por trás das SVMs</vt:lpstr>
      <vt:lpstr>Separador de Margem Máxima</vt:lpstr>
      <vt:lpstr>Separador de Margem Máxima</vt:lpstr>
      <vt:lpstr>Separador de Margem Máxima</vt:lpstr>
      <vt:lpstr>Separador de Margem Máxima</vt:lpstr>
      <vt:lpstr>Separador de Margem Máxima</vt:lpstr>
      <vt:lpstr>Classes não separáveis linearmente</vt:lpstr>
      <vt:lpstr>Classes não separáveis linearmente</vt:lpstr>
      <vt:lpstr>Classes não separáveis linearmente</vt:lpstr>
      <vt:lpstr>Função de Kernel</vt:lpstr>
      <vt:lpstr>Função de Kernel</vt:lpstr>
      <vt:lpstr>Truque do Kernel</vt:lpstr>
      <vt:lpstr>Classificador de Margem Suave</vt:lpstr>
      <vt:lpstr>Kernelização</vt:lpstr>
      <vt:lpstr>Outras funções de Kernel</vt:lpstr>
      <vt:lpstr>Vantagens das SVMs</vt:lpstr>
      <vt:lpstr>Limitações das SVMs</vt:lpstr>
      <vt:lpstr>SVMs para problemas com múltiplas classes</vt:lpstr>
      <vt:lpstr>Regressão linear com SVMs</vt:lpstr>
      <vt:lpstr>Regressão não linear com SVMs</vt:lpstr>
      <vt:lpstr>Obrigado!</vt:lpstr>
      <vt:lpstr>Apresentação do PowerPoint</vt:lpstr>
      <vt:lpstr>Figuras</vt:lpstr>
      <vt:lpstr>Classificação de Expressões Faciais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2025-01-25T21:17:55Z</dcterms:created>
  <dcterms:modified xsi:type="dcterms:W3CDTF">2025-01-28T14:16:12Z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2013</vt:lpwstr>
  </property>
</Properties>
</file>