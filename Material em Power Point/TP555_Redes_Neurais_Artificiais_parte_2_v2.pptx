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302" r:id="rId32"/>
    <p:sldId id="303" r:id="rId33"/>
    <p:sldId id="304" r:id="rId34"/>
    <p:sldId id="305" r:id="rId35"/>
    <p:sldId id="306" r:id="rId36"/>
    <p:sldId id="307" r:id="rId37"/>
    <p:sldId id="308" r:id="rId38"/>
    <p:sldId id="309" r:id="rId39"/>
    <p:sldId id="310" r:id="rId40"/>
    <p:sldId id="311" r:id="rId41"/>
    <p:sldId id="312" r:id="rId42"/>
    <p:sldId id="313" r:id="rId43"/>
    <p:sldId id="314" r:id="rId44"/>
    <p:sldId id="315" r:id="rId45"/>
    <p:sldId id="316" r:id="rId46"/>
    <p:sldId id="317" r:id="rId47"/>
    <p:sldId id="318" r:id="rId48"/>
    <p:sldId id="319" r:id="rId49"/>
    <p:sldId id="320" r:id="rId50"/>
    <p:sldId id="321" r:id="rId51"/>
    <p:sldId id="342" r:id="rId52"/>
    <p:sldId id="276" r:id="rId53"/>
    <p:sldId id="343" r:id="rId54"/>
    <p:sldId id="288" r:id="rId55"/>
    <p:sldId id="289" r:id="rId56"/>
    <p:sldId id="290" r:id="rId57"/>
    <p:sldId id="291" r:id="rId58"/>
    <p:sldId id="292" r:id="rId59"/>
    <p:sldId id="293" r:id="rId60"/>
    <p:sldId id="294" r:id="rId61"/>
    <p:sldId id="295" r:id="rId62"/>
    <p:sldId id="296" r:id="rId63"/>
    <p:sldId id="297" r:id="rId64"/>
    <p:sldId id="298" r:id="rId65"/>
    <p:sldId id="299" r:id="rId66"/>
    <p:sldId id="300" r:id="rId67"/>
    <p:sldId id="301" r:id="rId68"/>
    <p:sldId id="322" r:id="rId69"/>
    <p:sldId id="336" r:id="rId70"/>
    <p:sldId id="337" r:id="rId71"/>
    <p:sldId id="338" r:id="rId72"/>
    <p:sldId id="339" r:id="rId73"/>
    <p:sldId id="328" r:id="rId74"/>
    <p:sldId id="341" r:id="rId75"/>
    <p:sldId id="329" r:id="rId76"/>
    <p:sldId id="330" r:id="rId77"/>
    <p:sldId id="331" r:id="rId78"/>
    <p:sldId id="332" r:id="rId79"/>
    <p:sldId id="333" r:id="rId80"/>
    <p:sldId id="334" r:id="rId81"/>
    <p:sldId id="335" r:id="rId8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C125E3-8BA9-4AAB-9A59-3B681FD4ACF0}" type="datetimeFigureOut">
              <a:rPr lang="pt-BR" smtClean="0"/>
              <a:t>12/06/2025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E92C05-09D2-4A69-A749-5152E5C5DAB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19374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E92C05-09D2-4A69-A749-5152E5C5DAB4}" type="slidenum">
              <a:rPr lang="pt-BR" smtClean="0"/>
              <a:t>81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06154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6939" y="391795"/>
            <a:ext cx="7061834" cy="915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129032"/>
            <a:ext cx="10820400" cy="14800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1707159"/>
            <a:ext cx="10910570" cy="45446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felipe.figueiredo@inatel.br" TargetMode="External"/><Relationship Id="rId4" Type="http://schemas.openxmlformats.org/officeDocument/2006/relationships/hyperlink" Target="mailto:luiz.melo@inatel.br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github/luiz10ml/tp555-ml/blob/main/exemplos/neural_networks/mlp/vanishing_gradientsv3.ipynb" TargetMode="Externa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Activation_function#Table_of_activation_functions" TargetMode="Externa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0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3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3" Type="http://schemas.openxmlformats.org/officeDocument/2006/relationships/image" Target="../media/image38.png"/><Relationship Id="rId7" Type="http://schemas.openxmlformats.org/officeDocument/2006/relationships/image" Target="../media/image119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117.png"/><Relationship Id="rId4" Type="http://schemas.openxmlformats.org/officeDocument/2006/relationships/image" Target="../media/image3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6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0.png"/><Relationship Id="rId4" Type="http://schemas.openxmlformats.org/officeDocument/2006/relationships/image" Target="../media/image4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png"/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deeplearning.ai/ai-notes/initialization/index.html#I" TargetMode="Externa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2" Type="http://schemas.openxmlformats.org/officeDocument/2006/relationships/hyperlink" Target="https://www.deeplearning.ai/ai-notes/initialization/index.html#III" TargetMode="Externa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hyperlink" Target="https://scikit-learn.org/stable/related_projects.html#related-projects" TargetMode="Externa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hyperlink" Target="https://colab.research.google.com/github/luiz10ml/tp555-ml/blob/main/exemplos/neural_networks/mlp/classificacao_com_MLPClassifier.ipynb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6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hyperlink" Target="https://colab.research.google.com/github/luiz10ml/tp555-ml/blob/main/exemplos/neural_networks/mlp/aproximando_funcao_descontinua_com_MLPRegressor.ipynb" TargetMode="Externa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luiz10ml/tp555-ml/blob/main/listas/TP555%20-%20Lista%20de%20Exerc%C3%ADcios%20%2312.pdf" TargetMode="Externa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jpg"/><Relationship Id="rId3" Type="http://schemas.openxmlformats.org/officeDocument/2006/relationships/image" Target="../media/image54.jpg"/><Relationship Id="rId7" Type="http://schemas.openxmlformats.org/officeDocument/2006/relationships/image" Target="../media/image61.jpg"/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0.png"/><Relationship Id="rId5" Type="http://schemas.openxmlformats.org/officeDocument/2006/relationships/image" Target="../media/image56.jpg"/><Relationship Id="rId4" Type="http://schemas.openxmlformats.org/officeDocument/2006/relationships/image" Target="../media/image55.jp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0.png"/><Relationship Id="rId3" Type="http://schemas.openxmlformats.org/officeDocument/2006/relationships/hyperlink" Target="https://scikit-learn.org/stable/modules/generated/sklearn.model_selection.GridSearchCV.html" TargetMode="External"/><Relationship Id="rId7" Type="http://schemas.openxmlformats.org/officeDocument/2006/relationships/image" Target="../media/image65.png"/><Relationship Id="rId12" Type="http://schemas.openxmlformats.org/officeDocument/2006/relationships/image" Target="../media/image460.png"/><Relationship Id="rId2" Type="http://schemas.openxmlformats.org/officeDocument/2006/relationships/hyperlink" Target="https://scikit-learn.org/stable/modules/generated/sklearn.neural_network.MLPRegressor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11" Type="http://schemas.openxmlformats.org/officeDocument/2006/relationships/image" Target="../media/image450.png"/><Relationship Id="rId5" Type="http://schemas.openxmlformats.org/officeDocument/2006/relationships/image" Target="../media/image390.png"/><Relationship Id="rId10" Type="http://schemas.openxmlformats.org/officeDocument/2006/relationships/image" Target="../media/image440.png"/><Relationship Id="rId4" Type="http://schemas.openxmlformats.org/officeDocument/2006/relationships/image" Target="../media/image63.png"/><Relationship Id="rId9" Type="http://schemas.openxmlformats.org/officeDocument/2006/relationships/image" Target="../media/image430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0.png"/><Relationship Id="rId3" Type="http://schemas.openxmlformats.org/officeDocument/2006/relationships/hyperlink" Target="https://scikit-learn.org/stable/modules/generated/sklearn.model_selection.GridSearchCV.html" TargetMode="External"/><Relationship Id="rId7" Type="http://schemas.openxmlformats.org/officeDocument/2006/relationships/image" Target="../media/image65.png"/><Relationship Id="rId12" Type="http://schemas.openxmlformats.org/officeDocument/2006/relationships/image" Target="../media/image460.png"/><Relationship Id="rId2" Type="http://schemas.openxmlformats.org/officeDocument/2006/relationships/hyperlink" Target="https://scikit-learn.org/stable/modules/generated/sklearn.neural_network.MLPRegressor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11" Type="http://schemas.openxmlformats.org/officeDocument/2006/relationships/image" Target="../media/image450.png"/><Relationship Id="rId5" Type="http://schemas.openxmlformats.org/officeDocument/2006/relationships/image" Target="../media/image390.png"/><Relationship Id="rId10" Type="http://schemas.openxmlformats.org/officeDocument/2006/relationships/image" Target="../media/image440.png"/><Relationship Id="rId4" Type="http://schemas.openxmlformats.org/officeDocument/2006/relationships/image" Target="../media/image63.png"/><Relationship Id="rId9" Type="http://schemas.openxmlformats.org/officeDocument/2006/relationships/image" Target="../media/image430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0.png"/><Relationship Id="rId2" Type="http://schemas.openxmlformats.org/officeDocument/2006/relationships/image" Target="../media/image6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6.png"/><Relationship Id="rId4" Type="http://schemas.openxmlformats.org/officeDocument/2006/relationships/image" Target="../media/image650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0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image" Target="../media/image69.png"/><Relationship Id="rId7" Type="http://schemas.openxmlformats.org/officeDocument/2006/relationships/image" Target="../media/image73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image" Target="../media/image76.png"/><Relationship Id="rId7" Type="http://schemas.openxmlformats.org/officeDocument/2006/relationships/image" Target="../media/image80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10" Type="http://schemas.openxmlformats.org/officeDocument/2006/relationships/image" Target="../media/image83.png"/><Relationship Id="rId4" Type="http://schemas.openxmlformats.org/officeDocument/2006/relationships/image" Target="../media/image77.png"/><Relationship Id="rId9" Type="http://schemas.openxmlformats.org/officeDocument/2006/relationships/image" Target="../media/image82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7" Type="http://schemas.openxmlformats.org/officeDocument/2006/relationships/image" Target="../media/image90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png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3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7" Type="http://schemas.openxmlformats.org/officeDocument/2006/relationships/image" Target="../media/image101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0.png"/><Relationship Id="rId5" Type="http://schemas.openxmlformats.org/officeDocument/2006/relationships/image" Target="../media/image99.png"/><Relationship Id="rId4" Type="http://schemas.openxmlformats.org/officeDocument/2006/relationships/image" Target="../media/image98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7.png"/><Relationship Id="rId4" Type="http://schemas.openxmlformats.org/officeDocument/2006/relationships/image" Target="../media/image106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0.png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png"/><Relationship Id="rId3" Type="http://schemas.openxmlformats.org/officeDocument/2006/relationships/image" Target="../media/image116.png"/><Relationship Id="rId7" Type="http://schemas.openxmlformats.org/officeDocument/2006/relationships/image" Target="../media/image128.png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7.png"/><Relationship Id="rId11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../media/image133.png"/><Relationship Id="rId4" Type="http://schemas.openxmlformats.org/officeDocument/2006/relationships/image" Target="../media/image118.png"/><Relationship Id="rId9" Type="http://schemas.openxmlformats.org/officeDocument/2006/relationships/image" Target="NUL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6.png"/><Relationship Id="rId3" Type="http://schemas.openxmlformats.org/officeDocument/2006/relationships/image" Target="../media/image141.png"/><Relationship Id="rId7" Type="http://schemas.openxmlformats.org/officeDocument/2006/relationships/image" Target="../media/image145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4.png"/><Relationship Id="rId5" Type="http://schemas.openxmlformats.org/officeDocument/2006/relationships/image" Target="../media/image143.png"/><Relationship Id="rId10" Type="http://schemas.openxmlformats.org/officeDocument/2006/relationships/image" Target="../media/image148.png"/><Relationship Id="rId4" Type="http://schemas.openxmlformats.org/officeDocument/2006/relationships/image" Target="../media/image142.png"/><Relationship Id="rId9" Type="http://schemas.openxmlformats.org/officeDocument/2006/relationships/image" Target="../media/image147.png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9.png"/><Relationship Id="rId1" Type="http://schemas.openxmlformats.org/officeDocument/2006/relationships/slideLayout" Target="../slideLayouts/slideLayout5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3.png"/><Relationship Id="rId3" Type="http://schemas.openxmlformats.org/officeDocument/2006/relationships/image" Target="../media/image151.png"/><Relationship Id="rId7" Type="http://schemas.openxmlformats.org/officeDocument/2006/relationships/image" Target="../media/image17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1.png"/><Relationship Id="rId5" Type="http://schemas.openxmlformats.org/officeDocument/2006/relationships/image" Target="../media/image153.png"/><Relationship Id="rId4" Type="http://schemas.openxmlformats.org/officeDocument/2006/relationships/image" Target="../media/image15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23441" y="1252854"/>
            <a:ext cx="8949055" cy="2181225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690880" marR="687705" algn="ctr">
              <a:lnSpc>
                <a:spcPts val="5290"/>
              </a:lnSpc>
              <a:spcBef>
                <a:spcPts val="760"/>
              </a:spcBef>
            </a:pPr>
            <a:r>
              <a:rPr sz="4900" dirty="0"/>
              <a:t>TP555</a:t>
            </a:r>
            <a:r>
              <a:rPr sz="4900" spc="-125" dirty="0"/>
              <a:t> </a:t>
            </a:r>
            <a:r>
              <a:rPr sz="4900" dirty="0"/>
              <a:t>-</a:t>
            </a:r>
            <a:r>
              <a:rPr sz="4900" spc="-145" dirty="0"/>
              <a:t> </a:t>
            </a:r>
            <a:r>
              <a:rPr sz="4900" spc="-10" dirty="0"/>
              <a:t>Inteligência</a:t>
            </a:r>
            <a:r>
              <a:rPr sz="4900" spc="-80" dirty="0"/>
              <a:t> </a:t>
            </a:r>
            <a:r>
              <a:rPr sz="4900" dirty="0"/>
              <a:t>Artificial</a:t>
            </a:r>
            <a:r>
              <a:rPr sz="4900" spc="-110" dirty="0"/>
              <a:t> </a:t>
            </a:r>
            <a:r>
              <a:rPr sz="4900" spc="-50" dirty="0"/>
              <a:t>e </a:t>
            </a:r>
            <a:r>
              <a:rPr sz="4900" dirty="0"/>
              <a:t>Machine</a:t>
            </a:r>
            <a:r>
              <a:rPr sz="4900" spc="-150" dirty="0"/>
              <a:t> </a:t>
            </a:r>
            <a:r>
              <a:rPr sz="4900" spc="-10" dirty="0"/>
              <a:t>Learning:</a:t>
            </a:r>
            <a:endParaRPr sz="4900"/>
          </a:p>
          <a:p>
            <a:pPr algn="ctr">
              <a:lnSpc>
                <a:spcPts val="5725"/>
              </a:lnSpc>
            </a:pPr>
            <a:r>
              <a:rPr sz="5400" i="1" spc="-25" dirty="0">
                <a:latin typeface="Calibri Light"/>
                <a:cs typeface="Calibri Light"/>
              </a:rPr>
              <a:t>Redes</a:t>
            </a:r>
            <a:r>
              <a:rPr sz="5400" i="1" spc="-285" dirty="0">
                <a:latin typeface="Calibri Light"/>
                <a:cs typeface="Calibri Light"/>
              </a:rPr>
              <a:t> </a:t>
            </a:r>
            <a:r>
              <a:rPr sz="5400" i="1" spc="-10" dirty="0">
                <a:latin typeface="Calibri Light"/>
                <a:cs typeface="Calibri Light"/>
              </a:rPr>
              <a:t>Neurais</a:t>
            </a:r>
            <a:r>
              <a:rPr sz="5400" i="1" spc="-265" dirty="0">
                <a:latin typeface="Calibri Light"/>
                <a:cs typeface="Calibri Light"/>
              </a:rPr>
              <a:t> </a:t>
            </a:r>
            <a:r>
              <a:rPr sz="5400" i="1" spc="-10" dirty="0">
                <a:latin typeface="Calibri Light"/>
                <a:cs typeface="Calibri Light"/>
              </a:rPr>
              <a:t>Artificiais</a:t>
            </a:r>
            <a:r>
              <a:rPr sz="5400" i="1" spc="-265" dirty="0">
                <a:latin typeface="Calibri Light"/>
                <a:cs typeface="Calibri Light"/>
              </a:rPr>
              <a:t> </a:t>
            </a:r>
            <a:r>
              <a:rPr sz="5400" i="1" spc="-40" dirty="0">
                <a:latin typeface="Calibri Light"/>
                <a:cs typeface="Calibri Light"/>
              </a:rPr>
              <a:t>(Parte</a:t>
            </a:r>
            <a:r>
              <a:rPr sz="5400" i="1" spc="-265" dirty="0">
                <a:latin typeface="Calibri Light"/>
                <a:cs typeface="Calibri Light"/>
              </a:rPr>
              <a:t> </a:t>
            </a:r>
            <a:r>
              <a:rPr sz="5400" i="1" spc="-25" dirty="0">
                <a:latin typeface="Calibri Light"/>
                <a:cs typeface="Calibri Light"/>
              </a:rPr>
              <a:t>II)</a:t>
            </a:r>
            <a:endParaRPr sz="5400">
              <a:latin typeface="Calibri Light"/>
              <a:cs typeface="Calibri Ligh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2845" y="5558130"/>
            <a:ext cx="2178468" cy="61853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65191" y="3442715"/>
            <a:ext cx="2261616" cy="2237232"/>
          </a:xfrm>
          <a:prstGeom prst="rect">
            <a:avLst/>
          </a:prstGeom>
        </p:spPr>
      </p:pic>
      <p:sp>
        <p:nvSpPr>
          <p:cNvPr id="6" name="object 3">
            <a:extLst>
              <a:ext uri="{FF2B5EF4-FFF2-40B4-BE49-F238E27FC236}">
                <a16:creationId xmlns:a16="http://schemas.microsoft.com/office/drawing/2014/main" id="{6E7F9EB5-54D2-5E05-2896-3C3659E1C6BF}"/>
              </a:ext>
            </a:extLst>
          </p:cNvPr>
          <p:cNvSpPr txBox="1"/>
          <p:nvPr/>
        </p:nvSpPr>
        <p:spPr>
          <a:xfrm>
            <a:off x="4193222" y="6176369"/>
            <a:ext cx="3805554" cy="6070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pt-BR" sz="2000" b="1" dirty="0">
                <a:latin typeface="Calibri"/>
                <a:cs typeface="Calibri"/>
              </a:rPr>
              <a:t>Prof. Dr. Luiz Augusto Melo Pereira</a:t>
            </a:r>
            <a:endParaRPr sz="2000" b="1" dirty="0">
              <a:latin typeface="Calibri"/>
              <a:cs typeface="Calibri"/>
            </a:endParaRPr>
          </a:p>
          <a:p>
            <a:pPr marL="12700" algn="ctr">
              <a:lnSpc>
                <a:spcPct val="100000"/>
              </a:lnSpc>
              <a:spcBef>
                <a:spcPts val="10"/>
              </a:spcBef>
            </a:pPr>
            <a:r>
              <a:rPr lang="pt-BR" spc="-10" dirty="0">
                <a:latin typeface="Calibri"/>
                <a:cs typeface="Calibri"/>
                <a:hlinkClick r:id="rId4"/>
              </a:rPr>
              <a:t>luiz</a:t>
            </a:r>
            <a:r>
              <a:rPr lang="pt-BR" sz="1800" spc="-10" dirty="0">
                <a:latin typeface="Calibri"/>
                <a:cs typeface="Calibri"/>
                <a:hlinkClick r:id="rId4"/>
              </a:rPr>
              <a:t>.melo@inatel.br</a:t>
            </a:r>
            <a:endParaRPr lang="pt-BR" sz="1800" dirty="0">
              <a:latin typeface="Calibri"/>
              <a:cs typeface="Calibri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0AC9661-C648-2113-F419-79C2E87B7B2B}"/>
              </a:ext>
            </a:extLst>
          </p:cNvPr>
          <p:cNvSpPr txBox="1"/>
          <p:nvPr/>
        </p:nvSpPr>
        <p:spPr>
          <a:xfrm>
            <a:off x="7137790" y="3972006"/>
            <a:ext cx="512512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Calibri"/>
                <a:cs typeface="Calibri"/>
              </a:rPr>
              <a:t>Esse material foi desenvolvido e gentilmente cedido </a:t>
            </a:r>
          </a:p>
          <a:p>
            <a:r>
              <a:rPr lang="pt-BR" dirty="0">
                <a:latin typeface="Calibri"/>
                <a:cs typeface="Calibri"/>
              </a:rPr>
              <a:t>pelo Prof. Dr. Felipe Augusto Pereira de Figueiredo, </a:t>
            </a:r>
          </a:p>
          <a:p>
            <a:r>
              <a:rPr lang="pt-BR" dirty="0">
                <a:latin typeface="Calibri"/>
                <a:cs typeface="Calibri"/>
              </a:rPr>
              <a:t>do Inatel.</a:t>
            </a:r>
            <a:r>
              <a:rPr lang="pt-BR" sz="1800" spc="-10" dirty="0">
                <a:latin typeface="Calibri"/>
                <a:cs typeface="Calibri"/>
              </a:rPr>
              <a:t>(</a:t>
            </a:r>
            <a:r>
              <a:rPr lang="pt-BR" sz="1800" spc="-10" dirty="0">
                <a:latin typeface="Calibri"/>
                <a:cs typeface="Calibri"/>
                <a:hlinkClick r:id="rId5"/>
              </a:rPr>
              <a:t>felipe.figueiredo@inatel.br</a:t>
            </a:r>
            <a:r>
              <a:rPr lang="pt-BR" sz="1800" spc="-10" dirty="0">
                <a:latin typeface="Calibri"/>
                <a:cs typeface="Calibri"/>
              </a:rPr>
              <a:t>)</a:t>
            </a:r>
            <a:endParaRPr lang="pt-BR" sz="1800" dirty="0">
              <a:latin typeface="Calibri"/>
              <a:cs typeface="Calibri"/>
            </a:endParaRPr>
          </a:p>
          <a:p>
            <a:endParaRPr lang="pt-B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260045"/>
            <a:ext cx="7585709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Perceptron</a:t>
            </a:r>
            <a:r>
              <a:rPr spc="-75" dirty="0"/>
              <a:t> </a:t>
            </a:r>
            <a:r>
              <a:rPr dirty="0"/>
              <a:t>de</a:t>
            </a:r>
            <a:r>
              <a:rPr spc="-65" dirty="0"/>
              <a:t> </a:t>
            </a:r>
            <a:r>
              <a:rPr dirty="0"/>
              <a:t>Múltiplas</a:t>
            </a:r>
            <a:r>
              <a:rPr spc="-80" dirty="0"/>
              <a:t> </a:t>
            </a:r>
            <a:r>
              <a:rPr spc="-10" dirty="0"/>
              <a:t>Camadas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425066"/>
            <a:ext cx="7002780" cy="5242560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241300" marR="357505" indent="-228600">
              <a:lnSpc>
                <a:spcPct val="70000"/>
              </a:lnSpc>
              <a:spcBef>
                <a:spcPts val="104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Em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termos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gerais,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uma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rede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neural</a:t>
            </a:r>
            <a:r>
              <a:rPr sz="2600" b="1" i="1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nada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mais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50" dirty="0">
                <a:latin typeface="Calibri"/>
                <a:cs typeface="Calibri"/>
              </a:rPr>
              <a:t>é </a:t>
            </a:r>
            <a:r>
              <a:rPr sz="2600" dirty="0">
                <a:latin typeface="Calibri"/>
                <a:cs typeface="Calibri"/>
              </a:rPr>
              <a:t>do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combinação de</a:t>
            </a:r>
            <a:r>
              <a:rPr sz="2600" b="1" i="1" spc="-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spc="-10" dirty="0">
                <a:solidFill>
                  <a:srgbClr val="00AF50"/>
                </a:solidFill>
                <a:latin typeface="Calibri"/>
                <a:cs typeface="Calibri"/>
              </a:rPr>
              <a:t>neurônios </a:t>
            </a:r>
            <a:r>
              <a:rPr sz="2600" dirty="0">
                <a:latin typeface="Calibri"/>
                <a:cs typeface="Calibri"/>
              </a:rPr>
              <a:t>conectados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entre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si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através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ligações </a:t>
            </a:r>
            <a:r>
              <a:rPr sz="2600" b="1" i="1" dirty="0">
                <a:latin typeface="Calibri"/>
                <a:cs typeface="Calibri"/>
              </a:rPr>
              <a:t>direcionadas</a:t>
            </a:r>
            <a:r>
              <a:rPr sz="2600" b="1" i="1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(ou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seja,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conexões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têm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uma </a:t>
            </a:r>
            <a:r>
              <a:rPr sz="2600" dirty="0">
                <a:latin typeface="Calibri"/>
                <a:cs typeface="Calibri"/>
              </a:rPr>
              <a:t>direção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associada).</a:t>
            </a:r>
            <a:endParaRPr sz="2600" dirty="0">
              <a:latin typeface="Calibri"/>
              <a:cs typeface="Calibri"/>
            </a:endParaRPr>
          </a:p>
          <a:p>
            <a:pPr marL="241300" marR="5080" indent="-228600">
              <a:lnSpc>
                <a:spcPct val="700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As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propriedades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da</a:t>
            </a:r>
            <a:r>
              <a:rPr sz="2600" b="1" i="1" spc="-1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rede</a:t>
            </a:r>
            <a:r>
              <a:rPr sz="2600" b="1" i="1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neural</a:t>
            </a:r>
            <a:r>
              <a:rPr sz="2600" b="1" i="1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são</a:t>
            </a:r>
            <a:r>
              <a:rPr sz="2600" spc="-10" dirty="0">
                <a:latin typeface="Calibri"/>
                <a:cs typeface="Calibri"/>
              </a:rPr>
              <a:t> determinadas </a:t>
            </a:r>
            <a:r>
              <a:rPr sz="2600" dirty="0">
                <a:latin typeface="Calibri"/>
                <a:cs typeface="Calibri"/>
              </a:rPr>
              <a:t>por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sua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topologia</a:t>
            </a:r>
            <a:r>
              <a:rPr sz="2600" b="1" i="1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(i.e.,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os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neurônios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estão </a:t>
            </a:r>
            <a:r>
              <a:rPr sz="2600" dirty="0">
                <a:latin typeface="Calibri"/>
                <a:cs typeface="Calibri"/>
              </a:rPr>
              <a:t>conectados,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camadas,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etc.)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pelas</a:t>
            </a:r>
            <a:r>
              <a:rPr sz="2600" spc="-105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propriedades </a:t>
            </a:r>
            <a:r>
              <a:rPr sz="2600" b="1" i="1" dirty="0">
                <a:latin typeface="Calibri"/>
                <a:cs typeface="Calibri"/>
              </a:rPr>
              <a:t>dos</a:t>
            </a:r>
            <a:r>
              <a:rPr sz="2600" b="1" i="1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neurônios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(e.g.,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função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ativação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pesos).</a:t>
            </a:r>
            <a:endParaRPr sz="2600" dirty="0">
              <a:latin typeface="Calibri"/>
              <a:cs typeface="Calibri"/>
            </a:endParaRPr>
          </a:p>
          <a:p>
            <a:pPr marL="241300" marR="11430" indent="-228600">
              <a:lnSpc>
                <a:spcPct val="700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Algumas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limitações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dos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perceptrons</a:t>
            </a:r>
            <a:r>
              <a:rPr sz="2600" b="1" i="1" spc="-2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(e.g., </a:t>
            </a:r>
            <a:r>
              <a:rPr sz="2600" dirty="0">
                <a:latin typeface="Calibri"/>
                <a:cs typeface="Calibri"/>
              </a:rPr>
              <a:t>classificação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apenas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classes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linearmente separáveis)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podem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ser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eliminadas</a:t>
            </a:r>
            <a:r>
              <a:rPr sz="2600" b="1" i="1" spc="-15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adicionando-</a:t>
            </a:r>
            <a:r>
              <a:rPr sz="2600" b="1" i="1" spc="-25" dirty="0">
                <a:latin typeface="Calibri"/>
                <a:cs typeface="Calibri"/>
              </a:rPr>
              <a:t>se </a:t>
            </a:r>
            <a:r>
              <a:rPr sz="2600" b="1" i="1" dirty="0">
                <a:latin typeface="Calibri"/>
                <a:cs typeface="Calibri"/>
              </a:rPr>
              <a:t>camadas</a:t>
            </a:r>
            <a:r>
              <a:rPr sz="2600" b="1" i="1" spc="-5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intermediárias</a:t>
            </a:r>
            <a:r>
              <a:rPr sz="2600" b="1" i="1" spc="-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(também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chamadas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de </a:t>
            </a:r>
            <a:r>
              <a:rPr sz="2600" dirty="0">
                <a:latin typeface="Calibri"/>
                <a:cs typeface="Calibri"/>
              </a:rPr>
              <a:t>ocultas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ou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escondidas)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perceptrons</a:t>
            </a:r>
            <a:r>
              <a:rPr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41300" marR="486409" indent="-228600">
              <a:lnSpc>
                <a:spcPct val="7000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A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RNA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resultante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denominada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Perceptron</a:t>
            </a:r>
            <a:r>
              <a:rPr sz="2600" b="1" i="1" spc="-45" dirty="0">
                <a:latin typeface="Calibri"/>
                <a:cs typeface="Calibri"/>
              </a:rPr>
              <a:t> </a:t>
            </a:r>
            <a:r>
              <a:rPr sz="2600" b="1" i="1" spc="-25" dirty="0">
                <a:latin typeface="Calibri"/>
                <a:cs typeface="Calibri"/>
              </a:rPr>
              <a:t>de </a:t>
            </a:r>
            <a:r>
              <a:rPr sz="2600" b="1" i="1" dirty="0">
                <a:latin typeface="Calibri"/>
                <a:cs typeface="Calibri"/>
              </a:rPr>
              <a:t>Múltiplas</a:t>
            </a:r>
            <a:r>
              <a:rPr sz="2600" b="1" i="1" spc="-2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Camadas</a:t>
            </a:r>
            <a:r>
              <a:rPr sz="2600" b="1" i="1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(do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inglês,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i="1" spc="-10" dirty="0">
                <a:latin typeface="Calibri"/>
                <a:cs typeface="Calibri"/>
              </a:rPr>
              <a:t>Multilayer </a:t>
            </a:r>
            <a:r>
              <a:rPr sz="2600" i="1" dirty="0">
                <a:latin typeface="Calibri"/>
                <a:cs typeface="Calibri"/>
              </a:rPr>
              <a:t>Perceptron</a:t>
            </a:r>
            <a:r>
              <a:rPr sz="2600" i="1" spc="-10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-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MLP).</a:t>
            </a:r>
            <a:endParaRPr sz="26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66888" y="2240279"/>
            <a:ext cx="4325111" cy="353720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763381" y="1584197"/>
            <a:ext cx="167576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5575" marR="5080" indent="-14351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0000"/>
                </a:solidFill>
                <a:latin typeface="Calibri"/>
                <a:cs typeface="Calibri"/>
              </a:rPr>
              <a:t>Cada</a:t>
            </a:r>
            <a:r>
              <a:rPr sz="12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0000"/>
                </a:solidFill>
                <a:latin typeface="Calibri"/>
                <a:cs typeface="Calibri"/>
              </a:rPr>
              <a:t>ligação</a:t>
            </a:r>
            <a:r>
              <a:rPr sz="1200" b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0000"/>
                </a:solidFill>
                <a:latin typeface="Calibri"/>
                <a:cs typeface="Calibri"/>
              </a:rPr>
              <a:t>tem</a:t>
            </a:r>
            <a:r>
              <a:rPr sz="12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0000"/>
                </a:solidFill>
                <a:latin typeface="Calibri"/>
                <a:cs typeface="Calibri"/>
              </a:rPr>
              <a:t>um</a:t>
            </a:r>
            <a:r>
              <a:rPr sz="1200" b="1" spc="-20" dirty="0">
                <a:solidFill>
                  <a:srgbClr val="FF0000"/>
                </a:solidFill>
                <a:latin typeface="Calibri"/>
                <a:cs typeface="Calibri"/>
              </a:rPr>
              <a:t> peso </a:t>
            </a:r>
            <a:r>
              <a:rPr sz="1200" b="1" dirty="0">
                <a:solidFill>
                  <a:srgbClr val="FF0000"/>
                </a:solidFill>
                <a:latin typeface="Calibri"/>
                <a:cs typeface="Calibri"/>
              </a:rPr>
              <a:t>(sináptico)</a:t>
            </a:r>
            <a:r>
              <a:rPr sz="1200" b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FF0000"/>
                </a:solidFill>
                <a:latin typeface="Calibri"/>
                <a:cs typeface="Calibri"/>
              </a:rPr>
              <a:t>associado.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08185" y="6078423"/>
            <a:ext cx="226885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59055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Calibri"/>
                <a:cs typeface="Calibri"/>
              </a:rPr>
              <a:t>OBS</a:t>
            </a:r>
            <a:r>
              <a:rPr sz="1400" dirty="0">
                <a:latin typeface="Calibri"/>
                <a:cs typeface="Calibri"/>
              </a:rPr>
              <a:t>.: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Neurônios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também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são </a:t>
            </a:r>
            <a:r>
              <a:rPr sz="1400" dirty="0">
                <a:latin typeface="Calibri"/>
                <a:cs typeface="Calibri"/>
              </a:rPr>
              <a:t>chamados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de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b="1" i="1" dirty="0">
                <a:latin typeface="Calibri"/>
                <a:cs typeface="Calibri"/>
              </a:rPr>
              <a:t>nós</a:t>
            </a:r>
            <a:r>
              <a:rPr sz="1400" b="1" i="1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ou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b="1" i="1" spc="-10" dirty="0">
                <a:latin typeface="Calibri"/>
                <a:cs typeface="Calibri"/>
              </a:rPr>
              <a:t>unidades</a:t>
            </a:r>
            <a:r>
              <a:rPr sz="1400" spc="-10" dirty="0">
                <a:latin typeface="Calibri"/>
                <a:cs typeface="Calibri"/>
              </a:rPr>
              <a:t>.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260045"/>
            <a:ext cx="7585709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Perceptron</a:t>
            </a:r>
            <a:r>
              <a:rPr spc="-75" dirty="0"/>
              <a:t> </a:t>
            </a:r>
            <a:r>
              <a:rPr dirty="0"/>
              <a:t>de</a:t>
            </a:r>
            <a:r>
              <a:rPr spc="-65" dirty="0"/>
              <a:t> </a:t>
            </a:r>
            <a:r>
              <a:rPr dirty="0"/>
              <a:t>Múltiplas</a:t>
            </a:r>
            <a:r>
              <a:rPr spc="-80" dirty="0"/>
              <a:t> </a:t>
            </a:r>
            <a:r>
              <a:rPr spc="-10" dirty="0"/>
              <a:t>Camadas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19199"/>
            <a:ext cx="6820534" cy="50444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ts val="2810"/>
              </a:lnSpc>
              <a:spcBef>
                <a:spcPts val="10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Uma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rede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MLP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sempre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densamente</a:t>
            </a:r>
            <a:endParaRPr sz="2600" dirty="0">
              <a:latin typeface="Calibri"/>
              <a:cs typeface="Calibri"/>
            </a:endParaRPr>
          </a:p>
          <a:p>
            <a:pPr marL="241300">
              <a:lnSpc>
                <a:spcPts val="2805"/>
              </a:lnSpc>
            </a:pPr>
            <a:r>
              <a:rPr sz="2600" spc="-10" dirty="0">
                <a:latin typeface="Calibri"/>
                <a:cs typeface="Calibri"/>
              </a:rPr>
              <a:t>conectada.</a:t>
            </a:r>
            <a:endParaRPr sz="2600" dirty="0">
              <a:latin typeface="Calibri"/>
              <a:cs typeface="Calibri"/>
            </a:endParaRPr>
          </a:p>
          <a:p>
            <a:pPr marL="698500" marR="361950" lvl="1" indent="-228600" algn="just">
              <a:lnSpc>
                <a:spcPct val="80000"/>
              </a:lnSpc>
              <a:spcBef>
                <a:spcPts val="520"/>
              </a:spcBef>
              <a:buFont typeface="Wingdings"/>
              <a:buChar char=""/>
              <a:tabLst>
                <a:tab pos="699135" algn="l"/>
              </a:tabLst>
            </a:pPr>
            <a:r>
              <a:rPr sz="2200" dirty="0">
                <a:latin typeface="Calibri"/>
                <a:cs typeface="Calibri"/>
              </a:rPr>
              <a:t>Cada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saída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um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nó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em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uma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camada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conecta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50" dirty="0">
                <a:latin typeface="Calibri"/>
                <a:cs typeface="Calibri"/>
              </a:rPr>
              <a:t>a </a:t>
            </a:r>
            <a:r>
              <a:rPr sz="2200" dirty="0">
                <a:latin typeface="Calibri"/>
                <a:cs typeface="Calibri"/>
              </a:rPr>
              <a:t>todos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nós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camada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seguinte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através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pesos sinápticos.</a:t>
            </a:r>
            <a:endParaRPr sz="2200" dirty="0">
              <a:latin typeface="Calibri"/>
              <a:cs typeface="Calibri"/>
            </a:endParaRPr>
          </a:p>
          <a:p>
            <a:pPr marL="241300" marR="421640" indent="-228600">
              <a:lnSpc>
                <a:spcPct val="80000"/>
              </a:lnSpc>
              <a:spcBef>
                <a:spcPts val="98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Um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exemplo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rede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MLP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com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duas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camadas </a:t>
            </a:r>
            <a:r>
              <a:rPr sz="2600" b="1" i="1" dirty="0">
                <a:latin typeface="Calibri"/>
                <a:cs typeface="Calibri"/>
              </a:rPr>
              <a:t>intermediárias</a:t>
            </a:r>
            <a:r>
              <a:rPr sz="2600" b="1" i="1" spc="-9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mostrado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figura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lado.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ts val="3115"/>
              </a:lnSpc>
              <a:spcBef>
                <a:spcPts val="37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As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RNAs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são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coração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Deep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Learning</a:t>
            </a:r>
            <a:r>
              <a:rPr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698500" marR="210820" lvl="1" indent="-228600">
              <a:lnSpc>
                <a:spcPct val="80000"/>
              </a:lnSpc>
              <a:spcBef>
                <a:spcPts val="525"/>
              </a:spcBef>
              <a:buFont typeface="Wingdings"/>
              <a:buChar char=""/>
              <a:tabLst>
                <a:tab pos="699135" algn="l"/>
              </a:tabLst>
            </a:pPr>
            <a:r>
              <a:rPr sz="2200" dirty="0">
                <a:latin typeface="Calibri"/>
                <a:cs typeface="Calibri"/>
              </a:rPr>
              <a:t>Quando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uma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RNA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tem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duas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ou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mais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camadas escondidas,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ela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é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chamada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rede</a:t>
            </a:r>
            <a:r>
              <a:rPr sz="2200" b="1" i="1" spc="-5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neural</a:t>
            </a:r>
            <a:r>
              <a:rPr sz="2200" b="1" i="1" spc="-55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profunda </a:t>
            </a:r>
            <a:r>
              <a:rPr sz="2200" dirty="0">
                <a:latin typeface="Calibri"/>
                <a:cs typeface="Calibri"/>
              </a:rPr>
              <a:t>(ou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em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inglês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Deep</a:t>
            </a:r>
            <a:r>
              <a:rPr sz="2200" i="1" spc="-60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Neural</a:t>
            </a:r>
            <a:r>
              <a:rPr sz="2200" i="1" spc="-75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Network</a:t>
            </a:r>
            <a:r>
              <a:rPr sz="2200" i="1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-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DNN).</a:t>
            </a:r>
            <a:endParaRPr sz="2200" dirty="0">
              <a:latin typeface="Calibri"/>
              <a:cs typeface="Calibri"/>
            </a:endParaRPr>
          </a:p>
          <a:p>
            <a:pPr marL="241300" marR="407034" indent="-228600">
              <a:lnSpc>
                <a:spcPct val="80000"/>
              </a:lnSpc>
              <a:spcBef>
                <a:spcPts val="985"/>
              </a:spcBef>
              <a:buFont typeface="Arial"/>
              <a:buChar char="•"/>
              <a:tabLst>
                <a:tab pos="241300" algn="l"/>
              </a:tabLst>
            </a:pPr>
            <a:r>
              <a:rPr sz="2600" b="1" dirty="0">
                <a:latin typeface="Calibri"/>
                <a:cs typeface="Calibri"/>
              </a:rPr>
              <a:t>OBS</a:t>
            </a:r>
            <a:r>
              <a:rPr sz="2600" dirty="0">
                <a:latin typeface="Calibri"/>
                <a:cs typeface="Calibri"/>
              </a:rPr>
              <a:t>.: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Em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particular,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MLP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pode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resolver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50" dirty="0">
                <a:latin typeface="Calibri"/>
                <a:cs typeface="Calibri"/>
              </a:rPr>
              <a:t>o </a:t>
            </a:r>
            <a:r>
              <a:rPr sz="2600" dirty="0">
                <a:latin typeface="Calibri"/>
                <a:cs typeface="Calibri"/>
              </a:rPr>
              <a:t>problema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lógica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XOR.</a:t>
            </a:r>
            <a:endParaRPr sz="2600" dirty="0">
              <a:latin typeface="Calibri"/>
              <a:cs typeface="Calibri"/>
            </a:endParaRPr>
          </a:p>
          <a:p>
            <a:pPr marL="698500" lvl="1" indent="-229235">
              <a:lnSpc>
                <a:spcPts val="2370"/>
              </a:lnSpc>
              <a:buFont typeface="Wingdings"/>
              <a:buChar char=""/>
              <a:tabLst>
                <a:tab pos="699135" algn="l"/>
              </a:tabLst>
            </a:pPr>
            <a:r>
              <a:rPr sz="2200" spc="-25" dirty="0">
                <a:latin typeface="Calibri"/>
                <a:cs typeface="Calibri"/>
              </a:rPr>
              <a:t>Lembrem-</a:t>
            </a:r>
            <a:r>
              <a:rPr sz="2200" dirty="0">
                <a:latin typeface="Calibri"/>
                <a:cs typeface="Calibri"/>
              </a:rPr>
              <a:t>se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que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um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único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perceptron</a:t>
            </a:r>
            <a:r>
              <a:rPr sz="2200" b="1" i="1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não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é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capaz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de</a:t>
            </a:r>
            <a:endParaRPr sz="2200" dirty="0">
              <a:latin typeface="Calibri"/>
              <a:cs typeface="Calibri"/>
            </a:endParaRPr>
          </a:p>
          <a:p>
            <a:pPr marL="698500">
              <a:lnSpc>
                <a:spcPts val="2375"/>
              </a:lnSpc>
            </a:pPr>
            <a:r>
              <a:rPr sz="2200" spc="-10" dirty="0">
                <a:latin typeface="Calibri"/>
                <a:cs typeface="Calibri"/>
              </a:rPr>
              <a:t>realizar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essa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tarefa.</a:t>
            </a:r>
            <a:endParaRPr sz="22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65643" y="1596160"/>
            <a:ext cx="4015087" cy="336366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729598" y="1134617"/>
            <a:ext cx="167576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5575" marR="5080" indent="-14351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0000"/>
                </a:solidFill>
                <a:latin typeface="Calibri"/>
                <a:cs typeface="Calibri"/>
              </a:rPr>
              <a:t>Cada</a:t>
            </a:r>
            <a:r>
              <a:rPr sz="12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0000"/>
                </a:solidFill>
                <a:latin typeface="Calibri"/>
                <a:cs typeface="Calibri"/>
              </a:rPr>
              <a:t>ligação</a:t>
            </a:r>
            <a:r>
              <a:rPr sz="1200" b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0000"/>
                </a:solidFill>
                <a:latin typeface="Calibri"/>
                <a:cs typeface="Calibri"/>
              </a:rPr>
              <a:t>tem</a:t>
            </a:r>
            <a:r>
              <a:rPr sz="12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0000"/>
                </a:solidFill>
                <a:latin typeface="Calibri"/>
                <a:cs typeface="Calibri"/>
              </a:rPr>
              <a:t>um</a:t>
            </a:r>
            <a:r>
              <a:rPr sz="1200" b="1" spc="-20" dirty="0">
                <a:solidFill>
                  <a:srgbClr val="FF0000"/>
                </a:solidFill>
                <a:latin typeface="Calibri"/>
                <a:cs typeface="Calibri"/>
              </a:rPr>
              <a:t> peso </a:t>
            </a:r>
            <a:r>
              <a:rPr sz="1200" b="1" dirty="0">
                <a:solidFill>
                  <a:srgbClr val="FF0000"/>
                </a:solidFill>
                <a:latin typeface="Calibri"/>
                <a:cs typeface="Calibri"/>
              </a:rPr>
              <a:t>(sináptico)</a:t>
            </a:r>
            <a:r>
              <a:rPr sz="1200" b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FF0000"/>
                </a:solidFill>
                <a:latin typeface="Calibri"/>
                <a:cs typeface="Calibri"/>
              </a:rPr>
              <a:t>associado.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14740" y="5362955"/>
            <a:ext cx="2782855" cy="1310423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7341996" y="5565775"/>
            <a:ext cx="1288415" cy="479425"/>
          </a:xfrm>
          <a:custGeom>
            <a:avLst/>
            <a:gdLst/>
            <a:ahLst/>
            <a:cxnLst/>
            <a:rect l="l" t="t" r="r" b="b"/>
            <a:pathLst>
              <a:path w="1288415" h="479425">
                <a:moveTo>
                  <a:pt x="1214245" y="449355"/>
                </a:moveTo>
                <a:lnTo>
                  <a:pt x="1203452" y="479221"/>
                </a:lnTo>
                <a:lnTo>
                  <a:pt x="1288033" y="469201"/>
                </a:lnTo>
                <a:lnTo>
                  <a:pt x="1273244" y="453656"/>
                </a:lnTo>
                <a:lnTo>
                  <a:pt x="1226184" y="453656"/>
                </a:lnTo>
                <a:lnTo>
                  <a:pt x="1214245" y="449355"/>
                </a:lnTo>
                <a:close/>
              </a:path>
              <a:path w="1288415" h="479425">
                <a:moveTo>
                  <a:pt x="1218563" y="437405"/>
                </a:moveTo>
                <a:lnTo>
                  <a:pt x="1214245" y="449355"/>
                </a:lnTo>
                <a:lnTo>
                  <a:pt x="1226184" y="453656"/>
                </a:lnTo>
                <a:lnTo>
                  <a:pt x="1230502" y="441706"/>
                </a:lnTo>
                <a:lnTo>
                  <a:pt x="1218563" y="437405"/>
                </a:lnTo>
                <a:close/>
              </a:path>
              <a:path w="1288415" h="479425">
                <a:moveTo>
                  <a:pt x="1229359" y="407530"/>
                </a:moveTo>
                <a:lnTo>
                  <a:pt x="1218563" y="437405"/>
                </a:lnTo>
                <a:lnTo>
                  <a:pt x="1230502" y="441706"/>
                </a:lnTo>
                <a:lnTo>
                  <a:pt x="1226184" y="453656"/>
                </a:lnTo>
                <a:lnTo>
                  <a:pt x="1273244" y="453656"/>
                </a:lnTo>
                <a:lnTo>
                  <a:pt x="1229359" y="407530"/>
                </a:lnTo>
                <a:close/>
              </a:path>
              <a:path w="1288415" h="479425">
                <a:moveTo>
                  <a:pt x="4318" y="0"/>
                </a:moveTo>
                <a:lnTo>
                  <a:pt x="0" y="11937"/>
                </a:lnTo>
                <a:lnTo>
                  <a:pt x="1214245" y="449355"/>
                </a:lnTo>
                <a:lnTo>
                  <a:pt x="1218563" y="437405"/>
                </a:lnTo>
                <a:lnTo>
                  <a:pt x="431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39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Perceptron</a:t>
            </a:r>
            <a:r>
              <a:rPr spc="-75" dirty="0"/>
              <a:t> </a:t>
            </a:r>
            <a:r>
              <a:rPr dirty="0"/>
              <a:t>de</a:t>
            </a:r>
            <a:r>
              <a:rPr spc="-65" dirty="0"/>
              <a:t> </a:t>
            </a:r>
            <a:r>
              <a:rPr dirty="0"/>
              <a:t>Múltiplas</a:t>
            </a:r>
            <a:r>
              <a:rPr spc="-80" dirty="0"/>
              <a:t> </a:t>
            </a:r>
            <a:r>
              <a:rPr spc="-10" dirty="0"/>
              <a:t>Camadas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07159"/>
            <a:ext cx="10914380" cy="485076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camada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entrada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ponto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transferência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atributos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à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rede.</a:t>
            </a:r>
            <a:endParaRPr sz="2800" dirty="0">
              <a:latin typeface="Calibri"/>
              <a:cs typeface="Calibri"/>
            </a:endParaRPr>
          </a:p>
          <a:p>
            <a:pPr marL="241300" marR="556260" indent="-228600">
              <a:lnSpc>
                <a:spcPts val="3020"/>
              </a:lnSpc>
              <a:spcBef>
                <a:spcPts val="106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As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camadas</a:t>
            </a:r>
            <a:r>
              <a:rPr sz="2800" b="1" i="1" spc="-10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intermediárias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realizam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mapeamentos</a:t>
            </a:r>
            <a:r>
              <a:rPr sz="2800" b="1" i="1" spc="-85" dirty="0">
                <a:latin typeface="Calibri"/>
                <a:cs typeface="Calibri"/>
              </a:rPr>
              <a:t> </a:t>
            </a:r>
            <a:r>
              <a:rPr sz="2800" b="1" i="1" spc="-25" dirty="0">
                <a:latin typeface="Calibri"/>
                <a:cs typeface="Calibri"/>
              </a:rPr>
              <a:t>não-</a:t>
            </a:r>
            <a:r>
              <a:rPr sz="2800" b="1" i="1" dirty="0">
                <a:latin typeface="Calibri"/>
                <a:cs typeface="Calibri"/>
              </a:rPr>
              <a:t>lineares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que, </a:t>
            </a:r>
            <a:r>
              <a:rPr sz="2800" spc="-10" dirty="0">
                <a:latin typeface="Calibri"/>
                <a:cs typeface="Calibri"/>
              </a:rPr>
              <a:t>idealmente,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vão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tornando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informação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contida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dados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mais</a:t>
            </a:r>
            <a:endParaRPr sz="2800" dirty="0">
              <a:latin typeface="Calibri"/>
              <a:cs typeface="Calibri"/>
            </a:endParaRPr>
          </a:p>
          <a:p>
            <a:pPr marL="241300">
              <a:lnSpc>
                <a:spcPts val="2985"/>
              </a:lnSpc>
            </a:pPr>
            <a:r>
              <a:rPr sz="2800" b="1" i="1" spc="-20" dirty="0">
                <a:latin typeface="Calibri"/>
                <a:cs typeface="Calibri"/>
              </a:rPr>
              <a:t>“explícita”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ponto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vista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tarefa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deseja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realizar.</a:t>
            </a:r>
            <a:endParaRPr sz="2800" dirty="0">
              <a:latin typeface="Calibri"/>
              <a:cs typeface="Calibri"/>
            </a:endParaRPr>
          </a:p>
          <a:p>
            <a:pPr marL="698500" lvl="1" indent="-229235">
              <a:lnSpc>
                <a:spcPts val="2735"/>
              </a:lnSpc>
              <a:spcBef>
                <a:spcPts val="229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Os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mapeamentos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são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não-</a:t>
            </a:r>
            <a:r>
              <a:rPr sz="2400" b="1" i="1" dirty="0">
                <a:latin typeface="Calibri"/>
                <a:cs typeface="Calibri"/>
              </a:rPr>
              <a:t>lineares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devido</a:t>
            </a:r>
            <a:r>
              <a:rPr sz="2400" b="1" i="1" spc="-6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às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funções</a:t>
            </a:r>
            <a:r>
              <a:rPr sz="2400" b="1" i="1" spc="-2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de</a:t>
            </a:r>
            <a:r>
              <a:rPr sz="2400" b="1" i="1" spc="-4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ativação</a:t>
            </a:r>
            <a:r>
              <a:rPr sz="2400" b="1" i="1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utilizadas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não</a:t>
            </a:r>
            <a:endParaRPr sz="2400" dirty="0">
              <a:latin typeface="Calibri"/>
              <a:cs typeface="Calibri"/>
            </a:endParaRPr>
          </a:p>
          <a:p>
            <a:pPr marL="698500">
              <a:lnSpc>
                <a:spcPts val="2735"/>
              </a:lnSpc>
            </a:pPr>
            <a:r>
              <a:rPr sz="2400" dirty="0">
                <a:latin typeface="Calibri"/>
                <a:cs typeface="Calibri"/>
              </a:rPr>
              <a:t>serem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lineares,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e.g.,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função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logística,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tangente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hiperbólica,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etc.</a:t>
            </a:r>
            <a:endParaRPr sz="2400" dirty="0">
              <a:latin typeface="Calibri"/>
              <a:cs typeface="Calibri"/>
            </a:endParaRPr>
          </a:p>
          <a:p>
            <a:pPr marL="241300" marR="5080" indent="-228600">
              <a:lnSpc>
                <a:spcPts val="3020"/>
              </a:lnSpc>
              <a:spcBef>
                <a:spcPts val="10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Por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fim,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neurônios</a:t>
            </a:r>
            <a:r>
              <a:rPr sz="2800" b="1" i="1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camada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saída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combinam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a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informação</a:t>
            </a:r>
            <a:r>
              <a:rPr sz="2800" b="1" i="1" spc="-4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que </a:t>
            </a:r>
            <a:r>
              <a:rPr sz="2800" dirty="0">
                <a:latin typeface="Calibri"/>
                <a:cs typeface="Calibri"/>
              </a:rPr>
              <a:t>lhes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oferecida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pela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última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camada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intermediária</a:t>
            </a:r>
            <a:r>
              <a:rPr sz="2800" b="1" i="1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formar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saídas.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2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Redes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MLPs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são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formadas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por</a:t>
            </a:r>
            <a:r>
              <a:rPr sz="2800" spc="-12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múltiplas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camadas</a:t>
            </a:r>
            <a:r>
              <a:rPr sz="2800" b="1" i="1" spc="-10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10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Perceptrons</a:t>
            </a:r>
            <a:r>
              <a:rPr sz="2800" spc="-10" dirty="0">
                <a:latin typeface="Calibri"/>
                <a:cs typeface="Calibri"/>
              </a:rPr>
              <a:t>:</a:t>
            </a:r>
            <a:endParaRPr sz="28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45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spc="-10" dirty="0">
                <a:latin typeface="Calibri"/>
                <a:cs typeface="Calibri"/>
              </a:rPr>
              <a:t>Portanto,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tais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redes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têm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base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modelo</a:t>
            </a:r>
            <a:r>
              <a:rPr sz="2400" b="1" i="1" spc="-5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de</a:t>
            </a:r>
            <a:r>
              <a:rPr sz="2400" b="1" i="1" spc="-4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neurônio</a:t>
            </a:r>
            <a:r>
              <a:rPr sz="2400" b="1" i="1" spc="-2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do</a:t>
            </a:r>
            <a:r>
              <a:rPr sz="2400" b="1" i="1" spc="-25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Perceptron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Esse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modelo,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discutido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anteriormente,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mostrado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figura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seguinte.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39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Perceptron</a:t>
            </a:r>
            <a:r>
              <a:rPr spc="-75" dirty="0"/>
              <a:t> </a:t>
            </a:r>
            <a:r>
              <a:rPr dirty="0"/>
              <a:t>de</a:t>
            </a:r>
            <a:r>
              <a:rPr spc="-65" dirty="0"/>
              <a:t> </a:t>
            </a:r>
            <a:r>
              <a:rPr dirty="0"/>
              <a:t>Múltiplas</a:t>
            </a:r>
            <a:r>
              <a:rPr spc="-80" dirty="0"/>
              <a:t> </a:t>
            </a:r>
            <a:r>
              <a:rPr spc="-10" dirty="0"/>
              <a:t>Camadas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4"/>
              <p:cNvSpPr txBox="1"/>
              <p:nvPr/>
            </p:nvSpPr>
            <p:spPr>
              <a:xfrm>
                <a:off x="3069488" y="3988211"/>
                <a:ext cx="2754832" cy="396262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63500">
                  <a:lnSpc>
                    <a:spcPct val="100000"/>
                  </a:lnSpc>
                  <a:spcBef>
                    <a:spcPts val="95"/>
                  </a:spcBef>
                  <a:tabLst>
                    <a:tab pos="1583055" algn="l"/>
                    <a:tab pos="1967230" algn="l"/>
                  </a:tabLst>
                </a:pPr>
                <a14:m>
                  <m:oMath xmlns:m="http://schemas.openxmlformats.org/officeDocument/2006/math">
                    <m:r>
                      <a:rPr lang="pt-BR" sz="2200" i="1" dirty="0" smtClean="0">
                        <a:latin typeface="Cambria Math" panose="02040503050406030204" pitchFamily="18" charset="0"/>
                        <a:cs typeface="Cambria Math"/>
                      </a:rPr>
                      <m:t>𝑔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  <a:cs typeface="Cambria Math"/>
                      </a:rPr>
                      <m:t>(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  <a:cs typeface="Cambria Math"/>
                      </a:rPr>
                      <m:t>𝒙</m:t>
                    </m:r>
                    <m:r>
                      <a:rPr lang="pt-BR" sz="2200" b="0" i="1" dirty="0" smtClean="0">
                        <a:latin typeface="Cambria Math" panose="02040503050406030204" pitchFamily="18" charset="0"/>
                        <a:cs typeface="Cambria Math"/>
                      </a:rPr>
                      <m:t>)</m:t>
                    </m:r>
                    <m:r>
                      <a:rPr lang="pt-BR" sz="2200" i="1" dirty="0">
                        <a:latin typeface="Cambria Math" panose="02040503050406030204" pitchFamily="18" charset="0"/>
                        <a:cs typeface="Cambria Math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pt-BR" sz="220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pt-BR" sz="22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BR" sz="2200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pt-BR" sz="22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pt-BR" sz="2200" b="0" i="1" dirty="0" smtClean="0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sSub>
                          <m:sSubPr>
                            <m:ctrlPr>
                              <a:rPr lang="pt-BR" sz="22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200" b="0" i="1" dirty="0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pt-BR" sz="2200" b="0" i="1" dirty="0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sSub>
                          <m:sSubPr>
                            <m:ctrlPr>
                              <a:rPr lang="pt-BR" sz="22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2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22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pt-BR" sz="2200" spc="-50" dirty="0">
                    <a:latin typeface="Calibri"/>
                    <a:cs typeface="Calibri"/>
                  </a:rPr>
                  <a:t>.</a:t>
                </a:r>
                <a:endParaRPr sz="22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4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9488" y="3988211"/>
                <a:ext cx="2754832" cy="396262"/>
              </a:xfrm>
              <a:prstGeom prst="rect">
                <a:avLst/>
              </a:prstGeom>
              <a:blipFill>
                <a:blip r:embed="rId2"/>
                <a:stretch>
                  <a:fillRect l="-1552" t="-140000" b="-21384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bject 5"/>
          <p:cNvSpPr txBox="1"/>
          <p:nvPr/>
        </p:nvSpPr>
        <p:spPr>
          <a:xfrm>
            <a:off x="916939" y="4604384"/>
            <a:ext cx="6648450" cy="5949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ts val="2245"/>
              </a:lnSpc>
              <a:spcBef>
                <a:spcPts val="9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dirty="0">
                <a:latin typeface="Calibri"/>
                <a:cs typeface="Calibri"/>
              </a:rPr>
              <a:t>Em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seguida,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nó</a:t>
            </a:r>
            <a:r>
              <a:rPr sz="2200" b="1" i="1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aplica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uma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função</a:t>
            </a:r>
            <a:r>
              <a:rPr sz="2200" b="1" i="1" spc="-4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de</a:t>
            </a:r>
            <a:r>
              <a:rPr sz="2200" b="1" i="1" spc="-5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ativação</a:t>
            </a:r>
            <a:r>
              <a:rPr sz="2200" b="1" i="1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(i.e.,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de</a:t>
            </a:r>
            <a:endParaRPr sz="2200" dirty="0">
              <a:latin typeface="Calibri"/>
              <a:cs typeface="Calibri"/>
            </a:endParaRPr>
          </a:p>
          <a:p>
            <a:pPr marL="241300">
              <a:lnSpc>
                <a:spcPts val="2245"/>
              </a:lnSpc>
            </a:pPr>
            <a:r>
              <a:rPr sz="2200" dirty="0">
                <a:latin typeface="Calibri"/>
                <a:cs typeface="Calibri"/>
              </a:rPr>
              <a:t>limiar),</a:t>
            </a:r>
            <a:r>
              <a:rPr sz="2200" spc="-105" dirty="0">
                <a:latin typeface="Calibri"/>
                <a:cs typeface="Calibri"/>
              </a:rPr>
              <a:t> </a:t>
            </a:r>
            <a:r>
              <a:rPr sz="2200" dirty="0">
                <a:latin typeface="Cambria Math"/>
                <a:cs typeface="Cambria Math"/>
              </a:rPr>
              <a:t>𝑓(.</a:t>
            </a:r>
            <a:r>
              <a:rPr sz="2200" spc="-120" dirty="0">
                <a:latin typeface="Cambria Math"/>
                <a:cs typeface="Cambria Math"/>
              </a:rPr>
              <a:t> </a:t>
            </a:r>
            <a:r>
              <a:rPr sz="2200" dirty="0">
                <a:latin typeface="Cambria Math"/>
                <a:cs typeface="Cambria Math"/>
              </a:rPr>
              <a:t>)</a:t>
            </a:r>
            <a:r>
              <a:rPr sz="2200" dirty="0">
                <a:latin typeface="Calibri"/>
                <a:cs typeface="Calibri"/>
              </a:rPr>
              <a:t>,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ao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somatório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acima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para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obter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sua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saída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91539" y="1539264"/>
            <a:ext cx="7110730" cy="25800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6700" indent="-228600">
              <a:lnSpc>
                <a:spcPts val="2285"/>
              </a:lnSpc>
              <a:spcBef>
                <a:spcPts val="95"/>
              </a:spcBef>
              <a:buFont typeface="Arial"/>
              <a:buChar char="•"/>
              <a:tabLst>
                <a:tab pos="266065" algn="l"/>
                <a:tab pos="266700" algn="l"/>
              </a:tabLst>
            </a:pPr>
            <a:r>
              <a:rPr sz="2200" dirty="0">
                <a:latin typeface="Calibri"/>
                <a:cs typeface="Calibri"/>
              </a:rPr>
              <a:t>A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ligação</a:t>
            </a:r>
            <a:r>
              <a:rPr sz="2200" b="1" i="1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do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nó</a:t>
            </a:r>
            <a:r>
              <a:rPr sz="2200" b="1" i="1" spc="-30" dirty="0">
                <a:latin typeface="Calibri"/>
                <a:cs typeface="Calibri"/>
              </a:rPr>
              <a:t> </a:t>
            </a:r>
            <a:r>
              <a:rPr sz="2200" dirty="0">
                <a:latin typeface="Cambria Math"/>
                <a:cs typeface="Cambria Math"/>
              </a:rPr>
              <a:t>𝑖</a:t>
            </a:r>
            <a:r>
              <a:rPr sz="2200" spc="60" dirty="0">
                <a:latin typeface="Cambria Math"/>
                <a:cs typeface="Cambria Math"/>
              </a:rPr>
              <a:t> </a:t>
            </a:r>
            <a:r>
              <a:rPr sz="2200" dirty="0">
                <a:latin typeface="Calibri"/>
                <a:cs typeface="Calibri"/>
              </a:rPr>
              <a:t>para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nó</a:t>
            </a:r>
            <a:r>
              <a:rPr sz="2200" b="1" i="1" spc="-25" dirty="0">
                <a:latin typeface="Calibri"/>
                <a:cs typeface="Calibri"/>
              </a:rPr>
              <a:t> </a:t>
            </a:r>
            <a:r>
              <a:rPr sz="2200" dirty="0">
                <a:latin typeface="Cambria Math"/>
                <a:cs typeface="Cambria Math"/>
              </a:rPr>
              <a:t>𝑗</a:t>
            </a:r>
            <a:r>
              <a:rPr sz="2200" spc="25" dirty="0">
                <a:latin typeface="Cambria Math"/>
                <a:cs typeface="Cambria Math"/>
              </a:rPr>
              <a:t> </a:t>
            </a:r>
            <a:r>
              <a:rPr sz="2200" dirty="0">
                <a:latin typeface="Calibri"/>
                <a:cs typeface="Calibri"/>
              </a:rPr>
              <a:t>é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feita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através </a:t>
            </a:r>
            <a:r>
              <a:rPr sz="2200" dirty="0">
                <a:latin typeface="Calibri"/>
                <a:cs typeface="Calibri"/>
              </a:rPr>
              <a:t>do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peso</a:t>
            </a:r>
            <a:r>
              <a:rPr sz="2200" b="1" i="1" spc="-25" dirty="0">
                <a:latin typeface="Calibri"/>
                <a:cs typeface="Calibri"/>
              </a:rPr>
              <a:t> </a:t>
            </a:r>
            <a:r>
              <a:rPr sz="2200" dirty="0">
                <a:latin typeface="Cambria Math"/>
                <a:cs typeface="Cambria Math"/>
              </a:rPr>
              <a:t>𝑤</a:t>
            </a:r>
            <a:r>
              <a:rPr sz="2400" baseline="-15625" dirty="0">
                <a:latin typeface="Cambria Math"/>
                <a:cs typeface="Cambria Math"/>
              </a:rPr>
              <a:t>𝑖𝑗</a:t>
            </a:r>
            <a:r>
              <a:rPr sz="2400" spc="367" baseline="-15625" dirty="0">
                <a:latin typeface="Cambria Math"/>
                <a:cs typeface="Cambria Math"/>
              </a:rPr>
              <a:t> </a:t>
            </a:r>
            <a:r>
              <a:rPr sz="2200" spc="-50" dirty="0">
                <a:latin typeface="Calibri"/>
                <a:cs typeface="Calibri"/>
              </a:rPr>
              <a:t>e</a:t>
            </a:r>
            <a:endParaRPr sz="2200" dirty="0">
              <a:latin typeface="Calibri"/>
              <a:cs typeface="Calibri"/>
            </a:endParaRPr>
          </a:p>
          <a:p>
            <a:pPr marL="266700">
              <a:lnSpc>
                <a:spcPts val="2285"/>
              </a:lnSpc>
            </a:pPr>
            <a:r>
              <a:rPr sz="2200" dirty="0">
                <a:latin typeface="Calibri"/>
                <a:cs typeface="Calibri"/>
              </a:rPr>
              <a:t>serve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para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propagar</a:t>
            </a:r>
            <a:r>
              <a:rPr sz="2200" b="1" i="1" spc="-4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o</a:t>
            </a:r>
            <a:r>
              <a:rPr sz="2200" b="1" i="1" spc="-4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sinal</a:t>
            </a:r>
            <a:r>
              <a:rPr sz="2200" b="1" i="1" spc="-6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de</a:t>
            </a:r>
            <a:r>
              <a:rPr sz="2200" b="1" i="1" spc="-4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ativação</a:t>
            </a:r>
            <a:r>
              <a:rPr sz="2200" b="1" i="1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do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nó</a:t>
            </a:r>
            <a:r>
              <a:rPr sz="2200" b="1" i="1" spc="-35" dirty="0">
                <a:latin typeface="Calibri"/>
                <a:cs typeface="Calibri"/>
              </a:rPr>
              <a:t> </a:t>
            </a:r>
            <a:r>
              <a:rPr sz="2200" dirty="0">
                <a:latin typeface="Cambria Math"/>
                <a:cs typeface="Cambria Math"/>
              </a:rPr>
              <a:t>𝑖</a:t>
            </a:r>
            <a:r>
              <a:rPr sz="2200" spc="35" dirty="0">
                <a:latin typeface="Cambria Math"/>
                <a:cs typeface="Cambria Math"/>
              </a:rPr>
              <a:t> </a:t>
            </a:r>
            <a:r>
              <a:rPr sz="2200" dirty="0">
                <a:latin typeface="Calibri"/>
                <a:cs typeface="Calibri"/>
              </a:rPr>
              <a:t>para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nó</a:t>
            </a:r>
            <a:r>
              <a:rPr sz="2200" b="1" i="1" spc="-35" dirty="0">
                <a:latin typeface="Calibri"/>
                <a:cs typeface="Calibri"/>
              </a:rPr>
              <a:t> </a:t>
            </a:r>
            <a:r>
              <a:rPr sz="2200" spc="-25" dirty="0">
                <a:latin typeface="Cambria Math"/>
                <a:cs typeface="Cambria Math"/>
              </a:rPr>
              <a:t>𝑗</a:t>
            </a:r>
            <a:r>
              <a:rPr sz="2200" spc="-25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266700" indent="-228600">
              <a:lnSpc>
                <a:spcPct val="100000"/>
              </a:lnSpc>
              <a:spcBef>
                <a:spcPts val="204"/>
              </a:spcBef>
              <a:buFont typeface="Arial"/>
              <a:buChar char="•"/>
              <a:tabLst>
                <a:tab pos="266065" algn="l"/>
                <a:tab pos="266700" algn="l"/>
              </a:tabLst>
            </a:pPr>
            <a:r>
              <a:rPr sz="2200" dirty="0">
                <a:latin typeface="Calibri"/>
                <a:cs typeface="Calibri"/>
              </a:rPr>
              <a:t>O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valor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do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peso</a:t>
            </a:r>
            <a:r>
              <a:rPr sz="2200" b="1" i="1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determina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força</a:t>
            </a:r>
            <a:r>
              <a:rPr sz="2200" b="1" i="1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sinal</a:t>
            </a:r>
            <a:r>
              <a:rPr sz="2200" b="1" i="1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ligação</a:t>
            </a:r>
            <a:r>
              <a:rPr sz="2200" spc="-10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266700" marR="305435" indent="-228600">
              <a:lnSpc>
                <a:spcPct val="72300"/>
              </a:lnSpc>
              <a:spcBef>
                <a:spcPts val="950"/>
              </a:spcBef>
              <a:buFont typeface="Arial"/>
              <a:buChar char="•"/>
              <a:tabLst>
                <a:tab pos="266065" algn="l"/>
                <a:tab pos="266700" algn="l"/>
              </a:tabLst>
            </a:pPr>
            <a:r>
              <a:rPr sz="2200" dirty="0">
                <a:latin typeface="Calibri"/>
                <a:cs typeface="Calibri"/>
              </a:rPr>
              <a:t>Cada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nó</a:t>
            </a:r>
            <a:r>
              <a:rPr sz="2200" b="1" i="1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tem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entrada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mbria Math"/>
                <a:cs typeface="Cambria Math"/>
              </a:rPr>
              <a:t>𝑥</a:t>
            </a:r>
            <a:r>
              <a:rPr sz="2400" baseline="-15625" dirty="0">
                <a:latin typeface="Cambria Math"/>
                <a:cs typeface="Cambria Math"/>
              </a:rPr>
              <a:t>0</a:t>
            </a:r>
            <a:r>
              <a:rPr sz="2400" spc="307" baseline="-15625" dirty="0">
                <a:latin typeface="Cambria Math"/>
                <a:cs typeface="Cambria Math"/>
              </a:rPr>
              <a:t> </a:t>
            </a:r>
            <a:r>
              <a:rPr sz="2200" dirty="0">
                <a:latin typeface="Calibri"/>
                <a:cs typeface="Calibri"/>
              </a:rPr>
              <a:t>(i.e.,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atributo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bias)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sempre </a:t>
            </a:r>
            <a:r>
              <a:rPr sz="2200" dirty="0">
                <a:latin typeface="Calibri"/>
                <a:cs typeface="Calibri"/>
              </a:rPr>
              <a:t>com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valor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igual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1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um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peso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associado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45" dirty="0">
                <a:latin typeface="Cambria Math"/>
                <a:cs typeface="Cambria Math"/>
              </a:rPr>
              <a:t>𝑤</a:t>
            </a:r>
            <a:r>
              <a:rPr sz="2400" spc="67" baseline="-15625" dirty="0">
                <a:latin typeface="Cambria Math"/>
                <a:cs typeface="Cambria Math"/>
              </a:rPr>
              <a:t>0𝑗</a:t>
            </a:r>
            <a:r>
              <a:rPr sz="2200" spc="45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723900" lvl="1" indent="-229235">
              <a:lnSpc>
                <a:spcPts val="2185"/>
              </a:lnSpc>
              <a:buFont typeface="Wingdings"/>
              <a:buChar char=""/>
              <a:tabLst>
                <a:tab pos="724535" algn="l"/>
              </a:tabLst>
            </a:pPr>
            <a:r>
              <a:rPr sz="1900" dirty="0">
                <a:latin typeface="Calibri"/>
                <a:cs typeface="Calibri"/>
              </a:rPr>
              <a:t>Ou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seja,</a:t>
            </a:r>
            <a:r>
              <a:rPr sz="1900" spc="-7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esta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entrada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b="1" i="1" dirty="0">
                <a:latin typeface="Calibri"/>
                <a:cs typeface="Calibri"/>
              </a:rPr>
              <a:t>não</a:t>
            </a:r>
            <a:r>
              <a:rPr sz="1900" b="1" i="1" spc="-65" dirty="0">
                <a:latin typeface="Calibri"/>
                <a:cs typeface="Calibri"/>
              </a:rPr>
              <a:t> </a:t>
            </a:r>
            <a:r>
              <a:rPr sz="1900" b="1" i="1" dirty="0">
                <a:latin typeface="Calibri"/>
                <a:cs typeface="Calibri"/>
              </a:rPr>
              <a:t>está</a:t>
            </a:r>
            <a:r>
              <a:rPr sz="1900" b="1" i="1" spc="-55" dirty="0">
                <a:latin typeface="Calibri"/>
                <a:cs typeface="Calibri"/>
              </a:rPr>
              <a:t> </a:t>
            </a:r>
            <a:r>
              <a:rPr sz="1900" b="1" i="1" spc="-10" dirty="0">
                <a:latin typeface="Calibri"/>
                <a:cs typeface="Calibri"/>
              </a:rPr>
              <a:t>conectada</a:t>
            </a:r>
            <a:r>
              <a:rPr sz="1900" b="1" i="1" spc="-45" dirty="0">
                <a:latin typeface="Calibri"/>
                <a:cs typeface="Calibri"/>
              </a:rPr>
              <a:t> </a:t>
            </a:r>
            <a:r>
              <a:rPr sz="1900" b="1" i="1" dirty="0">
                <a:latin typeface="Calibri"/>
                <a:cs typeface="Calibri"/>
              </a:rPr>
              <a:t>a</a:t>
            </a:r>
            <a:r>
              <a:rPr sz="1900" b="1" i="1" spc="-65" dirty="0">
                <a:latin typeface="Calibri"/>
                <a:cs typeface="Calibri"/>
              </a:rPr>
              <a:t> </a:t>
            </a:r>
            <a:r>
              <a:rPr sz="1900" b="1" i="1" dirty="0">
                <a:latin typeface="Calibri"/>
                <a:cs typeface="Calibri"/>
              </a:rPr>
              <a:t>nenhum</a:t>
            </a:r>
            <a:r>
              <a:rPr sz="1900" b="1" i="1" spc="-55" dirty="0">
                <a:latin typeface="Calibri"/>
                <a:cs typeface="Calibri"/>
              </a:rPr>
              <a:t> </a:t>
            </a:r>
            <a:r>
              <a:rPr sz="1900" b="1" i="1" dirty="0">
                <a:latin typeface="Calibri"/>
                <a:cs typeface="Calibri"/>
              </a:rPr>
              <a:t>outro</a:t>
            </a:r>
            <a:r>
              <a:rPr sz="1900" b="1" i="1" spc="-55" dirty="0">
                <a:latin typeface="Calibri"/>
                <a:cs typeface="Calibri"/>
              </a:rPr>
              <a:t> </a:t>
            </a:r>
            <a:r>
              <a:rPr sz="1900" b="1" i="1" spc="-25" dirty="0">
                <a:latin typeface="Calibri"/>
                <a:cs typeface="Calibri"/>
              </a:rPr>
              <a:t>nó</a:t>
            </a:r>
            <a:r>
              <a:rPr sz="1900" spc="-25" dirty="0">
                <a:latin typeface="Calibri"/>
                <a:cs typeface="Calibri"/>
              </a:rPr>
              <a:t>.</a:t>
            </a:r>
            <a:endParaRPr sz="1900" dirty="0">
              <a:latin typeface="Calibri"/>
              <a:cs typeface="Calibri"/>
            </a:endParaRPr>
          </a:p>
          <a:p>
            <a:pPr marL="266700" marR="421640" indent="-228600">
              <a:lnSpc>
                <a:spcPct val="70000"/>
              </a:lnSpc>
              <a:spcBef>
                <a:spcPts val="994"/>
              </a:spcBef>
              <a:buFont typeface="Arial"/>
              <a:buChar char="•"/>
              <a:tabLst>
                <a:tab pos="266065" algn="l"/>
                <a:tab pos="266700" algn="l"/>
              </a:tabLst>
            </a:pPr>
            <a:r>
              <a:rPr sz="2200" dirty="0">
                <a:latin typeface="Calibri"/>
                <a:cs typeface="Calibri"/>
              </a:rPr>
              <a:t>Cada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nó</a:t>
            </a:r>
            <a:r>
              <a:rPr sz="2200" b="1" i="1" spc="-40" dirty="0">
                <a:latin typeface="Calibri"/>
                <a:cs typeface="Calibri"/>
              </a:rPr>
              <a:t> </a:t>
            </a:r>
            <a:r>
              <a:rPr sz="2200" dirty="0">
                <a:latin typeface="Cambria Math"/>
                <a:cs typeface="Cambria Math"/>
              </a:rPr>
              <a:t>𝑗</a:t>
            </a:r>
            <a:r>
              <a:rPr sz="2200" dirty="0">
                <a:latin typeface="Calibri"/>
                <a:cs typeface="Calibri"/>
              </a:rPr>
              <a:t>,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calcula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soma</a:t>
            </a:r>
            <a:r>
              <a:rPr sz="2200" b="1" i="1" spc="-4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ponderada</a:t>
            </a:r>
            <a:r>
              <a:rPr sz="2200" b="1" i="1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suas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entrada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da </a:t>
            </a:r>
            <a:r>
              <a:rPr sz="2200" dirty="0">
                <a:latin typeface="Calibri"/>
                <a:cs typeface="Calibri"/>
              </a:rPr>
              <a:t>seguinte</a:t>
            </a:r>
            <a:r>
              <a:rPr sz="2200" spc="-114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forma</a:t>
            </a:r>
            <a:endParaRPr sz="2200" dirty="0">
              <a:latin typeface="Calibri"/>
              <a:cs typeface="Calibri"/>
            </a:endParaRPr>
          </a:p>
          <a:p>
            <a:pPr marR="516890" algn="r">
              <a:lnSpc>
                <a:spcPts val="1055"/>
              </a:lnSpc>
            </a:pPr>
            <a:r>
              <a:rPr sz="1200" dirty="0">
                <a:latin typeface="Cambria Math"/>
                <a:cs typeface="Cambria Math"/>
              </a:rPr>
              <a:t>𝑔(𝒙) </a:t>
            </a:r>
            <a:r>
              <a:rPr sz="1200" dirty="0">
                <a:latin typeface="Calibri"/>
                <a:cs typeface="Calibri"/>
              </a:rPr>
              <a:t>é</a:t>
            </a:r>
            <a:r>
              <a:rPr sz="1200" spc="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também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chamada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16939" y="5598363"/>
            <a:ext cx="6978015" cy="594995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241300" marR="5080" indent="-228600">
              <a:lnSpc>
                <a:spcPct val="70000"/>
              </a:lnSpc>
              <a:spcBef>
                <a:spcPts val="88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dirty="0">
                <a:latin typeface="Calibri"/>
                <a:cs typeface="Calibri"/>
              </a:rPr>
              <a:t>Existem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vários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tipos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9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funções</a:t>
            </a:r>
            <a:r>
              <a:rPr sz="2200" b="1" i="1" spc="-7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de</a:t>
            </a:r>
            <a:r>
              <a:rPr sz="2200" b="1" i="1" spc="-7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ativação</a:t>
            </a:r>
            <a:r>
              <a:rPr sz="2200" b="1" i="1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que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podem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ser </a:t>
            </a:r>
            <a:r>
              <a:rPr sz="2200" dirty="0">
                <a:latin typeface="Calibri"/>
                <a:cs typeface="Calibri"/>
              </a:rPr>
              <a:t>utilizadas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pelos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nós</a:t>
            </a:r>
            <a:r>
              <a:rPr sz="2200" b="1" i="1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uma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rede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MLP.</a:t>
            </a:r>
            <a:endParaRPr sz="2200" dirty="0">
              <a:latin typeface="Calibri"/>
              <a:cs typeface="Calibri"/>
            </a:endParaRPr>
          </a:p>
        </p:txBody>
      </p: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04812" y="3770680"/>
            <a:ext cx="3992519" cy="1769364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8112252" y="6044285"/>
            <a:ext cx="3935729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onde </a:t>
            </a:r>
            <a:r>
              <a:rPr sz="1400" dirty="0">
                <a:latin typeface="Cambria Math"/>
                <a:cs typeface="Cambria Math"/>
              </a:rPr>
              <a:t>𝑥</a:t>
            </a:r>
            <a:r>
              <a:rPr sz="1500" baseline="-16666" dirty="0">
                <a:latin typeface="Cambria Math"/>
                <a:cs typeface="Cambria Math"/>
              </a:rPr>
              <a:t>𝑖</a:t>
            </a:r>
            <a:r>
              <a:rPr sz="1500" spc="292" baseline="-16666" dirty="0">
                <a:latin typeface="Cambria Math"/>
                <a:cs typeface="Cambria Math"/>
              </a:rPr>
              <a:t> </a:t>
            </a:r>
            <a:r>
              <a:rPr sz="1400" dirty="0">
                <a:latin typeface="Calibri"/>
                <a:cs typeface="Calibri"/>
              </a:rPr>
              <a:t>é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 saída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do nó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dirty="0">
                <a:latin typeface="Cambria Math"/>
                <a:cs typeface="Cambria Math"/>
              </a:rPr>
              <a:t>𝑖</a:t>
            </a:r>
            <a:r>
              <a:rPr sz="1400" spc="40" dirty="0">
                <a:latin typeface="Cambria Math"/>
                <a:cs typeface="Cambria Math"/>
              </a:rPr>
              <a:t> </a:t>
            </a:r>
            <a:r>
              <a:rPr sz="1400" dirty="0">
                <a:latin typeface="Calibri"/>
                <a:cs typeface="Calibri"/>
              </a:rPr>
              <a:t>e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dirty="0">
                <a:latin typeface="Cambria Math"/>
                <a:cs typeface="Cambria Math"/>
              </a:rPr>
              <a:t>𝑤</a:t>
            </a:r>
            <a:r>
              <a:rPr sz="1500" baseline="-16666" dirty="0">
                <a:latin typeface="Cambria Math"/>
                <a:cs typeface="Cambria Math"/>
              </a:rPr>
              <a:t>𝑖𝑗</a:t>
            </a:r>
            <a:r>
              <a:rPr sz="1500" spc="284" baseline="-16666" dirty="0">
                <a:latin typeface="Cambria Math"/>
                <a:cs typeface="Cambria Math"/>
              </a:rPr>
              <a:t> </a:t>
            </a:r>
            <a:r>
              <a:rPr sz="1400" dirty="0">
                <a:latin typeface="Calibri"/>
                <a:cs typeface="Calibri"/>
              </a:rPr>
              <a:t>é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 peso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conectando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a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91539" y="6195466"/>
            <a:ext cx="9715500" cy="5956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6700" indent="-228600">
              <a:lnSpc>
                <a:spcPts val="2245"/>
              </a:lnSpc>
              <a:spcBef>
                <a:spcPts val="95"/>
              </a:spcBef>
              <a:buFont typeface="Arial"/>
              <a:buChar char="•"/>
              <a:tabLst>
                <a:tab pos="266065" algn="l"/>
                <a:tab pos="266700" algn="l"/>
              </a:tabLst>
            </a:pPr>
            <a:r>
              <a:rPr sz="2200" dirty="0">
                <a:latin typeface="Calibri"/>
                <a:cs typeface="Calibri"/>
              </a:rPr>
              <a:t>Cada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camada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pode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usar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funções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ativação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diferentes,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mas,</a:t>
            </a:r>
            <a:r>
              <a:rPr sz="2200" spc="195" dirty="0">
                <a:latin typeface="Calibri"/>
                <a:cs typeface="Calibri"/>
              </a:rPr>
              <a:t> </a:t>
            </a:r>
            <a:r>
              <a:rPr sz="2100" baseline="7936" dirty="0">
                <a:latin typeface="Calibri"/>
                <a:cs typeface="Calibri"/>
              </a:rPr>
              <a:t>saída</a:t>
            </a:r>
            <a:r>
              <a:rPr sz="2100" spc="-44" baseline="7936" dirty="0">
                <a:latin typeface="Calibri"/>
                <a:cs typeface="Calibri"/>
              </a:rPr>
              <a:t> </a:t>
            </a:r>
            <a:r>
              <a:rPr sz="2100" baseline="7936" dirty="0">
                <a:latin typeface="Calibri"/>
                <a:cs typeface="Calibri"/>
              </a:rPr>
              <a:t>do</a:t>
            </a:r>
            <a:r>
              <a:rPr sz="2100" spc="-52" baseline="7936" dirty="0">
                <a:latin typeface="Calibri"/>
                <a:cs typeface="Calibri"/>
              </a:rPr>
              <a:t> </a:t>
            </a:r>
            <a:r>
              <a:rPr sz="2100" baseline="7936" dirty="0">
                <a:latin typeface="Calibri"/>
                <a:cs typeface="Calibri"/>
              </a:rPr>
              <a:t>nó</a:t>
            </a:r>
            <a:r>
              <a:rPr sz="2100" spc="-52" baseline="7936" dirty="0">
                <a:latin typeface="Calibri"/>
                <a:cs typeface="Calibri"/>
              </a:rPr>
              <a:t> </a:t>
            </a:r>
            <a:r>
              <a:rPr sz="2100" baseline="7936" dirty="0">
                <a:latin typeface="Cambria Math"/>
                <a:cs typeface="Cambria Math"/>
              </a:rPr>
              <a:t>𝑖 </a:t>
            </a:r>
            <a:r>
              <a:rPr sz="2100" baseline="7936" dirty="0">
                <a:latin typeface="Calibri"/>
                <a:cs typeface="Calibri"/>
              </a:rPr>
              <a:t>para</a:t>
            </a:r>
            <a:r>
              <a:rPr sz="2100" spc="-52" baseline="7936" dirty="0">
                <a:latin typeface="Calibri"/>
                <a:cs typeface="Calibri"/>
              </a:rPr>
              <a:t> </a:t>
            </a:r>
            <a:r>
              <a:rPr sz="2100" baseline="7936" dirty="0">
                <a:latin typeface="Calibri"/>
                <a:cs typeface="Calibri"/>
              </a:rPr>
              <a:t>este</a:t>
            </a:r>
            <a:r>
              <a:rPr sz="2100" spc="-44" baseline="7936" dirty="0">
                <a:latin typeface="Calibri"/>
                <a:cs typeface="Calibri"/>
              </a:rPr>
              <a:t> </a:t>
            </a:r>
            <a:r>
              <a:rPr sz="2100" baseline="7936" dirty="0">
                <a:latin typeface="Calibri"/>
                <a:cs typeface="Calibri"/>
              </a:rPr>
              <a:t>nó,</a:t>
            </a:r>
            <a:r>
              <a:rPr sz="2100" spc="-60" baseline="7936" dirty="0">
                <a:latin typeface="Calibri"/>
                <a:cs typeface="Calibri"/>
              </a:rPr>
              <a:t> </a:t>
            </a:r>
            <a:r>
              <a:rPr sz="2100" baseline="7936" dirty="0">
                <a:latin typeface="Calibri"/>
                <a:cs typeface="Calibri"/>
              </a:rPr>
              <a:t>o</a:t>
            </a:r>
            <a:r>
              <a:rPr sz="2100" spc="-67" baseline="7936" dirty="0">
                <a:latin typeface="Calibri"/>
                <a:cs typeface="Calibri"/>
              </a:rPr>
              <a:t> </a:t>
            </a:r>
            <a:r>
              <a:rPr sz="2100" baseline="7936" dirty="0">
                <a:latin typeface="Calibri"/>
                <a:cs typeface="Calibri"/>
              </a:rPr>
              <a:t>nó</a:t>
            </a:r>
            <a:r>
              <a:rPr sz="2100" spc="-52" baseline="7936" dirty="0">
                <a:latin typeface="Calibri"/>
                <a:cs typeface="Calibri"/>
              </a:rPr>
              <a:t> </a:t>
            </a:r>
            <a:r>
              <a:rPr sz="2100" spc="-37" baseline="7936" dirty="0">
                <a:latin typeface="Cambria Math"/>
                <a:cs typeface="Cambria Math"/>
              </a:rPr>
              <a:t>𝑗</a:t>
            </a:r>
            <a:r>
              <a:rPr sz="2100" spc="-37" baseline="7936" dirty="0">
                <a:latin typeface="Calibri"/>
                <a:cs typeface="Calibri"/>
              </a:rPr>
              <a:t>.</a:t>
            </a:r>
            <a:endParaRPr sz="2100" baseline="7936" dirty="0">
              <a:latin typeface="Calibri"/>
              <a:cs typeface="Calibri"/>
            </a:endParaRPr>
          </a:p>
          <a:p>
            <a:pPr marL="266700">
              <a:lnSpc>
                <a:spcPts val="2245"/>
              </a:lnSpc>
            </a:pPr>
            <a:r>
              <a:rPr sz="2200" dirty="0">
                <a:latin typeface="Calibri"/>
                <a:cs typeface="Calibri"/>
              </a:rPr>
              <a:t>em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geral,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mesma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camada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usa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mesma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função.</a:t>
            </a:r>
            <a:endParaRPr sz="2200" dirty="0">
              <a:latin typeface="Calibri"/>
              <a:cs typeface="Calibri"/>
            </a:endParaRPr>
          </a:p>
        </p:txBody>
      </p:sp>
      <p:pic>
        <p:nvPicPr>
          <p:cNvPr id="23" name="object 2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82000" y="1252727"/>
            <a:ext cx="3672840" cy="2221992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6096000" y="4196613"/>
            <a:ext cx="11728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de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ativação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do</a:t>
            </a:r>
            <a:r>
              <a:rPr sz="1200" spc="-25" dirty="0">
                <a:latin typeface="Calibri"/>
                <a:cs typeface="Calibri"/>
              </a:rPr>
              <a:t> nó.</a:t>
            </a:r>
            <a:endParaRPr sz="1200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object 4">
                <a:extLst>
                  <a:ext uri="{FF2B5EF4-FFF2-40B4-BE49-F238E27FC236}">
                    <a16:creationId xmlns:a16="http://schemas.microsoft.com/office/drawing/2014/main" id="{EF559455-D8B5-E582-AFD0-E9FB59FD1ADF}"/>
                  </a:ext>
                </a:extLst>
              </p:cNvPr>
              <p:cNvSpPr txBox="1"/>
              <p:nvPr/>
            </p:nvSpPr>
            <p:spPr>
              <a:xfrm>
                <a:off x="1830743" y="5181590"/>
                <a:ext cx="5463086" cy="414665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63500">
                  <a:lnSpc>
                    <a:spcPct val="100000"/>
                  </a:lnSpc>
                  <a:spcBef>
                    <a:spcPts val="95"/>
                  </a:spcBef>
                  <a:tabLst>
                    <a:tab pos="1583055" algn="l"/>
                    <a:tab pos="1967230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2200" b="0" i="1" dirty="0" smtClean="0">
                            <a:latin typeface="Cambria Math" panose="02040503050406030204" pitchFamily="18" charset="0"/>
                            <a:cs typeface="Cambria Math"/>
                          </a:rPr>
                        </m:ctrlPr>
                      </m:sSubPr>
                      <m:e>
                        <m:r>
                          <a:rPr lang="pt-BR" sz="2200" i="1" dirty="0" smtClean="0">
                            <a:latin typeface="Cambria Math" panose="02040503050406030204" pitchFamily="18" charset="0"/>
                            <a:cs typeface="Cambria Math"/>
                          </a:rPr>
                          <m:t>𝑦</m:t>
                        </m:r>
                      </m:e>
                      <m:sub>
                        <m:r>
                          <a:rPr lang="pt-BR" sz="2200" b="0" i="1" dirty="0" smtClean="0">
                            <a:latin typeface="Cambria Math" panose="02040503050406030204" pitchFamily="18" charset="0"/>
                            <a:cs typeface="Cambria Math"/>
                          </a:rPr>
                          <m:t>𝑗</m:t>
                        </m:r>
                      </m:sub>
                    </m:sSub>
                    <m:r>
                      <a:rPr lang="pt-BR" sz="2200" b="0" i="1" dirty="0" smtClean="0">
                        <a:latin typeface="Cambria Math" panose="02040503050406030204" pitchFamily="18" charset="0"/>
                        <a:cs typeface="Cambria Math"/>
                      </a:rPr>
                      <m:t>=</m:t>
                    </m:r>
                    <m:r>
                      <a:rPr lang="pt-BR" sz="2200" b="0" i="1" dirty="0" smtClean="0">
                        <a:latin typeface="Cambria Math" panose="02040503050406030204" pitchFamily="18" charset="0"/>
                        <a:cs typeface="Cambria Math"/>
                      </a:rPr>
                      <m:t>𝑓</m:t>
                    </m:r>
                    <m:d>
                      <m:dPr>
                        <m:ctrlPr>
                          <a:rPr lang="pt-BR" sz="2200" b="0" i="1" dirty="0" smtClean="0">
                            <a:latin typeface="Cambria Math" panose="02040503050406030204" pitchFamily="18" charset="0"/>
                            <a:cs typeface="Cambria Math"/>
                          </a:rPr>
                        </m:ctrlPr>
                      </m:dPr>
                      <m:e>
                        <m:r>
                          <a:rPr lang="pt-BR" sz="2200" b="0" i="1" dirty="0" smtClean="0">
                            <a:latin typeface="Cambria Math" panose="02040503050406030204" pitchFamily="18" charset="0"/>
                            <a:cs typeface="Cambria Math"/>
                          </a:rPr>
                          <m:t>𝑔</m:t>
                        </m:r>
                        <m:d>
                          <m:dPr>
                            <m:ctrlPr>
                              <a:rPr lang="pt-BR" sz="2200" b="0" i="1" dirty="0" smtClean="0">
                                <a:latin typeface="Cambria Math" panose="02040503050406030204" pitchFamily="18" charset="0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pt-BR" sz="2200" b="1" i="1" dirty="0" smtClean="0">
                                <a:latin typeface="Cambria Math" panose="02040503050406030204" pitchFamily="18" charset="0"/>
                                <a:cs typeface="Cambria Math"/>
                              </a:rPr>
                              <m:t>𝒙</m:t>
                            </m:r>
                          </m:e>
                        </m:d>
                      </m:e>
                    </m:d>
                    <m:r>
                      <a:rPr lang="pt-BR" sz="2200" b="0" i="1" dirty="0" smtClean="0">
                        <a:latin typeface="Cambria Math" panose="02040503050406030204" pitchFamily="18" charset="0"/>
                        <a:cs typeface="Cambria Math"/>
                      </a:rPr>
                      <m:t>=</m:t>
                    </m:r>
                    <m:r>
                      <a:rPr lang="pt-BR" sz="2200" b="0" i="1" dirty="0" smtClean="0">
                        <a:latin typeface="Cambria Math" panose="02040503050406030204" pitchFamily="18" charset="0"/>
                        <a:cs typeface="Cambria Math"/>
                      </a:rPr>
                      <m:t>𝑓</m:t>
                    </m:r>
                    <m:d>
                      <m:dPr>
                        <m:ctrlPr>
                          <a:rPr lang="pt-BR" sz="22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limLoc m:val="subSup"/>
                            <m:ctrlPr>
                              <a:rPr lang="pt-BR" sz="2200" i="1" dirty="0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pt-BR" sz="22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pt-BR" sz="2200" b="0" i="1" dirty="0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pt-BR" sz="2200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pt-BR" sz="2200" b="0" i="1" dirty="0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sSub>
                              <m:sSubPr>
                                <m:ctrlPr>
                                  <a:rPr lang="pt-BR" sz="22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2200" b="0" i="1" dirty="0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pt-BR" sz="2200" b="0" i="1" dirty="0" smtClean="0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pt-BR" sz="22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2200" b="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pt-BR" sz="2200" b="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e>
                    </m:d>
                    <m:r>
                      <a:rPr lang="pt-BR" sz="22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200" b="0" i="1" dirty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pt-BR" sz="22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pt-BR" sz="22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200" b="1" i="1" dirty="0" smtClean="0"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pt-BR" sz="2200" b="0" i="0" dirty="0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</m:sup>
                        </m:sSup>
                        <m:r>
                          <a:rPr lang="pt-BR" sz="2200" b="1" i="1" dirty="0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pt-BR" sz="2200" spc="-50" dirty="0">
                    <a:latin typeface="Calibri"/>
                    <a:cs typeface="Calibri"/>
                  </a:rPr>
                  <a:t>.</a:t>
                </a:r>
                <a:endParaRPr sz="22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25" name="object 4">
                <a:extLst>
                  <a:ext uri="{FF2B5EF4-FFF2-40B4-BE49-F238E27FC236}">
                    <a16:creationId xmlns:a16="http://schemas.microsoft.com/office/drawing/2014/main" id="{EF559455-D8B5-E582-AFD0-E9FB59FD1A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0743" y="5181590"/>
                <a:ext cx="5463086" cy="414665"/>
              </a:xfrm>
              <a:prstGeom prst="rect">
                <a:avLst/>
              </a:prstGeom>
              <a:blipFill>
                <a:blip r:embed="rId5"/>
                <a:stretch>
                  <a:fillRect l="-670" t="-135294" b="-19852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object 4">
                <a:extLst>
                  <a:ext uri="{FF2B5EF4-FFF2-40B4-BE49-F238E27FC236}">
                    <a16:creationId xmlns:a16="http://schemas.microsoft.com/office/drawing/2014/main" id="{A3BE2DA8-DF2C-F98D-583A-B029612E6CC6}"/>
                  </a:ext>
                </a:extLst>
              </p:cNvPr>
              <p:cNvSpPr txBox="1"/>
              <p:nvPr/>
            </p:nvSpPr>
            <p:spPr>
              <a:xfrm>
                <a:off x="8755713" y="5765696"/>
                <a:ext cx="3436287" cy="260328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63500">
                  <a:lnSpc>
                    <a:spcPct val="100000"/>
                  </a:lnSpc>
                  <a:spcBef>
                    <a:spcPts val="95"/>
                  </a:spcBef>
                  <a:tabLst>
                    <a:tab pos="1583055" algn="l"/>
                    <a:tab pos="1967230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1400" b="0" i="1" dirty="0" smtClean="0">
                            <a:latin typeface="Cambria Math" panose="02040503050406030204" pitchFamily="18" charset="0"/>
                            <a:cs typeface="Cambria Math"/>
                          </a:rPr>
                        </m:ctrlPr>
                      </m:sSubPr>
                      <m:e>
                        <m:r>
                          <a:rPr lang="pt-BR" sz="1400" i="1" dirty="0" smtClean="0">
                            <a:latin typeface="Cambria Math" panose="02040503050406030204" pitchFamily="18" charset="0"/>
                            <a:cs typeface="Cambria Math"/>
                          </a:rPr>
                          <m:t>𝑦</m:t>
                        </m:r>
                      </m:e>
                      <m:sub>
                        <m:r>
                          <a:rPr lang="pt-BR" sz="1400" b="0" i="1" dirty="0" smtClean="0">
                            <a:latin typeface="Cambria Math" panose="02040503050406030204" pitchFamily="18" charset="0"/>
                            <a:cs typeface="Cambria Math"/>
                          </a:rPr>
                          <m:t>𝑗</m:t>
                        </m:r>
                      </m:sub>
                    </m:sSub>
                    <m:r>
                      <a:rPr lang="pt-BR" sz="1400" b="0" i="1" dirty="0" smtClean="0">
                        <a:latin typeface="Cambria Math" panose="02040503050406030204" pitchFamily="18" charset="0"/>
                        <a:cs typeface="Cambria Math"/>
                      </a:rPr>
                      <m:t>=</m:t>
                    </m:r>
                    <m:r>
                      <a:rPr lang="pt-BR" sz="1400" b="0" i="1" dirty="0" smtClean="0">
                        <a:latin typeface="Cambria Math" panose="02040503050406030204" pitchFamily="18" charset="0"/>
                        <a:cs typeface="Cambria Math"/>
                      </a:rPr>
                      <m:t>𝑓</m:t>
                    </m:r>
                    <m:d>
                      <m:dPr>
                        <m:ctrlPr>
                          <a:rPr lang="pt-BR" sz="1400" b="0" i="1" dirty="0" smtClean="0">
                            <a:latin typeface="Cambria Math" panose="02040503050406030204" pitchFamily="18" charset="0"/>
                            <a:cs typeface="Cambria Math"/>
                          </a:rPr>
                        </m:ctrlPr>
                      </m:dPr>
                      <m:e>
                        <m:r>
                          <a:rPr lang="pt-BR" sz="1400" b="0" i="1" dirty="0" smtClean="0">
                            <a:latin typeface="Cambria Math" panose="02040503050406030204" pitchFamily="18" charset="0"/>
                            <a:cs typeface="Cambria Math"/>
                          </a:rPr>
                          <m:t>𝑔</m:t>
                        </m:r>
                        <m:d>
                          <m:dPr>
                            <m:ctrlPr>
                              <a:rPr lang="pt-BR" sz="1400" b="0" i="1" dirty="0" smtClean="0">
                                <a:latin typeface="Cambria Math" panose="02040503050406030204" pitchFamily="18" charset="0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pt-BR" sz="1400" b="1" i="1" dirty="0" smtClean="0">
                                <a:latin typeface="Cambria Math" panose="02040503050406030204" pitchFamily="18" charset="0"/>
                                <a:cs typeface="Cambria Math"/>
                              </a:rPr>
                              <m:t>𝒙</m:t>
                            </m:r>
                          </m:e>
                        </m:d>
                      </m:e>
                    </m:d>
                    <m:r>
                      <a:rPr lang="pt-BR" sz="1400" b="0" i="1" dirty="0" smtClean="0">
                        <a:latin typeface="Cambria Math" panose="02040503050406030204" pitchFamily="18" charset="0"/>
                        <a:cs typeface="Cambria Math"/>
                      </a:rPr>
                      <m:t>=</m:t>
                    </m:r>
                    <m:r>
                      <a:rPr lang="pt-BR" sz="1400" b="0" i="1" dirty="0" smtClean="0">
                        <a:latin typeface="Cambria Math" panose="02040503050406030204" pitchFamily="18" charset="0"/>
                        <a:cs typeface="Cambria Math"/>
                      </a:rPr>
                      <m:t>𝑓</m:t>
                    </m:r>
                    <m:d>
                      <m:dPr>
                        <m:ctrlPr>
                          <a:rPr lang="pt-BR" sz="1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limLoc m:val="subSup"/>
                            <m:ctrlPr>
                              <a:rPr lang="pt-BR" sz="1400" i="1" dirty="0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pt-BR" sz="14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pt-BR" sz="1400" b="0" i="1" dirty="0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pt-BR" sz="1400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pt-BR" sz="1400" b="0" i="1" dirty="0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sSub>
                              <m:sSubPr>
                                <m:ctrlPr>
                                  <a:rPr lang="pt-BR" sz="14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1400" b="0" i="1" dirty="0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pt-BR" sz="1400" b="0" i="1" dirty="0" smtClean="0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pt-BR" sz="14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1400" b="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pt-BR" sz="1400" b="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e>
                    </m:d>
                  </m:oMath>
                </a14:m>
                <a:r>
                  <a:rPr lang="pt-BR" sz="1400" spc="-50" dirty="0">
                    <a:latin typeface="Calibri"/>
                    <a:cs typeface="Calibri"/>
                  </a:rPr>
                  <a:t>.</a:t>
                </a:r>
                <a:endParaRPr sz="14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26" name="object 4">
                <a:extLst>
                  <a:ext uri="{FF2B5EF4-FFF2-40B4-BE49-F238E27FC236}">
                    <a16:creationId xmlns:a16="http://schemas.microsoft.com/office/drawing/2014/main" id="{A3BE2DA8-DF2C-F98D-583A-B029612E6C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5713" y="5765696"/>
                <a:ext cx="3436287" cy="260328"/>
              </a:xfrm>
              <a:prstGeom prst="rect">
                <a:avLst/>
              </a:prstGeom>
              <a:blipFill>
                <a:blip r:embed="rId6"/>
                <a:stretch>
                  <a:fillRect t="-127907" b="-19767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45688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Funções</a:t>
            </a:r>
            <a:r>
              <a:rPr spc="-20" dirty="0"/>
              <a:t> </a:t>
            </a:r>
            <a:r>
              <a:rPr dirty="0"/>
              <a:t>de</a:t>
            </a:r>
            <a:r>
              <a:rPr spc="-10" dirty="0"/>
              <a:t> ativação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467688"/>
            <a:ext cx="11020425" cy="2618105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241300" marR="531495" indent="-228600">
              <a:lnSpc>
                <a:spcPct val="70100"/>
              </a:lnSpc>
              <a:spcBef>
                <a:spcPts val="104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Devido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suas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características,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não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utiliza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função</a:t>
            </a:r>
            <a:r>
              <a:rPr sz="2600" b="1" i="1" spc="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degrau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como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função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de </a:t>
            </a:r>
            <a:r>
              <a:rPr sz="2600" dirty="0">
                <a:latin typeface="Calibri"/>
                <a:cs typeface="Calibri"/>
              </a:rPr>
              <a:t>ativação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em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MLPs.</a:t>
            </a:r>
            <a:endParaRPr sz="2600" dirty="0">
              <a:latin typeface="Calibri"/>
              <a:cs typeface="Calibri"/>
            </a:endParaRPr>
          </a:p>
          <a:p>
            <a:pPr marL="698500" lvl="1" indent="-229235">
              <a:lnSpc>
                <a:spcPts val="2345"/>
              </a:lnSpc>
              <a:buFont typeface="Wingdings"/>
              <a:buChar char=""/>
              <a:tabLst>
                <a:tab pos="699135" algn="l"/>
              </a:tabLst>
            </a:pPr>
            <a:r>
              <a:rPr sz="2200" spc="-10" dirty="0">
                <a:latin typeface="Calibri"/>
                <a:cs typeface="Calibri"/>
              </a:rPr>
              <a:t>Derivada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sempre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igual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zero,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exceto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na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origem,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onde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é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indeterminada.</a:t>
            </a:r>
            <a:endParaRPr sz="2200" dirty="0">
              <a:latin typeface="Calibri"/>
              <a:cs typeface="Calibri"/>
            </a:endParaRPr>
          </a:p>
          <a:p>
            <a:pPr marL="241300" marR="5080" indent="-228600">
              <a:lnSpc>
                <a:spcPct val="70000"/>
              </a:lnSpc>
              <a:spcBef>
                <a:spcPts val="100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Até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surgimento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redes</a:t>
            </a:r>
            <a:r>
              <a:rPr sz="2600" b="1" i="1" spc="-5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neurais</a:t>
            </a:r>
            <a:r>
              <a:rPr sz="2600" b="1" i="1" spc="-4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profundas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regra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era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utilizar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funções </a:t>
            </a:r>
            <a:r>
              <a:rPr sz="2600" b="1" i="1" dirty="0">
                <a:latin typeface="Calibri"/>
                <a:cs typeface="Calibri"/>
              </a:rPr>
              <a:t>logística</a:t>
            </a:r>
            <a:r>
              <a:rPr sz="2600" b="1" i="1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ou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tangente</a:t>
            </a:r>
            <a:r>
              <a:rPr sz="2600" b="1" i="1" spc="-6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hiperbólica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são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versões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suavizadas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função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degrau.</a:t>
            </a:r>
            <a:endParaRPr sz="2600" dirty="0">
              <a:latin typeface="Calibri"/>
              <a:cs typeface="Calibri"/>
            </a:endParaRPr>
          </a:p>
          <a:p>
            <a:pPr marL="698500" marR="400685" lvl="1" indent="-228600">
              <a:lnSpc>
                <a:spcPct val="70000"/>
              </a:lnSpc>
              <a:spcBef>
                <a:spcPts val="500"/>
              </a:spcBef>
              <a:buFont typeface="Wingdings"/>
              <a:buChar char=""/>
              <a:tabLst>
                <a:tab pos="699135" algn="l"/>
              </a:tabLst>
            </a:pPr>
            <a:r>
              <a:rPr sz="2200" dirty="0">
                <a:latin typeface="Calibri"/>
                <a:cs typeface="Calibri"/>
              </a:rPr>
              <a:t>Essas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funções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são</a:t>
            </a:r>
            <a:r>
              <a:rPr sz="2200" b="1" i="1" spc="-50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contínuas</a:t>
            </a:r>
            <a:r>
              <a:rPr sz="2200" b="1" i="1" spc="-5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e</a:t>
            </a:r>
            <a:r>
              <a:rPr sz="2200" b="1" i="1" spc="-6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possuem</a:t>
            </a:r>
            <a:r>
              <a:rPr sz="2200" b="1" i="1" spc="-5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derivada</a:t>
            </a:r>
            <a:r>
              <a:rPr sz="2200" b="1" i="1" spc="-5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definida</a:t>
            </a:r>
            <a:r>
              <a:rPr sz="2200" b="1" i="1" spc="-5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e</a:t>
            </a:r>
            <a:r>
              <a:rPr sz="2200" b="1" i="1" spc="-65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diferente</a:t>
            </a:r>
            <a:r>
              <a:rPr sz="2200" b="1" i="1" spc="-5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de</a:t>
            </a:r>
            <a:r>
              <a:rPr sz="2200" b="1" i="1" spc="-6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0</a:t>
            </a:r>
            <a:r>
              <a:rPr sz="2200" b="1" i="1" spc="-5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em</a:t>
            </a:r>
            <a:r>
              <a:rPr sz="2200" b="1" i="1" spc="-6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todos</a:t>
            </a:r>
            <a:r>
              <a:rPr sz="2200" b="1" i="1" spc="-60" dirty="0">
                <a:latin typeface="Calibri"/>
                <a:cs typeface="Calibri"/>
              </a:rPr>
              <a:t> </a:t>
            </a:r>
            <a:r>
              <a:rPr sz="2200" b="1" i="1" spc="-25" dirty="0">
                <a:latin typeface="Calibri"/>
                <a:cs typeface="Calibri"/>
              </a:rPr>
              <a:t>os </a:t>
            </a:r>
            <a:r>
              <a:rPr sz="2200" b="1" i="1" spc="-10" dirty="0">
                <a:latin typeface="Calibri"/>
                <a:cs typeface="Calibri"/>
              </a:rPr>
              <a:t>pontos</a:t>
            </a:r>
            <a:r>
              <a:rPr sz="2200" spc="-10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A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função</a:t>
            </a:r>
            <a:r>
              <a:rPr sz="2600" b="1" i="1" spc="-1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logística</a:t>
            </a:r>
            <a:r>
              <a:rPr sz="2600" b="1" i="1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tem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seguinte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expressão:</a:t>
            </a:r>
            <a:endParaRPr sz="2600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91539" y="4782667"/>
            <a:ext cx="8336280" cy="861060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65"/>
              </a:spcBef>
            </a:pPr>
            <a:r>
              <a:rPr sz="2600" dirty="0">
                <a:latin typeface="Calibri"/>
                <a:cs typeface="Calibri"/>
              </a:rPr>
              <a:t>onde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mbria Math"/>
                <a:cs typeface="Cambria Math"/>
              </a:rPr>
              <a:t>𝑧</a:t>
            </a:r>
            <a:r>
              <a:rPr sz="2850" baseline="-16081" dirty="0">
                <a:latin typeface="Cambria Math"/>
                <a:cs typeface="Cambria Math"/>
              </a:rPr>
              <a:t>𝑗</a:t>
            </a:r>
            <a:r>
              <a:rPr sz="2850" spc="457" baseline="-16081" dirty="0">
                <a:latin typeface="Cambria Math"/>
                <a:cs typeface="Cambria Math"/>
              </a:rPr>
              <a:t> 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combinação</a:t>
            </a:r>
            <a:r>
              <a:rPr sz="2600" b="1" i="1" spc="-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linear</a:t>
            </a:r>
            <a:r>
              <a:rPr sz="2600" b="1" i="1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das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entradas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do</a:t>
            </a:r>
            <a:r>
              <a:rPr sz="2600" b="1" i="1" spc="-1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nó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i.e.,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mbria Math"/>
                <a:cs typeface="Cambria Math"/>
              </a:rPr>
              <a:t>𝑔(𝒙)</a:t>
            </a:r>
            <a:r>
              <a:rPr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66700" indent="-228600">
              <a:lnSpc>
                <a:spcPct val="100000"/>
              </a:lnSpc>
              <a:spcBef>
                <a:spcPts val="170"/>
              </a:spcBef>
              <a:buFont typeface="Arial"/>
              <a:buChar char="•"/>
              <a:tabLst>
                <a:tab pos="266700" algn="l"/>
              </a:tabLst>
            </a:pPr>
            <a:r>
              <a:rPr sz="2600" dirty="0">
                <a:latin typeface="Calibri"/>
                <a:cs typeface="Calibri"/>
              </a:rPr>
              <a:t>Sua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derivada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dada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por</a:t>
            </a:r>
            <a:endParaRPr sz="2600" dirty="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16939" y="6339941"/>
            <a:ext cx="10817860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derivada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será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importante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durante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processo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aprendizado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rede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neural.</a:t>
            </a:r>
            <a:endParaRPr sz="260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aixaDeTexto 20">
                <a:extLst>
                  <a:ext uri="{FF2B5EF4-FFF2-40B4-BE49-F238E27FC236}">
                    <a16:creationId xmlns:a16="http://schemas.microsoft.com/office/drawing/2014/main" id="{12BCD8C3-5CE0-FE47-4A3D-CEAB7BC49014}"/>
                  </a:ext>
                </a:extLst>
              </p:cNvPr>
              <p:cNvSpPr txBox="1"/>
              <p:nvPr/>
            </p:nvSpPr>
            <p:spPr>
              <a:xfrm>
                <a:off x="3891711" y="4047290"/>
                <a:ext cx="4408578" cy="7253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sup>
                          </m:s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sup>
                          </m:sSup>
                        </m:den>
                      </m:f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21" name="CaixaDeTexto 20">
                <a:extLst>
                  <a:ext uri="{FF2B5EF4-FFF2-40B4-BE49-F238E27FC236}">
                    <a16:creationId xmlns:a16="http://schemas.microsoft.com/office/drawing/2014/main" id="{12BCD8C3-5CE0-FE47-4A3D-CEAB7BC490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1711" y="4047290"/>
                <a:ext cx="4408578" cy="72532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aixaDeTexto 21">
                <a:extLst>
                  <a:ext uri="{FF2B5EF4-FFF2-40B4-BE49-F238E27FC236}">
                    <a16:creationId xmlns:a16="http://schemas.microsoft.com/office/drawing/2014/main" id="{9AD4809F-5B6B-9830-CB04-9B8AB4E19F6E}"/>
                  </a:ext>
                </a:extLst>
              </p:cNvPr>
              <p:cNvSpPr txBox="1"/>
              <p:nvPr/>
            </p:nvSpPr>
            <p:spPr>
              <a:xfrm>
                <a:off x="4024439" y="5525817"/>
                <a:ext cx="4143122" cy="8749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𝑑𝑓</m:t>
                          </m:r>
                          <m:d>
                            <m:d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22" name="CaixaDeTexto 21">
                <a:extLst>
                  <a:ext uri="{FF2B5EF4-FFF2-40B4-BE49-F238E27FC236}">
                    <a16:creationId xmlns:a16="http://schemas.microsoft.com/office/drawing/2014/main" id="{9AD4809F-5B6B-9830-CB04-9B8AB4E19F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4439" y="5525817"/>
                <a:ext cx="4143122" cy="8749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39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Funções</a:t>
            </a:r>
            <a:r>
              <a:rPr spc="-20" dirty="0"/>
              <a:t> </a:t>
            </a:r>
            <a:r>
              <a:rPr dirty="0"/>
              <a:t>de</a:t>
            </a:r>
            <a:r>
              <a:rPr spc="-10" dirty="0"/>
              <a:t> ativação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6939" y="1447800"/>
            <a:ext cx="10890885" cy="2159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função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logística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derivada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são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mostradas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nas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figuras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abaixo.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ts val="2450"/>
              </a:lnSpc>
              <a:spcBef>
                <a:spcPts val="130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valor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derivada,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𝑑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sempre</a:t>
            </a:r>
            <a:r>
              <a:rPr sz="2400" b="1" i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será</a:t>
            </a:r>
            <a:r>
              <a:rPr sz="2400" b="1" i="1" spc="-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menor</a:t>
            </a:r>
            <a:r>
              <a:rPr sz="2400" b="1" i="1" spc="-2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do</a:t>
            </a:r>
            <a:r>
              <a:rPr sz="2400" b="1" i="1" spc="-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que</a:t>
            </a:r>
            <a:r>
              <a:rPr sz="2400" b="1" i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1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sendo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no</a:t>
            </a:r>
            <a:r>
              <a:rPr sz="2400" b="1" i="1" spc="-1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máximo</a:t>
            </a:r>
            <a:r>
              <a:rPr sz="2400" b="1" i="1" spc="-5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igual</a:t>
            </a:r>
            <a:r>
              <a:rPr sz="2400" b="1" i="1" spc="-2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a</a:t>
            </a:r>
            <a:r>
              <a:rPr sz="2400" b="1" i="1" spc="-20" dirty="0">
                <a:latin typeface="Calibri"/>
                <a:cs typeface="Calibri"/>
              </a:rPr>
              <a:t> 0.25</a:t>
            </a:r>
            <a:endParaRPr sz="2400" dirty="0">
              <a:latin typeface="Calibri"/>
              <a:cs typeface="Calibri"/>
            </a:endParaRPr>
          </a:p>
          <a:p>
            <a:pPr marL="241300">
              <a:lnSpc>
                <a:spcPts val="2345"/>
              </a:lnSpc>
              <a:tabLst>
                <a:tab pos="1588135" algn="l"/>
                <a:tab pos="1976755" algn="l"/>
              </a:tabLst>
            </a:pPr>
            <a:r>
              <a:rPr sz="2400" b="1" i="1" dirty="0" err="1">
                <a:latin typeface="Calibri"/>
                <a:cs typeface="Calibri"/>
              </a:rPr>
              <a:t>quando</a:t>
            </a:r>
            <a:r>
              <a:rPr sz="2400" b="1" i="1" spc="-40" dirty="0">
                <a:latin typeface="Calibri"/>
                <a:cs typeface="Calibri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𝑔</a:t>
            </a:r>
            <a:r>
              <a:rPr lang="pt-BR" sz="2400" spc="-50" dirty="0">
                <a:latin typeface="Cambria Math"/>
                <a:cs typeface="Cambria Math"/>
              </a:rPr>
              <a:t>(</a:t>
            </a:r>
            <a:r>
              <a:rPr sz="2400" spc="-50" dirty="0">
                <a:latin typeface="Cambria Math"/>
                <a:cs typeface="Cambria Math"/>
              </a:rPr>
              <a:t>𝒙</a:t>
            </a:r>
            <a:r>
              <a:rPr lang="pt-BR" sz="2400" spc="-50" dirty="0">
                <a:latin typeface="Cambria Math"/>
                <a:cs typeface="Cambria Math"/>
              </a:rPr>
              <a:t>)</a:t>
            </a:r>
            <a:r>
              <a:rPr sz="2400" dirty="0">
                <a:latin typeface="Cambria Math"/>
                <a:cs typeface="Cambria Math"/>
              </a:rPr>
              <a:t>	=</a:t>
            </a:r>
            <a:r>
              <a:rPr sz="2400" spc="125" dirty="0">
                <a:latin typeface="Cambria Math"/>
                <a:cs typeface="Cambria Math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0</a:t>
            </a:r>
            <a:r>
              <a:rPr sz="2400" spc="-2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698500" marR="568960" lvl="1" indent="-228600">
              <a:lnSpc>
                <a:spcPct val="70000"/>
              </a:lnSpc>
              <a:spcBef>
                <a:spcPts val="615"/>
              </a:spcBef>
              <a:buFont typeface="Wingdings"/>
              <a:buChar char=""/>
              <a:tabLst>
                <a:tab pos="699135" algn="l"/>
              </a:tabLst>
            </a:pPr>
            <a:r>
              <a:rPr sz="2000" dirty="0">
                <a:latin typeface="Calibri"/>
                <a:cs typeface="Calibri"/>
              </a:rPr>
              <a:t>Isso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causa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um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problema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aprendizado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redes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com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muitas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camadas,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i.e.,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redes</a:t>
            </a:r>
            <a:r>
              <a:rPr sz="2000" spc="-10" dirty="0">
                <a:latin typeface="Calibri"/>
                <a:cs typeface="Calibri"/>
              </a:rPr>
              <a:t> profundas, </a:t>
            </a:r>
            <a:r>
              <a:rPr sz="2000" dirty="0">
                <a:latin typeface="Calibri"/>
                <a:cs typeface="Calibri"/>
              </a:rPr>
              <a:t>chamado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dissipação</a:t>
            </a:r>
            <a:r>
              <a:rPr sz="2000" b="1" i="1" spc="-50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do</a:t>
            </a:r>
            <a:r>
              <a:rPr sz="2000" b="1" i="1" spc="-30" dirty="0">
                <a:latin typeface="Calibri"/>
                <a:cs typeface="Calibri"/>
              </a:rPr>
              <a:t> </a:t>
            </a:r>
            <a:r>
              <a:rPr sz="2000" b="1" i="1" spc="-10" dirty="0">
                <a:latin typeface="Calibri"/>
                <a:cs typeface="Calibri"/>
              </a:rPr>
              <a:t>gradiente</a:t>
            </a:r>
            <a:r>
              <a:rPr sz="2000" spc="-10" dirty="0"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  <a:p>
            <a:pPr marL="241300" marR="5080" indent="-228600">
              <a:lnSpc>
                <a:spcPct val="70000"/>
              </a:lnSpc>
              <a:spcBef>
                <a:spcPts val="990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Quando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𝑧</a:t>
            </a:r>
            <a:r>
              <a:rPr sz="2400" spc="20" dirty="0">
                <a:latin typeface="Cambria Math"/>
                <a:cs typeface="Cambria Math"/>
              </a:rPr>
              <a:t> </a:t>
            </a:r>
            <a:r>
              <a:rPr sz="2400" dirty="0">
                <a:latin typeface="Calibri"/>
                <a:cs typeface="Calibri"/>
              </a:rPr>
              <a:t>se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torna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muito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grande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(negativo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positivo),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função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satura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em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0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o </a:t>
            </a:r>
            <a:r>
              <a:rPr sz="2400" dirty="0">
                <a:latin typeface="Calibri"/>
                <a:cs typeface="Calibri"/>
              </a:rPr>
              <a:t>valor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derivada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tende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5" dirty="0">
                <a:latin typeface="Calibri"/>
                <a:cs typeface="Calibri"/>
              </a:rPr>
              <a:t> 0.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42" name="Imagem 41">
            <a:extLst>
              <a:ext uri="{FF2B5EF4-FFF2-40B4-BE49-F238E27FC236}">
                <a16:creationId xmlns:a16="http://schemas.microsoft.com/office/drawing/2014/main" id="{69E248A5-DF10-1076-B09C-0EEF6FEB1B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067381"/>
            <a:ext cx="11383917" cy="267962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406349"/>
            <a:ext cx="45688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Funções</a:t>
            </a:r>
            <a:r>
              <a:rPr spc="-20" dirty="0"/>
              <a:t> </a:t>
            </a:r>
            <a:r>
              <a:rPr dirty="0"/>
              <a:t>de</a:t>
            </a:r>
            <a:r>
              <a:rPr spc="-10" dirty="0"/>
              <a:t> ativação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219200"/>
            <a:ext cx="643636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000" dirty="0">
                <a:latin typeface="Calibri"/>
                <a:cs typeface="Calibri"/>
              </a:rPr>
              <a:t>A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função</a:t>
            </a:r>
            <a:r>
              <a:rPr sz="2000" b="1" i="1" spc="-70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tangente</a:t>
            </a:r>
            <a:r>
              <a:rPr sz="2000" b="1" i="1" spc="-70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hiperbólica</a:t>
            </a:r>
            <a:r>
              <a:rPr sz="2000" b="1" i="1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tem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sua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expressão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dada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por: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78839" y="2268448"/>
            <a:ext cx="6435090" cy="72390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445"/>
              </a:spcBef>
            </a:pPr>
            <a:r>
              <a:rPr sz="2000" dirty="0">
                <a:latin typeface="Calibri"/>
                <a:cs typeface="Calibri"/>
              </a:rPr>
              <a:t>onde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mbria Math"/>
                <a:cs typeface="Cambria Math"/>
              </a:rPr>
              <a:t>𝑧</a:t>
            </a:r>
            <a:r>
              <a:rPr sz="2175" baseline="-15325" dirty="0">
                <a:latin typeface="Cambria Math"/>
                <a:cs typeface="Cambria Math"/>
              </a:rPr>
              <a:t>𝑗</a:t>
            </a:r>
            <a:r>
              <a:rPr sz="2175" spc="352" baseline="-15325" dirty="0">
                <a:latin typeface="Cambria Math"/>
                <a:cs typeface="Cambria Math"/>
              </a:rPr>
              <a:t> </a:t>
            </a:r>
            <a:r>
              <a:rPr sz="2000" dirty="0">
                <a:latin typeface="Calibri"/>
                <a:cs typeface="Calibri"/>
              </a:rPr>
              <a:t>é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combinação</a:t>
            </a:r>
            <a:r>
              <a:rPr sz="2000" b="1" i="1" spc="-55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linear</a:t>
            </a:r>
            <a:r>
              <a:rPr sz="2000" b="1" i="1" spc="-50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das</a:t>
            </a:r>
            <a:r>
              <a:rPr sz="2000" b="1" i="1" spc="-45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entradas</a:t>
            </a:r>
            <a:r>
              <a:rPr sz="2000" b="1" i="1" spc="-55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do</a:t>
            </a:r>
            <a:r>
              <a:rPr sz="2000" b="1" i="1" spc="-40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nó</a:t>
            </a:r>
            <a:r>
              <a:rPr sz="2000" dirty="0">
                <a:latin typeface="Calibri"/>
                <a:cs typeface="Calibri"/>
              </a:rPr>
              <a:t>,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i.e.,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mbria Math"/>
                <a:cs typeface="Cambria Math"/>
              </a:rPr>
              <a:t>𝑔(𝒙)</a:t>
            </a:r>
            <a:r>
              <a:rPr sz="2000" spc="-10" dirty="0"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  <a:p>
            <a:pPr marL="279400" indent="-228600">
              <a:lnSpc>
                <a:spcPct val="100000"/>
              </a:lnSpc>
              <a:spcBef>
                <a:spcPts val="350"/>
              </a:spcBef>
              <a:buFont typeface="Arial"/>
              <a:buChar char="•"/>
              <a:tabLst>
                <a:tab pos="278765" algn="l"/>
                <a:tab pos="279400" algn="l"/>
              </a:tabLst>
            </a:pPr>
            <a:r>
              <a:rPr sz="2000" dirty="0">
                <a:latin typeface="Calibri"/>
                <a:cs typeface="Calibri"/>
              </a:rPr>
              <a:t>Sua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derivada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é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dada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por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16939" y="3651884"/>
            <a:ext cx="623506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000" dirty="0">
                <a:latin typeface="Calibri"/>
                <a:cs typeface="Calibri"/>
              </a:rPr>
              <a:t>A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função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sua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derivada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são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mostradas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nas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figuras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abaixo.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9812781" y="2886583"/>
            <a:ext cx="1853564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7810" marR="5080" indent="-245745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A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derivada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é no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máximo</a:t>
            </a:r>
            <a:r>
              <a:rPr sz="1200" spc="10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igual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1</a:t>
            </a:r>
            <a:r>
              <a:rPr sz="1200" spc="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quando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mbria Math"/>
                <a:cs typeface="Cambria Math"/>
              </a:rPr>
              <a:t>𝑧</a:t>
            </a:r>
            <a:r>
              <a:rPr sz="1200" dirty="0">
                <a:latin typeface="Calibri"/>
                <a:cs typeface="Calibri"/>
              </a:rPr>
              <a:t>,</a:t>
            </a:r>
            <a:r>
              <a:rPr sz="1200" spc="15" dirty="0">
                <a:latin typeface="Calibri"/>
                <a:cs typeface="Calibri"/>
              </a:rPr>
              <a:t> </a:t>
            </a:r>
            <a:r>
              <a:rPr sz="1200" dirty="0">
                <a:latin typeface="Cambria Math"/>
                <a:cs typeface="Cambria Math"/>
              </a:rPr>
              <a:t>𝑔(𝒙)</a:t>
            </a:r>
            <a:r>
              <a:rPr sz="1200" dirty="0">
                <a:latin typeface="Calibri"/>
                <a:cs typeface="Calibri"/>
              </a:rPr>
              <a:t>,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spc="-50" dirty="0">
                <a:latin typeface="Calibri"/>
                <a:cs typeface="Calibri"/>
              </a:rPr>
              <a:t>é </a:t>
            </a:r>
            <a:r>
              <a:rPr sz="1200" spc="-10" dirty="0">
                <a:latin typeface="Calibri"/>
                <a:cs typeface="Calibri"/>
              </a:rPr>
              <a:t>exatamente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igual a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0.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9506711" y="3502405"/>
            <a:ext cx="1235710" cy="554990"/>
          </a:xfrm>
          <a:custGeom>
            <a:avLst/>
            <a:gdLst/>
            <a:ahLst/>
            <a:cxnLst/>
            <a:rect l="l" t="t" r="r" b="b"/>
            <a:pathLst>
              <a:path w="1235709" h="554989">
                <a:moveTo>
                  <a:pt x="54356" y="484759"/>
                </a:moveTo>
                <a:lnTo>
                  <a:pt x="0" y="550418"/>
                </a:lnTo>
                <a:lnTo>
                  <a:pt x="85090" y="554482"/>
                </a:lnTo>
                <a:lnTo>
                  <a:pt x="74565" y="530606"/>
                </a:lnTo>
                <a:lnTo>
                  <a:pt x="60706" y="530606"/>
                </a:lnTo>
                <a:lnTo>
                  <a:pt x="55499" y="518922"/>
                </a:lnTo>
                <a:lnTo>
                  <a:pt x="67146" y="513776"/>
                </a:lnTo>
                <a:lnTo>
                  <a:pt x="54356" y="484759"/>
                </a:lnTo>
                <a:close/>
              </a:path>
              <a:path w="1235709" h="554989">
                <a:moveTo>
                  <a:pt x="67146" y="513776"/>
                </a:moveTo>
                <a:lnTo>
                  <a:pt x="55499" y="518922"/>
                </a:lnTo>
                <a:lnTo>
                  <a:pt x="60706" y="530606"/>
                </a:lnTo>
                <a:lnTo>
                  <a:pt x="72306" y="525481"/>
                </a:lnTo>
                <a:lnTo>
                  <a:pt x="67146" y="513776"/>
                </a:lnTo>
                <a:close/>
              </a:path>
              <a:path w="1235709" h="554989">
                <a:moveTo>
                  <a:pt x="72306" y="525481"/>
                </a:moveTo>
                <a:lnTo>
                  <a:pt x="60706" y="530606"/>
                </a:lnTo>
                <a:lnTo>
                  <a:pt x="74565" y="530606"/>
                </a:lnTo>
                <a:lnTo>
                  <a:pt x="72306" y="525481"/>
                </a:lnTo>
                <a:close/>
              </a:path>
              <a:path w="1235709" h="554989">
                <a:moveTo>
                  <a:pt x="1230122" y="0"/>
                </a:moveTo>
                <a:lnTo>
                  <a:pt x="67146" y="513776"/>
                </a:lnTo>
                <a:lnTo>
                  <a:pt x="72306" y="525481"/>
                </a:lnTo>
                <a:lnTo>
                  <a:pt x="1235329" y="11684"/>
                </a:lnTo>
                <a:lnTo>
                  <a:pt x="123012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8" name="Imagem 87">
            <a:extLst>
              <a:ext uri="{FF2B5EF4-FFF2-40B4-BE49-F238E27FC236}">
                <a16:creationId xmlns:a16="http://schemas.microsoft.com/office/drawing/2014/main" id="{2B78B2F2-03F5-A437-080C-29D45E8FE4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02" y="4032943"/>
            <a:ext cx="11974596" cy="280074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aixaDeTexto 22">
                <a:extLst>
                  <a:ext uri="{FF2B5EF4-FFF2-40B4-BE49-F238E27FC236}">
                    <a16:creationId xmlns:a16="http://schemas.microsoft.com/office/drawing/2014/main" id="{A244D140-A5B4-D62A-E7F8-76C12133FE40}"/>
                  </a:ext>
                </a:extLst>
              </p:cNvPr>
              <p:cNvSpPr txBox="1"/>
              <p:nvPr/>
            </p:nvSpPr>
            <p:spPr>
              <a:xfrm>
                <a:off x="4086732" y="1619793"/>
                <a:ext cx="4018536" cy="6043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 sz="2000" b="0" i="0" smtClean="0">
                              <a:latin typeface="Cambria Math" panose="02040503050406030204" pitchFamily="18" charset="0"/>
                            </a:rPr>
                            <m:t>tanh</m:t>
                          </m:r>
                        </m:fName>
                        <m:e>
                          <m:d>
                            <m:d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sup>
                          </m:sSup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sup>
                          </m:sSup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sup>
                          </m:sSup>
                        </m:den>
                      </m:f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23" name="CaixaDeTexto 22">
                <a:extLst>
                  <a:ext uri="{FF2B5EF4-FFF2-40B4-BE49-F238E27FC236}">
                    <a16:creationId xmlns:a16="http://schemas.microsoft.com/office/drawing/2014/main" id="{A244D140-A5B4-D62A-E7F8-76C12133FE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6732" y="1619793"/>
                <a:ext cx="4018536" cy="60439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1BD289F5-1609-B5A4-3E91-7DED6F24B308}"/>
                  </a:ext>
                </a:extLst>
              </p:cNvPr>
              <p:cNvSpPr txBox="1"/>
              <p:nvPr/>
            </p:nvSpPr>
            <p:spPr>
              <a:xfrm>
                <a:off x="4184259" y="2783471"/>
                <a:ext cx="3823483" cy="72917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𝑑𝑓</m:t>
                          </m:r>
                          <m:d>
                            <m:d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=1−</m:t>
                      </m:r>
                      <m:func>
                        <m:func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pt-BR" sz="2000" b="0" i="0" smtClean="0">
                                  <a:latin typeface="Cambria Math" panose="02040503050406030204" pitchFamily="18" charset="0"/>
                                </a:rPr>
                                <m:t>tanh</m:t>
                              </m:r>
                            </m:e>
                            <m:sup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d>
                            <m:d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pt-B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1BD289F5-1609-B5A4-3E91-7DED6F24B3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4259" y="2783471"/>
                <a:ext cx="3823483" cy="72917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39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O</a:t>
            </a:r>
            <a:r>
              <a:rPr spc="-40" dirty="0"/>
              <a:t> </a:t>
            </a:r>
            <a:r>
              <a:rPr dirty="0"/>
              <a:t>Problema</a:t>
            </a:r>
            <a:r>
              <a:rPr spc="-30" dirty="0"/>
              <a:t> </a:t>
            </a:r>
            <a:r>
              <a:rPr dirty="0"/>
              <a:t>da</a:t>
            </a:r>
            <a:r>
              <a:rPr spc="-30" dirty="0"/>
              <a:t> </a:t>
            </a:r>
            <a:r>
              <a:rPr dirty="0"/>
              <a:t>Dissipação</a:t>
            </a:r>
            <a:r>
              <a:rPr spc="-15" dirty="0"/>
              <a:t> </a:t>
            </a:r>
            <a:r>
              <a:rPr dirty="0"/>
              <a:t>do</a:t>
            </a:r>
            <a:r>
              <a:rPr spc="-35" dirty="0"/>
              <a:t> </a:t>
            </a:r>
            <a:r>
              <a:rPr spc="-10" dirty="0"/>
              <a:t>Gradiente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88681" y="1560980"/>
            <a:ext cx="10876915" cy="3020695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241300" marR="5080" indent="-228600">
              <a:lnSpc>
                <a:spcPct val="80000"/>
              </a:lnSpc>
              <a:spcBef>
                <a:spcPts val="72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É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problema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encontrado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quando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treinamos</a:t>
            </a:r>
            <a:r>
              <a:rPr sz="2600" spc="-10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redes</a:t>
            </a:r>
            <a:r>
              <a:rPr sz="2600" b="1" i="1" spc="-6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neurais</a:t>
            </a:r>
            <a:r>
              <a:rPr sz="2600" b="1" i="1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profundas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ou </a:t>
            </a:r>
            <a:r>
              <a:rPr sz="2600" dirty="0">
                <a:latin typeface="Calibri"/>
                <a:cs typeface="Calibri"/>
              </a:rPr>
              <a:t>seja,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muitas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camadas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escondidas,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métodos</a:t>
            </a:r>
            <a:r>
              <a:rPr sz="2600" b="1" i="1" spc="-6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aprendizado</a:t>
            </a:r>
            <a:r>
              <a:rPr sz="2600" b="1" i="1" spc="-55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baseados </a:t>
            </a:r>
            <a:r>
              <a:rPr sz="2600" b="1" i="1" dirty="0">
                <a:latin typeface="Calibri"/>
                <a:cs typeface="Calibri"/>
              </a:rPr>
              <a:t>no</a:t>
            </a:r>
            <a:r>
              <a:rPr sz="2600" b="1" i="1" spc="-4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gradiente</a:t>
            </a:r>
            <a:r>
              <a:rPr sz="2600" b="1" i="1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funções</a:t>
            </a:r>
            <a:r>
              <a:rPr sz="2600" b="1" i="1" spc="-2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ativação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sigmoide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ou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tangente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hiperbólica</a:t>
            </a:r>
            <a:r>
              <a:rPr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41300" marR="118110" indent="-228600">
              <a:lnSpc>
                <a:spcPct val="80000"/>
              </a:lnSpc>
              <a:spcBef>
                <a:spcPts val="100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Ocorre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devido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à</a:t>
            </a:r>
            <a:r>
              <a:rPr sz="2600" spc="-10" dirty="0">
                <a:latin typeface="Calibri"/>
                <a:cs typeface="Calibri"/>
              </a:rPr>
              <a:t> natureza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algoritmo</a:t>
            </a:r>
            <a:r>
              <a:rPr sz="2600" b="1" i="1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retropropagação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usado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para </a:t>
            </a:r>
            <a:r>
              <a:rPr sz="2600" dirty="0">
                <a:latin typeface="Calibri"/>
                <a:cs typeface="Calibri"/>
              </a:rPr>
              <a:t>treinar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rede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neural.</a:t>
            </a:r>
            <a:endParaRPr sz="2600" dirty="0">
              <a:latin typeface="Calibri"/>
              <a:cs typeface="Calibri"/>
            </a:endParaRPr>
          </a:p>
          <a:p>
            <a:pPr marL="698500" lvl="1" indent="-229235">
              <a:lnSpc>
                <a:spcPts val="2370"/>
              </a:lnSpc>
              <a:buFont typeface="Wingdings"/>
              <a:buChar char=""/>
              <a:tabLst>
                <a:tab pos="699135" algn="l"/>
              </a:tabLst>
            </a:pPr>
            <a:r>
              <a:rPr sz="2200" spc="-10" dirty="0">
                <a:latin typeface="Calibri"/>
                <a:cs typeface="Calibri"/>
              </a:rPr>
              <a:t>Para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atualizar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pesos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nós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camadas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ocultas,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calcula-</a:t>
            </a:r>
            <a:r>
              <a:rPr sz="2200" dirty="0">
                <a:latin typeface="Calibri"/>
                <a:cs typeface="Calibri"/>
              </a:rPr>
              <a:t>se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derivada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do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erro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saída</a:t>
            </a:r>
            <a:endParaRPr sz="2200" dirty="0">
              <a:latin typeface="Calibri"/>
              <a:cs typeface="Calibri"/>
            </a:endParaRPr>
          </a:p>
          <a:p>
            <a:pPr marL="698500">
              <a:lnSpc>
                <a:spcPts val="2365"/>
              </a:lnSpc>
            </a:pPr>
            <a:r>
              <a:rPr sz="2200" dirty="0">
                <a:latin typeface="Calibri"/>
                <a:cs typeface="Calibri"/>
              </a:rPr>
              <a:t>em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relação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àquele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peso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e,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para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isso,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usamos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regra</a:t>
            </a:r>
            <a:r>
              <a:rPr sz="2200" b="1" i="1" spc="-5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da</a:t>
            </a:r>
            <a:r>
              <a:rPr sz="2200" b="1" i="1" spc="-50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cadeia</a:t>
            </a:r>
            <a:r>
              <a:rPr sz="2200" spc="-10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698500" marR="43180" lvl="1" indent="-228600">
              <a:lnSpc>
                <a:spcPct val="80000"/>
              </a:lnSpc>
              <a:spcBef>
                <a:spcPts val="515"/>
              </a:spcBef>
              <a:buFont typeface="Wingdings"/>
              <a:buChar char=""/>
              <a:tabLst>
                <a:tab pos="699135" algn="l"/>
              </a:tabLst>
            </a:pPr>
            <a:r>
              <a:rPr sz="2200" dirty="0">
                <a:latin typeface="Calibri"/>
                <a:cs typeface="Calibri"/>
              </a:rPr>
              <a:t>Ou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seja,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algoritmo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propaga</a:t>
            </a:r>
            <a:r>
              <a:rPr sz="2200" b="1" i="1" spc="-5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o</a:t>
            </a:r>
            <a:r>
              <a:rPr sz="2200" b="1" i="1" spc="-4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erro</a:t>
            </a:r>
            <a:r>
              <a:rPr sz="2200" b="1" i="1" spc="-5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de</a:t>
            </a:r>
            <a:r>
              <a:rPr sz="2200" b="1" i="1" spc="-5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saída</a:t>
            </a:r>
            <a:r>
              <a:rPr sz="2200" b="1" i="1" spc="-6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para</a:t>
            </a:r>
            <a:r>
              <a:rPr sz="2200" b="1" i="1" spc="-5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as</a:t>
            </a:r>
            <a:r>
              <a:rPr sz="2200" b="1" i="1" spc="-5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camadas</a:t>
            </a:r>
            <a:r>
              <a:rPr sz="2200" b="1" i="1" spc="-6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ocultas</a:t>
            </a:r>
            <a:r>
              <a:rPr sz="2200" b="1" i="1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usando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regra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da </a:t>
            </a:r>
            <a:r>
              <a:rPr sz="2200" spc="-10" dirty="0">
                <a:latin typeface="Calibri"/>
                <a:cs typeface="Calibri"/>
              </a:rPr>
              <a:t>cadeia.</a:t>
            </a:r>
            <a:endParaRPr sz="22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2719" y="4602478"/>
            <a:ext cx="6138451" cy="219913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226422" y="5139944"/>
            <a:ext cx="2600960" cy="1093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Em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suma,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gradiente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torna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cada </a:t>
            </a:r>
            <a:r>
              <a:rPr sz="1400" dirty="0">
                <a:latin typeface="Calibri"/>
                <a:cs typeface="Calibri"/>
              </a:rPr>
              <a:t>vez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menor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nas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camadas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próximas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à </a:t>
            </a:r>
            <a:r>
              <a:rPr sz="1400" dirty="0">
                <a:latin typeface="Calibri"/>
                <a:cs typeface="Calibri"/>
              </a:rPr>
              <a:t>entrada,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levando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uma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atualização </a:t>
            </a:r>
            <a:r>
              <a:rPr sz="1400" dirty="0">
                <a:latin typeface="Calibri"/>
                <a:cs typeface="Calibri"/>
              </a:rPr>
              <a:t>muito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pequena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ou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até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inexistente </a:t>
            </a:r>
            <a:r>
              <a:rPr sz="1400" dirty="0">
                <a:latin typeface="Calibri"/>
                <a:cs typeface="Calibri"/>
              </a:rPr>
              <a:t>nos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pesos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destas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camadas.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479297"/>
            <a:ext cx="890778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O</a:t>
            </a:r>
            <a:r>
              <a:rPr spc="-45" dirty="0"/>
              <a:t> </a:t>
            </a:r>
            <a:r>
              <a:rPr dirty="0"/>
              <a:t>Problema</a:t>
            </a:r>
            <a:r>
              <a:rPr spc="-30" dirty="0"/>
              <a:t> </a:t>
            </a:r>
            <a:r>
              <a:rPr dirty="0"/>
              <a:t>da</a:t>
            </a:r>
            <a:r>
              <a:rPr spc="-15" dirty="0"/>
              <a:t> </a:t>
            </a:r>
            <a:r>
              <a:rPr dirty="0"/>
              <a:t>Dissipação</a:t>
            </a:r>
            <a:r>
              <a:rPr spc="-20" dirty="0"/>
              <a:t> </a:t>
            </a:r>
            <a:r>
              <a:rPr dirty="0"/>
              <a:t>do</a:t>
            </a:r>
            <a:r>
              <a:rPr spc="-30" dirty="0"/>
              <a:t> </a:t>
            </a:r>
            <a:r>
              <a:rPr spc="-10" dirty="0"/>
              <a:t>Gradiente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380806"/>
            <a:ext cx="10845165" cy="19450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 algn="just">
              <a:lnSpc>
                <a:spcPts val="3025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30" dirty="0">
                <a:latin typeface="Calibri"/>
                <a:cs typeface="Calibri"/>
              </a:rPr>
              <a:t>Lembrem-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funções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ativação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tangente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hiperbólica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ou</a:t>
            </a:r>
            <a:endParaRPr sz="2800" dirty="0">
              <a:latin typeface="Calibri"/>
              <a:cs typeface="Calibri"/>
            </a:endParaRPr>
          </a:p>
          <a:p>
            <a:pPr marL="241300" algn="just">
              <a:lnSpc>
                <a:spcPts val="3025"/>
              </a:lnSpc>
            </a:pPr>
            <a:r>
              <a:rPr sz="2800" b="1" i="1" spc="-10" dirty="0">
                <a:latin typeface="Calibri"/>
                <a:cs typeface="Calibri"/>
              </a:rPr>
              <a:t>logística</a:t>
            </a:r>
            <a:r>
              <a:rPr sz="2800" spc="-10" dirty="0">
                <a:latin typeface="Calibri"/>
                <a:cs typeface="Calibri"/>
              </a:rPr>
              <a:t>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têm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derivadas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parciais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intervalo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0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até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1.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 algn="just">
              <a:lnSpc>
                <a:spcPts val="2690"/>
              </a:lnSpc>
              <a:spcBef>
                <a:spcPts val="9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Durante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treinamento,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atualizar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pesos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cada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camada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155" dirty="0">
                <a:latin typeface="Calibri"/>
                <a:cs typeface="Calibri"/>
              </a:rPr>
              <a:t> </a:t>
            </a:r>
            <a:r>
              <a:rPr sz="2800" b="1" i="1" spc="-20" dirty="0">
                <a:latin typeface="Calibri"/>
                <a:cs typeface="Calibri"/>
              </a:rPr>
              <a:t>rede </a:t>
            </a:r>
            <a:r>
              <a:rPr sz="2800" b="1" i="1" dirty="0">
                <a:latin typeface="Calibri"/>
                <a:cs typeface="Calibri"/>
              </a:rPr>
              <a:t>neural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algoritmo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retropropagação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calcula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gradientes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pesos </a:t>
            </a:r>
            <a:r>
              <a:rPr sz="2800" dirty="0">
                <a:latin typeface="Calibri"/>
                <a:cs typeface="Calibri"/>
              </a:rPr>
              <a:t>das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camadas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ocultas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através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12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regra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da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cadeia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(exemplo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abaixo).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93205" y="5304093"/>
            <a:ext cx="10835640" cy="1476375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241300" marR="5080" indent="-228600">
              <a:lnSpc>
                <a:spcPct val="80000"/>
              </a:lnSpc>
              <a:spcBef>
                <a:spcPts val="76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Em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outras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palavras,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devido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à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regra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cadeia,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gradiente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atualização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pesos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dada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camada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rede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neural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inclui</a:t>
            </a:r>
            <a:r>
              <a:rPr sz="2800" spc="-145" dirty="0">
                <a:latin typeface="Calibri"/>
                <a:cs typeface="Calibri"/>
              </a:rPr>
              <a:t> </a:t>
            </a:r>
            <a:r>
              <a:rPr sz="2800" b="1" i="1" spc="-50" dirty="0">
                <a:latin typeface="Calibri"/>
                <a:cs typeface="Calibri"/>
              </a:rPr>
              <a:t>o </a:t>
            </a:r>
            <a:r>
              <a:rPr sz="2800" b="1" i="1" dirty="0">
                <a:latin typeface="Calibri"/>
                <a:cs typeface="Calibri"/>
              </a:rPr>
              <a:t>produto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das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derivadas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das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funções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ativação</a:t>
            </a:r>
            <a:r>
              <a:rPr sz="2800" b="1" i="1" spc="-5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dos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nós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desde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a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camada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4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saída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até</a:t>
            </a:r>
            <a:r>
              <a:rPr sz="2800" b="1" i="1" spc="-5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a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camada</a:t>
            </a:r>
            <a:r>
              <a:rPr sz="2800" b="1" i="1" spc="-4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desejada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79657" y="3655590"/>
            <a:ext cx="4984910" cy="47749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bject 20"/>
              <p:cNvSpPr txBox="1"/>
              <p:nvPr/>
            </p:nvSpPr>
            <p:spPr>
              <a:xfrm>
                <a:off x="9935844" y="3939208"/>
                <a:ext cx="1816735" cy="751488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386080" algn="just">
                  <a:lnSpc>
                    <a:spcPct val="100000"/>
                  </a:lnSpc>
                  <a:spcBef>
                    <a:spcPts val="100"/>
                  </a:spcBef>
                </a:pPr>
                <a:r>
                  <a:rPr lang="pt-BR" sz="1200" b="1" dirty="0">
                    <a:latin typeface="Calibri"/>
                    <a:cs typeface="Calibri"/>
                  </a:rPr>
                  <a:t>OBS</a:t>
                </a:r>
                <a:r>
                  <a:rPr lang="pt-BR" sz="1200" dirty="0">
                    <a:latin typeface="Calibri"/>
                    <a:cs typeface="Calibri"/>
                  </a:rPr>
                  <a:t>.:</a:t>
                </a:r>
                <a:r>
                  <a:rPr lang="pt-BR" sz="1200" spc="-5" dirty="0">
                    <a:latin typeface="Calibri"/>
                    <a:cs typeface="Calibri"/>
                  </a:rPr>
                  <a:t> </a:t>
                </a:r>
                <a:r>
                  <a:rPr lang="pt-BR" sz="1200" dirty="0">
                    <a:latin typeface="Calibri"/>
                    <a:cs typeface="Calibri"/>
                  </a:rPr>
                  <a:t>As</a:t>
                </a:r>
                <a:r>
                  <a:rPr lang="pt-BR" sz="1200" spc="10" dirty="0">
                    <a:latin typeface="Calibri"/>
                    <a:cs typeface="Calibri"/>
                  </a:rPr>
                  <a:t> </a:t>
                </a:r>
                <a:r>
                  <a:rPr lang="pt-BR" sz="1200" spc="-10" dirty="0">
                    <a:latin typeface="Calibri"/>
                    <a:cs typeface="Calibri"/>
                  </a:rPr>
                  <a:t>funções</a:t>
                </a:r>
                <a:endParaRPr lang="pt-BR" sz="1200" dirty="0">
                  <a:latin typeface="Calibri"/>
                  <a:cs typeface="Calibri"/>
                </a:endParaRPr>
              </a:p>
              <a:p>
                <a:pPr marL="12700" marR="5080" indent="22860" algn="just"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pt-BR" sz="1200" i="1" dirty="0" smtClean="0">
                        <a:latin typeface="Cambria Math" panose="02040503050406030204" pitchFamily="18" charset="0"/>
                        <a:cs typeface="Cambria Math"/>
                      </a:rPr>
                      <m:t>𝑓</m:t>
                    </m:r>
                    <m:d>
                      <m:dPr>
                        <m:ctrlPr>
                          <a:rPr lang="pt-BR" sz="1200" i="1" dirty="0" smtClean="0">
                            <a:latin typeface="Cambria Math" panose="02040503050406030204" pitchFamily="18" charset="0"/>
                            <a:cs typeface="Cambria Math"/>
                          </a:rPr>
                        </m:ctrlPr>
                      </m:dPr>
                      <m:e>
                        <m:r>
                          <a:rPr lang="pt-BR" sz="1200" i="1" dirty="0" smtClean="0">
                            <a:latin typeface="Cambria Math" panose="02040503050406030204" pitchFamily="18" charset="0"/>
                            <a:cs typeface="Cambria Math"/>
                          </a:rPr>
                          <m:t>. </m:t>
                        </m:r>
                      </m:e>
                    </m:d>
                    <m:r>
                      <a:rPr lang="pt-BR" sz="1200" i="1" dirty="0" smtClean="0">
                        <a:latin typeface="Cambria Math" panose="02040503050406030204" pitchFamily="18" charset="0"/>
                        <a:cs typeface="Cambria Math"/>
                      </a:rPr>
                      <m:t>,</m:t>
                    </m:r>
                    <m:r>
                      <a:rPr lang="pt-BR" sz="1200" i="1" spc="-80" dirty="0" smtClean="0">
                        <a:latin typeface="Cambria Math" panose="02040503050406030204" pitchFamily="18" charset="0"/>
                        <a:cs typeface="Cambria Math"/>
                      </a:rPr>
                      <m:t> </m:t>
                    </m:r>
                    <m:r>
                      <a:rPr lang="pt-BR" sz="1200" i="1" dirty="0" smtClean="0">
                        <a:latin typeface="Cambria Math" panose="02040503050406030204" pitchFamily="18" charset="0"/>
                        <a:cs typeface="Cambria Math"/>
                      </a:rPr>
                      <m:t>𝑔</m:t>
                    </m:r>
                    <m:d>
                      <m:dPr>
                        <m:ctrlPr>
                          <a:rPr lang="ar-AE" sz="1200" i="1" dirty="0" smtClean="0">
                            <a:latin typeface="Cambria Math" panose="02040503050406030204" pitchFamily="18" charset="0"/>
                            <a:cs typeface="Cambria Math"/>
                          </a:rPr>
                        </m:ctrlPr>
                      </m:dPr>
                      <m:e>
                        <m:r>
                          <a:rPr lang="ar-AE" sz="1200" i="1" dirty="0" smtClean="0">
                            <a:latin typeface="Cambria Math" panose="02040503050406030204" pitchFamily="18" charset="0"/>
                            <a:cs typeface="Cambria Math"/>
                          </a:rPr>
                          <m:t>. </m:t>
                        </m:r>
                      </m:e>
                    </m:d>
                    <m:r>
                      <a:rPr lang="pt-BR" sz="1200" b="0" i="1" dirty="0" smtClean="0">
                        <a:latin typeface="Cambria Math" panose="02040503050406030204" pitchFamily="18" charset="0"/>
                        <a:cs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pt-BR" sz="1200" i="0" dirty="0">
                        <a:latin typeface="Cambria Math" panose="02040503050406030204" pitchFamily="18" charset="0"/>
                        <a:cs typeface="Cambria Math"/>
                      </a:rPr>
                      <m:t>e</m:t>
                    </m:r>
                    <m:r>
                      <a:rPr lang="pt-BR" sz="1200" i="1" spc="35" dirty="0">
                        <a:latin typeface="Cambria Math" panose="02040503050406030204" pitchFamily="18" charset="0"/>
                        <a:cs typeface="Cambria Math"/>
                      </a:rPr>
                      <m:t> </m:t>
                    </m:r>
                    <m:r>
                      <a:rPr lang="pt-BR" sz="1200" i="1" spc="5" dirty="0">
                        <a:latin typeface="Cambria Math" panose="02040503050406030204" pitchFamily="18" charset="0"/>
                        <a:cs typeface="Cambria Math"/>
                      </a:rPr>
                      <m:t>h</m:t>
                    </m:r>
                    <m:r>
                      <a:rPr lang="pt-BR" sz="1200" i="1" spc="5" dirty="0">
                        <a:latin typeface="Cambria Math" panose="02040503050406030204" pitchFamily="18" charset="0"/>
                        <a:cs typeface="Cambria Math"/>
                      </a:rPr>
                      <m:t>(. ) </m:t>
                    </m:r>
                  </m:oMath>
                </a14:m>
                <a:r>
                  <a:rPr lang="pt-BR" sz="1200" dirty="0">
                    <a:latin typeface="Calibri"/>
                    <a:cs typeface="Calibri"/>
                  </a:rPr>
                  <a:t>p</a:t>
                </a:r>
                <a:r>
                  <a:rPr lang="pt-BR" sz="1200" spc="-5" dirty="0">
                    <a:latin typeface="Calibri"/>
                    <a:cs typeface="Calibri"/>
                  </a:rPr>
                  <a:t>o</a:t>
                </a:r>
                <a:r>
                  <a:rPr lang="pt-BR" sz="1200" spc="5" dirty="0">
                    <a:latin typeface="Calibri"/>
                    <a:cs typeface="Calibri"/>
                  </a:rPr>
                  <a:t>d</a:t>
                </a:r>
                <a:r>
                  <a:rPr lang="pt-BR" sz="1200" dirty="0">
                    <a:latin typeface="Calibri"/>
                    <a:cs typeface="Calibri"/>
                  </a:rPr>
                  <a:t>em</a:t>
                </a:r>
                <a:r>
                  <a:rPr lang="pt-BR" sz="1200" spc="-20" dirty="0">
                    <a:latin typeface="Calibri"/>
                    <a:cs typeface="Calibri"/>
                  </a:rPr>
                  <a:t> </a:t>
                </a:r>
                <a:r>
                  <a:rPr lang="pt-BR" sz="1200" spc="-5" dirty="0">
                    <a:latin typeface="Calibri"/>
                    <a:cs typeface="Calibri"/>
                  </a:rPr>
                  <a:t>ser </a:t>
                </a:r>
                <a:r>
                  <a:rPr lang="pt-BR" sz="1200" dirty="0">
                    <a:latin typeface="Calibri"/>
                    <a:cs typeface="Calibri"/>
                  </a:rPr>
                  <a:t>i</a:t>
                </a:r>
                <a:r>
                  <a:rPr lang="pt-BR" sz="1200" spc="-10" dirty="0">
                    <a:latin typeface="Calibri"/>
                    <a:cs typeface="Calibri"/>
                  </a:rPr>
                  <a:t>nt</a:t>
                </a:r>
                <a:r>
                  <a:rPr lang="pt-BR" sz="1200" dirty="0">
                    <a:latin typeface="Calibri"/>
                    <a:cs typeface="Calibri"/>
                  </a:rPr>
                  <a:t>erp</a:t>
                </a:r>
                <a:r>
                  <a:rPr lang="pt-BR" sz="1200" spc="-25" dirty="0">
                    <a:latin typeface="Calibri"/>
                    <a:cs typeface="Calibri"/>
                  </a:rPr>
                  <a:t>r</a:t>
                </a:r>
                <a:r>
                  <a:rPr lang="pt-BR" sz="1200" spc="-10" dirty="0">
                    <a:latin typeface="Calibri"/>
                    <a:cs typeface="Calibri"/>
                  </a:rPr>
                  <a:t>e</a:t>
                </a:r>
                <a:r>
                  <a:rPr lang="pt-BR" sz="1200" spc="-20" dirty="0">
                    <a:latin typeface="Calibri"/>
                    <a:cs typeface="Calibri"/>
                  </a:rPr>
                  <a:t>t</a:t>
                </a:r>
                <a:r>
                  <a:rPr lang="pt-BR" sz="1200" dirty="0">
                    <a:latin typeface="Calibri"/>
                    <a:cs typeface="Calibri"/>
                  </a:rPr>
                  <a:t>a</a:t>
                </a:r>
                <a:r>
                  <a:rPr lang="pt-BR" sz="1200" spc="-5" dirty="0">
                    <a:latin typeface="Calibri"/>
                    <a:cs typeface="Calibri"/>
                  </a:rPr>
                  <a:t>d</a:t>
                </a:r>
                <a:r>
                  <a:rPr lang="pt-BR" sz="1200" dirty="0">
                    <a:latin typeface="Calibri"/>
                    <a:cs typeface="Calibri"/>
                  </a:rPr>
                  <a:t>as</a:t>
                </a:r>
                <a:r>
                  <a:rPr lang="pt-BR" sz="1200" spc="-20" dirty="0">
                    <a:latin typeface="Calibri"/>
                    <a:cs typeface="Calibri"/>
                  </a:rPr>
                  <a:t> c</a:t>
                </a:r>
                <a:r>
                  <a:rPr lang="pt-BR" sz="1200" spc="-5" dirty="0">
                    <a:latin typeface="Calibri"/>
                    <a:cs typeface="Calibri"/>
                  </a:rPr>
                  <a:t>o</a:t>
                </a:r>
                <a:r>
                  <a:rPr lang="pt-BR" sz="1200" dirty="0">
                    <a:latin typeface="Calibri"/>
                    <a:cs typeface="Calibri"/>
                  </a:rPr>
                  <a:t>mo</a:t>
                </a:r>
                <a:r>
                  <a:rPr lang="pt-BR" sz="1200" spc="15" dirty="0">
                    <a:latin typeface="Calibri"/>
                    <a:cs typeface="Calibri"/>
                  </a:rPr>
                  <a:t> </a:t>
                </a:r>
                <a:r>
                  <a:rPr lang="pt-BR" sz="1200" spc="-5" dirty="0">
                    <a:latin typeface="Calibri"/>
                    <a:cs typeface="Calibri"/>
                  </a:rPr>
                  <a:t>se</a:t>
                </a:r>
                <a:r>
                  <a:rPr lang="pt-BR" sz="1200" spc="5" dirty="0">
                    <a:latin typeface="Calibri"/>
                    <a:cs typeface="Calibri"/>
                  </a:rPr>
                  <a:t>n</a:t>
                </a:r>
                <a:r>
                  <a:rPr lang="pt-BR" sz="1200" dirty="0">
                    <a:latin typeface="Calibri"/>
                    <a:cs typeface="Calibri"/>
                  </a:rPr>
                  <a:t>do</a:t>
                </a:r>
                <a:r>
                  <a:rPr lang="pt-BR" sz="1200" spc="-5" dirty="0">
                    <a:latin typeface="Calibri"/>
                    <a:cs typeface="Calibri"/>
                  </a:rPr>
                  <a:t> </a:t>
                </a:r>
                <a:r>
                  <a:rPr lang="pt-BR" sz="1200" dirty="0">
                    <a:latin typeface="Calibri"/>
                    <a:cs typeface="Calibri"/>
                  </a:rPr>
                  <a:t>as fun</a:t>
                </a:r>
                <a:r>
                  <a:rPr lang="pt-BR" sz="1200" spc="-20" dirty="0">
                    <a:latin typeface="Calibri"/>
                    <a:cs typeface="Calibri"/>
                  </a:rPr>
                  <a:t>ç</a:t>
                </a:r>
                <a:r>
                  <a:rPr lang="pt-BR" sz="1200" spc="-5" dirty="0">
                    <a:latin typeface="Calibri"/>
                    <a:cs typeface="Calibri"/>
                  </a:rPr>
                  <a:t>õ</a:t>
                </a:r>
                <a:r>
                  <a:rPr lang="pt-BR" sz="1200" dirty="0">
                    <a:latin typeface="Calibri"/>
                    <a:cs typeface="Calibri"/>
                  </a:rPr>
                  <a:t>es</a:t>
                </a:r>
                <a:r>
                  <a:rPr lang="pt-BR" sz="1200" spc="-10" dirty="0">
                    <a:latin typeface="Calibri"/>
                    <a:cs typeface="Calibri"/>
                  </a:rPr>
                  <a:t> </a:t>
                </a:r>
                <a:r>
                  <a:rPr lang="pt-BR" sz="1200" dirty="0">
                    <a:latin typeface="Calibri"/>
                    <a:cs typeface="Calibri"/>
                  </a:rPr>
                  <a:t>de</a:t>
                </a:r>
                <a:r>
                  <a:rPr lang="pt-BR" sz="1200" spc="-5" dirty="0">
                    <a:latin typeface="Calibri"/>
                    <a:cs typeface="Calibri"/>
                  </a:rPr>
                  <a:t> </a:t>
                </a:r>
                <a:r>
                  <a:rPr lang="pt-BR" sz="1200" spc="-15" dirty="0">
                    <a:latin typeface="Calibri"/>
                    <a:cs typeface="Calibri"/>
                  </a:rPr>
                  <a:t>a</a:t>
                </a:r>
                <a:r>
                  <a:rPr lang="pt-BR" sz="1200" dirty="0">
                    <a:latin typeface="Calibri"/>
                    <a:cs typeface="Calibri"/>
                  </a:rPr>
                  <a:t>ti</a:t>
                </a:r>
                <a:r>
                  <a:rPr lang="pt-BR" sz="1200" spc="-15" dirty="0">
                    <a:latin typeface="Calibri"/>
                    <a:cs typeface="Calibri"/>
                  </a:rPr>
                  <a:t>v</a:t>
                </a:r>
                <a:r>
                  <a:rPr lang="pt-BR" sz="1200" dirty="0">
                    <a:latin typeface="Calibri"/>
                    <a:cs typeface="Calibri"/>
                  </a:rPr>
                  <a:t>a</a:t>
                </a:r>
                <a:r>
                  <a:rPr lang="pt-BR" sz="1200" spc="-15" dirty="0">
                    <a:latin typeface="Calibri"/>
                    <a:cs typeface="Calibri"/>
                  </a:rPr>
                  <a:t>ç</a:t>
                </a:r>
                <a:r>
                  <a:rPr lang="pt-BR" sz="1200" dirty="0">
                    <a:latin typeface="Calibri"/>
                    <a:cs typeface="Calibri"/>
                  </a:rPr>
                  <a:t>ão</a:t>
                </a:r>
                <a:r>
                  <a:rPr lang="pt-BR" sz="1200" spc="-5" dirty="0">
                    <a:latin typeface="Calibri"/>
                    <a:cs typeface="Calibri"/>
                  </a:rPr>
                  <a:t> </a:t>
                </a:r>
                <a:r>
                  <a:rPr lang="pt-BR" sz="1200" dirty="0">
                    <a:latin typeface="Calibri"/>
                    <a:cs typeface="Calibri"/>
                  </a:rPr>
                  <a:t>d</a:t>
                </a:r>
                <a:r>
                  <a:rPr lang="pt-BR" sz="1200" spc="-5" dirty="0">
                    <a:latin typeface="Calibri"/>
                    <a:cs typeface="Calibri"/>
                  </a:rPr>
                  <a:t>o</a:t>
                </a:r>
                <a:r>
                  <a:rPr lang="pt-BR" sz="1200" dirty="0">
                    <a:latin typeface="Calibri"/>
                    <a:cs typeface="Calibri"/>
                  </a:rPr>
                  <a:t>s</a:t>
                </a:r>
                <a:r>
                  <a:rPr lang="pt-BR" sz="1200" spc="5" dirty="0">
                    <a:latin typeface="Calibri"/>
                    <a:cs typeface="Calibri"/>
                  </a:rPr>
                  <a:t> </a:t>
                </a:r>
                <a:r>
                  <a:rPr lang="pt-BR" sz="1200" dirty="0">
                    <a:latin typeface="Calibri"/>
                    <a:cs typeface="Calibri"/>
                  </a:rPr>
                  <a:t>n</a:t>
                </a:r>
                <a:r>
                  <a:rPr lang="pt-BR" sz="1200" spc="-5" dirty="0">
                    <a:latin typeface="Calibri"/>
                    <a:cs typeface="Calibri"/>
                  </a:rPr>
                  <a:t>ós.</a:t>
                </a:r>
                <a:endParaRPr sz="12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20" name="object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5844" y="3939208"/>
                <a:ext cx="1816735" cy="751488"/>
              </a:xfrm>
              <a:prstGeom prst="rect">
                <a:avLst/>
              </a:prstGeom>
              <a:blipFill>
                <a:blip r:embed="rId3"/>
                <a:stretch>
                  <a:fillRect l="-4698" t="-4878" r="-4698" b="-1219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aixaDeTexto 20">
                <a:extLst>
                  <a:ext uri="{FF2B5EF4-FFF2-40B4-BE49-F238E27FC236}">
                    <a16:creationId xmlns:a16="http://schemas.microsoft.com/office/drawing/2014/main" id="{18D3E447-1B32-B78D-3C1B-DE0E29F167CD}"/>
                  </a:ext>
                </a:extLst>
              </p:cNvPr>
              <p:cNvSpPr txBox="1"/>
              <p:nvPr/>
            </p:nvSpPr>
            <p:spPr>
              <a:xfrm>
                <a:off x="2604659" y="4253865"/>
                <a:ext cx="6982681" cy="10225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d>
                                    <m:dPr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d>
                                    <m:dPr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d>
                                <m:d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</m:den>
                      </m:f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d>
                                <m:d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21" name="CaixaDeTexto 20">
                <a:extLst>
                  <a:ext uri="{FF2B5EF4-FFF2-40B4-BE49-F238E27FC236}">
                    <a16:creationId xmlns:a16="http://schemas.microsoft.com/office/drawing/2014/main" id="{18D3E447-1B32-B78D-3C1B-DE0E29F167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4659" y="4253865"/>
                <a:ext cx="6982681" cy="102258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39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O</a:t>
            </a:r>
            <a:r>
              <a:rPr spc="-40" dirty="0"/>
              <a:t> </a:t>
            </a:r>
            <a:r>
              <a:rPr dirty="0"/>
              <a:t>Problema</a:t>
            </a:r>
            <a:r>
              <a:rPr spc="-30" dirty="0"/>
              <a:t> </a:t>
            </a:r>
            <a:r>
              <a:rPr dirty="0"/>
              <a:t>da</a:t>
            </a:r>
            <a:r>
              <a:rPr spc="-30" dirty="0"/>
              <a:t> </a:t>
            </a:r>
            <a:r>
              <a:rPr dirty="0"/>
              <a:t>Dissipação</a:t>
            </a:r>
            <a:r>
              <a:rPr spc="-15" dirty="0"/>
              <a:t> </a:t>
            </a:r>
            <a:r>
              <a:rPr dirty="0"/>
              <a:t>do</a:t>
            </a:r>
            <a:r>
              <a:rPr spc="-35" dirty="0"/>
              <a:t> </a:t>
            </a:r>
            <a:r>
              <a:rPr spc="-10" dirty="0"/>
              <a:t>Gradiente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916939" y="1371600"/>
            <a:ext cx="10910570" cy="4544695"/>
          </a:xfrm>
          <a:prstGeom prst="rect">
            <a:avLst/>
          </a:prstGeom>
        </p:spPr>
        <p:txBody>
          <a:bodyPr vert="horz" wrap="square" lIns="0" tIns="149961" rIns="0" bIns="0" rtlCol="0">
            <a:spAutoFit/>
          </a:bodyPr>
          <a:lstStyle/>
          <a:p>
            <a:pPr marL="241300" marR="163830" indent="-228600">
              <a:lnSpc>
                <a:spcPct val="80000"/>
              </a:lnSpc>
              <a:spcBef>
                <a:spcPts val="765"/>
              </a:spcBef>
              <a:buFont typeface="Arial"/>
              <a:buChar char="•"/>
              <a:tabLst>
                <a:tab pos="241300" algn="l"/>
              </a:tabLst>
            </a:pPr>
            <a:r>
              <a:rPr b="0" dirty="0">
                <a:latin typeface="Calibri"/>
                <a:cs typeface="Calibri"/>
              </a:rPr>
              <a:t>Em</a:t>
            </a:r>
            <a:r>
              <a:rPr b="0" spc="-6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uma</a:t>
            </a:r>
            <a:r>
              <a:rPr b="0" spc="-5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rede</a:t>
            </a:r>
            <a:r>
              <a:rPr b="0" spc="-5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com</a:t>
            </a:r>
            <a:r>
              <a:rPr b="0" spc="-85" dirty="0">
                <a:latin typeface="Calibri"/>
                <a:cs typeface="Calibri"/>
              </a:rPr>
              <a:t> </a:t>
            </a:r>
            <a:r>
              <a:rPr b="0" dirty="0">
                <a:latin typeface="Cambria Math"/>
                <a:cs typeface="Cambria Math"/>
              </a:rPr>
              <a:t>𝑴</a:t>
            </a:r>
            <a:r>
              <a:rPr b="0" spc="-40" dirty="0">
                <a:latin typeface="Cambria Math"/>
                <a:cs typeface="Cambria Math"/>
              </a:rPr>
              <a:t> </a:t>
            </a:r>
            <a:r>
              <a:rPr b="0" dirty="0">
                <a:latin typeface="Calibri"/>
                <a:cs typeface="Calibri"/>
              </a:rPr>
              <a:t>camadas,</a:t>
            </a:r>
            <a:r>
              <a:rPr b="0" spc="-5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a</a:t>
            </a:r>
            <a:r>
              <a:rPr b="0" spc="-60" dirty="0">
                <a:latin typeface="Calibri"/>
                <a:cs typeface="Calibri"/>
              </a:rPr>
              <a:t> </a:t>
            </a:r>
            <a:r>
              <a:rPr i="1" spc="-10" dirty="0">
                <a:latin typeface="Calibri"/>
                <a:cs typeface="Calibri"/>
              </a:rPr>
              <a:t>retropropagação</a:t>
            </a:r>
            <a:r>
              <a:rPr i="1" spc="-6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tem</a:t>
            </a:r>
            <a:r>
              <a:rPr b="0" spc="-6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o</a:t>
            </a:r>
            <a:r>
              <a:rPr b="0" spc="-6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efeito</a:t>
            </a:r>
            <a:r>
              <a:rPr b="0" spc="-70" dirty="0">
                <a:latin typeface="Calibri"/>
                <a:cs typeface="Calibri"/>
              </a:rPr>
              <a:t> </a:t>
            </a:r>
            <a:r>
              <a:rPr b="0" spc="-25" dirty="0">
                <a:latin typeface="Calibri"/>
                <a:cs typeface="Calibri"/>
              </a:rPr>
              <a:t>de </a:t>
            </a:r>
            <a:r>
              <a:rPr b="0" dirty="0">
                <a:latin typeface="Calibri"/>
                <a:cs typeface="Calibri"/>
              </a:rPr>
              <a:t>multiplicar</a:t>
            </a:r>
            <a:r>
              <a:rPr b="0" spc="-8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até</a:t>
            </a:r>
            <a:r>
              <a:rPr b="0" spc="-150" dirty="0">
                <a:latin typeface="Calibri"/>
                <a:cs typeface="Calibri"/>
              </a:rPr>
              <a:t> </a:t>
            </a:r>
            <a:r>
              <a:rPr b="0" dirty="0">
                <a:latin typeface="Cambria Math"/>
                <a:cs typeface="Cambria Math"/>
              </a:rPr>
              <a:t>𝑴</a:t>
            </a:r>
            <a:r>
              <a:rPr b="0" spc="-70" dirty="0">
                <a:latin typeface="Cambria Math"/>
                <a:cs typeface="Cambria Math"/>
              </a:rPr>
              <a:t> </a:t>
            </a:r>
            <a:r>
              <a:rPr b="0" spc="-10" dirty="0">
                <a:latin typeface="Calibri"/>
                <a:cs typeface="Calibri"/>
              </a:rPr>
              <a:t>valores</a:t>
            </a:r>
            <a:r>
              <a:rPr b="0" spc="-12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pequenos</a:t>
            </a:r>
            <a:r>
              <a:rPr b="0" spc="-7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(i.e.,</a:t>
            </a:r>
            <a:r>
              <a:rPr b="0" spc="-10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derivadas</a:t>
            </a:r>
            <a:r>
              <a:rPr b="0" spc="-10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parciais)</a:t>
            </a:r>
            <a:r>
              <a:rPr b="0" spc="-9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para</a:t>
            </a:r>
            <a:r>
              <a:rPr b="0" spc="-114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calcular </a:t>
            </a:r>
            <a:r>
              <a:rPr b="0" dirty="0">
                <a:latin typeface="Calibri"/>
                <a:cs typeface="Calibri"/>
              </a:rPr>
              <a:t>os</a:t>
            </a:r>
            <a:r>
              <a:rPr b="0" spc="-8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gradientes</a:t>
            </a:r>
            <a:r>
              <a:rPr b="0" spc="-9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das</a:t>
            </a:r>
            <a:r>
              <a:rPr b="0" spc="-7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primeiras</a:t>
            </a:r>
            <a:r>
              <a:rPr b="0" spc="-6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camadas.</a:t>
            </a:r>
          </a:p>
          <a:p>
            <a:pPr marL="241300" indent="-228600">
              <a:lnSpc>
                <a:spcPct val="100000"/>
              </a:lnSpc>
              <a:spcBef>
                <a:spcPts val="325"/>
              </a:spcBef>
              <a:buFont typeface="Arial"/>
              <a:buChar char="•"/>
              <a:tabLst>
                <a:tab pos="241300" algn="l"/>
              </a:tabLst>
            </a:pPr>
            <a:r>
              <a:rPr b="0" dirty="0">
                <a:latin typeface="Calibri"/>
                <a:cs typeface="Calibri"/>
              </a:rPr>
              <a:t>O</a:t>
            </a:r>
            <a:r>
              <a:rPr b="0" spc="-8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que</a:t>
            </a:r>
            <a:r>
              <a:rPr b="0" spc="-4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significa</a:t>
            </a:r>
            <a:r>
              <a:rPr b="0" spc="-5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que</a:t>
            </a:r>
            <a:r>
              <a:rPr b="0" spc="-6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o</a:t>
            </a:r>
            <a:r>
              <a:rPr b="0" spc="-105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gradiente</a:t>
            </a:r>
            <a:r>
              <a:rPr i="1" spc="-60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diminui</a:t>
            </a:r>
            <a:r>
              <a:rPr i="1" spc="-60" dirty="0">
                <a:latin typeface="Calibri"/>
                <a:cs typeface="Calibri"/>
              </a:rPr>
              <a:t> </a:t>
            </a:r>
            <a:r>
              <a:rPr i="1" spc="-20" dirty="0">
                <a:latin typeface="Calibri"/>
                <a:cs typeface="Calibri"/>
              </a:rPr>
              <a:t>exponencialmente</a:t>
            </a:r>
            <a:r>
              <a:rPr i="1" spc="-4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com</a:t>
            </a:r>
            <a:r>
              <a:rPr b="0" spc="-60" dirty="0">
                <a:latin typeface="Calibri"/>
                <a:cs typeface="Calibri"/>
              </a:rPr>
              <a:t> </a:t>
            </a:r>
            <a:r>
              <a:rPr b="0" spc="-25" dirty="0">
                <a:latin typeface="Cambria Math"/>
                <a:cs typeface="Cambria Math"/>
              </a:rPr>
              <a:t>𝑴</a:t>
            </a:r>
            <a:r>
              <a:rPr b="0" spc="-25" dirty="0">
                <a:latin typeface="Calibri"/>
                <a:cs typeface="Calibri"/>
              </a:rPr>
              <a:t>.</a:t>
            </a:r>
          </a:p>
          <a:p>
            <a:pPr marL="241300" marR="5080" indent="-228600">
              <a:lnSpc>
                <a:spcPct val="8000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b="0" dirty="0">
                <a:latin typeface="Calibri"/>
                <a:cs typeface="Calibri"/>
              </a:rPr>
              <a:t>Isso</a:t>
            </a:r>
            <a:r>
              <a:rPr b="0" spc="-7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significa</a:t>
            </a:r>
            <a:r>
              <a:rPr b="0" spc="-7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que</a:t>
            </a:r>
            <a:r>
              <a:rPr b="0" spc="-7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os</a:t>
            </a:r>
            <a:r>
              <a:rPr b="0" spc="-100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nós</a:t>
            </a:r>
            <a:r>
              <a:rPr i="1" spc="-90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das</a:t>
            </a:r>
            <a:r>
              <a:rPr i="1" spc="-85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camadas</a:t>
            </a:r>
            <a:r>
              <a:rPr i="1" spc="-85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iniciais</a:t>
            </a:r>
            <a:r>
              <a:rPr i="1" spc="-85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aprendem</a:t>
            </a:r>
            <a:r>
              <a:rPr i="1" spc="-85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muito</a:t>
            </a:r>
            <a:r>
              <a:rPr i="1" spc="-75" dirty="0">
                <a:latin typeface="Calibri"/>
                <a:cs typeface="Calibri"/>
              </a:rPr>
              <a:t> </a:t>
            </a:r>
            <a:r>
              <a:rPr i="1" spc="-20" dirty="0">
                <a:latin typeface="Calibri"/>
                <a:cs typeface="Calibri"/>
              </a:rPr>
              <a:t>mais </a:t>
            </a:r>
            <a:r>
              <a:rPr i="1" spc="-10" dirty="0">
                <a:latin typeface="Calibri"/>
                <a:cs typeface="Calibri"/>
              </a:rPr>
              <a:t>lentamente</a:t>
            </a:r>
            <a:r>
              <a:rPr i="1" spc="-40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do</a:t>
            </a:r>
            <a:r>
              <a:rPr i="1" spc="-60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que</a:t>
            </a:r>
            <a:r>
              <a:rPr i="1" spc="-60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os</a:t>
            </a:r>
            <a:r>
              <a:rPr i="1" spc="-65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nós</a:t>
            </a:r>
            <a:r>
              <a:rPr i="1" spc="-70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das</a:t>
            </a:r>
            <a:r>
              <a:rPr i="1" spc="-70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camadas</a:t>
            </a:r>
            <a:r>
              <a:rPr i="1" spc="-60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finais</a:t>
            </a:r>
            <a:r>
              <a:rPr b="0" dirty="0">
                <a:latin typeface="Calibri"/>
                <a:cs typeface="Calibri"/>
              </a:rPr>
              <a:t>,</a:t>
            </a:r>
            <a:r>
              <a:rPr b="0" spc="-5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pois</a:t>
            </a:r>
            <a:r>
              <a:rPr b="0" spc="-6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o</a:t>
            </a:r>
            <a:r>
              <a:rPr b="0" spc="-5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valor</a:t>
            </a:r>
            <a:r>
              <a:rPr b="0" spc="-8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do</a:t>
            </a:r>
            <a:r>
              <a:rPr b="0" spc="-60" dirty="0">
                <a:latin typeface="Calibri"/>
                <a:cs typeface="Calibri"/>
              </a:rPr>
              <a:t> </a:t>
            </a:r>
            <a:r>
              <a:rPr b="0" spc="-20" dirty="0">
                <a:latin typeface="Calibri"/>
                <a:cs typeface="Calibri"/>
              </a:rPr>
              <a:t>gradiente</a:t>
            </a:r>
            <a:r>
              <a:rPr b="0" spc="-70" dirty="0">
                <a:latin typeface="Calibri"/>
                <a:cs typeface="Calibri"/>
              </a:rPr>
              <a:t> </a:t>
            </a:r>
            <a:r>
              <a:rPr b="0" spc="-50" dirty="0">
                <a:latin typeface="Calibri"/>
                <a:cs typeface="Calibri"/>
              </a:rPr>
              <a:t>é </a:t>
            </a:r>
            <a:r>
              <a:rPr b="0" dirty="0">
                <a:latin typeface="Calibri"/>
                <a:cs typeface="Calibri"/>
              </a:rPr>
              <a:t>muito</a:t>
            </a:r>
            <a:r>
              <a:rPr b="0" spc="-8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pequeno,</a:t>
            </a:r>
            <a:r>
              <a:rPr b="0" spc="-6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fazendo</a:t>
            </a:r>
            <a:r>
              <a:rPr b="0" spc="-7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com</a:t>
            </a:r>
            <a:r>
              <a:rPr b="0" spc="-8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que</a:t>
            </a:r>
            <a:r>
              <a:rPr b="0" spc="-8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a</a:t>
            </a:r>
            <a:r>
              <a:rPr b="0" spc="-130" dirty="0">
                <a:latin typeface="Calibri"/>
                <a:cs typeface="Calibri"/>
              </a:rPr>
              <a:t> </a:t>
            </a:r>
            <a:r>
              <a:rPr i="1" spc="-10" dirty="0">
                <a:latin typeface="Calibri"/>
                <a:cs typeface="Calibri"/>
              </a:rPr>
              <a:t>atualização</a:t>
            </a:r>
            <a:r>
              <a:rPr i="1" spc="-90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dos</a:t>
            </a:r>
            <a:r>
              <a:rPr i="1" spc="-95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pesos</a:t>
            </a:r>
            <a:r>
              <a:rPr i="1" spc="-90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também</a:t>
            </a:r>
            <a:r>
              <a:rPr i="1" spc="-75" dirty="0">
                <a:latin typeface="Calibri"/>
                <a:cs typeface="Calibri"/>
              </a:rPr>
              <a:t> </a:t>
            </a:r>
            <a:r>
              <a:rPr i="1" spc="-20" dirty="0">
                <a:latin typeface="Calibri"/>
                <a:cs typeface="Calibri"/>
              </a:rPr>
              <a:t>seja </a:t>
            </a:r>
            <a:r>
              <a:rPr i="1" dirty="0">
                <a:latin typeface="Calibri"/>
                <a:cs typeface="Calibri"/>
              </a:rPr>
              <a:t>pequena</a:t>
            </a:r>
            <a:r>
              <a:rPr i="1" spc="-8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(i.e.,</a:t>
            </a:r>
            <a:r>
              <a:rPr b="0" spc="-7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lenta).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42132" y="4785358"/>
            <a:ext cx="5794248" cy="204216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138031" y="6542023"/>
            <a:ext cx="278511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Exemplo:</a:t>
            </a:r>
            <a:r>
              <a:rPr sz="1400" u="sng" spc="-6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14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vanishing_gradientsv3.ipynb</a:t>
            </a:r>
            <a:endParaRPr sz="1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39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O</a:t>
            </a:r>
            <a:r>
              <a:rPr spc="-40" dirty="0"/>
              <a:t> </a:t>
            </a:r>
            <a:r>
              <a:rPr dirty="0"/>
              <a:t>Problema</a:t>
            </a:r>
            <a:r>
              <a:rPr spc="-30" dirty="0"/>
              <a:t> </a:t>
            </a:r>
            <a:r>
              <a:rPr dirty="0"/>
              <a:t>da</a:t>
            </a:r>
            <a:r>
              <a:rPr spc="-30" dirty="0"/>
              <a:t> </a:t>
            </a:r>
            <a:r>
              <a:rPr dirty="0"/>
              <a:t>Dissipação</a:t>
            </a:r>
            <a:r>
              <a:rPr spc="-15" dirty="0"/>
              <a:t> </a:t>
            </a:r>
            <a:r>
              <a:rPr dirty="0"/>
              <a:t>do</a:t>
            </a:r>
            <a:r>
              <a:rPr spc="-35" dirty="0"/>
              <a:t> </a:t>
            </a:r>
            <a:r>
              <a:rPr spc="-10" dirty="0"/>
              <a:t>Gradiente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41923" y="1461510"/>
            <a:ext cx="10937240" cy="5173468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241300" marR="5080" indent="-228600">
              <a:lnSpc>
                <a:spcPct val="80000"/>
              </a:lnSpc>
              <a:spcBef>
                <a:spcPts val="73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Esse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problema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foi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razões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pelas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quais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</a:t>
            </a:r>
            <a:r>
              <a:rPr sz="2600" spc="-10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redes</a:t>
            </a:r>
            <a:r>
              <a:rPr sz="2600" b="1" i="1" spc="-4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neurais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profundas</a:t>
            </a:r>
            <a:r>
              <a:rPr sz="2600" b="1" i="1" spc="-1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foram </a:t>
            </a:r>
            <a:r>
              <a:rPr sz="2600" b="1" i="1" dirty="0">
                <a:latin typeface="Calibri"/>
                <a:cs typeface="Calibri"/>
              </a:rPr>
              <a:t>abandonadas</a:t>
            </a:r>
            <a:r>
              <a:rPr sz="2600" b="1" i="1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por</a:t>
            </a:r>
            <a:r>
              <a:rPr sz="2600" b="1" i="1" spc="-1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um</a:t>
            </a:r>
            <a:r>
              <a:rPr sz="2600" b="1" i="1" spc="-1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longo</a:t>
            </a:r>
            <a:r>
              <a:rPr sz="2600" b="1" i="1" spc="-1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tempo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voltando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à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cena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em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2010,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quando</a:t>
            </a:r>
            <a:r>
              <a:rPr sz="2600" b="1" i="1" spc="-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se</a:t>
            </a:r>
            <a:r>
              <a:rPr sz="2600" b="1" i="1" spc="-25" dirty="0">
                <a:latin typeface="Calibri"/>
                <a:cs typeface="Calibri"/>
              </a:rPr>
              <a:t> fez </a:t>
            </a:r>
            <a:r>
              <a:rPr sz="2600" b="1" i="1" dirty="0">
                <a:latin typeface="Calibri"/>
                <a:cs typeface="Calibri"/>
              </a:rPr>
              <a:t>um</a:t>
            </a:r>
            <a:r>
              <a:rPr sz="2600" b="1" i="1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progresso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significativo</a:t>
            </a:r>
            <a:r>
              <a:rPr sz="2600" b="1" i="1" spc="-1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em</a:t>
            </a:r>
            <a:r>
              <a:rPr sz="2600" b="1" i="1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sua</a:t>
            </a:r>
            <a:r>
              <a:rPr sz="2600" b="1" i="1" spc="-1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compreensão</a:t>
            </a:r>
            <a:r>
              <a:rPr sz="2600" b="1" i="1" spc="-7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[1].</a:t>
            </a:r>
            <a:endParaRPr sz="2600" dirty="0">
              <a:latin typeface="Calibri"/>
              <a:cs typeface="Calibri"/>
            </a:endParaRPr>
          </a:p>
          <a:p>
            <a:pPr marL="241300" marR="414655" indent="-228600">
              <a:lnSpc>
                <a:spcPct val="800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Os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autores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[1]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mostraram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funções</a:t>
            </a:r>
            <a:r>
              <a:rPr sz="2600" b="1" i="1" spc="-1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6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ativação</a:t>
            </a:r>
            <a:r>
              <a:rPr sz="2600" b="1" i="1" spc="-2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sigmoide</a:t>
            </a:r>
            <a:r>
              <a:rPr sz="2600" b="1" i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spc="-25" dirty="0">
                <a:solidFill>
                  <a:srgbClr val="00AF50"/>
                </a:solidFill>
                <a:latin typeface="Calibri"/>
                <a:cs typeface="Calibri"/>
              </a:rPr>
              <a:t>ou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tangente</a:t>
            </a:r>
            <a:r>
              <a:rPr sz="2600" b="1" i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hiperbólica</a:t>
            </a:r>
            <a:r>
              <a:rPr sz="26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esquema</a:t>
            </a:r>
            <a:r>
              <a:rPr sz="26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6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inicialização</a:t>
            </a:r>
            <a:r>
              <a:rPr sz="2600" b="1" i="1" spc="-2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usando</a:t>
            </a:r>
            <a:r>
              <a:rPr sz="2600" b="1" i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spc="-10" dirty="0">
                <a:solidFill>
                  <a:srgbClr val="00AF50"/>
                </a:solidFill>
                <a:latin typeface="Calibri"/>
                <a:cs typeface="Calibri"/>
              </a:rPr>
              <a:t>distribuição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normal</a:t>
            </a:r>
            <a:r>
              <a:rPr sz="2600" b="1" i="1" spc="-2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com</a:t>
            </a:r>
            <a:r>
              <a:rPr sz="2600" b="1" i="1" spc="-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média</a:t>
            </a:r>
            <a:r>
              <a:rPr sz="2600" b="1" i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zero</a:t>
            </a:r>
            <a:r>
              <a:rPr sz="2600" b="1" i="1" spc="-2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e</a:t>
            </a:r>
            <a:r>
              <a:rPr sz="2600" b="1" i="1" spc="-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variância</a:t>
            </a:r>
            <a:r>
              <a:rPr sz="2600" b="1" i="1" spc="-2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unitária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2600" b="1" i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FF0000"/>
                </a:solidFill>
                <a:latin typeface="Calibri"/>
                <a:cs typeface="Calibri"/>
              </a:rPr>
              <a:t>variância</a:t>
            </a:r>
            <a:r>
              <a:rPr sz="2600" b="1" i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FF0000"/>
                </a:solidFill>
                <a:latin typeface="Calibri"/>
                <a:cs typeface="Calibri"/>
              </a:rPr>
              <a:t>das</a:t>
            </a:r>
            <a:r>
              <a:rPr sz="2600" b="1" i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FF0000"/>
                </a:solidFill>
                <a:latin typeface="Calibri"/>
                <a:cs typeface="Calibri"/>
              </a:rPr>
              <a:t>saídas</a:t>
            </a:r>
            <a:r>
              <a:rPr sz="2600" b="1" i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FF0000"/>
                </a:solidFill>
                <a:latin typeface="Calibri"/>
                <a:cs typeface="Calibri"/>
              </a:rPr>
              <a:t>de</a:t>
            </a:r>
            <a:r>
              <a:rPr sz="2600" b="1" i="1" spc="-20" dirty="0">
                <a:solidFill>
                  <a:srgbClr val="FF0000"/>
                </a:solidFill>
                <a:latin typeface="Calibri"/>
                <a:cs typeface="Calibri"/>
              </a:rPr>
              <a:t> cada </a:t>
            </a:r>
            <a:r>
              <a:rPr sz="2600" b="1" i="1" dirty="0">
                <a:solidFill>
                  <a:srgbClr val="FF0000"/>
                </a:solidFill>
                <a:latin typeface="Calibri"/>
                <a:cs typeface="Calibri"/>
              </a:rPr>
              <a:t>camada</a:t>
            </a:r>
            <a:r>
              <a:rPr sz="2600" b="1" i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FF0000"/>
                </a:solidFill>
                <a:latin typeface="Calibri"/>
                <a:cs typeface="Calibri"/>
              </a:rPr>
              <a:t>é</a:t>
            </a:r>
            <a:r>
              <a:rPr sz="2600" b="1" i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FF0000"/>
                </a:solidFill>
                <a:latin typeface="Calibri"/>
                <a:cs typeface="Calibri"/>
              </a:rPr>
              <a:t>muito maior</a:t>
            </a:r>
            <a:r>
              <a:rPr sz="2600" b="1" i="1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FF0000"/>
                </a:solidFill>
                <a:latin typeface="Calibri"/>
                <a:cs typeface="Calibri"/>
              </a:rPr>
              <a:t>do</a:t>
            </a:r>
            <a:r>
              <a:rPr sz="2600" b="1" i="1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FF0000"/>
                </a:solidFill>
                <a:latin typeface="Calibri"/>
                <a:cs typeface="Calibri"/>
              </a:rPr>
              <a:t>que</a:t>
            </a:r>
            <a:r>
              <a:rPr sz="2600" b="1" i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2600" b="1" i="1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FF0000"/>
                </a:solidFill>
                <a:latin typeface="Calibri"/>
                <a:cs typeface="Calibri"/>
              </a:rPr>
              <a:t>variância</a:t>
            </a:r>
            <a:r>
              <a:rPr sz="2600" b="1" i="1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FF0000"/>
                </a:solidFill>
                <a:latin typeface="Calibri"/>
                <a:cs typeface="Calibri"/>
              </a:rPr>
              <a:t>de</a:t>
            </a:r>
            <a:r>
              <a:rPr sz="2600" b="1" i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FF0000"/>
                </a:solidFill>
                <a:latin typeface="Calibri"/>
                <a:cs typeface="Calibri"/>
              </a:rPr>
              <a:t>suas</a:t>
            </a:r>
            <a:r>
              <a:rPr sz="2600" b="1" i="1" spc="-10" dirty="0">
                <a:solidFill>
                  <a:srgbClr val="FF0000"/>
                </a:solidFill>
                <a:latin typeface="Calibri"/>
                <a:cs typeface="Calibri"/>
              </a:rPr>
              <a:t> entradas</a:t>
            </a:r>
            <a:r>
              <a:rPr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41300" marR="192405" indent="-228600">
              <a:lnSpc>
                <a:spcPts val="2500"/>
              </a:lnSpc>
              <a:spcBef>
                <a:spcPts val="98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Indo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em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direção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à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saída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rede,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variância</a:t>
            </a:r>
            <a:r>
              <a:rPr sz="2600" b="1" i="1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continua</a:t>
            </a:r>
            <a:r>
              <a:rPr sz="2600" b="1" i="1" spc="1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aumentando</a:t>
            </a:r>
            <a:r>
              <a:rPr sz="2600" b="1" i="1" spc="-1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após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b="1" i="1" spc="-20" dirty="0">
                <a:latin typeface="Calibri"/>
                <a:cs typeface="Calibri"/>
              </a:rPr>
              <a:t>cada </a:t>
            </a:r>
            <a:r>
              <a:rPr sz="2600" b="1" i="1" dirty="0">
                <a:latin typeface="Calibri"/>
                <a:cs typeface="Calibri"/>
              </a:rPr>
              <a:t>camada</a:t>
            </a:r>
            <a:r>
              <a:rPr sz="2600" b="1" i="1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até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funções</a:t>
            </a:r>
            <a:r>
              <a:rPr sz="2600" b="1" i="1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</a:t>
            </a:r>
            <a:r>
              <a:rPr sz="2600" b="1" i="1" spc="-5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ativação</a:t>
            </a:r>
            <a:r>
              <a:rPr sz="2600" b="1" i="1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camadas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posteriores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saturem</a:t>
            </a:r>
            <a:r>
              <a:rPr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41300" marR="780415" indent="-228600" algn="just">
              <a:lnSpc>
                <a:spcPts val="2500"/>
              </a:lnSpc>
              <a:spcBef>
                <a:spcPts val="990"/>
              </a:spcBef>
              <a:buFont typeface="Arial"/>
              <a:buChar char="•"/>
              <a:tabLst>
                <a:tab pos="241300" algn="l"/>
              </a:tabLst>
            </a:pPr>
            <a:r>
              <a:rPr sz="2600" b="1" i="1" dirty="0">
                <a:latin typeface="Calibri"/>
                <a:cs typeface="Calibri"/>
              </a:rPr>
              <a:t>Um</a:t>
            </a:r>
            <a:r>
              <a:rPr sz="2600" b="1" i="1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dos</a:t>
            </a:r>
            <a:r>
              <a:rPr sz="2600" b="1" i="1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insights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[1]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foi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os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problemas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dissipação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e</a:t>
            </a:r>
            <a:r>
              <a:rPr sz="2600" b="1" i="1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explosão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b="1" i="1" spc="-25" dirty="0">
                <a:latin typeface="Calibri"/>
                <a:cs typeface="Calibri"/>
              </a:rPr>
              <a:t>dos </a:t>
            </a:r>
            <a:r>
              <a:rPr sz="2600" b="1" i="1" dirty="0">
                <a:latin typeface="Calibri"/>
                <a:cs typeface="Calibri"/>
              </a:rPr>
              <a:t>gradientes</a:t>
            </a:r>
            <a:r>
              <a:rPr sz="2600" b="1" i="1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são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em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parte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causados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pela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escolha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inadequada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da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função</a:t>
            </a:r>
            <a:r>
              <a:rPr sz="2600" b="1" i="1" spc="-5" dirty="0">
                <a:latin typeface="Calibri"/>
                <a:cs typeface="Calibri"/>
              </a:rPr>
              <a:t> </a:t>
            </a:r>
            <a:r>
              <a:rPr sz="2600" b="1" i="1" spc="-25" dirty="0">
                <a:latin typeface="Calibri"/>
                <a:cs typeface="Calibri"/>
              </a:rPr>
              <a:t>de </a:t>
            </a:r>
            <a:r>
              <a:rPr sz="2600" b="1" i="1" spc="-10" dirty="0">
                <a:latin typeface="Calibri"/>
                <a:cs typeface="Calibri"/>
              </a:rPr>
              <a:t>ativação</a:t>
            </a:r>
            <a:r>
              <a:rPr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41300" indent="-228600" algn="just">
              <a:spcBef>
                <a:spcPts val="385"/>
              </a:spcBef>
              <a:buFont typeface="Arial"/>
              <a:buChar char="•"/>
              <a:tabLst>
                <a:tab pos="241300" algn="l"/>
              </a:tabLst>
            </a:pPr>
            <a:r>
              <a:rPr sz="2600" b="1" i="1" dirty="0">
                <a:solidFill>
                  <a:srgbClr val="00AFEF"/>
                </a:solidFill>
                <a:latin typeface="Calibri"/>
                <a:cs typeface="Calibri"/>
              </a:rPr>
              <a:t>Funções</a:t>
            </a:r>
            <a:r>
              <a:rPr sz="2600" b="1" i="1" spc="-1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EF"/>
                </a:solidFill>
                <a:latin typeface="Calibri"/>
                <a:cs typeface="Calibri"/>
              </a:rPr>
              <a:t>de</a:t>
            </a:r>
            <a:r>
              <a:rPr sz="2600" b="1" i="1" spc="-2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EF"/>
                </a:solidFill>
                <a:latin typeface="Calibri"/>
                <a:cs typeface="Calibri"/>
              </a:rPr>
              <a:t>ativação</a:t>
            </a:r>
            <a:r>
              <a:rPr sz="2600" b="1" i="1" spc="-1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EF"/>
                </a:solidFill>
                <a:latin typeface="Calibri"/>
                <a:cs typeface="Calibri"/>
              </a:rPr>
              <a:t>que</a:t>
            </a:r>
            <a:r>
              <a:rPr sz="2600" b="1" i="1" spc="-2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EF"/>
                </a:solidFill>
                <a:latin typeface="Calibri"/>
                <a:cs typeface="Calibri"/>
              </a:rPr>
              <a:t>não</a:t>
            </a:r>
            <a:r>
              <a:rPr sz="2600" b="1" i="1" spc="-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EF"/>
                </a:solidFill>
                <a:latin typeface="Calibri"/>
                <a:cs typeface="Calibri"/>
              </a:rPr>
              <a:t>saturem</a:t>
            </a:r>
            <a:r>
              <a:rPr sz="2600" b="1" i="1" spc="-8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EF"/>
                </a:solidFill>
                <a:latin typeface="Calibri"/>
                <a:cs typeface="Calibri"/>
              </a:rPr>
              <a:t>inicialização adequada</a:t>
            </a:r>
            <a:r>
              <a:rPr sz="2600" b="1" i="1" spc="-3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EF"/>
                </a:solidFill>
                <a:latin typeface="Calibri"/>
                <a:cs typeface="Calibri"/>
              </a:rPr>
              <a:t>dos</a:t>
            </a:r>
            <a:r>
              <a:rPr sz="2600" b="1" i="1" spc="-2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EF"/>
                </a:solidFill>
                <a:latin typeface="Calibri"/>
                <a:cs typeface="Calibri"/>
              </a:rPr>
              <a:t>pesos</a:t>
            </a:r>
            <a:r>
              <a:rPr sz="2600" b="1" i="1" spc="-2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600" spc="-25" dirty="0" err="1">
                <a:latin typeface="Calibri"/>
                <a:cs typeface="Calibri"/>
              </a:rPr>
              <a:t>são</a:t>
            </a:r>
            <a:r>
              <a:rPr lang="pt-BR" sz="2600" spc="-25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formas</a:t>
            </a:r>
            <a:r>
              <a:rPr lang="pt-BR" sz="2600" spc="-30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de</a:t>
            </a:r>
            <a:r>
              <a:rPr lang="pt-BR" sz="2600" spc="-45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mitigar</a:t>
            </a:r>
            <a:r>
              <a:rPr lang="pt-BR" sz="2600" spc="-30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o</a:t>
            </a:r>
            <a:r>
              <a:rPr lang="pt-BR" sz="2600" spc="-30" dirty="0">
                <a:latin typeface="Calibri"/>
                <a:cs typeface="Calibri"/>
              </a:rPr>
              <a:t> </a:t>
            </a:r>
            <a:r>
              <a:rPr lang="pt-BR" sz="2600" spc="-10" dirty="0">
                <a:latin typeface="Calibri"/>
                <a:cs typeface="Calibri"/>
              </a:rPr>
              <a:t>problema.</a:t>
            </a:r>
            <a:endParaRPr lang="pt-BR" sz="26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85584" y="6452412"/>
            <a:ext cx="5523230" cy="361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alibri"/>
                <a:cs typeface="Calibri"/>
              </a:rPr>
              <a:t>[1]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Xavier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Glorot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Yoshua</a:t>
            </a:r>
            <a:r>
              <a:rPr sz="1100" spc="-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Bengio,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“Understanding</a:t>
            </a:r>
            <a:r>
              <a:rPr sz="1100" spc="-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Difficulty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of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Training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Deep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Feedforward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latin typeface="Calibri"/>
                <a:cs typeface="Calibri"/>
              </a:rPr>
              <a:t>Neural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Networks”,</a:t>
            </a:r>
            <a:r>
              <a:rPr sz="1100" spc="-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January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2010.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285750"/>
            <a:ext cx="456882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Funções de</a:t>
            </a:r>
            <a:r>
              <a:rPr spc="-5" dirty="0"/>
              <a:t> </a:t>
            </a:r>
            <a:r>
              <a:rPr spc="-10" dirty="0"/>
              <a:t>ativação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405509"/>
            <a:ext cx="7844155" cy="139573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41300" marR="5080" indent="-228600">
              <a:lnSpc>
                <a:spcPct val="80000"/>
              </a:lnSpc>
              <a:spcBef>
                <a:spcPts val="675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Com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surgimento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redes</a:t>
            </a:r>
            <a:r>
              <a:rPr sz="2400" b="1" i="1" spc="-2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neurais</a:t>
            </a:r>
            <a:r>
              <a:rPr sz="2400" b="1" i="1" spc="-2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profundas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outra </a:t>
            </a:r>
            <a:r>
              <a:rPr sz="2400" dirty="0">
                <a:latin typeface="Calibri"/>
                <a:cs typeface="Calibri"/>
              </a:rPr>
              <a:t>função,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conhecida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como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função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retificadora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passou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a </a:t>
            </a:r>
            <a:r>
              <a:rPr sz="2400" dirty="0">
                <a:latin typeface="Calibri"/>
                <a:cs typeface="Calibri"/>
              </a:rPr>
              <a:t>bastante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utilizada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questões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numéricas</a:t>
            </a:r>
            <a:r>
              <a:rPr sz="2400" b="1" i="1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computacionais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420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função</a:t>
            </a:r>
            <a:r>
              <a:rPr sz="2400" b="1" i="1" spc="-4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retificadora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tem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expressão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dada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por</a:t>
            </a:r>
            <a:endParaRPr sz="2400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6"/>
              <p:cNvSpPr txBox="1"/>
              <p:nvPr/>
            </p:nvSpPr>
            <p:spPr>
              <a:xfrm>
                <a:off x="684380" y="2826483"/>
                <a:ext cx="5823967" cy="448200"/>
              </a:xfrm>
              <a:prstGeom prst="rect">
                <a:avLst/>
              </a:prstGeom>
            </p:spPr>
            <p:txBody>
              <a:bodyPr vert="horz" wrap="square" lIns="0" tIns="78105" rIns="0" bIns="0" rtlCol="0">
                <a:spAutoFit/>
              </a:bodyPr>
              <a:lstStyle/>
              <a:p>
                <a:pPr marL="2395220">
                  <a:lnSpc>
                    <a:spcPct val="100000"/>
                  </a:lnSpc>
                  <a:spcBef>
                    <a:spcPts val="615"/>
                  </a:spcBef>
                  <a:tabLst>
                    <a:tab pos="3373754" algn="l"/>
                    <a:tab pos="3834129" algn="l"/>
                    <a:tab pos="4833620" algn="l"/>
                    <a:tab pos="5489575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 dirty="0" smtClean="0">
                          <a:latin typeface="Cambria Math" panose="02040503050406030204" pitchFamily="18" charset="0"/>
                          <a:cs typeface="Cambria Math"/>
                        </a:rPr>
                        <m:t>𝑦</m:t>
                      </m:r>
                      <m:r>
                        <a:rPr lang="pt-BR" sz="2625" i="1" baseline="-15873" dirty="0">
                          <a:latin typeface="Cambria Math" panose="02040503050406030204" pitchFamily="18" charset="0"/>
                          <a:cs typeface="Cambria Math"/>
                        </a:rPr>
                        <m:t>𝑗</m:t>
                      </m:r>
                      <m:r>
                        <a:rPr lang="pt-BR" sz="2625" i="1" spc="630" baseline="-15873" dirty="0">
                          <a:latin typeface="Cambria Math" panose="02040503050406030204" pitchFamily="18" charset="0"/>
                          <a:cs typeface="Cambria Math"/>
                        </a:rPr>
                        <m:t> </m:t>
                      </m:r>
                      <m:r>
                        <a:rPr lang="pt-BR" sz="2400" i="1" dirty="0">
                          <a:latin typeface="Cambria Math" panose="02040503050406030204" pitchFamily="18" charset="0"/>
                          <a:cs typeface="Cambria Math"/>
                        </a:rPr>
                        <m:t>=</m:t>
                      </m:r>
                      <m:r>
                        <a:rPr lang="pt-BR" sz="2400" i="1" spc="125" dirty="0">
                          <a:latin typeface="Cambria Math" panose="02040503050406030204" pitchFamily="18" charset="0"/>
                          <a:cs typeface="Cambria Math"/>
                        </a:rPr>
                        <m:t> </m:t>
                      </m:r>
                      <m:r>
                        <a:rPr lang="pt-BR" sz="2400" i="1" spc="-50" dirty="0" smtClean="0">
                          <a:latin typeface="Cambria Math" panose="02040503050406030204" pitchFamily="18" charset="0"/>
                          <a:cs typeface="Cambria Math"/>
                        </a:rPr>
                        <m:t>𝑓</m:t>
                      </m:r>
                      <m:r>
                        <a:rPr lang="pt-BR" sz="2400" i="1" spc="-50" dirty="0">
                          <a:latin typeface="Cambria Math" panose="02040503050406030204" pitchFamily="18" charset="0"/>
                          <a:cs typeface="Cambria Math"/>
                        </a:rPr>
                        <m:t>(</m:t>
                      </m:r>
                      <m:r>
                        <a:rPr lang="pt-BR" sz="2400" i="1" spc="-25" dirty="0" smtClean="0">
                          <a:latin typeface="Cambria Math" panose="02040503050406030204" pitchFamily="18" charset="0"/>
                          <a:cs typeface="Cambria Math"/>
                        </a:rPr>
                        <m:t>𝑧</m:t>
                      </m:r>
                      <m:r>
                        <a:rPr lang="pt-BR" sz="2625" i="1" spc="-37" baseline="-15873" dirty="0" smtClean="0">
                          <a:latin typeface="Cambria Math" panose="02040503050406030204" pitchFamily="18" charset="0"/>
                          <a:cs typeface="Cambria Math"/>
                        </a:rPr>
                        <m:t>𝑗</m:t>
                      </m:r>
                      <m:r>
                        <a:rPr lang="pt-BR" sz="2625" i="1" spc="-37" dirty="0" smtClean="0">
                          <a:latin typeface="Cambria Math" panose="02040503050406030204" pitchFamily="18" charset="0"/>
                          <a:cs typeface="Cambria Math"/>
                        </a:rPr>
                        <m:t>)</m:t>
                      </m:r>
                      <m:r>
                        <a:rPr lang="pt-BR" sz="2625" i="1" baseline="-15873" dirty="0">
                          <a:latin typeface="Cambria Math" panose="02040503050406030204" pitchFamily="18" charset="0"/>
                          <a:cs typeface="Cambria Math"/>
                        </a:rPr>
                        <m:t>	</m:t>
                      </m:r>
                      <m:r>
                        <a:rPr lang="pt-BR" sz="2400" i="1" dirty="0">
                          <a:latin typeface="Cambria Math" panose="02040503050406030204" pitchFamily="18" charset="0"/>
                          <a:cs typeface="Cambria Math"/>
                        </a:rPr>
                        <m:t>=</m:t>
                      </m:r>
                      <m:r>
                        <a:rPr lang="pt-BR" sz="2400" i="1" spc="125" dirty="0">
                          <a:latin typeface="Cambria Math" panose="02040503050406030204" pitchFamily="18" charset="0"/>
                          <a:cs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pt-BR" sz="2400" i="1" spc="-25" dirty="0" smtClean="0">
                          <a:latin typeface="Cambria Math" panose="02040503050406030204" pitchFamily="18" charset="0"/>
                          <a:cs typeface="Cambria Math"/>
                        </a:rPr>
                        <m:t>max</m:t>
                      </m:r>
                      <m:r>
                        <a:rPr lang="pt-BR" sz="2400" i="1" spc="-25" dirty="0">
                          <a:latin typeface="Cambria Math" panose="02040503050406030204" pitchFamily="18" charset="0"/>
                          <a:cs typeface="Cambria Math"/>
                        </a:rPr>
                        <m:t>⁡(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  <a:cs typeface="Cambria Math"/>
                        </a:rPr>
                        <m:t>0</m:t>
                      </m:r>
                      <m:r>
                        <a:rPr lang="pt-BR" sz="2400" i="1" dirty="0">
                          <a:latin typeface="Cambria Math" panose="02040503050406030204" pitchFamily="18" charset="0"/>
                          <a:cs typeface="Cambria Math"/>
                        </a:rPr>
                        <m:t>,</m:t>
                      </m:r>
                      <m:r>
                        <a:rPr lang="pt-BR" sz="2400" i="1" spc="-145" dirty="0">
                          <a:latin typeface="Cambria Math" panose="02040503050406030204" pitchFamily="18" charset="0"/>
                          <a:cs typeface="Cambria Math"/>
                        </a:rPr>
                        <m:t> </m:t>
                      </m:r>
                      <m:r>
                        <a:rPr lang="pt-BR" sz="2400" i="1" spc="-25" dirty="0" smtClean="0">
                          <a:latin typeface="Cambria Math" panose="02040503050406030204" pitchFamily="18" charset="0"/>
                          <a:cs typeface="Cambria Math"/>
                        </a:rPr>
                        <m:t>𝑧</m:t>
                      </m:r>
                      <m:r>
                        <a:rPr lang="pt-BR" sz="2625" i="1" spc="-37" baseline="-15873" dirty="0" smtClean="0">
                          <a:latin typeface="Cambria Math" panose="02040503050406030204" pitchFamily="18" charset="0"/>
                          <a:cs typeface="Cambria Math"/>
                        </a:rPr>
                        <m:t>𝑗</m:t>
                      </m:r>
                      <m:r>
                        <a:rPr lang="pt-BR" sz="2625" i="1" spc="-37" dirty="0">
                          <a:latin typeface="Cambria Math" panose="02040503050406030204" pitchFamily="18" charset="0"/>
                          <a:cs typeface="Cambria Math"/>
                        </a:rPr>
                        <m:t>)</m:t>
                      </m:r>
                      <m:r>
                        <a:rPr lang="pt-BR" sz="2400" i="1" spc="-50" dirty="0" smtClean="0">
                          <a:latin typeface="Cambria Math" panose="02040503050406030204" pitchFamily="18" charset="0"/>
                          <a:cs typeface="Calibri"/>
                        </a:rPr>
                        <m:t>.</m:t>
                      </m:r>
                    </m:oMath>
                  </m:oMathPara>
                </a14:m>
                <a:endParaRPr sz="24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6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380" y="2826483"/>
                <a:ext cx="5823967" cy="448200"/>
              </a:xfrm>
              <a:prstGeom prst="rect">
                <a:avLst/>
              </a:prstGeom>
              <a:blipFill>
                <a:blip r:embed="rId2"/>
                <a:stretch>
                  <a:fillRect r="-1046" b="-3287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object 14"/>
          <p:cNvSpPr txBox="1"/>
          <p:nvPr/>
        </p:nvSpPr>
        <p:spPr>
          <a:xfrm>
            <a:off x="891539" y="4580635"/>
            <a:ext cx="7705725" cy="212153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8100" marR="30480">
              <a:lnSpc>
                <a:spcPts val="2400"/>
              </a:lnSpc>
              <a:spcBef>
                <a:spcPts val="580"/>
              </a:spcBef>
            </a:pPr>
            <a:r>
              <a:rPr sz="2400" dirty="0">
                <a:latin typeface="Calibri"/>
                <a:cs typeface="Calibri"/>
              </a:rPr>
              <a:t>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indefinida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𝑧</a:t>
            </a:r>
            <a:r>
              <a:rPr sz="2625" baseline="-15873" dirty="0">
                <a:latin typeface="Cambria Math"/>
                <a:cs typeface="Cambria Math"/>
              </a:rPr>
              <a:t>𝑗</a:t>
            </a:r>
            <a:r>
              <a:rPr sz="2625" spc="592" baseline="-15873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1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0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porém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valor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derivada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em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zero </a:t>
            </a:r>
            <a:r>
              <a:rPr sz="2400" dirty="0">
                <a:latin typeface="Calibri"/>
                <a:cs typeface="Calibri"/>
              </a:rPr>
              <a:t>pode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arbitrariamente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escolhido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0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1.</a:t>
            </a:r>
            <a:endParaRPr sz="2400">
              <a:latin typeface="Calibri"/>
              <a:cs typeface="Calibri"/>
            </a:endParaRPr>
          </a:p>
          <a:p>
            <a:pPr marL="266700" indent="-228600">
              <a:lnSpc>
                <a:spcPts val="2595"/>
              </a:lnSpc>
              <a:spcBef>
                <a:spcPts val="420"/>
              </a:spcBef>
              <a:buFont typeface="Arial"/>
              <a:buChar char="•"/>
              <a:tabLst>
                <a:tab pos="266700" algn="l"/>
              </a:tabLst>
            </a:pPr>
            <a:r>
              <a:rPr sz="2400" dirty="0">
                <a:latin typeface="Calibri"/>
                <a:cs typeface="Calibri"/>
              </a:rPr>
              <a:t>Um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nó</a:t>
            </a:r>
            <a:r>
              <a:rPr sz="2400" b="1" i="1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emprega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função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de</a:t>
            </a:r>
            <a:r>
              <a:rPr sz="2400" b="1" i="1" spc="-5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ativação</a:t>
            </a:r>
            <a:r>
              <a:rPr sz="2400" b="1" i="1" spc="-5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retificadora</a:t>
            </a:r>
            <a:r>
              <a:rPr sz="2400" b="1" i="1" spc="-20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é</a:t>
            </a:r>
            <a:endParaRPr sz="2400">
              <a:latin typeface="Calibri"/>
              <a:cs typeface="Calibri"/>
            </a:endParaRPr>
          </a:p>
          <a:p>
            <a:pPr marL="266700">
              <a:lnSpc>
                <a:spcPts val="2595"/>
              </a:lnSpc>
            </a:pPr>
            <a:r>
              <a:rPr sz="2400" dirty="0">
                <a:latin typeface="Calibri"/>
                <a:cs typeface="Calibri"/>
              </a:rPr>
              <a:t>chamado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rectified</a:t>
            </a:r>
            <a:r>
              <a:rPr sz="2400" b="1" i="1" spc="-1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linear</a:t>
            </a:r>
            <a:r>
              <a:rPr sz="2400" b="1" i="1" spc="-2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unit</a:t>
            </a:r>
            <a:r>
              <a:rPr sz="2400" b="1" i="1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(ReLU)</a:t>
            </a:r>
            <a:endParaRPr sz="2400">
              <a:latin typeface="Calibri"/>
              <a:cs typeface="Calibri"/>
            </a:endParaRPr>
          </a:p>
          <a:p>
            <a:pPr marL="266700" marR="571500" indent="-228600">
              <a:lnSpc>
                <a:spcPts val="2300"/>
              </a:lnSpc>
              <a:spcBef>
                <a:spcPts val="990"/>
              </a:spcBef>
              <a:buFont typeface="Arial"/>
              <a:buChar char="•"/>
              <a:tabLst>
                <a:tab pos="266700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função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retificadora</a:t>
            </a:r>
            <a:r>
              <a:rPr sz="2400" b="1" i="1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derivada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são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mostradas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nas </a:t>
            </a:r>
            <a:r>
              <a:rPr sz="2400" dirty="0">
                <a:latin typeface="Calibri"/>
                <a:cs typeface="Calibri"/>
              </a:rPr>
              <a:t>figuras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lado.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076947" y="3732657"/>
            <a:ext cx="69596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0AFEF"/>
                </a:solidFill>
                <a:latin typeface="Calibri"/>
                <a:cs typeface="Calibri"/>
              </a:rPr>
              <a:t>Função</a:t>
            </a:r>
            <a:endParaRPr sz="1800">
              <a:latin typeface="Calibri"/>
              <a:cs typeface="Calibri"/>
            </a:endParaRPr>
          </a:p>
          <a:p>
            <a:pPr marL="24765">
              <a:lnSpc>
                <a:spcPct val="100000"/>
              </a:lnSpc>
            </a:pPr>
            <a:r>
              <a:rPr sz="1800" spc="-10" dirty="0">
                <a:solidFill>
                  <a:srgbClr val="00AFEF"/>
                </a:solidFill>
                <a:latin typeface="Calibri"/>
                <a:cs typeface="Calibri"/>
              </a:rPr>
              <a:t>degrau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2" name="object 4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40906" y="4015104"/>
            <a:ext cx="222758" cy="746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3" name="CaixaDeTexto 42">
                <a:extLst>
                  <a:ext uri="{FF2B5EF4-FFF2-40B4-BE49-F238E27FC236}">
                    <a16:creationId xmlns:a16="http://schemas.microsoft.com/office/drawing/2014/main" id="{9118D1C2-791F-1D7F-8587-83064151D851}"/>
                  </a:ext>
                </a:extLst>
              </p:cNvPr>
              <p:cNvSpPr txBox="1"/>
              <p:nvPr/>
            </p:nvSpPr>
            <p:spPr>
              <a:xfrm>
                <a:off x="3053271" y="3791297"/>
                <a:ext cx="3630994" cy="7993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r>
                        <a:rPr lang="pt-BR" sz="20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𝑑𝑓</m:t>
                          </m:r>
                          <m:d>
                            <m:d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t-BR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sz="20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pt-BR" sz="2000" i="1" smtClean="0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m:rPr>
                                  <m:sty m:val="p"/>
                                </m:rPr>
                                <a:rPr lang="pt-BR" sz="2000" b="0" i="0" smtClean="0">
                                  <a:latin typeface="Cambria Math" panose="02040503050406030204" pitchFamily="18" charset="0"/>
                                </a:rPr>
                                <m:t>se</m:t>
                              </m:r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pt-BR" sz="200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pt-BR" sz="20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pt-BR" sz="2000" i="1" smtClean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pt-BR" sz="2000" i="1" smtClean="0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m:rPr>
                                  <m:sty m:val="p"/>
                                </m:rPr>
                                <a:rPr lang="pt-BR" sz="2000" b="0" i="0" smtClean="0">
                                  <a:latin typeface="Cambria Math" panose="02040503050406030204" pitchFamily="18" charset="0"/>
                                </a:rPr>
                                <m:t>se</m:t>
                              </m:r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pt-BR" sz="20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43" name="CaixaDeTexto 42">
                <a:extLst>
                  <a:ext uri="{FF2B5EF4-FFF2-40B4-BE49-F238E27FC236}">
                    <a16:creationId xmlns:a16="http://schemas.microsoft.com/office/drawing/2014/main" id="{9118D1C2-791F-1D7F-8587-83064151D8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3271" y="3791297"/>
                <a:ext cx="3630994" cy="7993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5" name="Imagem 44">
            <a:extLst>
              <a:ext uri="{FF2B5EF4-FFF2-40B4-BE49-F238E27FC236}">
                <a16:creationId xmlns:a16="http://schemas.microsoft.com/office/drawing/2014/main" id="{CF437A5E-7959-B74D-C5E7-7D9E372E6B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10547" y="975315"/>
            <a:ext cx="3266278" cy="5584282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7F71BA32-D69F-5BA9-3302-A848EAC9C1BD}"/>
              </a:ext>
            </a:extLst>
          </p:cNvPr>
          <p:cNvSpPr txBox="1"/>
          <p:nvPr/>
        </p:nvSpPr>
        <p:spPr>
          <a:xfrm>
            <a:off x="870164" y="3299545"/>
            <a:ext cx="60935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2100" indent="-228600">
              <a:lnSpc>
                <a:spcPct val="100000"/>
              </a:lnSpc>
              <a:spcBef>
                <a:spcPts val="515"/>
              </a:spcBef>
              <a:buFont typeface="Arial"/>
              <a:buChar char="•"/>
              <a:tabLst>
                <a:tab pos="292100" algn="l"/>
              </a:tabLst>
            </a:pPr>
            <a:r>
              <a:rPr lang="pt-BR" sz="2400" dirty="0">
                <a:latin typeface="Calibri"/>
                <a:cs typeface="Calibri"/>
              </a:rPr>
              <a:t>Sua derivada é dada por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39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Funções</a:t>
            </a:r>
            <a:r>
              <a:rPr spc="-20" dirty="0"/>
              <a:t> </a:t>
            </a:r>
            <a:r>
              <a:rPr dirty="0"/>
              <a:t>de</a:t>
            </a:r>
            <a:r>
              <a:rPr spc="-10" dirty="0"/>
              <a:t> ativação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9791" y="1539180"/>
            <a:ext cx="10894695" cy="4942205"/>
          </a:xfrm>
          <a:prstGeom prst="rect">
            <a:avLst/>
          </a:prstGeom>
        </p:spPr>
        <p:txBody>
          <a:bodyPr vert="horz" wrap="square" lIns="0" tIns="48894" rIns="0" bIns="0" rtlCol="0">
            <a:spAutoFit/>
          </a:bodyPr>
          <a:lstStyle/>
          <a:p>
            <a:pPr marL="266700" indent="-228600">
              <a:lnSpc>
                <a:spcPct val="100000"/>
              </a:lnSpc>
              <a:spcBef>
                <a:spcPts val="384"/>
              </a:spcBef>
              <a:buFont typeface="Arial"/>
              <a:buChar char="•"/>
              <a:tabLst>
                <a:tab pos="266700" algn="l"/>
              </a:tabLst>
            </a:pPr>
            <a:r>
              <a:rPr sz="2800" spc="-30" dirty="0">
                <a:latin typeface="Calibri"/>
                <a:cs typeface="Calibri"/>
              </a:rPr>
              <a:t>Vantagens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função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retificadora</a:t>
            </a:r>
            <a:r>
              <a:rPr sz="2800" spc="-10" dirty="0">
                <a:latin typeface="Calibri"/>
                <a:cs typeface="Calibri"/>
              </a:rPr>
              <a:t>:</a:t>
            </a:r>
            <a:endParaRPr sz="2800" dirty="0">
              <a:latin typeface="Calibri"/>
              <a:cs typeface="Calibri"/>
            </a:endParaRPr>
          </a:p>
          <a:p>
            <a:pPr marL="723900" marR="961390" lvl="1" indent="-228600">
              <a:lnSpc>
                <a:spcPts val="2590"/>
              </a:lnSpc>
              <a:spcBef>
                <a:spcPts val="575"/>
              </a:spcBef>
              <a:buFont typeface="Wingdings"/>
              <a:buChar char=""/>
              <a:tabLst>
                <a:tab pos="724535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função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derivada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são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mais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rápidas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de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se</a:t>
            </a:r>
            <a:r>
              <a:rPr sz="2400" b="1" i="1" spc="-1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calcular</a:t>
            </a:r>
            <a:r>
              <a:rPr sz="2400" b="1" i="1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funções </a:t>
            </a:r>
            <a:r>
              <a:rPr sz="2400" dirty="0">
                <a:latin typeface="Calibri"/>
                <a:cs typeface="Calibri"/>
              </a:rPr>
              <a:t>logística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tangente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hiperbólica.</a:t>
            </a:r>
            <a:endParaRPr sz="2400" dirty="0">
              <a:latin typeface="Calibri"/>
              <a:cs typeface="Calibri"/>
            </a:endParaRPr>
          </a:p>
          <a:p>
            <a:pPr marL="723900" marR="30480" lvl="1" indent="-228600">
              <a:lnSpc>
                <a:spcPts val="2710"/>
              </a:lnSpc>
              <a:spcBef>
                <a:spcPts val="495"/>
              </a:spcBef>
              <a:buFont typeface="Wingdings"/>
              <a:buChar char=""/>
              <a:tabLst>
                <a:tab pos="724535" algn="l"/>
              </a:tabLst>
            </a:pPr>
            <a:r>
              <a:rPr sz="2400" dirty="0">
                <a:latin typeface="Calibri"/>
                <a:cs typeface="Calibri"/>
              </a:rPr>
              <a:t>Não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satura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ativações,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𝑧</a:t>
            </a:r>
            <a:r>
              <a:rPr sz="2625" baseline="-15873" dirty="0">
                <a:latin typeface="Cambria Math"/>
                <a:cs typeface="Cambria Math"/>
              </a:rPr>
              <a:t>𝑗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positivas,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minimizando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problema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dissipação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do </a:t>
            </a:r>
            <a:r>
              <a:rPr sz="2400" spc="-10" dirty="0">
                <a:latin typeface="Calibri"/>
                <a:cs typeface="Calibri"/>
              </a:rPr>
              <a:t>gradiente.</a:t>
            </a:r>
            <a:endParaRPr sz="2400" dirty="0">
              <a:latin typeface="Calibri"/>
              <a:cs typeface="Calibri"/>
            </a:endParaRPr>
          </a:p>
          <a:p>
            <a:pPr marL="1181100" marR="437515" lvl="2" indent="-228600">
              <a:lnSpc>
                <a:spcPts val="2160"/>
              </a:lnSpc>
              <a:spcBef>
                <a:spcPts val="495"/>
              </a:spcBef>
              <a:buFont typeface="Courier New"/>
              <a:buChar char="o"/>
              <a:tabLst>
                <a:tab pos="1181735" algn="l"/>
              </a:tabLst>
            </a:pPr>
            <a:r>
              <a:rPr sz="2000" dirty="0">
                <a:latin typeface="Calibri"/>
                <a:cs typeface="Calibri"/>
              </a:rPr>
              <a:t>O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gradiente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para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valores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positivos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é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sempre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igual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1,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assim,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vários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gradientes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várias </a:t>
            </a:r>
            <a:r>
              <a:rPr sz="2000" dirty="0">
                <a:latin typeface="Calibri"/>
                <a:cs typeface="Calibri"/>
              </a:rPr>
              <a:t>camadas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forem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multiplicados,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não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haverá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diminuição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do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seu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valor.</a:t>
            </a:r>
            <a:endParaRPr sz="2000" dirty="0">
              <a:latin typeface="Calibri"/>
              <a:cs typeface="Calibri"/>
            </a:endParaRPr>
          </a:p>
          <a:p>
            <a:pPr marL="266700" marR="622935" indent="-228600">
              <a:lnSpc>
                <a:spcPts val="3020"/>
              </a:lnSpc>
              <a:spcBef>
                <a:spcPts val="965"/>
              </a:spcBef>
              <a:buFont typeface="Arial"/>
              <a:buChar char="•"/>
              <a:tabLst>
                <a:tab pos="266700" algn="l"/>
              </a:tabLst>
            </a:pPr>
            <a:r>
              <a:rPr sz="2800" spc="-20" dirty="0">
                <a:latin typeface="Calibri"/>
                <a:cs typeface="Calibri"/>
              </a:rPr>
              <a:t>Infelizmente,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função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ReLU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não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perfeita.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Ele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sofre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problema </a:t>
            </a:r>
            <a:r>
              <a:rPr sz="2800" dirty="0">
                <a:latin typeface="Calibri"/>
                <a:cs typeface="Calibri"/>
              </a:rPr>
              <a:t>conhecido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como</a:t>
            </a:r>
            <a:r>
              <a:rPr sz="2800" spc="-130" dirty="0">
                <a:latin typeface="Calibri"/>
                <a:cs typeface="Calibri"/>
              </a:rPr>
              <a:t> </a:t>
            </a:r>
            <a:r>
              <a:rPr sz="2800" b="1" i="1" spc="-20" dirty="0">
                <a:latin typeface="Calibri"/>
                <a:cs typeface="Calibri"/>
              </a:rPr>
              <a:t>ReLUs</a:t>
            </a:r>
            <a:r>
              <a:rPr sz="2800" b="1" i="1" spc="-11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agonizantes</a:t>
            </a:r>
            <a:r>
              <a:rPr sz="2800" spc="-10" dirty="0">
                <a:latin typeface="Calibri"/>
                <a:cs typeface="Calibri"/>
              </a:rPr>
              <a:t>:</a:t>
            </a:r>
            <a:endParaRPr sz="2800" dirty="0">
              <a:latin typeface="Calibri"/>
              <a:cs typeface="Calibri"/>
            </a:endParaRPr>
          </a:p>
          <a:p>
            <a:pPr marL="723900" lvl="1" indent="-229235">
              <a:lnSpc>
                <a:spcPts val="2735"/>
              </a:lnSpc>
              <a:spcBef>
                <a:spcPts val="209"/>
              </a:spcBef>
              <a:buFont typeface="Wingdings"/>
              <a:buChar char=""/>
              <a:tabLst>
                <a:tab pos="724535" algn="l"/>
              </a:tabLst>
            </a:pPr>
            <a:r>
              <a:rPr sz="2400" dirty="0">
                <a:latin typeface="Calibri"/>
                <a:cs typeface="Calibri"/>
              </a:rPr>
              <a:t>Durante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treinamento,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alguns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nós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função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ativação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ReLU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“morrem”,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ou</a:t>
            </a:r>
            <a:endParaRPr sz="2400" dirty="0">
              <a:latin typeface="Calibri"/>
              <a:cs typeface="Calibri"/>
            </a:endParaRPr>
          </a:p>
          <a:p>
            <a:pPr marL="723900">
              <a:lnSpc>
                <a:spcPts val="2735"/>
              </a:lnSpc>
            </a:pPr>
            <a:r>
              <a:rPr sz="2400" dirty="0">
                <a:latin typeface="Calibri"/>
                <a:cs typeface="Calibri"/>
              </a:rPr>
              <a:t>seja,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seus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pesos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não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são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mais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atualizados,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permanecendo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inalterados.</a:t>
            </a:r>
            <a:endParaRPr sz="2400" dirty="0">
              <a:latin typeface="Calibri"/>
              <a:cs typeface="Calibri"/>
            </a:endParaRPr>
          </a:p>
          <a:p>
            <a:pPr marL="723900" lvl="1" indent="-229235">
              <a:lnSpc>
                <a:spcPts val="2795"/>
              </a:lnSpc>
              <a:spcBef>
                <a:spcPts val="300"/>
              </a:spcBef>
              <a:buFont typeface="Wingdings"/>
              <a:buChar char=""/>
              <a:tabLst>
                <a:tab pos="724535" algn="l"/>
              </a:tabLst>
            </a:pPr>
            <a:r>
              <a:rPr sz="2400" dirty="0">
                <a:latin typeface="Calibri"/>
                <a:cs typeface="Calibri"/>
              </a:rPr>
              <a:t>Isso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ocorre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porque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ativação,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𝑧</a:t>
            </a:r>
            <a:r>
              <a:rPr sz="2625" baseline="-15873" dirty="0">
                <a:latin typeface="Cambria Math"/>
                <a:cs typeface="Cambria Math"/>
              </a:rPr>
              <a:t>𝑗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tem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valor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negativo,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fazendo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derivada</a:t>
            </a:r>
            <a:endParaRPr sz="2400" dirty="0">
              <a:latin typeface="Calibri"/>
              <a:cs typeface="Calibri"/>
            </a:endParaRPr>
          </a:p>
          <a:p>
            <a:pPr marL="723900">
              <a:lnSpc>
                <a:spcPts val="2795"/>
              </a:lnSpc>
            </a:pPr>
            <a:r>
              <a:rPr sz="2400" dirty="0">
                <a:latin typeface="Calibri"/>
                <a:cs typeface="Calibri"/>
              </a:rPr>
              <a:t>parcial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seja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igual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5" dirty="0">
                <a:latin typeface="Calibri"/>
                <a:cs typeface="Calibri"/>
              </a:rPr>
              <a:t> 0.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39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Funções</a:t>
            </a:r>
            <a:r>
              <a:rPr spc="-20" dirty="0"/>
              <a:t> </a:t>
            </a:r>
            <a:r>
              <a:rPr dirty="0"/>
              <a:t>de</a:t>
            </a:r>
            <a:r>
              <a:rPr spc="-10" dirty="0"/>
              <a:t> ativação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5"/>
              <p:cNvSpPr txBox="1"/>
              <p:nvPr/>
            </p:nvSpPr>
            <p:spPr>
              <a:xfrm>
                <a:off x="916939" y="1289890"/>
                <a:ext cx="10877973" cy="2951577"/>
              </a:xfrm>
              <a:prstGeom prst="rect">
                <a:avLst/>
              </a:prstGeom>
            </p:spPr>
            <p:txBody>
              <a:bodyPr vert="horz" wrap="square" lIns="0" tIns="85090" rIns="0" bIns="0" rtlCol="0">
                <a:spAutoFit/>
              </a:bodyPr>
              <a:lstStyle/>
              <a:p>
                <a:pPr marL="279400" marR="43180" indent="-228600">
                  <a:lnSpc>
                    <a:spcPts val="2780"/>
                  </a:lnSpc>
                  <a:spcBef>
                    <a:spcPts val="670"/>
                  </a:spcBef>
                  <a:buFont typeface="Arial"/>
                  <a:buChar char="•"/>
                  <a:tabLst>
                    <a:tab pos="279400" algn="l"/>
                  </a:tabLst>
                </a:pPr>
                <a:r>
                  <a:rPr lang="pt-BR" sz="2800" spc="-10" dirty="0">
                    <a:latin typeface="Calibri"/>
                    <a:cs typeface="Calibri"/>
                  </a:rPr>
                  <a:t>Para</a:t>
                </a:r>
                <a:r>
                  <a:rPr lang="pt-BR" sz="2800" spc="-9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resolver</a:t>
                </a:r>
                <a:r>
                  <a:rPr lang="pt-BR" sz="2800" spc="-8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o</a:t>
                </a:r>
                <a:r>
                  <a:rPr lang="pt-BR" sz="2800" spc="-9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problema</a:t>
                </a:r>
                <a:r>
                  <a:rPr lang="pt-BR" sz="2800" spc="-6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das</a:t>
                </a:r>
                <a:r>
                  <a:rPr lang="pt-BR" sz="2800" spc="-130" dirty="0">
                    <a:latin typeface="Calibri"/>
                    <a:cs typeface="Calibri"/>
                  </a:rPr>
                  <a:t> </a:t>
                </a:r>
                <a:r>
                  <a:rPr lang="pt-BR" sz="2800" b="1" i="1" spc="-20" dirty="0">
                    <a:latin typeface="Calibri"/>
                    <a:cs typeface="Calibri"/>
                  </a:rPr>
                  <a:t>ReLUs</a:t>
                </a:r>
                <a:r>
                  <a:rPr lang="pt-BR" sz="2800" b="1" i="1" spc="-90" dirty="0">
                    <a:latin typeface="Calibri"/>
                    <a:cs typeface="Calibri"/>
                  </a:rPr>
                  <a:t> </a:t>
                </a:r>
                <a:r>
                  <a:rPr lang="pt-BR" sz="2800" b="1" i="1" spc="-10" dirty="0">
                    <a:latin typeface="Calibri"/>
                    <a:cs typeface="Calibri"/>
                  </a:rPr>
                  <a:t>agonizantes</a:t>
                </a:r>
                <a:r>
                  <a:rPr lang="pt-BR" sz="2800" spc="-10" dirty="0">
                    <a:latin typeface="Calibri"/>
                    <a:cs typeface="Calibri"/>
                  </a:rPr>
                  <a:t>,</a:t>
                </a:r>
                <a:r>
                  <a:rPr lang="pt-BR" sz="2800" spc="-100" dirty="0">
                    <a:latin typeface="Calibri"/>
                    <a:cs typeface="Calibri"/>
                  </a:rPr>
                  <a:t> </a:t>
                </a:r>
                <a:r>
                  <a:rPr lang="pt-BR" sz="2800" spc="-25" dirty="0">
                    <a:latin typeface="Calibri"/>
                    <a:cs typeface="Calibri"/>
                  </a:rPr>
                  <a:t>usa-</a:t>
                </a:r>
                <a:r>
                  <a:rPr lang="pt-BR" sz="2800" dirty="0">
                    <a:latin typeface="Calibri"/>
                    <a:cs typeface="Calibri"/>
                  </a:rPr>
                  <a:t>se</a:t>
                </a:r>
                <a:r>
                  <a:rPr lang="pt-BR" sz="2800" spc="-70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variantes</a:t>
                </a:r>
                <a:r>
                  <a:rPr lang="pt-BR" sz="2800" spc="-100" dirty="0">
                    <a:latin typeface="Calibri"/>
                    <a:cs typeface="Calibri"/>
                  </a:rPr>
                  <a:t> </a:t>
                </a:r>
                <a:r>
                  <a:rPr lang="pt-BR" sz="2800" spc="-25" dirty="0">
                    <a:latin typeface="Calibri"/>
                    <a:cs typeface="Calibri"/>
                  </a:rPr>
                  <a:t>da </a:t>
                </a:r>
                <a:r>
                  <a:rPr lang="pt-BR" sz="2800" dirty="0">
                    <a:latin typeface="Calibri"/>
                    <a:cs typeface="Calibri"/>
                  </a:rPr>
                  <a:t>função</a:t>
                </a:r>
                <a:r>
                  <a:rPr lang="pt-BR" sz="2800" spc="-75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ReLU</a:t>
                </a:r>
                <a:r>
                  <a:rPr lang="pt-BR" sz="2800" spc="-8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que</a:t>
                </a:r>
                <a:r>
                  <a:rPr lang="pt-BR" sz="2800" spc="-7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possuem</a:t>
                </a:r>
                <a:r>
                  <a:rPr lang="pt-BR" sz="2800" spc="-50" dirty="0">
                    <a:latin typeface="Calibri"/>
                    <a:cs typeface="Calibri"/>
                  </a:rPr>
                  <a:t> </a:t>
                </a:r>
                <a:r>
                  <a:rPr lang="pt-BR" sz="2800" spc="-20" dirty="0">
                    <a:latin typeface="Calibri"/>
                    <a:cs typeface="Calibri"/>
                  </a:rPr>
                  <a:t>gradiente</a:t>
                </a:r>
                <a:r>
                  <a:rPr lang="pt-BR" sz="2800" spc="-80" dirty="0">
                    <a:latin typeface="Calibri"/>
                    <a:cs typeface="Calibri"/>
                  </a:rPr>
                  <a:t> </a:t>
                </a:r>
                <a:r>
                  <a:rPr lang="pt-BR" sz="2800" spc="-25" dirty="0">
                    <a:latin typeface="Calibri"/>
                    <a:cs typeface="Calibri"/>
                  </a:rPr>
                  <a:t>diferente</a:t>
                </a:r>
                <a:r>
                  <a:rPr lang="pt-BR" sz="2800" spc="-8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de</a:t>
                </a:r>
                <a:r>
                  <a:rPr lang="pt-BR" sz="2800" spc="-80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zero</a:t>
                </a:r>
                <a:r>
                  <a:rPr lang="pt-BR" sz="2800" spc="-8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para</a:t>
                </a:r>
                <a:r>
                  <a:rPr lang="pt-BR" sz="2800" spc="-6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mbria Math"/>
                    <a:cs typeface="Cambria Math"/>
                  </a:rPr>
                  <a:t>𝑧</a:t>
                </a:r>
                <a:r>
                  <a:rPr lang="pt-BR" sz="3075" baseline="-16260" dirty="0">
                    <a:latin typeface="Cambria Math"/>
                    <a:cs typeface="Cambria Math"/>
                  </a:rPr>
                  <a:t>𝑗</a:t>
                </a:r>
                <a:r>
                  <a:rPr lang="pt-BR" sz="3075" spc="592" baseline="-16260" dirty="0">
                    <a:latin typeface="Cambria Math"/>
                    <a:cs typeface="Cambria Math"/>
                  </a:rPr>
                  <a:t> </a:t>
                </a:r>
                <a:r>
                  <a:rPr lang="pt-BR" sz="2800" dirty="0">
                    <a:latin typeface="Cambria Math"/>
                    <a:cs typeface="Cambria Math"/>
                  </a:rPr>
                  <a:t>&lt;</a:t>
                </a:r>
                <a:r>
                  <a:rPr lang="pt-BR" sz="2800" spc="65" dirty="0">
                    <a:latin typeface="Cambria Math"/>
                    <a:cs typeface="Cambria Math"/>
                  </a:rPr>
                  <a:t> </a:t>
                </a:r>
                <a:r>
                  <a:rPr lang="pt-BR" sz="2800" dirty="0">
                    <a:latin typeface="Cambria Math"/>
                    <a:cs typeface="Cambria Math"/>
                  </a:rPr>
                  <a:t>0</a:t>
                </a:r>
                <a:r>
                  <a:rPr lang="pt-BR" sz="2800" spc="-90" dirty="0">
                    <a:latin typeface="Cambria Math"/>
                    <a:cs typeface="Cambria Math"/>
                  </a:rPr>
                  <a:t> </a:t>
                </a:r>
                <a:r>
                  <a:rPr lang="pt-BR" sz="2800" spc="-50" dirty="0">
                    <a:latin typeface="Calibri"/>
                    <a:cs typeface="Calibri"/>
                  </a:rPr>
                  <a:t>:</a:t>
                </a:r>
                <a:endParaRPr lang="pt-BR" sz="2800" dirty="0">
                  <a:latin typeface="Calibri"/>
                  <a:cs typeface="Calibri"/>
                </a:endParaRPr>
              </a:p>
              <a:p>
                <a:pPr marL="736600" lvl="1" indent="-229235">
                  <a:lnSpc>
                    <a:spcPct val="100000"/>
                  </a:lnSpc>
                  <a:spcBef>
                    <a:spcPts val="330"/>
                  </a:spcBef>
                  <a:buFont typeface="Wingdings"/>
                  <a:buChar char=""/>
                  <a:tabLst>
                    <a:tab pos="737235" algn="l"/>
                    <a:tab pos="2632075" algn="l"/>
                    <a:tab pos="3093085" algn="l"/>
                    <a:tab pos="4092575" algn="l"/>
                    <a:tab pos="5400675" algn="l"/>
                  </a:tabLst>
                </a:pPr>
                <a:r>
                  <a:rPr lang="pt-BR" sz="2400" b="1" dirty="0">
                    <a:latin typeface="Calibri"/>
                    <a:cs typeface="Calibri"/>
                  </a:rPr>
                  <a:t>Leaky</a:t>
                </a:r>
                <a:r>
                  <a:rPr lang="pt-BR" sz="2400" b="1" spc="-55" dirty="0">
                    <a:latin typeface="Calibri"/>
                    <a:cs typeface="Calibri"/>
                  </a:rPr>
                  <a:t> </a:t>
                </a:r>
                <a:r>
                  <a:rPr lang="pt-BR" sz="2400" b="1" dirty="0">
                    <a:latin typeface="Calibri"/>
                    <a:cs typeface="Calibri"/>
                  </a:rPr>
                  <a:t>ReLU</a:t>
                </a:r>
                <a:r>
                  <a:rPr lang="pt-BR" sz="2400" dirty="0">
                    <a:latin typeface="Calibri"/>
                    <a:cs typeface="Calibri"/>
                  </a:rPr>
                  <a:t>:</a:t>
                </a:r>
                <a:r>
                  <a:rPr lang="pt-BR" sz="2400" spc="-70" dirty="0">
                    <a:latin typeface="Calibri"/>
                    <a:cs typeface="Calibri"/>
                  </a:rPr>
                  <a:t> </a:t>
                </a:r>
                <a:r>
                  <a:rPr lang="pt-BR" sz="2400" spc="-50" dirty="0">
                    <a:latin typeface="Cambria Math"/>
                    <a:cs typeface="Cambria Math"/>
                  </a:rPr>
                  <a:t>𝑓(</a:t>
                </a:r>
                <a:r>
                  <a:rPr lang="pt-BR" sz="2400" spc="-25" dirty="0">
                    <a:latin typeface="Cambria Math"/>
                    <a:cs typeface="Cambria Math"/>
                  </a:rPr>
                  <a:t>𝑧</a:t>
                </a:r>
                <a:r>
                  <a:rPr lang="pt-BR" sz="2625" spc="-37" baseline="-15873" dirty="0">
                    <a:latin typeface="Cambria Math"/>
                    <a:cs typeface="Cambria Math"/>
                  </a:rPr>
                  <a:t>𝑗</a:t>
                </a:r>
                <a:r>
                  <a:rPr lang="pt-BR" sz="2625" spc="-37" dirty="0">
                    <a:latin typeface="Cambria Math"/>
                    <a:cs typeface="Cambria Math"/>
                  </a:rPr>
                  <a:t>)</a:t>
                </a:r>
                <a:r>
                  <a:rPr lang="pt-BR" sz="2400" dirty="0">
                    <a:latin typeface="Cambria Math"/>
                    <a:cs typeface="Cambria Math"/>
                  </a:rPr>
                  <a:t>=</a:t>
                </a:r>
                <a:r>
                  <a:rPr lang="pt-BR" sz="2400" spc="125" dirty="0">
                    <a:latin typeface="Cambria Math"/>
                    <a:cs typeface="Cambria Math"/>
                  </a:rPr>
                  <a:t> </a:t>
                </a:r>
                <a:r>
                  <a:rPr lang="pt-BR" sz="2400" spc="-25" dirty="0">
                    <a:latin typeface="Cambria Math"/>
                    <a:cs typeface="Cambria Math"/>
                  </a:rPr>
                  <a:t>max(</a:t>
                </a:r>
                <a:r>
                  <a:rPr lang="pt-BR" sz="2400" dirty="0">
                    <a:latin typeface="Cambria Math"/>
                    <a:cs typeface="Cambria Math"/>
                  </a:rPr>
                  <a:t>0.01𝑧</a:t>
                </a:r>
                <a:r>
                  <a:rPr lang="pt-BR" sz="2625" baseline="-15873" dirty="0">
                    <a:latin typeface="Cambria Math"/>
                    <a:cs typeface="Cambria Math"/>
                  </a:rPr>
                  <a:t>𝑗</a:t>
                </a:r>
                <a:r>
                  <a:rPr lang="pt-BR" sz="2400" dirty="0">
                    <a:latin typeface="Cambria Math"/>
                    <a:cs typeface="Cambria Math"/>
                  </a:rPr>
                  <a:t>,</a:t>
                </a:r>
                <a:r>
                  <a:rPr lang="pt-BR" sz="2400" spc="40" dirty="0">
                    <a:latin typeface="Cambria Math"/>
                    <a:cs typeface="Cambria Math"/>
                  </a:rPr>
                  <a:t> </a:t>
                </a:r>
                <a:r>
                  <a:rPr lang="pt-BR" sz="2400" spc="-25" dirty="0">
                    <a:latin typeface="Cambria Math"/>
                    <a:cs typeface="Cambria Math"/>
                  </a:rPr>
                  <a:t>𝑧</a:t>
                </a:r>
                <a:r>
                  <a:rPr lang="pt-BR" sz="2625" spc="-37" baseline="-15873" dirty="0">
                    <a:latin typeface="Cambria Math"/>
                    <a:cs typeface="Cambria Math"/>
                  </a:rPr>
                  <a:t>𝑗</a:t>
                </a:r>
                <a:r>
                  <a:rPr lang="pt-BR" sz="2625" spc="-37" dirty="0">
                    <a:latin typeface="Cambria Math"/>
                    <a:cs typeface="Cambria Math"/>
                  </a:rPr>
                  <a:t>)</a:t>
                </a:r>
                <a:r>
                  <a:rPr lang="pt-BR" sz="2400" spc="-50" dirty="0">
                    <a:latin typeface="Calibri"/>
                    <a:cs typeface="Calibri"/>
                  </a:rPr>
                  <a:t>.</a:t>
                </a:r>
              </a:p>
              <a:p>
                <a:pPr marL="736600" lvl="1" indent="-229235">
                  <a:lnSpc>
                    <a:spcPct val="100000"/>
                  </a:lnSpc>
                  <a:spcBef>
                    <a:spcPts val="330"/>
                  </a:spcBef>
                  <a:buFont typeface="Wingdings"/>
                  <a:buChar char=""/>
                  <a:tabLst>
                    <a:tab pos="737235" algn="l"/>
                    <a:tab pos="2632075" algn="l"/>
                    <a:tab pos="3093085" algn="l"/>
                    <a:tab pos="4092575" algn="l"/>
                    <a:tab pos="5400675" algn="l"/>
                  </a:tabLst>
                </a:pPr>
                <a:r>
                  <a:rPr lang="pt-BR" sz="2400" b="1" spc="-50" dirty="0" err="1">
                    <a:latin typeface="Calibri"/>
                    <a:cs typeface="Calibri"/>
                  </a:rPr>
                  <a:t>Randomized</a:t>
                </a:r>
                <a:r>
                  <a:rPr lang="pt-BR" sz="2400" b="1" spc="-50" dirty="0">
                    <a:latin typeface="Calibri"/>
                    <a:cs typeface="Calibri"/>
                  </a:rPr>
                  <a:t> </a:t>
                </a:r>
                <a:r>
                  <a:rPr lang="pt-BR" sz="2400" b="1" spc="-50" dirty="0" err="1">
                    <a:latin typeface="Calibri"/>
                    <a:cs typeface="Calibri"/>
                  </a:rPr>
                  <a:t>leaky</a:t>
                </a:r>
                <a:r>
                  <a:rPr lang="pt-BR" sz="2400" b="1" spc="-50" dirty="0">
                    <a:latin typeface="Calibri"/>
                    <a:cs typeface="Calibri"/>
                  </a:rPr>
                  <a:t> </a:t>
                </a:r>
                <a:r>
                  <a:rPr lang="pt-BR" sz="2400" b="1" spc="-50" dirty="0" err="1">
                    <a:latin typeface="Calibri"/>
                    <a:cs typeface="Calibri"/>
                  </a:rPr>
                  <a:t>ReLU</a:t>
                </a:r>
                <a:r>
                  <a:rPr lang="pt-BR" sz="2400" b="1" spc="-50" dirty="0">
                    <a:latin typeface="Calibri"/>
                    <a:cs typeface="Calibri"/>
                  </a:rPr>
                  <a:t>: </a:t>
                </a:r>
                <a14:m>
                  <m:oMath xmlns:m="http://schemas.openxmlformats.org/officeDocument/2006/math">
                    <m:r>
                      <a:rPr lang="pt-BR" sz="2400" b="0" i="1" spc="-50" smtClean="0">
                        <a:latin typeface="Cambria Math" panose="02040503050406030204" pitchFamily="18" charset="0"/>
                        <a:cs typeface="Calibri"/>
                      </a:rPr>
                      <m:t>𝑓</m:t>
                    </m:r>
                    <m:d>
                      <m:dPr>
                        <m:ctrlPr>
                          <a:rPr lang="pt-BR" sz="2400" b="0" i="1" spc="-5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2400" b="0" i="1" spc="-50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sSubPr>
                          <m:e>
                            <m:r>
                              <a:rPr lang="pt-BR" sz="2400" b="0" i="1" spc="-50" smtClean="0">
                                <a:latin typeface="Cambria Math" panose="02040503050406030204" pitchFamily="18" charset="0"/>
                                <a:cs typeface="Calibri"/>
                              </a:rPr>
                              <m:t>𝑧</m:t>
                            </m:r>
                          </m:e>
                          <m:sub>
                            <m:r>
                              <a:rPr lang="pt-BR" sz="2400" b="0" i="1" spc="-50" smtClean="0">
                                <a:latin typeface="Cambria Math" panose="02040503050406030204" pitchFamily="18" charset="0"/>
                                <a:cs typeface="Calibri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pt-BR" sz="2400" b="0" i="1" spc="-50" smtClean="0">
                        <a:latin typeface="Cambria Math" panose="02040503050406030204" pitchFamily="18" charset="0"/>
                        <a:cs typeface="Calibri"/>
                      </a:rPr>
                      <m:t>=</m:t>
                    </m:r>
                    <m:func>
                      <m:funcPr>
                        <m:ctrlPr>
                          <a:rPr lang="pt-BR" sz="2400" b="0" i="1" spc="-5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t-BR" sz="2400" b="0" i="0" spc="-50" smtClean="0">
                            <a:latin typeface="Cambria Math" panose="02040503050406030204" pitchFamily="18" charset="0"/>
                            <a:cs typeface="Calibri"/>
                          </a:rPr>
                          <m:t>max</m:t>
                        </m:r>
                      </m:fName>
                      <m:e>
                        <m:d>
                          <m:dPr>
                            <m:ctrlPr>
                              <a:rPr lang="pt-BR" sz="2400" b="0" i="1" spc="-50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dPr>
                          <m:e>
                            <m:r>
                              <a:rPr lang="pt-BR" sz="2400" b="0" i="1" spc="-50" smtClean="0">
                                <a:latin typeface="Cambria Math" panose="02040503050406030204" pitchFamily="18" charset="0"/>
                                <a:cs typeface="Calibri"/>
                              </a:rPr>
                              <m:t>𝛼</m:t>
                            </m:r>
                            <m:sSub>
                              <m:sSubPr>
                                <m:ctrlPr>
                                  <a:rPr lang="pt-BR" sz="2400" b="0" i="1" spc="-50" smtClean="0">
                                    <a:latin typeface="Cambria Math" panose="02040503050406030204" pitchFamily="18" charset="0"/>
                                    <a:cs typeface="Calibri"/>
                                  </a:rPr>
                                </m:ctrlPr>
                              </m:sSubPr>
                              <m:e>
                                <m:r>
                                  <a:rPr lang="pt-BR" sz="2400" b="0" i="1" spc="-50" smtClean="0">
                                    <a:latin typeface="Cambria Math" panose="02040503050406030204" pitchFamily="18" charset="0"/>
                                    <a:cs typeface="Calibri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pt-BR" sz="2400" b="0" i="1" spc="-50" smtClean="0">
                                    <a:latin typeface="Cambria Math" panose="02040503050406030204" pitchFamily="18" charset="0"/>
                                    <a:cs typeface="Calibri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pt-BR" sz="2400" b="0" i="1" spc="-50" smtClean="0">
                                <a:latin typeface="Cambria Math" panose="02040503050406030204" pitchFamily="18" charset="0"/>
                                <a:cs typeface="Calibri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pt-BR" sz="2400" b="0" i="1" spc="-50" smtClean="0">
                                    <a:latin typeface="Cambria Math" panose="02040503050406030204" pitchFamily="18" charset="0"/>
                                    <a:cs typeface="Calibri"/>
                                  </a:rPr>
                                </m:ctrlPr>
                              </m:sSubPr>
                              <m:e>
                                <m:r>
                                  <a:rPr lang="pt-BR" sz="2400" b="0" i="1" spc="-50" smtClean="0">
                                    <a:latin typeface="Cambria Math" panose="02040503050406030204" pitchFamily="18" charset="0"/>
                                    <a:cs typeface="Calibri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pt-BR" sz="2400" b="0" i="1" spc="-50" smtClean="0">
                                    <a:latin typeface="Cambria Math" panose="02040503050406030204" pitchFamily="18" charset="0"/>
                                    <a:cs typeface="Calibri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r>
                  <a:rPr lang="pt-BR" sz="2400" dirty="0">
                    <a:latin typeface="Calibri"/>
                    <a:cs typeface="Calibri"/>
                  </a:rPr>
                  <a:t> onde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  <a:cs typeface="Calibri"/>
                      </a:rPr>
                      <m:t>𝛼</m:t>
                    </m:r>
                  </m:oMath>
                </a14:m>
                <a:r>
                  <a:rPr lang="pt-BR" sz="2400" dirty="0">
                    <a:latin typeface="Calibri"/>
                    <a:cs typeface="Calibri"/>
                  </a:rPr>
                  <a:t> é um valor aleatório.</a:t>
                </a:r>
              </a:p>
              <a:p>
                <a:pPr marL="736600" lvl="1" indent="-229235">
                  <a:lnSpc>
                    <a:spcPct val="100000"/>
                  </a:lnSpc>
                  <a:spcBef>
                    <a:spcPts val="330"/>
                  </a:spcBef>
                  <a:buFont typeface="Wingdings"/>
                  <a:buChar char=""/>
                  <a:tabLst>
                    <a:tab pos="737235" algn="l"/>
                    <a:tab pos="2632075" algn="l"/>
                    <a:tab pos="3093085" algn="l"/>
                    <a:tab pos="4092575" algn="l"/>
                    <a:tab pos="5400675" algn="l"/>
                  </a:tabLst>
                </a:pPr>
                <a:r>
                  <a:rPr lang="pt-BR" sz="2400" b="1" dirty="0" err="1">
                    <a:latin typeface="Calibri"/>
                    <a:cs typeface="Calibri"/>
                  </a:rPr>
                  <a:t>Parametric</a:t>
                </a:r>
                <a:r>
                  <a:rPr lang="pt-BR" sz="2400" b="1" dirty="0">
                    <a:latin typeface="Calibri"/>
                    <a:cs typeface="Calibri"/>
                  </a:rPr>
                  <a:t> </a:t>
                </a:r>
                <a:r>
                  <a:rPr lang="pt-BR" sz="2400" b="1" dirty="0" err="1">
                    <a:latin typeface="Calibri"/>
                    <a:cs typeface="Calibri"/>
                  </a:rPr>
                  <a:t>leaky</a:t>
                </a:r>
                <a:r>
                  <a:rPr lang="pt-BR" sz="2400" b="1" dirty="0">
                    <a:latin typeface="Calibri"/>
                    <a:cs typeface="Calibri"/>
                  </a:rPr>
                  <a:t> </a:t>
                </a:r>
                <a:r>
                  <a:rPr lang="pt-BR" sz="2400" b="1" dirty="0" err="1">
                    <a:latin typeface="Calibri"/>
                    <a:cs typeface="Calibri"/>
                  </a:rPr>
                  <a:t>ReLu</a:t>
                </a:r>
                <a:r>
                  <a:rPr lang="pt-BR" sz="2400" b="1" dirty="0">
                    <a:latin typeface="Calibri"/>
                    <a:cs typeface="Calibri"/>
                  </a:rPr>
                  <a:t>:</a:t>
                </a:r>
                <a:r>
                  <a:rPr lang="pt-BR" sz="2400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pt-BR" sz="2400" b="0" i="1" spc="-50" smtClean="0">
                        <a:latin typeface="Cambria Math" panose="02040503050406030204" pitchFamily="18" charset="0"/>
                        <a:cs typeface="Calibri"/>
                      </a:rPr>
                      <m:t>𝑓</m:t>
                    </m:r>
                    <m:d>
                      <m:dPr>
                        <m:ctrlPr>
                          <a:rPr lang="pt-BR" sz="2400" b="0" i="1" spc="-5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2400" b="0" i="1" spc="-50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sSubPr>
                          <m:e>
                            <m:r>
                              <a:rPr lang="pt-BR" sz="2400" b="0" i="1" spc="-50" smtClean="0">
                                <a:latin typeface="Cambria Math" panose="02040503050406030204" pitchFamily="18" charset="0"/>
                                <a:cs typeface="Calibri"/>
                              </a:rPr>
                              <m:t>𝑧</m:t>
                            </m:r>
                          </m:e>
                          <m:sub>
                            <m:r>
                              <a:rPr lang="pt-BR" sz="2400" b="0" i="1" spc="-50" smtClean="0">
                                <a:latin typeface="Cambria Math" panose="02040503050406030204" pitchFamily="18" charset="0"/>
                                <a:cs typeface="Calibri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pt-BR" sz="2400" b="0" i="1" spc="-50" smtClean="0">
                        <a:latin typeface="Cambria Math" panose="02040503050406030204" pitchFamily="18" charset="0"/>
                        <a:cs typeface="Calibri"/>
                      </a:rPr>
                      <m:t>=</m:t>
                    </m:r>
                    <m:func>
                      <m:funcPr>
                        <m:ctrlPr>
                          <a:rPr lang="pt-BR" sz="2400" b="0" i="1" spc="-5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t-BR" sz="2400" b="0" i="0" spc="-50" smtClean="0">
                            <a:latin typeface="Cambria Math" panose="02040503050406030204" pitchFamily="18" charset="0"/>
                            <a:cs typeface="Calibri"/>
                          </a:rPr>
                          <m:t>max</m:t>
                        </m:r>
                      </m:fName>
                      <m:e>
                        <m:d>
                          <m:dPr>
                            <m:ctrlPr>
                              <a:rPr lang="pt-BR" sz="2400" b="0" i="1" spc="-50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dPr>
                          <m:e>
                            <m:r>
                              <a:rPr lang="pt-BR" sz="2400" b="0" i="1" spc="-50" smtClean="0">
                                <a:latin typeface="Cambria Math" panose="02040503050406030204" pitchFamily="18" charset="0"/>
                                <a:cs typeface="Calibri"/>
                              </a:rPr>
                              <m:t>𝛼</m:t>
                            </m:r>
                            <m:sSub>
                              <m:sSubPr>
                                <m:ctrlPr>
                                  <a:rPr lang="pt-BR" sz="2400" b="0" i="1" spc="-50" smtClean="0">
                                    <a:latin typeface="Cambria Math" panose="02040503050406030204" pitchFamily="18" charset="0"/>
                                    <a:cs typeface="Calibri"/>
                                  </a:rPr>
                                </m:ctrlPr>
                              </m:sSubPr>
                              <m:e>
                                <m:r>
                                  <a:rPr lang="pt-BR" sz="2400" b="0" i="1" spc="-50" smtClean="0">
                                    <a:latin typeface="Cambria Math" panose="02040503050406030204" pitchFamily="18" charset="0"/>
                                    <a:cs typeface="Calibri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pt-BR" sz="2400" b="0" i="1" spc="-50" smtClean="0">
                                    <a:latin typeface="Cambria Math" panose="02040503050406030204" pitchFamily="18" charset="0"/>
                                    <a:cs typeface="Calibri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pt-BR" sz="2400" b="0" i="1" spc="-50" smtClean="0">
                                <a:latin typeface="Cambria Math" panose="02040503050406030204" pitchFamily="18" charset="0"/>
                                <a:cs typeface="Calibri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pt-BR" sz="2400" b="0" i="1" spc="-50" smtClean="0">
                                    <a:latin typeface="Cambria Math" panose="02040503050406030204" pitchFamily="18" charset="0"/>
                                    <a:cs typeface="Calibri"/>
                                  </a:rPr>
                                </m:ctrlPr>
                              </m:sSubPr>
                              <m:e>
                                <m:r>
                                  <a:rPr lang="pt-BR" sz="2400" b="0" i="1" spc="-50" smtClean="0">
                                    <a:latin typeface="Cambria Math" panose="02040503050406030204" pitchFamily="18" charset="0"/>
                                    <a:cs typeface="Calibri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pt-BR" sz="2400" b="0" i="1" spc="-50" smtClean="0">
                                    <a:latin typeface="Cambria Math" panose="02040503050406030204" pitchFamily="18" charset="0"/>
                                    <a:cs typeface="Calibri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r>
                  <a:rPr lang="pt-BR" sz="2400" dirty="0">
                    <a:latin typeface="Calibri"/>
                    <a:cs typeface="Calibri"/>
                  </a:rPr>
                  <a:t> onde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  <a:cs typeface="Calibri"/>
                      </a:rPr>
                      <m:t>𝛼</m:t>
                    </m:r>
                  </m:oMath>
                </a14:m>
                <a:r>
                  <a:rPr lang="pt-BR" sz="2400" dirty="0">
                    <a:latin typeface="Calibri"/>
                    <a:cs typeface="Calibri"/>
                  </a:rPr>
                  <a:t> deve ser aprendido durante o treinamento.</a:t>
                </a:r>
              </a:p>
              <a:p>
                <a:pPr marL="736600" lvl="1" indent="-229235">
                  <a:lnSpc>
                    <a:spcPct val="100000"/>
                  </a:lnSpc>
                  <a:spcBef>
                    <a:spcPts val="330"/>
                  </a:spcBef>
                  <a:buFont typeface="Wingdings"/>
                  <a:buChar char=""/>
                  <a:tabLst>
                    <a:tab pos="737235" algn="l"/>
                    <a:tab pos="2632075" algn="l"/>
                    <a:tab pos="3093085" algn="l"/>
                    <a:tab pos="4092575" algn="l"/>
                    <a:tab pos="5400675" algn="l"/>
                  </a:tabLst>
                </a:pPr>
                <a:endParaRPr sz="24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5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939" y="1289890"/>
                <a:ext cx="10877973" cy="2951577"/>
              </a:xfrm>
              <a:prstGeom prst="rect">
                <a:avLst/>
              </a:prstGeom>
              <a:blipFill>
                <a:blip r:embed="rId2"/>
                <a:stretch>
                  <a:fillRect l="-1401" t="-2893" r="-156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object 9"/>
          <p:cNvSpPr txBox="1"/>
          <p:nvPr/>
        </p:nvSpPr>
        <p:spPr>
          <a:xfrm>
            <a:off x="916939" y="4092321"/>
            <a:ext cx="10751820" cy="24003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ts val="3329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Outras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funções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ativação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são:</a:t>
            </a:r>
            <a:endParaRPr sz="2800" dirty="0">
              <a:latin typeface="Calibri"/>
              <a:cs typeface="Calibri"/>
            </a:endParaRPr>
          </a:p>
          <a:p>
            <a:pPr marL="698500" marR="1464945" lvl="1" indent="-228600">
              <a:lnSpc>
                <a:spcPts val="2300"/>
              </a:lnSpc>
              <a:spcBef>
                <a:spcPts val="530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b="1" dirty="0">
                <a:latin typeface="Calibri"/>
                <a:cs typeface="Calibri"/>
              </a:rPr>
              <a:t>Exponential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linear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unit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(ELU)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supera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ReLU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suas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variantes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em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vários experimentos.</a:t>
            </a:r>
            <a:endParaRPr sz="2400" dirty="0">
              <a:latin typeface="Calibri"/>
              <a:cs typeface="Calibri"/>
            </a:endParaRPr>
          </a:p>
          <a:p>
            <a:pPr marL="698500" marR="118745" lvl="1" indent="-228600">
              <a:lnSpc>
                <a:spcPct val="80000"/>
              </a:lnSpc>
              <a:spcBef>
                <a:spcPts val="520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b="1" dirty="0">
                <a:latin typeface="Calibri"/>
                <a:cs typeface="Calibri"/>
              </a:rPr>
              <a:t>Scaled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ELU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(SELU)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possui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propriedade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auto-normalização,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onde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saída</a:t>
            </a:r>
            <a:r>
              <a:rPr sz="2400" spc="-25" dirty="0">
                <a:latin typeface="Calibri"/>
                <a:cs typeface="Calibri"/>
              </a:rPr>
              <a:t> de </a:t>
            </a:r>
            <a:r>
              <a:rPr sz="2400" dirty="0">
                <a:latin typeface="Calibri"/>
                <a:cs typeface="Calibri"/>
              </a:rPr>
              <a:t>cada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camada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tende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preservar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média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desvio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padrão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sinais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entrada, </a:t>
            </a:r>
            <a:r>
              <a:rPr sz="2400" dirty="0">
                <a:latin typeface="Calibri"/>
                <a:cs typeface="Calibri"/>
              </a:rPr>
              <a:t>minimizando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problemas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dissipação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explosão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gradiente.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ts val="2810"/>
              </a:lnSpc>
              <a:buClr>
                <a:srgbClr val="000000"/>
              </a:buClr>
              <a:buFont typeface="Wingdings"/>
              <a:buChar char=""/>
              <a:tabLst>
                <a:tab pos="699135" algn="l"/>
              </a:tabLst>
            </a:pPr>
            <a:r>
              <a:rPr sz="24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https://en.wikipedia.org/wiki/Activation_function#Table_of_activation_functions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39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Evitando</a:t>
            </a:r>
            <a:r>
              <a:rPr spc="-60" dirty="0"/>
              <a:t> </a:t>
            </a:r>
            <a:r>
              <a:rPr dirty="0"/>
              <a:t>a</a:t>
            </a:r>
            <a:r>
              <a:rPr spc="-20" dirty="0"/>
              <a:t> </a:t>
            </a:r>
            <a:r>
              <a:rPr dirty="0"/>
              <a:t>dissipação</a:t>
            </a:r>
            <a:r>
              <a:rPr spc="-45" dirty="0"/>
              <a:t> </a:t>
            </a:r>
            <a:r>
              <a:rPr dirty="0"/>
              <a:t>e</a:t>
            </a:r>
            <a:r>
              <a:rPr spc="-45" dirty="0"/>
              <a:t> </a:t>
            </a:r>
            <a:r>
              <a:rPr dirty="0"/>
              <a:t>explosão</a:t>
            </a:r>
            <a:r>
              <a:rPr spc="-25" dirty="0"/>
              <a:t> </a:t>
            </a:r>
            <a:r>
              <a:rPr dirty="0"/>
              <a:t>do</a:t>
            </a:r>
            <a:r>
              <a:rPr spc="-45" dirty="0"/>
              <a:t> </a:t>
            </a:r>
            <a:r>
              <a:rPr spc="-10" dirty="0"/>
              <a:t>gradiente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59966"/>
            <a:ext cx="10894060" cy="4791075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241300" marR="461645" indent="-228600">
              <a:lnSpc>
                <a:spcPts val="2690"/>
              </a:lnSpc>
              <a:spcBef>
                <a:spcPts val="74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Algumas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formas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evitar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problemas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dissipação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explosão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do </a:t>
            </a:r>
            <a:r>
              <a:rPr sz="2800" spc="-10" dirty="0">
                <a:latin typeface="Calibri"/>
                <a:cs typeface="Calibri"/>
              </a:rPr>
              <a:t>gradiente</a:t>
            </a:r>
            <a:r>
              <a:rPr sz="2800" spc="-14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são:</a:t>
            </a:r>
            <a:endParaRPr sz="2800" dirty="0">
              <a:latin typeface="Calibri"/>
              <a:cs typeface="Calibri"/>
            </a:endParaRPr>
          </a:p>
          <a:p>
            <a:pPr marL="698500" marR="295910" lvl="1" indent="-228600">
              <a:lnSpc>
                <a:spcPct val="80000"/>
              </a:lnSpc>
              <a:spcBef>
                <a:spcPts val="545"/>
              </a:spcBef>
              <a:buFont typeface="Arial"/>
              <a:buChar char="•"/>
              <a:tabLst>
                <a:tab pos="699135" algn="l"/>
              </a:tabLst>
            </a:pPr>
            <a:r>
              <a:rPr sz="2400" b="1" dirty="0">
                <a:latin typeface="Calibri"/>
                <a:cs typeface="Calibri"/>
              </a:rPr>
              <a:t>Inicialização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dos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pesos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heurísticas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inicialização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criadas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para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garantir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que</a:t>
            </a:r>
            <a:r>
              <a:rPr sz="2400" b="1" i="1" spc="-45" dirty="0">
                <a:latin typeface="Calibri"/>
                <a:cs typeface="Calibri"/>
              </a:rPr>
              <a:t> </a:t>
            </a:r>
            <a:r>
              <a:rPr sz="2400" b="1" i="1" spc="-50" dirty="0">
                <a:latin typeface="Calibri"/>
                <a:cs typeface="Calibri"/>
              </a:rPr>
              <a:t>a </a:t>
            </a:r>
            <a:r>
              <a:rPr sz="2400" b="1" i="1" dirty="0">
                <a:latin typeface="Calibri"/>
                <a:cs typeface="Calibri"/>
              </a:rPr>
              <a:t>variância</a:t>
            </a:r>
            <a:r>
              <a:rPr sz="2400" b="1" i="1" spc="-4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da</a:t>
            </a:r>
            <a:r>
              <a:rPr sz="2400" b="1" i="1" spc="-2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saída</a:t>
            </a:r>
            <a:r>
              <a:rPr sz="2400" b="1" i="1" spc="-5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de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cada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camada</a:t>
            </a:r>
            <a:r>
              <a:rPr sz="2400" b="1" i="1" spc="-5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seja</a:t>
            </a:r>
            <a:r>
              <a:rPr sz="2400" b="1" i="1" spc="-2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similar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à</a:t>
            </a:r>
            <a:r>
              <a:rPr sz="2400" b="1" i="1" spc="-2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variância</a:t>
            </a:r>
            <a:r>
              <a:rPr sz="2400" b="1" i="1" spc="-2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de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sua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entrada</a:t>
            </a:r>
            <a:r>
              <a:rPr sz="2400" dirty="0">
                <a:latin typeface="Calibri"/>
                <a:cs typeface="Calibri"/>
              </a:rPr>
              <a:t>.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As </a:t>
            </a:r>
            <a:r>
              <a:rPr sz="2400" dirty="0">
                <a:latin typeface="Calibri"/>
                <a:cs typeface="Calibri"/>
              </a:rPr>
              <a:t>heurísticas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também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devem</a:t>
            </a:r>
            <a:r>
              <a:rPr sz="2400" b="1" i="1" spc="-6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garantir</a:t>
            </a:r>
            <a:r>
              <a:rPr sz="2400" b="1" i="1" spc="-4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que</a:t>
            </a:r>
            <a:r>
              <a:rPr sz="2400" b="1" i="1" spc="-5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os</a:t>
            </a:r>
            <a:r>
              <a:rPr sz="2400" b="1" i="1" spc="-4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gradientes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tenham</a:t>
            </a:r>
            <a:r>
              <a:rPr sz="2400" b="1" i="1" spc="-4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a</a:t>
            </a:r>
            <a:r>
              <a:rPr sz="2400" b="1" i="1" spc="-40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mesma </a:t>
            </a:r>
            <a:r>
              <a:rPr sz="2400" b="1" i="1" dirty="0">
                <a:latin typeface="Calibri"/>
                <a:cs typeface="Calibri"/>
              </a:rPr>
              <a:t>variância</a:t>
            </a:r>
            <a:r>
              <a:rPr sz="2400" b="1" i="1" spc="-5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antes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e</a:t>
            </a:r>
            <a:r>
              <a:rPr sz="2400" b="1" i="1" spc="-2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depois</a:t>
            </a:r>
            <a:r>
              <a:rPr sz="2400" b="1" i="1" spc="-5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de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fluírem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através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de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uma</a:t>
            </a:r>
            <a:r>
              <a:rPr sz="2400" b="1" i="1" spc="-4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camada</a:t>
            </a:r>
            <a:r>
              <a:rPr sz="2400" b="1" i="1" spc="-5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na</a:t>
            </a:r>
            <a:r>
              <a:rPr sz="2400" b="1" i="1" spc="-4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direção</a:t>
            </a:r>
            <a:r>
              <a:rPr sz="2400" b="1" i="1" spc="-20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reversa </a:t>
            </a:r>
            <a:r>
              <a:rPr sz="2400" dirty="0">
                <a:latin typeface="Calibri"/>
                <a:cs typeface="Calibri"/>
              </a:rPr>
              <a:t>(mitiga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ambos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problemas).</a:t>
            </a:r>
            <a:endParaRPr sz="2400" dirty="0">
              <a:latin typeface="Calibri"/>
              <a:cs typeface="Calibri"/>
            </a:endParaRPr>
          </a:p>
          <a:p>
            <a:pPr marL="698500" marR="5080" lvl="1" indent="-228600">
              <a:lnSpc>
                <a:spcPct val="80000"/>
              </a:lnSpc>
              <a:spcBef>
                <a:spcPts val="490"/>
              </a:spcBef>
              <a:buFont typeface="Arial"/>
              <a:buChar char="•"/>
              <a:tabLst>
                <a:tab pos="699135" algn="l"/>
              </a:tabLst>
            </a:pPr>
            <a:r>
              <a:rPr sz="2400" b="1" dirty="0">
                <a:latin typeface="Calibri"/>
                <a:cs typeface="Calibri"/>
              </a:rPr>
              <a:t>Normalização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de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mini-</a:t>
            </a:r>
            <a:r>
              <a:rPr sz="2400" b="1" dirty="0">
                <a:latin typeface="Calibri"/>
                <a:cs typeface="Calibri"/>
              </a:rPr>
              <a:t>batches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consiste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em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adicionar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operação </a:t>
            </a:r>
            <a:r>
              <a:rPr sz="2400" dirty="0">
                <a:latin typeface="Calibri"/>
                <a:cs typeface="Calibri"/>
              </a:rPr>
              <a:t>imediatamente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antes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depois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função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ativação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cada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camada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oculta,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que </a:t>
            </a:r>
            <a:r>
              <a:rPr sz="2400" dirty="0">
                <a:latin typeface="Calibri"/>
                <a:cs typeface="Calibri"/>
              </a:rPr>
              <a:t>padroniza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(remove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média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divide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pelo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desvio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padrão)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cada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entrada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em </a:t>
            </a:r>
            <a:r>
              <a:rPr sz="2400" dirty="0">
                <a:latin typeface="Calibri"/>
                <a:cs typeface="Calibri"/>
              </a:rPr>
              <a:t>seguida,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escalona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desloca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resultado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usando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dois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novos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parâmetros,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𝛾</a:t>
            </a:r>
            <a:r>
              <a:rPr sz="2400" spc="55" dirty="0">
                <a:latin typeface="Cambria Math"/>
                <a:cs typeface="Cambria Math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𝛽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por </a:t>
            </a:r>
            <a:r>
              <a:rPr sz="2400" dirty="0">
                <a:latin typeface="Calibri"/>
                <a:cs typeface="Calibri"/>
              </a:rPr>
              <a:t>camada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(mitiga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ambos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problemas).</a:t>
            </a:r>
            <a:endParaRPr sz="2400" dirty="0">
              <a:latin typeface="Calibri"/>
              <a:cs typeface="Calibri"/>
            </a:endParaRPr>
          </a:p>
          <a:p>
            <a:pPr marL="698500" marR="231140" lvl="1" indent="-228600">
              <a:lnSpc>
                <a:spcPct val="80000"/>
              </a:lnSpc>
              <a:spcBef>
                <a:spcPts val="505"/>
              </a:spcBef>
              <a:buFont typeface="Arial"/>
              <a:buChar char="•"/>
              <a:tabLst>
                <a:tab pos="699135" algn="l"/>
              </a:tabLst>
            </a:pPr>
            <a:r>
              <a:rPr sz="2400" b="1" dirty="0">
                <a:latin typeface="Calibri"/>
                <a:cs typeface="Calibri"/>
              </a:rPr>
              <a:t>Limitar/podar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gradiente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consiste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em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limitar/podar</a:t>
            </a:r>
            <a:r>
              <a:rPr sz="2400" b="1" i="1" spc="-8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os</a:t>
            </a:r>
            <a:r>
              <a:rPr sz="2400" b="1" i="1" spc="-5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gradientes</a:t>
            </a:r>
            <a:r>
              <a:rPr sz="2400" b="1" i="1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durante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a </a:t>
            </a:r>
            <a:r>
              <a:rPr sz="2400" spc="-10" dirty="0">
                <a:latin typeface="Calibri"/>
                <a:cs typeface="Calibri"/>
              </a:rPr>
              <a:t>retropropagação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erro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eles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nunca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excedam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algum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limite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pré-definido </a:t>
            </a:r>
            <a:r>
              <a:rPr sz="2400" dirty="0">
                <a:latin typeface="Calibri"/>
                <a:cs typeface="Calibri"/>
              </a:rPr>
              <a:t>(resolve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apenas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problema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explosão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gradiente).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39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Conectando</a:t>
            </a:r>
            <a:r>
              <a:rPr spc="-95" dirty="0"/>
              <a:t> </a:t>
            </a:r>
            <a:r>
              <a:rPr spc="-10" dirty="0"/>
              <a:t>Neurônios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37106"/>
            <a:ext cx="7099934" cy="49409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ts val="2650"/>
              </a:lnSpc>
              <a:spcBef>
                <a:spcPts val="10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Existem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basicamente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duas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maneiras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distintas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para</a:t>
            </a:r>
            <a:endParaRPr sz="2600" dirty="0">
              <a:latin typeface="Calibri"/>
              <a:cs typeface="Calibri"/>
            </a:endParaRPr>
          </a:p>
          <a:p>
            <a:pPr marL="241300">
              <a:lnSpc>
                <a:spcPts val="2185"/>
              </a:lnSpc>
            </a:pPr>
            <a:r>
              <a:rPr sz="2600" dirty="0">
                <a:latin typeface="Calibri"/>
                <a:cs typeface="Calibri"/>
              </a:rPr>
              <a:t>se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conectar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nós</a:t>
            </a:r>
            <a:r>
              <a:rPr sz="2600" b="1" i="1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rede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neural,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direta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spc="-50" dirty="0">
                <a:latin typeface="Calibri"/>
                <a:cs typeface="Calibri"/>
              </a:rPr>
              <a:t>e</a:t>
            </a:r>
            <a:endParaRPr sz="2600" dirty="0">
              <a:latin typeface="Calibri"/>
              <a:cs typeface="Calibri"/>
            </a:endParaRPr>
          </a:p>
          <a:p>
            <a:pPr marL="241300">
              <a:lnSpc>
                <a:spcPts val="2655"/>
              </a:lnSpc>
            </a:pPr>
            <a:r>
              <a:rPr sz="2600" b="1" i="1" spc="-10" dirty="0">
                <a:latin typeface="Calibri"/>
                <a:cs typeface="Calibri"/>
              </a:rPr>
              <a:t>reversa</a:t>
            </a:r>
            <a:r>
              <a:rPr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41300" marR="33655" indent="-228600">
              <a:lnSpc>
                <a:spcPct val="70000"/>
              </a:lnSpc>
              <a:spcBef>
                <a:spcPts val="99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Na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figura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lado,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nós</a:t>
            </a:r>
            <a:r>
              <a:rPr sz="2600" b="1" i="1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rede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têm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conexões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em </a:t>
            </a:r>
            <a:r>
              <a:rPr sz="2600" dirty="0">
                <a:latin typeface="Calibri"/>
                <a:cs typeface="Calibri"/>
              </a:rPr>
              <a:t>apenas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uma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única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direção.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ts val="2655"/>
              </a:lnSpc>
              <a:spcBef>
                <a:spcPts val="6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Esse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tipo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rede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conhecida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como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rede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b="1" i="1" spc="-25" dirty="0">
                <a:latin typeface="Calibri"/>
                <a:cs typeface="Calibri"/>
              </a:rPr>
              <a:t>de</a:t>
            </a:r>
            <a:endParaRPr sz="2600" dirty="0">
              <a:latin typeface="Calibri"/>
              <a:cs typeface="Calibri"/>
            </a:endParaRPr>
          </a:p>
          <a:p>
            <a:pPr marL="241300">
              <a:lnSpc>
                <a:spcPts val="2185"/>
              </a:lnSpc>
            </a:pPr>
            <a:r>
              <a:rPr sz="2600" b="1" i="1" dirty="0">
                <a:latin typeface="Calibri"/>
                <a:cs typeface="Calibri"/>
              </a:rPr>
              <a:t>alimentação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direta</a:t>
            </a:r>
            <a:r>
              <a:rPr sz="2600" b="1" i="1" spc="-9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(do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inglês,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i="1" dirty="0">
                <a:latin typeface="Calibri"/>
                <a:cs typeface="Calibri"/>
              </a:rPr>
              <a:t>feedforward</a:t>
            </a:r>
            <a:r>
              <a:rPr sz="2600" dirty="0">
                <a:latin typeface="Calibri"/>
                <a:cs typeface="Calibri"/>
              </a:rPr>
              <a:t>)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ou</a:t>
            </a:r>
            <a:endParaRPr sz="2600" dirty="0">
              <a:latin typeface="Calibri"/>
              <a:cs typeface="Calibri"/>
            </a:endParaRPr>
          </a:p>
          <a:p>
            <a:pPr marL="241300">
              <a:lnSpc>
                <a:spcPts val="2650"/>
              </a:lnSpc>
            </a:pPr>
            <a:r>
              <a:rPr sz="2600" b="1" i="1" dirty="0">
                <a:latin typeface="Calibri"/>
                <a:cs typeface="Calibri"/>
              </a:rPr>
              <a:t>sem</a:t>
            </a:r>
            <a:r>
              <a:rPr sz="2600" b="1" i="1" spc="-10" dirty="0">
                <a:latin typeface="Calibri"/>
                <a:cs typeface="Calibri"/>
              </a:rPr>
              <a:t> realimentação</a:t>
            </a:r>
            <a:r>
              <a:rPr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41300" marR="275590" indent="-228600">
              <a:lnSpc>
                <a:spcPct val="7000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sinal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percorre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rede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em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única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direção,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da </a:t>
            </a:r>
            <a:r>
              <a:rPr sz="2600" dirty="0">
                <a:latin typeface="Calibri"/>
                <a:cs typeface="Calibri"/>
              </a:rPr>
              <a:t>entrada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para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saída.</a:t>
            </a:r>
            <a:endParaRPr sz="2600" dirty="0">
              <a:latin typeface="Calibri"/>
              <a:cs typeface="Calibri"/>
            </a:endParaRPr>
          </a:p>
          <a:p>
            <a:pPr marL="241300" marR="595630" indent="-228600">
              <a:lnSpc>
                <a:spcPct val="70000"/>
              </a:lnSpc>
              <a:spcBef>
                <a:spcPts val="100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Os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nós </a:t>
            </a:r>
            <a:r>
              <a:rPr sz="2600" dirty="0">
                <a:latin typeface="Calibri"/>
                <a:cs typeface="Calibri"/>
              </a:rPr>
              <a:t>da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mesma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camada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não</a:t>
            </a:r>
            <a:r>
              <a:rPr sz="2600" b="1" i="1" spc="-2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são</a:t>
            </a:r>
            <a:r>
              <a:rPr sz="2600" b="1" i="1" spc="-10" dirty="0">
                <a:latin typeface="Calibri"/>
                <a:cs typeface="Calibri"/>
              </a:rPr>
              <a:t> conectados </a:t>
            </a:r>
            <a:r>
              <a:rPr sz="2600" b="1" i="1" dirty="0">
                <a:latin typeface="Calibri"/>
                <a:cs typeface="Calibri"/>
              </a:rPr>
              <a:t>entre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b="1" i="1" spc="-25" dirty="0">
                <a:latin typeface="Calibri"/>
                <a:cs typeface="Calibri"/>
              </a:rPr>
              <a:t>si</a:t>
            </a:r>
            <a:r>
              <a:rPr sz="2600" spc="-25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ts val="2650"/>
              </a:lnSpc>
              <a:spcBef>
                <a:spcPts val="6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Esse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tipo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rede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representa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uma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função</a:t>
            </a:r>
            <a:r>
              <a:rPr sz="2600" b="1" i="1" spc="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</a:t>
            </a:r>
            <a:r>
              <a:rPr sz="2600" b="1" i="1" spc="-20" dirty="0">
                <a:latin typeface="Calibri"/>
                <a:cs typeface="Calibri"/>
              </a:rPr>
              <a:t> suas</a:t>
            </a:r>
            <a:endParaRPr sz="2600" dirty="0">
              <a:latin typeface="Calibri"/>
              <a:cs typeface="Calibri"/>
            </a:endParaRPr>
          </a:p>
          <a:p>
            <a:pPr marL="241300" marR="5080">
              <a:lnSpc>
                <a:spcPct val="70100"/>
              </a:lnSpc>
              <a:spcBef>
                <a:spcPts val="465"/>
              </a:spcBef>
            </a:pPr>
            <a:r>
              <a:rPr sz="2600" b="1" i="1" dirty="0">
                <a:latin typeface="Calibri"/>
                <a:cs typeface="Calibri"/>
              </a:rPr>
              <a:t>entradas</a:t>
            </a:r>
            <a:r>
              <a:rPr sz="2600" b="1" i="1" spc="-5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atuais</a:t>
            </a:r>
            <a:r>
              <a:rPr sz="2600" b="1" i="1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e,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portanto,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não</a:t>
            </a:r>
            <a:r>
              <a:rPr sz="2600" b="1" i="1" spc="-2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possui</a:t>
            </a:r>
            <a:r>
              <a:rPr sz="2600" b="1" i="1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um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estado </a:t>
            </a:r>
            <a:r>
              <a:rPr sz="2600" b="1" i="1" dirty="0">
                <a:latin typeface="Calibri"/>
                <a:cs typeface="Calibri"/>
              </a:rPr>
              <a:t>interno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além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dos</a:t>
            </a:r>
            <a:r>
              <a:rPr sz="2600" b="1" i="1" spc="-1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próprios</a:t>
            </a:r>
            <a:r>
              <a:rPr sz="2600" b="1" i="1" spc="-20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pesos</a:t>
            </a:r>
            <a:r>
              <a:rPr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74052" y="1376738"/>
            <a:ext cx="3932185" cy="329347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251317" y="5453888"/>
            <a:ext cx="3676650" cy="880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1905" algn="ctr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Calibri"/>
                <a:cs typeface="Calibri"/>
              </a:rPr>
              <a:t>OBS</a:t>
            </a:r>
            <a:r>
              <a:rPr sz="1400" dirty="0">
                <a:latin typeface="Calibri"/>
                <a:cs typeface="Calibri"/>
              </a:rPr>
              <a:t>.: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informação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se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move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em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apenas</a:t>
            </a:r>
            <a:r>
              <a:rPr sz="1400" spc="15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uma </a:t>
            </a:r>
            <a:r>
              <a:rPr sz="1400" dirty="0">
                <a:latin typeface="Calibri"/>
                <a:cs typeface="Calibri"/>
              </a:rPr>
              <a:t>direção: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da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entrada,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passando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pelos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nós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ocultos </a:t>
            </a:r>
            <a:r>
              <a:rPr sz="1400" dirty="0">
                <a:latin typeface="Calibri"/>
                <a:cs typeface="Calibri"/>
              </a:rPr>
              <a:t>indo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em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direção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aos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nós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de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saída.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Não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há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ciclos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ou </a:t>
            </a:r>
            <a:r>
              <a:rPr sz="1400" dirty="0">
                <a:latin typeface="Calibri"/>
                <a:cs typeface="Calibri"/>
              </a:rPr>
              <a:t>loops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neste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tipo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rede.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484868" y="4904943"/>
            <a:ext cx="12255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𝒚</a:t>
            </a:r>
            <a:r>
              <a:rPr sz="1800" spc="10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12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𝑓(𝒙,</a:t>
            </a:r>
            <a:r>
              <a:rPr sz="1800" spc="-80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𝑾)</a:t>
            </a:r>
            <a:endParaRPr sz="1800" dirty="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39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Conectando</a:t>
            </a:r>
            <a:r>
              <a:rPr spc="-95" dirty="0"/>
              <a:t> </a:t>
            </a:r>
            <a:r>
              <a:rPr spc="-10" dirty="0"/>
              <a:t>Neurônios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46250"/>
            <a:ext cx="8380730" cy="4739005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241300" marR="5080" indent="-228600">
              <a:lnSpc>
                <a:spcPct val="70000"/>
              </a:lnSpc>
              <a:spcBef>
                <a:spcPts val="960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Na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figura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lado,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nós</a:t>
            </a:r>
            <a:r>
              <a:rPr sz="2400" b="1" i="1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rede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têm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conexões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em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2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direções, </a:t>
            </a:r>
            <a:r>
              <a:rPr sz="2400" dirty="0">
                <a:latin typeface="Calibri"/>
                <a:cs typeface="Calibri"/>
              </a:rPr>
              <a:t>desta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forma,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sinal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percorre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rede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nas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direções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direta</a:t>
            </a:r>
            <a:r>
              <a:rPr sz="2400" b="1" i="1" spc="-5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e</a:t>
            </a:r>
            <a:r>
              <a:rPr sz="2400" b="1" i="1" spc="-40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reversa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41300" marR="88265" indent="-228600">
              <a:lnSpc>
                <a:spcPct val="70000"/>
              </a:lnSpc>
              <a:spcBef>
                <a:spcPts val="1000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Este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tipo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rede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conhecida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como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rede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recorrente</a:t>
            </a:r>
            <a:r>
              <a:rPr sz="2400" b="1" i="1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rede</a:t>
            </a:r>
            <a:r>
              <a:rPr sz="2400" b="1" i="1" spc="-25" dirty="0">
                <a:latin typeface="Calibri"/>
                <a:cs typeface="Calibri"/>
              </a:rPr>
              <a:t> com </a:t>
            </a:r>
            <a:r>
              <a:rPr sz="2400" b="1" i="1" spc="-10" dirty="0">
                <a:latin typeface="Calibri"/>
                <a:cs typeface="Calibri"/>
              </a:rPr>
              <a:t>realimentação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41300" marR="219710" indent="-228600">
              <a:lnSpc>
                <a:spcPct val="7000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Nessas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redes,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saída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nós</a:t>
            </a:r>
            <a:r>
              <a:rPr sz="2400" b="1" i="1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alimentam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nós</a:t>
            </a:r>
            <a:r>
              <a:rPr sz="2400" b="1" i="1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mesma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camada </a:t>
            </a:r>
            <a:r>
              <a:rPr sz="2400" dirty="0">
                <a:latin typeface="Calibri"/>
                <a:cs typeface="Calibri"/>
              </a:rPr>
              <a:t>(inclusive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próprio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nó</a:t>
            </a:r>
            <a:r>
              <a:rPr sz="2400" dirty="0">
                <a:latin typeface="Calibri"/>
                <a:cs typeface="Calibri"/>
              </a:rPr>
              <a:t>)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camadas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anteriores.</a:t>
            </a:r>
            <a:endParaRPr sz="2400" dirty="0">
              <a:latin typeface="Calibri"/>
              <a:cs typeface="Calibri"/>
            </a:endParaRPr>
          </a:p>
          <a:p>
            <a:pPr marL="241300" marR="410209" indent="-228600">
              <a:lnSpc>
                <a:spcPct val="700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Isso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significa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rede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forma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sistema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dinâmico</a:t>
            </a:r>
            <a:r>
              <a:rPr sz="2400" b="1" i="1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-20" dirty="0">
                <a:latin typeface="Calibri"/>
                <a:cs typeface="Calibri"/>
              </a:rPr>
              <a:t> pode </a:t>
            </a:r>
            <a:r>
              <a:rPr sz="2400" dirty="0">
                <a:latin typeface="Calibri"/>
                <a:cs typeface="Calibri"/>
              </a:rPr>
              <a:t>atingir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estado</a:t>
            </a:r>
            <a:r>
              <a:rPr sz="2400" b="1" i="1" spc="-6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estável,</a:t>
            </a:r>
            <a:r>
              <a:rPr sz="2400" b="1" i="1" spc="-5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exibir</a:t>
            </a:r>
            <a:r>
              <a:rPr sz="2400" b="1" i="1" spc="-4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oscilações</a:t>
            </a:r>
            <a:r>
              <a:rPr sz="2400" b="1" i="1" spc="-4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ou</a:t>
            </a:r>
            <a:r>
              <a:rPr sz="2400" b="1" i="1" spc="-5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mesmo</a:t>
            </a:r>
            <a:r>
              <a:rPr sz="2400" b="1" i="1" spc="-55" dirty="0">
                <a:latin typeface="Calibri"/>
                <a:cs typeface="Calibri"/>
              </a:rPr>
              <a:t> </a:t>
            </a:r>
            <a:r>
              <a:rPr sz="2400" b="1" i="1" spc="-25" dirty="0">
                <a:latin typeface="Calibri"/>
                <a:cs typeface="Calibri"/>
              </a:rPr>
              <a:t>um </a:t>
            </a:r>
            <a:r>
              <a:rPr sz="2400" b="1" i="1" dirty="0">
                <a:latin typeface="Calibri"/>
                <a:cs typeface="Calibri"/>
              </a:rPr>
              <a:t>comportamento</a:t>
            </a:r>
            <a:r>
              <a:rPr sz="2400" b="1" i="1" spc="-8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caótico,</a:t>
            </a:r>
            <a:r>
              <a:rPr sz="2400" b="1" i="1" spc="-5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ou</a:t>
            </a:r>
            <a:r>
              <a:rPr sz="2400" b="1" i="1" spc="-7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seja,</a:t>
            </a:r>
            <a:r>
              <a:rPr sz="2400" b="1" i="1" spc="-75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divergir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41300" marR="353060" indent="-228600">
              <a:lnSpc>
                <a:spcPct val="70000"/>
              </a:lnSpc>
              <a:spcBef>
                <a:spcPts val="1000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Além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disso,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saída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rede é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função</a:t>
            </a:r>
            <a:r>
              <a:rPr sz="2400" b="1" i="1" spc="-1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da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entrada</a:t>
            </a:r>
            <a:r>
              <a:rPr sz="2400" b="1" i="1" spc="-1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atual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e</a:t>
            </a:r>
            <a:r>
              <a:rPr sz="2400" b="1" i="1" spc="-2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de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b="1" i="1" spc="-25" dirty="0">
                <a:latin typeface="Calibri"/>
                <a:cs typeface="Calibri"/>
              </a:rPr>
              <a:t>seu </a:t>
            </a:r>
            <a:r>
              <a:rPr sz="2400" b="1" i="1" dirty="0">
                <a:latin typeface="Calibri"/>
                <a:cs typeface="Calibri"/>
              </a:rPr>
              <a:t>estado</a:t>
            </a:r>
            <a:r>
              <a:rPr sz="2400" b="1" i="1" spc="-8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interno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seja,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entradas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anteriores.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145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10" dirty="0">
                <a:latin typeface="Calibri"/>
                <a:cs typeface="Calibri"/>
              </a:rPr>
              <a:t>Portanto,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redes</a:t>
            </a:r>
            <a:r>
              <a:rPr sz="2400" b="1" i="1" spc="-7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recorrentes</a:t>
            </a:r>
            <a:r>
              <a:rPr sz="2400" b="1" i="1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possuem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memória.</a:t>
            </a:r>
            <a:endParaRPr sz="2400" dirty="0">
              <a:latin typeface="Calibri"/>
              <a:cs typeface="Calibri"/>
            </a:endParaRPr>
          </a:p>
          <a:p>
            <a:pPr marL="241300" marR="53975" indent="-228600">
              <a:lnSpc>
                <a:spcPct val="700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Essas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redes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são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úteis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processamento</a:t>
            </a:r>
            <a:r>
              <a:rPr sz="2400" b="1" i="1" spc="-4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de</a:t>
            </a:r>
            <a:r>
              <a:rPr sz="2400" b="1" i="1" spc="-40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dados </a:t>
            </a:r>
            <a:r>
              <a:rPr sz="2400" b="1" i="1" dirty="0">
                <a:latin typeface="Calibri"/>
                <a:cs typeface="Calibri"/>
              </a:rPr>
              <a:t>sequenciais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séries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temporais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(e.g.,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sons,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preços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ações, </a:t>
            </a:r>
            <a:r>
              <a:rPr sz="2400" dirty="0">
                <a:latin typeface="Calibri"/>
                <a:cs typeface="Calibri"/>
              </a:rPr>
              <a:t>padrões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cerebrais,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etc.)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linguagem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natural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(e.g.,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escrita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fala).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38804" y="3043427"/>
            <a:ext cx="2976236" cy="194687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39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err="1"/>
              <a:t>Regressão</a:t>
            </a:r>
            <a:r>
              <a:rPr spc="-165" dirty="0"/>
              <a:t> </a:t>
            </a:r>
            <a:r>
              <a:rPr spc="-10" dirty="0" err="1"/>
              <a:t>Não</a:t>
            </a:r>
            <a:r>
              <a:rPr spc="-10" dirty="0"/>
              <a:t>-Linear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916939" y="3026791"/>
            <a:ext cx="10581005" cy="3705225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241300" marR="6985" indent="-228600">
              <a:lnSpc>
                <a:spcPct val="70000"/>
              </a:lnSpc>
              <a:spcBef>
                <a:spcPts val="88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-10" dirty="0">
                <a:latin typeface="Calibri"/>
                <a:cs typeface="Calibri"/>
              </a:rPr>
              <a:t>Percebam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que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saída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rede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é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dada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pelo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aninhamento</a:t>
            </a:r>
            <a:r>
              <a:rPr sz="2200" b="1" i="1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saídas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funções</a:t>
            </a:r>
            <a:r>
              <a:rPr sz="2200" b="1" i="1" spc="-5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de</a:t>
            </a:r>
            <a:r>
              <a:rPr sz="2200" b="1" i="1" spc="-50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ativação não-lineares</a:t>
            </a:r>
            <a:r>
              <a:rPr sz="2200" spc="-10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241300" marR="5080" indent="-228600">
              <a:lnSpc>
                <a:spcPct val="70000"/>
              </a:lnSpc>
              <a:spcBef>
                <a:spcPts val="100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dirty="0">
                <a:latin typeface="Calibri"/>
                <a:cs typeface="Calibri"/>
              </a:rPr>
              <a:t>Sendo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assim,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funções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que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uma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rede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neural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pode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representar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podem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ser</a:t>
            </a:r>
            <a:r>
              <a:rPr sz="2200" spc="-125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altamente</a:t>
            </a:r>
            <a:r>
              <a:rPr sz="2200" b="1" i="1" spc="-60" dirty="0">
                <a:latin typeface="Calibri"/>
                <a:cs typeface="Calibri"/>
              </a:rPr>
              <a:t> </a:t>
            </a:r>
            <a:r>
              <a:rPr sz="2200" b="1" i="1" spc="-20" dirty="0">
                <a:latin typeface="Calibri"/>
                <a:cs typeface="Calibri"/>
              </a:rPr>
              <a:t>não- </a:t>
            </a:r>
            <a:r>
              <a:rPr sz="2200" b="1" i="1" dirty="0">
                <a:latin typeface="Calibri"/>
                <a:cs typeface="Calibri"/>
              </a:rPr>
              <a:t>lineares</a:t>
            </a:r>
            <a:r>
              <a:rPr sz="2200" b="1" i="1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dependendo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quantidade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camadas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nós.</a:t>
            </a:r>
            <a:endParaRPr sz="2200" dirty="0">
              <a:latin typeface="Calibri"/>
              <a:cs typeface="Calibri"/>
            </a:endParaRPr>
          </a:p>
          <a:p>
            <a:pPr marL="241300" marR="81915" indent="-228600">
              <a:lnSpc>
                <a:spcPct val="70000"/>
              </a:lnSpc>
              <a:spcBef>
                <a:spcPts val="994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-20" dirty="0">
                <a:latin typeface="Calibri"/>
                <a:cs typeface="Calibri"/>
              </a:rPr>
              <a:t>Portanto,</a:t>
            </a:r>
            <a:r>
              <a:rPr sz="2200" spc="-10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redes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neurais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podem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ser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vistas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como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ferramentas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para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realização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de</a:t>
            </a:r>
            <a:r>
              <a:rPr sz="2200" spc="-114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regressão não-</a:t>
            </a:r>
            <a:r>
              <a:rPr sz="2200" b="1" i="1" dirty="0">
                <a:latin typeface="Calibri"/>
                <a:cs typeface="Calibri"/>
              </a:rPr>
              <a:t>linear</a:t>
            </a:r>
            <a:r>
              <a:rPr sz="2200" dirty="0">
                <a:latin typeface="Calibri"/>
                <a:cs typeface="Calibri"/>
              </a:rPr>
              <a:t>,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mas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também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podemos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resolver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problemas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classificação.</a:t>
            </a:r>
            <a:endParaRPr sz="2200" dirty="0">
              <a:latin typeface="Calibri"/>
              <a:cs typeface="Calibri"/>
            </a:endParaRPr>
          </a:p>
          <a:p>
            <a:pPr marL="241300" indent="-228600">
              <a:lnSpc>
                <a:spcPts val="2245"/>
              </a:lnSpc>
              <a:spcBef>
                <a:spcPts val="21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dirty="0">
                <a:latin typeface="Calibri"/>
                <a:cs typeface="Calibri"/>
              </a:rPr>
              <a:t>Com</a:t>
            </a:r>
            <a:r>
              <a:rPr sz="2200" spc="-1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uma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única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camada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oculta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suficientemente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grande,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é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possível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representar</a:t>
            </a:r>
            <a:r>
              <a:rPr sz="2200" spc="-100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qualquer</a:t>
            </a:r>
            <a:endParaRPr sz="2200" dirty="0">
              <a:latin typeface="Calibri"/>
              <a:cs typeface="Calibri"/>
            </a:endParaRPr>
          </a:p>
          <a:p>
            <a:pPr marL="241300">
              <a:lnSpc>
                <a:spcPts val="2245"/>
              </a:lnSpc>
            </a:pPr>
            <a:r>
              <a:rPr sz="2200" b="1" i="1" dirty="0">
                <a:latin typeface="Calibri"/>
                <a:cs typeface="Calibri"/>
              </a:rPr>
              <a:t>função</a:t>
            </a:r>
            <a:r>
              <a:rPr sz="2200" b="1" i="1" spc="-7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contínua</a:t>
            </a:r>
            <a:r>
              <a:rPr sz="2200" b="1" i="1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das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entradas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com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uma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precisão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arbitrária</a:t>
            </a:r>
            <a:r>
              <a:rPr sz="2200" spc="-9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(depende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topologia).</a:t>
            </a:r>
            <a:endParaRPr sz="22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204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dirty="0">
                <a:latin typeface="Calibri"/>
                <a:cs typeface="Calibri"/>
              </a:rPr>
              <a:t>Com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duas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camadas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ocultas,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até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funções</a:t>
            </a:r>
            <a:r>
              <a:rPr sz="2200" b="1" i="1" spc="-75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descontínuas</a:t>
            </a:r>
            <a:r>
              <a:rPr sz="2200" b="1" i="1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podem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ser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representadas.</a:t>
            </a:r>
            <a:endParaRPr sz="2200" dirty="0">
              <a:latin typeface="Calibri"/>
              <a:cs typeface="Calibri"/>
            </a:endParaRPr>
          </a:p>
          <a:p>
            <a:pPr marL="241300" marR="35560" indent="-228600">
              <a:lnSpc>
                <a:spcPct val="70000"/>
              </a:lnSpc>
              <a:spcBef>
                <a:spcPts val="994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-20" dirty="0">
                <a:latin typeface="Calibri"/>
                <a:cs typeface="Calibri"/>
              </a:rPr>
              <a:t>Portanto,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dizemos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que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redes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neurais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possuem</a:t>
            </a:r>
            <a:r>
              <a:rPr sz="2200" spc="-95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capacidade</a:t>
            </a:r>
            <a:r>
              <a:rPr sz="2200" b="1" i="1" spc="-9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de</a:t>
            </a:r>
            <a:r>
              <a:rPr sz="2200" b="1" i="1" spc="-55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aproximação</a:t>
            </a:r>
            <a:r>
              <a:rPr sz="2200" b="1" i="1" spc="-6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universal</a:t>
            </a:r>
            <a:r>
              <a:rPr sz="2200" b="1" i="1" spc="-6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de </a:t>
            </a:r>
            <a:r>
              <a:rPr sz="2200" spc="-10" dirty="0">
                <a:latin typeface="Calibri"/>
                <a:cs typeface="Calibri"/>
              </a:rPr>
              <a:t>funções.</a:t>
            </a:r>
            <a:endParaRPr sz="22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22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-10" dirty="0">
                <a:latin typeface="Calibri"/>
                <a:cs typeface="Calibri"/>
              </a:rPr>
              <a:t>Veremos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alguns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exemplos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desta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capacidade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aproximação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seguir.</a:t>
            </a:r>
            <a:endParaRPr sz="2200" dirty="0">
              <a:latin typeface="Calibri"/>
              <a:cs typeface="Calibri"/>
            </a:endParaRPr>
          </a:p>
        </p:txBody>
      </p:sp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90042" y="216936"/>
            <a:ext cx="3491002" cy="201873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0835C4D7-2AB1-E1A4-763E-FC4AC6811411}"/>
                  </a:ext>
                </a:extLst>
              </p:cNvPr>
              <p:cNvSpPr txBox="1"/>
              <p:nvPr/>
            </p:nvSpPr>
            <p:spPr>
              <a:xfrm>
                <a:off x="4495800" y="1863039"/>
                <a:ext cx="2336794" cy="4606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000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p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2000" b="1" i="1" smtClean="0">
                                      <a:latin typeface="Cambria Math" panose="02040503050406030204" pitchFamily="18" charset="0"/>
                                    </a:rPr>
                                    <m:t>𝑾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pt-BR" sz="2000" b="0" i="0" smtClean="0"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sup>
                              </m:sSup>
                              <m:r>
                                <a:rPr lang="pt-BR" sz="20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d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0835C4D7-2AB1-E1A4-763E-FC4AC68114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5800" y="1863039"/>
                <a:ext cx="2336794" cy="4606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E0783D45-38A8-7B36-B82A-C50EBFF9100A}"/>
                  </a:ext>
                </a:extLst>
              </p:cNvPr>
              <p:cNvSpPr txBox="1"/>
              <p:nvPr/>
            </p:nvSpPr>
            <p:spPr>
              <a:xfrm>
                <a:off x="682813" y="2506840"/>
                <a:ext cx="8650510" cy="51995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pt-BR" sz="2000" dirty="0"/>
                  <a:t>o</a:t>
                </a:r>
                <a:r>
                  <a:rPr lang="pt-BR" sz="2000" b="0" dirty="0"/>
                  <a:t>nde </a:t>
                </a:r>
                <a14:m>
                  <m:oMath xmlns:m="http://schemas.openxmlformats.org/officeDocument/2006/math">
                    <m:r>
                      <a:rPr lang="pt-BR" sz="20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pt-BR" sz="2000" b="0" i="1" smtClean="0">
                        <a:latin typeface="Cambria Math" panose="02040503050406030204" pitchFamily="18" charset="0"/>
                      </a:rPr>
                      <m:t>(.)</m:t>
                    </m:r>
                  </m:oMath>
                </a14:m>
                <a:r>
                  <a:rPr lang="pt-BR" sz="2000" b="0" dirty="0"/>
                  <a:t> é a </a:t>
                </a:r>
                <a:r>
                  <a:rPr lang="pt-BR" sz="2000" b="1" i="1" dirty="0"/>
                  <a:t>função de ativação </a:t>
                </a:r>
                <a:r>
                  <a:rPr lang="pt-BR" sz="2000" dirty="0"/>
                  <a:t>escolhida, </a:t>
                </a:r>
                <a14:m>
                  <m:oMath xmlns:m="http://schemas.openxmlformats.org/officeDocument/2006/math">
                    <m:r>
                      <a:rPr lang="pt-BR" sz="2000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pt-BR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pt-B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pt-BR" sz="20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pt-BR" sz="2000" b="1" i="1" dirty="0"/>
                  <a:t> </a:t>
                </a:r>
                <a:r>
                  <a:rPr lang="pt-BR" sz="2000" b="0" dirty="0"/>
                  <a:t>  e</a:t>
                </a:r>
                <a14:m>
                  <m:oMath xmlns:m="http://schemas.openxmlformats.org/officeDocument/2006/math">
                    <m:r>
                      <a:rPr lang="pt-BR" sz="20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000" b="1" i="1" smtClean="0">
                        <a:latin typeface="Cambria Math" panose="02040503050406030204" pitchFamily="18" charset="0"/>
                      </a:rPr>
                      <m:t>𝒘</m:t>
                    </m:r>
                    <m:r>
                      <a:rPr lang="pt-BR" sz="2000" b="1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pt-BR" sz="20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pt-BR" sz="2000" b="1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pt-BR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pt-BR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pt-BR" sz="20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pt-BR" sz="2000" dirty="0"/>
              </a:p>
            </p:txBody>
          </p:sp>
        </mc:Choice>
        <mc:Fallback xmlns=""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E0783D45-38A8-7B36-B82A-C50EBFF910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813" y="2506840"/>
                <a:ext cx="8650510" cy="519951"/>
              </a:xfrm>
              <a:prstGeom prst="rect">
                <a:avLst/>
              </a:prstGeom>
              <a:blipFill>
                <a:blip r:embed="rId4"/>
                <a:stretch>
                  <a:fillRect l="-1762" b="-697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object 14">
            <a:extLst>
              <a:ext uri="{FF2B5EF4-FFF2-40B4-BE49-F238E27FC236}">
                <a16:creationId xmlns:a16="http://schemas.microsoft.com/office/drawing/2014/main" id="{E4BA1057-1107-664A-9A19-5007BB19FE7A}"/>
              </a:ext>
            </a:extLst>
          </p:cNvPr>
          <p:cNvSpPr txBox="1"/>
          <p:nvPr/>
        </p:nvSpPr>
        <p:spPr>
          <a:xfrm>
            <a:off x="671570" y="1409547"/>
            <a:ext cx="10581005" cy="730969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241300" marR="6985" indent="-228600">
              <a:lnSpc>
                <a:spcPct val="70000"/>
              </a:lnSpc>
              <a:spcBef>
                <a:spcPts val="88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lang="pt-BR" sz="2200" spc="-10" dirty="0">
                <a:latin typeface="Calibri"/>
                <a:cs typeface="Calibri"/>
              </a:rPr>
              <a:t>A rede MLP ao lado tem sua saída definida por</a:t>
            </a:r>
            <a:endParaRPr sz="2200" dirty="0">
              <a:latin typeface="Calibri"/>
              <a:cs typeface="Calibri"/>
            </a:endParaRPr>
          </a:p>
          <a:p>
            <a:pPr marL="12700" marR="5080">
              <a:lnSpc>
                <a:spcPct val="70000"/>
              </a:lnSpc>
              <a:spcBef>
                <a:spcPts val="1000"/>
              </a:spcBef>
              <a:tabLst>
                <a:tab pos="240665" algn="l"/>
                <a:tab pos="241300" algn="l"/>
              </a:tabLst>
            </a:pPr>
            <a:endParaRPr sz="2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39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Aprendizado</a:t>
            </a:r>
            <a:r>
              <a:rPr spc="-105" dirty="0"/>
              <a:t> </a:t>
            </a:r>
            <a:r>
              <a:rPr dirty="0"/>
              <a:t>em</a:t>
            </a:r>
            <a:r>
              <a:rPr spc="-90" dirty="0"/>
              <a:t> </a:t>
            </a:r>
            <a:r>
              <a:rPr dirty="0"/>
              <a:t>Redes</a:t>
            </a:r>
            <a:r>
              <a:rPr spc="-95" dirty="0"/>
              <a:t> </a:t>
            </a:r>
            <a:r>
              <a:rPr spc="-10" dirty="0"/>
              <a:t>Neurais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16939" y="1447800"/>
            <a:ext cx="10820400" cy="5114926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241300" marR="434975" indent="-228600">
              <a:lnSpc>
                <a:spcPct val="80000"/>
              </a:lnSpc>
              <a:spcBef>
                <a:spcPts val="725"/>
              </a:spcBef>
              <a:buFont typeface="Arial"/>
              <a:buChar char="•"/>
              <a:tabLst>
                <a:tab pos="241300" algn="l"/>
              </a:tabLst>
            </a:pPr>
            <a:r>
              <a:rPr lang="pt-BR" sz="2600" dirty="0">
                <a:latin typeface="Calibri"/>
                <a:cs typeface="Calibri"/>
              </a:rPr>
              <a:t>Consideramos</a:t>
            </a:r>
            <a:r>
              <a:rPr lang="pt-BR" sz="2600" spc="-60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agora,</a:t>
            </a:r>
            <a:r>
              <a:rPr lang="pt-BR" sz="2600" spc="-40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o</a:t>
            </a:r>
            <a:r>
              <a:rPr lang="pt-BR" sz="2600" spc="-65" dirty="0">
                <a:latin typeface="Calibri"/>
                <a:cs typeface="Calibri"/>
              </a:rPr>
              <a:t> </a:t>
            </a:r>
            <a:r>
              <a:rPr lang="pt-BR" sz="2600" b="1" i="1" dirty="0">
                <a:latin typeface="Calibri"/>
                <a:cs typeface="Calibri"/>
              </a:rPr>
              <a:t>processo</a:t>
            </a:r>
            <a:r>
              <a:rPr lang="pt-BR" sz="2600" b="1" i="1" spc="-35" dirty="0">
                <a:latin typeface="Calibri"/>
                <a:cs typeface="Calibri"/>
              </a:rPr>
              <a:t> </a:t>
            </a:r>
            <a:r>
              <a:rPr lang="pt-BR" sz="2600" b="1" i="1" dirty="0">
                <a:latin typeface="Calibri"/>
                <a:cs typeface="Calibri"/>
              </a:rPr>
              <a:t>de</a:t>
            </a:r>
            <a:r>
              <a:rPr lang="pt-BR" sz="2600" b="1" i="1" spc="-45" dirty="0">
                <a:latin typeface="Calibri"/>
                <a:cs typeface="Calibri"/>
              </a:rPr>
              <a:t> </a:t>
            </a:r>
            <a:r>
              <a:rPr lang="pt-BR" sz="2600" b="1" i="1" dirty="0">
                <a:latin typeface="Calibri"/>
                <a:cs typeface="Calibri"/>
              </a:rPr>
              <a:t>otimização</a:t>
            </a:r>
            <a:r>
              <a:rPr lang="pt-BR" sz="2600" dirty="0">
                <a:latin typeface="Calibri"/>
                <a:cs typeface="Calibri"/>
              </a:rPr>
              <a:t>,</a:t>
            </a:r>
            <a:r>
              <a:rPr lang="pt-BR" sz="2600" spc="-15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ou</a:t>
            </a:r>
            <a:r>
              <a:rPr lang="pt-BR" sz="2600" spc="-40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seja,</a:t>
            </a:r>
            <a:r>
              <a:rPr lang="pt-BR" sz="2600" spc="-50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de</a:t>
            </a:r>
            <a:r>
              <a:rPr lang="pt-BR" sz="2600" spc="-40" dirty="0">
                <a:latin typeface="Calibri"/>
                <a:cs typeface="Calibri"/>
              </a:rPr>
              <a:t> </a:t>
            </a:r>
            <a:r>
              <a:rPr lang="pt-BR" sz="2600" b="1" i="1" dirty="0">
                <a:latin typeface="Calibri"/>
                <a:cs typeface="Calibri"/>
              </a:rPr>
              <a:t>atualização</a:t>
            </a:r>
            <a:r>
              <a:rPr lang="pt-BR" sz="2600" b="1" i="1" spc="-35" dirty="0">
                <a:latin typeface="Calibri"/>
                <a:cs typeface="Calibri"/>
              </a:rPr>
              <a:t> </a:t>
            </a:r>
            <a:r>
              <a:rPr lang="pt-BR" sz="2600" b="1" i="1" spc="-25" dirty="0">
                <a:latin typeface="Calibri"/>
                <a:cs typeface="Calibri"/>
              </a:rPr>
              <a:t>dos </a:t>
            </a:r>
            <a:r>
              <a:rPr lang="pt-BR" sz="2600" b="1" i="1" dirty="0">
                <a:latin typeface="Calibri"/>
                <a:cs typeface="Calibri"/>
              </a:rPr>
              <a:t>pesos</a:t>
            </a:r>
            <a:r>
              <a:rPr lang="pt-BR" sz="2600" b="1" i="1" spc="-15" dirty="0">
                <a:latin typeface="Calibri"/>
                <a:cs typeface="Calibri"/>
              </a:rPr>
              <a:t> </a:t>
            </a:r>
            <a:r>
              <a:rPr lang="pt-BR" sz="2600" b="1" i="1" spc="-10" dirty="0">
                <a:latin typeface="Calibri"/>
                <a:cs typeface="Calibri"/>
              </a:rPr>
              <a:t>sinápticos</a:t>
            </a:r>
            <a:r>
              <a:rPr lang="pt-BR" sz="2600" spc="-10" dirty="0">
                <a:latin typeface="Calibri"/>
                <a:cs typeface="Calibri"/>
              </a:rPr>
              <a:t>.</a:t>
            </a:r>
            <a:endParaRPr lang="pt-BR" sz="2600" dirty="0">
              <a:latin typeface="Calibri"/>
              <a:cs typeface="Calibri"/>
            </a:endParaRPr>
          </a:p>
          <a:p>
            <a:pPr marL="241300" indent="-228600">
              <a:lnSpc>
                <a:spcPts val="2810"/>
              </a:lnSpc>
              <a:spcBef>
                <a:spcPts val="375"/>
              </a:spcBef>
              <a:buFont typeface="Arial"/>
              <a:buChar char="•"/>
              <a:tabLst>
                <a:tab pos="241300" algn="l"/>
              </a:tabLst>
            </a:pPr>
            <a:r>
              <a:rPr lang="pt-BR" sz="2600" dirty="0">
                <a:latin typeface="Calibri"/>
                <a:cs typeface="Calibri"/>
              </a:rPr>
              <a:t>Assim</a:t>
            </a:r>
            <a:r>
              <a:rPr lang="pt-BR" sz="2600" spc="-65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como</a:t>
            </a:r>
            <a:r>
              <a:rPr lang="pt-BR" sz="2600" spc="-35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vimos</a:t>
            </a:r>
            <a:r>
              <a:rPr lang="pt-BR" sz="2600" spc="-50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anteriormente,</a:t>
            </a:r>
            <a:r>
              <a:rPr lang="pt-BR" sz="2600" spc="-65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o</a:t>
            </a:r>
            <a:r>
              <a:rPr lang="pt-BR" sz="2600" spc="-25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processo</a:t>
            </a:r>
            <a:r>
              <a:rPr lang="pt-BR" sz="2600" spc="-60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de</a:t>
            </a:r>
            <a:r>
              <a:rPr lang="pt-BR" sz="2600" spc="-30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otimização</a:t>
            </a:r>
            <a:r>
              <a:rPr lang="pt-BR" sz="2600" spc="-25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corresponde</a:t>
            </a:r>
            <a:r>
              <a:rPr lang="pt-BR" sz="2600" spc="-60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a</a:t>
            </a:r>
            <a:r>
              <a:rPr lang="pt-BR" sz="2600" spc="-30" dirty="0">
                <a:latin typeface="Calibri"/>
                <a:cs typeface="Calibri"/>
              </a:rPr>
              <a:t> </a:t>
            </a:r>
            <a:r>
              <a:rPr lang="pt-BR" sz="2600" spc="-25" dirty="0">
                <a:latin typeface="Calibri"/>
                <a:cs typeface="Calibri"/>
              </a:rPr>
              <a:t>um</a:t>
            </a:r>
            <a:endParaRPr lang="pt-BR" sz="2600" dirty="0">
              <a:latin typeface="Calibri"/>
              <a:cs typeface="Calibri"/>
            </a:endParaRPr>
          </a:p>
          <a:p>
            <a:pPr marL="241300">
              <a:lnSpc>
                <a:spcPts val="2495"/>
              </a:lnSpc>
            </a:pPr>
            <a:r>
              <a:rPr lang="pt-BR" sz="2600" b="1" i="1" dirty="0">
                <a:latin typeface="Calibri"/>
                <a:cs typeface="Calibri"/>
              </a:rPr>
              <a:t>problema</a:t>
            </a:r>
            <a:r>
              <a:rPr lang="pt-BR" sz="2600" b="1" i="1" spc="-30" dirty="0">
                <a:latin typeface="Calibri"/>
                <a:cs typeface="Calibri"/>
              </a:rPr>
              <a:t> </a:t>
            </a:r>
            <a:r>
              <a:rPr lang="pt-BR" sz="2600" b="1" i="1" dirty="0">
                <a:latin typeface="Calibri"/>
                <a:cs typeface="Calibri"/>
              </a:rPr>
              <a:t>de</a:t>
            </a:r>
            <a:r>
              <a:rPr lang="pt-BR" sz="2600" b="1" i="1" spc="-30" dirty="0">
                <a:latin typeface="Calibri"/>
                <a:cs typeface="Calibri"/>
              </a:rPr>
              <a:t> </a:t>
            </a:r>
            <a:r>
              <a:rPr lang="pt-BR" sz="2600" b="1" i="1" dirty="0">
                <a:latin typeface="Calibri"/>
                <a:cs typeface="Calibri"/>
              </a:rPr>
              <a:t>minimização</a:t>
            </a:r>
            <a:r>
              <a:rPr lang="pt-BR" sz="2600" b="1" i="1" spc="-35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de</a:t>
            </a:r>
            <a:r>
              <a:rPr lang="pt-BR" sz="2600" spc="-35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uma</a:t>
            </a:r>
            <a:r>
              <a:rPr lang="pt-BR" sz="2600" spc="-35" dirty="0">
                <a:latin typeface="Calibri"/>
                <a:cs typeface="Calibri"/>
              </a:rPr>
              <a:t> </a:t>
            </a:r>
            <a:r>
              <a:rPr lang="pt-BR" sz="2600" b="1" i="1" dirty="0">
                <a:latin typeface="Calibri"/>
                <a:cs typeface="Calibri"/>
              </a:rPr>
              <a:t>função de</a:t>
            </a:r>
            <a:r>
              <a:rPr lang="pt-BR" sz="2600" b="1" i="1" spc="-25" dirty="0">
                <a:latin typeface="Calibri"/>
                <a:cs typeface="Calibri"/>
              </a:rPr>
              <a:t> </a:t>
            </a:r>
            <a:r>
              <a:rPr lang="pt-BR" sz="2600" b="1" i="1" dirty="0">
                <a:latin typeface="Calibri"/>
                <a:cs typeface="Calibri"/>
              </a:rPr>
              <a:t>erro</a:t>
            </a:r>
            <a:r>
              <a:rPr lang="pt-BR" sz="2600" b="1" i="1" spc="-30" dirty="0">
                <a:latin typeface="Calibri"/>
                <a:cs typeface="Calibri"/>
              </a:rPr>
              <a:t> </a:t>
            </a:r>
            <a:r>
              <a:rPr lang="pt-BR" sz="2600" b="1" i="1" dirty="0">
                <a:latin typeface="Calibri"/>
                <a:cs typeface="Calibri"/>
              </a:rPr>
              <a:t>(ou</a:t>
            </a:r>
            <a:r>
              <a:rPr lang="pt-BR" sz="2600" b="1" i="1" spc="-25" dirty="0">
                <a:latin typeface="Calibri"/>
                <a:cs typeface="Calibri"/>
              </a:rPr>
              <a:t> </a:t>
            </a:r>
            <a:r>
              <a:rPr lang="pt-BR" sz="2600" b="1" i="1" dirty="0">
                <a:latin typeface="Calibri"/>
                <a:cs typeface="Calibri"/>
              </a:rPr>
              <a:t>de</a:t>
            </a:r>
            <a:r>
              <a:rPr lang="pt-BR" sz="2600" b="1" i="1" spc="-25" dirty="0">
                <a:latin typeface="Calibri"/>
                <a:cs typeface="Calibri"/>
              </a:rPr>
              <a:t> </a:t>
            </a:r>
            <a:r>
              <a:rPr lang="pt-BR" sz="2600" b="1" i="1" dirty="0">
                <a:latin typeface="Calibri"/>
                <a:cs typeface="Calibri"/>
              </a:rPr>
              <a:t>custo</a:t>
            </a:r>
            <a:r>
              <a:rPr lang="pt-BR" sz="2600" b="1" i="1" spc="-25" dirty="0">
                <a:latin typeface="Calibri"/>
                <a:cs typeface="Calibri"/>
              </a:rPr>
              <a:t> </a:t>
            </a:r>
            <a:r>
              <a:rPr lang="pt-BR" sz="2600" b="1" i="1" dirty="0">
                <a:latin typeface="Calibri"/>
                <a:cs typeface="Calibri"/>
              </a:rPr>
              <a:t>ou</a:t>
            </a:r>
            <a:r>
              <a:rPr lang="pt-BR" sz="2600" b="1" i="1" spc="-15" dirty="0">
                <a:latin typeface="Calibri"/>
                <a:cs typeface="Calibri"/>
              </a:rPr>
              <a:t> </a:t>
            </a:r>
            <a:r>
              <a:rPr lang="pt-BR" sz="2600" b="1" i="1" spc="-10" dirty="0">
                <a:latin typeface="Calibri"/>
                <a:cs typeface="Calibri"/>
              </a:rPr>
              <a:t>perda)</a:t>
            </a:r>
            <a:r>
              <a:rPr lang="pt-BR" sz="2600" spc="-10" dirty="0">
                <a:latin typeface="Calibri"/>
                <a:cs typeface="Calibri"/>
              </a:rPr>
              <a:t>,</a:t>
            </a:r>
            <a:endParaRPr lang="pt-BR" sz="2600" dirty="0">
              <a:latin typeface="Calibri"/>
              <a:cs typeface="Calibri"/>
            </a:endParaRPr>
          </a:p>
          <a:p>
            <a:pPr marL="241300">
              <a:lnSpc>
                <a:spcPts val="2810"/>
              </a:lnSpc>
              <a:tabLst>
                <a:tab pos="511175" algn="l"/>
                <a:tab pos="907415" algn="l"/>
              </a:tabLst>
            </a:pPr>
            <a:r>
              <a:rPr lang="pt-BR" sz="2600" spc="-50" dirty="0">
                <a:latin typeface="Cambria Math"/>
                <a:cs typeface="Cambria Math"/>
              </a:rPr>
              <a:t>𝐽(𝒘)</a:t>
            </a:r>
            <a:r>
              <a:rPr lang="pt-BR" sz="2600" dirty="0">
                <a:latin typeface="Cambria Math"/>
                <a:cs typeface="Cambria Math"/>
              </a:rPr>
              <a:t>	</a:t>
            </a:r>
            <a:r>
              <a:rPr lang="pt-BR" sz="2600" dirty="0">
                <a:latin typeface="Calibri"/>
                <a:cs typeface="Calibri"/>
              </a:rPr>
              <a:t>,</a:t>
            </a:r>
            <a:r>
              <a:rPr lang="pt-BR" sz="2600" spc="-35" dirty="0">
                <a:latin typeface="Calibri"/>
                <a:cs typeface="Calibri"/>
              </a:rPr>
              <a:t> </a:t>
            </a:r>
            <a:r>
              <a:rPr lang="pt-BR" sz="2600" b="1" i="1" dirty="0">
                <a:latin typeface="Calibri"/>
                <a:cs typeface="Calibri"/>
              </a:rPr>
              <a:t>com</a:t>
            </a:r>
            <a:r>
              <a:rPr lang="pt-BR" sz="2600" b="1" i="1" spc="-25" dirty="0">
                <a:latin typeface="Calibri"/>
                <a:cs typeface="Calibri"/>
              </a:rPr>
              <a:t> </a:t>
            </a:r>
            <a:r>
              <a:rPr lang="pt-BR" sz="2600" b="1" i="1" dirty="0">
                <a:latin typeface="Calibri"/>
                <a:cs typeface="Calibri"/>
              </a:rPr>
              <a:t>respeito</a:t>
            </a:r>
            <a:r>
              <a:rPr lang="pt-BR" sz="2600" b="1" i="1" spc="-45" dirty="0">
                <a:latin typeface="Calibri"/>
                <a:cs typeface="Calibri"/>
              </a:rPr>
              <a:t> </a:t>
            </a:r>
            <a:r>
              <a:rPr lang="pt-BR" sz="2600" b="1" i="1" dirty="0">
                <a:latin typeface="Calibri"/>
                <a:cs typeface="Calibri"/>
              </a:rPr>
              <a:t>a</a:t>
            </a:r>
            <a:r>
              <a:rPr lang="pt-BR" sz="2600" b="1" i="1" spc="-15" dirty="0">
                <a:latin typeface="Calibri"/>
                <a:cs typeface="Calibri"/>
              </a:rPr>
              <a:t> </a:t>
            </a:r>
            <a:r>
              <a:rPr lang="pt-BR" sz="2600" b="1" i="1" dirty="0">
                <a:latin typeface="Calibri"/>
                <a:cs typeface="Calibri"/>
              </a:rPr>
              <a:t>um</a:t>
            </a:r>
            <a:r>
              <a:rPr lang="pt-BR" sz="2600" b="1" i="1" spc="-25" dirty="0">
                <a:latin typeface="Calibri"/>
                <a:cs typeface="Calibri"/>
              </a:rPr>
              <a:t> </a:t>
            </a:r>
            <a:r>
              <a:rPr lang="pt-BR" sz="2600" b="1" i="1" dirty="0">
                <a:latin typeface="Calibri"/>
                <a:cs typeface="Calibri"/>
              </a:rPr>
              <a:t>vetor</a:t>
            </a:r>
            <a:r>
              <a:rPr lang="pt-BR" sz="2600" b="1" i="1" spc="-40" dirty="0">
                <a:latin typeface="Calibri"/>
                <a:cs typeface="Calibri"/>
              </a:rPr>
              <a:t> </a:t>
            </a:r>
            <a:r>
              <a:rPr lang="pt-BR" sz="2600" b="1" i="1" dirty="0">
                <a:latin typeface="Calibri"/>
                <a:cs typeface="Calibri"/>
              </a:rPr>
              <a:t>de</a:t>
            </a:r>
            <a:r>
              <a:rPr lang="pt-BR" sz="2600" b="1" i="1" spc="-25" dirty="0">
                <a:latin typeface="Calibri"/>
                <a:cs typeface="Calibri"/>
              </a:rPr>
              <a:t> </a:t>
            </a:r>
            <a:r>
              <a:rPr lang="pt-BR" sz="2600" b="1" i="1" dirty="0">
                <a:latin typeface="Calibri"/>
                <a:cs typeface="Calibri"/>
              </a:rPr>
              <a:t>pesos</a:t>
            </a:r>
            <a:r>
              <a:rPr lang="pt-BR" sz="2600" b="1" i="1" spc="-15" dirty="0">
                <a:latin typeface="Calibri"/>
                <a:cs typeface="Calibri"/>
              </a:rPr>
              <a:t> </a:t>
            </a:r>
            <a:r>
              <a:rPr lang="pt-BR" sz="2600" spc="-25" dirty="0">
                <a:latin typeface="Cambria Math"/>
                <a:cs typeface="Cambria Math"/>
              </a:rPr>
              <a:t>𝒘</a:t>
            </a:r>
            <a:r>
              <a:rPr lang="pt-BR" sz="2600" spc="-25" dirty="0">
                <a:latin typeface="Calibri"/>
                <a:cs typeface="Calibri"/>
              </a:rPr>
              <a:t>.</a:t>
            </a:r>
            <a:endParaRPr lang="pt-BR" sz="2600" dirty="0">
              <a:latin typeface="Calibri"/>
              <a:cs typeface="Calibri"/>
            </a:endParaRPr>
          </a:p>
          <a:p>
            <a:pPr marL="241300" marR="453390" indent="-228600">
              <a:lnSpc>
                <a:spcPct val="8000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lang="pt-BR" sz="2600" spc="-10" dirty="0">
                <a:latin typeface="Calibri"/>
                <a:cs typeface="Calibri"/>
              </a:rPr>
              <a:t>Portanto,</a:t>
            </a:r>
            <a:r>
              <a:rPr lang="pt-BR" sz="2600" spc="-50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o</a:t>
            </a:r>
            <a:r>
              <a:rPr lang="pt-BR" sz="2600" spc="-35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problema</a:t>
            </a:r>
            <a:r>
              <a:rPr lang="pt-BR" sz="2600" spc="-60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de</a:t>
            </a:r>
            <a:r>
              <a:rPr lang="pt-BR" sz="2600" spc="-35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aprendizado</a:t>
            </a:r>
            <a:r>
              <a:rPr lang="pt-BR" sz="2600" spc="-45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em</a:t>
            </a:r>
            <a:r>
              <a:rPr lang="pt-BR" sz="2600" spc="-50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redes</a:t>
            </a:r>
            <a:r>
              <a:rPr lang="pt-BR" sz="2600" spc="-65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neurais</a:t>
            </a:r>
            <a:r>
              <a:rPr lang="pt-BR" sz="2600" spc="-50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pode</a:t>
            </a:r>
            <a:r>
              <a:rPr lang="pt-BR" sz="2600" spc="-40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ser</a:t>
            </a:r>
            <a:r>
              <a:rPr lang="pt-BR" sz="2600" spc="-50" dirty="0">
                <a:latin typeface="Calibri"/>
                <a:cs typeface="Calibri"/>
              </a:rPr>
              <a:t> </a:t>
            </a:r>
            <a:r>
              <a:rPr lang="pt-BR" sz="2600" spc="-10" dirty="0">
                <a:latin typeface="Calibri"/>
                <a:cs typeface="Calibri"/>
              </a:rPr>
              <a:t>formulado </a:t>
            </a:r>
            <a:r>
              <a:rPr lang="pt-BR" sz="2600" spc="-20" dirty="0">
                <a:latin typeface="Calibri"/>
                <a:cs typeface="Calibri"/>
              </a:rPr>
              <a:t>como</a:t>
            </a:r>
          </a:p>
          <a:p>
            <a:pPr marL="12700" marR="453390" lvl="1">
              <a:lnSpc>
                <a:spcPct val="80000"/>
              </a:lnSpc>
              <a:spcBef>
                <a:spcPts val="1010"/>
              </a:spcBef>
              <a:tabLst>
                <a:tab pos="241300" algn="l"/>
              </a:tabLst>
            </a:pPr>
            <a:endParaRPr lang="pt-BR" sz="1900" spc="-20" dirty="0">
              <a:latin typeface="Calibri"/>
              <a:cs typeface="Calibri"/>
            </a:endParaRPr>
          </a:p>
          <a:p>
            <a:pPr marL="241300" marR="453390" lvl="1" indent="-228600">
              <a:lnSpc>
                <a:spcPct val="8000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endParaRPr lang="pt-BR" sz="1900" dirty="0">
              <a:latin typeface="Cambria Math"/>
              <a:cs typeface="Cambria Math"/>
            </a:endParaRPr>
          </a:p>
          <a:p>
            <a:pPr marL="241300" marR="147320" indent="-228600">
              <a:lnSpc>
                <a:spcPct val="80000"/>
              </a:lnSpc>
              <a:spcBef>
                <a:spcPts val="530"/>
              </a:spcBef>
              <a:buFont typeface="Arial"/>
              <a:buChar char="•"/>
              <a:tabLst>
                <a:tab pos="241300" algn="l"/>
              </a:tabLst>
            </a:pPr>
            <a:r>
              <a:rPr lang="pt-BR" sz="2600" dirty="0">
                <a:latin typeface="Calibri"/>
                <a:cs typeface="Calibri"/>
              </a:rPr>
              <a:t>Normalmente,</a:t>
            </a:r>
            <a:r>
              <a:rPr lang="pt-BR" sz="2600" spc="-75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esse</a:t>
            </a:r>
            <a:r>
              <a:rPr lang="pt-BR" sz="2600" spc="-70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processo</a:t>
            </a:r>
            <a:r>
              <a:rPr lang="pt-BR" sz="2600" spc="-60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de</a:t>
            </a:r>
            <a:r>
              <a:rPr lang="pt-BR" sz="2600" spc="-50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otimização</a:t>
            </a:r>
            <a:r>
              <a:rPr lang="pt-BR" sz="2600" spc="-35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é</a:t>
            </a:r>
            <a:r>
              <a:rPr lang="pt-BR" sz="2600" spc="-120" dirty="0">
                <a:latin typeface="Calibri"/>
                <a:cs typeface="Calibri"/>
              </a:rPr>
              <a:t> </a:t>
            </a:r>
            <a:r>
              <a:rPr lang="pt-BR" sz="2600" b="1" i="1" dirty="0">
                <a:latin typeface="Calibri"/>
                <a:cs typeface="Calibri"/>
              </a:rPr>
              <a:t>conduzido</a:t>
            </a:r>
            <a:r>
              <a:rPr lang="pt-BR" sz="2600" b="1" i="1" spc="-10" dirty="0">
                <a:latin typeface="Calibri"/>
                <a:cs typeface="Calibri"/>
              </a:rPr>
              <a:t> </a:t>
            </a:r>
            <a:r>
              <a:rPr lang="pt-BR" sz="2600" b="1" i="1" dirty="0">
                <a:latin typeface="Calibri"/>
                <a:cs typeface="Calibri"/>
              </a:rPr>
              <a:t>de</a:t>
            </a:r>
            <a:r>
              <a:rPr lang="pt-BR" sz="2600" b="1" i="1" spc="-50" dirty="0">
                <a:latin typeface="Calibri"/>
                <a:cs typeface="Calibri"/>
              </a:rPr>
              <a:t> </a:t>
            </a:r>
            <a:r>
              <a:rPr lang="pt-BR" sz="2600" b="1" i="1" dirty="0">
                <a:latin typeface="Calibri"/>
                <a:cs typeface="Calibri"/>
              </a:rPr>
              <a:t>forma</a:t>
            </a:r>
            <a:r>
              <a:rPr lang="pt-BR" sz="2600" b="1" i="1" spc="-40" dirty="0">
                <a:latin typeface="Calibri"/>
                <a:cs typeface="Calibri"/>
              </a:rPr>
              <a:t> </a:t>
            </a:r>
            <a:r>
              <a:rPr lang="pt-BR" sz="2600" b="1" i="1" dirty="0">
                <a:latin typeface="Calibri"/>
                <a:cs typeface="Calibri"/>
              </a:rPr>
              <a:t>iterativa</a:t>
            </a:r>
            <a:r>
              <a:rPr lang="pt-BR" sz="2600" dirty="0">
                <a:latin typeface="Calibri"/>
                <a:cs typeface="Calibri"/>
              </a:rPr>
              <a:t>,</a:t>
            </a:r>
            <a:r>
              <a:rPr lang="pt-BR" sz="2600" spc="-50" dirty="0">
                <a:latin typeface="Calibri"/>
                <a:cs typeface="Calibri"/>
              </a:rPr>
              <a:t> o </a:t>
            </a:r>
            <a:r>
              <a:rPr lang="pt-BR" sz="2600" dirty="0">
                <a:latin typeface="Calibri"/>
                <a:cs typeface="Calibri"/>
              </a:rPr>
              <a:t>que</a:t>
            </a:r>
            <a:r>
              <a:rPr lang="pt-BR" sz="2600" spc="-50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dá</a:t>
            </a:r>
            <a:r>
              <a:rPr lang="pt-BR" sz="2600" spc="-15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um</a:t>
            </a:r>
            <a:r>
              <a:rPr lang="pt-BR" sz="2600" spc="-40" dirty="0">
                <a:latin typeface="Calibri"/>
                <a:cs typeface="Calibri"/>
              </a:rPr>
              <a:t> </a:t>
            </a:r>
            <a:r>
              <a:rPr lang="pt-BR" sz="2600" b="1" i="1" dirty="0">
                <a:latin typeface="Calibri"/>
                <a:cs typeface="Calibri"/>
              </a:rPr>
              <a:t>sentido</a:t>
            </a:r>
            <a:r>
              <a:rPr lang="pt-BR" sz="2600" b="1" i="1" spc="-20" dirty="0">
                <a:latin typeface="Calibri"/>
                <a:cs typeface="Calibri"/>
              </a:rPr>
              <a:t> </a:t>
            </a:r>
            <a:r>
              <a:rPr lang="pt-BR" sz="2600" b="1" i="1" dirty="0">
                <a:latin typeface="Calibri"/>
                <a:cs typeface="Calibri"/>
              </a:rPr>
              <a:t>mais</a:t>
            </a:r>
            <a:r>
              <a:rPr lang="pt-BR" sz="2600" b="1" i="1" spc="-25" dirty="0">
                <a:latin typeface="Calibri"/>
                <a:cs typeface="Calibri"/>
              </a:rPr>
              <a:t> </a:t>
            </a:r>
            <a:r>
              <a:rPr lang="pt-BR" sz="2600" b="1" i="1" dirty="0">
                <a:latin typeface="Calibri"/>
                <a:cs typeface="Calibri"/>
              </a:rPr>
              <a:t>natural</a:t>
            </a:r>
            <a:r>
              <a:rPr lang="pt-BR" sz="2600" b="1" i="1" spc="-15" dirty="0">
                <a:latin typeface="Calibri"/>
                <a:cs typeface="Calibri"/>
              </a:rPr>
              <a:t> </a:t>
            </a:r>
            <a:r>
              <a:rPr lang="pt-BR" sz="2600" b="1" i="1" dirty="0">
                <a:latin typeface="Calibri"/>
                <a:cs typeface="Calibri"/>
              </a:rPr>
              <a:t>à</a:t>
            </a:r>
            <a:r>
              <a:rPr lang="pt-BR" sz="2600" b="1" i="1" spc="-20" dirty="0">
                <a:latin typeface="Calibri"/>
                <a:cs typeface="Calibri"/>
              </a:rPr>
              <a:t> </a:t>
            </a:r>
            <a:r>
              <a:rPr lang="pt-BR" sz="2600" b="1" i="1" dirty="0">
                <a:latin typeface="Calibri"/>
                <a:cs typeface="Calibri"/>
              </a:rPr>
              <a:t>noção</a:t>
            </a:r>
            <a:r>
              <a:rPr lang="pt-BR" sz="2600" b="1" i="1" spc="5" dirty="0">
                <a:latin typeface="Calibri"/>
                <a:cs typeface="Calibri"/>
              </a:rPr>
              <a:t> </a:t>
            </a:r>
            <a:r>
              <a:rPr lang="pt-BR" sz="2600" b="1" i="1" dirty="0">
                <a:latin typeface="Calibri"/>
                <a:cs typeface="Calibri"/>
              </a:rPr>
              <a:t>de</a:t>
            </a:r>
            <a:r>
              <a:rPr lang="pt-BR" sz="2600" b="1" i="1" spc="-25" dirty="0">
                <a:latin typeface="Calibri"/>
                <a:cs typeface="Calibri"/>
              </a:rPr>
              <a:t> </a:t>
            </a:r>
            <a:r>
              <a:rPr lang="pt-BR" sz="2600" b="1" i="1" dirty="0">
                <a:latin typeface="Calibri"/>
                <a:cs typeface="Calibri"/>
              </a:rPr>
              <a:t>aprendizado</a:t>
            </a:r>
            <a:r>
              <a:rPr lang="pt-BR" sz="2600" b="1" i="1" spc="-15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(i.e.,</a:t>
            </a:r>
            <a:r>
              <a:rPr lang="pt-BR" sz="2600" spc="-30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um</a:t>
            </a:r>
            <a:r>
              <a:rPr lang="pt-BR" sz="2600" spc="-30" dirty="0">
                <a:latin typeface="Calibri"/>
                <a:cs typeface="Calibri"/>
              </a:rPr>
              <a:t> </a:t>
            </a:r>
            <a:r>
              <a:rPr lang="pt-BR" sz="2600" spc="-10" dirty="0">
                <a:latin typeface="Calibri"/>
                <a:cs typeface="Calibri"/>
              </a:rPr>
              <a:t>processo gradual).</a:t>
            </a:r>
            <a:endParaRPr lang="pt-BR" sz="2600" dirty="0">
              <a:latin typeface="Calibri"/>
              <a:cs typeface="Calibri"/>
            </a:endParaRPr>
          </a:p>
          <a:p>
            <a:pPr marL="241300" marR="421640" indent="-228600">
              <a:lnSpc>
                <a:spcPts val="2500"/>
              </a:lnSpc>
              <a:spcBef>
                <a:spcPts val="980"/>
              </a:spcBef>
              <a:buFont typeface="Arial"/>
              <a:buChar char="•"/>
              <a:tabLst>
                <a:tab pos="241300" algn="l"/>
                <a:tab pos="9243060" algn="l"/>
                <a:tab pos="9640570" algn="l"/>
              </a:tabLst>
            </a:pPr>
            <a:r>
              <a:rPr lang="pt-BR" sz="2600" dirty="0">
                <a:latin typeface="Calibri"/>
                <a:cs typeface="Calibri"/>
              </a:rPr>
              <a:t>Existem</a:t>
            </a:r>
            <a:r>
              <a:rPr lang="pt-BR" sz="2600" spc="-90" dirty="0">
                <a:latin typeface="Calibri"/>
                <a:cs typeface="Calibri"/>
              </a:rPr>
              <a:t> </a:t>
            </a:r>
            <a:r>
              <a:rPr lang="pt-BR" sz="2600" b="1" i="1" dirty="0">
                <a:latin typeface="Calibri"/>
                <a:cs typeface="Calibri"/>
              </a:rPr>
              <a:t>vários</a:t>
            </a:r>
            <a:r>
              <a:rPr lang="pt-BR" sz="2600" b="1" i="1" spc="-40" dirty="0">
                <a:latin typeface="Calibri"/>
                <a:cs typeface="Calibri"/>
              </a:rPr>
              <a:t> </a:t>
            </a:r>
            <a:r>
              <a:rPr lang="pt-BR" sz="2600" b="1" i="1" dirty="0">
                <a:latin typeface="Calibri"/>
                <a:cs typeface="Calibri"/>
              </a:rPr>
              <a:t>métodos</a:t>
            </a:r>
            <a:r>
              <a:rPr lang="pt-BR" sz="2600" b="1" i="1" spc="-70" dirty="0">
                <a:latin typeface="Calibri"/>
                <a:cs typeface="Calibri"/>
              </a:rPr>
              <a:t> </a:t>
            </a:r>
            <a:r>
              <a:rPr lang="pt-BR" sz="2600" b="1" i="1" dirty="0">
                <a:latin typeface="Calibri"/>
                <a:cs typeface="Calibri"/>
              </a:rPr>
              <a:t>de</a:t>
            </a:r>
            <a:r>
              <a:rPr lang="pt-BR" sz="2600" b="1" i="1" spc="-45" dirty="0">
                <a:latin typeface="Calibri"/>
                <a:cs typeface="Calibri"/>
              </a:rPr>
              <a:t> </a:t>
            </a:r>
            <a:r>
              <a:rPr lang="pt-BR" sz="2600" b="1" i="1" dirty="0">
                <a:latin typeface="Calibri"/>
                <a:cs typeface="Calibri"/>
              </a:rPr>
              <a:t>otimização</a:t>
            </a:r>
            <a:r>
              <a:rPr lang="pt-BR" sz="2600" b="1" i="1" spc="-25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aplicáveis,</a:t>
            </a:r>
            <a:r>
              <a:rPr lang="pt-BR" sz="2600" spc="-55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mas,</a:t>
            </a:r>
            <a:r>
              <a:rPr lang="pt-BR" sz="2600" spc="-50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sem</a:t>
            </a:r>
            <a:r>
              <a:rPr lang="pt-BR" sz="2600" spc="-75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dúvida,</a:t>
            </a:r>
            <a:r>
              <a:rPr lang="pt-BR" sz="2600" spc="-55" dirty="0">
                <a:latin typeface="Calibri"/>
                <a:cs typeface="Calibri"/>
              </a:rPr>
              <a:t> </a:t>
            </a:r>
            <a:r>
              <a:rPr lang="pt-BR" sz="2600" b="1" i="1" dirty="0">
                <a:latin typeface="Calibri"/>
                <a:cs typeface="Calibri"/>
              </a:rPr>
              <a:t>os</a:t>
            </a:r>
            <a:r>
              <a:rPr lang="pt-BR" sz="2600" b="1" i="1" spc="-40" dirty="0">
                <a:latin typeface="Calibri"/>
                <a:cs typeface="Calibri"/>
              </a:rPr>
              <a:t> </a:t>
            </a:r>
            <a:r>
              <a:rPr lang="pt-BR" sz="2600" b="1" i="1" spc="-20" dirty="0">
                <a:latin typeface="Calibri"/>
                <a:cs typeface="Calibri"/>
              </a:rPr>
              <a:t>mais </a:t>
            </a:r>
            <a:r>
              <a:rPr lang="pt-BR" sz="2600" b="1" i="1" dirty="0">
                <a:latin typeface="Calibri"/>
                <a:cs typeface="Calibri"/>
              </a:rPr>
              <a:t>utilizados</a:t>
            </a:r>
            <a:r>
              <a:rPr lang="pt-BR" sz="2600" b="1" i="1" spc="-35" dirty="0">
                <a:latin typeface="Calibri"/>
                <a:cs typeface="Calibri"/>
              </a:rPr>
              <a:t> </a:t>
            </a:r>
            <a:r>
              <a:rPr lang="pt-BR" sz="2600" b="1" i="1" dirty="0">
                <a:latin typeface="Calibri"/>
                <a:cs typeface="Calibri"/>
              </a:rPr>
              <a:t>são</a:t>
            </a:r>
            <a:r>
              <a:rPr lang="pt-BR" sz="2600" b="1" i="1" spc="-25" dirty="0">
                <a:latin typeface="Calibri"/>
                <a:cs typeface="Calibri"/>
              </a:rPr>
              <a:t> </a:t>
            </a:r>
            <a:r>
              <a:rPr lang="pt-BR" sz="2600" b="1" i="1" dirty="0">
                <a:latin typeface="Calibri"/>
                <a:cs typeface="Calibri"/>
              </a:rPr>
              <a:t>aqueles</a:t>
            </a:r>
            <a:r>
              <a:rPr lang="pt-BR" sz="2600" b="1" i="1" spc="-45" dirty="0">
                <a:latin typeface="Calibri"/>
                <a:cs typeface="Calibri"/>
              </a:rPr>
              <a:t> </a:t>
            </a:r>
            <a:r>
              <a:rPr lang="pt-BR" sz="2600" b="1" i="1" dirty="0">
                <a:latin typeface="Calibri"/>
                <a:cs typeface="Calibri"/>
              </a:rPr>
              <a:t>baseados</a:t>
            </a:r>
            <a:r>
              <a:rPr lang="pt-BR" sz="2600" b="1" i="1" spc="-60" dirty="0">
                <a:latin typeface="Calibri"/>
                <a:cs typeface="Calibri"/>
              </a:rPr>
              <a:t> </a:t>
            </a:r>
            <a:r>
              <a:rPr lang="pt-BR" sz="2600" b="1" i="1" dirty="0">
                <a:latin typeface="Calibri"/>
                <a:cs typeface="Calibri"/>
              </a:rPr>
              <a:t>nas</a:t>
            </a:r>
            <a:r>
              <a:rPr lang="pt-BR" sz="2600" b="1" i="1" spc="-35" dirty="0">
                <a:latin typeface="Calibri"/>
                <a:cs typeface="Calibri"/>
              </a:rPr>
              <a:t> </a:t>
            </a:r>
            <a:r>
              <a:rPr lang="pt-BR" sz="2600" b="1" i="1" dirty="0">
                <a:latin typeface="Calibri"/>
                <a:cs typeface="Calibri"/>
              </a:rPr>
              <a:t>derivadas</a:t>
            </a:r>
            <a:r>
              <a:rPr lang="pt-BR" sz="2600" b="1" i="1" spc="-50" dirty="0">
                <a:latin typeface="Calibri"/>
                <a:cs typeface="Calibri"/>
              </a:rPr>
              <a:t> </a:t>
            </a:r>
            <a:r>
              <a:rPr lang="pt-BR" sz="2600" b="1" i="1" dirty="0">
                <a:latin typeface="Calibri"/>
                <a:cs typeface="Calibri"/>
              </a:rPr>
              <a:t>da</a:t>
            </a:r>
            <a:r>
              <a:rPr lang="pt-BR" sz="2600" b="1" i="1" spc="-30" dirty="0">
                <a:latin typeface="Calibri"/>
                <a:cs typeface="Calibri"/>
              </a:rPr>
              <a:t> </a:t>
            </a:r>
            <a:r>
              <a:rPr lang="pt-BR" sz="2600" b="1" i="1" dirty="0">
                <a:latin typeface="Calibri"/>
                <a:cs typeface="Calibri"/>
              </a:rPr>
              <a:t>função</a:t>
            </a:r>
            <a:r>
              <a:rPr lang="pt-BR" sz="2600" b="1" i="1" spc="-5" dirty="0">
                <a:latin typeface="Calibri"/>
                <a:cs typeface="Calibri"/>
              </a:rPr>
              <a:t> </a:t>
            </a:r>
            <a:r>
              <a:rPr lang="pt-BR" sz="2600" b="1" i="1" dirty="0">
                <a:latin typeface="Calibri"/>
                <a:cs typeface="Calibri"/>
              </a:rPr>
              <a:t>custo</a:t>
            </a:r>
            <a:r>
              <a:rPr lang="pt-BR" sz="2600" dirty="0">
                <a:latin typeface="Calibri"/>
                <a:cs typeface="Calibri"/>
              </a:rPr>
              <a:t>,</a:t>
            </a:r>
            <a:r>
              <a:rPr lang="pt-BR" sz="2600" spc="-5" dirty="0">
                <a:latin typeface="Calibri"/>
                <a:cs typeface="Calibri"/>
              </a:rPr>
              <a:t> </a:t>
            </a:r>
            <a:r>
              <a:rPr lang="pt-BR" sz="2600" spc="-50" dirty="0">
                <a:latin typeface="Cambria Math"/>
                <a:cs typeface="Cambria Math"/>
              </a:rPr>
              <a:t>𝐽(𝒘)</a:t>
            </a:r>
            <a:r>
              <a:rPr lang="pt-BR" sz="2600" dirty="0">
                <a:latin typeface="Cambria Math"/>
                <a:cs typeface="Cambria Math"/>
              </a:rPr>
              <a:t>	</a:t>
            </a:r>
            <a:r>
              <a:rPr lang="pt-BR" sz="2600" spc="-5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CE121605-9F57-76DC-2210-071896AF476D}"/>
                  </a:ext>
                </a:extLst>
              </p:cNvPr>
              <p:cNvSpPr txBox="1"/>
              <p:nvPr/>
            </p:nvSpPr>
            <p:spPr>
              <a:xfrm>
                <a:off x="5354066" y="4005263"/>
                <a:ext cx="1483868" cy="5605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BR" sz="28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BR" sz="280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pt-BR" sz="2800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lim>
                          </m:limLow>
                        </m:fName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8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CE121605-9F57-76DC-2210-071896AF47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4066" y="4005263"/>
                <a:ext cx="1483868" cy="56053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39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Aprendizado</a:t>
            </a:r>
            <a:r>
              <a:rPr spc="-105" dirty="0"/>
              <a:t> </a:t>
            </a:r>
            <a:r>
              <a:rPr dirty="0"/>
              <a:t>em</a:t>
            </a:r>
            <a:r>
              <a:rPr spc="-90" dirty="0"/>
              <a:t> </a:t>
            </a:r>
            <a:r>
              <a:rPr dirty="0"/>
              <a:t>Redes</a:t>
            </a:r>
            <a:r>
              <a:rPr spc="-95" dirty="0"/>
              <a:t> </a:t>
            </a:r>
            <a:r>
              <a:rPr spc="-10" dirty="0"/>
              <a:t>Neurais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04239" y="1698117"/>
            <a:ext cx="10525760" cy="1616468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254000" marR="95885" indent="-228600">
              <a:lnSpc>
                <a:spcPct val="80000"/>
              </a:lnSpc>
              <a:spcBef>
                <a:spcPts val="765"/>
              </a:spcBef>
              <a:buFont typeface="Arial"/>
              <a:buChar char="•"/>
              <a:tabLst>
                <a:tab pos="254000" algn="l"/>
              </a:tabLst>
            </a:pPr>
            <a:r>
              <a:rPr sz="2800" dirty="0">
                <a:latin typeface="Calibri"/>
                <a:cs typeface="Calibri"/>
              </a:rPr>
              <a:t>Dentre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esses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métodos,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existem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12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primeira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ordem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segunda ordem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54000" marR="17780" indent="-228600">
              <a:lnSpc>
                <a:spcPts val="2690"/>
              </a:lnSpc>
              <a:spcBef>
                <a:spcPts val="975"/>
              </a:spcBef>
              <a:buFont typeface="Arial"/>
              <a:buChar char="•"/>
              <a:tabLst>
                <a:tab pos="254000" algn="l"/>
              </a:tabLst>
            </a:pPr>
            <a:r>
              <a:rPr sz="2800" dirty="0">
                <a:latin typeface="Calibri"/>
                <a:cs typeface="Calibri"/>
              </a:rPr>
              <a:t>Os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métodos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primeira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ordem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são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baseados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nas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derivadas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parciais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de </a:t>
            </a:r>
            <a:r>
              <a:rPr sz="2800" dirty="0">
                <a:latin typeface="Calibri"/>
                <a:cs typeface="Calibri"/>
              </a:rPr>
              <a:t>primeira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ordem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13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função</a:t>
            </a:r>
            <a:r>
              <a:rPr sz="2800" b="1" i="1" spc="-11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custo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agrupadas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vetor</a:t>
            </a:r>
            <a:r>
              <a:rPr sz="2800" b="1" i="1" spc="-90" dirty="0">
                <a:latin typeface="Calibri"/>
                <a:cs typeface="Calibri"/>
              </a:rPr>
              <a:t> </a:t>
            </a:r>
            <a:r>
              <a:rPr sz="2800" b="1" i="1" spc="-10" dirty="0" err="1">
                <a:latin typeface="Calibri"/>
                <a:cs typeface="Calibri"/>
              </a:rPr>
              <a:t>gradiente</a:t>
            </a:r>
            <a:r>
              <a:rPr sz="2800" spc="-10" dirty="0">
                <a:latin typeface="Calibri"/>
                <a:cs typeface="Calibri"/>
              </a:rPr>
              <a:t>:</a:t>
            </a:r>
            <a:endParaRPr sz="1900" dirty="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16939" y="5496864"/>
            <a:ext cx="10990580" cy="113474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241300" marR="5080" indent="-228600">
              <a:lnSpc>
                <a:spcPts val="2690"/>
              </a:lnSpc>
              <a:spcBef>
                <a:spcPts val="7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Como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já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vimos,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gradiente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aponta</a:t>
            </a:r>
            <a:r>
              <a:rPr sz="2800" b="1" i="1" spc="-8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na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direção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8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maior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crescimento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spc="-25" dirty="0">
                <a:latin typeface="Calibri"/>
                <a:cs typeface="Calibri"/>
              </a:rPr>
              <a:t>da </a:t>
            </a:r>
            <a:r>
              <a:rPr sz="2800" b="1" i="1" dirty="0">
                <a:latin typeface="Calibri"/>
                <a:cs typeface="Calibri"/>
              </a:rPr>
              <a:t>função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portanto,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caminhar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em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sentido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contrário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ele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forma </a:t>
            </a:r>
            <a:r>
              <a:rPr sz="2800" dirty="0">
                <a:latin typeface="Calibri"/>
                <a:cs typeface="Calibri"/>
              </a:rPr>
              <a:t>adequada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buscar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iterativamente</a:t>
            </a:r>
            <a:r>
              <a:rPr sz="2800" b="1" i="1" spc="-4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a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minimização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função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custo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88453B8A-10D3-1946-3294-5BBF455789CE}"/>
                  </a:ext>
                </a:extLst>
              </p:cNvPr>
              <p:cNvSpPr txBox="1"/>
              <p:nvPr/>
            </p:nvSpPr>
            <p:spPr>
              <a:xfrm>
                <a:off x="5238521" y="3380315"/>
                <a:ext cx="1714957" cy="20508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b="0" i="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d>
                                      <m:dPr>
                                        <m:ctrlPr>
                                          <a:rPr lang="pt-B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pt-BR" b="1" i="1" smtClean="0">
                                            <a:latin typeface="Cambria Math" panose="02040503050406030204" pitchFamily="18" charset="0"/>
                                          </a:rPr>
                                          <m:t>𝒘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pt-B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b="0" i="1" smtClean="0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pt-BR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  <m:t>𝐽</m:t>
                                    </m:r>
                                    <m:d>
                                      <m:dPr>
                                        <m:ctrlPr>
                                          <a:rPr lang="pt-B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pt-BR" b="1" i="1" smtClean="0">
                                            <a:latin typeface="Cambria Math" panose="02040503050406030204" pitchFamily="18" charset="0"/>
                                          </a:rPr>
                                          <m:t>𝒘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pt-B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b="0" i="1" smtClean="0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pt-BR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  <m:e>
                                    <m:f>
                                      <m:fPr>
                                        <m:ctrlPr>
                                          <a:rPr lang="pt-B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pt-BR" b="0" i="1" smtClean="0"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r>
                                          <a:rPr lang="pt-BR" b="0" i="1" smtClean="0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d>
                                          <m:dPr>
                                            <m:ctrlPr>
                                              <a:rPr lang="pt-BR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pt-BR" b="1" i="1" smtClean="0">
                                                <a:latin typeface="Cambria Math" panose="02040503050406030204" pitchFamily="18" charset="0"/>
                                              </a:rPr>
                                              <m:t>𝒘</m:t>
                                            </m:r>
                                          </m:e>
                                        </m:d>
                                      </m:num>
                                      <m:den>
                                        <m:r>
                                          <a:rPr lang="pt-BR" b="0" i="1" smtClean="0"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sSub>
                                          <m:sSubPr>
                                            <m:ctrlPr>
                                              <a:rPr lang="pt-BR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pt-BR" b="0" i="1" smtClean="0">
                                                <a:latin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e>
                                          <m:sub>
                                            <m:r>
                                              <a:rPr lang="pt-BR" b="0" i="1" smtClean="0">
                                                <a:latin typeface="Cambria Math" panose="02040503050406030204" pitchFamily="18" charset="0"/>
                                              </a:rPr>
                                              <m:t>𝐾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88453B8A-10D3-1946-3294-5BBF455789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8521" y="3380315"/>
                <a:ext cx="1714957" cy="205081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700976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Aprendizado</a:t>
            </a:r>
            <a:r>
              <a:rPr spc="-105" dirty="0"/>
              <a:t> </a:t>
            </a:r>
            <a:r>
              <a:rPr dirty="0"/>
              <a:t>em</a:t>
            </a:r>
            <a:r>
              <a:rPr spc="-90" dirty="0"/>
              <a:t> </a:t>
            </a:r>
            <a:r>
              <a:rPr dirty="0"/>
              <a:t>Redes</a:t>
            </a:r>
            <a:r>
              <a:rPr spc="-95" dirty="0"/>
              <a:t> </a:t>
            </a:r>
            <a:r>
              <a:rPr spc="-10" dirty="0"/>
              <a:t>Neurais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6"/>
              <p:cNvSpPr txBox="1"/>
              <p:nvPr/>
            </p:nvSpPr>
            <p:spPr>
              <a:xfrm>
                <a:off x="437134" y="1338389"/>
                <a:ext cx="10452100" cy="2659380"/>
              </a:xfrm>
              <a:prstGeom prst="rect">
                <a:avLst/>
              </a:prstGeom>
            </p:spPr>
            <p:txBody>
              <a:bodyPr vert="horz" wrap="square" lIns="0" tIns="86995" rIns="0" bIns="0" rtlCol="0">
                <a:spAutoFit/>
              </a:bodyPr>
              <a:lstStyle/>
              <a:p>
                <a:pPr marL="241300" indent="-228600">
                  <a:lnSpc>
                    <a:spcPct val="100000"/>
                  </a:lnSpc>
                  <a:spcBef>
                    <a:spcPts val="685"/>
                  </a:spcBef>
                  <a:buFont typeface="Arial"/>
                  <a:buChar char="•"/>
                  <a:tabLst>
                    <a:tab pos="241300" algn="l"/>
                  </a:tabLst>
                </a:pPr>
                <a:r>
                  <a:rPr lang="pt-BR" sz="2800" dirty="0">
                    <a:latin typeface="Calibri"/>
                    <a:cs typeface="Calibri"/>
                  </a:rPr>
                  <a:t>Desta</a:t>
                </a:r>
                <a:r>
                  <a:rPr lang="pt-BR" sz="2800" spc="-7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maneira,</a:t>
                </a:r>
                <a:r>
                  <a:rPr lang="pt-BR" sz="2800" spc="-7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temos</a:t>
                </a:r>
                <a:r>
                  <a:rPr lang="pt-BR" sz="2800" spc="-7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a</a:t>
                </a:r>
                <a:r>
                  <a:rPr lang="pt-BR" sz="2800" spc="-95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seguinte</a:t>
                </a:r>
                <a:r>
                  <a:rPr lang="pt-BR" sz="2800" spc="-125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latin typeface="Calibri"/>
                    <a:cs typeface="Calibri"/>
                  </a:rPr>
                  <a:t>equação</a:t>
                </a:r>
                <a:r>
                  <a:rPr lang="pt-BR" sz="2800" b="1" i="1" spc="-95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latin typeface="Calibri"/>
                    <a:cs typeface="Calibri"/>
                  </a:rPr>
                  <a:t>de</a:t>
                </a:r>
                <a:r>
                  <a:rPr lang="pt-BR" sz="2800" b="1" i="1" spc="-80" dirty="0">
                    <a:latin typeface="Calibri"/>
                    <a:cs typeface="Calibri"/>
                  </a:rPr>
                  <a:t> </a:t>
                </a:r>
                <a:r>
                  <a:rPr lang="pt-BR" sz="2800" b="1" i="1" spc="-10" dirty="0">
                    <a:latin typeface="Calibri"/>
                    <a:cs typeface="Calibri"/>
                  </a:rPr>
                  <a:t>atualização</a:t>
                </a:r>
                <a:r>
                  <a:rPr lang="pt-BR" sz="2800" b="1" i="1" spc="-80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latin typeface="Calibri"/>
                    <a:cs typeface="Calibri"/>
                  </a:rPr>
                  <a:t>dos</a:t>
                </a:r>
                <a:r>
                  <a:rPr lang="pt-BR" sz="2800" b="1" i="1" spc="-95" dirty="0">
                    <a:latin typeface="Calibri"/>
                    <a:cs typeface="Calibri"/>
                  </a:rPr>
                  <a:t> </a:t>
                </a:r>
                <a:r>
                  <a:rPr lang="pt-BR" sz="2800" b="1" i="1" spc="-10" dirty="0">
                    <a:latin typeface="Calibri"/>
                    <a:cs typeface="Calibri"/>
                  </a:rPr>
                  <a:t>pesos</a:t>
                </a:r>
                <a:endParaRPr lang="pt-BR" sz="2800" dirty="0">
                  <a:latin typeface="Calibri"/>
                  <a:cs typeface="Calibri"/>
                </a:endParaRPr>
              </a:p>
              <a:p>
                <a:pPr marL="395605" algn="ctr">
                  <a:lnSpc>
                    <a:spcPct val="100000"/>
                  </a:lnSpc>
                  <a:spcBef>
                    <a:spcPts val="585"/>
                  </a:spcBef>
                  <a:tabLst>
                    <a:tab pos="824230" algn="l"/>
                    <a:tab pos="1898650" algn="l"/>
                    <a:tab pos="2724785" algn="l"/>
                    <a:tab pos="3157855" algn="l"/>
                    <a:tab pos="4234815" algn="l"/>
                    <a:tab pos="4664710" algn="l"/>
                    <a:tab pos="517906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i="1" spc="-50" dirty="0" smtClean="0">
                          <a:latin typeface="Cambria Math" panose="02040503050406030204" pitchFamily="18" charset="0"/>
                          <a:cs typeface="Cambria Math"/>
                        </a:rPr>
                        <m:t>𝒘</m:t>
                      </m:r>
                      <m:r>
                        <a:rPr lang="pt-BR" sz="2800" i="1" dirty="0">
                          <a:latin typeface="Cambria Math" panose="02040503050406030204" pitchFamily="18" charset="0"/>
                          <a:cs typeface="Cambria Math"/>
                        </a:rPr>
                        <m:t>	</m:t>
                      </m:r>
                      <m:d>
                        <m:dPr>
                          <m:ctrlPr>
                            <a:rPr lang="pt-BR" sz="2800" b="0" i="1" dirty="0" smtClean="0"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dPr>
                        <m:e>
                          <m:r>
                            <a:rPr lang="pt-BR" sz="2800" i="1" dirty="0">
                              <a:latin typeface="Cambria Math" panose="02040503050406030204" pitchFamily="18" charset="0"/>
                              <a:cs typeface="Cambria Math"/>
                            </a:rPr>
                            <m:t>𝑘</m:t>
                          </m:r>
                          <m:r>
                            <a:rPr lang="pt-BR" sz="2800" b="0" i="1" dirty="0" smtClean="0">
                              <a:latin typeface="Cambria Math" panose="02040503050406030204" pitchFamily="18" charset="0"/>
                              <a:cs typeface="Cambria Math"/>
                            </a:rPr>
                            <m:t>+</m:t>
                          </m:r>
                          <m:r>
                            <a:rPr lang="pt-BR" sz="2800" i="1" spc="-50" dirty="0">
                              <a:latin typeface="Cambria Math" panose="02040503050406030204" pitchFamily="18" charset="0"/>
                              <a:cs typeface="Cambria Math"/>
                            </a:rPr>
                            <m:t>1</m:t>
                          </m:r>
                        </m:e>
                      </m:d>
                      <m:r>
                        <a:rPr lang="pt-BR" sz="2800" i="1" dirty="0">
                          <a:latin typeface="Cambria Math" panose="02040503050406030204" pitchFamily="18" charset="0"/>
                          <a:cs typeface="Cambria Math"/>
                        </a:rPr>
                        <m:t>←</m:t>
                      </m:r>
                      <m:r>
                        <a:rPr lang="pt-BR" sz="2800" i="1" spc="-50" dirty="0">
                          <a:latin typeface="Cambria Math" panose="02040503050406030204" pitchFamily="18" charset="0"/>
                          <a:cs typeface="Cambria Math"/>
                        </a:rPr>
                        <m:t>𝒘</m:t>
                      </m:r>
                      <m:d>
                        <m:dPr>
                          <m:ctrlPr>
                            <a:rPr lang="pt-BR" sz="2800" b="0" i="1" spc="-50" dirty="0" smtClean="0"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dPr>
                        <m:e>
                          <m:r>
                            <a:rPr lang="pt-BR" sz="2800" i="1" spc="-50" dirty="0">
                              <a:latin typeface="Cambria Math" panose="02040503050406030204" pitchFamily="18" charset="0"/>
                              <a:cs typeface="Cambria Math"/>
                            </a:rPr>
                            <m:t>𝑘</m:t>
                          </m:r>
                        </m:e>
                      </m:d>
                      <m:r>
                        <a:rPr lang="pt-BR" sz="2800" i="1" dirty="0">
                          <a:latin typeface="Cambria Math" panose="02040503050406030204" pitchFamily="18" charset="0"/>
                          <a:cs typeface="Cambria Math"/>
                        </a:rPr>
                        <m:t>−</m:t>
                      </m:r>
                      <m:r>
                        <a:rPr lang="pt-BR" sz="2800" i="1" spc="-25" dirty="0">
                          <a:latin typeface="Cambria Math" panose="02040503050406030204" pitchFamily="18" charset="0"/>
                          <a:cs typeface="Cambria Math"/>
                        </a:rPr>
                        <m:t>𝛼𝛻</m:t>
                      </m:r>
                      <m:r>
                        <a:rPr lang="pt-BR" sz="2800" i="1" spc="-25" dirty="0">
                          <a:latin typeface="Cambria Math" panose="02040503050406030204" pitchFamily="18" charset="0"/>
                          <a:cs typeface="Cambria Math"/>
                        </a:rPr>
                        <m:t>𝐽</m:t>
                      </m:r>
                      <m:r>
                        <a:rPr lang="pt-BR" sz="2800" i="1" dirty="0">
                          <a:latin typeface="Cambria Math" panose="02040503050406030204" pitchFamily="18" charset="0"/>
                          <a:cs typeface="Cambria Math"/>
                        </a:rPr>
                        <m:t>	</m:t>
                      </m:r>
                      <m:d>
                        <m:dPr>
                          <m:ctrlPr>
                            <a:rPr lang="pt-BR" sz="28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1" i="1" dirty="0" smtClean="0">
                              <a:latin typeface="Cambria Math" panose="02040503050406030204" pitchFamily="18" charset="0"/>
                            </a:rPr>
                            <m:t>𝒘</m:t>
                          </m:r>
                          <m:d>
                            <m:dPr>
                              <m:ctrlP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e>
                      </m:d>
                      <m:r>
                        <a:rPr lang="pt-BR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pt-BR" sz="2800" dirty="0">
                  <a:latin typeface="Calibri"/>
                  <a:cs typeface="Calibri"/>
                </a:endParaRPr>
              </a:p>
              <a:p>
                <a:pPr marL="12700">
                  <a:lnSpc>
                    <a:spcPct val="100000"/>
                  </a:lnSpc>
                  <a:spcBef>
                    <a:spcPts val="425"/>
                  </a:spcBef>
                </a:pPr>
                <a:r>
                  <a:rPr lang="pt-BR" sz="2800" dirty="0">
                    <a:latin typeface="Calibri"/>
                    <a:cs typeface="Calibri"/>
                  </a:rPr>
                  <a:t>onde</a:t>
                </a:r>
                <a:r>
                  <a:rPr lang="pt-BR" sz="2800" spc="-3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mbria Math"/>
                    <a:cs typeface="Cambria Math"/>
                  </a:rPr>
                  <a:t>𝛼</a:t>
                </a:r>
                <a:r>
                  <a:rPr lang="pt-BR" sz="2800" spc="70" dirty="0">
                    <a:latin typeface="Cambria Math"/>
                    <a:cs typeface="Cambria Math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é</a:t>
                </a:r>
                <a:r>
                  <a:rPr lang="pt-BR" sz="2800" spc="-4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o</a:t>
                </a:r>
                <a:r>
                  <a:rPr lang="pt-BR" sz="2800" spc="-45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latin typeface="Calibri"/>
                    <a:cs typeface="Calibri"/>
                  </a:rPr>
                  <a:t>passo</a:t>
                </a:r>
                <a:r>
                  <a:rPr lang="pt-BR" sz="2800" b="1" i="1" spc="-35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latin typeface="Calibri"/>
                    <a:cs typeface="Calibri"/>
                  </a:rPr>
                  <a:t>de</a:t>
                </a:r>
                <a:r>
                  <a:rPr lang="pt-BR" sz="2800" b="1" i="1" spc="-40" dirty="0">
                    <a:latin typeface="Calibri"/>
                    <a:cs typeface="Calibri"/>
                  </a:rPr>
                  <a:t> </a:t>
                </a:r>
                <a:r>
                  <a:rPr lang="pt-BR" sz="2800" b="1" i="1" spc="-10" dirty="0">
                    <a:latin typeface="Calibri"/>
                    <a:cs typeface="Calibri"/>
                  </a:rPr>
                  <a:t>aprendizagem</a:t>
                </a:r>
                <a:r>
                  <a:rPr lang="pt-BR" sz="2800" b="1" i="1" spc="-3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e</a:t>
                </a:r>
                <a:r>
                  <a:rPr lang="pt-BR" sz="2800" spc="-3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mbria Math"/>
                    <a:cs typeface="Cambria Math"/>
                  </a:rPr>
                  <a:t>𝑘</a:t>
                </a:r>
                <a:r>
                  <a:rPr lang="pt-BR" sz="2800" spc="60" dirty="0">
                    <a:latin typeface="Cambria Math"/>
                    <a:cs typeface="Cambria Math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é</a:t>
                </a:r>
                <a:r>
                  <a:rPr lang="pt-BR" sz="2800" spc="-4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a</a:t>
                </a:r>
                <a:r>
                  <a:rPr lang="pt-BR" sz="2800" spc="-35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iteração</a:t>
                </a:r>
                <a:r>
                  <a:rPr lang="pt-BR" sz="2800" spc="-6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de</a:t>
                </a:r>
                <a:r>
                  <a:rPr lang="pt-BR" sz="2800" spc="-35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atualização.</a:t>
                </a:r>
                <a:endParaRPr lang="pt-BR" sz="2800" dirty="0">
                  <a:latin typeface="Calibri"/>
                  <a:cs typeface="Calibri"/>
                </a:endParaRPr>
              </a:p>
              <a:p>
                <a:pPr marL="241300" marR="5080" indent="-228600">
                  <a:lnSpc>
                    <a:spcPct val="80000"/>
                  </a:lnSpc>
                  <a:spcBef>
                    <a:spcPts val="994"/>
                  </a:spcBef>
                  <a:buFont typeface="Arial"/>
                  <a:buChar char="•"/>
                  <a:tabLst>
                    <a:tab pos="241300" algn="l"/>
                  </a:tabLst>
                </a:pPr>
                <a:r>
                  <a:rPr lang="pt-BR" sz="2800" dirty="0">
                    <a:latin typeface="Calibri"/>
                    <a:cs typeface="Calibri"/>
                  </a:rPr>
                  <a:t>Já</a:t>
                </a:r>
                <a:r>
                  <a:rPr lang="pt-BR" sz="2800" spc="-7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os</a:t>
                </a:r>
                <a:r>
                  <a:rPr lang="pt-BR" sz="2800" spc="-7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métodos</a:t>
                </a:r>
                <a:r>
                  <a:rPr lang="pt-BR" sz="2800" spc="-6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de</a:t>
                </a:r>
                <a:r>
                  <a:rPr lang="pt-BR" sz="2800" spc="-80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latin typeface="Calibri"/>
                    <a:cs typeface="Calibri"/>
                  </a:rPr>
                  <a:t>segunda</a:t>
                </a:r>
                <a:r>
                  <a:rPr lang="pt-BR" sz="2800" b="1" i="1" spc="-85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latin typeface="Calibri"/>
                    <a:cs typeface="Calibri"/>
                  </a:rPr>
                  <a:t>ordem</a:t>
                </a:r>
                <a:r>
                  <a:rPr lang="pt-BR" sz="2800" dirty="0">
                    <a:latin typeface="Calibri"/>
                    <a:cs typeface="Calibri"/>
                  </a:rPr>
                  <a:t>,</a:t>
                </a:r>
                <a:r>
                  <a:rPr lang="pt-BR" sz="2800" spc="-6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são</a:t>
                </a:r>
                <a:r>
                  <a:rPr lang="pt-BR" sz="2800" spc="-7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baseados</a:t>
                </a:r>
                <a:r>
                  <a:rPr lang="pt-BR" sz="2800" spc="-5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na</a:t>
                </a:r>
                <a:r>
                  <a:rPr lang="pt-BR" sz="2800" spc="-75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informação</a:t>
                </a:r>
                <a:r>
                  <a:rPr lang="pt-BR" sz="2800" spc="-75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trazida </a:t>
                </a:r>
                <a:r>
                  <a:rPr lang="pt-BR" sz="2800" dirty="0">
                    <a:latin typeface="Calibri"/>
                    <a:cs typeface="Calibri"/>
                  </a:rPr>
                  <a:t>pela</a:t>
                </a:r>
                <a:r>
                  <a:rPr lang="pt-BR" sz="2800" spc="-90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latin typeface="Calibri"/>
                    <a:cs typeface="Calibri"/>
                  </a:rPr>
                  <a:t>derivada</a:t>
                </a:r>
                <a:r>
                  <a:rPr lang="pt-BR" sz="2800" b="1" i="1" spc="-70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latin typeface="Calibri"/>
                    <a:cs typeface="Calibri"/>
                  </a:rPr>
                  <a:t>parcial</a:t>
                </a:r>
                <a:r>
                  <a:rPr lang="pt-BR" sz="2800" b="1" i="1" spc="-95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latin typeface="Calibri"/>
                    <a:cs typeface="Calibri"/>
                  </a:rPr>
                  <a:t>de</a:t>
                </a:r>
                <a:r>
                  <a:rPr lang="pt-BR" sz="2800" b="1" i="1" spc="-75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latin typeface="Calibri"/>
                    <a:cs typeface="Calibri"/>
                  </a:rPr>
                  <a:t>segunda</a:t>
                </a:r>
                <a:r>
                  <a:rPr lang="pt-BR" sz="2800" b="1" i="1" spc="-90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latin typeface="Calibri"/>
                    <a:cs typeface="Calibri"/>
                  </a:rPr>
                  <a:t>ordem</a:t>
                </a:r>
                <a:r>
                  <a:rPr lang="pt-BR" sz="2800" b="1" i="1" spc="-80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latin typeface="Calibri"/>
                    <a:cs typeface="Calibri"/>
                  </a:rPr>
                  <a:t>da</a:t>
                </a:r>
                <a:r>
                  <a:rPr lang="pt-BR" sz="2800" b="1" i="1" spc="-85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latin typeface="Calibri"/>
                    <a:cs typeface="Calibri"/>
                  </a:rPr>
                  <a:t>função</a:t>
                </a:r>
                <a:r>
                  <a:rPr lang="pt-BR" sz="2800" b="1" i="1" spc="-90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latin typeface="Calibri"/>
                    <a:cs typeface="Calibri"/>
                  </a:rPr>
                  <a:t>custo</a:t>
                </a:r>
                <a:r>
                  <a:rPr lang="pt-BR" sz="2800" dirty="0">
                    <a:latin typeface="Calibri"/>
                    <a:cs typeface="Calibri"/>
                  </a:rPr>
                  <a:t>.</a:t>
                </a:r>
                <a:r>
                  <a:rPr lang="pt-BR" sz="2800" spc="-90" dirty="0">
                    <a:latin typeface="Calibri"/>
                    <a:cs typeface="Calibri"/>
                  </a:rPr>
                  <a:t> </a:t>
                </a:r>
                <a:r>
                  <a:rPr lang="pt-BR" sz="2800" spc="-20" dirty="0">
                    <a:latin typeface="Calibri"/>
                    <a:cs typeface="Calibri"/>
                  </a:rPr>
                  <a:t>Essa </a:t>
                </a:r>
                <a:r>
                  <a:rPr lang="pt-BR" sz="2800" spc="-10" dirty="0">
                    <a:latin typeface="Calibri"/>
                    <a:cs typeface="Calibri"/>
                  </a:rPr>
                  <a:t>informação</a:t>
                </a:r>
                <a:r>
                  <a:rPr lang="pt-BR" sz="2800" spc="-10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está</a:t>
                </a:r>
                <a:r>
                  <a:rPr lang="pt-BR" sz="2800" spc="-9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contida</a:t>
                </a:r>
                <a:r>
                  <a:rPr lang="pt-BR" sz="2800" spc="-10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na</a:t>
                </a:r>
                <a:r>
                  <a:rPr lang="pt-BR" sz="2800" spc="-140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latin typeface="Calibri"/>
                    <a:cs typeface="Calibri"/>
                  </a:rPr>
                  <a:t>matriz</a:t>
                </a:r>
                <a:r>
                  <a:rPr lang="pt-BR" sz="2800" b="1" i="1" spc="-95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latin typeface="Calibri"/>
                    <a:cs typeface="Calibri"/>
                  </a:rPr>
                  <a:t>Hessiana</a:t>
                </a:r>
                <a:r>
                  <a:rPr lang="pt-BR" sz="2800" dirty="0">
                    <a:latin typeface="Calibri"/>
                    <a:cs typeface="Calibri"/>
                  </a:rPr>
                  <a:t>,</a:t>
                </a:r>
                <a:r>
                  <a:rPr lang="pt-BR" sz="2800" spc="-110" dirty="0">
                    <a:latin typeface="Calibri"/>
                    <a:cs typeface="Calibri"/>
                  </a:rPr>
                  <a:t> </a:t>
                </a:r>
                <a:r>
                  <a:rPr lang="pt-BR" sz="2800" spc="-25" dirty="0">
                    <a:latin typeface="Cambria Math"/>
                    <a:cs typeface="Cambria Math"/>
                  </a:rPr>
                  <a:t>𝑯</a:t>
                </a:r>
                <a:r>
                  <a:rPr lang="pt-BR" sz="2800" spc="-25" dirty="0">
                    <a:latin typeface="Calibri"/>
                    <a:cs typeface="Calibri"/>
                  </a:rPr>
                  <a:t>: 	</a:t>
                </a:r>
                <a:endParaRPr sz="28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6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134" y="1338389"/>
                <a:ext cx="10452100" cy="2659380"/>
              </a:xfrm>
              <a:prstGeom prst="rect">
                <a:avLst/>
              </a:prstGeom>
              <a:blipFill>
                <a:blip r:embed="rId2"/>
                <a:stretch>
                  <a:fillRect l="-1984" t="-688" r="-1809" b="-711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object 41"/>
          <p:cNvSpPr txBox="1"/>
          <p:nvPr/>
        </p:nvSpPr>
        <p:spPr>
          <a:xfrm>
            <a:off x="10133456" y="4961890"/>
            <a:ext cx="1747520" cy="6680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240" marR="5080" indent="-3175" algn="just">
              <a:lnSpc>
                <a:spcPct val="100400"/>
              </a:lnSpc>
              <a:spcBef>
                <a:spcPts val="95"/>
              </a:spcBef>
            </a:pPr>
            <a:r>
              <a:rPr sz="1400" b="1" dirty="0">
                <a:latin typeface="Calibri"/>
                <a:cs typeface="Calibri"/>
              </a:rPr>
              <a:t>OBS</a:t>
            </a:r>
            <a:r>
              <a:rPr sz="1400" dirty="0">
                <a:latin typeface="Calibri"/>
                <a:cs typeface="Calibri"/>
              </a:rPr>
              <a:t>.: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matriz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Hessiana </a:t>
            </a:r>
            <a:r>
              <a:rPr sz="1400" dirty="0">
                <a:latin typeface="Calibri"/>
                <a:cs typeface="Calibri"/>
              </a:rPr>
              <a:t>é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uma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matriz</a:t>
            </a:r>
            <a:r>
              <a:rPr sz="1400" spc="28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quadrada </a:t>
            </a:r>
            <a:r>
              <a:rPr sz="1400" dirty="0">
                <a:latin typeface="Calibri"/>
                <a:cs typeface="Calibri"/>
              </a:rPr>
              <a:t>com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dimensões </a:t>
            </a:r>
            <a:r>
              <a:rPr sz="1400" dirty="0">
                <a:latin typeface="Cambria Math"/>
                <a:cs typeface="Cambria Math"/>
              </a:rPr>
              <a:t>𝐾</a:t>
            </a:r>
            <a:r>
              <a:rPr sz="1400" spc="15" dirty="0">
                <a:latin typeface="Cambria Math"/>
                <a:cs typeface="Cambria Math"/>
              </a:rPr>
              <a:t> </a:t>
            </a:r>
            <a:r>
              <a:rPr sz="1400" dirty="0">
                <a:latin typeface="Cambria Math"/>
                <a:cs typeface="Cambria Math"/>
              </a:rPr>
              <a:t>×</a:t>
            </a:r>
            <a:r>
              <a:rPr sz="1400" spc="-5" dirty="0">
                <a:latin typeface="Cambria Math"/>
                <a:cs typeface="Cambria Math"/>
              </a:rPr>
              <a:t> </a:t>
            </a:r>
            <a:r>
              <a:rPr sz="1400" spc="-25" dirty="0">
                <a:latin typeface="Cambria Math"/>
                <a:cs typeface="Cambria Math"/>
              </a:rPr>
              <a:t>𝐾</a:t>
            </a:r>
            <a:r>
              <a:rPr sz="1400" spc="-25" dirty="0">
                <a:latin typeface="Calibri"/>
                <a:cs typeface="Calibri"/>
              </a:rPr>
              <a:t>.</a:t>
            </a:r>
            <a:endParaRPr sz="140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CaixaDeTexto 41">
                <a:extLst>
                  <a:ext uri="{FF2B5EF4-FFF2-40B4-BE49-F238E27FC236}">
                    <a16:creationId xmlns:a16="http://schemas.microsoft.com/office/drawing/2014/main" id="{8C0684F6-665A-42A5-4CA4-6790D5704282}"/>
                  </a:ext>
                </a:extLst>
              </p:cNvPr>
              <p:cNvSpPr txBox="1"/>
              <p:nvPr/>
            </p:nvSpPr>
            <p:spPr>
              <a:xfrm>
                <a:off x="2307329" y="4038600"/>
                <a:ext cx="6711709" cy="26511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200" b="1" i="1" smtClean="0">
                          <a:latin typeface="Cambria Math" panose="02040503050406030204" pitchFamily="18" charset="0"/>
                        </a:rPr>
                        <m:t>𝑯</m:t>
                      </m:r>
                      <m:d>
                        <m:dPr>
                          <m:ctrlPr>
                            <a:rPr lang="pt-BR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2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</m:d>
                      <m:r>
                        <a:rPr lang="pt-BR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2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pt-BR" sz="2200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p>
                          <m:r>
                            <a:rPr lang="pt-BR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2200" b="0" i="1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pt-BR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2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</m:d>
                      <m:r>
                        <a:rPr lang="pt-BR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pt-BR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</m:e>
                                      <m:sup>
                                        <m: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pt-BR" sz="2200" b="0" i="1" smtClean="0">
                                        <a:latin typeface="Cambria Math" panose="02040503050406030204" pitchFamily="18" charset="0"/>
                                      </a:rPr>
                                      <m:t>𝐽</m:t>
                                    </m:r>
                                    <m:d>
                                      <m:dPr>
                                        <m:ctrlP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pt-BR" sz="2200" b="1" i="1" smtClean="0">
                                            <a:latin typeface="Cambria Math" panose="02040503050406030204" pitchFamily="18" charset="0"/>
                                          </a:rPr>
                                          <m:t>𝒘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pt-BR" sz="2200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Sup>
                                      <m:sSubSupPr>
                                        <m:ctrlP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pt-BR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</m:e>
                                      <m:sup>
                                        <m: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pt-BR" sz="2200" b="0" i="1" smtClean="0">
                                        <a:latin typeface="Cambria Math" panose="02040503050406030204" pitchFamily="18" charset="0"/>
                                      </a:rPr>
                                      <m:t>𝐽</m:t>
                                    </m:r>
                                    <m:d>
                                      <m:dPr>
                                        <m:ctrlP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pt-BR" sz="2200" b="1" i="1" smtClean="0">
                                            <a:latin typeface="Cambria Math" panose="02040503050406030204" pitchFamily="18" charset="0"/>
                                          </a:rPr>
                                          <m:t>𝒘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pt-BR" sz="2200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pt-BR" sz="2200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r>
                                  <a:rPr lang="pt-BR" sz="2200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pt-BR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</m:e>
                                      <m:sup>
                                        <m: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pt-BR" sz="2200" b="0" i="1" smtClean="0">
                                        <a:latin typeface="Cambria Math" panose="02040503050406030204" pitchFamily="18" charset="0"/>
                                      </a:rPr>
                                      <m:t>𝐽</m:t>
                                    </m:r>
                                    <m:d>
                                      <m:dPr>
                                        <m:ctrlP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pt-BR" sz="2200" b="1" i="1" smtClean="0">
                                            <a:latin typeface="Cambria Math" panose="02040503050406030204" pitchFamily="18" charset="0"/>
                                          </a:rPr>
                                          <m:t>𝒘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pt-BR" sz="2200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pt-BR" sz="2200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pt-BR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</m:e>
                                      <m:sup>
                                        <m: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pt-BR" sz="2200" b="0" i="1" smtClean="0">
                                        <a:latin typeface="Cambria Math" panose="02040503050406030204" pitchFamily="18" charset="0"/>
                                      </a:rPr>
                                      <m:t>𝐽</m:t>
                                    </m:r>
                                    <m:d>
                                      <m:dPr>
                                        <m:ctrlP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pt-BR" sz="2200" b="1" i="1" smtClean="0">
                                            <a:latin typeface="Cambria Math" panose="02040503050406030204" pitchFamily="18" charset="0"/>
                                          </a:rPr>
                                          <m:t>𝒘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pt-BR" sz="2200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pt-BR" sz="2200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pt-BR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</m:e>
                                      <m:sup>
                                        <m: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pt-BR" sz="2200" b="0" i="1" smtClean="0">
                                        <a:latin typeface="Cambria Math" panose="02040503050406030204" pitchFamily="18" charset="0"/>
                                      </a:rPr>
                                      <m:t>𝐽</m:t>
                                    </m:r>
                                    <m:d>
                                      <m:dPr>
                                        <m:ctrlP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pt-BR" sz="2200" b="1" i="1" smtClean="0">
                                            <a:latin typeface="Cambria Math" panose="02040503050406030204" pitchFamily="18" charset="0"/>
                                          </a:rPr>
                                          <m:t>𝒘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pt-BR" sz="2200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Sup>
                                      <m:sSubSupPr>
                                        <m:ctrlP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  <m:sup>
                                        <m: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den>
                                </m:f>
                              </m:e>
                              <m:e>
                                <m:r>
                                  <a:rPr lang="pt-BR" sz="2200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pt-BR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</m:e>
                                      <m:sup>
                                        <m: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pt-BR" sz="2200" b="0" i="1" smtClean="0">
                                        <a:latin typeface="Cambria Math" panose="02040503050406030204" pitchFamily="18" charset="0"/>
                                      </a:rPr>
                                      <m:t>𝐽</m:t>
                                    </m:r>
                                    <m:d>
                                      <m:dPr>
                                        <m:ctrlP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pt-BR" sz="2200" b="1" i="1" smtClean="0">
                                            <a:latin typeface="Cambria Math" panose="02040503050406030204" pitchFamily="18" charset="0"/>
                                          </a:rPr>
                                          <m:t>𝒘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pt-BR" sz="2200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pt-BR" sz="2200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pt-BR" sz="22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pt-BR" sz="22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pt-BR" sz="2200" b="0" i="1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pt-BR" sz="22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pt-BR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</m:e>
                                      <m:sup>
                                        <m: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pt-BR" sz="2200" b="0" i="1" smtClean="0">
                                        <a:latin typeface="Cambria Math" panose="02040503050406030204" pitchFamily="18" charset="0"/>
                                      </a:rPr>
                                      <m:t>𝐽</m:t>
                                    </m:r>
                                    <m:d>
                                      <m:dPr>
                                        <m:ctrlP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pt-BR" sz="2200" b="1" i="1" smtClean="0">
                                            <a:latin typeface="Cambria Math" panose="02040503050406030204" pitchFamily="18" charset="0"/>
                                          </a:rPr>
                                          <m:t>𝒘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pt-BR" sz="2200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sub>
                                    </m:sSub>
                                    <m:r>
                                      <a:rPr lang="pt-BR" sz="2200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pt-BR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</m:e>
                                      <m:sup>
                                        <m: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pt-BR" sz="2200" b="0" i="1" smtClean="0">
                                        <a:latin typeface="Cambria Math" panose="02040503050406030204" pitchFamily="18" charset="0"/>
                                      </a:rPr>
                                      <m:t>𝐽</m:t>
                                    </m:r>
                                    <m:d>
                                      <m:dPr>
                                        <m:ctrlP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pt-BR" sz="2200" b="1" i="1" smtClean="0">
                                            <a:latin typeface="Cambria Math" panose="02040503050406030204" pitchFamily="18" charset="0"/>
                                          </a:rPr>
                                          <m:t>𝒘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pt-BR" sz="2200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sub>
                                    </m:sSub>
                                    <m:r>
                                      <a:rPr lang="pt-BR" sz="2200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r>
                                  <a:rPr lang="pt-BR" sz="2200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pt-BR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</m:e>
                                      <m:sup>
                                        <m: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pt-BR" sz="2200" b="0" i="1" smtClean="0">
                                        <a:latin typeface="Cambria Math" panose="02040503050406030204" pitchFamily="18" charset="0"/>
                                      </a:rPr>
                                      <m:t>𝐽</m:t>
                                    </m:r>
                                    <m:d>
                                      <m:dPr>
                                        <m:ctrlP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pt-BR" sz="2200" b="1" i="1" smtClean="0">
                                            <a:latin typeface="Cambria Math" panose="02040503050406030204" pitchFamily="18" charset="0"/>
                                          </a:rPr>
                                          <m:t>𝒘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pt-BR" sz="2200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Sup>
                                      <m:sSubSupPr>
                                        <m:ctrlP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sub>
                                      <m:sup>
                                        <m: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sz="2200" dirty="0"/>
              </a:p>
            </p:txBody>
          </p:sp>
        </mc:Choice>
        <mc:Fallback xmlns="">
          <p:sp>
            <p:nvSpPr>
              <p:cNvPr id="42" name="CaixaDeTexto 41">
                <a:extLst>
                  <a:ext uri="{FF2B5EF4-FFF2-40B4-BE49-F238E27FC236}">
                    <a16:creationId xmlns:a16="http://schemas.microsoft.com/office/drawing/2014/main" id="{8C0684F6-665A-42A5-4CA4-6790D57042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7329" y="4038600"/>
                <a:ext cx="6711709" cy="2651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39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Aprendizado</a:t>
            </a:r>
            <a:r>
              <a:rPr spc="-105" dirty="0"/>
              <a:t> </a:t>
            </a:r>
            <a:r>
              <a:rPr dirty="0"/>
              <a:t>em</a:t>
            </a:r>
            <a:r>
              <a:rPr spc="-90" dirty="0"/>
              <a:t> </a:t>
            </a:r>
            <a:r>
              <a:rPr dirty="0"/>
              <a:t>Redes</a:t>
            </a:r>
            <a:r>
              <a:rPr spc="-95" dirty="0"/>
              <a:t> </a:t>
            </a:r>
            <a:r>
              <a:rPr spc="-10" dirty="0"/>
              <a:t>Neurais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7"/>
              <p:cNvSpPr txBox="1"/>
              <p:nvPr/>
            </p:nvSpPr>
            <p:spPr>
              <a:xfrm>
                <a:off x="578167" y="1447800"/>
                <a:ext cx="11035665" cy="5100627"/>
              </a:xfrm>
              <a:prstGeom prst="rect">
                <a:avLst/>
              </a:prstGeom>
            </p:spPr>
            <p:txBody>
              <a:bodyPr vert="horz" wrap="square" lIns="0" tIns="121920" rIns="0" bIns="0" rtlCol="0">
                <a:spAutoFit/>
              </a:bodyPr>
              <a:lstStyle/>
              <a:p>
                <a:pPr marL="279400" marR="66675" indent="-228600">
                  <a:lnSpc>
                    <a:spcPct val="70000"/>
                  </a:lnSpc>
                  <a:spcBef>
                    <a:spcPts val="960"/>
                  </a:spcBef>
                  <a:buFont typeface="Arial"/>
                  <a:buChar char="•"/>
                  <a:tabLst>
                    <a:tab pos="279400" algn="l"/>
                  </a:tabLst>
                </a:pPr>
                <a:r>
                  <a:rPr lang="pt-BR" sz="2400" dirty="0">
                    <a:latin typeface="Calibri"/>
                    <a:cs typeface="Calibri"/>
                  </a:rPr>
                  <a:t>De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posse</a:t>
                </a:r>
                <a:r>
                  <a:rPr lang="pt-BR" sz="2400" spc="-3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da</a:t>
                </a:r>
                <a:r>
                  <a:rPr lang="pt-BR" sz="2400" spc="-35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matriz</a:t>
                </a:r>
                <a:r>
                  <a:rPr lang="pt-BR" sz="2400" b="1" i="1" spc="-45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Hessiana</a:t>
                </a:r>
                <a:r>
                  <a:rPr lang="pt-BR" sz="2400" dirty="0">
                    <a:latin typeface="Calibri"/>
                    <a:cs typeface="Calibri"/>
                  </a:rPr>
                  <a:t>,</a:t>
                </a:r>
                <a:r>
                  <a:rPr lang="pt-BR" sz="2400" spc="-4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é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possível</a:t>
                </a:r>
                <a:r>
                  <a:rPr lang="pt-BR" sz="2400" spc="-3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fazer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uma</a:t>
                </a:r>
                <a:r>
                  <a:rPr lang="pt-BR" sz="2400" spc="-30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aproximação</a:t>
                </a:r>
                <a:r>
                  <a:rPr lang="pt-BR" sz="2400" b="1" i="1" spc="-55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de</a:t>
                </a:r>
                <a:r>
                  <a:rPr lang="pt-BR" sz="2400" b="1" i="1" spc="-45" dirty="0">
                    <a:latin typeface="Calibri"/>
                    <a:cs typeface="Calibri"/>
                  </a:rPr>
                  <a:t> </a:t>
                </a:r>
                <a:r>
                  <a:rPr lang="pt-BR" sz="2400" b="1" i="1" spc="-20" dirty="0">
                    <a:latin typeface="Calibri"/>
                    <a:cs typeface="Calibri"/>
                  </a:rPr>
                  <a:t>Taylor</a:t>
                </a:r>
                <a:r>
                  <a:rPr lang="pt-BR" sz="2400" b="1" i="1" spc="-50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de</a:t>
                </a:r>
                <a:r>
                  <a:rPr lang="pt-BR" sz="2400" b="1" i="1" spc="-40" dirty="0">
                    <a:latin typeface="Calibri"/>
                    <a:cs typeface="Calibri"/>
                  </a:rPr>
                  <a:t> </a:t>
                </a:r>
                <a:r>
                  <a:rPr lang="pt-BR" sz="2400" b="1" i="1" spc="-10" dirty="0">
                    <a:latin typeface="Calibri"/>
                    <a:cs typeface="Calibri"/>
                  </a:rPr>
                  <a:t>segunda </a:t>
                </a:r>
                <a:r>
                  <a:rPr lang="pt-BR" sz="2400" b="1" i="1" dirty="0">
                    <a:latin typeface="Calibri"/>
                    <a:cs typeface="Calibri"/>
                  </a:rPr>
                  <a:t>ordem</a:t>
                </a:r>
                <a:r>
                  <a:rPr lang="pt-BR" sz="2400" b="1" i="1" spc="-7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da</a:t>
                </a:r>
                <a:r>
                  <a:rPr lang="pt-BR" sz="2400" spc="-40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função</a:t>
                </a:r>
                <a:r>
                  <a:rPr lang="pt-BR" sz="2400" b="1" i="1" spc="-40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de</a:t>
                </a:r>
                <a:r>
                  <a:rPr lang="pt-BR" sz="2400" b="1" i="1" spc="-55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custo</a:t>
                </a:r>
                <a:r>
                  <a:rPr lang="pt-BR" sz="2400" dirty="0">
                    <a:latin typeface="Calibri"/>
                    <a:cs typeface="Calibri"/>
                  </a:rPr>
                  <a:t>,</a:t>
                </a:r>
                <a:r>
                  <a:rPr lang="pt-BR" sz="2400" spc="-3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o</a:t>
                </a:r>
                <a:r>
                  <a:rPr lang="pt-BR" sz="2400" spc="-5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que</a:t>
                </a:r>
                <a:r>
                  <a:rPr lang="pt-BR" sz="2400" spc="-3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leva</a:t>
                </a:r>
                <a:r>
                  <a:rPr lang="pt-BR" sz="2400" spc="-4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à</a:t>
                </a:r>
                <a:r>
                  <a:rPr lang="pt-BR" sz="2400" spc="-3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seguinte</a:t>
                </a:r>
                <a:r>
                  <a:rPr lang="pt-BR" sz="2400" spc="-4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expressão</a:t>
                </a:r>
                <a:r>
                  <a:rPr lang="pt-BR" sz="2400" spc="-6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para</a:t>
                </a:r>
                <a:r>
                  <a:rPr lang="pt-BR" sz="2400" spc="-4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adaptação</a:t>
                </a:r>
                <a:r>
                  <a:rPr lang="pt-BR" sz="2400" spc="-5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dos</a:t>
                </a:r>
                <a:r>
                  <a:rPr lang="pt-BR" sz="2400" spc="-40" dirty="0">
                    <a:latin typeface="Calibri"/>
                    <a:cs typeface="Calibri"/>
                  </a:rPr>
                  <a:t> </a:t>
                </a:r>
                <a:r>
                  <a:rPr lang="pt-BR" sz="2400" spc="-10" dirty="0">
                    <a:latin typeface="Calibri"/>
                    <a:cs typeface="Calibri"/>
                  </a:rPr>
                  <a:t>pesos:</a:t>
                </a:r>
                <a:endParaRPr lang="pt-BR" sz="2400" dirty="0">
                  <a:latin typeface="Calibri"/>
                  <a:cs typeface="Calibri"/>
                </a:endParaRPr>
              </a:p>
              <a:p>
                <a:pPr marL="90170" algn="ctr">
                  <a:lnSpc>
                    <a:spcPct val="100000"/>
                  </a:lnSpc>
                  <a:spcBef>
                    <a:spcPts val="340"/>
                  </a:spcBef>
                  <a:tabLst>
                    <a:tab pos="457834" algn="l"/>
                    <a:tab pos="1374775" algn="l"/>
                    <a:tab pos="2083435" algn="l"/>
                    <a:tab pos="2454275" algn="l"/>
                    <a:tab pos="3620135" algn="l"/>
                    <a:tab pos="3987165" algn="l"/>
                    <a:tab pos="4427855" algn="l"/>
                    <a:tab pos="4872990" algn="l"/>
                    <a:tab pos="5240655" algn="l"/>
                    <a:tab pos="568071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 spc="-50" dirty="0" smtClean="0">
                          <a:latin typeface="Cambria Math" panose="02040503050406030204" pitchFamily="18" charset="0"/>
                          <a:cs typeface="Cambria Math"/>
                        </a:rPr>
                        <m:t>𝒘</m:t>
                      </m:r>
                      <m:r>
                        <a:rPr lang="pt-BR" sz="2400" b="0" i="1" spc="-50" dirty="0" smtClean="0">
                          <a:latin typeface="Cambria Math" panose="02040503050406030204" pitchFamily="18" charset="0"/>
                          <a:cs typeface="Cambria Math"/>
                        </a:rPr>
                        <m:t>(</m:t>
                      </m:r>
                      <m:r>
                        <a:rPr lang="pt-BR" sz="2400" i="1" dirty="0">
                          <a:latin typeface="Cambria Math" panose="02040503050406030204" pitchFamily="18" charset="0"/>
                          <a:cs typeface="Cambria Math"/>
                        </a:rPr>
                        <m:t>𝑘</m:t>
                      </m:r>
                      <m:r>
                        <a:rPr lang="pt-BR" sz="2400" i="1" dirty="0">
                          <a:latin typeface="Cambria Math" panose="02040503050406030204" pitchFamily="18" charset="0"/>
                          <a:cs typeface="Cambria Math"/>
                        </a:rPr>
                        <m:t>+</m:t>
                      </m:r>
                      <m:r>
                        <a:rPr lang="pt-BR" sz="2400" i="1" spc="-50" dirty="0">
                          <a:latin typeface="Cambria Math" panose="02040503050406030204" pitchFamily="18" charset="0"/>
                          <a:cs typeface="Cambria Math"/>
                        </a:rPr>
                        <m:t>1</m:t>
                      </m:r>
                      <m:r>
                        <a:rPr lang="pt-BR" sz="2400" b="0" i="1" spc="-50" dirty="0" smtClean="0">
                          <a:latin typeface="Cambria Math" panose="02040503050406030204" pitchFamily="18" charset="0"/>
                          <a:cs typeface="Cambria Math"/>
                        </a:rPr>
                        <m:t>)</m:t>
                      </m:r>
                      <m:r>
                        <a:rPr lang="pt-BR" sz="2400" i="1" dirty="0">
                          <a:latin typeface="Cambria Math" panose="02040503050406030204" pitchFamily="18" charset="0"/>
                          <a:cs typeface="Cambria Math"/>
                        </a:rPr>
                        <m:t>←</m:t>
                      </m:r>
                      <m:r>
                        <a:rPr lang="pt-BR" sz="2400" i="1" spc="-50" dirty="0">
                          <a:latin typeface="Cambria Math" panose="02040503050406030204" pitchFamily="18" charset="0"/>
                          <a:cs typeface="Cambria Math"/>
                        </a:rPr>
                        <m:t>𝒘</m:t>
                      </m:r>
                      <m:r>
                        <a:rPr lang="pt-BR" sz="2400" b="0" i="1" spc="-50" dirty="0" smtClean="0">
                          <a:latin typeface="Cambria Math" panose="02040503050406030204" pitchFamily="18" charset="0"/>
                          <a:cs typeface="Cambria Math"/>
                        </a:rPr>
                        <m:t>(</m:t>
                      </m:r>
                      <m:r>
                        <a:rPr lang="pt-BR" sz="2400" i="1" spc="-50" dirty="0">
                          <a:latin typeface="Cambria Math" panose="02040503050406030204" pitchFamily="18" charset="0"/>
                          <a:cs typeface="Cambria Math"/>
                        </a:rPr>
                        <m:t>𝑘</m:t>
                      </m:r>
                      <m:r>
                        <a:rPr lang="pt-BR" sz="2400" b="0" i="1" spc="-50" dirty="0" smtClean="0">
                          <a:latin typeface="Cambria Math" panose="02040503050406030204" pitchFamily="18" charset="0"/>
                          <a:cs typeface="Cambria Math"/>
                        </a:rPr>
                        <m:t>)</m:t>
                      </m:r>
                      <m:r>
                        <a:rPr lang="pt-BR" sz="2400" i="1" dirty="0">
                          <a:latin typeface="Cambria Math" panose="02040503050406030204" pitchFamily="18" charset="0"/>
                          <a:cs typeface="Cambria Math"/>
                        </a:rPr>
                        <m:t>−</m:t>
                      </m:r>
                      <m:r>
                        <a:rPr lang="pt-BR" sz="2400" i="1" spc="-20" dirty="0">
                          <a:latin typeface="Cambria Math" panose="02040503050406030204" pitchFamily="18" charset="0"/>
                          <a:cs typeface="Cambria Math"/>
                        </a:rPr>
                        <m:t>𝛼</m:t>
                      </m:r>
                      <m:sSup>
                        <m:sSupPr>
                          <m:ctrlPr>
                            <a:rPr lang="pt-BR" sz="2400" b="0" i="1" spc="-20" dirty="0" smtClean="0"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sSupPr>
                        <m:e>
                          <m:r>
                            <a:rPr lang="pt-BR" sz="2400" i="1" spc="-20" dirty="0">
                              <a:latin typeface="Cambria Math" panose="02040503050406030204" pitchFamily="18" charset="0"/>
                              <a:cs typeface="Cambria Math"/>
                            </a:rPr>
                            <m:t>𝑯</m:t>
                          </m:r>
                        </m:e>
                        <m:sup>
                          <m:r>
                            <a:rPr lang="pt-BR" sz="2400" b="0" i="1" spc="-20" dirty="0" smtClean="0">
                              <a:latin typeface="Cambria Math" panose="02040503050406030204" pitchFamily="18" charset="0"/>
                              <a:cs typeface="Cambria Math"/>
                            </a:rPr>
                            <m:t>−</m:t>
                          </m:r>
                          <m:r>
                            <a:rPr lang="pt-BR" sz="2400" b="0" i="1" spc="-20" dirty="0" smtClean="0">
                              <a:latin typeface="Cambria Math" panose="02040503050406030204" pitchFamily="18" charset="0"/>
                              <a:cs typeface="Cambria Math"/>
                            </a:rPr>
                            <m:t>1</m:t>
                          </m:r>
                        </m:sup>
                      </m:sSup>
                      <m:d>
                        <m:dPr>
                          <m:ctrlPr>
                            <a:rPr lang="pt-BR" sz="2625" b="0" i="1" spc="-20" dirty="0" smtClean="0"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dPr>
                        <m:e>
                          <m:r>
                            <a:rPr lang="pt-BR" sz="2400" i="1" spc="-50" dirty="0">
                              <a:latin typeface="Cambria Math" panose="02040503050406030204" pitchFamily="18" charset="0"/>
                              <a:cs typeface="Cambria Math"/>
                            </a:rPr>
                            <m:t>𝒘</m:t>
                          </m:r>
                          <m:d>
                            <m:dPr>
                              <m:ctrlPr>
                                <a:rPr lang="pt-BR" sz="2400" b="0" i="1" spc="-50" dirty="0" smtClean="0">
                                  <a:latin typeface="Cambria Math" panose="02040503050406030204" pitchFamily="18" charset="0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pt-BR" sz="2400" i="1" spc="-50" dirty="0">
                                  <a:latin typeface="Cambria Math" panose="02040503050406030204" pitchFamily="18" charset="0"/>
                                  <a:cs typeface="Cambria Math"/>
                                </a:rPr>
                                <m:t>𝑘</m:t>
                              </m:r>
                            </m:e>
                          </m:d>
                        </m:e>
                      </m:d>
                      <m:r>
                        <a:rPr lang="pt-BR" sz="2400" i="1" dirty="0">
                          <a:latin typeface="Cambria Math" panose="02040503050406030204" pitchFamily="18" charset="0"/>
                          <a:cs typeface="Cambria Math"/>
                        </a:rPr>
                        <m:t>	</m:t>
                      </m:r>
                      <m:r>
                        <a:rPr lang="pt-BR" sz="2400" i="1" spc="-25" dirty="0">
                          <a:latin typeface="Cambria Math" panose="02040503050406030204" pitchFamily="18" charset="0"/>
                          <a:cs typeface="Cambria Math"/>
                        </a:rPr>
                        <m:t>𝛻</m:t>
                      </m:r>
                      <m:r>
                        <a:rPr lang="pt-BR" sz="2400" i="1" spc="-25" dirty="0">
                          <a:latin typeface="Cambria Math" panose="02040503050406030204" pitchFamily="18" charset="0"/>
                          <a:cs typeface="Cambria Math"/>
                        </a:rPr>
                        <m:t>𝐽</m:t>
                      </m:r>
                      <m:r>
                        <a:rPr lang="pt-BR" sz="2400" i="1" dirty="0">
                          <a:latin typeface="Cambria Math" panose="02040503050406030204" pitchFamily="18" charset="0"/>
                          <a:cs typeface="Cambria Math"/>
                        </a:rPr>
                        <m:t>	</m:t>
                      </m:r>
                      <m:d>
                        <m:dPr>
                          <m:ctrlPr>
                            <a:rPr lang="pt-BR" sz="2400" b="0" i="1" spc="-25" dirty="0" smtClean="0"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dPr>
                        <m:e>
                          <m:r>
                            <a:rPr lang="pt-BR" sz="2400" i="1" spc="-50" dirty="0">
                              <a:latin typeface="Cambria Math" panose="02040503050406030204" pitchFamily="18" charset="0"/>
                              <a:cs typeface="Cambria Math"/>
                            </a:rPr>
                            <m:t>𝒘</m:t>
                          </m:r>
                          <m:d>
                            <m:dPr>
                              <m:ctrlPr>
                                <a:rPr lang="pt-BR" sz="2400" b="0" i="1" spc="-50" dirty="0" smtClean="0">
                                  <a:latin typeface="Cambria Math" panose="02040503050406030204" pitchFamily="18" charset="0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pt-BR" sz="2400" i="1" spc="-50" dirty="0">
                                  <a:latin typeface="Cambria Math" panose="02040503050406030204" pitchFamily="18" charset="0"/>
                                  <a:cs typeface="Cambria Math"/>
                                </a:rPr>
                                <m:t>𝑘</m:t>
                              </m:r>
                            </m:e>
                          </m:d>
                        </m:e>
                      </m:d>
                      <m:r>
                        <a:rPr lang="pt-BR" sz="2400" i="1" dirty="0">
                          <a:latin typeface="Cambria Math" panose="02040503050406030204" pitchFamily="18" charset="0"/>
                          <a:cs typeface="Cambria Math"/>
                        </a:rPr>
                        <m:t>	</m:t>
                      </m:r>
                      <m:r>
                        <a:rPr lang="pt-BR" sz="2400" i="1" spc="-50" dirty="0">
                          <a:latin typeface="Cambria Math" panose="02040503050406030204" pitchFamily="18" charset="0"/>
                          <a:cs typeface="Calibri"/>
                        </a:rPr>
                        <m:t>.</m:t>
                      </m:r>
                    </m:oMath>
                  </m:oMathPara>
                </a14:m>
                <a:endParaRPr lang="pt-BR" sz="2400" dirty="0">
                  <a:latin typeface="Calibri"/>
                  <a:cs typeface="Calibri"/>
                </a:endParaRPr>
              </a:p>
              <a:p>
                <a:pPr marL="279400" marR="83820" indent="-228600">
                  <a:lnSpc>
                    <a:spcPct val="71200"/>
                  </a:lnSpc>
                  <a:spcBef>
                    <a:spcPts val="1025"/>
                  </a:spcBef>
                  <a:buFont typeface="Arial"/>
                  <a:buChar char="•"/>
                  <a:tabLst>
                    <a:tab pos="279400" algn="l"/>
                  </a:tabLst>
                </a:pPr>
                <a:r>
                  <a:rPr lang="pt-BR" sz="2400" dirty="0">
                    <a:latin typeface="Calibri"/>
                    <a:cs typeface="Calibri"/>
                  </a:rPr>
                  <a:t>Essa</a:t>
                </a:r>
                <a:r>
                  <a:rPr lang="pt-BR" sz="2400" spc="-3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expressão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requer</a:t>
                </a:r>
                <a:r>
                  <a:rPr lang="pt-BR" sz="2400" spc="-1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que</a:t>
                </a:r>
                <a:r>
                  <a:rPr lang="pt-BR" sz="2400" spc="-2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a</a:t>
                </a:r>
                <a:r>
                  <a:rPr lang="pt-BR" sz="2400" spc="-55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matriz</a:t>
                </a:r>
                <a:r>
                  <a:rPr lang="pt-BR" sz="2400" b="1" i="1" spc="-30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Hessiana</a:t>
                </a:r>
                <a:r>
                  <a:rPr lang="pt-BR" sz="2400" b="1" i="1" spc="-3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seja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inversível</a:t>
                </a:r>
                <a:r>
                  <a:rPr lang="pt-BR" sz="2400" b="1" i="1" spc="-3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e</a:t>
                </a:r>
                <a:r>
                  <a:rPr lang="pt-BR" sz="2400" spc="-15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definida</a:t>
                </a:r>
                <a:r>
                  <a:rPr lang="pt-BR" sz="2400" b="1" i="1" spc="-35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positiva</a:t>
                </a:r>
                <a:r>
                  <a:rPr lang="pt-BR" sz="2400" b="1" i="1" spc="-3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a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spc="-20" dirty="0">
                    <a:latin typeface="Calibri"/>
                    <a:cs typeface="Calibri"/>
                  </a:rPr>
                  <a:t>cada </a:t>
                </a:r>
                <a:r>
                  <a:rPr lang="pt-BR" sz="2400" spc="-10" dirty="0">
                    <a:latin typeface="Calibri"/>
                    <a:cs typeface="Calibri"/>
                  </a:rPr>
                  <a:t>iteração,</a:t>
                </a:r>
                <a:r>
                  <a:rPr lang="pt-BR" sz="2400" spc="-4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mbria Math"/>
                    <a:cs typeface="Cambria Math"/>
                  </a:rPr>
                  <a:t>𝑘</a:t>
                </a:r>
                <a:r>
                  <a:rPr lang="pt-BR" sz="2400" dirty="0">
                    <a:latin typeface="Calibri"/>
                    <a:cs typeface="Calibri"/>
                  </a:rPr>
                  <a:t>,</a:t>
                </a:r>
                <a:r>
                  <a:rPr lang="pt-BR" sz="2400" spc="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i.e.,</a:t>
                </a:r>
                <a:r>
                  <a:rPr lang="pt-BR" sz="2400" spc="-1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mbria Math"/>
                    <a:cs typeface="Cambria Math"/>
                  </a:rPr>
                  <a:t>𝒛</a:t>
                </a:r>
                <a:r>
                  <a:rPr lang="pt-BR" sz="2625" baseline="28571" dirty="0">
                    <a:latin typeface="Cambria Math"/>
                    <a:cs typeface="Cambria Math"/>
                  </a:rPr>
                  <a:t>𝑻</a:t>
                </a:r>
                <a:r>
                  <a:rPr lang="pt-BR" sz="2400" dirty="0">
                    <a:latin typeface="Cambria Math"/>
                    <a:cs typeface="Cambria Math"/>
                  </a:rPr>
                  <a:t>𝑯𝒛</a:t>
                </a:r>
                <a:r>
                  <a:rPr lang="pt-BR" sz="2400" spc="125" dirty="0">
                    <a:latin typeface="Cambria Math"/>
                    <a:cs typeface="Cambria Math"/>
                  </a:rPr>
                  <a:t> </a:t>
                </a:r>
                <a:r>
                  <a:rPr lang="pt-BR" sz="2400" dirty="0">
                    <a:latin typeface="Cambria Math"/>
                    <a:cs typeface="Cambria Math"/>
                  </a:rPr>
                  <a:t>&gt;</a:t>
                </a:r>
                <a:r>
                  <a:rPr lang="pt-BR" sz="2400" spc="135" dirty="0">
                    <a:latin typeface="Cambria Math"/>
                    <a:cs typeface="Cambria Math"/>
                  </a:rPr>
                  <a:t> </a:t>
                </a:r>
                <a:r>
                  <a:rPr lang="pt-BR" sz="2400" dirty="0">
                    <a:latin typeface="Cambria Math"/>
                    <a:cs typeface="Cambria Math"/>
                  </a:rPr>
                  <a:t>0,</a:t>
                </a:r>
                <a:r>
                  <a:rPr lang="pt-BR" sz="2400" spc="-145" dirty="0">
                    <a:latin typeface="Cambria Math"/>
                    <a:cs typeface="Cambria Math"/>
                  </a:rPr>
                  <a:t> </a:t>
                </a:r>
                <a:r>
                  <a:rPr lang="pt-BR" sz="2400" dirty="0">
                    <a:latin typeface="Cambria Math"/>
                    <a:cs typeface="Cambria Math"/>
                  </a:rPr>
                  <a:t>∀𝒛</a:t>
                </a:r>
                <a:r>
                  <a:rPr lang="pt-BR" sz="2400" spc="140" dirty="0">
                    <a:latin typeface="Cambria Math"/>
                    <a:cs typeface="Cambria Math"/>
                  </a:rPr>
                  <a:t> </a:t>
                </a:r>
                <a:r>
                  <a:rPr lang="pt-BR" sz="2400" dirty="0">
                    <a:latin typeface="Cambria Math"/>
                    <a:cs typeface="Cambria Math"/>
                  </a:rPr>
                  <a:t>≠</a:t>
                </a:r>
                <a:r>
                  <a:rPr lang="pt-BR" sz="2400" spc="135" dirty="0">
                    <a:latin typeface="Cambria Math"/>
                    <a:cs typeface="Cambria Math"/>
                  </a:rPr>
                  <a:t> </a:t>
                </a:r>
                <a:r>
                  <a:rPr lang="pt-BR" sz="2400" dirty="0">
                    <a:latin typeface="Cambria Math"/>
                    <a:cs typeface="Cambria Math"/>
                  </a:rPr>
                  <a:t>𝟎</a:t>
                </a:r>
                <a:r>
                  <a:rPr lang="pt-BR" sz="2400" spc="20" dirty="0">
                    <a:latin typeface="Cambria Math"/>
                    <a:cs typeface="Cambria Math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(vetor </a:t>
                </a:r>
                <a:r>
                  <a:rPr lang="pt-BR" sz="2400" spc="-10" dirty="0">
                    <a:latin typeface="Calibri"/>
                    <a:cs typeface="Calibri"/>
                  </a:rPr>
                  <a:t>nulo).</a:t>
                </a:r>
                <a:endParaRPr lang="pt-BR" sz="2400" dirty="0">
                  <a:latin typeface="Calibri"/>
                  <a:cs typeface="Calibri"/>
                </a:endParaRPr>
              </a:p>
              <a:p>
                <a:pPr marL="279400" indent="-228600">
                  <a:lnSpc>
                    <a:spcPts val="2450"/>
                  </a:lnSpc>
                  <a:spcBef>
                    <a:spcPts val="140"/>
                  </a:spcBef>
                  <a:buFont typeface="Arial"/>
                  <a:buChar char="•"/>
                  <a:tabLst>
                    <a:tab pos="279400" algn="l"/>
                  </a:tabLst>
                </a:pPr>
                <a:r>
                  <a:rPr lang="pt-BR" sz="2400" dirty="0">
                    <a:latin typeface="Calibri"/>
                    <a:cs typeface="Calibri"/>
                  </a:rPr>
                  <a:t>A</a:t>
                </a:r>
                <a:r>
                  <a:rPr lang="pt-BR" sz="2400" spc="-4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aproximação</a:t>
                </a:r>
                <a:r>
                  <a:rPr lang="pt-BR" sz="2400" spc="-6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de</a:t>
                </a:r>
                <a:r>
                  <a:rPr lang="pt-BR" sz="2400" spc="-30" dirty="0">
                    <a:latin typeface="Calibri"/>
                    <a:cs typeface="Calibri"/>
                  </a:rPr>
                  <a:t> </a:t>
                </a:r>
                <a:r>
                  <a:rPr lang="pt-BR" sz="2400" spc="-25" dirty="0">
                    <a:latin typeface="Calibri"/>
                    <a:cs typeface="Calibri"/>
                  </a:rPr>
                  <a:t>Taylor</a:t>
                </a:r>
                <a:r>
                  <a:rPr lang="pt-BR" sz="2400" spc="-2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com</a:t>
                </a:r>
                <a:r>
                  <a:rPr lang="pt-BR" sz="2400" spc="-90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informação</a:t>
                </a:r>
                <a:r>
                  <a:rPr lang="pt-BR" sz="2400" b="1" i="1" spc="-30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de</a:t>
                </a:r>
                <a:r>
                  <a:rPr lang="pt-BR" sz="2400" b="1" i="1" spc="-55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segunda</a:t>
                </a:r>
                <a:r>
                  <a:rPr lang="pt-BR" sz="2400" b="1" i="1" spc="-45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ordem</a:t>
                </a:r>
                <a:r>
                  <a:rPr lang="pt-BR" sz="2400" b="1" i="1" spc="-45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é</a:t>
                </a:r>
                <a:r>
                  <a:rPr lang="pt-BR" sz="2400" b="1" i="1" spc="-35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mais</a:t>
                </a:r>
                <a:r>
                  <a:rPr lang="pt-BR" sz="2400" b="1" i="1" spc="-60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precisa</a:t>
                </a:r>
                <a:r>
                  <a:rPr lang="pt-BR" sz="2400" b="1" i="1" spc="-4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que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spc="-50" dirty="0">
                    <a:latin typeface="Calibri"/>
                    <a:cs typeface="Calibri"/>
                  </a:rPr>
                  <a:t>a</a:t>
                </a:r>
                <a:endParaRPr lang="pt-BR" sz="2400" dirty="0">
                  <a:latin typeface="Calibri"/>
                  <a:cs typeface="Calibri"/>
                </a:endParaRPr>
              </a:p>
              <a:p>
                <a:pPr marL="279400">
                  <a:lnSpc>
                    <a:spcPts val="2450"/>
                  </a:lnSpc>
                </a:pPr>
                <a:r>
                  <a:rPr lang="pt-BR" sz="2400" dirty="0">
                    <a:latin typeface="Calibri"/>
                    <a:cs typeface="Calibri"/>
                  </a:rPr>
                  <a:t>fornecida</a:t>
                </a:r>
                <a:r>
                  <a:rPr lang="pt-BR" sz="2400" spc="-6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por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métodos</a:t>
                </a:r>
                <a:r>
                  <a:rPr lang="pt-BR" sz="2400" spc="-5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de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primeira</a:t>
                </a:r>
                <a:r>
                  <a:rPr lang="pt-BR" sz="2400" spc="-55" dirty="0">
                    <a:latin typeface="Calibri"/>
                    <a:cs typeface="Calibri"/>
                  </a:rPr>
                  <a:t> </a:t>
                </a:r>
                <a:r>
                  <a:rPr lang="pt-BR" sz="2400" spc="-10" dirty="0">
                    <a:latin typeface="Calibri"/>
                    <a:cs typeface="Calibri"/>
                  </a:rPr>
                  <a:t>ordem.</a:t>
                </a:r>
                <a:endParaRPr lang="pt-BR" sz="2400" dirty="0">
                  <a:latin typeface="Calibri"/>
                  <a:cs typeface="Calibri"/>
                </a:endParaRPr>
              </a:p>
              <a:p>
                <a:pPr marL="279400" marR="186690" indent="-228600">
                  <a:lnSpc>
                    <a:spcPct val="70000"/>
                  </a:lnSpc>
                  <a:spcBef>
                    <a:spcPts val="1000"/>
                  </a:spcBef>
                  <a:buFont typeface="Arial"/>
                  <a:buChar char="•"/>
                  <a:tabLst>
                    <a:tab pos="279400" algn="l"/>
                  </a:tabLst>
                </a:pPr>
                <a:r>
                  <a:rPr lang="pt-BR" sz="2400" spc="-10" dirty="0">
                    <a:latin typeface="Calibri"/>
                    <a:cs typeface="Calibri"/>
                  </a:rPr>
                  <a:t>Portanto,</a:t>
                </a:r>
                <a:r>
                  <a:rPr lang="pt-BR" sz="2400" spc="-3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a</a:t>
                </a:r>
                <a:r>
                  <a:rPr lang="pt-BR" sz="2400" spc="-4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tendência</a:t>
                </a:r>
                <a:r>
                  <a:rPr lang="pt-BR" sz="2400" spc="-3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é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que</a:t>
                </a:r>
                <a:r>
                  <a:rPr lang="pt-BR" sz="2400" spc="-2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métodos</a:t>
                </a:r>
                <a:r>
                  <a:rPr lang="pt-BR" sz="2400" spc="-3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de</a:t>
                </a:r>
                <a:r>
                  <a:rPr lang="pt-BR" sz="2400" spc="-65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segunda</a:t>
                </a:r>
                <a:r>
                  <a:rPr lang="pt-BR" sz="2400" b="1" i="1" spc="-50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ordem</a:t>
                </a:r>
                <a:r>
                  <a:rPr lang="pt-BR" sz="2400" b="1" i="1" spc="-3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convirjam</a:t>
                </a:r>
                <a:r>
                  <a:rPr lang="pt-BR" sz="2400" spc="-3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em</a:t>
                </a:r>
                <a:r>
                  <a:rPr lang="pt-BR" sz="2400" spc="-40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menos</a:t>
                </a:r>
                <a:r>
                  <a:rPr lang="pt-BR" sz="2400" b="1" i="1" spc="-25" dirty="0">
                    <a:latin typeface="Calibri"/>
                    <a:cs typeface="Calibri"/>
                  </a:rPr>
                  <a:t> </a:t>
                </a:r>
                <a:r>
                  <a:rPr lang="pt-BR" sz="2400" b="1" i="1" spc="-10" dirty="0">
                    <a:latin typeface="Calibri"/>
                    <a:cs typeface="Calibri"/>
                  </a:rPr>
                  <a:t>passos </a:t>
                </a:r>
                <a:r>
                  <a:rPr lang="pt-BR" sz="2400" b="1" i="1" dirty="0">
                    <a:latin typeface="Calibri"/>
                    <a:cs typeface="Calibri"/>
                  </a:rPr>
                  <a:t>que</a:t>
                </a:r>
                <a:r>
                  <a:rPr lang="pt-BR" sz="2400" b="1" i="1" spc="-45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métodos</a:t>
                </a:r>
                <a:r>
                  <a:rPr lang="pt-BR" sz="2400" b="1" i="1" spc="-35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de</a:t>
                </a:r>
                <a:r>
                  <a:rPr lang="pt-BR" sz="2400" b="1" i="1" spc="-45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primeira</a:t>
                </a:r>
                <a:r>
                  <a:rPr lang="pt-BR" sz="2400" b="1" i="1" spc="-25" dirty="0">
                    <a:latin typeface="Calibri"/>
                    <a:cs typeface="Calibri"/>
                  </a:rPr>
                  <a:t> </a:t>
                </a:r>
                <a:r>
                  <a:rPr lang="pt-BR" sz="2400" b="1" i="1" spc="-10" dirty="0">
                    <a:latin typeface="Calibri"/>
                    <a:cs typeface="Calibri"/>
                  </a:rPr>
                  <a:t>ordem</a:t>
                </a:r>
                <a:r>
                  <a:rPr lang="pt-BR" sz="2400" spc="-10" dirty="0">
                    <a:latin typeface="Calibri"/>
                    <a:cs typeface="Calibri"/>
                  </a:rPr>
                  <a:t>.</a:t>
                </a:r>
                <a:endParaRPr lang="pt-BR" sz="2400" dirty="0">
                  <a:latin typeface="Calibri"/>
                  <a:cs typeface="Calibri"/>
                </a:endParaRPr>
              </a:p>
              <a:p>
                <a:pPr marL="279400" indent="-228600">
                  <a:lnSpc>
                    <a:spcPts val="2450"/>
                  </a:lnSpc>
                  <a:spcBef>
                    <a:spcPts val="130"/>
                  </a:spcBef>
                  <a:buFont typeface="Arial"/>
                  <a:buChar char="•"/>
                  <a:tabLst>
                    <a:tab pos="279400" algn="l"/>
                  </a:tabLst>
                </a:pPr>
                <a:r>
                  <a:rPr lang="pt-BR" sz="2400" spc="-10" dirty="0">
                    <a:latin typeface="Calibri"/>
                    <a:cs typeface="Calibri"/>
                  </a:rPr>
                  <a:t>Entretanto,</a:t>
                </a:r>
                <a:r>
                  <a:rPr lang="pt-BR" sz="2400" spc="-6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o</a:t>
                </a:r>
                <a:r>
                  <a:rPr lang="pt-BR" sz="2400" spc="-4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cálculo</a:t>
                </a:r>
                <a:r>
                  <a:rPr lang="pt-BR" sz="2400" spc="-6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exato</a:t>
                </a:r>
                <a:r>
                  <a:rPr lang="pt-BR" sz="2400" spc="-4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da</a:t>
                </a:r>
                <a:r>
                  <a:rPr lang="pt-BR" sz="2400" spc="-85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matriz</a:t>
                </a:r>
                <a:r>
                  <a:rPr lang="pt-BR" sz="2400" b="1" i="1" spc="-50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Hessiana</a:t>
                </a:r>
                <a:r>
                  <a:rPr lang="pt-BR" sz="2400" b="1" i="1" spc="-6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pode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ser</a:t>
                </a:r>
                <a:r>
                  <a:rPr lang="pt-BR" sz="2400" spc="-4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complicado</a:t>
                </a:r>
                <a:r>
                  <a:rPr lang="pt-BR" sz="2400" spc="-6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em</a:t>
                </a:r>
                <a:r>
                  <a:rPr lang="pt-BR" sz="2400" spc="-3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vários</a:t>
                </a:r>
                <a:r>
                  <a:rPr lang="pt-BR" sz="2400" spc="-50" dirty="0">
                    <a:latin typeface="Calibri"/>
                    <a:cs typeface="Calibri"/>
                  </a:rPr>
                  <a:t> </a:t>
                </a:r>
                <a:r>
                  <a:rPr lang="pt-BR" sz="2400" spc="-10" dirty="0">
                    <a:latin typeface="Calibri"/>
                    <a:cs typeface="Calibri"/>
                  </a:rPr>
                  <a:t>casos</a:t>
                </a:r>
                <a:endParaRPr lang="pt-BR" sz="2400" dirty="0">
                  <a:latin typeface="Calibri"/>
                  <a:cs typeface="Calibri"/>
                </a:endParaRPr>
              </a:p>
              <a:p>
                <a:pPr marL="279400">
                  <a:lnSpc>
                    <a:spcPts val="2345"/>
                  </a:lnSpc>
                </a:pPr>
                <a:r>
                  <a:rPr lang="pt-BR" sz="2400" spc="-10" dirty="0">
                    <a:latin typeface="Calibri"/>
                    <a:cs typeface="Calibri"/>
                  </a:rPr>
                  <a:t>práticos.</a:t>
                </a:r>
                <a:endParaRPr lang="pt-BR" sz="2400" dirty="0">
                  <a:latin typeface="Calibri"/>
                  <a:cs typeface="Calibri"/>
                </a:endParaRPr>
              </a:p>
              <a:p>
                <a:pPr marL="736600" marR="969644" lvl="1" indent="-228600">
                  <a:lnSpc>
                    <a:spcPct val="70000"/>
                  </a:lnSpc>
                  <a:spcBef>
                    <a:spcPts val="615"/>
                  </a:spcBef>
                  <a:buFont typeface="Wingdings"/>
                  <a:buChar char=""/>
                  <a:tabLst>
                    <a:tab pos="737235" algn="l"/>
                  </a:tabLst>
                </a:pPr>
                <a:r>
                  <a:rPr lang="pt-BR" sz="2000" dirty="0">
                    <a:latin typeface="Calibri"/>
                    <a:cs typeface="Calibri"/>
                  </a:rPr>
                  <a:t>Por</a:t>
                </a:r>
                <a:r>
                  <a:rPr lang="pt-BR" sz="2000" spc="-60" dirty="0">
                    <a:latin typeface="Calibri"/>
                    <a:cs typeface="Calibri"/>
                  </a:rPr>
                  <a:t> </a:t>
                </a:r>
                <a:r>
                  <a:rPr lang="pt-BR" sz="2000" spc="-10" dirty="0">
                    <a:latin typeface="Calibri"/>
                    <a:cs typeface="Calibri"/>
                  </a:rPr>
                  <a:t>exemplo,</a:t>
                </a:r>
                <a:r>
                  <a:rPr lang="pt-BR" sz="2000" spc="-2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se</a:t>
                </a:r>
                <a:r>
                  <a:rPr lang="pt-BR" sz="2000" spc="-3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tivermos</a:t>
                </a:r>
                <a:r>
                  <a:rPr lang="pt-BR" sz="2000" spc="-2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10</a:t>
                </a:r>
                <a:r>
                  <a:rPr lang="pt-BR" sz="2000" spc="-3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pesos</a:t>
                </a:r>
                <a:r>
                  <a:rPr lang="pt-BR" sz="2000" spc="-4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para</a:t>
                </a:r>
                <a:r>
                  <a:rPr lang="pt-BR" sz="2000" spc="-40" dirty="0">
                    <a:latin typeface="Calibri"/>
                    <a:cs typeface="Calibri"/>
                  </a:rPr>
                  <a:t> </a:t>
                </a:r>
                <a:r>
                  <a:rPr lang="pt-BR" sz="2000" spc="-20" dirty="0">
                    <a:latin typeface="Calibri"/>
                    <a:cs typeface="Calibri"/>
                  </a:rPr>
                  <a:t>otimizar,</a:t>
                </a:r>
                <a:r>
                  <a:rPr lang="pt-BR" sz="2000" spc="-2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a</a:t>
                </a:r>
                <a:r>
                  <a:rPr lang="pt-BR" sz="2000" spc="-3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matriz</a:t>
                </a:r>
                <a:r>
                  <a:rPr lang="pt-BR" sz="2000" spc="-2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Hessiana</a:t>
                </a:r>
                <a:r>
                  <a:rPr lang="pt-BR" sz="2000" spc="-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teria</a:t>
                </a:r>
                <a:r>
                  <a:rPr lang="pt-BR" sz="2000" spc="-1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10x10</a:t>
                </a:r>
                <a:r>
                  <a:rPr lang="pt-BR" sz="2000" spc="-65" dirty="0">
                    <a:latin typeface="Calibri"/>
                    <a:cs typeface="Calibri"/>
                  </a:rPr>
                  <a:t> </a:t>
                </a:r>
                <a:r>
                  <a:rPr lang="pt-BR" sz="2000" spc="-10" dirty="0">
                    <a:latin typeface="Calibri"/>
                    <a:cs typeface="Calibri"/>
                  </a:rPr>
                  <a:t>elementos. Portanto,</a:t>
                </a:r>
                <a:r>
                  <a:rPr lang="pt-BR" sz="2000" spc="-4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essa</a:t>
                </a:r>
                <a:r>
                  <a:rPr lang="pt-BR" sz="2000" spc="-2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abordagem</a:t>
                </a:r>
                <a:r>
                  <a:rPr lang="pt-BR" sz="2000" spc="-6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direta</a:t>
                </a:r>
                <a:r>
                  <a:rPr lang="pt-BR" sz="2000" spc="-3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não</a:t>
                </a:r>
                <a:r>
                  <a:rPr lang="pt-BR" sz="2000" spc="-4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é</a:t>
                </a:r>
                <a:r>
                  <a:rPr lang="pt-BR" sz="2000" spc="-3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eficiente</a:t>
                </a:r>
                <a:r>
                  <a:rPr lang="pt-BR" sz="2000" spc="-2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se</a:t>
                </a:r>
                <a:r>
                  <a:rPr lang="pt-BR" sz="2000" spc="-3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o</a:t>
                </a:r>
                <a:r>
                  <a:rPr lang="pt-BR" sz="2000" spc="-4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número</a:t>
                </a:r>
                <a:r>
                  <a:rPr lang="pt-BR" sz="2000" spc="-4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de</a:t>
                </a:r>
                <a:r>
                  <a:rPr lang="pt-BR" sz="2000" spc="-4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pesos</a:t>
                </a:r>
                <a:r>
                  <a:rPr lang="pt-BR" sz="2000" spc="-2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for</a:t>
                </a:r>
                <a:r>
                  <a:rPr lang="pt-BR" sz="2000" spc="-5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muito</a:t>
                </a:r>
                <a:r>
                  <a:rPr lang="pt-BR" sz="2000" spc="-35" dirty="0">
                    <a:latin typeface="Calibri"/>
                    <a:cs typeface="Calibri"/>
                  </a:rPr>
                  <a:t> </a:t>
                </a:r>
                <a:r>
                  <a:rPr lang="pt-BR" sz="2000" spc="-10" dirty="0">
                    <a:latin typeface="Calibri"/>
                    <a:cs typeface="Calibri"/>
                  </a:rPr>
                  <a:t>grande.</a:t>
                </a:r>
                <a:endParaRPr lang="pt-BR" sz="2000" dirty="0">
                  <a:latin typeface="Calibri"/>
                  <a:cs typeface="Calibri"/>
                </a:endParaRPr>
              </a:p>
              <a:p>
                <a:pPr marL="279400" marR="43180" indent="-228600">
                  <a:lnSpc>
                    <a:spcPct val="70000"/>
                  </a:lnSpc>
                  <a:spcBef>
                    <a:spcPts val="990"/>
                  </a:spcBef>
                  <a:buFont typeface="Arial"/>
                  <a:buChar char="•"/>
                  <a:tabLst>
                    <a:tab pos="279400" algn="l"/>
                  </a:tabLst>
                </a:pPr>
                <a:r>
                  <a:rPr lang="pt-BR" sz="2400" dirty="0">
                    <a:latin typeface="Calibri"/>
                    <a:cs typeface="Calibri"/>
                  </a:rPr>
                  <a:t>Porém,</a:t>
                </a:r>
                <a:r>
                  <a:rPr lang="pt-BR" sz="2400" spc="-3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há</a:t>
                </a:r>
                <a:r>
                  <a:rPr lang="pt-BR" sz="2400" spc="-4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um</a:t>
                </a:r>
                <a:r>
                  <a:rPr lang="pt-BR" sz="2400" spc="-3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conjunto</a:t>
                </a:r>
                <a:r>
                  <a:rPr lang="pt-BR" sz="2400" spc="-3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de</a:t>
                </a:r>
                <a:r>
                  <a:rPr lang="pt-BR" sz="2400" spc="-2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métodos</a:t>
                </a:r>
                <a:r>
                  <a:rPr lang="pt-BR" sz="2400" spc="-3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de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segunda</a:t>
                </a:r>
                <a:r>
                  <a:rPr lang="pt-BR" sz="2400" spc="-3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ordem</a:t>
                </a:r>
                <a:r>
                  <a:rPr lang="pt-BR" sz="2400" spc="-3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que</a:t>
                </a:r>
                <a:r>
                  <a:rPr lang="pt-BR" sz="2400" spc="-1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evitam</a:t>
                </a:r>
                <a:r>
                  <a:rPr lang="pt-BR" sz="2400" spc="-4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esse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cálculo</a:t>
                </a:r>
                <a:r>
                  <a:rPr lang="pt-BR" sz="2400" spc="-40" dirty="0">
                    <a:latin typeface="Calibri"/>
                    <a:cs typeface="Calibri"/>
                  </a:rPr>
                  <a:t> </a:t>
                </a:r>
                <a:r>
                  <a:rPr lang="pt-BR" sz="2400" spc="-10" dirty="0">
                    <a:latin typeface="Calibri"/>
                    <a:cs typeface="Calibri"/>
                  </a:rPr>
                  <a:t>direto, </a:t>
                </a:r>
                <a:r>
                  <a:rPr lang="pt-BR" sz="2400" dirty="0">
                    <a:latin typeface="Calibri"/>
                    <a:cs typeface="Calibri"/>
                  </a:rPr>
                  <a:t>como</a:t>
                </a:r>
                <a:r>
                  <a:rPr lang="pt-BR" sz="2400" spc="-5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os</a:t>
                </a:r>
                <a:r>
                  <a:rPr lang="pt-BR" sz="2400" spc="-4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métodos</a:t>
                </a:r>
                <a:r>
                  <a:rPr lang="pt-BR" sz="2400" spc="-65" dirty="0">
                    <a:latin typeface="Calibri"/>
                    <a:cs typeface="Calibri"/>
                  </a:rPr>
                  <a:t> </a:t>
                </a:r>
                <a:r>
                  <a:rPr lang="pt-BR" sz="2400" b="1" i="1" spc="-10" dirty="0">
                    <a:latin typeface="Calibri"/>
                    <a:cs typeface="Calibri"/>
                  </a:rPr>
                  <a:t>quasi-</a:t>
                </a:r>
                <a:r>
                  <a:rPr lang="pt-BR" sz="2400" b="1" i="1" dirty="0">
                    <a:latin typeface="Calibri"/>
                    <a:cs typeface="Calibri"/>
                  </a:rPr>
                  <a:t>Newton</a:t>
                </a:r>
                <a:r>
                  <a:rPr lang="pt-BR" sz="2400" b="1" i="1" spc="-3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ou</a:t>
                </a:r>
                <a:r>
                  <a:rPr lang="pt-BR" sz="2400" spc="-4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os</a:t>
                </a:r>
                <a:r>
                  <a:rPr lang="pt-BR" sz="2400" spc="-3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métodos</a:t>
                </a:r>
                <a:r>
                  <a:rPr lang="pt-BR" sz="2400" spc="-4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de</a:t>
                </a:r>
                <a:r>
                  <a:rPr lang="pt-BR" sz="2400" spc="-35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gradiente</a:t>
                </a:r>
                <a:r>
                  <a:rPr lang="pt-BR" sz="2400" b="1" i="1" spc="-50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escalonado</a:t>
                </a:r>
                <a:r>
                  <a:rPr lang="pt-BR" sz="2400" dirty="0">
                    <a:latin typeface="Calibri"/>
                    <a:cs typeface="Calibri"/>
                  </a:rPr>
                  <a:t>,</a:t>
                </a:r>
                <a:r>
                  <a:rPr lang="pt-BR" sz="2400" spc="-4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os</a:t>
                </a:r>
                <a:r>
                  <a:rPr lang="pt-BR" sz="2400" spc="-40" dirty="0">
                    <a:latin typeface="Calibri"/>
                    <a:cs typeface="Calibri"/>
                  </a:rPr>
                  <a:t> </a:t>
                </a:r>
                <a:r>
                  <a:rPr lang="pt-BR" sz="2400" spc="-10" dirty="0">
                    <a:latin typeface="Calibri"/>
                    <a:cs typeface="Calibri"/>
                  </a:rPr>
                  <a:t>quais </a:t>
                </a:r>
                <a:r>
                  <a:rPr lang="pt-BR" sz="2400" dirty="0">
                    <a:latin typeface="Calibri"/>
                    <a:cs typeface="Calibri"/>
                  </a:rPr>
                  <a:t>aproximam</a:t>
                </a:r>
                <a:r>
                  <a:rPr lang="pt-BR" sz="2400" spc="-6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a</a:t>
                </a:r>
                <a:r>
                  <a:rPr lang="pt-BR" sz="2400" spc="-4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matriz</a:t>
                </a:r>
                <a:r>
                  <a:rPr lang="pt-BR" sz="2400" spc="-40" dirty="0">
                    <a:latin typeface="Calibri"/>
                    <a:cs typeface="Calibri"/>
                  </a:rPr>
                  <a:t> </a:t>
                </a:r>
                <a:r>
                  <a:rPr lang="pt-BR" sz="2400" spc="-10" dirty="0">
                    <a:latin typeface="Calibri"/>
                    <a:cs typeface="Calibri"/>
                  </a:rPr>
                  <a:t>Hessiana.</a:t>
                </a:r>
                <a:endParaRPr sz="24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7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167" y="1447800"/>
                <a:ext cx="11035665" cy="5100627"/>
              </a:xfrm>
              <a:prstGeom prst="rect">
                <a:avLst/>
              </a:prstGeom>
              <a:blipFill>
                <a:blip r:embed="rId2"/>
                <a:stretch>
                  <a:fillRect l="-1160" t="-1316" r="-1602" b="-263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737106"/>
            <a:ext cx="7801609" cy="977900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241300" marR="5080" indent="-228600" algn="just">
              <a:lnSpc>
                <a:spcPct val="70000"/>
              </a:lnSpc>
              <a:spcBef>
                <a:spcPts val="104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É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importante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ressaltarmos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todos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esses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métodos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são </a:t>
            </a:r>
            <a:r>
              <a:rPr sz="2600" dirty="0">
                <a:latin typeface="Calibri"/>
                <a:cs typeface="Calibri"/>
              </a:rPr>
              <a:t>métodos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busca</a:t>
            </a:r>
            <a:r>
              <a:rPr sz="2600" b="1" i="1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local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ou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seja,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eles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têm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convergência </a:t>
            </a:r>
            <a:r>
              <a:rPr sz="2600" b="1" i="1" dirty="0">
                <a:latin typeface="Calibri"/>
                <a:cs typeface="Calibri"/>
              </a:rPr>
              <a:t>assegurada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para</a:t>
            </a:r>
            <a:r>
              <a:rPr sz="2600" b="1" i="1" spc="-1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mínimos</a:t>
            </a:r>
            <a:r>
              <a:rPr sz="2600" b="1" i="1" spc="25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locais</a:t>
            </a:r>
            <a:r>
              <a:rPr sz="2600" spc="-10" dirty="0">
                <a:latin typeface="Calibri"/>
                <a:cs typeface="Calibri"/>
              </a:rPr>
              <a:t>.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2696082"/>
            <a:ext cx="8153400" cy="3919220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241300" marR="5080" indent="-228600">
              <a:lnSpc>
                <a:spcPct val="70000"/>
              </a:lnSpc>
              <a:spcBef>
                <a:spcPts val="104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Um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mínimo</a:t>
            </a:r>
            <a:r>
              <a:rPr sz="2600" b="1" i="1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(local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ou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global)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sempre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atrai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vetor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pesos </a:t>
            </a:r>
            <a:r>
              <a:rPr sz="2600" dirty="0">
                <a:latin typeface="Calibri"/>
                <a:cs typeface="Calibri"/>
              </a:rPr>
              <a:t>quando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este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encontra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em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sua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vizinhança.</a:t>
            </a:r>
            <a:endParaRPr sz="2600" dirty="0">
              <a:latin typeface="Calibri"/>
              <a:cs typeface="Calibri"/>
            </a:endParaRPr>
          </a:p>
          <a:p>
            <a:pPr marL="241300" marR="441959" indent="-228600">
              <a:lnSpc>
                <a:spcPct val="70100"/>
              </a:lnSpc>
              <a:spcBef>
                <a:spcPts val="99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Para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relembrarmos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mínimo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local,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vejamos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50" dirty="0">
                <a:latin typeface="Calibri"/>
                <a:cs typeface="Calibri"/>
              </a:rPr>
              <a:t>a </a:t>
            </a:r>
            <a:r>
              <a:rPr sz="2600" dirty="0">
                <a:latin typeface="Calibri"/>
                <a:cs typeface="Calibri"/>
              </a:rPr>
              <a:t>figura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ao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lado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onde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existem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dois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mínimos:</a:t>
            </a:r>
            <a:endParaRPr sz="2600" dirty="0">
              <a:latin typeface="Calibri"/>
              <a:cs typeface="Calibri"/>
            </a:endParaRPr>
          </a:p>
          <a:p>
            <a:pPr marL="698500" marR="896619" lvl="1" indent="-228600">
              <a:lnSpc>
                <a:spcPct val="70000"/>
              </a:lnSpc>
              <a:spcBef>
                <a:spcPts val="509"/>
              </a:spcBef>
              <a:buFont typeface="Wingdings"/>
              <a:buChar char=""/>
              <a:tabLst>
                <a:tab pos="699135" algn="l"/>
              </a:tabLst>
            </a:pPr>
            <a:r>
              <a:rPr sz="2200" dirty="0">
                <a:latin typeface="Calibri"/>
                <a:cs typeface="Calibri"/>
              </a:rPr>
              <a:t>Um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deles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é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uma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solução</a:t>
            </a:r>
            <a:r>
              <a:rPr sz="2200" b="1" i="1" spc="-6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ótima</a:t>
            </a:r>
            <a:r>
              <a:rPr sz="2200" b="1" i="1" spc="-4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em</a:t>
            </a:r>
            <a:r>
              <a:rPr sz="2200" b="1" i="1" spc="-6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relação</a:t>
            </a:r>
            <a:r>
              <a:rPr sz="2200" b="1" i="1" spc="-4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apenas</a:t>
            </a:r>
            <a:r>
              <a:rPr sz="2200" b="1" i="1" spc="-6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a</a:t>
            </a:r>
            <a:r>
              <a:rPr sz="2200" b="1" i="1" spc="-45" dirty="0">
                <a:latin typeface="Calibri"/>
                <a:cs typeface="Calibri"/>
              </a:rPr>
              <a:t> </a:t>
            </a:r>
            <a:r>
              <a:rPr sz="2200" b="1" i="1" spc="-20" dirty="0">
                <a:latin typeface="Calibri"/>
                <a:cs typeface="Calibri"/>
              </a:rPr>
              <a:t>seus </a:t>
            </a:r>
            <a:r>
              <a:rPr sz="2200" b="1" i="1" dirty="0">
                <a:latin typeface="Calibri"/>
                <a:cs typeface="Calibri"/>
              </a:rPr>
              <a:t>vizinhos</a:t>
            </a:r>
            <a:r>
              <a:rPr sz="2200" dirty="0">
                <a:latin typeface="Calibri"/>
                <a:cs typeface="Calibri"/>
              </a:rPr>
              <a:t>,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ou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seja,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um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mínimo</a:t>
            </a:r>
            <a:r>
              <a:rPr sz="2200" b="1" i="1" spc="-50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local</a:t>
            </a:r>
            <a:r>
              <a:rPr sz="2200" spc="-10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698500" marR="73660" lvl="1" indent="-228600">
              <a:lnSpc>
                <a:spcPct val="70100"/>
              </a:lnSpc>
              <a:spcBef>
                <a:spcPts val="500"/>
              </a:spcBef>
              <a:buFont typeface="Wingdings"/>
              <a:buChar char=""/>
              <a:tabLst>
                <a:tab pos="699135" algn="l"/>
              </a:tabLst>
            </a:pPr>
            <a:r>
              <a:rPr sz="2200" dirty="0">
                <a:latin typeface="Calibri"/>
                <a:cs typeface="Calibri"/>
              </a:rPr>
              <a:t>O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outro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também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é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uma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solução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ótima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em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relação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seus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vizinhos </a:t>
            </a:r>
            <a:r>
              <a:rPr sz="2200" dirty="0">
                <a:latin typeface="Calibri"/>
                <a:cs typeface="Calibri"/>
              </a:rPr>
              <a:t>(</a:t>
            </a:r>
            <a:r>
              <a:rPr sz="2200" b="1" i="1" dirty="0">
                <a:latin typeface="Calibri"/>
                <a:cs typeface="Calibri"/>
              </a:rPr>
              <a:t>mínimo</a:t>
            </a:r>
            <a:r>
              <a:rPr sz="2200" b="1" i="1" spc="-6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local</a:t>
            </a:r>
            <a:r>
              <a:rPr sz="2200" dirty="0">
                <a:latin typeface="Calibri"/>
                <a:cs typeface="Calibri"/>
              </a:rPr>
              <a:t>),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também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em</a:t>
            </a:r>
            <a:r>
              <a:rPr sz="2200" b="1" i="1" spc="-7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relação</a:t>
            </a:r>
            <a:r>
              <a:rPr sz="2200" b="1" i="1" spc="-6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a</a:t>
            </a:r>
            <a:r>
              <a:rPr sz="2200" b="1" i="1" spc="-6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todo</a:t>
            </a:r>
            <a:r>
              <a:rPr sz="2200" b="1" i="1" spc="-5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o</a:t>
            </a:r>
            <a:r>
              <a:rPr sz="2200" b="1" i="1" spc="-6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domínio</a:t>
            </a:r>
            <a:r>
              <a:rPr sz="2200" b="1" i="1" spc="-65" dirty="0">
                <a:latin typeface="Calibri"/>
                <a:cs typeface="Calibri"/>
              </a:rPr>
              <a:t> </a:t>
            </a:r>
            <a:r>
              <a:rPr sz="2200" b="1" i="1" spc="-25" dirty="0">
                <a:latin typeface="Calibri"/>
                <a:cs typeface="Calibri"/>
              </a:rPr>
              <a:t>da </a:t>
            </a:r>
            <a:r>
              <a:rPr sz="2200" b="1" i="1" dirty="0">
                <a:latin typeface="Calibri"/>
                <a:cs typeface="Calibri"/>
              </a:rPr>
              <a:t>função</a:t>
            </a:r>
            <a:r>
              <a:rPr sz="2200" b="1" i="1" spc="-6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de</a:t>
            </a:r>
            <a:r>
              <a:rPr sz="2200" b="1" i="1" spc="-6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custo</a:t>
            </a:r>
            <a:r>
              <a:rPr sz="2200" dirty="0">
                <a:latin typeface="Calibri"/>
                <a:cs typeface="Calibri"/>
              </a:rPr>
              <a:t>.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Este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é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um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mínimo</a:t>
            </a:r>
            <a:r>
              <a:rPr sz="2200" b="1" i="1" spc="-70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global</a:t>
            </a:r>
            <a:r>
              <a:rPr sz="2200" spc="-10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241300" marR="95885" indent="-228600">
              <a:lnSpc>
                <a:spcPct val="70000"/>
              </a:lnSpc>
              <a:spcBef>
                <a:spcPts val="99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Por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serem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formadas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pela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combinação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vários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nós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com </a:t>
            </a:r>
            <a:r>
              <a:rPr sz="2600" dirty="0">
                <a:latin typeface="Calibri"/>
                <a:cs typeface="Calibri"/>
              </a:rPr>
              <a:t>funções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ativação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não-</a:t>
            </a:r>
            <a:r>
              <a:rPr sz="2600" dirty="0">
                <a:latin typeface="Calibri"/>
                <a:cs typeface="Calibri"/>
              </a:rPr>
              <a:t>lineares,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superfícies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erro</a:t>
            </a:r>
            <a:r>
              <a:rPr sz="2600" spc="-25" dirty="0">
                <a:latin typeface="Calibri"/>
                <a:cs typeface="Calibri"/>
              </a:rPr>
              <a:t> de </a:t>
            </a:r>
            <a:r>
              <a:rPr sz="2600" dirty="0">
                <a:latin typeface="Calibri"/>
                <a:cs typeface="Calibri"/>
              </a:rPr>
              <a:t>redes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neurais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FF0000"/>
                </a:solidFill>
                <a:latin typeface="Calibri"/>
                <a:cs typeface="Calibri"/>
              </a:rPr>
              <a:t>não</a:t>
            </a:r>
            <a:r>
              <a:rPr sz="2600" b="1" i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FF0000"/>
                </a:solidFill>
                <a:latin typeface="Calibri"/>
                <a:cs typeface="Calibri"/>
              </a:rPr>
              <a:t>são</a:t>
            </a:r>
            <a:r>
              <a:rPr sz="2600" b="1" i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b="1" i="1" spc="-10" dirty="0">
                <a:solidFill>
                  <a:srgbClr val="FF0000"/>
                </a:solidFill>
                <a:latin typeface="Calibri"/>
                <a:cs typeface="Calibri"/>
              </a:rPr>
              <a:t>convexas</a:t>
            </a:r>
            <a:r>
              <a:rPr sz="2600" b="1" i="1" spc="-10" dirty="0">
                <a:latin typeface="Calibri"/>
                <a:cs typeface="Calibri"/>
              </a:rPr>
              <a:t>,</a:t>
            </a:r>
            <a:r>
              <a:rPr sz="2600" b="1" i="1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ou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seja,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são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altamente </a:t>
            </a:r>
            <a:r>
              <a:rPr sz="2600" b="1" i="1" dirty="0">
                <a:latin typeface="Calibri"/>
                <a:cs typeface="Calibri"/>
              </a:rPr>
              <a:t>irregulares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podendo</a:t>
            </a:r>
            <a:r>
              <a:rPr sz="2600" b="1" i="1" spc="-4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conter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vários</a:t>
            </a:r>
            <a:r>
              <a:rPr sz="2600" b="1" i="1" spc="-4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mínimos</a:t>
            </a:r>
            <a:r>
              <a:rPr sz="2600" b="1" i="1" spc="-45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locais</a:t>
            </a:r>
            <a:r>
              <a:rPr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310878" y="4825949"/>
            <a:ext cx="2766060" cy="1520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5"/>
              </a:spcBef>
            </a:pPr>
            <a:r>
              <a:rPr sz="1400" b="1" spc="-20" dirty="0">
                <a:latin typeface="Calibri"/>
                <a:cs typeface="Calibri"/>
              </a:rPr>
              <a:t>IMPORTANTE</a:t>
            </a:r>
            <a:r>
              <a:rPr sz="1400" spc="-20" dirty="0">
                <a:latin typeface="Calibri"/>
                <a:cs typeface="Calibri"/>
              </a:rPr>
              <a:t>: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Para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muitos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problemas envolvendo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redes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neurais,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quase </a:t>
            </a:r>
            <a:r>
              <a:rPr sz="1400" dirty="0">
                <a:latin typeface="Calibri"/>
                <a:cs typeface="Calibri"/>
              </a:rPr>
              <a:t>todos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os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mínimos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locais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têm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um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valor </a:t>
            </a:r>
            <a:r>
              <a:rPr sz="1400" dirty="0">
                <a:latin typeface="Calibri"/>
                <a:cs typeface="Calibri"/>
              </a:rPr>
              <a:t>muito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semelhante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ao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do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mínimo </a:t>
            </a:r>
            <a:r>
              <a:rPr sz="1400" dirty="0">
                <a:latin typeface="Calibri"/>
                <a:cs typeface="Calibri"/>
              </a:rPr>
              <a:t>global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e,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portanto,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encontrar </a:t>
            </a:r>
            <a:r>
              <a:rPr sz="1400" spc="-25" dirty="0">
                <a:latin typeface="Calibri"/>
                <a:cs typeface="Calibri"/>
              </a:rPr>
              <a:t>um </a:t>
            </a:r>
            <a:r>
              <a:rPr sz="1400" dirty="0">
                <a:latin typeface="Calibri"/>
                <a:cs typeface="Calibri"/>
              </a:rPr>
              <a:t>mínimo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local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já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é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bom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suficiente </a:t>
            </a:r>
            <a:r>
              <a:rPr sz="1400" dirty="0">
                <a:latin typeface="Calibri"/>
                <a:cs typeface="Calibri"/>
              </a:rPr>
              <a:t>para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um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dada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problema.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924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Mínimos</a:t>
            </a:r>
            <a:r>
              <a:rPr spc="-50" dirty="0"/>
              <a:t> </a:t>
            </a:r>
            <a:r>
              <a:rPr dirty="0"/>
              <a:t>Locais,</a:t>
            </a:r>
            <a:r>
              <a:rPr spc="-40" dirty="0"/>
              <a:t> </a:t>
            </a:r>
            <a:r>
              <a:rPr dirty="0"/>
              <a:t>Globais,</a:t>
            </a:r>
            <a:r>
              <a:rPr spc="-35" dirty="0"/>
              <a:t> </a:t>
            </a:r>
            <a:r>
              <a:rPr dirty="0"/>
              <a:t>Pontos</a:t>
            </a:r>
            <a:r>
              <a:rPr spc="-10" dirty="0"/>
              <a:t> </a:t>
            </a:r>
            <a:r>
              <a:rPr dirty="0"/>
              <a:t>de</a:t>
            </a:r>
            <a:r>
              <a:rPr spc="-40" dirty="0"/>
              <a:t> </a:t>
            </a:r>
            <a:r>
              <a:rPr dirty="0"/>
              <a:t>Sela</a:t>
            </a:r>
            <a:r>
              <a:rPr spc="-40" dirty="0"/>
              <a:t> </a:t>
            </a:r>
            <a:r>
              <a:rPr dirty="0"/>
              <a:t>e</a:t>
            </a:r>
            <a:r>
              <a:rPr spc="-25" dirty="0"/>
              <a:t> </a:t>
            </a:r>
            <a:r>
              <a:rPr spc="-10" dirty="0"/>
              <a:t>Platôs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E94C6FC9-6501-D43F-C5AA-28B646C07C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0339" y="1728362"/>
            <a:ext cx="2772162" cy="250542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924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Mínimos</a:t>
            </a:r>
            <a:r>
              <a:rPr spc="-50" dirty="0"/>
              <a:t> </a:t>
            </a:r>
            <a:r>
              <a:rPr dirty="0"/>
              <a:t>Locais,</a:t>
            </a:r>
            <a:r>
              <a:rPr spc="-40" dirty="0"/>
              <a:t> </a:t>
            </a:r>
            <a:r>
              <a:rPr dirty="0"/>
              <a:t>Globais,</a:t>
            </a:r>
            <a:r>
              <a:rPr spc="-35" dirty="0"/>
              <a:t> </a:t>
            </a:r>
            <a:r>
              <a:rPr dirty="0"/>
              <a:t>Pontos</a:t>
            </a:r>
            <a:r>
              <a:rPr spc="-10" dirty="0"/>
              <a:t> </a:t>
            </a:r>
            <a:r>
              <a:rPr dirty="0"/>
              <a:t>de</a:t>
            </a:r>
            <a:r>
              <a:rPr spc="-40" dirty="0"/>
              <a:t> </a:t>
            </a:r>
            <a:r>
              <a:rPr dirty="0"/>
              <a:t>Sela</a:t>
            </a:r>
            <a:r>
              <a:rPr spc="-40" dirty="0"/>
              <a:t> </a:t>
            </a:r>
            <a:r>
              <a:rPr dirty="0"/>
              <a:t>e</a:t>
            </a:r>
            <a:r>
              <a:rPr spc="-25" dirty="0"/>
              <a:t> </a:t>
            </a:r>
            <a:r>
              <a:rPr spc="-10" dirty="0"/>
              <a:t>Platôs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661541"/>
            <a:ext cx="7118984" cy="5076825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241300" marR="367665" indent="-228600">
              <a:lnSpc>
                <a:spcPts val="2690"/>
              </a:lnSpc>
              <a:spcBef>
                <a:spcPts val="74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Outra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irregularidade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podemos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encontrar </a:t>
            </a:r>
            <a:r>
              <a:rPr sz="2800" dirty="0">
                <a:latin typeface="Calibri"/>
                <a:cs typeface="Calibri"/>
              </a:rPr>
              <a:t>são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chamados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pontos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8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sela</a:t>
            </a:r>
            <a:r>
              <a:rPr sz="2800" spc="-10" dirty="0">
                <a:latin typeface="Calibri"/>
                <a:cs typeface="Calibri"/>
              </a:rPr>
              <a:t>:</a:t>
            </a:r>
            <a:endParaRPr sz="2800" dirty="0">
              <a:latin typeface="Calibri"/>
              <a:cs typeface="Calibri"/>
            </a:endParaRPr>
          </a:p>
          <a:p>
            <a:pPr marL="698500" lvl="1" indent="-229235">
              <a:lnSpc>
                <a:spcPts val="2560"/>
              </a:lnSpc>
              <a:spcBef>
                <a:spcPts val="5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Um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ponto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mínimo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longo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de</a:t>
            </a:r>
            <a:endParaRPr sz="2400" dirty="0">
              <a:latin typeface="Calibri"/>
              <a:cs typeface="Calibri"/>
            </a:endParaRPr>
          </a:p>
          <a:p>
            <a:pPr marL="698500">
              <a:lnSpc>
                <a:spcPts val="2550"/>
              </a:lnSpc>
            </a:pPr>
            <a:r>
              <a:rPr sz="2400" dirty="0">
                <a:latin typeface="Calibri"/>
                <a:cs typeface="Calibri"/>
              </a:rPr>
              <a:t>um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eixo,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máximo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longo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outro.</a:t>
            </a:r>
            <a:endParaRPr sz="2400" dirty="0">
              <a:latin typeface="Calibri"/>
              <a:cs typeface="Calibri"/>
            </a:endParaRPr>
          </a:p>
          <a:p>
            <a:pPr marL="698500" marR="934085" lvl="1" indent="-228600">
              <a:lnSpc>
                <a:spcPts val="2300"/>
              </a:lnSpc>
              <a:spcBef>
                <a:spcPts val="515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Em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algumas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direções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são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atratores</a:t>
            </a:r>
            <a:r>
              <a:rPr sz="2400" b="1" i="1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(i.e.,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alta </a:t>
            </a:r>
            <a:r>
              <a:rPr sz="2400" dirty="0">
                <a:latin typeface="Calibri"/>
                <a:cs typeface="Calibri"/>
              </a:rPr>
              <a:t>declividade),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em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outras</a:t>
            </a:r>
            <a:r>
              <a:rPr sz="2400" spc="-20" dirty="0">
                <a:latin typeface="Calibri"/>
                <a:cs typeface="Calibri"/>
              </a:rPr>
              <a:t> não.</a:t>
            </a:r>
            <a:endParaRPr sz="2400" dirty="0">
              <a:latin typeface="Calibri"/>
              <a:cs typeface="Calibri"/>
            </a:endParaRPr>
          </a:p>
          <a:p>
            <a:pPr marL="241300" marR="5080" indent="-228600">
              <a:lnSpc>
                <a:spcPct val="80000"/>
              </a:lnSpc>
              <a:spcBef>
                <a:spcPts val="1019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algoritmo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minimização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função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custo </a:t>
            </a:r>
            <a:r>
              <a:rPr sz="2800" dirty="0">
                <a:latin typeface="Calibri"/>
                <a:cs typeface="Calibri"/>
              </a:rPr>
              <a:t>pode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passar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longo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período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tempo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sendo </a:t>
            </a:r>
            <a:r>
              <a:rPr sz="2800" b="1" i="1" dirty="0">
                <a:latin typeface="Calibri"/>
                <a:cs typeface="Calibri"/>
              </a:rPr>
              <a:t>atraído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por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eles,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prejudica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seu </a:t>
            </a:r>
            <a:r>
              <a:rPr sz="2800" spc="-10" dirty="0">
                <a:latin typeface="Calibri"/>
                <a:cs typeface="Calibri"/>
              </a:rPr>
              <a:t>desempenho.</a:t>
            </a:r>
            <a:endParaRPr sz="2800" dirty="0">
              <a:latin typeface="Calibri"/>
              <a:cs typeface="Calibri"/>
            </a:endParaRPr>
          </a:p>
          <a:p>
            <a:pPr marL="241300" marR="54610" indent="-228600">
              <a:lnSpc>
                <a:spcPct val="800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Para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escapar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destes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pontos,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35" dirty="0">
                <a:latin typeface="Calibri"/>
                <a:cs typeface="Calibri"/>
              </a:rPr>
              <a:t>usa-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métodos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de </a:t>
            </a:r>
            <a:r>
              <a:rPr sz="2800" b="1" i="1" dirty="0">
                <a:latin typeface="Calibri"/>
                <a:cs typeface="Calibri"/>
              </a:rPr>
              <a:t>segunda</a:t>
            </a:r>
            <a:r>
              <a:rPr sz="2800" b="1" i="1" spc="-10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ordem</a:t>
            </a:r>
            <a:r>
              <a:rPr sz="2800" b="1" i="1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versões</a:t>
            </a:r>
            <a:r>
              <a:rPr sz="2800" b="1" i="1" spc="-9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ruidosas</a:t>
            </a:r>
            <a:r>
              <a:rPr sz="2800" b="1" i="1" spc="-95" dirty="0">
                <a:latin typeface="Calibri"/>
                <a:cs typeface="Calibri"/>
              </a:rPr>
              <a:t> </a:t>
            </a:r>
            <a:r>
              <a:rPr sz="2800" b="1" i="1" spc="-25" dirty="0">
                <a:latin typeface="Calibri"/>
                <a:cs typeface="Calibri"/>
              </a:rPr>
              <a:t>do </a:t>
            </a:r>
            <a:r>
              <a:rPr sz="2800" b="1" i="1" dirty="0">
                <a:latin typeface="Calibri"/>
                <a:cs typeface="Calibri"/>
              </a:rPr>
              <a:t>gradiente</a:t>
            </a:r>
            <a:r>
              <a:rPr sz="2800" b="1" i="1" spc="-90" dirty="0">
                <a:latin typeface="Calibri"/>
                <a:cs typeface="Calibri"/>
              </a:rPr>
              <a:t> </a:t>
            </a:r>
            <a:r>
              <a:rPr sz="2800" b="1" i="1" spc="-20" dirty="0">
                <a:latin typeface="Calibri"/>
                <a:cs typeface="Calibri"/>
              </a:rPr>
              <a:t>descendente</a:t>
            </a:r>
            <a:r>
              <a:rPr sz="2800" spc="-20" dirty="0">
                <a:latin typeface="Calibri"/>
                <a:cs typeface="Calibri"/>
              </a:rPr>
              <a:t>,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como,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por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exemplo,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o </a:t>
            </a:r>
            <a:r>
              <a:rPr sz="2800" b="1" i="1" dirty="0">
                <a:latin typeface="Calibri"/>
                <a:cs typeface="Calibri"/>
              </a:rPr>
              <a:t>Gradiente</a:t>
            </a:r>
            <a:r>
              <a:rPr sz="2800" b="1" i="1" spc="-13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Descendente</a:t>
            </a:r>
            <a:r>
              <a:rPr sz="2800" b="1" i="1" spc="-14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Estocástico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943600" y="2188455"/>
            <a:ext cx="4139565" cy="1380490"/>
          </a:xfrm>
          <a:custGeom>
            <a:avLst/>
            <a:gdLst/>
            <a:ahLst/>
            <a:cxnLst/>
            <a:rect l="l" t="t" r="r" b="b"/>
            <a:pathLst>
              <a:path w="4139565" h="1380489">
                <a:moveTo>
                  <a:pt x="4053204" y="1352804"/>
                </a:moveTo>
                <a:lnTo>
                  <a:pt x="4044315" y="1379981"/>
                </a:lnTo>
                <a:lnTo>
                  <a:pt x="4139183" y="1365884"/>
                </a:lnTo>
                <a:lnTo>
                  <a:pt x="4130450" y="1357248"/>
                </a:lnTo>
                <a:lnTo>
                  <a:pt x="4066794" y="1357248"/>
                </a:lnTo>
                <a:lnTo>
                  <a:pt x="4053204" y="1352804"/>
                </a:lnTo>
                <a:close/>
              </a:path>
              <a:path w="4139565" h="1380489">
                <a:moveTo>
                  <a:pt x="4062094" y="1325626"/>
                </a:moveTo>
                <a:lnTo>
                  <a:pt x="4053204" y="1352804"/>
                </a:lnTo>
                <a:lnTo>
                  <a:pt x="4066794" y="1357248"/>
                </a:lnTo>
                <a:lnTo>
                  <a:pt x="4075683" y="1330070"/>
                </a:lnTo>
                <a:lnTo>
                  <a:pt x="4062094" y="1325626"/>
                </a:lnTo>
                <a:close/>
              </a:path>
              <a:path w="4139565" h="1380489">
                <a:moveTo>
                  <a:pt x="4070984" y="1298447"/>
                </a:moveTo>
                <a:lnTo>
                  <a:pt x="4062094" y="1325626"/>
                </a:lnTo>
                <a:lnTo>
                  <a:pt x="4075683" y="1330070"/>
                </a:lnTo>
                <a:lnTo>
                  <a:pt x="4066794" y="1357248"/>
                </a:lnTo>
                <a:lnTo>
                  <a:pt x="4130450" y="1357248"/>
                </a:lnTo>
                <a:lnTo>
                  <a:pt x="4070984" y="1298447"/>
                </a:lnTo>
                <a:close/>
              </a:path>
              <a:path w="4139565" h="1380489">
                <a:moveTo>
                  <a:pt x="8889" y="0"/>
                </a:moveTo>
                <a:lnTo>
                  <a:pt x="0" y="27177"/>
                </a:lnTo>
                <a:lnTo>
                  <a:pt x="4053204" y="1352804"/>
                </a:lnTo>
                <a:lnTo>
                  <a:pt x="4062094" y="1325626"/>
                </a:lnTo>
                <a:lnTo>
                  <a:pt x="888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34364A11-0F91-67B6-7424-5E397DCA1F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8419" y="2057400"/>
            <a:ext cx="3629532" cy="3505689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924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Mínimos</a:t>
            </a:r>
            <a:r>
              <a:rPr spc="-50" dirty="0"/>
              <a:t> </a:t>
            </a:r>
            <a:r>
              <a:rPr dirty="0"/>
              <a:t>Locais,</a:t>
            </a:r>
            <a:r>
              <a:rPr spc="-40" dirty="0"/>
              <a:t> </a:t>
            </a:r>
            <a:r>
              <a:rPr dirty="0"/>
              <a:t>Globais,</a:t>
            </a:r>
            <a:r>
              <a:rPr spc="-35" dirty="0"/>
              <a:t> </a:t>
            </a:r>
            <a:r>
              <a:rPr dirty="0"/>
              <a:t>Pontos</a:t>
            </a:r>
            <a:r>
              <a:rPr spc="-10" dirty="0"/>
              <a:t> </a:t>
            </a:r>
            <a:r>
              <a:rPr dirty="0"/>
              <a:t>de</a:t>
            </a:r>
            <a:r>
              <a:rPr spc="-40" dirty="0"/>
              <a:t> </a:t>
            </a:r>
            <a:r>
              <a:rPr dirty="0"/>
              <a:t>Sela</a:t>
            </a:r>
            <a:r>
              <a:rPr spc="-40" dirty="0"/>
              <a:t> </a:t>
            </a:r>
            <a:r>
              <a:rPr dirty="0"/>
              <a:t>e</a:t>
            </a:r>
            <a:r>
              <a:rPr spc="-25" dirty="0"/>
              <a:t> </a:t>
            </a:r>
            <a:r>
              <a:rPr spc="-10" dirty="0"/>
              <a:t>Platôs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699641"/>
            <a:ext cx="7099300" cy="5060315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241300" marR="99695" indent="-228600">
              <a:lnSpc>
                <a:spcPts val="2810"/>
              </a:lnSpc>
              <a:spcBef>
                <a:spcPts val="45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Outro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tipo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irregularidade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são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platôs</a:t>
            </a:r>
            <a:r>
              <a:rPr sz="2600" dirty="0">
                <a:latin typeface="Calibri"/>
                <a:cs typeface="Calibri"/>
              </a:rPr>
              <a:t>: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regiões </a:t>
            </a:r>
            <a:r>
              <a:rPr sz="2600" dirty="0">
                <a:latin typeface="Calibri"/>
                <a:cs typeface="Calibri"/>
              </a:rPr>
              <a:t>planas,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erro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elevado.</a:t>
            </a:r>
            <a:endParaRPr sz="2600" dirty="0">
              <a:latin typeface="Calibri"/>
              <a:cs typeface="Calibri"/>
            </a:endParaRPr>
          </a:p>
          <a:p>
            <a:pPr marL="698500" marR="360680" lvl="1" indent="-228600">
              <a:lnSpc>
                <a:spcPts val="2380"/>
              </a:lnSpc>
              <a:spcBef>
                <a:spcPts val="509"/>
              </a:spcBef>
              <a:buFont typeface="Wingdings"/>
              <a:buChar char=""/>
              <a:tabLst>
                <a:tab pos="699135" algn="l"/>
              </a:tabLst>
            </a:pPr>
            <a:r>
              <a:rPr sz="2200" dirty="0">
                <a:latin typeface="Calibri"/>
                <a:cs typeface="Calibri"/>
              </a:rPr>
              <a:t>Como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inclinação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nesta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região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é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próxima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zero (consequentemente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gradiente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é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próximo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zero)</a:t>
            </a:r>
            <a:r>
              <a:rPr sz="2200" spc="-50" dirty="0">
                <a:latin typeface="Calibri"/>
                <a:cs typeface="Calibri"/>
              </a:rPr>
              <a:t> o </a:t>
            </a:r>
            <a:r>
              <a:rPr sz="2200" dirty="0">
                <a:latin typeface="Calibri"/>
                <a:cs typeface="Calibri"/>
              </a:rPr>
              <a:t>algoritmo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pode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levar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muito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tempo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para</a:t>
            </a:r>
            <a:r>
              <a:rPr sz="2200" spc="-90" dirty="0">
                <a:latin typeface="Calibri"/>
                <a:cs typeface="Calibri"/>
              </a:rPr>
              <a:t> </a:t>
            </a:r>
            <a:r>
              <a:rPr sz="2200" spc="-30" dirty="0">
                <a:latin typeface="Calibri"/>
                <a:cs typeface="Calibri"/>
              </a:rPr>
              <a:t>atravesá-</a:t>
            </a:r>
            <a:r>
              <a:rPr sz="2200" spc="-25" dirty="0">
                <a:latin typeface="Calibri"/>
                <a:cs typeface="Calibri"/>
              </a:rPr>
              <a:t>la.</a:t>
            </a:r>
            <a:endParaRPr sz="2200" dirty="0">
              <a:latin typeface="Calibri"/>
              <a:cs typeface="Calibri"/>
            </a:endParaRPr>
          </a:p>
          <a:p>
            <a:pPr marL="241300" marR="5080" indent="-228600">
              <a:lnSpc>
                <a:spcPts val="2810"/>
              </a:lnSpc>
              <a:spcBef>
                <a:spcPts val="98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Para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escapar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destas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regiões,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usa-</a:t>
            </a:r>
            <a:r>
              <a:rPr sz="2600" dirty="0">
                <a:latin typeface="Calibri"/>
                <a:cs typeface="Calibri"/>
              </a:rPr>
              <a:t>se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métodos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de </a:t>
            </a:r>
            <a:r>
              <a:rPr sz="2600" b="1" i="1" dirty="0">
                <a:latin typeface="Calibri"/>
                <a:cs typeface="Calibri"/>
              </a:rPr>
              <a:t>aprendizado</a:t>
            </a:r>
            <a:r>
              <a:rPr sz="2600" b="1" i="1" spc="-7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adaptativo</a:t>
            </a:r>
            <a:r>
              <a:rPr sz="2600" b="1" i="1" spc="-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AdaGrad,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RMSProp, </a:t>
            </a:r>
            <a:r>
              <a:rPr sz="2600" dirty="0">
                <a:latin typeface="Calibri"/>
                <a:cs typeface="Calibri"/>
              </a:rPr>
              <a:t>Adam,</a:t>
            </a:r>
            <a:r>
              <a:rPr sz="2600" spc="-20" dirty="0">
                <a:latin typeface="Calibri"/>
                <a:cs typeface="Calibri"/>
              </a:rPr>
              <a:t> etc.</a:t>
            </a:r>
            <a:endParaRPr sz="2600" dirty="0">
              <a:latin typeface="Calibri"/>
              <a:cs typeface="Calibri"/>
            </a:endParaRPr>
          </a:p>
          <a:p>
            <a:pPr marL="241300" marR="86360" indent="-228600">
              <a:lnSpc>
                <a:spcPts val="2810"/>
              </a:lnSpc>
              <a:spcBef>
                <a:spcPts val="990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10" dirty="0">
                <a:latin typeface="Calibri"/>
                <a:cs typeface="Calibri"/>
              </a:rPr>
              <a:t>Portanto,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garantir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mínimo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encontrado 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bom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 </a:t>
            </a:r>
            <a:r>
              <a:rPr sz="2600" spc="-10" dirty="0">
                <a:latin typeface="Calibri"/>
                <a:cs typeface="Calibri"/>
              </a:rPr>
              <a:t>suficiente?</a:t>
            </a:r>
            <a:endParaRPr sz="2600" dirty="0">
              <a:latin typeface="Calibri"/>
              <a:cs typeface="Calibri"/>
            </a:endParaRPr>
          </a:p>
          <a:p>
            <a:pPr marL="698500" marR="60325" lvl="1" indent="-228600">
              <a:lnSpc>
                <a:spcPct val="90000"/>
              </a:lnSpc>
              <a:spcBef>
                <a:spcPts val="490"/>
              </a:spcBef>
              <a:buFont typeface="Wingdings"/>
              <a:buChar char=""/>
              <a:tabLst>
                <a:tab pos="699135" algn="l"/>
              </a:tabLst>
            </a:pPr>
            <a:r>
              <a:rPr sz="2200" spc="-40" dirty="0">
                <a:latin typeface="Calibri"/>
                <a:cs typeface="Calibri"/>
              </a:rPr>
              <a:t>Treina-</a:t>
            </a:r>
            <a:r>
              <a:rPr sz="2200" dirty="0">
                <a:latin typeface="Calibri"/>
                <a:cs typeface="Calibri"/>
              </a:rPr>
              <a:t>se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modelo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várias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vezes,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sempre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inicializando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os </a:t>
            </a:r>
            <a:r>
              <a:rPr sz="2200" b="1" i="1" dirty="0">
                <a:latin typeface="Calibri"/>
                <a:cs typeface="Calibri"/>
              </a:rPr>
              <a:t>pesos</a:t>
            </a:r>
            <a:r>
              <a:rPr sz="2200" b="1" i="1" spc="-60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aleatoriamente</a:t>
            </a:r>
            <a:r>
              <a:rPr sz="2200" spc="-10" dirty="0">
                <a:latin typeface="Calibri"/>
                <a:cs typeface="Calibri"/>
              </a:rPr>
              <a:t>,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com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esperança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que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em </a:t>
            </a:r>
            <a:r>
              <a:rPr sz="2200" dirty="0">
                <a:latin typeface="Calibri"/>
                <a:cs typeface="Calibri"/>
              </a:rPr>
              <a:t>alguma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dessas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vezes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ele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inicialize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mais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próximo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do </a:t>
            </a:r>
            <a:r>
              <a:rPr sz="2200" dirty="0">
                <a:latin typeface="Calibri"/>
                <a:cs typeface="Calibri"/>
              </a:rPr>
              <a:t>mínimo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global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ou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um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bom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mínimo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local.</a:t>
            </a:r>
            <a:endParaRPr sz="220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354317" y="1327403"/>
            <a:ext cx="5679440" cy="2265045"/>
            <a:chOff x="6354317" y="1327403"/>
            <a:chExt cx="5679440" cy="2265045"/>
          </a:xfrm>
        </p:grpSpPr>
        <p:sp>
          <p:nvSpPr>
            <p:cNvPr id="5" name="object 5"/>
            <p:cNvSpPr/>
            <p:nvPr/>
          </p:nvSpPr>
          <p:spPr>
            <a:xfrm>
              <a:off x="6354317" y="2066797"/>
              <a:ext cx="4570730" cy="555625"/>
            </a:xfrm>
            <a:custGeom>
              <a:avLst/>
              <a:gdLst/>
              <a:ahLst/>
              <a:cxnLst/>
              <a:rect l="l" t="t" r="r" b="b"/>
              <a:pathLst>
                <a:path w="4570730" h="555625">
                  <a:moveTo>
                    <a:pt x="4484000" y="526993"/>
                  </a:moveTo>
                  <a:lnTo>
                    <a:pt x="4480814" y="555498"/>
                  </a:lnTo>
                  <a:lnTo>
                    <a:pt x="4553849" y="528574"/>
                  </a:lnTo>
                  <a:lnTo>
                    <a:pt x="4498213" y="528574"/>
                  </a:lnTo>
                  <a:lnTo>
                    <a:pt x="4484000" y="526993"/>
                  </a:lnTo>
                  <a:close/>
                </a:path>
                <a:path w="4570730" h="555625">
                  <a:moveTo>
                    <a:pt x="4487165" y="498671"/>
                  </a:moveTo>
                  <a:lnTo>
                    <a:pt x="4484000" y="526993"/>
                  </a:lnTo>
                  <a:lnTo>
                    <a:pt x="4498213" y="528574"/>
                  </a:lnTo>
                  <a:lnTo>
                    <a:pt x="4501388" y="500252"/>
                  </a:lnTo>
                  <a:lnTo>
                    <a:pt x="4487165" y="498671"/>
                  </a:lnTo>
                  <a:close/>
                </a:path>
                <a:path w="4570730" h="555625">
                  <a:moveTo>
                    <a:pt x="4490339" y="470280"/>
                  </a:moveTo>
                  <a:lnTo>
                    <a:pt x="4487165" y="498671"/>
                  </a:lnTo>
                  <a:lnTo>
                    <a:pt x="4501388" y="500252"/>
                  </a:lnTo>
                  <a:lnTo>
                    <a:pt x="4498213" y="528574"/>
                  </a:lnTo>
                  <a:lnTo>
                    <a:pt x="4553849" y="528574"/>
                  </a:lnTo>
                  <a:lnTo>
                    <a:pt x="4570730" y="522350"/>
                  </a:lnTo>
                  <a:lnTo>
                    <a:pt x="4490339" y="470280"/>
                  </a:lnTo>
                  <a:close/>
                </a:path>
                <a:path w="4570730" h="555625">
                  <a:moveTo>
                    <a:pt x="3048" y="0"/>
                  </a:moveTo>
                  <a:lnTo>
                    <a:pt x="0" y="28448"/>
                  </a:lnTo>
                  <a:lnTo>
                    <a:pt x="4484000" y="526993"/>
                  </a:lnTo>
                  <a:lnTo>
                    <a:pt x="4487165" y="498671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73795" y="1327403"/>
              <a:ext cx="3759707" cy="2264664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09788" y="4207762"/>
            <a:ext cx="3887724" cy="262737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8355330" y="3899408"/>
            <a:ext cx="369252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latin typeface="Calibri"/>
                <a:cs typeface="Calibri"/>
              </a:rPr>
              <a:t>Exemplo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da</a:t>
            </a:r>
            <a:r>
              <a:rPr sz="1400" b="1" spc="-1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superfície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de</a:t>
            </a:r>
            <a:r>
              <a:rPr sz="1400" b="1" spc="-1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erro</a:t>
            </a:r>
            <a:r>
              <a:rPr sz="1400" b="1" spc="-4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de</a:t>
            </a:r>
            <a:r>
              <a:rPr sz="1400" b="1" spc="-2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uma</a:t>
            </a:r>
            <a:r>
              <a:rPr sz="1400" b="1" spc="-1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rede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neural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39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Retropropagação</a:t>
            </a:r>
            <a:r>
              <a:rPr spc="-125" dirty="0"/>
              <a:t> </a:t>
            </a:r>
            <a:r>
              <a:rPr dirty="0"/>
              <a:t>do</a:t>
            </a:r>
            <a:r>
              <a:rPr spc="-114" dirty="0"/>
              <a:t> </a:t>
            </a:r>
            <a:r>
              <a:rPr spc="-20" dirty="0"/>
              <a:t>Erro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66062"/>
            <a:ext cx="10806430" cy="5018405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241300" marR="1009650" indent="-228600">
              <a:lnSpc>
                <a:spcPct val="80000"/>
              </a:lnSpc>
              <a:spcBef>
                <a:spcPts val="72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Conforme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nós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discutimos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anteriormente,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métodos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fundamentais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de </a:t>
            </a:r>
            <a:r>
              <a:rPr sz="2600" b="1" i="1" dirty="0">
                <a:latin typeface="Calibri"/>
                <a:cs typeface="Calibri"/>
              </a:rPr>
              <a:t>aprendizado</a:t>
            </a:r>
            <a:r>
              <a:rPr sz="2600" b="1" i="1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para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redes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neurais</a:t>
            </a:r>
            <a:r>
              <a:rPr sz="2600" b="1" i="1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são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baseados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no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cálculo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derivadas </a:t>
            </a:r>
            <a:r>
              <a:rPr sz="2600" b="1" i="1" dirty="0">
                <a:latin typeface="Calibri"/>
                <a:cs typeface="Calibri"/>
              </a:rPr>
              <a:t>parciais</a:t>
            </a:r>
            <a:r>
              <a:rPr sz="2600" b="1" i="1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função</a:t>
            </a:r>
            <a:r>
              <a:rPr sz="2600" b="1" i="1" spc="-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erro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(ou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custo/perda</a:t>
            </a:r>
            <a:r>
              <a:rPr sz="2600" dirty="0">
                <a:latin typeface="Calibri"/>
                <a:cs typeface="Calibri"/>
              </a:rPr>
              <a:t>)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relação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aos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pesos sinápticos</a:t>
            </a:r>
            <a:r>
              <a:rPr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ts val="2810"/>
              </a:lnSpc>
              <a:spcBef>
                <a:spcPts val="37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Esses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métodos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têm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objetivo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encontrar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conjunto</a:t>
            </a:r>
            <a:r>
              <a:rPr sz="2600" b="1" i="1" spc="-1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pesos</a:t>
            </a:r>
            <a:r>
              <a:rPr sz="2600" b="1" i="1" spc="-55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sinápticos</a:t>
            </a:r>
            <a:endParaRPr sz="2600" dirty="0">
              <a:latin typeface="Calibri"/>
              <a:cs typeface="Calibri"/>
            </a:endParaRPr>
          </a:p>
          <a:p>
            <a:pPr marL="241300">
              <a:lnSpc>
                <a:spcPts val="2810"/>
              </a:lnSpc>
            </a:pPr>
            <a:r>
              <a:rPr sz="2600" dirty="0">
                <a:latin typeface="Calibri"/>
                <a:cs typeface="Calibri"/>
              </a:rPr>
              <a:t>que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minimize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métrica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(função)</a:t>
            </a:r>
            <a:r>
              <a:rPr sz="2600" b="1" i="1" spc="-2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erro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escolhida.</a:t>
            </a:r>
            <a:endParaRPr sz="2600" dirty="0">
              <a:latin typeface="Calibri"/>
              <a:cs typeface="Calibri"/>
            </a:endParaRPr>
          </a:p>
          <a:p>
            <a:pPr marL="241300" marR="5080" indent="-228600">
              <a:lnSpc>
                <a:spcPct val="8000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Para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isso,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necessário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encontrar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maneira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calcular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vetor</a:t>
            </a:r>
            <a:r>
              <a:rPr sz="2600" b="1" i="1" spc="-55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gradiente </a:t>
            </a:r>
            <a:r>
              <a:rPr sz="2600" dirty="0">
                <a:latin typeface="Calibri"/>
                <a:cs typeface="Calibri"/>
              </a:rPr>
              <a:t>da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função</a:t>
            </a:r>
            <a:r>
              <a:rPr sz="2600" b="1" i="1" spc="-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custo</a:t>
            </a:r>
            <a:r>
              <a:rPr sz="2600" b="1" i="1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respeito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aos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pesos</a:t>
            </a:r>
            <a:r>
              <a:rPr sz="2600" b="1" i="1" spc="-4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sinápticos</a:t>
            </a:r>
            <a:r>
              <a:rPr sz="2600" b="1" i="1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das</a:t>
            </a:r>
            <a:r>
              <a:rPr sz="2600" b="1" i="1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várias</a:t>
            </a:r>
            <a:r>
              <a:rPr sz="2600" b="1" i="1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camadas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b="1" i="1" spc="-25" dirty="0">
                <a:latin typeface="Calibri"/>
                <a:cs typeface="Calibri"/>
              </a:rPr>
              <a:t>de </a:t>
            </a:r>
            <a:r>
              <a:rPr sz="2600" b="1" i="1" dirty="0">
                <a:latin typeface="Calibri"/>
                <a:cs typeface="Calibri"/>
              </a:rPr>
              <a:t>uma</a:t>
            </a:r>
            <a:r>
              <a:rPr sz="2600" b="1" i="1" spc="-1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rede</a:t>
            </a:r>
            <a:r>
              <a:rPr sz="2600" b="1" i="1" spc="-20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neural</a:t>
            </a:r>
            <a:r>
              <a:rPr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ts val="3115"/>
              </a:lnSpc>
              <a:spcBef>
                <a:spcPts val="37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Essa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tarefa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pode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parecer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óbvia,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não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caso.</a:t>
            </a:r>
            <a:endParaRPr sz="2600" dirty="0">
              <a:latin typeface="Calibri"/>
              <a:cs typeface="Calibri"/>
            </a:endParaRPr>
          </a:p>
          <a:p>
            <a:pPr marL="698500" marR="264160" lvl="1" indent="-228600">
              <a:lnSpc>
                <a:spcPts val="2110"/>
              </a:lnSpc>
              <a:spcBef>
                <a:spcPts val="505"/>
              </a:spcBef>
              <a:buFont typeface="Wingdings"/>
              <a:buChar char=""/>
              <a:tabLst>
                <a:tab pos="699135" algn="l"/>
              </a:tabLst>
            </a:pPr>
            <a:r>
              <a:rPr sz="2200" dirty="0">
                <a:latin typeface="Calibri"/>
                <a:cs typeface="Calibri"/>
              </a:rPr>
              <a:t>Como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podemos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calcular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influência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dos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pesos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das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camadas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ocultas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no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erro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camada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saída?</a:t>
            </a:r>
            <a:endParaRPr sz="2200" dirty="0">
              <a:latin typeface="Calibri"/>
              <a:cs typeface="Calibri"/>
            </a:endParaRPr>
          </a:p>
          <a:p>
            <a:pPr marL="241300" indent="-228600">
              <a:lnSpc>
                <a:spcPts val="2810"/>
              </a:lnSpc>
              <a:spcBef>
                <a:spcPts val="37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Foram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necessários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17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anos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desde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criação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Perceptron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até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se</a:t>
            </a:r>
            <a:endParaRPr sz="2600" dirty="0">
              <a:latin typeface="Calibri"/>
              <a:cs typeface="Calibri"/>
            </a:endParaRPr>
          </a:p>
          <a:p>
            <a:pPr marL="241300">
              <a:lnSpc>
                <a:spcPts val="2810"/>
              </a:lnSpc>
            </a:pPr>
            <a:r>
              <a:rPr sz="2600" dirty="0">
                <a:latin typeface="Calibri"/>
                <a:cs typeface="Calibri"/>
              </a:rPr>
              <a:t>“</a:t>
            </a:r>
            <a:r>
              <a:rPr sz="2600" b="1" i="1" dirty="0">
                <a:latin typeface="Calibri"/>
                <a:cs typeface="Calibri"/>
              </a:rPr>
              <a:t>descobrisse</a:t>
            </a:r>
            <a:r>
              <a:rPr sz="2600" dirty="0">
                <a:latin typeface="Calibri"/>
                <a:cs typeface="Calibri"/>
              </a:rPr>
              <a:t>”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forma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treinar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RNAs.</a:t>
            </a:r>
            <a:endParaRPr sz="2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39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Retropropagação</a:t>
            </a:r>
            <a:r>
              <a:rPr spc="-125" dirty="0"/>
              <a:t> </a:t>
            </a:r>
            <a:r>
              <a:rPr dirty="0"/>
              <a:t>do</a:t>
            </a:r>
            <a:r>
              <a:rPr spc="-114" dirty="0"/>
              <a:t> </a:t>
            </a:r>
            <a:r>
              <a:rPr spc="-20" dirty="0" err="1"/>
              <a:t>Erro</a:t>
            </a:r>
            <a:endParaRPr spc="-20" dirty="0"/>
          </a:p>
        </p:txBody>
      </p:sp>
      <p:sp>
        <p:nvSpPr>
          <p:cNvPr id="3" name="object 3"/>
          <p:cNvSpPr txBox="1"/>
          <p:nvPr/>
        </p:nvSpPr>
        <p:spPr>
          <a:xfrm>
            <a:off x="836611" y="1133094"/>
            <a:ext cx="10758805" cy="836294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41300" marR="5080" indent="-228600">
              <a:lnSpc>
                <a:spcPts val="3030"/>
              </a:lnSpc>
              <a:spcBef>
                <a:spcPts val="4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Para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entendamos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melhor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porquê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não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tarefa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trivial,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nós </a:t>
            </a:r>
            <a:r>
              <a:rPr sz="2800" dirty="0">
                <a:latin typeface="Calibri"/>
                <a:cs typeface="Calibri"/>
              </a:rPr>
              <a:t>iremos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considerar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notação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abaixo,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qual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será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muito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útil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seguir.</a:t>
            </a:r>
            <a:endParaRPr sz="2800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7"/>
              <p:cNvSpPr txBox="1"/>
              <p:nvPr/>
            </p:nvSpPr>
            <p:spPr>
              <a:xfrm>
                <a:off x="1263269" y="3095664"/>
                <a:ext cx="10125075" cy="752770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266700" indent="-228600">
                  <a:spcBef>
                    <a:spcPts val="100"/>
                  </a:spcBef>
                  <a:buFont typeface="Wingdings"/>
                  <a:buChar char=""/>
                  <a:tabLst>
                    <a:tab pos="266700" algn="l"/>
                  </a:tabLst>
                </a:pPr>
                <a:r>
                  <a:rPr lang="pt-BR" sz="2400" dirty="0">
                    <a:latin typeface="Calibri"/>
                    <a:cs typeface="Calibri"/>
                  </a:rPr>
                  <a:t>O</a:t>
                </a:r>
                <a:r>
                  <a:rPr lang="pt-BR" sz="2400" spc="-2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peso</a:t>
                </a:r>
                <a:r>
                  <a:rPr lang="pt-BR" sz="2400" spc="-1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de</a:t>
                </a:r>
                <a:r>
                  <a:rPr lang="pt-BR" sz="2400" spc="-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bias,</a:t>
                </a:r>
                <a:r>
                  <a:rPr lang="pt-BR" sz="2400" spc="-15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pt-BR" sz="2400" b="0" i="1" spc="-15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SupPr>
                      <m:e>
                        <m:r>
                          <a:rPr lang="pt-BR" sz="2400" b="0" i="1" spc="-15" smtClean="0">
                            <a:latin typeface="Cambria Math" panose="02040503050406030204" pitchFamily="18" charset="0"/>
                            <a:cs typeface="Calibri"/>
                          </a:rPr>
                          <m:t>𝑏</m:t>
                        </m:r>
                      </m:e>
                      <m:sub>
                        <m:r>
                          <a:rPr lang="pt-BR" sz="2400" b="0" i="1" spc="-15" smtClean="0">
                            <a:latin typeface="Cambria Math" panose="02040503050406030204" pitchFamily="18" charset="0"/>
                            <a:cs typeface="Calibri"/>
                          </a:rPr>
                          <m:t>𝑖</m:t>
                        </m:r>
                      </m:sub>
                      <m:sup>
                        <m:r>
                          <a:rPr lang="pt-BR" sz="2400" b="0" i="1" spc="-15" smtClean="0">
                            <a:latin typeface="Cambria Math" panose="02040503050406030204" pitchFamily="18" charset="0"/>
                            <a:cs typeface="Calibri"/>
                          </a:rPr>
                          <m:t>𝑚</m:t>
                        </m:r>
                      </m:sup>
                    </m:sSubSup>
                  </m:oMath>
                </a14:m>
                <a:r>
                  <a:rPr lang="pt-BR" sz="2400" spc="120" dirty="0">
                    <a:latin typeface="Calibri"/>
                    <a:cs typeface="Calibri"/>
                  </a:rPr>
                  <a:t>,</a:t>
                </a:r>
                <a:r>
                  <a:rPr lang="pt-BR" sz="2400" spc="-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corresponde</a:t>
                </a:r>
                <a:r>
                  <a:rPr lang="pt-BR" sz="2400" spc="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ao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peso</a:t>
                </a:r>
                <a:r>
                  <a:rPr lang="pt-BR" sz="2400" spc="-1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do</a:t>
                </a:r>
                <a:r>
                  <a:rPr lang="pt-BR" sz="2400" spc="-1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mbria Math"/>
                    <a:cs typeface="Cambria Math"/>
                  </a:rPr>
                  <a:t>𝑖</a:t>
                </a:r>
                <a:r>
                  <a:rPr lang="pt-BR" sz="2400" dirty="0">
                    <a:latin typeface="Calibri"/>
                    <a:cs typeface="Calibri"/>
                  </a:rPr>
                  <a:t>-ésimo</a:t>
                </a:r>
                <a:r>
                  <a:rPr lang="pt-BR" sz="2400" spc="-20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nó</a:t>
                </a:r>
                <a:r>
                  <a:rPr lang="pt-BR" sz="2400" b="1" i="1" spc="-1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da</a:t>
                </a:r>
                <a:r>
                  <a:rPr lang="pt-BR" sz="2400" spc="-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mbria Math"/>
                    <a:cs typeface="Cambria Math"/>
                  </a:rPr>
                  <a:t>𝑚</a:t>
                </a:r>
                <a:r>
                  <a:rPr lang="pt-BR" sz="2400" dirty="0">
                    <a:latin typeface="Calibri"/>
                    <a:cs typeface="Calibri"/>
                  </a:rPr>
                  <a:t>-ésima</a:t>
                </a:r>
                <a:r>
                  <a:rPr lang="pt-BR" sz="2400" spc="-2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camada</a:t>
                </a:r>
                <a:r>
                  <a:rPr lang="pt-BR" sz="2400" spc="-20" dirty="0">
                    <a:latin typeface="Calibri"/>
                    <a:cs typeface="Calibri"/>
                  </a:rPr>
                  <a:t> </a:t>
                </a:r>
                <a:r>
                  <a:rPr lang="pt-BR" sz="2400" spc="-25" dirty="0">
                    <a:latin typeface="Calibri"/>
                    <a:cs typeface="Calibri"/>
                  </a:rPr>
                  <a:t>da </a:t>
                </a:r>
                <a:r>
                  <a:rPr lang="pt-BR" sz="2400" b="1" i="1" dirty="0">
                    <a:latin typeface="Calibri"/>
                    <a:cs typeface="Calibri"/>
                  </a:rPr>
                  <a:t>rede</a:t>
                </a:r>
                <a:r>
                  <a:rPr lang="pt-BR" sz="2400" b="1" i="1" spc="-15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neural</a:t>
                </a:r>
                <a:r>
                  <a:rPr lang="pt-BR" sz="2400" b="1" i="1" spc="-2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e</a:t>
                </a:r>
                <a:r>
                  <a:rPr lang="pt-BR" sz="2400" spc="-15" dirty="0">
                    <a:latin typeface="Calibri"/>
                    <a:cs typeface="Calibri"/>
                  </a:rPr>
                  <a:t> </a:t>
                </a:r>
                <a:r>
                  <a:rPr lang="pt-BR" sz="2400" spc="75" dirty="0">
                    <a:latin typeface="Cambria Math"/>
                    <a:cs typeface="Cambria Math"/>
                  </a:rPr>
                  <a:t>𝒃</a:t>
                </a:r>
                <a:r>
                  <a:rPr lang="pt-BR" sz="2625" spc="112" baseline="28571" dirty="0">
                    <a:latin typeface="Cambria Math"/>
                    <a:cs typeface="Cambria Math"/>
                  </a:rPr>
                  <a:t>𝑚</a:t>
                </a:r>
                <a:r>
                  <a:rPr lang="pt-BR" sz="2625" spc="397" baseline="28571" dirty="0">
                    <a:latin typeface="Cambria Math"/>
                    <a:cs typeface="Cambria Math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é</a:t>
                </a:r>
                <a:r>
                  <a:rPr lang="pt-BR" sz="2400" spc="-1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o</a:t>
                </a:r>
                <a:r>
                  <a:rPr lang="pt-BR" sz="2400" spc="-2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vetor</a:t>
                </a:r>
                <a:r>
                  <a:rPr lang="pt-BR" sz="2400" spc="-1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com</a:t>
                </a:r>
                <a:r>
                  <a:rPr lang="pt-BR" sz="2400" spc="-3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todos</a:t>
                </a:r>
                <a:r>
                  <a:rPr lang="pt-BR" sz="2400" spc="-1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os</a:t>
                </a:r>
                <a:r>
                  <a:rPr lang="pt-BR" sz="2400" spc="-2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pesos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de</a:t>
                </a:r>
                <a:r>
                  <a:rPr lang="pt-BR" sz="2400" spc="-1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bias</a:t>
                </a:r>
                <a:r>
                  <a:rPr lang="pt-BR" sz="2400" spc="-2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da</a:t>
                </a:r>
                <a:r>
                  <a:rPr lang="pt-BR" sz="2400" spc="-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mbria Math"/>
                    <a:cs typeface="Cambria Math"/>
                  </a:rPr>
                  <a:t>𝑚</a:t>
                </a:r>
                <a:r>
                  <a:rPr lang="pt-BR" sz="2400" dirty="0">
                    <a:latin typeface="Calibri"/>
                    <a:cs typeface="Calibri"/>
                  </a:rPr>
                  <a:t>-</a:t>
                </a:r>
                <a:r>
                  <a:rPr lang="pt-BR" sz="2400" dirty="0" err="1">
                    <a:latin typeface="Calibri"/>
                    <a:cs typeface="Calibri"/>
                  </a:rPr>
                  <a:t>ésima</a:t>
                </a:r>
                <a:r>
                  <a:rPr lang="pt-BR" sz="2400" spc="-20" dirty="0">
                    <a:latin typeface="Calibri"/>
                    <a:cs typeface="Calibri"/>
                  </a:rPr>
                  <a:t> </a:t>
                </a:r>
                <a:r>
                  <a:rPr lang="pt-BR" sz="2400" spc="-10" dirty="0">
                    <a:latin typeface="Calibri"/>
                    <a:cs typeface="Calibri"/>
                  </a:rPr>
                  <a:t>camada.</a:t>
                </a:r>
                <a:endParaRPr lang="pt-BR" sz="24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7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3269" y="3095664"/>
                <a:ext cx="10125075" cy="752770"/>
              </a:xfrm>
              <a:prstGeom prst="rect">
                <a:avLst/>
              </a:prstGeom>
              <a:blipFill>
                <a:blip r:embed="rId2"/>
                <a:stretch>
                  <a:fillRect l="-1325" t="-13008" r="-1927" b="-2357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10"/>
              <p:cNvSpPr txBox="1"/>
              <p:nvPr/>
            </p:nvSpPr>
            <p:spPr>
              <a:xfrm>
                <a:off x="1214056" y="3906575"/>
                <a:ext cx="10309225" cy="1122102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266700" indent="-228600">
                  <a:spcBef>
                    <a:spcPts val="100"/>
                  </a:spcBef>
                  <a:buFont typeface="Wingdings"/>
                  <a:buChar char=""/>
                  <a:tabLst>
                    <a:tab pos="266700" algn="l"/>
                  </a:tabLst>
                </a:pPr>
                <a:r>
                  <a:rPr lang="pt-BR" sz="2400" dirty="0">
                    <a:latin typeface="Calibri"/>
                    <a:cs typeface="Calibri"/>
                  </a:rPr>
                  <a:t>A</a:t>
                </a:r>
                <a:r>
                  <a:rPr lang="pt-BR" sz="2400" spc="-40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ativação</a:t>
                </a:r>
                <a:r>
                  <a:rPr lang="pt-BR" sz="2400" dirty="0">
                    <a:latin typeface="Calibri"/>
                    <a:cs typeface="Calibri"/>
                  </a:rPr>
                  <a:t>,</a:t>
                </a:r>
                <a:r>
                  <a:rPr lang="pt-BR" sz="2400" spc="-35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pt-BR" sz="2400" b="0" i="1" spc="-35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SupPr>
                      <m:e>
                        <m:r>
                          <a:rPr lang="pt-BR" sz="2400" b="0" i="1" spc="-35" smtClean="0">
                            <a:latin typeface="Cambria Math" panose="02040503050406030204" pitchFamily="18" charset="0"/>
                            <a:cs typeface="Calibri"/>
                          </a:rPr>
                          <m:t>𝑢</m:t>
                        </m:r>
                      </m:e>
                      <m:sub>
                        <m:r>
                          <a:rPr lang="pt-BR" sz="2400" b="0" i="1" spc="-35" smtClean="0">
                            <a:latin typeface="Cambria Math" panose="02040503050406030204" pitchFamily="18" charset="0"/>
                            <a:cs typeface="Calibri"/>
                          </a:rPr>
                          <m:t>𝑖</m:t>
                        </m:r>
                      </m:sub>
                      <m:sup>
                        <m:r>
                          <a:rPr lang="pt-BR" sz="2400" b="0" i="1" spc="-35" smtClean="0">
                            <a:latin typeface="Cambria Math" panose="02040503050406030204" pitchFamily="18" charset="0"/>
                            <a:cs typeface="Calibri"/>
                          </a:rPr>
                          <m:t>𝑚</m:t>
                        </m:r>
                      </m:sup>
                    </m:sSubSup>
                  </m:oMath>
                </a14:m>
                <a:r>
                  <a:rPr lang="pt-BR" sz="2400" spc="114" dirty="0">
                    <a:latin typeface="Calibri"/>
                    <a:cs typeface="Calibri"/>
                  </a:rPr>
                  <a:t>,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corresponde</a:t>
                </a:r>
                <a:r>
                  <a:rPr lang="pt-BR" sz="2400" spc="-1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à</a:t>
                </a:r>
                <a:r>
                  <a:rPr lang="pt-BR" sz="2400" spc="-30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combinação</a:t>
                </a:r>
                <a:r>
                  <a:rPr lang="pt-BR" sz="2400" b="1" i="1" spc="-40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linear</a:t>
                </a:r>
                <a:r>
                  <a:rPr lang="pt-BR" sz="2400" b="1" i="1" spc="-2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das</a:t>
                </a:r>
                <a:r>
                  <a:rPr lang="pt-BR" sz="2400" spc="-3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entradas</a:t>
                </a:r>
                <a:r>
                  <a:rPr lang="pt-BR" sz="2400" spc="-4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do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mbria Math"/>
                    <a:cs typeface="Cambria Math"/>
                  </a:rPr>
                  <a:t>𝑖</a:t>
                </a:r>
                <a:r>
                  <a:rPr lang="pt-BR" sz="2400" dirty="0">
                    <a:latin typeface="Calibri"/>
                    <a:cs typeface="Calibri"/>
                  </a:rPr>
                  <a:t>-ésimo</a:t>
                </a:r>
                <a:r>
                  <a:rPr lang="pt-BR" sz="2400" spc="-30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nó</a:t>
                </a:r>
                <a:r>
                  <a:rPr lang="pt-BR" sz="2400" b="1" i="1" spc="-30" dirty="0">
                    <a:latin typeface="Calibri"/>
                    <a:cs typeface="Calibri"/>
                  </a:rPr>
                  <a:t> </a:t>
                </a:r>
                <a:r>
                  <a:rPr lang="pt-BR" sz="2400" spc="-25" dirty="0">
                    <a:latin typeface="Calibri"/>
                    <a:cs typeface="Calibri"/>
                  </a:rPr>
                  <a:t>da </a:t>
                </a:r>
                <a:r>
                  <a:rPr lang="pt-BR" sz="2400" dirty="0">
                    <a:latin typeface="Cambria Math"/>
                    <a:cs typeface="Cambria Math"/>
                  </a:rPr>
                  <a:t>𝑚</a:t>
                </a:r>
                <a:r>
                  <a:rPr lang="pt-BR" sz="2400" dirty="0">
                    <a:latin typeface="Calibri"/>
                    <a:cs typeface="Calibri"/>
                  </a:rPr>
                  <a:t>-</a:t>
                </a:r>
                <a:r>
                  <a:rPr lang="pt-BR" sz="2400" dirty="0" err="1">
                    <a:latin typeface="Calibri"/>
                    <a:cs typeface="Calibri"/>
                  </a:rPr>
                  <a:t>ésima</a:t>
                </a:r>
                <a:r>
                  <a:rPr lang="pt-BR" sz="2400" spc="-3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camada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da </a:t>
                </a:r>
                <a:r>
                  <a:rPr lang="pt-BR" sz="2400" b="1" i="1" dirty="0">
                    <a:latin typeface="Calibri"/>
                    <a:cs typeface="Calibri"/>
                  </a:rPr>
                  <a:t>rede</a:t>
                </a:r>
                <a:r>
                  <a:rPr lang="pt-BR" sz="2400" b="1" i="1" spc="-10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neural</a:t>
                </a:r>
                <a:r>
                  <a:rPr lang="pt-BR" sz="2400" b="1" i="1" spc="-1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e</a:t>
                </a:r>
                <a:r>
                  <a:rPr lang="pt-BR" sz="2400" spc="-15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400" b="0" i="1" spc="-15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pPr>
                      <m:e>
                        <m:r>
                          <a:rPr lang="pt-BR" sz="2400" b="1" i="1" spc="-15" smtClean="0">
                            <a:latin typeface="Cambria Math" panose="02040503050406030204" pitchFamily="18" charset="0"/>
                            <a:cs typeface="Calibri"/>
                          </a:rPr>
                          <m:t>𝒖</m:t>
                        </m:r>
                      </m:e>
                      <m:sup>
                        <m:r>
                          <a:rPr lang="pt-BR" sz="2400" b="0" i="1" spc="-15" smtClean="0">
                            <a:latin typeface="Cambria Math" panose="02040503050406030204" pitchFamily="18" charset="0"/>
                            <a:cs typeface="Calibri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pt-BR" sz="2400" dirty="0">
                    <a:latin typeface="Calibri"/>
                    <a:cs typeface="Calibri"/>
                  </a:rPr>
                  <a:t>é</a:t>
                </a:r>
                <a:r>
                  <a:rPr lang="pt-BR" sz="2400" spc="-3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o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vetor</a:t>
                </a:r>
                <a:r>
                  <a:rPr lang="pt-BR" sz="2400" b="1" i="1" spc="-25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de</a:t>
                </a:r>
                <a:r>
                  <a:rPr lang="pt-BR" sz="2400" b="1" i="1" spc="-30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ativações</a:t>
                </a:r>
                <a:r>
                  <a:rPr lang="pt-BR" sz="2400" b="1" i="1" spc="-3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com</a:t>
                </a:r>
                <a:r>
                  <a:rPr lang="pt-BR" sz="2400" spc="-3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as</a:t>
                </a:r>
                <a:r>
                  <a:rPr lang="pt-BR" sz="2400" spc="-15" dirty="0">
                    <a:latin typeface="Calibri"/>
                    <a:cs typeface="Calibri"/>
                  </a:rPr>
                  <a:t> </a:t>
                </a:r>
                <a:r>
                  <a:rPr lang="pt-BR" sz="2400" b="1" i="1" spc="-10" dirty="0">
                    <a:latin typeface="Calibri"/>
                    <a:cs typeface="Calibri"/>
                  </a:rPr>
                  <a:t>combinações </a:t>
                </a:r>
                <a:r>
                  <a:rPr lang="pt-BR" sz="2400" b="1" i="1" dirty="0">
                    <a:latin typeface="Calibri"/>
                    <a:cs typeface="Calibri"/>
                  </a:rPr>
                  <a:t>lineares</a:t>
                </a:r>
                <a:r>
                  <a:rPr lang="pt-BR" sz="2400" b="1" i="1" spc="-3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das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entradas</a:t>
                </a:r>
                <a:r>
                  <a:rPr lang="pt-BR" sz="2400" spc="-4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de</a:t>
                </a:r>
                <a:r>
                  <a:rPr lang="pt-BR" sz="2400" spc="-2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todos</a:t>
                </a:r>
                <a:r>
                  <a:rPr lang="pt-BR" sz="2400" spc="-3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os</a:t>
                </a:r>
                <a:r>
                  <a:rPr lang="pt-BR" sz="2400" spc="-3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nós</a:t>
                </a:r>
                <a:r>
                  <a:rPr lang="pt-BR" sz="2400" spc="-3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da</a:t>
                </a:r>
                <a:r>
                  <a:rPr lang="pt-BR" sz="2400" spc="-1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mbria Math"/>
                    <a:cs typeface="Cambria Math"/>
                  </a:rPr>
                  <a:t>𝑚</a:t>
                </a:r>
                <a:r>
                  <a:rPr lang="pt-BR" sz="2400" dirty="0">
                    <a:latin typeface="Calibri"/>
                    <a:cs typeface="Calibri"/>
                  </a:rPr>
                  <a:t>-</a:t>
                </a:r>
                <a:r>
                  <a:rPr lang="pt-BR" sz="2400" dirty="0" err="1">
                    <a:latin typeface="Calibri"/>
                    <a:cs typeface="Calibri"/>
                  </a:rPr>
                  <a:t>ésima</a:t>
                </a:r>
                <a:r>
                  <a:rPr lang="pt-BR" sz="2400" spc="-35" dirty="0">
                    <a:latin typeface="Calibri"/>
                    <a:cs typeface="Calibri"/>
                  </a:rPr>
                  <a:t> </a:t>
                </a:r>
                <a:r>
                  <a:rPr lang="pt-BR" sz="2400" spc="-10" dirty="0">
                    <a:latin typeface="Calibri"/>
                    <a:cs typeface="Calibri"/>
                  </a:rPr>
                  <a:t>camada.</a:t>
                </a:r>
                <a:endParaRPr sz="24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0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4056" y="3906575"/>
                <a:ext cx="10309225" cy="1122102"/>
              </a:xfrm>
              <a:prstGeom prst="rect">
                <a:avLst/>
              </a:prstGeom>
              <a:blipFill>
                <a:blip r:embed="rId3"/>
                <a:stretch>
                  <a:fillRect l="-1301" t="-8696" r="-1774" b="-1521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bject 13"/>
              <p:cNvSpPr txBox="1"/>
              <p:nvPr/>
            </p:nvSpPr>
            <p:spPr>
              <a:xfrm>
                <a:off x="1214056" y="5136821"/>
                <a:ext cx="10483850" cy="1618200"/>
              </a:xfrm>
              <a:prstGeom prst="rect">
                <a:avLst/>
              </a:prstGeom>
            </p:spPr>
            <p:txBody>
              <a:bodyPr vert="horz" wrap="square" lIns="0" tIns="53975" rIns="0" bIns="0" rtlCol="0">
                <a:spAutoFit/>
              </a:bodyPr>
              <a:lstStyle/>
              <a:p>
                <a:pPr marL="266700" indent="-228600">
                  <a:lnSpc>
                    <a:spcPct val="100000"/>
                  </a:lnSpc>
                  <a:spcBef>
                    <a:spcPts val="175"/>
                  </a:spcBef>
                  <a:buFont typeface="Wingdings"/>
                  <a:buChar char=""/>
                  <a:tabLst>
                    <a:tab pos="266700" algn="l"/>
                  </a:tabLst>
                </a:pPr>
                <a14:m>
                  <m:oMath xmlns:m="http://schemas.openxmlformats.org/officeDocument/2006/math">
                    <m:r>
                      <a:rPr lang="pt-BR" sz="2400" i="1" spc="70" dirty="0" smtClean="0">
                        <a:latin typeface="Cambria Math" panose="02040503050406030204" pitchFamily="18" charset="0"/>
                        <a:cs typeface="Cambria Math"/>
                      </a:rPr>
                      <m:t>𝒇</m:t>
                    </m:r>
                    <m:r>
                      <a:rPr lang="pt-BR" sz="2625" i="1" spc="104" baseline="28571" dirty="0" smtClean="0">
                        <a:latin typeface="Cambria Math" panose="02040503050406030204" pitchFamily="18" charset="0"/>
                        <a:cs typeface="Cambria Math"/>
                      </a:rPr>
                      <m:t>𝑚</m:t>
                    </m:r>
                    <m:r>
                      <a:rPr lang="pt-BR" sz="2400" i="1" spc="70" dirty="0">
                        <a:latin typeface="Cambria Math" panose="02040503050406030204" pitchFamily="18" charset="0"/>
                        <a:cs typeface="Cambria Math"/>
                      </a:rPr>
                      <m:t>(.</m:t>
                    </m:r>
                    <m:r>
                      <a:rPr lang="pt-BR" sz="2400" i="1" spc="-135" dirty="0">
                        <a:latin typeface="Cambria Math" panose="02040503050406030204" pitchFamily="18" charset="0"/>
                        <a:cs typeface="Cambria Math"/>
                      </a:rPr>
                      <m:t> </m:t>
                    </m:r>
                    <m:r>
                      <a:rPr lang="pt-BR" sz="2400" i="1" dirty="0">
                        <a:latin typeface="Cambria Math" panose="02040503050406030204" pitchFamily="18" charset="0"/>
                        <a:cs typeface="Cambria Math"/>
                      </a:rPr>
                      <m:t>)</m:t>
                    </m:r>
                    <m:r>
                      <a:rPr lang="pt-BR" sz="2400" i="1" spc="-10" dirty="0">
                        <a:latin typeface="Cambria Math" panose="02040503050406030204" pitchFamily="18" charset="0"/>
                        <a:cs typeface="Cambria Math"/>
                      </a:rPr>
                      <m:t> </m:t>
                    </m:r>
                  </m:oMath>
                </a14:m>
                <a:r>
                  <a:rPr lang="pt-BR" sz="2400" dirty="0">
                    <a:latin typeface="Calibri"/>
                    <a:cs typeface="Calibri"/>
                  </a:rPr>
                  <a:t>é</a:t>
                </a:r>
                <a:r>
                  <a:rPr lang="pt-BR" sz="2400" spc="-1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a</a:t>
                </a:r>
                <a:r>
                  <a:rPr lang="pt-BR" sz="2400" spc="-2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função</a:t>
                </a:r>
                <a:r>
                  <a:rPr lang="pt-BR" sz="2400" spc="-1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de</a:t>
                </a:r>
                <a:r>
                  <a:rPr lang="pt-BR" sz="2400" spc="-1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ativação</a:t>
                </a:r>
                <a:r>
                  <a:rPr lang="pt-BR" sz="2400" spc="-3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da</a:t>
                </a:r>
                <a:r>
                  <a:rPr lang="pt-BR" sz="2400" spc="-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mbria Math"/>
                    <a:cs typeface="Cambria Math"/>
                  </a:rPr>
                  <a:t>𝑚</a:t>
                </a:r>
                <a:r>
                  <a:rPr lang="pt-BR" sz="2400" dirty="0">
                    <a:latin typeface="Calibri"/>
                    <a:cs typeface="Calibri"/>
                  </a:rPr>
                  <a:t>-ésima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camada</a:t>
                </a:r>
                <a:r>
                  <a:rPr lang="pt-BR" sz="2400" spc="-3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da</a:t>
                </a:r>
                <a:r>
                  <a:rPr lang="pt-BR" sz="2400" spc="-5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rede</a:t>
                </a:r>
                <a:r>
                  <a:rPr lang="pt-BR" sz="2400" b="1" i="1" spc="-10" dirty="0">
                    <a:latin typeface="Calibri"/>
                    <a:cs typeface="Calibri"/>
                  </a:rPr>
                  <a:t> neural</a:t>
                </a:r>
                <a:r>
                  <a:rPr lang="pt-BR" sz="2400" spc="-10" dirty="0">
                    <a:latin typeface="Calibri"/>
                    <a:cs typeface="Calibri"/>
                  </a:rPr>
                  <a:t>.</a:t>
                </a:r>
                <a:endParaRPr lang="pt-BR" sz="2400" dirty="0">
                  <a:latin typeface="Calibri"/>
                  <a:cs typeface="Calibri"/>
                </a:endParaRPr>
              </a:p>
              <a:p>
                <a:pPr marL="266700" indent="-228600">
                  <a:lnSpc>
                    <a:spcPts val="2725"/>
                  </a:lnSpc>
                  <a:spcBef>
                    <a:spcPts val="200"/>
                  </a:spcBef>
                  <a:buFont typeface="Wingdings"/>
                  <a:buChar char=""/>
                  <a:tabLst>
                    <a:tab pos="266700" algn="l"/>
                  </a:tabLst>
                </a:pPr>
                <a:r>
                  <a:rPr lang="pt-BR" sz="2400" dirty="0">
                    <a:latin typeface="Calibri"/>
                    <a:cs typeface="Calibri"/>
                  </a:rPr>
                  <a:t>Com</a:t>
                </a:r>
                <a:r>
                  <a:rPr lang="pt-BR" sz="2400" spc="-6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essa</a:t>
                </a:r>
                <a:r>
                  <a:rPr lang="pt-BR" sz="2400" spc="-5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notação,</a:t>
                </a:r>
                <a:r>
                  <a:rPr lang="pt-BR" sz="2400" spc="-4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obter</a:t>
                </a:r>
                <a:r>
                  <a:rPr lang="pt-BR" sz="2400" spc="-3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o</a:t>
                </a:r>
                <a:r>
                  <a:rPr lang="pt-BR" sz="2400" spc="-40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vetor</a:t>
                </a:r>
                <a:r>
                  <a:rPr lang="pt-BR" sz="2400" b="1" i="1" spc="-55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gradiente</a:t>
                </a:r>
                <a:r>
                  <a:rPr lang="pt-BR" sz="2400" b="1" i="1" spc="-4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significa</a:t>
                </a:r>
                <a:r>
                  <a:rPr lang="pt-BR" sz="2400" spc="-55" dirty="0">
                    <a:latin typeface="Calibri"/>
                    <a:cs typeface="Calibri"/>
                  </a:rPr>
                  <a:t> </a:t>
                </a:r>
                <a:r>
                  <a:rPr lang="pt-BR" sz="2400" spc="-20" dirty="0">
                    <a:latin typeface="Calibri"/>
                    <a:cs typeface="Calibri"/>
                  </a:rPr>
                  <a:t>calcular,</a:t>
                </a:r>
                <a:r>
                  <a:rPr lang="pt-BR" sz="2400" spc="-6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de</a:t>
                </a:r>
                <a:r>
                  <a:rPr lang="pt-BR" sz="2400" spc="-4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maneira</a:t>
                </a:r>
                <a:r>
                  <a:rPr lang="pt-BR" sz="2400" spc="-50" dirty="0">
                    <a:latin typeface="Calibri"/>
                    <a:cs typeface="Calibri"/>
                  </a:rPr>
                  <a:t> </a:t>
                </a:r>
                <a:r>
                  <a:rPr lang="pt-BR" sz="2400" spc="-10" dirty="0">
                    <a:latin typeface="Calibri"/>
                    <a:cs typeface="Calibri"/>
                  </a:rPr>
                  <a:t>genérica,</a:t>
                </a:r>
              </a:p>
              <a:p>
                <a:pPr marL="266700" indent="-228600">
                  <a:lnSpc>
                    <a:spcPts val="2725"/>
                  </a:lnSpc>
                  <a:spcBef>
                    <a:spcPts val="200"/>
                  </a:spcBef>
                  <a:buFont typeface="Wingdings"/>
                  <a:buChar char=""/>
                  <a:tabLst>
                    <a:tab pos="266700" algn="l"/>
                  </a:tabLst>
                </a:pPr>
                <a:endParaRPr lang="pt-BR" sz="2400" spc="-10" dirty="0">
                  <a:latin typeface="Calibri"/>
                  <a:cs typeface="Calibri"/>
                </a:endParaRPr>
              </a:p>
              <a:p>
                <a:pPr marL="38100">
                  <a:lnSpc>
                    <a:spcPts val="2725"/>
                  </a:lnSpc>
                  <a:spcBef>
                    <a:spcPts val="200"/>
                  </a:spcBef>
                  <a:tabLst>
                    <a:tab pos="266700" algn="l"/>
                  </a:tabLst>
                </a:pPr>
                <a:r>
                  <a:rPr lang="pt-BR" sz="2400" spc="-10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sz="2400" b="0" i="1" spc="-1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fPr>
                      <m:num>
                        <m:r>
                          <a:rPr lang="pt-BR" sz="2400" b="0" i="1" spc="-10" smtClean="0">
                            <a:latin typeface="Cambria Math" panose="02040503050406030204" pitchFamily="18" charset="0"/>
                            <a:cs typeface="Calibri"/>
                          </a:rPr>
                          <m:t>𝜕</m:t>
                        </m:r>
                        <m:r>
                          <a:rPr lang="pt-BR" sz="2400" b="0" i="1" spc="-10" smtClean="0">
                            <a:latin typeface="Cambria Math" panose="02040503050406030204" pitchFamily="18" charset="0"/>
                            <a:cs typeface="Calibri"/>
                          </a:rPr>
                          <m:t>𝐽</m:t>
                        </m:r>
                        <m:d>
                          <m:dPr>
                            <m:ctrlPr>
                              <a:rPr lang="pt-BR" sz="2400" b="0" i="1" spc="-10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dPr>
                          <m:e>
                            <m:r>
                              <a:rPr lang="pt-BR" sz="2400" b="1" i="1" spc="-10" smtClean="0">
                                <a:latin typeface="Cambria Math" panose="02040503050406030204" pitchFamily="18" charset="0"/>
                                <a:cs typeface="Calibri"/>
                              </a:rPr>
                              <m:t>𝒘</m:t>
                            </m:r>
                          </m:e>
                        </m:d>
                      </m:num>
                      <m:den>
                        <m:r>
                          <a:rPr lang="pt-BR" sz="2400" b="0" i="1" spc="-10" smtClean="0">
                            <a:latin typeface="Cambria Math" panose="02040503050406030204" pitchFamily="18" charset="0"/>
                            <a:cs typeface="Calibri"/>
                          </a:rPr>
                          <m:t>𝜕</m:t>
                        </m:r>
                        <m:sSubSup>
                          <m:sSubSupPr>
                            <m:ctrlPr>
                              <a:rPr lang="pt-BR" sz="2400" b="0" i="1" spc="-10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sSubSupPr>
                          <m:e>
                            <m:r>
                              <a:rPr lang="pt-BR" sz="2400" b="0" i="1" spc="-10" smtClean="0">
                                <a:latin typeface="Cambria Math" panose="02040503050406030204" pitchFamily="18" charset="0"/>
                                <a:cs typeface="Calibri"/>
                              </a:rPr>
                              <m:t>𝑤</m:t>
                            </m:r>
                          </m:e>
                          <m:sub>
                            <m:r>
                              <a:rPr lang="pt-BR" sz="2400" b="0" i="1" spc="-10" smtClean="0">
                                <a:latin typeface="Cambria Math" panose="02040503050406030204" pitchFamily="18" charset="0"/>
                                <a:cs typeface="Calibri"/>
                              </a:rPr>
                              <m:t>𝑖</m:t>
                            </m:r>
                            <m:r>
                              <a:rPr lang="pt-BR" sz="2400" b="0" i="1" spc="-10" smtClean="0">
                                <a:latin typeface="Cambria Math" panose="02040503050406030204" pitchFamily="18" charset="0"/>
                                <a:cs typeface="Calibri"/>
                              </a:rPr>
                              <m:t>,</m:t>
                            </m:r>
                            <m:r>
                              <a:rPr lang="pt-BR" sz="2400" b="0" i="1" spc="-10" smtClean="0">
                                <a:latin typeface="Cambria Math" panose="02040503050406030204" pitchFamily="18" charset="0"/>
                                <a:cs typeface="Calibri"/>
                              </a:rPr>
                              <m:t>𝑗</m:t>
                            </m:r>
                          </m:sub>
                          <m:sup>
                            <m:r>
                              <a:rPr lang="pt-BR" sz="2400" b="0" i="1" spc="-10" smtClean="0">
                                <a:latin typeface="Cambria Math" panose="02040503050406030204" pitchFamily="18" charset="0"/>
                                <a:cs typeface="Calibri"/>
                              </a:rPr>
                              <m:t>𝑚</m:t>
                            </m:r>
                          </m:sup>
                        </m:sSubSup>
                      </m:den>
                    </m:f>
                  </m:oMath>
                </a14:m>
                <a:r>
                  <a:rPr lang="pt-BR" sz="2400" spc="-1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ou</a:t>
                </a:r>
                <a:r>
                  <a:rPr lang="pt-BR" sz="2400" spc="-3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seja,</a:t>
                </a:r>
                <a:r>
                  <a:rPr lang="pt-BR" sz="2400" spc="-2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calcular</a:t>
                </a:r>
                <a:r>
                  <a:rPr lang="pt-BR" sz="2400" spc="-5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essa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derivada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para</a:t>
                </a:r>
                <a:r>
                  <a:rPr lang="pt-BR" sz="2400" spc="-3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todos</a:t>
                </a:r>
                <a:r>
                  <a:rPr lang="pt-BR" sz="2400" spc="-3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os</a:t>
                </a:r>
                <a:r>
                  <a:rPr lang="pt-BR" sz="2400" spc="-3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pesos</a:t>
                </a:r>
                <a:r>
                  <a:rPr lang="pt-BR" sz="2400" spc="-3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de</a:t>
                </a:r>
                <a:r>
                  <a:rPr lang="pt-BR" sz="2400" spc="-2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todos</a:t>
                </a:r>
                <a:r>
                  <a:rPr lang="pt-BR" sz="2400" spc="-4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os </a:t>
                </a:r>
                <a:r>
                  <a:rPr lang="pt-BR" sz="2400" b="1" i="1" spc="-20" dirty="0">
                    <a:latin typeface="Calibri"/>
                    <a:cs typeface="Calibri"/>
                  </a:rPr>
                  <a:t>nós</a:t>
                </a:r>
                <a:r>
                  <a:rPr lang="pt-BR" sz="2400" spc="-20" dirty="0">
                    <a:latin typeface="Calibri"/>
                    <a:cs typeface="Calibri"/>
                  </a:rPr>
                  <a:t>.</a:t>
                </a:r>
                <a:endParaRPr lang="pt-BR" sz="24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3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4056" y="5136821"/>
                <a:ext cx="10483850" cy="1618200"/>
              </a:xfrm>
              <a:prstGeom prst="rect">
                <a:avLst/>
              </a:prstGeom>
              <a:blipFill>
                <a:blip r:embed="rId4"/>
                <a:stretch>
                  <a:fillRect l="-1279" t="-3396" r="-40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4">
                <a:extLst>
                  <a:ext uri="{FF2B5EF4-FFF2-40B4-BE49-F238E27FC236}">
                    <a16:creationId xmlns:a16="http://schemas.microsoft.com/office/drawing/2014/main" id="{862D264D-E338-DAAC-AE67-D1A76E114CF8}"/>
                  </a:ext>
                </a:extLst>
              </p:cNvPr>
              <p:cNvSpPr txBox="1"/>
              <p:nvPr/>
            </p:nvSpPr>
            <p:spPr>
              <a:xfrm>
                <a:off x="1348994" y="1997513"/>
                <a:ext cx="10309224" cy="1163908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266700" indent="-228600">
                  <a:spcBef>
                    <a:spcPts val="100"/>
                  </a:spcBef>
                  <a:buFont typeface="Wingdings"/>
                  <a:buChar char=""/>
                  <a:tabLst>
                    <a:tab pos="266700" algn="l"/>
                  </a:tabLst>
                </a:pPr>
                <a:r>
                  <a:rPr lang="pt-BR" sz="2400" dirty="0">
                    <a:latin typeface="Calibri"/>
                    <a:cs typeface="Calibri"/>
                  </a:rPr>
                  <a:t>O</a:t>
                </a:r>
                <a:r>
                  <a:rPr lang="pt-BR" sz="2400" spc="-2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peso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dirty="0" err="1">
                    <a:latin typeface="Calibri"/>
                    <a:cs typeface="Calibri"/>
                  </a:rPr>
                  <a:t>sináptico</a:t>
                </a:r>
                <a:r>
                  <a:rPr lang="pt-BR" sz="2400" dirty="0">
                    <a:latin typeface="Calibri"/>
                    <a:cs typeface="Calibri"/>
                  </a:rPr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ar-AE" sz="240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SupPr>
                      <m:e>
                        <m:r>
                          <a:rPr lang="ar-AE" sz="2400" b="0" i="1" smtClean="0">
                            <a:latin typeface="Cambria Math" panose="02040503050406030204" pitchFamily="18" charset="0"/>
                            <a:cs typeface="Calibri"/>
                          </a:rPr>
                          <m:t>𝑤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  <a:cs typeface="Calibri"/>
                          </a:rPr>
                          <m:t>𝑖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  <a:cs typeface="Calibri"/>
                          </a:rPr>
                          <m:t>,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  <a:cs typeface="Calibri"/>
                          </a:rPr>
                          <m:t>𝑗</m:t>
                        </m:r>
                      </m:sub>
                      <m:sup>
                        <m:r>
                          <a:rPr lang="pt-BR" sz="2400" b="0" i="1" smtClean="0">
                            <a:latin typeface="Cambria Math" panose="02040503050406030204" pitchFamily="18" charset="0"/>
                            <a:cs typeface="Calibri"/>
                          </a:rPr>
                          <m:t>𝑚</m:t>
                        </m:r>
                      </m:sup>
                    </m:sSubSup>
                  </m:oMath>
                </a14:m>
                <a:r>
                  <a:rPr lang="pt-BR" sz="2400" spc="155" dirty="0">
                    <a:latin typeface="Calibri"/>
                    <a:cs typeface="Calibri"/>
                  </a:rPr>
                  <a:t> ,</a:t>
                </a:r>
                <a:r>
                  <a:rPr lang="ar-AE" sz="2400" spc="-1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corresponde ao</a:t>
                </a:r>
                <a:r>
                  <a:rPr lang="pt-BR" sz="2400" spc="-1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mbria Math"/>
                    <a:cs typeface="Cambria Math"/>
                  </a:rPr>
                  <a:t>𝑗</a:t>
                </a:r>
                <a:r>
                  <a:rPr lang="pt-BR" sz="2400" dirty="0">
                    <a:latin typeface="Calibri"/>
                    <a:cs typeface="Calibri"/>
                  </a:rPr>
                  <a:t>-ésimo</a:t>
                </a:r>
                <a:r>
                  <a:rPr lang="pt-BR" sz="2400" spc="-3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peso</a:t>
                </a:r>
                <a:r>
                  <a:rPr lang="pt-BR" sz="2400" spc="-1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do</a:t>
                </a:r>
                <a:r>
                  <a:rPr lang="pt-BR" sz="2400" spc="-1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mbria Math"/>
                    <a:cs typeface="Cambria Math"/>
                  </a:rPr>
                  <a:t>𝑖</a:t>
                </a:r>
                <a:r>
                  <a:rPr lang="pt-BR" sz="2400" dirty="0">
                    <a:latin typeface="Calibri"/>
                    <a:cs typeface="Calibri"/>
                  </a:rPr>
                  <a:t>-ésimo</a:t>
                </a:r>
                <a:r>
                  <a:rPr lang="pt-BR" sz="2400" spc="-15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nó</a:t>
                </a:r>
                <a:r>
                  <a:rPr lang="pt-BR" sz="2400" b="1" i="1" spc="-2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da</a:t>
                </a:r>
                <a:r>
                  <a:rPr lang="pt-BR" sz="2400" spc="-1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mbria Math"/>
                    <a:cs typeface="Cambria Math"/>
                  </a:rPr>
                  <a:t>𝑚</a:t>
                </a:r>
                <a:r>
                  <a:rPr lang="pt-BR" sz="2400" dirty="0">
                    <a:latin typeface="Calibri"/>
                    <a:cs typeface="Calibri"/>
                  </a:rPr>
                  <a:t>-</a:t>
                </a:r>
                <a:r>
                  <a:rPr lang="pt-BR" sz="2400" spc="-10" dirty="0" err="1">
                    <a:latin typeface="Calibri"/>
                    <a:cs typeface="Calibri"/>
                  </a:rPr>
                  <a:t>ésima</a:t>
                </a:r>
                <a:r>
                  <a:rPr lang="pt-BR" sz="2400" spc="-1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camada</a:t>
                </a:r>
                <a:r>
                  <a:rPr lang="pt-BR" sz="2400" spc="-3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da</a:t>
                </a:r>
                <a:r>
                  <a:rPr lang="pt-BR" sz="2400" spc="-20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rede</a:t>
                </a:r>
                <a:r>
                  <a:rPr lang="pt-BR" sz="2400" b="1" i="1" spc="-15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neural</a:t>
                </a:r>
                <a:r>
                  <a:rPr lang="pt-BR" sz="2400" b="1" i="1" spc="-1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e</a:t>
                </a:r>
                <a:r>
                  <a:rPr lang="pt-BR" sz="2400" spc="-15" dirty="0">
                    <a:latin typeface="Calibri"/>
                    <a:cs typeface="Calibri"/>
                  </a:rPr>
                  <a:t> </a:t>
                </a:r>
                <a:r>
                  <a:rPr lang="pt-BR" sz="2400" spc="80" dirty="0">
                    <a:latin typeface="Cambria Math"/>
                    <a:cs typeface="Cambria Math"/>
                  </a:rPr>
                  <a:t>𝑾</a:t>
                </a:r>
                <a:r>
                  <a:rPr lang="pt-BR" sz="2625" spc="120" baseline="28571" dirty="0">
                    <a:latin typeface="Cambria Math"/>
                    <a:cs typeface="Cambria Math"/>
                  </a:rPr>
                  <a:t>𝑚</a:t>
                </a:r>
                <a:r>
                  <a:rPr lang="pt-BR" sz="2625" spc="397" baseline="28571" dirty="0">
                    <a:latin typeface="Cambria Math"/>
                    <a:cs typeface="Cambria Math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é</a:t>
                </a:r>
                <a:r>
                  <a:rPr lang="pt-BR" sz="2400" spc="-1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a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matriz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com</a:t>
                </a:r>
                <a:r>
                  <a:rPr lang="pt-BR" sz="2400" spc="-3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todos</a:t>
                </a:r>
                <a:r>
                  <a:rPr lang="pt-BR" sz="2400" spc="-1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os</a:t>
                </a:r>
                <a:r>
                  <a:rPr lang="pt-BR" sz="2400" spc="-2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pesos</a:t>
                </a:r>
                <a:r>
                  <a:rPr lang="pt-BR" sz="2400" spc="-1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da</a:t>
                </a:r>
                <a:r>
                  <a:rPr lang="pt-BR" sz="2400" spc="-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mbria Math"/>
                    <a:cs typeface="Cambria Math"/>
                  </a:rPr>
                  <a:t>𝑚</a:t>
                </a:r>
                <a:r>
                  <a:rPr lang="pt-BR" sz="2400" dirty="0">
                    <a:latin typeface="Calibri"/>
                    <a:cs typeface="Calibri"/>
                  </a:rPr>
                  <a:t>-</a:t>
                </a:r>
                <a:r>
                  <a:rPr lang="pt-BR" sz="2400" dirty="0" err="1">
                    <a:latin typeface="Calibri"/>
                    <a:cs typeface="Calibri"/>
                  </a:rPr>
                  <a:t>ésima</a:t>
                </a:r>
                <a:r>
                  <a:rPr lang="pt-BR" sz="2400" spc="-20" dirty="0">
                    <a:latin typeface="Calibri"/>
                    <a:cs typeface="Calibri"/>
                  </a:rPr>
                  <a:t> </a:t>
                </a:r>
                <a:r>
                  <a:rPr lang="pt-BR" sz="2400" spc="-10" dirty="0">
                    <a:latin typeface="Calibri"/>
                    <a:cs typeface="Calibri"/>
                  </a:rPr>
                  <a:t>camada.</a:t>
                </a:r>
                <a:endParaRPr sz="24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6" name="object 4">
                <a:extLst>
                  <a:ext uri="{FF2B5EF4-FFF2-40B4-BE49-F238E27FC236}">
                    <a16:creationId xmlns:a16="http://schemas.microsoft.com/office/drawing/2014/main" id="{862D264D-E338-DAAC-AE67-D1A76E114C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8994" y="1997513"/>
                <a:ext cx="10309224" cy="1163908"/>
              </a:xfrm>
              <a:prstGeom prst="rect">
                <a:avLst/>
              </a:prstGeom>
              <a:blipFill>
                <a:blip r:embed="rId5"/>
                <a:stretch>
                  <a:fillRect l="-1301" t="-7853" b="-1466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27148" y="2286000"/>
            <a:ext cx="6513149" cy="229925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39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Retropropagação</a:t>
            </a:r>
            <a:r>
              <a:rPr spc="-125" dirty="0"/>
              <a:t> </a:t>
            </a:r>
            <a:r>
              <a:rPr dirty="0"/>
              <a:t>do</a:t>
            </a:r>
            <a:r>
              <a:rPr spc="-114" dirty="0"/>
              <a:t> </a:t>
            </a:r>
            <a:r>
              <a:rPr spc="-20" dirty="0"/>
              <a:t>Erro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6939" y="4648200"/>
            <a:ext cx="752475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mapeamento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realizado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pela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rede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MLP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acima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dado</a:t>
            </a:r>
            <a:r>
              <a:rPr sz="2400" spc="-20" dirty="0">
                <a:latin typeface="Calibri"/>
                <a:cs typeface="Calibri"/>
              </a:rPr>
              <a:t> por: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16939" y="6102807"/>
            <a:ext cx="11025505" cy="647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ts val="245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Para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facilitar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nosso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trabalho,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iremos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supor,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sem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nenhuma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perda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generalidade,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a</a:t>
            </a:r>
            <a:endParaRPr sz="2400">
              <a:latin typeface="Calibri"/>
              <a:cs typeface="Calibri"/>
            </a:endParaRPr>
          </a:p>
          <a:p>
            <a:pPr marL="241300">
              <a:lnSpc>
                <a:spcPts val="2450"/>
              </a:lnSpc>
            </a:pPr>
            <a:r>
              <a:rPr sz="2400" b="1" i="1" dirty="0">
                <a:latin typeface="Calibri"/>
                <a:cs typeface="Calibri"/>
              </a:rPr>
              <a:t>função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de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custo</a:t>
            </a:r>
            <a:r>
              <a:rPr sz="2400" b="1" i="1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escolhida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erro</a:t>
            </a:r>
            <a:r>
              <a:rPr sz="2400" b="1" i="1" spc="-2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quadrático</a:t>
            </a:r>
            <a:r>
              <a:rPr sz="2400" b="1" i="1" spc="-5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médio</a:t>
            </a:r>
            <a:r>
              <a:rPr sz="2400" b="1" i="1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(MSE).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905745" y="2982849"/>
            <a:ext cx="1815464" cy="1306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Calibri"/>
                <a:cs typeface="Calibri"/>
              </a:rPr>
              <a:t>OBS.</a:t>
            </a:r>
            <a:r>
              <a:rPr sz="1400" dirty="0">
                <a:latin typeface="Calibri"/>
                <a:cs typeface="Calibri"/>
              </a:rPr>
              <a:t>: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Para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facilitar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nossa </a:t>
            </a:r>
            <a:r>
              <a:rPr sz="1400" dirty="0">
                <a:latin typeface="Calibri"/>
                <a:cs typeface="Calibri"/>
              </a:rPr>
              <a:t>análise,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não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vamos </a:t>
            </a:r>
            <a:r>
              <a:rPr sz="1400" spc="-10" dirty="0">
                <a:latin typeface="Calibri"/>
                <a:cs typeface="Calibri"/>
              </a:rPr>
              <a:t>considerar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as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entradas </a:t>
            </a:r>
            <a:r>
              <a:rPr sz="1400" dirty="0">
                <a:latin typeface="Calibri"/>
                <a:cs typeface="Calibri"/>
              </a:rPr>
              <a:t>como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uma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camada, </a:t>
            </a:r>
            <a:r>
              <a:rPr sz="1400" dirty="0">
                <a:latin typeface="Calibri"/>
                <a:cs typeface="Calibri"/>
              </a:rPr>
              <a:t>apenas as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camadas </a:t>
            </a:r>
            <a:r>
              <a:rPr sz="1400" dirty="0">
                <a:latin typeface="Calibri"/>
                <a:cs typeface="Calibri"/>
              </a:rPr>
              <a:t>ocultas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saída.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16939" y="1524000"/>
            <a:ext cx="10201910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1300" marR="5080" indent="-228600">
              <a:lnSpc>
                <a:spcPts val="2590"/>
              </a:lnSpc>
              <a:spcBef>
                <a:spcPts val="425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figura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abaixo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apresenta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exemplo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rede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MLP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pode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ser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descrita </a:t>
            </a:r>
            <a:r>
              <a:rPr sz="2400" dirty="0">
                <a:latin typeface="Calibri"/>
                <a:cs typeface="Calibri"/>
              </a:rPr>
              <a:t>segundo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essa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notação.</a:t>
            </a:r>
            <a:endParaRPr sz="2400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041F10BE-BC24-67F4-501F-0ABD4A36A703}"/>
                  </a:ext>
                </a:extLst>
              </p:cNvPr>
              <p:cNvSpPr txBox="1"/>
              <p:nvPr/>
            </p:nvSpPr>
            <p:spPr>
              <a:xfrm>
                <a:off x="3629876" y="5105400"/>
                <a:ext cx="4932248" cy="8917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b="1" i="1" smtClean="0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b="1" i="1" smtClean="0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limLow>
                            <m:limLow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groupChr>
                                <m:groupChrPr>
                                  <m:chr m:val="⏟"/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sSup>
                                    <m:sSupPr>
                                      <m:ctrlP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pt-BR" b="1" i="1" smtClean="0">
                                          <a:latin typeface="Cambria Math" panose="02040503050406030204" pitchFamily="18" charset="0"/>
                                        </a:rPr>
                                        <m:t>𝒇</m:t>
                                      </m:r>
                                    </m:e>
                                    <m:sup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pt-BR" b="1" i="1" smtClean="0">
                                              <a:latin typeface="Cambria Math" panose="02040503050406030204" pitchFamily="18" charset="0"/>
                                            </a:rPr>
                                            <m:t>𝑾</m:t>
                                          </m:r>
                                        </m:e>
                                        <m:sup>
                                          <m: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limLow>
                                        <m:limLowPr>
                                          <m:ctrlP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limLowPr>
                                        <m:e>
                                          <m:groupChr>
                                            <m:groupChrPr>
                                              <m:chr m:val="⏟"/>
                                              <m:ctrlPr>
                                                <a:rPr lang="pt-BR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groupChrPr>
                                            <m:e>
                                              <m:sSup>
                                                <m:sSupPr>
                                                  <m:ctrlPr>
                                                    <a:rPr lang="pt-BR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r>
                                                    <a:rPr lang="pt-BR" b="1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𝒇</m:t>
                                                  </m:r>
                                                </m:e>
                                                <m:sup>
                                                  <m:r>
                                                    <a:rPr lang="pt-BR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sup>
                                              </m:sSup>
                                              <m:d>
                                                <m:dPr>
                                                  <m:ctrlPr>
                                                    <a:rPr lang="pt-BR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sSup>
                                                    <m:sSupPr>
                                                      <m:ctrlPr>
                                                        <a:rPr lang="pt-BR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pPr>
                                                    <m:e>
                                                      <m:r>
                                                        <a:rPr lang="pt-BR" b="1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𝑾</m:t>
                                                      </m:r>
                                                    </m:e>
                                                    <m:sup>
                                                      <m:r>
                                                        <a:rPr lang="pt-BR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1</m:t>
                                                      </m:r>
                                                    </m:sup>
                                                  </m:sSup>
                                                  <m:r>
                                                    <a:rPr lang="pt-BR" b="1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𝒙</m:t>
                                                  </m:r>
                                                  <m:r>
                                                    <a:rPr lang="pt-BR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+</m:t>
                                                  </m:r>
                                                  <m:sSup>
                                                    <m:sSupPr>
                                                      <m:ctrlPr>
                                                        <a:rPr lang="pt-BR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pPr>
                                                    <m:e>
                                                      <m:r>
                                                        <a:rPr lang="pt-BR" b="1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𝒃</m:t>
                                                      </m:r>
                                                    </m:e>
                                                    <m:sup>
                                                      <m:r>
                                                        <a:rPr lang="pt-BR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1</m:t>
                                                      </m:r>
                                                    </m:sup>
                                                  </m:sSup>
                                                </m:e>
                                              </m:d>
                                            </m:e>
                                          </m:groupChr>
                                          <m: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pt-BR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pt-BR" b="1" i="1" smtClean="0">
                                                  <a:latin typeface="Cambria Math" panose="02040503050406030204" pitchFamily="18" charset="0"/>
                                                </a:rPr>
                                                <m:t>𝒃</m:t>
                                              </m:r>
                                            </m:e>
                                            <m:sup>
                                              <m:r>
                                                <a:rPr lang="pt-B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</m:e>
                                        <m:lim>
                                          <m:sSup>
                                            <m:sSupPr>
                                              <m:ctrlPr>
                                                <a:rPr lang="pt-BR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pt-B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p>
                                              <m:r>
                                                <a:rPr lang="pt-B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p>
                                          </m:sSup>
                                        </m:lim>
                                      </m:limLow>
                                    </m:e>
                                  </m:d>
                                </m:e>
                              </m:groupCh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b="1" i="1" smtClean="0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e>
                                <m:sup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  <m:lim>
                              <m:sSup>
                                <m:sSup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lim>
                          </m:limLow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041F10BE-BC24-67F4-501F-0ABD4A36A7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9876" y="5105400"/>
                <a:ext cx="4932248" cy="891719"/>
              </a:xfrm>
              <a:prstGeom prst="rect">
                <a:avLst/>
              </a:prstGeom>
              <a:blipFill>
                <a:blip r:embed="rId3"/>
                <a:stretch>
                  <a:fillRect l="-247" b="-137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39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Retropropagação</a:t>
            </a:r>
            <a:r>
              <a:rPr spc="-125" dirty="0"/>
              <a:t> </a:t>
            </a:r>
            <a:r>
              <a:rPr dirty="0"/>
              <a:t>do</a:t>
            </a:r>
            <a:r>
              <a:rPr spc="-114" dirty="0"/>
              <a:t> </a:t>
            </a:r>
            <a:r>
              <a:rPr spc="-20" dirty="0"/>
              <a:t>Erro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91539" y="1371600"/>
            <a:ext cx="10358120" cy="654346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266700" marR="30480" indent="-228600">
              <a:lnSpc>
                <a:spcPct val="70000"/>
              </a:lnSpc>
              <a:spcBef>
                <a:spcPts val="960"/>
              </a:spcBef>
              <a:buFont typeface="Arial"/>
              <a:buChar char="•"/>
              <a:tabLst>
                <a:tab pos="266700" algn="l"/>
              </a:tabLst>
            </a:pPr>
            <a:r>
              <a:rPr sz="2400" dirty="0">
                <a:latin typeface="Calibri"/>
                <a:cs typeface="Calibri"/>
              </a:rPr>
              <a:t>Nós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vamos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assumir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última</a:t>
            </a:r>
            <a:r>
              <a:rPr sz="2400" b="1" i="1" spc="-1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camada</a:t>
            </a:r>
            <a:r>
              <a:rPr sz="2400" b="1" i="1" spc="-5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da</a:t>
            </a:r>
            <a:r>
              <a:rPr sz="2400" b="1" i="1" spc="-2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rede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MLP </a:t>
            </a:r>
            <a:r>
              <a:rPr sz="2400" dirty="0">
                <a:latin typeface="Calibri"/>
                <a:cs typeface="Calibri"/>
              </a:rPr>
              <a:t>(definida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𝑀</a:t>
            </a:r>
            <a:r>
              <a:rPr sz="2400" dirty="0">
                <a:latin typeface="Calibri"/>
                <a:cs typeface="Calibri"/>
              </a:rPr>
              <a:t>-</a:t>
            </a:r>
            <a:r>
              <a:rPr sz="2400" spc="-10" dirty="0">
                <a:latin typeface="Calibri"/>
                <a:cs typeface="Calibri"/>
              </a:rPr>
              <a:t>ésima </a:t>
            </a:r>
            <a:r>
              <a:rPr sz="2400" dirty="0">
                <a:latin typeface="Calibri"/>
                <a:cs typeface="Calibri"/>
              </a:rPr>
              <a:t>camada)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tenha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quantidade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genérica,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𝑁</a:t>
            </a:r>
            <a:r>
              <a:rPr sz="2625" baseline="-15873" dirty="0">
                <a:latin typeface="Cambria Math"/>
                <a:cs typeface="Cambria Math"/>
              </a:rPr>
              <a:t>𝑀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nós</a:t>
            </a:r>
            <a:r>
              <a:rPr sz="2400" dirty="0">
                <a:latin typeface="Calibri"/>
                <a:cs typeface="Calibri"/>
              </a:rPr>
              <a:t>.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Assim,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MSE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dado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5" dirty="0" err="1">
                <a:latin typeface="Calibri"/>
                <a:cs typeface="Calibri"/>
              </a:rPr>
              <a:t>por</a:t>
            </a:r>
            <a:endParaRPr sz="2400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object 25"/>
              <p:cNvSpPr txBox="1"/>
              <p:nvPr/>
            </p:nvSpPr>
            <p:spPr>
              <a:xfrm>
                <a:off x="866139" y="4480685"/>
                <a:ext cx="11508573" cy="974626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ts val="2450"/>
                  </a:lnSpc>
                  <a:spcBef>
                    <a:spcPts val="100"/>
                  </a:spcBef>
                </a:pPr>
                <a:r>
                  <a:rPr lang="pt-BR" sz="2400" dirty="0">
                    <a:latin typeface="Calibri"/>
                    <a:cs typeface="Calibri"/>
                  </a:rPr>
                  <a:t>onde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spc="55" dirty="0">
                    <a:latin typeface="Cambria Math"/>
                    <a:cs typeface="Cambria Math"/>
                  </a:rPr>
                  <a:t>𝑁</a:t>
                </a:r>
                <a:r>
                  <a:rPr lang="pt-BR" sz="2625" spc="82" baseline="-15873" dirty="0">
                    <a:latin typeface="Cambria Math"/>
                    <a:cs typeface="Cambria Math"/>
                  </a:rPr>
                  <a:t>dados</a:t>
                </a:r>
                <a:r>
                  <a:rPr lang="pt-BR" sz="2625" spc="359" baseline="-15873" dirty="0">
                    <a:latin typeface="Cambria Math"/>
                    <a:cs typeface="Cambria Math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é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o</a:t>
                </a:r>
                <a:r>
                  <a:rPr lang="pt-BR" sz="2400" spc="-3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número</a:t>
                </a:r>
                <a:r>
                  <a:rPr lang="pt-BR" sz="2400" spc="-5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de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exemplos,</a:t>
                </a:r>
                <a:r>
                  <a:rPr lang="pt-BR" sz="2400" spc="-35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pt-BR" sz="2400" i="1" spc="-25" dirty="0" smtClean="0">
                        <a:latin typeface="Cambria Math" panose="02040503050406030204" pitchFamily="18" charset="0"/>
                        <a:cs typeface="Cambria Math"/>
                      </a:rPr>
                      <m:t>𝑑</m:t>
                    </m:r>
                    <m:r>
                      <a:rPr lang="pt-BR" sz="2625" i="1" spc="-37" baseline="-15873" dirty="0" smtClean="0">
                        <a:latin typeface="Cambria Math" panose="02040503050406030204" pitchFamily="18" charset="0"/>
                        <a:cs typeface="Cambria Math"/>
                      </a:rPr>
                      <m:t>𝑗</m:t>
                    </m:r>
                    <m:r>
                      <a:rPr lang="pt-BR" sz="2625" i="1" spc="-37" dirty="0">
                        <a:latin typeface="Cambria Math" panose="02040503050406030204" pitchFamily="18" charset="0"/>
                        <a:cs typeface="Cambria Math"/>
                      </a:rPr>
                      <m:t>(</m:t>
                    </m:r>
                    <m:r>
                      <a:rPr lang="pt-BR" sz="2400" i="1" spc="-50" dirty="0" smtClean="0">
                        <a:latin typeface="Cambria Math" panose="02040503050406030204" pitchFamily="18" charset="0"/>
                        <a:cs typeface="Cambria Math"/>
                      </a:rPr>
                      <m:t>𝑛</m:t>
                    </m:r>
                    <m:r>
                      <a:rPr lang="pt-BR" sz="2400" i="1" spc="-50" dirty="0" smtClean="0">
                        <a:latin typeface="Cambria Math" panose="02040503050406030204" pitchFamily="18" charset="0"/>
                        <a:cs typeface="Cambria Math"/>
                      </a:rPr>
                      <m:t>)</m:t>
                    </m:r>
                  </m:oMath>
                </a14:m>
                <a:r>
                  <a:rPr lang="pt-BR" sz="2400" dirty="0">
                    <a:latin typeface="Cambria Math"/>
                    <a:cs typeface="Cambria Math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e</a:t>
                </a:r>
                <a:r>
                  <a:rPr lang="pt-BR" sz="2400" spc="-10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pt-BR" sz="2400" b="0" i="1" spc="45" dirty="0" smtClean="0">
                            <a:latin typeface="Cambria Math" panose="02040503050406030204" pitchFamily="18" charset="0"/>
                            <a:cs typeface="Cambria Math"/>
                          </a:rPr>
                        </m:ctrlPr>
                      </m:sSubSupPr>
                      <m:e>
                        <m:r>
                          <a:rPr lang="pt-BR" sz="2400" i="1" spc="45" dirty="0" smtClean="0">
                            <a:latin typeface="Cambria Math" panose="02040503050406030204" pitchFamily="18" charset="0"/>
                            <a:cs typeface="Cambria Math"/>
                          </a:rPr>
                          <m:t>𝑦</m:t>
                        </m:r>
                      </m:e>
                      <m:sub>
                        <m:r>
                          <a:rPr lang="pt-BR" sz="2400" b="0" i="1" spc="45" dirty="0" smtClean="0">
                            <a:latin typeface="Cambria Math" panose="02040503050406030204" pitchFamily="18" charset="0"/>
                            <a:cs typeface="Cambria Math"/>
                          </a:rPr>
                          <m:t>𝑗</m:t>
                        </m:r>
                      </m:sub>
                      <m:sup>
                        <m:r>
                          <a:rPr lang="pt-BR" sz="2400" b="0" i="1" spc="45" dirty="0" smtClean="0">
                            <a:latin typeface="Cambria Math" panose="02040503050406030204" pitchFamily="18" charset="0"/>
                            <a:cs typeface="Cambria Math"/>
                          </a:rPr>
                          <m:t>𝑀</m:t>
                        </m:r>
                      </m:sup>
                    </m:sSubSup>
                    <m:r>
                      <a:rPr lang="pt-BR" sz="2625" b="0" i="1" dirty="0" smtClean="0">
                        <a:latin typeface="Cambria Math" panose="02040503050406030204" pitchFamily="18" charset="0"/>
                        <a:cs typeface="Cambria Math"/>
                      </a:rPr>
                      <m:t>(</m:t>
                    </m:r>
                    <m:r>
                      <a:rPr lang="pt-BR" sz="2625" b="0" i="1" dirty="0" smtClean="0">
                        <a:latin typeface="Cambria Math" panose="02040503050406030204" pitchFamily="18" charset="0"/>
                        <a:cs typeface="Cambria Math"/>
                      </a:rPr>
                      <m:t>𝑛</m:t>
                    </m:r>
                    <m:r>
                      <a:rPr lang="pt-BR" sz="2625" b="0" i="1" dirty="0" smtClean="0">
                        <a:latin typeface="Cambria Math" panose="02040503050406030204" pitchFamily="18" charset="0"/>
                        <a:cs typeface="Cambria Math"/>
                      </a:rPr>
                      <m:t>)</m:t>
                    </m:r>
                    <m:r>
                      <a:rPr lang="pt-BR" sz="2400" i="1" dirty="0">
                        <a:latin typeface="Cambria Math" panose="02040503050406030204" pitchFamily="18" charset="0"/>
                        <a:cs typeface="Cambria Math"/>
                      </a:rPr>
                      <m:t>	</m:t>
                    </m:r>
                  </m:oMath>
                </a14:m>
                <a:r>
                  <a:rPr lang="pt-BR" sz="2400" dirty="0">
                    <a:latin typeface="Calibri"/>
                    <a:cs typeface="Calibri"/>
                  </a:rPr>
                  <a:t>são</a:t>
                </a:r>
                <a:r>
                  <a:rPr lang="pt-BR" sz="2400" spc="-2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o</a:t>
                </a:r>
                <a:r>
                  <a:rPr lang="pt-BR" sz="2400" spc="-1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valor</a:t>
                </a:r>
                <a:r>
                  <a:rPr lang="pt-BR" sz="2400" spc="-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desejado</a:t>
                </a:r>
                <a:r>
                  <a:rPr lang="pt-BR" sz="2400" spc="-1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da </a:t>
                </a:r>
                <a:r>
                  <a:rPr lang="pt-BR" sz="2400" dirty="0">
                    <a:latin typeface="Cambria Math"/>
                    <a:cs typeface="Cambria Math"/>
                  </a:rPr>
                  <a:t>𝑗</a:t>
                </a:r>
                <a:r>
                  <a:rPr lang="pt-BR" sz="2400" dirty="0">
                    <a:latin typeface="Calibri"/>
                    <a:cs typeface="Calibri"/>
                  </a:rPr>
                  <a:t>-</a:t>
                </a:r>
                <a:r>
                  <a:rPr lang="pt-BR" sz="2400" spc="-10" dirty="0" err="1">
                    <a:latin typeface="Calibri"/>
                    <a:cs typeface="Calibri"/>
                  </a:rPr>
                  <a:t>ésima</a:t>
                </a:r>
                <a:r>
                  <a:rPr lang="pt-BR" sz="2400" spc="-1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saída</a:t>
                </a:r>
                <a:r>
                  <a:rPr lang="pt-BR" sz="2400" spc="-1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(i.e.,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rótulo)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e</a:t>
                </a:r>
                <a:r>
                  <a:rPr lang="pt-BR" sz="2400" spc="-2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a saída</a:t>
                </a:r>
                <a:r>
                  <a:rPr lang="pt-BR" sz="2400" spc="-1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do</a:t>
                </a:r>
                <a:r>
                  <a:rPr lang="pt-BR" sz="2400" spc="-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mbria Math"/>
                    <a:cs typeface="Cambria Math"/>
                  </a:rPr>
                  <a:t>𝑗</a:t>
                </a:r>
                <a:r>
                  <a:rPr lang="pt-BR" sz="2400" dirty="0">
                    <a:latin typeface="Calibri"/>
                    <a:cs typeface="Calibri"/>
                  </a:rPr>
                  <a:t>-</a:t>
                </a:r>
                <a:r>
                  <a:rPr lang="pt-BR" sz="2400" dirty="0" err="1">
                    <a:latin typeface="Calibri"/>
                    <a:cs typeface="Calibri"/>
                  </a:rPr>
                  <a:t>ésimo</a:t>
                </a:r>
                <a:r>
                  <a:rPr lang="pt-BR" sz="2400" spc="-2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nó</a:t>
                </a:r>
                <a:r>
                  <a:rPr lang="pt-BR" sz="2400" spc="-1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da</a:t>
                </a:r>
                <a:r>
                  <a:rPr lang="pt-BR" sz="2400" spc="-1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mbria Math"/>
                    <a:cs typeface="Cambria Math"/>
                  </a:rPr>
                  <a:t>𝑀</a:t>
                </a:r>
                <a:r>
                  <a:rPr lang="pt-BR" sz="2400" dirty="0">
                    <a:latin typeface="Calibri"/>
                    <a:cs typeface="Calibri"/>
                  </a:rPr>
                  <a:t>-</a:t>
                </a:r>
                <a:r>
                  <a:rPr lang="pt-BR" sz="2400" dirty="0" err="1">
                    <a:latin typeface="Calibri"/>
                    <a:cs typeface="Calibri"/>
                  </a:rPr>
                  <a:t>ésima</a:t>
                </a:r>
                <a:r>
                  <a:rPr lang="pt-BR" sz="2400" spc="-2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camada,</a:t>
                </a:r>
                <a:r>
                  <a:rPr lang="pt-BR" sz="2400" spc="-20" dirty="0">
                    <a:latin typeface="Calibri"/>
                    <a:cs typeface="Calibri"/>
                  </a:rPr>
                  <a:t> </a:t>
                </a:r>
                <a:r>
                  <a:rPr lang="pt-BR" sz="2400" spc="-10" dirty="0">
                    <a:latin typeface="Calibri"/>
                    <a:cs typeface="Calibri"/>
                  </a:rPr>
                  <a:t>respectivamente,</a:t>
                </a:r>
                <a:r>
                  <a:rPr lang="pt-BR" sz="2400" spc="-15" dirty="0">
                    <a:latin typeface="Calibri"/>
                    <a:cs typeface="Calibri"/>
                  </a:rPr>
                  <a:t> </a:t>
                </a:r>
                <a:r>
                  <a:rPr lang="pt-BR" sz="2400" spc="-10" dirty="0">
                    <a:latin typeface="Calibri"/>
                    <a:cs typeface="Calibri"/>
                  </a:rPr>
                  <a:t>ambos</a:t>
                </a:r>
                <a:endParaRPr lang="pt-BR" sz="2400" dirty="0">
                  <a:latin typeface="Calibri"/>
                  <a:cs typeface="Calibri"/>
                </a:endParaRPr>
              </a:p>
              <a:p>
                <a:pPr marL="12700">
                  <a:lnSpc>
                    <a:spcPts val="2450"/>
                  </a:lnSpc>
                </a:pPr>
                <a:r>
                  <a:rPr lang="pt-BR" sz="2400" spc="-10" dirty="0">
                    <a:latin typeface="Calibri"/>
                    <a:cs typeface="Calibri"/>
                  </a:rPr>
                  <a:t>correspondentes</a:t>
                </a:r>
                <a:r>
                  <a:rPr lang="pt-BR" sz="2400" spc="-2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ao</a:t>
                </a:r>
                <a:r>
                  <a:rPr lang="pt-BR" sz="2400" spc="-3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mbria Math"/>
                    <a:cs typeface="Cambria Math"/>
                  </a:rPr>
                  <a:t>𝑛</a:t>
                </a:r>
                <a:r>
                  <a:rPr lang="pt-BR" sz="2400" dirty="0">
                    <a:latin typeface="Calibri"/>
                    <a:cs typeface="Calibri"/>
                  </a:rPr>
                  <a:t>-</a:t>
                </a:r>
                <a:r>
                  <a:rPr lang="pt-BR" sz="2400" dirty="0" err="1">
                    <a:latin typeface="Calibri"/>
                    <a:cs typeface="Calibri"/>
                  </a:rPr>
                  <a:t>ésimo</a:t>
                </a:r>
                <a:r>
                  <a:rPr lang="pt-BR" sz="2400" spc="-2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exemplo</a:t>
                </a:r>
                <a:r>
                  <a:rPr lang="pt-BR" sz="2400" spc="-3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de</a:t>
                </a:r>
                <a:r>
                  <a:rPr lang="pt-BR" sz="2400" spc="-10" dirty="0">
                    <a:latin typeface="Calibri"/>
                    <a:cs typeface="Calibri"/>
                  </a:rPr>
                  <a:t> entrada.</a:t>
                </a:r>
                <a:endParaRPr sz="24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25" name="object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139" y="4480685"/>
                <a:ext cx="11508573" cy="974626"/>
              </a:xfrm>
              <a:prstGeom prst="rect">
                <a:avLst/>
              </a:prstGeom>
              <a:blipFill>
                <a:blip r:embed="rId2"/>
                <a:stretch>
                  <a:fillRect l="-1483" t="-15625" r="-159" b="-1812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object 27"/>
          <p:cNvSpPr txBox="1"/>
          <p:nvPr/>
        </p:nvSpPr>
        <p:spPr>
          <a:xfrm>
            <a:off x="866139" y="5592435"/>
            <a:ext cx="10976610" cy="1189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694055" indent="-228600">
              <a:lnSpc>
                <a:spcPct val="7000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Para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treinar</a:t>
            </a:r>
            <a:r>
              <a:rPr sz="2400" b="1" i="1" spc="-2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a</a:t>
            </a:r>
            <a:r>
              <a:rPr sz="2400" b="1" i="1" spc="-4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rede</a:t>
            </a:r>
            <a:r>
              <a:rPr sz="2400" b="1" i="1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(i.e.,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atualizar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pesos),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devemos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derivar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função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custo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com </a:t>
            </a:r>
            <a:r>
              <a:rPr sz="2400" b="1" dirty="0">
                <a:latin typeface="Calibri"/>
                <a:cs typeface="Calibri"/>
              </a:rPr>
              <a:t>respeito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aos</a:t>
            </a:r>
            <a:r>
              <a:rPr sz="2400" b="1" spc="-2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pesos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sinápticos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41300" marR="5080" indent="-228600">
              <a:lnSpc>
                <a:spcPct val="700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  <a:tab pos="2846070" algn="l"/>
              </a:tabLst>
            </a:pPr>
            <a:r>
              <a:rPr sz="2400" dirty="0">
                <a:latin typeface="Calibri"/>
                <a:cs typeface="Calibri"/>
              </a:rPr>
              <a:t>Porém,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percebam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pesos</a:t>
            </a:r>
            <a:r>
              <a:rPr sz="2400" b="1" i="1" spc="-5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das</a:t>
            </a:r>
            <a:r>
              <a:rPr sz="2400" b="1" i="1" spc="-4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camadas</a:t>
            </a:r>
            <a:r>
              <a:rPr sz="2400" b="1" i="1" spc="-7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ocultas</a:t>
            </a:r>
            <a:r>
              <a:rPr sz="2400" b="1" i="1" spc="-2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não</a:t>
            </a:r>
            <a:r>
              <a:rPr sz="2400" b="1" i="1" spc="-5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aparecem</a:t>
            </a:r>
            <a:r>
              <a:rPr sz="2400" b="1" i="1" spc="-75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explícitamente</a:t>
            </a:r>
            <a:r>
              <a:rPr sz="2400" b="1" i="1" spc="-2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na </a:t>
            </a:r>
            <a:r>
              <a:rPr sz="2400" dirty="0">
                <a:latin typeface="Calibri"/>
                <a:cs typeface="Calibri"/>
              </a:rPr>
              <a:t>expressão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erro,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𝐽</a:t>
            </a:r>
            <a:r>
              <a:rPr lang="pt-BR" sz="2400" spc="-50" dirty="0">
                <a:latin typeface="Cambria Math"/>
                <a:cs typeface="Cambria Math"/>
              </a:rPr>
              <a:t>(</a:t>
            </a:r>
            <a:r>
              <a:rPr sz="2400" dirty="0">
                <a:latin typeface="Cambria Math"/>
                <a:cs typeface="Cambria Math"/>
              </a:rPr>
              <a:t>𝒘</a:t>
            </a:r>
            <a:r>
              <a:rPr lang="pt-BR" sz="2400" spc="405" dirty="0">
                <a:latin typeface="Cambria Math"/>
                <a:cs typeface="Cambria Math"/>
              </a:rPr>
              <a:t>)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apenas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camada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 err="1">
                <a:latin typeface="Calibri"/>
                <a:cs typeface="Calibri"/>
              </a:rPr>
              <a:t>saída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aixaDeTexto 27">
                <a:extLst>
                  <a:ext uri="{FF2B5EF4-FFF2-40B4-BE49-F238E27FC236}">
                    <a16:creationId xmlns:a16="http://schemas.microsoft.com/office/drawing/2014/main" id="{84C758E9-3808-4ACA-2DCC-0A4B13982F34}"/>
                  </a:ext>
                </a:extLst>
              </p:cNvPr>
              <p:cNvSpPr txBox="1"/>
              <p:nvPr/>
            </p:nvSpPr>
            <p:spPr>
              <a:xfrm>
                <a:off x="3072312" y="2057400"/>
                <a:ext cx="4449295" cy="10802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𝑗</m:t>
                      </m:r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pt-BR" sz="2400" b="0" i="0" smtClean="0">
                                  <a:latin typeface="Cambria Math" panose="02040503050406030204" pitchFamily="18" charset="0"/>
                                </a:rPr>
                                <m:t>dados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sSub>
                            <m:sSub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pt-BR" sz="2400" b="0" i="0" smtClean="0">
                                  <a:latin typeface="Cambria Math" panose="02040503050406030204" pitchFamily="18" charset="0"/>
                                </a:rPr>
                                <m:t>dados</m:t>
                              </m:r>
                            </m:sub>
                          </m:sSub>
                        </m:sup>
                        <m:e>
                          <m:nary>
                            <m:naryPr>
                              <m:chr m:val="∑"/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sub>
                              </m:sSub>
                            </m:sup>
                            <m:e>
                              <m:sSubSup>
                                <m:sSubSup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28" name="CaixaDeTexto 27">
                <a:extLst>
                  <a:ext uri="{FF2B5EF4-FFF2-40B4-BE49-F238E27FC236}">
                    <a16:creationId xmlns:a16="http://schemas.microsoft.com/office/drawing/2014/main" id="{84C758E9-3808-4ACA-2DCC-0A4B13982F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2312" y="2057400"/>
                <a:ext cx="4449295" cy="108029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aixaDeTexto 28">
                <a:extLst>
                  <a:ext uri="{FF2B5EF4-FFF2-40B4-BE49-F238E27FC236}">
                    <a16:creationId xmlns:a16="http://schemas.microsoft.com/office/drawing/2014/main" id="{8B51C7DC-3E82-CB64-2467-27FB86C8BA06}"/>
                  </a:ext>
                </a:extLst>
              </p:cNvPr>
              <p:cNvSpPr txBox="1"/>
              <p:nvPr/>
            </p:nvSpPr>
            <p:spPr>
              <a:xfrm>
                <a:off x="3218997" y="3276600"/>
                <a:ext cx="5442837" cy="10802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pt-BR" sz="2400" b="0" i="0" smtClean="0">
                                  <a:latin typeface="Cambria Math" panose="02040503050406030204" pitchFamily="18" charset="0"/>
                                </a:rPr>
                                <m:t>dados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sSub>
                            <m:sSub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pt-BR" sz="2400" b="0" i="0" smtClean="0">
                                  <a:latin typeface="Cambria Math" panose="02040503050406030204" pitchFamily="18" charset="0"/>
                                </a:rPr>
                                <m:t>dados</m:t>
                              </m:r>
                            </m:sub>
                          </m:sSub>
                        </m:sup>
                        <m:e>
                          <m:nary>
                            <m:naryPr>
                              <m:chr m:val="∑"/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sub>
                              </m:sSub>
                            </m:sup>
                            <m:e>
                              <m:sSup>
                                <m:sSup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</m:d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Sup>
                                        <m:sSubSupPr>
                                          <m:ctrlP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  <m:sup>
                                          <m: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sup>
                                      </m:sSubSup>
                                      <m:d>
                                        <m:dPr>
                                          <m:ctrlP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nary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29" name="CaixaDeTexto 28">
                <a:extLst>
                  <a:ext uri="{FF2B5EF4-FFF2-40B4-BE49-F238E27FC236}">
                    <a16:creationId xmlns:a16="http://schemas.microsoft.com/office/drawing/2014/main" id="{8B51C7DC-3E82-CB64-2467-27FB86C8BA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8997" y="3276600"/>
                <a:ext cx="5442837" cy="108029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8427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dirty="0"/>
              <a:t>Algumas</a:t>
            </a:r>
            <a:r>
              <a:rPr spc="-50" dirty="0"/>
              <a:t> </a:t>
            </a:r>
            <a:r>
              <a:rPr dirty="0"/>
              <a:t>visões</a:t>
            </a:r>
            <a:r>
              <a:rPr spc="-50" dirty="0"/>
              <a:t> </a:t>
            </a:r>
            <a:r>
              <a:rPr dirty="0"/>
              <a:t>práticas</a:t>
            </a:r>
            <a:r>
              <a:rPr spc="-45" dirty="0"/>
              <a:t> </a:t>
            </a:r>
            <a:r>
              <a:rPr dirty="0"/>
              <a:t>de</a:t>
            </a:r>
            <a:r>
              <a:rPr spc="-55" dirty="0"/>
              <a:t> </a:t>
            </a:r>
            <a:r>
              <a:rPr dirty="0"/>
              <a:t>algoritmos</a:t>
            </a:r>
            <a:r>
              <a:rPr spc="-45" dirty="0"/>
              <a:t> </a:t>
            </a:r>
            <a:r>
              <a:rPr spc="-25" dirty="0"/>
              <a:t>de </a:t>
            </a:r>
            <a:r>
              <a:rPr spc="-10" dirty="0"/>
              <a:t>aprendizado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981200"/>
            <a:ext cx="10382250" cy="262763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41300" marR="5080" indent="-228600">
              <a:lnSpc>
                <a:spcPts val="3030"/>
              </a:lnSpc>
              <a:spcBef>
                <a:spcPts val="4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Podemos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dizer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elementos</a:t>
            </a:r>
            <a:r>
              <a:rPr sz="2800" b="1" i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básicos</a:t>
            </a:r>
            <a:r>
              <a:rPr sz="2800" b="1" i="1" spc="-9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do</a:t>
            </a:r>
            <a:r>
              <a:rPr sz="2800" b="1" i="1" spc="-9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aprendizado</a:t>
            </a:r>
            <a:r>
              <a:rPr sz="28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800" b="1" i="1" spc="-9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máquina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através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redes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neurais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foram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apresentados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até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aqui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421005" indent="-228600">
              <a:lnSpc>
                <a:spcPct val="90000"/>
              </a:lnSpc>
              <a:spcBef>
                <a:spcPts val="95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Porém,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existem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importantes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aspectos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práticos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devem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ser </a:t>
            </a:r>
            <a:r>
              <a:rPr sz="2800" spc="-10" dirty="0">
                <a:latin typeface="Calibri"/>
                <a:cs typeface="Calibri"/>
              </a:rPr>
              <a:t>comentados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vocês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fiquem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mais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familiarizados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as </a:t>
            </a:r>
            <a:r>
              <a:rPr sz="2800" spc="-10" dirty="0">
                <a:latin typeface="Calibri"/>
                <a:cs typeface="Calibri"/>
              </a:rPr>
              <a:t>práticas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atuais.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Começamos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falando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questão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cálculo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14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vetor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gradiente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8427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dirty="0"/>
              <a:t>Algumas</a:t>
            </a:r>
            <a:r>
              <a:rPr spc="-50" dirty="0"/>
              <a:t> </a:t>
            </a:r>
            <a:r>
              <a:rPr dirty="0"/>
              <a:t>visões</a:t>
            </a:r>
            <a:r>
              <a:rPr spc="-50" dirty="0"/>
              <a:t> </a:t>
            </a:r>
            <a:r>
              <a:rPr dirty="0"/>
              <a:t>práticas</a:t>
            </a:r>
            <a:r>
              <a:rPr spc="-45" dirty="0"/>
              <a:t> </a:t>
            </a:r>
            <a:r>
              <a:rPr dirty="0"/>
              <a:t>de</a:t>
            </a:r>
            <a:r>
              <a:rPr spc="-55" dirty="0"/>
              <a:t> </a:t>
            </a:r>
            <a:r>
              <a:rPr dirty="0"/>
              <a:t>algoritmos</a:t>
            </a:r>
            <a:r>
              <a:rPr spc="-45" dirty="0"/>
              <a:t> </a:t>
            </a:r>
            <a:r>
              <a:rPr spc="-25" dirty="0"/>
              <a:t>de </a:t>
            </a:r>
            <a:r>
              <a:rPr spc="-10" dirty="0"/>
              <a:t>aprendizado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pc="-25" dirty="0"/>
              <a:t>Versões</a:t>
            </a:r>
            <a:r>
              <a:rPr spc="-85" dirty="0"/>
              <a:t> </a:t>
            </a:r>
            <a:r>
              <a:rPr dirty="0"/>
              <a:t>Online,</a:t>
            </a:r>
            <a:r>
              <a:rPr spc="-80" dirty="0"/>
              <a:t> </a:t>
            </a:r>
            <a:r>
              <a:rPr dirty="0"/>
              <a:t>Batch</a:t>
            </a:r>
            <a:r>
              <a:rPr spc="-75" dirty="0"/>
              <a:t> </a:t>
            </a:r>
            <a:r>
              <a:rPr dirty="0"/>
              <a:t>e</a:t>
            </a:r>
            <a:r>
              <a:rPr spc="-85" dirty="0"/>
              <a:t> </a:t>
            </a:r>
            <a:r>
              <a:rPr spc="-10" dirty="0"/>
              <a:t>Minibatch</a:t>
            </a:r>
          </a:p>
          <a:p>
            <a:pPr marL="241300" marR="6985" indent="-228600">
              <a:lnSpc>
                <a:spcPts val="3020"/>
              </a:lnSpc>
              <a:spcBef>
                <a:spcPts val="1060"/>
              </a:spcBef>
              <a:buFont typeface="Arial"/>
              <a:buChar char="•"/>
              <a:tabLst>
                <a:tab pos="241300" algn="l"/>
              </a:tabLst>
            </a:pPr>
            <a:r>
              <a:rPr b="0" spc="-10" dirty="0">
                <a:latin typeface="Calibri"/>
                <a:cs typeface="Calibri"/>
              </a:rPr>
              <a:t>Conforme</a:t>
            </a:r>
            <a:r>
              <a:rPr b="0" spc="-6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vimos</a:t>
            </a:r>
            <a:r>
              <a:rPr b="0" spc="-6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anteriormente,</a:t>
            </a:r>
            <a:r>
              <a:rPr b="0" spc="-6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a</a:t>
            </a:r>
            <a:r>
              <a:rPr b="0" spc="-8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base</a:t>
            </a:r>
            <a:r>
              <a:rPr b="0" spc="-6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para</a:t>
            </a:r>
            <a:r>
              <a:rPr b="0" spc="-6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o</a:t>
            </a:r>
            <a:r>
              <a:rPr b="0" spc="-7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aprendizado</a:t>
            </a:r>
            <a:r>
              <a:rPr b="0" spc="-5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em</a:t>
            </a:r>
            <a:r>
              <a:rPr b="0" spc="-7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redes</a:t>
            </a:r>
            <a:r>
              <a:rPr b="0" spc="-65" dirty="0">
                <a:latin typeface="Calibri"/>
                <a:cs typeface="Calibri"/>
              </a:rPr>
              <a:t> </a:t>
            </a:r>
            <a:r>
              <a:rPr b="0" spc="-25" dirty="0">
                <a:latin typeface="Calibri"/>
                <a:cs typeface="Calibri"/>
              </a:rPr>
              <a:t>MLP </a:t>
            </a:r>
            <a:r>
              <a:rPr b="0" dirty="0">
                <a:latin typeface="Calibri"/>
                <a:cs typeface="Calibri"/>
              </a:rPr>
              <a:t>é</a:t>
            </a:r>
            <a:r>
              <a:rPr b="0" spc="-5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a</a:t>
            </a:r>
            <a:r>
              <a:rPr b="0" spc="-5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obtenção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do</a:t>
            </a:r>
            <a:r>
              <a:rPr b="0" spc="-60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vetor</a:t>
            </a:r>
            <a:r>
              <a:rPr i="1" spc="-40" dirty="0">
                <a:latin typeface="Calibri"/>
                <a:cs typeface="Calibri"/>
              </a:rPr>
              <a:t> </a:t>
            </a:r>
            <a:r>
              <a:rPr i="1" spc="-10" dirty="0">
                <a:latin typeface="Calibri"/>
                <a:cs typeface="Calibri"/>
              </a:rPr>
              <a:t>gradiente</a:t>
            </a:r>
            <a:r>
              <a:rPr i="1" spc="-5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e</a:t>
            </a:r>
            <a:r>
              <a:rPr b="0" spc="-5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o</a:t>
            </a:r>
            <a:r>
              <a:rPr b="0" spc="-50" dirty="0">
                <a:latin typeface="Calibri"/>
                <a:cs typeface="Calibri"/>
              </a:rPr>
              <a:t> </a:t>
            </a:r>
            <a:r>
              <a:rPr b="0" spc="-20" dirty="0">
                <a:latin typeface="Calibri"/>
                <a:cs typeface="Calibri"/>
              </a:rPr>
              <a:t>estabelecimento</a:t>
            </a:r>
            <a:r>
              <a:rPr b="0" spc="-4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de</a:t>
            </a:r>
            <a:r>
              <a:rPr b="0" spc="-5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um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i="1" spc="-10" dirty="0">
                <a:latin typeface="Calibri"/>
                <a:cs typeface="Calibri"/>
              </a:rPr>
              <a:t>processo </a:t>
            </a:r>
            <a:r>
              <a:rPr i="1" dirty="0">
                <a:latin typeface="Calibri"/>
                <a:cs typeface="Calibri"/>
              </a:rPr>
              <a:t>iterativo</a:t>
            </a:r>
            <a:r>
              <a:rPr i="1" spc="-65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de</a:t>
            </a:r>
            <a:r>
              <a:rPr i="1" spc="-65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busca</a:t>
            </a:r>
            <a:r>
              <a:rPr i="1" spc="-70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dos</a:t>
            </a:r>
            <a:r>
              <a:rPr i="1" spc="-75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pesos</a:t>
            </a:r>
            <a:r>
              <a:rPr i="1" spc="-12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(sinápticos</a:t>
            </a:r>
            <a:r>
              <a:rPr b="0" spc="-4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e</a:t>
            </a:r>
            <a:r>
              <a:rPr b="0" spc="-8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de</a:t>
            </a:r>
            <a:r>
              <a:rPr b="0" spc="-7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bias)</a:t>
            </a:r>
            <a:r>
              <a:rPr b="0" spc="-60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que</a:t>
            </a:r>
            <a:r>
              <a:rPr i="1" spc="-70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minmizem</a:t>
            </a:r>
            <a:r>
              <a:rPr i="1" spc="-65" dirty="0">
                <a:latin typeface="Calibri"/>
                <a:cs typeface="Calibri"/>
              </a:rPr>
              <a:t> </a:t>
            </a:r>
            <a:r>
              <a:rPr i="1" spc="-50" dirty="0">
                <a:latin typeface="Calibri"/>
                <a:cs typeface="Calibri"/>
              </a:rPr>
              <a:t>a </a:t>
            </a:r>
            <a:r>
              <a:rPr i="1" dirty="0">
                <a:latin typeface="Calibri"/>
                <a:cs typeface="Calibri"/>
              </a:rPr>
              <a:t>função</a:t>
            </a:r>
            <a:r>
              <a:rPr i="1" spc="-65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de</a:t>
            </a:r>
            <a:r>
              <a:rPr i="1" spc="-70" dirty="0">
                <a:latin typeface="Calibri"/>
                <a:cs typeface="Calibri"/>
              </a:rPr>
              <a:t> </a:t>
            </a:r>
            <a:r>
              <a:rPr i="1" spc="-10" dirty="0">
                <a:latin typeface="Calibri"/>
                <a:cs typeface="Calibri"/>
              </a:rPr>
              <a:t>custo</a:t>
            </a:r>
            <a:r>
              <a:rPr b="0" spc="-10" dirty="0">
                <a:latin typeface="Calibri"/>
                <a:cs typeface="Calibri"/>
              </a:rPr>
              <a:t>.</a:t>
            </a:r>
          </a:p>
          <a:p>
            <a:pPr marL="241300" marR="313690" indent="-228600">
              <a:lnSpc>
                <a:spcPts val="302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b="0" dirty="0">
                <a:latin typeface="Calibri"/>
                <a:cs typeface="Calibri"/>
              </a:rPr>
              <a:t>Vimos</a:t>
            </a:r>
            <a:r>
              <a:rPr b="0" spc="-4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que</a:t>
            </a:r>
            <a:r>
              <a:rPr b="0" spc="-6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a</a:t>
            </a:r>
            <a:r>
              <a:rPr b="0" spc="-6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obtenção</a:t>
            </a:r>
            <a:r>
              <a:rPr b="0" spc="-6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do</a:t>
            </a:r>
            <a:r>
              <a:rPr b="0" spc="-80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vetor</a:t>
            </a:r>
            <a:r>
              <a:rPr i="1" spc="-50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gradiente</a:t>
            </a:r>
            <a:r>
              <a:rPr i="1" spc="-5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se</a:t>
            </a:r>
            <a:r>
              <a:rPr b="0" spc="-6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dá</a:t>
            </a:r>
            <a:r>
              <a:rPr b="0" spc="-70" dirty="0">
                <a:latin typeface="Calibri"/>
                <a:cs typeface="Calibri"/>
              </a:rPr>
              <a:t> </a:t>
            </a:r>
            <a:r>
              <a:rPr b="0" spc="-20" dirty="0">
                <a:latin typeface="Calibri"/>
                <a:cs typeface="Calibri"/>
              </a:rPr>
              <a:t>através</a:t>
            </a:r>
            <a:r>
              <a:rPr b="0" spc="-7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de</a:t>
            </a:r>
            <a:r>
              <a:rPr b="0" spc="-6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um</a:t>
            </a:r>
            <a:r>
              <a:rPr b="0" spc="-6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processo </a:t>
            </a:r>
            <a:r>
              <a:rPr b="0" dirty="0">
                <a:latin typeface="Calibri"/>
                <a:cs typeface="Calibri"/>
              </a:rPr>
              <a:t>de</a:t>
            </a:r>
            <a:r>
              <a:rPr b="0" spc="-50" dirty="0">
                <a:latin typeface="Calibri"/>
                <a:cs typeface="Calibri"/>
              </a:rPr>
              <a:t> </a:t>
            </a:r>
            <a:r>
              <a:rPr i="1" spc="-10" dirty="0">
                <a:latin typeface="Calibri"/>
                <a:cs typeface="Calibri"/>
              </a:rPr>
              <a:t>retropropagação</a:t>
            </a:r>
            <a:r>
              <a:rPr i="1" spc="-45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do</a:t>
            </a:r>
            <a:r>
              <a:rPr i="1" spc="-60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erro</a:t>
            </a:r>
            <a:r>
              <a:rPr b="0" dirty="0">
                <a:latin typeface="Calibri"/>
                <a:cs typeface="Calibri"/>
              </a:rPr>
              <a:t>,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o</a:t>
            </a:r>
            <a:r>
              <a:rPr b="0" spc="-6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qual</a:t>
            </a:r>
            <a:r>
              <a:rPr b="0" spc="-5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é</a:t>
            </a:r>
            <a:r>
              <a:rPr b="0" spc="-5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dividido</a:t>
            </a:r>
            <a:r>
              <a:rPr b="0" spc="-2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em</a:t>
            </a:r>
            <a:r>
              <a:rPr b="0" spc="-5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duas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etapas:</a:t>
            </a:r>
          </a:p>
          <a:p>
            <a:pPr marL="698500" lvl="1" indent="-229235">
              <a:lnSpc>
                <a:spcPts val="2735"/>
              </a:lnSpc>
              <a:spcBef>
                <a:spcPts val="204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Etapa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direta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</a:t>
            </a:r>
            <a:r>
              <a:rPr sz="2400" b="1" i="1" dirty="0">
                <a:latin typeface="Calibri"/>
                <a:cs typeface="Calibri"/>
              </a:rPr>
              <a:t>forward</a:t>
            </a:r>
            <a:r>
              <a:rPr sz="2400" dirty="0">
                <a:latin typeface="Calibri"/>
                <a:cs typeface="Calibri"/>
              </a:rPr>
              <a:t>)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onde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apresenta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exemplo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entrada,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𝒙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obtém-</a:t>
            </a:r>
            <a:r>
              <a:rPr sz="2400" dirty="0">
                <a:latin typeface="Calibri"/>
                <a:cs typeface="Calibri"/>
              </a:rPr>
              <a:t>se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a</a:t>
            </a:r>
            <a:endParaRPr sz="2400" dirty="0">
              <a:latin typeface="Calibri"/>
              <a:cs typeface="Calibri"/>
            </a:endParaRPr>
          </a:p>
          <a:p>
            <a:pPr marL="698500">
              <a:lnSpc>
                <a:spcPts val="2735"/>
              </a:lnSpc>
            </a:pPr>
            <a:r>
              <a:rPr sz="2400" b="0" dirty="0">
                <a:latin typeface="Calibri"/>
                <a:cs typeface="Calibri"/>
              </a:rPr>
              <a:t>resposta</a:t>
            </a:r>
            <a:r>
              <a:rPr sz="2400" b="0" spc="-55" dirty="0">
                <a:latin typeface="Calibri"/>
                <a:cs typeface="Calibri"/>
              </a:rPr>
              <a:t> </a:t>
            </a:r>
            <a:r>
              <a:rPr sz="2400" b="0" dirty="0">
                <a:latin typeface="Calibri"/>
                <a:cs typeface="Calibri"/>
              </a:rPr>
              <a:t>da</a:t>
            </a:r>
            <a:r>
              <a:rPr sz="2400" b="0" spc="-45" dirty="0">
                <a:latin typeface="Calibri"/>
                <a:cs typeface="Calibri"/>
              </a:rPr>
              <a:t> </a:t>
            </a:r>
            <a:r>
              <a:rPr sz="2400" b="0" dirty="0">
                <a:latin typeface="Calibri"/>
                <a:cs typeface="Calibri"/>
              </a:rPr>
              <a:t>rede</a:t>
            </a:r>
            <a:r>
              <a:rPr sz="2400" b="0" spc="-30" dirty="0">
                <a:latin typeface="Calibri"/>
                <a:cs typeface="Calibri"/>
              </a:rPr>
              <a:t> </a:t>
            </a:r>
            <a:r>
              <a:rPr sz="2400" b="0" dirty="0">
                <a:latin typeface="Calibri"/>
                <a:cs typeface="Calibri"/>
              </a:rPr>
              <a:t>e,</a:t>
            </a:r>
            <a:r>
              <a:rPr sz="2400" b="0" spc="-40" dirty="0">
                <a:latin typeface="Calibri"/>
                <a:cs typeface="Calibri"/>
              </a:rPr>
              <a:t> </a:t>
            </a:r>
            <a:r>
              <a:rPr sz="2400" b="0" dirty="0">
                <a:latin typeface="Calibri"/>
                <a:cs typeface="Calibri"/>
              </a:rPr>
              <a:t>consequentemente,</a:t>
            </a:r>
            <a:r>
              <a:rPr sz="2400" b="0" spc="-40" dirty="0">
                <a:latin typeface="Calibri"/>
                <a:cs typeface="Calibri"/>
              </a:rPr>
              <a:t> </a:t>
            </a:r>
            <a:r>
              <a:rPr sz="2400" b="0" dirty="0">
                <a:latin typeface="Calibri"/>
                <a:cs typeface="Calibri"/>
              </a:rPr>
              <a:t>o</a:t>
            </a:r>
            <a:r>
              <a:rPr sz="2400" b="0" spc="-3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erro</a:t>
            </a:r>
            <a:r>
              <a:rPr sz="2400" i="1" spc="-4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de</a:t>
            </a:r>
            <a:r>
              <a:rPr sz="2400" i="1" spc="-50" dirty="0">
                <a:latin typeface="Calibri"/>
                <a:cs typeface="Calibri"/>
              </a:rPr>
              <a:t> </a:t>
            </a:r>
            <a:r>
              <a:rPr sz="2400" i="1" spc="-10" dirty="0">
                <a:latin typeface="Calibri"/>
                <a:cs typeface="Calibri"/>
              </a:rPr>
              <a:t>saída</a:t>
            </a:r>
            <a:r>
              <a:rPr sz="2400" b="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698500" marR="1003935" lvl="1" indent="-228600">
              <a:lnSpc>
                <a:spcPts val="2590"/>
              </a:lnSpc>
              <a:spcBef>
                <a:spcPts val="535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Etapa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reversa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(</a:t>
            </a:r>
            <a:r>
              <a:rPr sz="2400" b="1" i="1" spc="-10" dirty="0">
                <a:latin typeface="Calibri"/>
                <a:cs typeface="Calibri"/>
              </a:rPr>
              <a:t>retropropagação/backpropagation</a:t>
            </a:r>
            <a:r>
              <a:rPr sz="2400" spc="-10" dirty="0">
                <a:latin typeface="Calibri"/>
                <a:cs typeface="Calibri"/>
              </a:rPr>
              <a:t>)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em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 calculam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as </a:t>
            </a:r>
            <a:r>
              <a:rPr sz="2400" dirty="0">
                <a:latin typeface="Calibri"/>
                <a:cs typeface="Calibri"/>
              </a:rPr>
              <a:t>derivadas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parciais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necessárias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longo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camadas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anteriores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rede.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8427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dirty="0"/>
              <a:t>Algumas</a:t>
            </a:r>
            <a:r>
              <a:rPr spc="-50" dirty="0"/>
              <a:t> </a:t>
            </a:r>
            <a:r>
              <a:rPr dirty="0"/>
              <a:t>visões</a:t>
            </a:r>
            <a:r>
              <a:rPr spc="-50" dirty="0"/>
              <a:t> </a:t>
            </a:r>
            <a:r>
              <a:rPr dirty="0"/>
              <a:t>práticas</a:t>
            </a:r>
            <a:r>
              <a:rPr spc="-45" dirty="0"/>
              <a:t> </a:t>
            </a:r>
            <a:r>
              <a:rPr dirty="0"/>
              <a:t>de</a:t>
            </a:r>
            <a:r>
              <a:rPr spc="-55" dirty="0"/>
              <a:t> </a:t>
            </a:r>
            <a:r>
              <a:rPr dirty="0"/>
              <a:t>algoritmos</a:t>
            </a:r>
            <a:r>
              <a:rPr spc="-45" dirty="0"/>
              <a:t> </a:t>
            </a:r>
            <a:r>
              <a:rPr spc="-25" dirty="0"/>
              <a:t>de </a:t>
            </a:r>
            <a:r>
              <a:rPr spc="-10" dirty="0"/>
              <a:t>aprendizado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476301"/>
            <a:ext cx="10923905" cy="162672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b="1" spc="-10" dirty="0">
                <a:latin typeface="Calibri"/>
                <a:cs typeface="Calibri"/>
              </a:rPr>
              <a:t>Versões</a:t>
            </a:r>
            <a:r>
              <a:rPr sz="2600" b="1" spc="-6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Online,</a:t>
            </a:r>
            <a:r>
              <a:rPr sz="2600" b="1" spc="-4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Batch</a:t>
            </a:r>
            <a:r>
              <a:rPr sz="2600" b="1" spc="-5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e</a:t>
            </a:r>
            <a:r>
              <a:rPr sz="2600" b="1" spc="-55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Minibatch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spcBef>
                <a:spcPts val="5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Vimos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também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calcula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gradiente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associado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cada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exemplo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entrada</a:t>
            </a:r>
            <a:r>
              <a:rPr lang="pt-BR" sz="2600" spc="-10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e</a:t>
            </a:r>
            <a:r>
              <a:rPr lang="pt-BR" sz="2600" spc="-50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que</a:t>
            </a:r>
            <a:r>
              <a:rPr lang="pt-BR" sz="2600" spc="-40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a</a:t>
            </a:r>
            <a:r>
              <a:rPr lang="pt-BR" sz="2600" spc="-30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média</a:t>
            </a:r>
            <a:r>
              <a:rPr lang="pt-BR" sz="2600" spc="-35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de</a:t>
            </a:r>
            <a:r>
              <a:rPr lang="pt-BR" sz="2600" spc="-45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todos</a:t>
            </a:r>
            <a:r>
              <a:rPr lang="pt-BR" sz="2600" spc="-35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esses</a:t>
            </a:r>
            <a:r>
              <a:rPr lang="pt-BR" sz="2600" spc="-85" dirty="0">
                <a:latin typeface="Calibri"/>
                <a:cs typeface="Calibri"/>
              </a:rPr>
              <a:t> </a:t>
            </a:r>
            <a:r>
              <a:rPr lang="pt-BR" sz="2600" b="1" i="1" dirty="0">
                <a:latin typeface="Calibri"/>
                <a:cs typeface="Calibri"/>
              </a:rPr>
              <a:t>gradientes</a:t>
            </a:r>
            <a:r>
              <a:rPr lang="pt-BR" sz="2600" b="1" i="1" spc="-60" dirty="0">
                <a:latin typeface="Calibri"/>
                <a:cs typeface="Calibri"/>
              </a:rPr>
              <a:t> </a:t>
            </a:r>
            <a:r>
              <a:rPr lang="pt-BR" sz="2600" b="1" i="1" dirty="0">
                <a:latin typeface="Calibri"/>
                <a:cs typeface="Calibri"/>
              </a:rPr>
              <a:t>locais</a:t>
            </a:r>
            <a:r>
              <a:rPr lang="pt-BR" sz="2600" b="1" i="1" spc="-5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leva</a:t>
            </a:r>
            <a:r>
              <a:rPr lang="pt-BR" sz="2600" spc="-40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ao</a:t>
            </a:r>
            <a:r>
              <a:rPr lang="pt-BR" sz="2600" spc="-25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gradiente</a:t>
            </a:r>
            <a:r>
              <a:rPr lang="pt-BR" sz="2600" spc="-65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para</a:t>
            </a:r>
            <a:r>
              <a:rPr lang="pt-BR" sz="2600" spc="-40" dirty="0">
                <a:latin typeface="Calibri"/>
                <a:cs typeface="Calibri"/>
              </a:rPr>
              <a:t> </a:t>
            </a:r>
            <a:r>
              <a:rPr lang="pt-BR" sz="2600" spc="-50" dirty="0">
                <a:latin typeface="Calibri"/>
                <a:cs typeface="Calibri"/>
              </a:rPr>
              <a:t>o </a:t>
            </a:r>
            <a:r>
              <a:rPr lang="pt-BR" sz="2600" dirty="0">
                <a:latin typeface="Calibri"/>
                <a:cs typeface="Calibri"/>
              </a:rPr>
              <a:t>conjunto</a:t>
            </a:r>
            <a:r>
              <a:rPr lang="pt-BR" sz="2600" spc="-80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total</a:t>
            </a:r>
            <a:r>
              <a:rPr lang="pt-BR" sz="2600" spc="-35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de</a:t>
            </a:r>
            <a:r>
              <a:rPr lang="pt-BR" sz="2600" spc="-45" dirty="0">
                <a:latin typeface="Calibri"/>
                <a:cs typeface="Calibri"/>
              </a:rPr>
              <a:t> </a:t>
            </a:r>
            <a:r>
              <a:rPr lang="pt-BR" sz="2600" spc="-10" dirty="0">
                <a:latin typeface="Calibri"/>
                <a:cs typeface="Calibri"/>
              </a:rPr>
              <a:t>exemplos.</a:t>
            </a:r>
            <a:endParaRPr lang="pt-BR" sz="26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5539" y="2418714"/>
            <a:ext cx="962977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endParaRPr sz="26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45539" y="2696082"/>
            <a:ext cx="376364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endParaRPr sz="2600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bject 31"/>
              <p:cNvSpPr txBox="1"/>
              <p:nvPr/>
            </p:nvSpPr>
            <p:spPr>
              <a:xfrm>
                <a:off x="916939" y="4093341"/>
                <a:ext cx="10709910" cy="859659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469900" indent="-457200">
                  <a:spcBef>
                    <a:spcPts val="100"/>
                  </a:spcBef>
                  <a:buFont typeface="Arial" panose="020B0604020202020204" pitchFamily="34" charset="0"/>
                  <a:buChar char="•"/>
                  <a:tabLst>
                    <a:tab pos="241300" algn="l"/>
                  </a:tabLst>
                </a:pPr>
                <a:r>
                  <a:rPr sz="2600" dirty="0">
                    <a:latin typeface="Calibri"/>
                    <a:cs typeface="Calibri"/>
                  </a:rPr>
                  <a:t>O</a:t>
                </a:r>
                <a:r>
                  <a:rPr sz="2600" spc="-15" dirty="0">
                    <a:latin typeface="Calibri"/>
                    <a:cs typeface="Calibri"/>
                  </a:rPr>
                  <a:t> </a:t>
                </a:r>
                <a:r>
                  <a:rPr sz="2600" b="1" i="1" dirty="0">
                    <a:latin typeface="Calibri"/>
                    <a:cs typeface="Calibri"/>
                  </a:rPr>
                  <a:t>gradiente</a:t>
                </a:r>
                <a:r>
                  <a:rPr sz="2600" b="1" i="1" spc="-35" dirty="0">
                    <a:latin typeface="Calibri"/>
                    <a:cs typeface="Calibri"/>
                  </a:rPr>
                  <a:t> </a:t>
                </a:r>
                <a:r>
                  <a:rPr sz="2600" b="1" i="1" dirty="0">
                    <a:latin typeface="Calibri"/>
                    <a:cs typeface="Calibri"/>
                  </a:rPr>
                  <a:t>local</a:t>
                </a:r>
                <a:r>
                  <a:rPr sz="2600" dirty="0">
                    <a:latin typeface="Calibri"/>
                    <a:cs typeface="Calibri"/>
                  </a:rPr>
                  <a:t>,</a:t>
                </a:r>
                <a:r>
                  <a:rPr sz="2600" spc="-10" dirty="0">
                    <a:latin typeface="Calibri"/>
                    <a:cs typeface="Calibri"/>
                  </a:rPr>
                  <a:t> </a:t>
                </a:r>
                <a:r>
                  <a:rPr sz="2600" dirty="0">
                    <a:latin typeface="Calibri"/>
                    <a:cs typeface="Calibri"/>
                  </a:rPr>
                  <a:t>é</a:t>
                </a:r>
                <a:r>
                  <a:rPr sz="2600" spc="-25" dirty="0">
                    <a:latin typeface="Calibri"/>
                    <a:cs typeface="Calibri"/>
                  </a:rPr>
                  <a:t> </a:t>
                </a:r>
                <a:r>
                  <a:rPr sz="2600" dirty="0">
                    <a:latin typeface="Calibri"/>
                    <a:cs typeface="Calibri"/>
                  </a:rPr>
                  <a:t>a</a:t>
                </a:r>
                <a:r>
                  <a:rPr sz="2600" spc="-10" dirty="0">
                    <a:latin typeface="Calibri"/>
                    <a:cs typeface="Calibri"/>
                  </a:rPr>
                  <a:t> </a:t>
                </a:r>
                <a:r>
                  <a:rPr sz="2600" dirty="0">
                    <a:latin typeface="Calibri"/>
                    <a:cs typeface="Calibri"/>
                  </a:rPr>
                  <a:t>derivada</a:t>
                </a:r>
                <a:r>
                  <a:rPr sz="2600" spc="-30" dirty="0">
                    <a:latin typeface="Calibri"/>
                    <a:cs typeface="Calibri"/>
                  </a:rPr>
                  <a:t> </a:t>
                </a:r>
                <a:r>
                  <a:rPr sz="2600" dirty="0">
                    <a:latin typeface="Calibri"/>
                    <a:cs typeface="Calibri"/>
                  </a:rPr>
                  <a:t>parcial</a:t>
                </a:r>
                <a:r>
                  <a:rPr sz="2600" spc="-30" dirty="0">
                    <a:latin typeface="Calibri"/>
                    <a:cs typeface="Calibri"/>
                  </a:rPr>
                  <a:t> </a:t>
                </a:r>
                <a:r>
                  <a:rPr sz="2600" dirty="0">
                    <a:latin typeface="Calibri"/>
                    <a:cs typeface="Calibri"/>
                  </a:rPr>
                  <a:t>do</a:t>
                </a:r>
                <a:r>
                  <a:rPr sz="2600" spc="-20" dirty="0">
                    <a:latin typeface="Calibri"/>
                    <a:cs typeface="Calibri"/>
                  </a:rPr>
                  <a:t> </a:t>
                </a:r>
                <a:r>
                  <a:rPr sz="2600" dirty="0">
                    <a:latin typeface="Calibri"/>
                    <a:cs typeface="Calibri"/>
                  </a:rPr>
                  <a:t>erro</a:t>
                </a:r>
                <a:r>
                  <a:rPr sz="2600" spc="-25" dirty="0">
                    <a:latin typeface="Calibri"/>
                    <a:cs typeface="Calibri"/>
                  </a:rPr>
                  <a:t> </a:t>
                </a:r>
                <a:r>
                  <a:rPr sz="2600" dirty="0">
                    <a:latin typeface="Calibri"/>
                    <a:cs typeface="Calibri"/>
                  </a:rPr>
                  <a:t>da</a:t>
                </a:r>
                <a:r>
                  <a:rPr sz="2600" spc="-45" dirty="0">
                    <a:latin typeface="Calibri"/>
                    <a:cs typeface="Calibri"/>
                  </a:rPr>
                  <a:t> </a:t>
                </a:r>
                <a:r>
                  <a:rPr sz="2600" dirty="0">
                    <a:latin typeface="Cambria Math"/>
                    <a:cs typeface="Cambria Math"/>
                  </a:rPr>
                  <a:t>𝑗</a:t>
                </a:r>
                <a:r>
                  <a:rPr sz="2600" dirty="0">
                    <a:latin typeface="Calibri"/>
                    <a:cs typeface="Calibri"/>
                  </a:rPr>
                  <a:t>-ésima</a:t>
                </a:r>
                <a:r>
                  <a:rPr sz="2600" spc="-30" dirty="0">
                    <a:latin typeface="Calibri"/>
                    <a:cs typeface="Calibri"/>
                  </a:rPr>
                  <a:t> </a:t>
                </a:r>
                <a:r>
                  <a:rPr sz="2600" dirty="0">
                    <a:latin typeface="Calibri"/>
                    <a:cs typeface="Calibri"/>
                  </a:rPr>
                  <a:t>saída</a:t>
                </a:r>
                <a:r>
                  <a:rPr sz="2600" spc="-20" dirty="0">
                    <a:latin typeface="Calibri"/>
                    <a:cs typeface="Calibri"/>
                  </a:rPr>
                  <a:t> </a:t>
                </a:r>
                <a:r>
                  <a:rPr sz="2600" dirty="0">
                    <a:latin typeface="Calibri"/>
                    <a:cs typeface="Calibri"/>
                  </a:rPr>
                  <a:t>da</a:t>
                </a:r>
                <a:r>
                  <a:rPr sz="2600" spc="-15" dirty="0">
                    <a:latin typeface="Calibri"/>
                    <a:cs typeface="Calibri"/>
                  </a:rPr>
                  <a:t> </a:t>
                </a:r>
                <a:r>
                  <a:rPr sz="2600" dirty="0">
                    <a:latin typeface="Calibri"/>
                    <a:cs typeface="Calibri"/>
                  </a:rPr>
                  <a:t>rede</a:t>
                </a:r>
                <a:r>
                  <a:rPr sz="2600" spc="-40" dirty="0">
                    <a:latin typeface="Calibri"/>
                    <a:cs typeface="Calibri"/>
                  </a:rPr>
                  <a:t> </a:t>
                </a:r>
                <a:r>
                  <a:rPr sz="2600" spc="-10" dirty="0">
                    <a:latin typeface="Calibri"/>
                    <a:cs typeface="Calibri"/>
                  </a:rPr>
                  <a:t>neural</a:t>
                </a:r>
                <a:r>
                  <a:rPr lang="pt-BR" sz="2600" spc="-1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para</a:t>
                </a:r>
                <a:r>
                  <a:rPr lang="pt-BR" sz="2600" spc="-5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o</a:t>
                </a:r>
                <a:r>
                  <a:rPr lang="pt-BR" sz="2600" spc="-2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mbria Math"/>
                    <a:cs typeface="Cambria Math"/>
                  </a:rPr>
                  <a:t>𝑛</a:t>
                </a:r>
                <a:r>
                  <a:rPr lang="pt-BR" sz="2600" dirty="0">
                    <a:latin typeface="Calibri"/>
                    <a:cs typeface="Calibri"/>
                  </a:rPr>
                  <a:t>-ésimo</a:t>
                </a:r>
                <a:r>
                  <a:rPr lang="pt-BR" sz="2600" spc="-40" dirty="0">
                    <a:latin typeface="Calibri"/>
                    <a:cs typeface="Calibri"/>
                  </a:rPr>
                  <a:t> </a:t>
                </a:r>
                <a:r>
                  <a:rPr lang="pt-BR" sz="2600" spc="-10" dirty="0">
                    <a:latin typeface="Calibri"/>
                    <a:cs typeface="Calibri"/>
                  </a:rPr>
                  <a:t>exemplo</a:t>
                </a:r>
                <a:r>
                  <a:rPr lang="pt-BR" sz="2600" spc="-6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de</a:t>
                </a:r>
                <a:r>
                  <a:rPr lang="pt-BR" sz="2600" spc="-4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entrada</a:t>
                </a:r>
                <a:r>
                  <a:rPr lang="pt-BR" sz="2600" spc="-5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em</a:t>
                </a:r>
                <a:r>
                  <a:rPr lang="pt-BR" sz="2600" spc="-4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relação</a:t>
                </a:r>
                <a:r>
                  <a:rPr lang="pt-BR" sz="2600" spc="-3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ao</a:t>
                </a:r>
                <a:r>
                  <a:rPr lang="pt-BR" sz="2600" spc="-2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peso,</a:t>
                </a:r>
                <a:r>
                  <a:rPr lang="pt-BR" sz="2600" spc="-35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ar-AE" sz="2600" b="0" i="1" spc="-35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SupPr>
                      <m:e>
                        <m:r>
                          <a:rPr lang="ar-AE" sz="2600" b="0" i="1" spc="-35" smtClean="0">
                            <a:latin typeface="Cambria Math" panose="02040503050406030204" pitchFamily="18" charset="0"/>
                            <a:cs typeface="Calibri"/>
                          </a:rPr>
                          <m:t>𝑤</m:t>
                        </m:r>
                      </m:e>
                      <m:sub>
                        <m:r>
                          <a:rPr lang="ar-AE" sz="2600" b="0" i="1" spc="-35" smtClean="0">
                            <a:latin typeface="Cambria Math" panose="02040503050406030204" pitchFamily="18" charset="0"/>
                            <a:cs typeface="Calibri"/>
                          </a:rPr>
                          <m:t>𝑖</m:t>
                        </m:r>
                        <m:r>
                          <a:rPr lang="ar-AE" sz="2600" b="0" i="1" spc="-35" smtClean="0">
                            <a:latin typeface="Cambria Math" panose="02040503050406030204" pitchFamily="18" charset="0"/>
                            <a:cs typeface="Calibri"/>
                          </a:rPr>
                          <m:t>,</m:t>
                        </m:r>
                        <m:r>
                          <a:rPr lang="ar-AE" sz="2600" b="0" i="1" spc="-35" smtClean="0">
                            <a:latin typeface="Cambria Math" panose="02040503050406030204" pitchFamily="18" charset="0"/>
                            <a:cs typeface="Calibri"/>
                          </a:rPr>
                          <m:t>𝑗</m:t>
                        </m:r>
                      </m:sub>
                      <m:sup>
                        <m:r>
                          <a:rPr lang="ar-AE" sz="2600" b="0" i="1" spc="-35" smtClean="0">
                            <a:latin typeface="Cambria Math" panose="02040503050406030204" pitchFamily="18" charset="0"/>
                            <a:cs typeface="Calibri"/>
                          </a:rPr>
                          <m:t>𝑚</m:t>
                        </m:r>
                      </m:sup>
                    </m:sSubSup>
                  </m:oMath>
                </a14:m>
                <a:r>
                  <a:rPr lang="ar-AE" sz="2600" spc="140" dirty="0">
                    <a:latin typeface="Calibri"/>
                    <a:cs typeface="Calibri"/>
                  </a:rPr>
                  <a:t>.</a:t>
                </a:r>
                <a:endParaRPr lang="ar-AE" sz="26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31" name="object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939" y="4093341"/>
                <a:ext cx="10709910" cy="859659"/>
              </a:xfrm>
              <a:prstGeom prst="rect">
                <a:avLst/>
              </a:prstGeom>
              <a:blipFill>
                <a:blip r:embed="rId2"/>
                <a:stretch>
                  <a:fillRect l="-1594" t="-11268" b="-1831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object 35"/>
              <p:cNvSpPr txBox="1"/>
              <p:nvPr/>
            </p:nvSpPr>
            <p:spPr>
              <a:xfrm>
                <a:off x="878510" y="5050037"/>
                <a:ext cx="11313490" cy="360163"/>
              </a:xfrm>
              <a:prstGeom prst="rect">
                <a:avLst/>
              </a:prstGeom>
            </p:spPr>
            <p:txBody>
              <a:bodyPr vert="horz" wrap="square" lIns="0" tIns="13335" rIns="0" bIns="0" rtlCol="0">
                <a:spAutoFit/>
              </a:bodyPr>
              <a:lstStyle/>
              <a:p>
                <a:pPr marL="520700" indent="-457200">
                  <a:lnSpc>
                    <a:spcPts val="2655"/>
                  </a:lnSpc>
                  <a:spcBef>
                    <a:spcPts val="105"/>
                  </a:spcBef>
                  <a:buFont typeface="Arial" panose="020B0604020202020204" pitchFamily="34" charset="0"/>
                  <a:buChar char="•"/>
                  <a:tabLst>
                    <a:tab pos="292100" algn="l"/>
                    <a:tab pos="922655" algn="l"/>
                  </a:tabLst>
                </a:pPr>
                <a14:m>
                  <m:oMath xmlns:m="http://schemas.openxmlformats.org/officeDocument/2006/math">
                    <m:r>
                      <a:rPr lang="pt-BR" sz="2600" i="1" spc="-25" dirty="0" smtClean="0">
                        <a:latin typeface="Cambria Math" panose="02040503050406030204" pitchFamily="18" charset="0"/>
                        <a:cs typeface="Cambria Math"/>
                      </a:rPr>
                      <m:t>𝛻</m:t>
                    </m:r>
                    <m:r>
                      <a:rPr lang="pt-BR" sz="2600" i="1" spc="-25" dirty="0" smtClean="0">
                        <a:latin typeface="Cambria Math" panose="02040503050406030204" pitchFamily="18" charset="0"/>
                        <a:cs typeface="Cambria Math"/>
                      </a:rPr>
                      <m:t>𝐽</m:t>
                    </m:r>
                    <m:r>
                      <a:rPr lang="pt-BR" sz="2850" i="1" spc="-37" baseline="-16081" dirty="0" smtClean="0">
                        <a:latin typeface="Cambria Math" panose="02040503050406030204" pitchFamily="18" charset="0"/>
                        <a:cs typeface="Cambria Math"/>
                      </a:rPr>
                      <m:t>𝑛</m:t>
                    </m:r>
                    <m:r>
                      <a:rPr lang="pt-BR" sz="2850" i="1" spc="-37" dirty="0">
                        <a:latin typeface="Cambria Math" panose="02040503050406030204" pitchFamily="18" charset="0"/>
                        <a:cs typeface="Cambria Math"/>
                      </a:rPr>
                      <m:t>(</m:t>
                    </m:r>
                    <m:r>
                      <a:rPr lang="pt-BR" sz="2600" i="1" spc="-50" dirty="0" smtClean="0">
                        <a:latin typeface="Cambria Math" panose="02040503050406030204" pitchFamily="18" charset="0"/>
                        <a:cs typeface="Cambria Math"/>
                      </a:rPr>
                      <m:t>𝑾</m:t>
                    </m:r>
                    <m:r>
                      <a:rPr lang="pt-BR" sz="2600" i="1" spc="-50" dirty="0" smtClean="0">
                        <a:latin typeface="Cambria Math" panose="02040503050406030204" pitchFamily="18" charset="0"/>
                        <a:cs typeface="Cambria Math"/>
                      </a:rPr>
                      <m:t>) </m:t>
                    </m:r>
                  </m:oMath>
                </a14:m>
                <a:r>
                  <a:rPr lang="pt-BR" sz="2600" dirty="0">
                    <a:latin typeface="Calibri"/>
                    <a:cs typeface="Calibri"/>
                  </a:rPr>
                  <a:t>é</a:t>
                </a:r>
                <a:r>
                  <a:rPr lang="pt-BR" sz="2600" spc="-5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a</a:t>
                </a:r>
                <a:r>
                  <a:rPr lang="pt-BR" sz="2600" spc="-3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média</a:t>
                </a:r>
                <a:r>
                  <a:rPr lang="pt-BR" sz="2600" spc="-5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dos</a:t>
                </a:r>
                <a:r>
                  <a:rPr lang="pt-BR" sz="2600" spc="-4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mbria Math"/>
                    <a:cs typeface="Cambria Math"/>
                  </a:rPr>
                  <a:t>𝑁</a:t>
                </a:r>
                <a:r>
                  <a:rPr lang="pt-BR" sz="2850" baseline="-16081" dirty="0">
                    <a:latin typeface="Cambria Math"/>
                    <a:cs typeface="Cambria Math"/>
                  </a:rPr>
                  <a:t>𝑀</a:t>
                </a:r>
                <a:r>
                  <a:rPr lang="pt-BR" sz="2850" spc="405" baseline="-16081" dirty="0">
                    <a:latin typeface="Cambria Math"/>
                    <a:cs typeface="Cambria Math"/>
                  </a:rPr>
                  <a:t> </a:t>
                </a:r>
                <a:r>
                  <a:rPr lang="pt-BR" sz="2600" b="1" i="1" dirty="0">
                    <a:latin typeface="Calibri"/>
                    <a:cs typeface="Calibri"/>
                  </a:rPr>
                  <a:t>gradientes</a:t>
                </a:r>
                <a:r>
                  <a:rPr lang="pt-BR" sz="2600" b="1" i="1" spc="-65" dirty="0">
                    <a:latin typeface="Calibri"/>
                    <a:cs typeface="Calibri"/>
                  </a:rPr>
                  <a:t> </a:t>
                </a:r>
                <a:r>
                  <a:rPr lang="pt-BR" sz="2600" b="1" i="1" dirty="0">
                    <a:latin typeface="Calibri"/>
                    <a:cs typeface="Calibri"/>
                  </a:rPr>
                  <a:t>locais</a:t>
                </a:r>
                <a:r>
                  <a:rPr lang="pt-BR" sz="2600" b="1" i="1" spc="-2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para</a:t>
                </a:r>
                <a:r>
                  <a:rPr lang="pt-BR" sz="2600" spc="-5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o</a:t>
                </a:r>
                <a:r>
                  <a:rPr lang="pt-BR" sz="2600" spc="-3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mbria Math"/>
                    <a:cs typeface="Cambria Math"/>
                  </a:rPr>
                  <a:t>𝑛</a:t>
                </a:r>
                <a:r>
                  <a:rPr lang="pt-BR" sz="2600" dirty="0">
                    <a:latin typeface="Calibri"/>
                    <a:cs typeface="Calibri"/>
                  </a:rPr>
                  <a:t>-</a:t>
                </a:r>
                <a:r>
                  <a:rPr lang="pt-BR" sz="2600" dirty="0" err="1">
                    <a:latin typeface="Calibri"/>
                    <a:cs typeface="Calibri"/>
                  </a:rPr>
                  <a:t>ésimo</a:t>
                </a:r>
                <a:r>
                  <a:rPr lang="pt-BR" sz="2600" spc="-50" dirty="0">
                    <a:latin typeface="Calibri"/>
                    <a:cs typeface="Calibri"/>
                  </a:rPr>
                  <a:t> </a:t>
                </a:r>
                <a:r>
                  <a:rPr lang="pt-BR" sz="2600" spc="-10" dirty="0">
                    <a:latin typeface="Calibri"/>
                    <a:cs typeface="Calibri"/>
                  </a:rPr>
                  <a:t>exemplo</a:t>
                </a:r>
                <a:r>
                  <a:rPr lang="pt-BR" sz="2600" spc="-70" dirty="0">
                    <a:latin typeface="Calibri"/>
                    <a:cs typeface="Calibri"/>
                  </a:rPr>
                  <a:t> </a:t>
                </a:r>
                <a:r>
                  <a:rPr lang="pt-BR" sz="2600" spc="-25" dirty="0">
                    <a:latin typeface="Calibri"/>
                    <a:cs typeface="Calibri"/>
                  </a:rPr>
                  <a:t>de</a:t>
                </a:r>
                <a:r>
                  <a:rPr lang="pt-BR" sz="2600" dirty="0">
                    <a:latin typeface="Calibri"/>
                    <a:cs typeface="Calibri"/>
                  </a:rPr>
                  <a:t> </a:t>
                </a:r>
                <a:r>
                  <a:rPr sz="2600" spc="-10" dirty="0">
                    <a:latin typeface="Calibri"/>
                    <a:cs typeface="Calibri"/>
                  </a:rPr>
                  <a:t>entrada.</a:t>
                </a:r>
                <a:endParaRPr sz="26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35" name="object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510" y="5050037"/>
                <a:ext cx="11313490" cy="360163"/>
              </a:xfrm>
              <a:prstGeom prst="rect">
                <a:avLst/>
              </a:prstGeom>
              <a:blipFill>
                <a:blip r:embed="rId3"/>
                <a:stretch>
                  <a:fillRect t="-41667" r="-1670" b="-55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object 36"/>
          <p:cNvSpPr txBox="1"/>
          <p:nvPr/>
        </p:nvSpPr>
        <p:spPr>
          <a:xfrm>
            <a:off x="916939" y="5527040"/>
            <a:ext cx="10994390" cy="1271630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469900" marR="5080" indent="-457200">
              <a:lnSpc>
                <a:spcPct val="70000"/>
              </a:lnSpc>
              <a:spcBef>
                <a:spcPts val="1040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No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entanto,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surge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aqui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questionamento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interessante: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melhor,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usar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50" dirty="0">
                <a:latin typeface="Calibri"/>
                <a:cs typeface="Calibri"/>
              </a:rPr>
              <a:t>o </a:t>
            </a:r>
            <a:r>
              <a:rPr sz="2600" b="1" i="1" dirty="0">
                <a:latin typeface="Calibri"/>
                <a:cs typeface="Calibri"/>
              </a:rPr>
              <a:t>gradiente</a:t>
            </a:r>
            <a:r>
              <a:rPr sz="2600" b="1" i="1" spc="-4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local</a:t>
            </a:r>
            <a:r>
              <a:rPr sz="2600" b="1" i="1" spc="-1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e</a:t>
            </a:r>
            <a:r>
              <a:rPr sz="2600" b="1" i="1" spc="-1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já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dar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um</a:t>
            </a:r>
            <a:r>
              <a:rPr sz="2600" b="1" i="1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passo</a:t>
            </a:r>
            <a:r>
              <a:rPr sz="2600" b="1" i="1" spc="-5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</a:t>
            </a:r>
            <a:r>
              <a:rPr sz="2600" b="1" i="1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otimização</a:t>
            </a:r>
            <a:r>
              <a:rPr sz="2600" dirty="0">
                <a:latin typeface="Calibri"/>
                <a:cs typeface="Calibri"/>
              </a:rPr>
              <a:t>, ou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seja,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atualizar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os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pesos, </a:t>
            </a:r>
            <a:r>
              <a:rPr sz="2600" b="1" i="1" dirty="0">
                <a:latin typeface="Calibri"/>
                <a:cs typeface="Calibri"/>
              </a:rPr>
              <a:t>reunir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o</a:t>
            </a:r>
            <a:r>
              <a:rPr sz="2600" b="1" i="1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gradiente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completo</a:t>
            </a:r>
            <a:r>
              <a:rPr sz="2600" b="1" i="1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e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então</a:t>
            </a:r>
            <a:r>
              <a:rPr sz="2600" b="1" i="1" spc="-1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dar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um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passo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único</a:t>
            </a:r>
            <a:r>
              <a:rPr sz="2600" b="1" i="1" spc="-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e</a:t>
            </a:r>
            <a:r>
              <a:rPr sz="2600" b="1" i="1" spc="-2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mais</a:t>
            </a:r>
            <a:r>
              <a:rPr sz="2600" b="1" i="1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preciso</a:t>
            </a:r>
            <a:r>
              <a:rPr sz="2600" b="1" i="1" spc="-1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ou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b="1" i="1" spc="-25" dirty="0">
                <a:latin typeface="Calibri"/>
                <a:cs typeface="Calibri"/>
              </a:rPr>
              <a:t>um </a:t>
            </a:r>
            <a:r>
              <a:rPr sz="2600" b="1" i="1" dirty="0">
                <a:latin typeface="Calibri"/>
                <a:cs typeface="Calibri"/>
              </a:rPr>
              <a:t>meio </a:t>
            </a:r>
            <a:r>
              <a:rPr sz="2600" b="1" i="1" spc="-10" dirty="0">
                <a:latin typeface="Calibri"/>
                <a:cs typeface="Calibri"/>
              </a:rPr>
              <a:t>termo</a:t>
            </a:r>
            <a:r>
              <a:rPr sz="2600" spc="-10" dirty="0">
                <a:latin typeface="Calibri"/>
                <a:cs typeface="Calibri"/>
              </a:rPr>
              <a:t>?</a:t>
            </a:r>
            <a:endParaRPr sz="2600" dirty="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384542" y="2823717"/>
            <a:ext cx="96011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Gradiente</a:t>
            </a:r>
            <a:r>
              <a:rPr sz="1200" spc="-6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local</a:t>
            </a:r>
            <a:endParaRPr sz="120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CaixaDeTexto 39">
                <a:extLst>
                  <a:ext uri="{FF2B5EF4-FFF2-40B4-BE49-F238E27FC236}">
                    <a16:creationId xmlns:a16="http://schemas.microsoft.com/office/drawing/2014/main" id="{7BAFE074-334F-DD0D-2BAB-A5D1A0A18381}"/>
                  </a:ext>
                </a:extLst>
              </p:cNvPr>
              <p:cNvSpPr txBox="1"/>
              <p:nvPr/>
            </p:nvSpPr>
            <p:spPr>
              <a:xfrm>
                <a:off x="2871048" y="3098139"/>
                <a:ext cx="7086171" cy="9003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  <m:d>
                            <m:d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0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e>
                              <m:r>
                                <a:rPr lang="pt-BR" sz="2000" b="1" i="1" smtClean="0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e>
                          </m:d>
                        </m:num>
                        <m:den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bSup>
                        </m:den>
                      </m:f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pt-BR" sz="2000" b="0" i="0" smtClean="0">
                                  <a:latin typeface="Cambria Math" panose="02040503050406030204" pitchFamily="18" charset="0"/>
                                </a:rPr>
                                <m:t>dados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sSub>
                            <m:sSub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pt-BR" sz="2000" b="0" i="0" smtClean="0">
                                  <a:latin typeface="Cambria Math" panose="02040503050406030204" pitchFamily="18" charset="0"/>
                                </a:rPr>
                                <m:t>dados</m:t>
                              </m:r>
                            </m:sub>
                          </m:sSub>
                        </m:sup>
                        <m:e>
                          <m:nary>
                            <m:naryPr>
                              <m:chr m:val="∑"/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sub>
                              </m:sSub>
                            </m:sup>
                            <m:e>
                              <m:f>
                                <m:fPr>
                                  <m:ctrlP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Sup>
                                    <m:sSubSupPr>
                                      <m:ctrlP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b>
                                      <m: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  <m:sup>
                                      <m: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d>
                                    <m:dPr>
                                      <m:ctrlP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Sup>
                                    <m:sSubSupPr>
                                      <m:ctrlP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  <m:sup>
                                      <m: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p>
                                  </m:sSubSup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den>
                              </m:f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pt-BR" sz="2000" b="0" i="0" smtClean="0">
                                          <a:latin typeface="Cambria Math" panose="02040503050406030204" pitchFamily="18" charset="0"/>
                                        </a:rPr>
                                        <m:t>dados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nary>
                        </m:e>
                      </m:nary>
                      <m:nary>
                        <m:naryPr>
                          <m:chr m:val="∑"/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sSub>
                            <m:sSub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pt-BR" sz="2000" b="0" i="0" smtClean="0">
                                  <a:latin typeface="Cambria Math" panose="02040503050406030204" pitchFamily="18" charset="0"/>
                                </a:rPr>
                                <m:t>dados</m:t>
                              </m:r>
                            </m:sub>
                          </m:sSub>
                        </m:sup>
                        <m:e>
                          <m:r>
                            <m:rPr>
                              <m:sty m:val="p"/>
                            </m:rPr>
                            <a:rPr lang="pt-BR" sz="2000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  <m:sSub>
                            <m:sSub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000" b="1" i="1" smtClean="0">
                              <a:latin typeface="Cambria Math" panose="02040503050406030204" pitchFamily="18" charset="0"/>
                            </a:rPr>
                            <m:t>𝑾</m:t>
                          </m:r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40" name="CaixaDeTexto 39">
                <a:extLst>
                  <a:ext uri="{FF2B5EF4-FFF2-40B4-BE49-F238E27FC236}">
                    <a16:creationId xmlns:a16="http://schemas.microsoft.com/office/drawing/2014/main" id="{7BAFE074-334F-DD0D-2BAB-A5D1A0A183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1048" y="3098139"/>
                <a:ext cx="7086171" cy="90031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etângulo 40">
            <a:extLst>
              <a:ext uri="{FF2B5EF4-FFF2-40B4-BE49-F238E27FC236}">
                <a16:creationId xmlns:a16="http://schemas.microsoft.com/office/drawing/2014/main" id="{EF07512C-A8FA-7ABE-1022-EA75067E4E75}"/>
              </a:ext>
            </a:extLst>
          </p:cNvPr>
          <p:cNvSpPr/>
          <p:nvPr/>
        </p:nvSpPr>
        <p:spPr>
          <a:xfrm>
            <a:off x="6327139" y="3137090"/>
            <a:ext cx="911861" cy="84550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3" name="Conector de Seta Reta 42">
            <a:extLst>
              <a:ext uri="{FF2B5EF4-FFF2-40B4-BE49-F238E27FC236}">
                <a16:creationId xmlns:a16="http://schemas.microsoft.com/office/drawing/2014/main" id="{AB6F3C39-16C3-0FFE-8035-A36F8C665049}"/>
              </a:ext>
            </a:extLst>
          </p:cNvPr>
          <p:cNvCxnSpPr/>
          <p:nvPr/>
        </p:nvCxnSpPr>
        <p:spPr>
          <a:xfrm flipV="1">
            <a:off x="7239000" y="3082281"/>
            <a:ext cx="304800" cy="44031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8427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dirty="0"/>
              <a:t>Algumas</a:t>
            </a:r>
            <a:r>
              <a:rPr spc="-50" dirty="0"/>
              <a:t> </a:t>
            </a:r>
            <a:r>
              <a:rPr dirty="0"/>
              <a:t>visões</a:t>
            </a:r>
            <a:r>
              <a:rPr spc="-50" dirty="0"/>
              <a:t> </a:t>
            </a:r>
            <a:r>
              <a:rPr dirty="0"/>
              <a:t>práticas</a:t>
            </a:r>
            <a:r>
              <a:rPr spc="-45" dirty="0"/>
              <a:t> </a:t>
            </a:r>
            <a:r>
              <a:rPr dirty="0"/>
              <a:t>de</a:t>
            </a:r>
            <a:r>
              <a:rPr spc="-55" dirty="0"/>
              <a:t> </a:t>
            </a:r>
            <a:r>
              <a:rPr dirty="0"/>
              <a:t>algoritmos</a:t>
            </a:r>
            <a:r>
              <a:rPr spc="-45" dirty="0"/>
              <a:t> </a:t>
            </a:r>
            <a:r>
              <a:rPr spc="-25" dirty="0"/>
              <a:t>de </a:t>
            </a:r>
            <a:r>
              <a:rPr spc="-10" dirty="0"/>
              <a:t>aprendizado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621465"/>
            <a:ext cx="10803255" cy="206311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b="1" spc="-10" dirty="0">
                <a:latin typeface="Calibri"/>
                <a:cs typeface="Calibri"/>
              </a:rPr>
              <a:t>Versões</a:t>
            </a:r>
            <a:r>
              <a:rPr sz="2600" b="1" spc="-6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Online,</a:t>
            </a:r>
            <a:r>
              <a:rPr sz="2600" b="1" spc="-4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Batch</a:t>
            </a:r>
            <a:r>
              <a:rPr sz="2600" b="1" spc="-5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e</a:t>
            </a:r>
            <a:r>
              <a:rPr sz="2600" b="1" spc="-55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Minibatch</a:t>
            </a:r>
            <a:endParaRPr sz="2600" dirty="0">
              <a:latin typeface="Calibri"/>
              <a:cs typeface="Calibri"/>
            </a:endParaRPr>
          </a:p>
          <a:p>
            <a:pPr marL="241300" marR="5080" indent="-228600">
              <a:lnSpc>
                <a:spcPct val="70100"/>
              </a:lnSpc>
              <a:spcBef>
                <a:spcPts val="99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Nesse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questionamento,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existem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três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abordagens: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cálculo</a:t>
            </a:r>
            <a:r>
              <a:rPr sz="2600" spc="-1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online</a:t>
            </a:r>
            <a:r>
              <a:rPr sz="2600" b="1" i="1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gradiente </a:t>
            </a:r>
            <a:r>
              <a:rPr sz="2600" dirty="0">
                <a:latin typeface="Calibri"/>
                <a:cs typeface="Calibri"/>
              </a:rPr>
              <a:t>(ou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seja,</a:t>
            </a:r>
            <a:r>
              <a:rPr sz="2600" spc="-25" dirty="0">
                <a:latin typeface="Calibri"/>
                <a:cs typeface="Calibri"/>
              </a:rPr>
              <a:t> exemplo-</a:t>
            </a:r>
            <a:r>
              <a:rPr sz="2600" spc="-10" dirty="0">
                <a:latin typeface="Calibri"/>
                <a:cs typeface="Calibri"/>
              </a:rPr>
              <a:t>a-exemplo),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cálculo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em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batelada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meio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termo.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ts val="2650"/>
              </a:lnSpc>
              <a:spcBef>
                <a:spcPts val="60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10" dirty="0">
                <a:latin typeface="Calibri"/>
                <a:cs typeface="Calibri"/>
              </a:rPr>
              <a:t>Vejamos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inicialmente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noção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geral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adaptação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dos</a:t>
            </a:r>
            <a:r>
              <a:rPr sz="2600" b="1" i="1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pesos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cálculo</a:t>
            </a:r>
            <a:endParaRPr sz="2600" dirty="0">
              <a:latin typeface="Calibri"/>
              <a:cs typeface="Calibri"/>
            </a:endParaRPr>
          </a:p>
          <a:p>
            <a:pPr marL="241300" marR="706755">
              <a:lnSpc>
                <a:spcPct val="70000"/>
              </a:lnSpc>
              <a:spcBef>
                <a:spcPts val="470"/>
              </a:spcBef>
            </a:pPr>
            <a:r>
              <a:rPr sz="2600" b="1" i="1" dirty="0">
                <a:latin typeface="Calibri"/>
                <a:cs typeface="Calibri"/>
              </a:rPr>
              <a:t>online</a:t>
            </a:r>
            <a:r>
              <a:rPr sz="2600" b="1" i="1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gradiente,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como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expressa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algoritmo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abaixo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(considerando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um </a:t>
            </a:r>
            <a:r>
              <a:rPr sz="2600" dirty="0">
                <a:latin typeface="Calibri"/>
                <a:cs typeface="Calibri"/>
              </a:rPr>
              <a:t>método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primeira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ordem</a:t>
            </a:r>
            <a:r>
              <a:rPr sz="2600" spc="-10" dirty="0">
                <a:latin typeface="Calibri"/>
                <a:cs typeface="Calibri"/>
              </a:rPr>
              <a:t>).</a:t>
            </a:r>
            <a:endParaRPr sz="2600" dirty="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760220" y="3810000"/>
            <a:ext cx="7877809" cy="2927985"/>
          </a:xfrm>
          <a:custGeom>
            <a:avLst/>
            <a:gdLst/>
            <a:ahLst/>
            <a:cxnLst/>
            <a:rect l="l" t="t" r="r" b="b"/>
            <a:pathLst>
              <a:path w="7877809" h="2927984">
                <a:moveTo>
                  <a:pt x="0" y="2927604"/>
                </a:moveTo>
                <a:lnTo>
                  <a:pt x="7877556" y="2927604"/>
                </a:lnTo>
                <a:lnTo>
                  <a:pt x="7877556" y="0"/>
                </a:lnTo>
                <a:lnTo>
                  <a:pt x="0" y="0"/>
                </a:lnTo>
                <a:lnTo>
                  <a:pt x="0" y="2927604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8"/>
              <p:cNvSpPr txBox="1"/>
              <p:nvPr/>
            </p:nvSpPr>
            <p:spPr>
              <a:xfrm>
                <a:off x="1866899" y="3817033"/>
                <a:ext cx="7664450" cy="1334019"/>
              </a:xfrm>
              <a:prstGeom prst="rect">
                <a:avLst/>
              </a:prstGeom>
            </p:spPr>
            <p:txBody>
              <a:bodyPr vert="horz" wrap="square" lIns="0" tIns="32384" rIns="0" bIns="0" rtlCol="0">
                <a:spAutoFit/>
              </a:bodyPr>
              <a:lstStyle/>
              <a:p>
                <a:pPr marL="286385" indent="-287020">
                  <a:lnSpc>
                    <a:spcPct val="100000"/>
                  </a:lnSpc>
                  <a:spcBef>
                    <a:spcPts val="254"/>
                  </a:spcBef>
                  <a:buFont typeface="Wingdings"/>
                  <a:buChar char=""/>
                  <a:tabLst>
                    <a:tab pos="287020" algn="l"/>
                  </a:tabLst>
                </a:pPr>
                <a:r>
                  <a:rPr lang="pt-BR" sz="1600" dirty="0">
                    <a:latin typeface="Calibri"/>
                    <a:cs typeface="Calibri"/>
                  </a:rPr>
                  <a:t>Defina</a:t>
                </a:r>
                <a:r>
                  <a:rPr lang="pt-BR" sz="1600" spc="-45" dirty="0">
                    <a:latin typeface="Calibri"/>
                    <a:cs typeface="Calibri"/>
                  </a:rPr>
                  <a:t> </a:t>
                </a:r>
                <a:r>
                  <a:rPr lang="pt-BR" sz="1600" spc="-10" dirty="0">
                    <a:latin typeface="Calibri"/>
                    <a:cs typeface="Calibri"/>
                  </a:rPr>
                  <a:t>valores</a:t>
                </a:r>
                <a:r>
                  <a:rPr lang="pt-BR" sz="1600" spc="-25" dirty="0">
                    <a:latin typeface="Calibri"/>
                    <a:cs typeface="Calibri"/>
                  </a:rPr>
                  <a:t> </a:t>
                </a:r>
                <a:r>
                  <a:rPr lang="pt-BR" sz="1600" dirty="0">
                    <a:latin typeface="Calibri"/>
                    <a:cs typeface="Calibri"/>
                  </a:rPr>
                  <a:t>iniciais</a:t>
                </a:r>
                <a:r>
                  <a:rPr lang="pt-BR" sz="1600" spc="-70" dirty="0">
                    <a:latin typeface="Calibri"/>
                    <a:cs typeface="Calibri"/>
                  </a:rPr>
                  <a:t> </a:t>
                </a:r>
                <a:r>
                  <a:rPr lang="pt-BR" sz="1600" dirty="0">
                    <a:latin typeface="Calibri"/>
                    <a:cs typeface="Calibri"/>
                  </a:rPr>
                  <a:t>para</a:t>
                </a:r>
                <a:r>
                  <a:rPr lang="pt-BR" sz="1600" spc="-40" dirty="0">
                    <a:latin typeface="Calibri"/>
                    <a:cs typeface="Calibri"/>
                  </a:rPr>
                  <a:t> </a:t>
                </a:r>
                <a:r>
                  <a:rPr lang="pt-BR" sz="1600" dirty="0">
                    <a:latin typeface="Calibri"/>
                    <a:cs typeface="Calibri"/>
                  </a:rPr>
                  <a:t>a</a:t>
                </a:r>
                <a:r>
                  <a:rPr lang="pt-BR" sz="1600" spc="-40" dirty="0">
                    <a:latin typeface="Calibri"/>
                    <a:cs typeface="Calibri"/>
                  </a:rPr>
                  <a:t> </a:t>
                </a:r>
                <a:r>
                  <a:rPr lang="pt-BR" sz="1600" dirty="0">
                    <a:latin typeface="Calibri"/>
                    <a:cs typeface="Calibri"/>
                  </a:rPr>
                  <a:t>matriz</a:t>
                </a:r>
                <a:r>
                  <a:rPr lang="pt-BR" sz="1600" spc="-35" dirty="0">
                    <a:latin typeface="Calibri"/>
                    <a:cs typeface="Calibri"/>
                  </a:rPr>
                  <a:t> </a:t>
                </a:r>
                <a:r>
                  <a:rPr lang="pt-BR" sz="1600" dirty="0">
                    <a:latin typeface="Calibri"/>
                    <a:cs typeface="Calibri"/>
                  </a:rPr>
                  <a:t>de</a:t>
                </a:r>
                <a:r>
                  <a:rPr lang="pt-BR" sz="1600" spc="-40" dirty="0">
                    <a:latin typeface="Calibri"/>
                    <a:cs typeface="Calibri"/>
                  </a:rPr>
                  <a:t> </a:t>
                </a:r>
                <a:r>
                  <a:rPr lang="pt-BR" sz="1600" dirty="0">
                    <a:latin typeface="Calibri"/>
                    <a:cs typeface="Calibri"/>
                  </a:rPr>
                  <a:t>pesos</a:t>
                </a:r>
                <a:r>
                  <a:rPr lang="pt-BR" sz="1600" spc="15" dirty="0">
                    <a:latin typeface="Calibri"/>
                    <a:cs typeface="Calibri"/>
                  </a:rPr>
                  <a:t> </a:t>
                </a:r>
                <a:r>
                  <a:rPr lang="pt-BR" sz="1600" dirty="0">
                    <a:latin typeface="Cambria Math"/>
                    <a:cs typeface="Cambria Math"/>
                  </a:rPr>
                  <a:t>𝑾</a:t>
                </a:r>
                <a:r>
                  <a:rPr lang="pt-BR" sz="1600" spc="-25" dirty="0">
                    <a:latin typeface="Cambria Math"/>
                    <a:cs typeface="Cambria Math"/>
                  </a:rPr>
                  <a:t> </a:t>
                </a:r>
                <a:r>
                  <a:rPr lang="pt-BR" sz="1600" dirty="0">
                    <a:latin typeface="Calibri"/>
                    <a:cs typeface="Calibri"/>
                  </a:rPr>
                  <a:t>e</a:t>
                </a:r>
                <a:r>
                  <a:rPr lang="pt-BR" sz="1600" spc="-30" dirty="0">
                    <a:latin typeface="Calibri"/>
                    <a:cs typeface="Calibri"/>
                  </a:rPr>
                  <a:t> </a:t>
                </a:r>
                <a:r>
                  <a:rPr lang="pt-BR" sz="1600" dirty="0">
                    <a:latin typeface="Calibri"/>
                    <a:cs typeface="Calibri"/>
                  </a:rPr>
                  <a:t>um</a:t>
                </a:r>
                <a:r>
                  <a:rPr lang="pt-BR" sz="1600" spc="-40" dirty="0">
                    <a:latin typeface="Calibri"/>
                    <a:cs typeface="Calibri"/>
                  </a:rPr>
                  <a:t> </a:t>
                </a:r>
                <a:r>
                  <a:rPr lang="pt-BR" sz="1600" dirty="0">
                    <a:latin typeface="Calibri"/>
                    <a:cs typeface="Calibri"/>
                  </a:rPr>
                  <a:t>passo</a:t>
                </a:r>
                <a:r>
                  <a:rPr lang="pt-BR" sz="1600" spc="-30" dirty="0">
                    <a:latin typeface="Calibri"/>
                    <a:cs typeface="Calibri"/>
                  </a:rPr>
                  <a:t> </a:t>
                </a:r>
                <a:r>
                  <a:rPr lang="pt-BR" sz="1600" dirty="0">
                    <a:latin typeface="Calibri"/>
                    <a:cs typeface="Calibri"/>
                  </a:rPr>
                  <a:t>de</a:t>
                </a:r>
                <a:r>
                  <a:rPr lang="pt-BR" sz="1600" spc="-30" dirty="0">
                    <a:latin typeface="Calibri"/>
                    <a:cs typeface="Calibri"/>
                  </a:rPr>
                  <a:t> </a:t>
                </a:r>
                <a:r>
                  <a:rPr lang="pt-BR" sz="1600" spc="-10" dirty="0">
                    <a:latin typeface="Calibri"/>
                    <a:cs typeface="Calibri"/>
                  </a:rPr>
                  <a:t>aprendizagem</a:t>
                </a:r>
                <a:r>
                  <a:rPr lang="pt-BR" sz="1600" spc="-40" dirty="0">
                    <a:latin typeface="Calibri"/>
                    <a:cs typeface="Calibri"/>
                  </a:rPr>
                  <a:t> </a:t>
                </a:r>
                <a:r>
                  <a:rPr lang="pt-BR" sz="1600" dirty="0">
                    <a:latin typeface="Cambria Math"/>
                    <a:cs typeface="Cambria Math"/>
                  </a:rPr>
                  <a:t>𝛼</a:t>
                </a:r>
                <a:r>
                  <a:rPr lang="pt-BR" sz="1600" spc="25" dirty="0">
                    <a:latin typeface="Cambria Math"/>
                    <a:cs typeface="Cambria Math"/>
                  </a:rPr>
                  <a:t> </a:t>
                </a:r>
                <a:r>
                  <a:rPr lang="pt-BR" sz="1600" spc="-10" dirty="0">
                    <a:latin typeface="Calibri"/>
                    <a:cs typeface="Calibri"/>
                  </a:rPr>
                  <a:t>pequeno.</a:t>
                </a:r>
                <a:endParaRPr lang="pt-BR" sz="1600" dirty="0">
                  <a:latin typeface="Calibri"/>
                  <a:cs typeface="Calibri"/>
                </a:endParaRPr>
              </a:p>
              <a:p>
                <a:pPr marL="286385" indent="-287020">
                  <a:lnSpc>
                    <a:spcPct val="100000"/>
                  </a:lnSpc>
                  <a:spcBef>
                    <a:spcPts val="155"/>
                  </a:spcBef>
                  <a:buFont typeface="Wingdings"/>
                  <a:buChar char=""/>
                  <a:tabLst>
                    <a:tab pos="287020" algn="l"/>
                    <a:tab pos="4980940" algn="l"/>
                  </a:tabLst>
                </a:pPr>
                <a:r>
                  <a:rPr lang="pt-BR" sz="1600" spc="-10" dirty="0">
                    <a:latin typeface="Calibri"/>
                    <a:cs typeface="Calibri"/>
                  </a:rPr>
                  <a:t>Faça</a:t>
                </a:r>
                <a:r>
                  <a:rPr lang="pt-BR" sz="1600" spc="-25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pt-BR" sz="1600" i="1" dirty="0" smtClean="0">
                        <a:latin typeface="Cambria Math" panose="02040503050406030204" pitchFamily="18" charset="0"/>
                        <a:cs typeface="Cambria Math"/>
                      </a:rPr>
                      <m:t>𝑘</m:t>
                    </m:r>
                    <m:r>
                      <a:rPr lang="pt-BR" sz="1600" b="0" i="1" dirty="0" smtClean="0">
                        <a:latin typeface="Cambria Math" panose="02040503050406030204" pitchFamily="18" charset="0"/>
                        <a:cs typeface="Cambria Math"/>
                      </a:rPr>
                      <m:t>=</m:t>
                    </m:r>
                    <m:r>
                      <a:rPr lang="pt-BR" sz="1600" i="1" dirty="0">
                        <a:latin typeface="Cambria Math" panose="02040503050406030204" pitchFamily="18" charset="0"/>
                        <a:cs typeface="Cambria Math"/>
                      </a:rPr>
                      <m:t>0</m:t>
                    </m:r>
                    <m:r>
                      <a:rPr lang="pt-BR" sz="1600" i="1" spc="-10" dirty="0">
                        <a:latin typeface="Cambria Math" panose="02040503050406030204" pitchFamily="18" charset="0"/>
                        <a:cs typeface="Cambria Math"/>
                      </a:rPr>
                      <m:t> </m:t>
                    </m:r>
                  </m:oMath>
                </a14:m>
                <a:r>
                  <a:rPr lang="pt-BR" sz="1600" dirty="0">
                    <a:latin typeface="Calibri"/>
                    <a:cs typeface="Calibri"/>
                  </a:rPr>
                  <a:t>(épocas),</a:t>
                </a:r>
                <a:r>
                  <a:rPr lang="pt-BR" sz="1600" spc="10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pt-BR" sz="1600" i="1" dirty="0" smtClean="0">
                        <a:latin typeface="Cambria Math" panose="02040503050406030204" pitchFamily="18" charset="0"/>
                        <a:cs typeface="Cambria Math"/>
                      </a:rPr>
                      <m:t>𝑡</m:t>
                    </m:r>
                    <m:r>
                      <a:rPr lang="pt-BR" sz="1600" b="0" i="1" dirty="0" smtClean="0">
                        <a:latin typeface="Cambria Math" panose="02040503050406030204" pitchFamily="18" charset="0"/>
                        <a:cs typeface="Cambria Math"/>
                      </a:rPr>
                      <m:t>=</m:t>
                    </m:r>
                    <m:r>
                      <a:rPr lang="pt-BR" sz="1600" i="1" dirty="0">
                        <a:latin typeface="Cambria Math" panose="02040503050406030204" pitchFamily="18" charset="0"/>
                        <a:cs typeface="Cambria Math"/>
                      </a:rPr>
                      <m:t>0</m:t>
                    </m:r>
                    <m:r>
                      <a:rPr lang="pt-BR" sz="1600" i="1" spc="-5" dirty="0">
                        <a:latin typeface="Cambria Math" panose="02040503050406030204" pitchFamily="18" charset="0"/>
                        <a:cs typeface="Cambria Math"/>
                      </a:rPr>
                      <m:t> </m:t>
                    </m:r>
                  </m:oMath>
                </a14:m>
                <a:r>
                  <a:rPr lang="pt-BR" sz="1600" spc="-10" dirty="0">
                    <a:latin typeface="Calibri"/>
                    <a:cs typeface="Calibri"/>
                  </a:rPr>
                  <a:t>(iterações)</a:t>
                </a:r>
                <a:r>
                  <a:rPr lang="pt-BR" sz="1600" dirty="0">
                    <a:latin typeface="Calibri"/>
                    <a:cs typeface="Calibri"/>
                  </a:rPr>
                  <a:t> e</a:t>
                </a:r>
                <a:r>
                  <a:rPr lang="pt-BR" sz="1600" spc="-15" dirty="0">
                    <a:latin typeface="Calibri"/>
                    <a:cs typeface="Calibri"/>
                  </a:rPr>
                  <a:t> </a:t>
                </a:r>
                <a:r>
                  <a:rPr lang="pt-BR" sz="1600" dirty="0" err="1">
                    <a:latin typeface="Calibri"/>
                    <a:cs typeface="Calibri"/>
                  </a:rPr>
                  <a:t>calcule</a:t>
                </a:r>
                <a:r>
                  <a:rPr lang="pt-BR" sz="1600" spc="-30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pt-BR" sz="1600" i="1" dirty="0" smtClean="0">
                        <a:latin typeface="Cambria Math" panose="02040503050406030204" pitchFamily="18" charset="0"/>
                        <a:cs typeface="Cambria Math"/>
                      </a:rPr>
                      <m:t>𝐽</m:t>
                    </m:r>
                    <m:d>
                      <m:dPr>
                        <m:ctrlPr>
                          <a:rPr lang="pt-BR" sz="1600" b="0" i="1" dirty="0" smtClean="0">
                            <a:latin typeface="Cambria Math" panose="02040503050406030204" pitchFamily="18" charset="0"/>
                            <a:cs typeface="Cambria Math"/>
                          </a:rPr>
                        </m:ctrlPr>
                      </m:dPr>
                      <m:e>
                        <m:r>
                          <a:rPr lang="pt-BR" sz="1600" i="1" dirty="0" smtClean="0">
                            <a:latin typeface="Cambria Math" panose="02040503050406030204" pitchFamily="18" charset="0"/>
                            <a:cs typeface="Cambria Math"/>
                          </a:rPr>
                          <m:t>𝑾</m:t>
                        </m:r>
                        <m:d>
                          <m:dPr>
                            <m:ctrlPr>
                              <a:rPr lang="pt-BR" sz="1600" i="1" spc="270" dirty="0" smtClean="0">
                                <a:latin typeface="Cambria Math" panose="02040503050406030204" pitchFamily="18" charset="0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pt-BR" sz="1600" i="1" spc="-50" dirty="0" smtClean="0">
                                <a:latin typeface="Cambria Math" panose="02040503050406030204" pitchFamily="18" charset="0"/>
                                <a:cs typeface="Cambria Math"/>
                              </a:rPr>
                              <m:t>𝑘</m:t>
                            </m:r>
                          </m:e>
                        </m:d>
                      </m:e>
                    </m:d>
                  </m:oMath>
                </a14:m>
                <a:r>
                  <a:rPr lang="pt-BR" sz="1600" dirty="0">
                    <a:latin typeface="Cambria Math"/>
                    <a:cs typeface="Cambria Math"/>
                  </a:rPr>
                  <a:t>	</a:t>
                </a:r>
                <a:r>
                  <a:rPr lang="pt-BR" sz="1600" spc="-50" dirty="0">
                    <a:latin typeface="Calibri"/>
                    <a:cs typeface="Calibri"/>
                  </a:rPr>
                  <a:t>.</a:t>
                </a:r>
                <a:endParaRPr lang="pt-BR" sz="1600" dirty="0">
                  <a:latin typeface="Calibri"/>
                  <a:cs typeface="Calibri"/>
                </a:endParaRPr>
              </a:p>
              <a:p>
                <a:pPr marL="286385" indent="-287020">
                  <a:lnSpc>
                    <a:spcPct val="100000"/>
                  </a:lnSpc>
                  <a:spcBef>
                    <a:spcPts val="85"/>
                  </a:spcBef>
                  <a:buFont typeface="Wingdings"/>
                  <a:buChar char=""/>
                  <a:tabLst>
                    <a:tab pos="287020" algn="l"/>
                  </a:tabLst>
                </a:pPr>
                <a:r>
                  <a:rPr lang="pt-BR" sz="1600" spc="-10" dirty="0">
                    <a:latin typeface="Calibri"/>
                    <a:cs typeface="Calibri"/>
                  </a:rPr>
                  <a:t>Enquanto</a:t>
                </a:r>
                <a:r>
                  <a:rPr lang="pt-BR" sz="1600" spc="-40" dirty="0">
                    <a:latin typeface="Calibri"/>
                    <a:cs typeface="Calibri"/>
                  </a:rPr>
                  <a:t> </a:t>
                </a:r>
                <a:r>
                  <a:rPr lang="pt-BR" sz="1600" dirty="0">
                    <a:latin typeface="Calibri"/>
                    <a:cs typeface="Calibri"/>
                  </a:rPr>
                  <a:t>o</a:t>
                </a:r>
                <a:r>
                  <a:rPr lang="pt-BR" sz="1600" spc="-35" dirty="0">
                    <a:latin typeface="Calibri"/>
                    <a:cs typeface="Calibri"/>
                  </a:rPr>
                  <a:t> </a:t>
                </a:r>
                <a:r>
                  <a:rPr lang="pt-BR" sz="1600" dirty="0">
                    <a:latin typeface="Calibri"/>
                    <a:cs typeface="Calibri"/>
                  </a:rPr>
                  <a:t>critério</a:t>
                </a:r>
                <a:r>
                  <a:rPr lang="pt-BR" sz="1600" spc="-30" dirty="0">
                    <a:latin typeface="Calibri"/>
                    <a:cs typeface="Calibri"/>
                  </a:rPr>
                  <a:t> </a:t>
                </a:r>
                <a:r>
                  <a:rPr lang="pt-BR" sz="1600" dirty="0">
                    <a:latin typeface="Calibri"/>
                    <a:cs typeface="Calibri"/>
                  </a:rPr>
                  <a:t>de</a:t>
                </a:r>
                <a:r>
                  <a:rPr lang="pt-BR" sz="1600" spc="-30" dirty="0">
                    <a:latin typeface="Calibri"/>
                    <a:cs typeface="Calibri"/>
                  </a:rPr>
                  <a:t> </a:t>
                </a:r>
                <a:r>
                  <a:rPr lang="pt-BR" sz="1600" spc="-10" dirty="0">
                    <a:latin typeface="Calibri"/>
                    <a:cs typeface="Calibri"/>
                  </a:rPr>
                  <a:t>parada</a:t>
                </a:r>
                <a:r>
                  <a:rPr lang="pt-BR" sz="1600" spc="-45" dirty="0">
                    <a:latin typeface="Calibri"/>
                    <a:cs typeface="Calibri"/>
                  </a:rPr>
                  <a:t> </a:t>
                </a:r>
                <a:r>
                  <a:rPr lang="pt-BR" sz="1600" dirty="0">
                    <a:latin typeface="Calibri"/>
                    <a:cs typeface="Calibri"/>
                  </a:rPr>
                  <a:t>não</a:t>
                </a:r>
                <a:r>
                  <a:rPr lang="pt-BR" sz="1600" spc="-30" dirty="0">
                    <a:latin typeface="Calibri"/>
                    <a:cs typeface="Calibri"/>
                  </a:rPr>
                  <a:t> </a:t>
                </a:r>
                <a:r>
                  <a:rPr lang="pt-BR" sz="1600" dirty="0">
                    <a:latin typeface="Calibri"/>
                    <a:cs typeface="Calibri"/>
                  </a:rPr>
                  <a:t>for</a:t>
                </a:r>
                <a:r>
                  <a:rPr lang="pt-BR" sz="1600" spc="-25" dirty="0">
                    <a:latin typeface="Calibri"/>
                    <a:cs typeface="Calibri"/>
                  </a:rPr>
                  <a:t> </a:t>
                </a:r>
                <a:r>
                  <a:rPr lang="pt-BR" sz="1600" spc="-10" dirty="0">
                    <a:latin typeface="Calibri"/>
                    <a:cs typeface="Calibri"/>
                  </a:rPr>
                  <a:t>atendido,</a:t>
                </a:r>
                <a:r>
                  <a:rPr lang="pt-BR" sz="1600" spc="-65" dirty="0">
                    <a:latin typeface="Calibri"/>
                    <a:cs typeface="Calibri"/>
                  </a:rPr>
                  <a:t> </a:t>
                </a:r>
                <a:r>
                  <a:rPr lang="pt-BR" sz="1600" spc="-10" dirty="0">
                    <a:latin typeface="Calibri"/>
                    <a:cs typeface="Calibri"/>
                  </a:rPr>
                  <a:t>faça:</a:t>
                </a:r>
                <a:endParaRPr lang="pt-BR" sz="1600" dirty="0">
                  <a:latin typeface="Calibri"/>
                  <a:cs typeface="Calibri"/>
                </a:endParaRPr>
              </a:p>
              <a:p>
                <a:pPr marL="743585" lvl="1" indent="-287020">
                  <a:lnSpc>
                    <a:spcPct val="100000"/>
                  </a:lnSpc>
                  <a:buFont typeface="Courier New"/>
                  <a:buChar char="o"/>
                  <a:tabLst>
                    <a:tab pos="744220" algn="l"/>
                  </a:tabLst>
                </a:pPr>
                <a:r>
                  <a:rPr lang="pt-BR" sz="1600" dirty="0">
                    <a:latin typeface="Calibri"/>
                    <a:cs typeface="Calibri"/>
                  </a:rPr>
                  <a:t>Ordene</a:t>
                </a:r>
                <a:r>
                  <a:rPr lang="pt-BR" sz="1600" spc="-20" dirty="0">
                    <a:latin typeface="Calibri"/>
                    <a:cs typeface="Calibri"/>
                  </a:rPr>
                  <a:t> </a:t>
                </a:r>
                <a:r>
                  <a:rPr lang="pt-BR" sz="1600" spc="-10" dirty="0">
                    <a:latin typeface="Calibri"/>
                    <a:cs typeface="Calibri"/>
                  </a:rPr>
                  <a:t>aleatoriamente</a:t>
                </a:r>
                <a:r>
                  <a:rPr lang="pt-BR" sz="1600" spc="-60" dirty="0">
                    <a:latin typeface="Calibri"/>
                    <a:cs typeface="Calibri"/>
                  </a:rPr>
                  <a:t> </a:t>
                </a:r>
                <a:r>
                  <a:rPr lang="pt-BR" sz="1600" dirty="0">
                    <a:latin typeface="Calibri"/>
                    <a:cs typeface="Calibri"/>
                  </a:rPr>
                  <a:t>os</a:t>
                </a:r>
                <a:r>
                  <a:rPr lang="pt-BR" sz="1600" spc="-40" dirty="0">
                    <a:latin typeface="Calibri"/>
                    <a:cs typeface="Calibri"/>
                  </a:rPr>
                  <a:t> </a:t>
                </a:r>
                <a:r>
                  <a:rPr lang="pt-BR" sz="1600" spc="-10" dirty="0">
                    <a:latin typeface="Calibri"/>
                    <a:cs typeface="Calibri"/>
                  </a:rPr>
                  <a:t>exemplos</a:t>
                </a:r>
                <a:r>
                  <a:rPr lang="pt-BR" sz="1600" spc="-35" dirty="0">
                    <a:latin typeface="Calibri"/>
                    <a:cs typeface="Calibri"/>
                  </a:rPr>
                  <a:t> </a:t>
                </a:r>
                <a:r>
                  <a:rPr lang="pt-BR" sz="1600" dirty="0">
                    <a:latin typeface="Calibri"/>
                    <a:cs typeface="Calibri"/>
                  </a:rPr>
                  <a:t>de</a:t>
                </a:r>
                <a:r>
                  <a:rPr lang="pt-BR" sz="1600" spc="-50" dirty="0">
                    <a:latin typeface="Calibri"/>
                    <a:cs typeface="Calibri"/>
                  </a:rPr>
                  <a:t> </a:t>
                </a:r>
                <a:r>
                  <a:rPr lang="pt-BR" sz="1600" spc="-10" dirty="0">
                    <a:latin typeface="Calibri"/>
                    <a:cs typeface="Calibri"/>
                  </a:rPr>
                  <a:t>entrada</a:t>
                </a:r>
                <a:r>
                  <a:rPr lang="pt-BR" sz="1600" spc="-30" dirty="0">
                    <a:latin typeface="Calibri"/>
                    <a:cs typeface="Calibri"/>
                  </a:rPr>
                  <a:t> </a:t>
                </a:r>
                <a:r>
                  <a:rPr lang="pt-BR" sz="1600" dirty="0">
                    <a:latin typeface="Calibri"/>
                    <a:cs typeface="Calibri"/>
                  </a:rPr>
                  <a:t>e</a:t>
                </a:r>
                <a:r>
                  <a:rPr lang="pt-BR" sz="1600" spc="-45" dirty="0">
                    <a:latin typeface="Calibri"/>
                    <a:cs typeface="Calibri"/>
                  </a:rPr>
                  <a:t> </a:t>
                </a:r>
                <a:r>
                  <a:rPr lang="pt-BR" sz="1600" dirty="0">
                    <a:latin typeface="Calibri"/>
                    <a:cs typeface="Calibri"/>
                  </a:rPr>
                  <a:t>saídas</a:t>
                </a:r>
                <a:r>
                  <a:rPr lang="pt-BR" sz="1600" spc="-55" dirty="0">
                    <a:latin typeface="Calibri"/>
                    <a:cs typeface="Calibri"/>
                  </a:rPr>
                  <a:t> </a:t>
                </a:r>
                <a:r>
                  <a:rPr lang="pt-BR" sz="1600" spc="-10" dirty="0">
                    <a:latin typeface="Calibri"/>
                    <a:cs typeface="Calibri"/>
                  </a:rPr>
                  <a:t>correspondentes.</a:t>
                </a:r>
                <a:endParaRPr lang="pt-BR" sz="1600" dirty="0">
                  <a:latin typeface="Calibri"/>
                  <a:cs typeface="Calibri"/>
                </a:endParaRPr>
              </a:p>
              <a:p>
                <a:pPr marL="743585" lvl="1" indent="-287020">
                  <a:lnSpc>
                    <a:spcPct val="100000"/>
                  </a:lnSpc>
                  <a:spcBef>
                    <a:spcPts val="10"/>
                  </a:spcBef>
                  <a:buFont typeface="Courier New"/>
                  <a:buChar char="o"/>
                  <a:tabLst>
                    <a:tab pos="744220" algn="l"/>
                  </a:tabLst>
                </a:pPr>
                <a:r>
                  <a:rPr lang="pt-BR" sz="1600" spc="-10" dirty="0">
                    <a:latin typeface="Calibri"/>
                    <a:cs typeface="Calibri"/>
                  </a:rPr>
                  <a:t>Para</a:t>
                </a:r>
                <a:r>
                  <a:rPr lang="pt-BR" sz="1600" spc="-30" dirty="0">
                    <a:latin typeface="Calibri"/>
                    <a:cs typeface="Calibri"/>
                  </a:rPr>
                  <a:t> </a:t>
                </a:r>
                <a:r>
                  <a:rPr lang="pt-BR" sz="1600" dirty="0">
                    <a:latin typeface="Cambria Math"/>
                    <a:cs typeface="Cambria Math"/>
                  </a:rPr>
                  <a:t>𝑛</a:t>
                </a:r>
                <a:r>
                  <a:rPr lang="pt-BR" sz="1600" spc="-10" dirty="0">
                    <a:latin typeface="Cambria Math"/>
                    <a:cs typeface="Cambria Math"/>
                  </a:rPr>
                  <a:t> </a:t>
                </a:r>
                <a:r>
                  <a:rPr lang="pt-BR" sz="1600" dirty="0">
                    <a:latin typeface="Calibri"/>
                    <a:cs typeface="Calibri"/>
                  </a:rPr>
                  <a:t>variando</a:t>
                </a:r>
                <a:r>
                  <a:rPr lang="pt-BR" sz="1600" spc="-20" dirty="0">
                    <a:latin typeface="Calibri"/>
                    <a:cs typeface="Calibri"/>
                  </a:rPr>
                  <a:t> </a:t>
                </a:r>
                <a:r>
                  <a:rPr lang="pt-BR" sz="1600" dirty="0">
                    <a:latin typeface="Calibri"/>
                    <a:cs typeface="Calibri"/>
                  </a:rPr>
                  <a:t>de</a:t>
                </a:r>
                <a:r>
                  <a:rPr lang="pt-BR" sz="1600" spc="-35" dirty="0">
                    <a:latin typeface="Calibri"/>
                    <a:cs typeface="Calibri"/>
                  </a:rPr>
                  <a:t> </a:t>
                </a:r>
                <a:r>
                  <a:rPr lang="pt-BR" sz="1600" dirty="0">
                    <a:latin typeface="Calibri"/>
                    <a:cs typeface="Calibri"/>
                  </a:rPr>
                  <a:t>1</a:t>
                </a:r>
                <a:r>
                  <a:rPr lang="pt-BR" sz="1600" spc="-30" dirty="0">
                    <a:latin typeface="Calibri"/>
                    <a:cs typeface="Calibri"/>
                  </a:rPr>
                  <a:t> </a:t>
                </a:r>
                <a:r>
                  <a:rPr lang="pt-BR" sz="1600" dirty="0">
                    <a:latin typeface="Calibri"/>
                    <a:cs typeface="Calibri"/>
                  </a:rPr>
                  <a:t>até</a:t>
                </a:r>
                <a:r>
                  <a:rPr lang="pt-BR" sz="1600" spc="-25" dirty="0">
                    <a:latin typeface="Calibri"/>
                    <a:cs typeface="Calibri"/>
                  </a:rPr>
                  <a:t> </a:t>
                </a:r>
                <a:r>
                  <a:rPr lang="pt-BR" sz="1600" dirty="0">
                    <a:latin typeface="Cambria Math"/>
                    <a:cs typeface="Cambria Math"/>
                  </a:rPr>
                  <a:t>𝑁</a:t>
                </a:r>
                <a:r>
                  <a:rPr lang="pt-BR" sz="1600" dirty="0">
                    <a:latin typeface="Calibri"/>
                    <a:cs typeface="Calibri"/>
                  </a:rPr>
                  <a:t>,</a:t>
                </a:r>
                <a:r>
                  <a:rPr lang="pt-BR" sz="1600" spc="-30" dirty="0">
                    <a:latin typeface="Calibri"/>
                    <a:cs typeface="Calibri"/>
                  </a:rPr>
                  <a:t> </a:t>
                </a:r>
                <a:r>
                  <a:rPr lang="pt-BR" sz="1600" spc="-20" dirty="0">
                    <a:latin typeface="Calibri"/>
                    <a:cs typeface="Calibri"/>
                  </a:rPr>
                  <a:t>faça:</a:t>
                </a:r>
                <a:endParaRPr sz="16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8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6899" y="3817033"/>
                <a:ext cx="7664450" cy="1334019"/>
              </a:xfrm>
              <a:prstGeom prst="rect">
                <a:avLst/>
              </a:prstGeom>
              <a:blipFill>
                <a:blip r:embed="rId2"/>
                <a:stretch>
                  <a:fillRect l="-1510" t="-3196" r="-238" b="-867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object 9"/>
          <p:cNvGrpSpPr/>
          <p:nvPr/>
        </p:nvGrpSpPr>
        <p:grpSpPr>
          <a:xfrm>
            <a:off x="3314572" y="5654892"/>
            <a:ext cx="2600584" cy="245110"/>
            <a:chOff x="3314572" y="5750903"/>
            <a:chExt cx="2600584" cy="245110"/>
          </a:xfrm>
        </p:grpSpPr>
        <p:sp>
          <p:nvSpPr>
            <p:cNvPr id="14" name="object 14"/>
            <p:cNvSpPr/>
            <p:nvPr/>
          </p:nvSpPr>
          <p:spPr>
            <a:xfrm>
              <a:off x="3314572" y="5780595"/>
              <a:ext cx="574675" cy="187960"/>
            </a:xfrm>
            <a:custGeom>
              <a:avLst/>
              <a:gdLst/>
              <a:ahLst/>
              <a:cxnLst/>
              <a:rect l="l" t="t" r="r" b="b"/>
              <a:pathLst>
                <a:path w="574675" h="187960">
                  <a:moveTo>
                    <a:pt x="514350" y="0"/>
                  </a:moveTo>
                  <a:lnTo>
                    <a:pt x="511682" y="7619"/>
                  </a:lnTo>
                  <a:lnTo>
                    <a:pt x="522561" y="12335"/>
                  </a:lnTo>
                  <a:lnTo>
                    <a:pt x="531939" y="18862"/>
                  </a:lnTo>
                  <a:lnTo>
                    <a:pt x="554386" y="62310"/>
                  </a:lnTo>
                  <a:lnTo>
                    <a:pt x="557149" y="92925"/>
                  </a:lnTo>
                  <a:lnTo>
                    <a:pt x="556456" y="109489"/>
                  </a:lnTo>
                  <a:lnTo>
                    <a:pt x="545973" y="150037"/>
                  </a:lnTo>
                  <a:lnTo>
                    <a:pt x="512063" y="180124"/>
                  </a:lnTo>
                  <a:lnTo>
                    <a:pt x="514350" y="187744"/>
                  </a:lnTo>
                  <a:lnTo>
                    <a:pt x="550247" y="166434"/>
                  </a:lnTo>
                  <a:lnTo>
                    <a:pt x="570404" y="127085"/>
                  </a:lnTo>
                  <a:lnTo>
                    <a:pt x="574293" y="93916"/>
                  </a:lnTo>
                  <a:lnTo>
                    <a:pt x="573319" y="76707"/>
                  </a:lnTo>
                  <a:lnTo>
                    <a:pt x="558800" y="32905"/>
                  </a:lnTo>
                  <a:lnTo>
                    <a:pt x="527992" y="4914"/>
                  </a:lnTo>
                  <a:lnTo>
                    <a:pt x="514350" y="0"/>
                  </a:lnTo>
                  <a:close/>
                </a:path>
                <a:path w="574675" h="187960">
                  <a:moveTo>
                    <a:pt x="59816" y="0"/>
                  </a:moveTo>
                  <a:lnTo>
                    <a:pt x="24062" y="21368"/>
                  </a:lnTo>
                  <a:lnTo>
                    <a:pt x="3889" y="60801"/>
                  </a:lnTo>
                  <a:lnTo>
                    <a:pt x="0" y="93916"/>
                  </a:lnTo>
                  <a:lnTo>
                    <a:pt x="956" y="111166"/>
                  </a:lnTo>
                  <a:lnTo>
                    <a:pt x="15493" y="154939"/>
                  </a:lnTo>
                  <a:lnTo>
                    <a:pt x="46194" y="182836"/>
                  </a:lnTo>
                  <a:lnTo>
                    <a:pt x="59816" y="187744"/>
                  </a:lnTo>
                  <a:lnTo>
                    <a:pt x="62229" y="180124"/>
                  </a:lnTo>
                  <a:lnTo>
                    <a:pt x="51536" y="175385"/>
                  </a:lnTo>
                  <a:lnTo>
                    <a:pt x="42306" y="168790"/>
                  </a:lnTo>
                  <a:lnTo>
                    <a:pt x="19907" y="124529"/>
                  </a:lnTo>
                  <a:lnTo>
                    <a:pt x="17144" y="92925"/>
                  </a:lnTo>
                  <a:lnTo>
                    <a:pt x="17835" y="76909"/>
                  </a:lnTo>
                  <a:lnTo>
                    <a:pt x="28193" y="37363"/>
                  </a:lnTo>
                  <a:lnTo>
                    <a:pt x="62484" y="7619"/>
                  </a:lnTo>
                  <a:lnTo>
                    <a:pt x="5981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90516" y="5780595"/>
              <a:ext cx="216154" cy="187744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5312541" y="5750903"/>
              <a:ext cx="602615" cy="245110"/>
            </a:xfrm>
            <a:custGeom>
              <a:avLst/>
              <a:gdLst/>
              <a:ahLst/>
              <a:cxnLst/>
              <a:rect l="l" t="t" r="r" b="b"/>
              <a:pathLst>
                <a:path w="602614" h="245110">
                  <a:moveTo>
                    <a:pt x="538221" y="0"/>
                  </a:moveTo>
                  <a:lnTo>
                    <a:pt x="535681" y="8115"/>
                  </a:lnTo>
                  <a:lnTo>
                    <a:pt x="546946" y="13949"/>
                  </a:lnTo>
                  <a:lnTo>
                    <a:pt x="556747" y="22442"/>
                  </a:lnTo>
                  <a:lnTo>
                    <a:pt x="577410" y="63456"/>
                  </a:lnTo>
                  <a:lnTo>
                    <a:pt x="584322" y="122529"/>
                  </a:lnTo>
                  <a:lnTo>
                    <a:pt x="583558" y="143989"/>
                  </a:lnTo>
                  <a:lnTo>
                    <a:pt x="572003" y="197497"/>
                  </a:lnTo>
                  <a:lnTo>
                    <a:pt x="546946" y="230909"/>
                  </a:lnTo>
                  <a:lnTo>
                    <a:pt x="535681" y="236740"/>
                  </a:lnTo>
                  <a:lnTo>
                    <a:pt x="538221" y="244856"/>
                  </a:lnTo>
                  <a:lnTo>
                    <a:pt x="576583" y="218152"/>
                  </a:lnTo>
                  <a:lnTo>
                    <a:pt x="598308" y="165725"/>
                  </a:lnTo>
                  <a:lnTo>
                    <a:pt x="602483" y="122428"/>
                  </a:lnTo>
                  <a:lnTo>
                    <a:pt x="601437" y="99996"/>
                  </a:lnTo>
                  <a:lnTo>
                    <a:pt x="593107" y="59814"/>
                  </a:lnTo>
                  <a:lnTo>
                    <a:pt x="565558" y="14573"/>
                  </a:lnTo>
                  <a:lnTo>
                    <a:pt x="552770" y="5672"/>
                  </a:lnTo>
                  <a:lnTo>
                    <a:pt x="538221" y="0"/>
                  </a:lnTo>
                  <a:close/>
                </a:path>
                <a:path w="602614" h="245110">
                  <a:moveTo>
                    <a:pt x="64384" y="0"/>
                  </a:moveTo>
                  <a:lnTo>
                    <a:pt x="25950" y="26703"/>
                  </a:lnTo>
                  <a:lnTo>
                    <a:pt x="4186" y="79125"/>
                  </a:lnTo>
                  <a:lnTo>
                    <a:pt x="0" y="122529"/>
                  </a:lnTo>
                  <a:lnTo>
                    <a:pt x="1043" y="144854"/>
                  </a:lnTo>
                  <a:lnTo>
                    <a:pt x="9425" y="185039"/>
                  </a:lnTo>
                  <a:lnTo>
                    <a:pt x="36952" y="230282"/>
                  </a:lnTo>
                  <a:lnTo>
                    <a:pt x="64384" y="244856"/>
                  </a:lnTo>
                  <a:lnTo>
                    <a:pt x="66797" y="236740"/>
                  </a:lnTo>
                  <a:lnTo>
                    <a:pt x="55531" y="230909"/>
                  </a:lnTo>
                  <a:lnTo>
                    <a:pt x="45731" y="222424"/>
                  </a:lnTo>
                  <a:lnTo>
                    <a:pt x="25121" y="181474"/>
                  </a:lnTo>
                  <a:lnTo>
                    <a:pt x="18159" y="122428"/>
                  </a:lnTo>
                  <a:lnTo>
                    <a:pt x="18938" y="101017"/>
                  </a:lnTo>
                  <a:lnTo>
                    <a:pt x="30475" y="47409"/>
                  </a:lnTo>
                  <a:lnTo>
                    <a:pt x="55531" y="13949"/>
                  </a:lnTo>
                  <a:lnTo>
                    <a:pt x="66797" y="8115"/>
                  </a:lnTo>
                  <a:lnTo>
                    <a:pt x="6438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03620" y="5780595"/>
              <a:ext cx="217677" cy="187744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bject 18"/>
              <p:cNvSpPr txBox="1"/>
              <p:nvPr/>
            </p:nvSpPr>
            <p:spPr>
              <a:xfrm>
                <a:off x="2743200" y="5075239"/>
                <a:ext cx="4419600" cy="1101584"/>
              </a:xfrm>
              <a:prstGeom prst="rect">
                <a:avLst/>
              </a:prstGeom>
            </p:spPr>
            <p:txBody>
              <a:bodyPr vert="horz" wrap="square" lIns="0" tIns="33020" rIns="0" bIns="0" rtlCol="0">
                <a:spAutoFit/>
              </a:bodyPr>
              <a:lstStyle/>
              <a:p>
                <a:pPr marL="324485" indent="-287020">
                  <a:lnSpc>
                    <a:spcPct val="100000"/>
                  </a:lnSpc>
                  <a:spcBef>
                    <a:spcPts val="260"/>
                  </a:spcBef>
                  <a:buFont typeface="Wingdings"/>
                  <a:buChar char=""/>
                  <a:tabLst>
                    <a:tab pos="324485" algn="l"/>
                    <a:tab pos="325120" algn="l"/>
                  </a:tabLst>
                </a:pPr>
                <a:r>
                  <a:rPr lang="pt-BR" sz="1600" spc="-10" dirty="0">
                    <a:latin typeface="Calibri"/>
                    <a:cs typeface="Calibri"/>
                  </a:rPr>
                  <a:t>Apresente</a:t>
                </a:r>
                <a:r>
                  <a:rPr lang="pt-BR" sz="1600" spc="-20" dirty="0">
                    <a:latin typeface="Calibri"/>
                    <a:cs typeface="Calibri"/>
                  </a:rPr>
                  <a:t> </a:t>
                </a:r>
                <a:r>
                  <a:rPr lang="pt-BR" sz="1600" dirty="0">
                    <a:latin typeface="Calibri"/>
                    <a:cs typeface="Calibri"/>
                  </a:rPr>
                  <a:t>o</a:t>
                </a:r>
                <a:r>
                  <a:rPr lang="pt-BR" sz="1600" spc="-30" dirty="0">
                    <a:latin typeface="Calibri"/>
                    <a:cs typeface="Calibri"/>
                  </a:rPr>
                  <a:t> </a:t>
                </a:r>
                <a:r>
                  <a:rPr lang="pt-BR" sz="1600" dirty="0">
                    <a:latin typeface="Cambria Math"/>
                    <a:cs typeface="Cambria Math"/>
                  </a:rPr>
                  <a:t>𝑛</a:t>
                </a:r>
                <a:r>
                  <a:rPr lang="pt-BR" sz="1600" dirty="0">
                    <a:latin typeface="Calibri"/>
                    <a:cs typeface="Calibri"/>
                  </a:rPr>
                  <a:t>-ésimo</a:t>
                </a:r>
                <a:r>
                  <a:rPr lang="pt-BR" sz="1600" spc="-30" dirty="0">
                    <a:latin typeface="Calibri"/>
                    <a:cs typeface="Calibri"/>
                  </a:rPr>
                  <a:t> </a:t>
                </a:r>
                <a:r>
                  <a:rPr lang="pt-BR" sz="1600" spc="-10" dirty="0">
                    <a:latin typeface="Calibri"/>
                    <a:cs typeface="Calibri"/>
                  </a:rPr>
                  <a:t>exemplo</a:t>
                </a:r>
                <a:r>
                  <a:rPr lang="pt-BR" sz="1600" spc="-30" dirty="0">
                    <a:latin typeface="Calibri"/>
                    <a:cs typeface="Calibri"/>
                  </a:rPr>
                  <a:t> </a:t>
                </a:r>
                <a:r>
                  <a:rPr lang="pt-BR" sz="1600" dirty="0">
                    <a:latin typeface="Calibri"/>
                    <a:cs typeface="Calibri"/>
                  </a:rPr>
                  <a:t>de</a:t>
                </a:r>
                <a:r>
                  <a:rPr lang="pt-BR" sz="1600" spc="-40" dirty="0">
                    <a:latin typeface="Calibri"/>
                    <a:cs typeface="Calibri"/>
                  </a:rPr>
                  <a:t> </a:t>
                </a:r>
                <a:r>
                  <a:rPr lang="pt-BR" sz="1600" spc="-10" dirty="0">
                    <a:latin typeface="Calibri"/>
                    <a:cs typeface="Calibri"/>
                  </a:rPr>
                  <a:t>entrada</a:t>
                </a:r>
                <a:r>
                  <a:rPr lang="pt-BR" sz="1600" spc="-30" dirty="0">
                    <a:latin typeface="Calibri"/>
                    <a:cs typeface="Calibri"/>
                  </a:rPr>
                  <a:t> </a:t>
                </a:r>
                <a:r>
                  <a:rPr lang="pt-BR" sz="1600" dirty="0">
                    <a:latin typeface="Calibri"/>
                    <a:cs typeface="Calibri"/>
                  </a:rPr>
                  <a:t>à</a:t>
                </a:r>
                <a:r>
                  <a:rPr lang="pt-BR" sz="1600" spc="-35" dirty="0">
                    <a:latin typeface="Calibri"/>
                    <a:cs typeface="Calibri"/>
                  </a:rPr>
                  <a:t> </a:t>
                </a:r>
                <a:r>
                  <a:rPr lang="pt-BR" sz="1600" spc="-10" dirty="0">
                    <a:latin typeface="Calibri"/>
                    <a:cs typeface="Calibri"/>
                  </a:rPr>
                  <a:t>rede.</a:t>
                </a:r>
                <a:endParaRPr lang="pt-BR" sz="1600" dirty="0">
                  <a:latin typeface="Calibri"/>
                  <a:cs typeface="Calibri"/>
                </a:endParaRPr>
              </a:p>
              <a:p>
                <a:pPr marL="324485" indent="-287020">
                  <a:lnSpc>
                    <a:spcPct val="100000"/>
                  </a:lnSpc>
                  <a:spcBef>
                    <a:spcPts val="160"/>
                  </a:spcBef>
                  <a:buFont typeface="Wingdings"/>
                  <a:buChar char=""/>
                  <a:tabLst>
                    <a:tab pos="324485" algn="l"/>
                    <a:tab pos="325120" algn="l"/>
                    <a:tab pos="1818005" algn="l"/>
                    <a:tab pos="2906395" algn="l"/>
                  </a:tabLst>
                </a:pPr>
                <a:r>
                  <a:rPr lang="pt-BR" sz="1600" dirty="0">
                    <a:latin typeface="Calibri"/>
                    <a:cs typeface="Calibri"/>
                  </a:rPr>
                  <a:t>Calcule</a:t>
                </a:r>
                <a:r>
                  <a:rPr lang="pt-BR" sz="1600" spc="-25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pt-BR" sz="1600" i="1" dirty="0" smtClean="0">
                        <a:latin typeface="Cambria Math" panose="02040503050406030204" pitchFamily="18" charset="0"/>
                        <a:cs typeface="Cambria Math"/>
                      </a:rPr>
                      <m:t>𝐽</m:t>
                    </m:r>
                    <m:r>
                      <a:rPr lang="pt-BR" sz="1725" i="1" baseline="-14492" dirty="0">
                        <a:latin typeface="Cambria Math" panose="02040503050406030204" pitchFamily="18" charset="0"/>
                        <a:cs typeface="Cambria Math"/>
                      </a:rPr>
                      <m:t>𝑛</m:t>
                    </m:r>
                    <m:d>
                      <m:dPr>
                        <m:ctrlPr>
                          <a:rPr lang="pt-BR" sz="1725" b="0" i="1" baseline="-14492" dirty="0" smtClean="0">
                            <a:latin typeface="Cambria Math" panose="02040503050406030204" pitchFamily="18" charset="0"/>
                            <a:cs typeface="Cambria Math"/>
                          </a:rPr>
                        </m:ctrlPr>
                      </m:dPr>
                      <m:e>
                        <m:r>
                          <a:rPr lang="pt-BR" sz="1600" i="1" dirty="0" smtClean="0">
                            <a:latin typeface="Cambria Math" panose="02040503050406030204" pitchFamily="18" charset="0"/>
                            <a:cs typeface="Cambria Math"/>
                          </a:rPr>
                          <m:t>𝑾</m:t>
                        </m:r>
                        <m:d>
                          <m:dPr>
                            <m:ctrlPr>
                              <a:rPr lang="pt-BR" sz="1600" i="1" dirty="0" smtClean="0">
                                <a:latin typeface="Cambria Math" panose="02040503050406030204" pitchFamily="18" charset="0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pt-BR" sz="1600" i="1" spc="-50" dirty="0" smtClean="0">
                                <a:latin typeface="Cambria Math" panose="02040503050406030204" pitchFamily="18" charset="0"/>
                                <a:cs typeface="Cambria Math"/>
                              </a:rPr>
                              <m:t>𝑡</m:t>
                            </m:r>
                          </m:e>
                        </m:d>
                      </m:e>
                    </m:d>
                    <m:r>
                      <a:rPr lang="pt-BR" sz="1600" i="1" dirty="0">
                        <a:latin typeface="Cambria Math" panose="02040503050406030204" pitchFamily="18" charset="0"/>
                        <a:cs typeface="Cambria Math"/>
                      </a:rPr>
                      <m:t>	</m:t>
                    </m:r>
                  </m:oMath>
                </a14:m>
                <a:r>
                  <a:rPr lang="pt-BR" sz="1600" dirty="0">
                    <a:latin typeface="Calibri"/>
                    <a:cs typeface="Calibri"/>
                  </a:rPr>
                  <a:t>e</a:t>
                </a:r>
                <a:r>
                  <a:rPr lang="pt-BR" sz="1600" spc="5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pt-BR" sz="1600" i="1" dirty="0" smtClean="0">
                        <a:latin typeface="Cambria Math" panose="02040503050406030204" pitchFamily="18" charset="0"/>
                        <a:cs typeface="Cambria Math"/>
                      </a:rPr>
                      <m:t>𝛻</m:t>
                    </m:r>
                    <m:r>
                      <a:rPr lang="pt-BR" sz="1600" i="1" dirty="0" smtClean="0">
                        <a:latin typeface="Cambria Math" panose="02040503050406030204" pitchFamily="18" charset="0"/>
                        <a:cs typeface="Cambria Math"/>
                      </a:rPr>
                      <m:t>𝐽</m:t>
                    </m:r>
                    <m:r>
                      <a:rPr lang="pt-BR" sz="1725" i="1" baseline="-14492" dirty="0">
                        <a:latin typeface="Cambria Math" panose="02040503050406030204" pitchFamily="18" charset="0"/>
                        <a:cs typeface="Cambria Math"/>
                      </a:rPr>
                      <m:t>𝑛</m:t>
                    </m:r>
                    <m:r>
                      <a:rPr lang="pt-BR" sz="1725" i="1" spc="232" baseline="-14492" dirty="0">
                        <a:latin typeface="Cambria Math" panose="02040503050406030204" pitchFamily="18" charset="0"/>
                        <a:cs typeface="Cambria Math"/>
                      </a:rPr>
                      <m:t> </m:t>
                    </m:r>
                    <m:r>
                      <a:rPr lang="pt-BR" sz="1725" i="1" spc="232" dirty="0" smtClean="0">
                        <a:latin typeface="Cambria Math" panose="02040503050406030204" pitchFamily="18" charset="0"/>
                        <a:cs typeface="Cambria Math"/>
                      </a:rPr>
                      <m:t>(</m:t>
                    </m:r>
                    <m:r>
                      <a:rPr lang="pt-BR" sz="1600" i="1" dirty="0" smtClean="0">
                        <a:latin typeface="Cambria Math" panose="02040503050406030204" pitchFamily="18" charset="0"/>
                        <a:cs typeface="Cambria Math"/>
                      </a:rPr>
                      <m:t>𝑾</m:t>
                    </m:r>
                    <m:r>
                      <a:rPr lang="pt-BR" sz="1600" i="1" spc="305" dirty="0">
                        <a:latin typeface="Cambria Math" panose="02040503050406030204" pitchFamily="18" charset="0"/>
                        <a:cs typeface="Cambria Math"/>
                      </a:rPr>
                      <m:t>(</m:t>
                    </m:r>
                    <m:r>
                      <a:rPr lang="pt-BR" sz="1600" i="1" spc="-50" dirty="0" smtClean="0">
                        <a:latin typeface="Cambria Math" panose="02040503050406030204" pitchFamily="18" charset="0"/>
                        <a:cs typeface="Cambria Math"/>
                      </a:rPr>
                      <m:t>𝑡</m:t>
                    </m:r>
                    <m:r>
                      <a:rPr lang="pt-BR" sz="1600" i="1" spc="-50" dirty="0" smtClean="0">
                        <a:latin typeface="Cambria Math" panose="02040503050406030204" pitchFamily="18" charset="0"/>
                        <a:cs typeface="Cambria Math"/>
                      </a:rPr>
                      <m:t>))</m:t>
                    </m:r>
                  </m:oMath>
                </a14:m>
                <a:r>
                  <a:rPr lang="pt-BR" sz="1600" dirty="0">
                    <a:latin typeface="Cambria Math"/>
                    <a:cs typeface="Cambria Math"/>
                  </a:rPr>
                  <a:t>	</a:t>
                </a:r>
                <a:r>
                  <a:rPr lang="pt-BR" sz="1600" spc="-50" dirty="0">
                    <a:latin typeface="Calibri"/>
                    <a:cs typeface="Calibri"/>
                  </a:rPr>
                  <a:t>.</a:t>
                </a:r>
                <a:endParaRPr lang="pt-BR" sz="1600" dirty="0">
                  <a:latin typeface="Calibri"/>
                  <a:cs typeface="Calibri"/>
                </a:endParaRPr>
              </a:p>
              <a:p>
                <a:pPr marL="324485" indent="-287020">
                  <a:lnSpc>
                    <a:spcPct val="100000"/>
                  </a:lnSpc>
                  <a:spcBef>
                    <a:spcPts val="240"/>
                  </a:spcBef>
                  <a:buFont typeface="Wingdings"/>
                  <a:buChar char=""/>
                  <a:tabLst>
                    <a:tab pos="324485" algn="l"/>
                    <a:tab pos="325120" algn="l"/>
                    <a:tab pos="652145" algn="l"/>
                    <a:tab pos="1234440" algn="l"/>
                    <a:tab pos="1943100" algn="l"/>
                    <a:tab pos="3205480" algn="l"/>
                  </a:tabLst>
                </a:pPr>
                <a:r>
                  <a:rPr lang="pt-BR" sz="1600" spc="-50" dirty="0">
                    <a:latin typeface="Cambria Math"/>
                    <a:cs typeface="Cambria Math"/>
                  </a:rPr>
                  <a:t>𝑾</a:t>
                </a:r>
                <a:r>
                  <a:rPr lang="pt-BR" sz="1600" dirty="0">
                    <a:latin typeface="Cambria Math"/>
                    <a:cs typeface="Cambria Math"/>
                  </a:rPr>
                  <a:t>	𝑡</a:t>
                </a:r>
                <a:r>
                  <a:rPr lang="pt-BR" sz="1600" spc="40" dirty="0">
                    <a:latin typeface="Cambria Math"/>
                    <a:cs typeface="Cambria Math"/>
                  </a:rPr>
                  <a:t> </a:t>
                </a:r>
                <a:r>
                  <a:rPr lang="pt-BR" sz="1600" dirty="0">
                    <a:latin typeface="Cambria Math"/>
                    <a:cs typeface="Cambria Math"/>
                  </a:rPr>
                  <a:t>+</a:t>
                </a:r>
                <a:r>
                  <a:rPr lang="pt-BR" sz="1600" spc="5" dirty="0">
                    <a:latin typeface="Cambria Math"/>
                    <a:cs typeface="Cambria Math"/>
                  </a:rPr>
                  <a:t> </a:t>
                </a:r>
                <a:r>
                  <a:rPr lang="pt-BR" sz="1600" spc="-50" dirty="0">
                    <a:latin typeface="Cambria Math"/>
                    <a:cs typeface="Cambria Math"/>
                  </a:rPr>
                  <a:t>1</a:t>
                </a:r>
                <a:r>
                  <a:rPr lang="pt-BR" sz="1600" dirty="0">
                    <a:latin typeface="Cambria Math"/>
                    <a:cs typeface="Cambria Math"/>
                  </a:rPr>
                  <a:t>	=</a:t>
                </a:r>
                <a:r>
                  <a:rPr lang="pt-BR" sz="1600" spc="80" dirty="0">
                    <a:latin typeface="Cambria Math"/>
                    <a:cs typeface="Cambria Math"/>
                  </a:rPr>
                  <a:t> </a:t>
                </a:r>
                <a:r>
                  <a:rPr lang="pt-BR" sz="1600" dirty="0">
                    <a:latin typeface="Cambria Math"/>
                    <a:cs typeface="Cambria Math"/>
                  </a:rPr>
                  <a:t>𝑾</a:t>
                </a:r>
                <a:r>
                  <a:rPr lang="pt-BR" sz="1600" spc="300" dirty="0">
                    <a:latin typeface="Cambria Math"/>
                    <a:cs typeface="Cambria Math"/>
                  </a:rPr>
                  <a:t> </a:t>
                </a:r>
                <a:r>
                  <a:rPr lang="pt-BR" sz="1600" spc="-50" dirty="0">
                    <a:latin typeface="Cambria Math"/>
                    <a:cs typeface="Cambria Math"/>
                  </a:rPr>
                  <a:t>𝑡</a:t>
                </a:r>
                <a:r>
                  <a:rPr lang="pt-BR" sz="1600" dirty="0">
                    <a:latin typeface="Cambria Math"/>
                    <a:cs typeface="Cambria Math"/>
                  </a:rPr>
                  <a:t>	−</a:t>
                </a:r>
                <a:r>
                  <a:rPr lang="pt-BR" sz="1600" spc="10" dirty="0">
                    <a:latin typeface="Cambria Math"/>
                    <a:cs typeface="Cambria Math"/>
                  </a:rPr>
                  <a:t> </a:t>
                </a:r>
                <a:r>
                  <a:rPr lang="pt-BR" sz="1600" dirty="0">
                    <a:latin typeface="Cambria Math"/>
                    <a:cs typeface="Cambria Math"/>
                  </a:rPr>
                  <a:t>𝛼𝛻𝐽</a:t>
                </a:r>
                <a:r>
                  <a:rPr lang="pt-BR" sz="1725" baseline="-14492" dirty="0">
                    <a:latin typeface="Cambria Math"/>
                    <a:cs typeface="Cambria Math"/>
                  </a:rPr>
                  <a:t>𝑛</a:t>
                </a:r>
                <a:r>
                  <a:rPr lang="pt-BR" sz="1725" spc="225" baseline="-14492" dirty="0">
                    <a:latin typeface="Cambria Math"/>
                    <a:cs typeface="Cambria Math"/>
                  </a:rPr>
                  <a:t>  </a:t>
                </a:r>
                <a:r>
                  <a:rPr lang="pt-BR" sz="1600" dirty="0">
                    <a:latin typeface="Cambria Math"/>
                    <a:cs typeface="Cambria Math"/>
                  </a:rPr>
                  <a:t>𝑾</a:t>
                </a:r>
                <a:r>
                  <a:rPr lang="pt-BR" sz="1600" spc="300" dirty="0">
                    <a:latin typeface="Cambria Math"/>
                    <a:cs typeface="Cambria Math"/>
                  </a:rPr>
                  <a:t> </a:t>
                </a:r>
                <a:r>
                  <a:rPr lang="pt-BR" sz="1600" spc="-50" dirty="0">
                    <a:latin typeface="Cambria Math"/>
                    <a:cs typeface="Cambria Math"/>
                  </a:rPr>
                  <a:t>𝑡</a:t>
                </a:r>
                <a:r>
                  <a:rPr lang="pt-BR" sz="1600" dirty="0">
                    <a:latin typeface="Cambria Math"/>
                    <a:cs typeface="Cambria Math"/>
                  </a:rPr>
                  <a:t>	</a:t>
                </a:r>
                <a:r>
                  <a:rPr lang="pt-BR" sz="1600" spc="-50" dirty="0">
                    <a:latin typeface="Cambria Math"/>
                    <a:cs typeface="Cambria Math"/>
                  </a:rPr>
                  <a:t>.</a:t>
                </a:r>
                <a:endParaRPr lang="pt-BR" sz="1600" dirty="0">
                  <a:latin typeface="Cambria Math"/>
                  <a:cs typeface="Cambria Math"/>
                </a:endParaRPr>
              </a:p>
              <a:p>
                <a:pPr marL="324485" indent="-287020">
                  <a:lnSpc>
                    <a:spcPct val="100000"/>
                  </a:lnSpc>
                  <a:spcBef>
                    <a:spcPts val="95"/>
                  </a:spcBef>
                  <a:buFont typeface="Wingdings"/>
                  <a:buChar char=""/>
                  <a:tabLst>
                    <a:tab pos="324485" algn="l"/>
                    <a:tab pos="325120" algn="l"/>
                  </a:tabLst>
                </a:pPr>
                <a14:m>
                  <m:oMath xmlns:m="http://schemas.openxmlformats.org/officeDocument/2006/math">
                    <m:r>
                      <a:rPr lang="pt-BR" sz="1600" i="1" dirty="0" smtClean="0">
                        <a:latin typeface="Cambria Math" panose="02040503050406030204" pitchFamily="18" charset="0"/>
                        <a:cs typeface="Cambria Math"/>
                      </a:rPr>
                      <m:t>𝑡</m:t>
                    </m:r>
                    <m:r>
                      <a:rPr lang="pt-BR" sz="1600" i="1" dirty="0">
                        <a:latin typeface="Cambria Math" panose="02040503050406030204" pitchFamily="18" charset="0"/>
                        <a:cs typeface="Cambria Math"/>
                      </a:rPr>
                      <m:t>=</m:t>
                    </m:r>
                    <m:r>
                      <a:rPr lang="pt-BR" sz="1600" i="1" dirty="0">
                        <a:latin typeface="Cambria Math" panose="02040503050406030204" pitchFamily="18" charset="0"/>
                        <a:cs typeface="Cambria Math"/>
                      </a:rPr>
                      <m:t>𝑡</m:t>
                    </m:r>
                    <m:r>
                      <a:rPr lang="pt-BR" sz="1600" i="1" dirty="0">
                        <a:latin typeface="Cambria Math" panose="02040503050406030204" pitchFamily="18" charset="0"/>
                        <a:cs typeface="Cambria Math"/>
                      </a:rPr>
                      <m:t>+</m:t>
                    </m:r>
                    <m:r>
                      <a:rPr lang="pt-BR" sz="1600" i="1" spc="-25" dirty="0">
                        <a:latin typeface="Cambria Math" panose="02040503050406030204" pitchFamily="18" charset="0"/>
                        <a:cs typeface="Cambria Math"/>
                      </a:rPr>
                      <m:t>1</m:t>
                    </m:r>
                  </m:oMath>
                </a14:m>
                <a:r>
                  <a:rPr lang="pt-BR" sz="1600" spc="-25" dirty="0">
                    <a:latin typeface="Calibri"/>
                    <a:cs typeface="Calibri"/>
                  </a:rPr>
                  <a:t>.</a:t>
                </a:r>
                <a:endParaRPr sz="16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8" name="object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3200" y="5075239"/>
                <a:ext cx="4419600" cy="1101584"/>
              </a:xfrm>
              <a:prstGeom prst="rect">
                <a:avLst/>
              </a:prstGeom>
              <a:blipFill>
                <a:blip r:embed="rId5"/>
                <a:stretch>
                  <a:fillRect l="-1793" t="-4444" r="-276" b="-888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object 19"/>
          <p:cNvGrpSpPr/>
          <p:nvPr/>
        </p:nvGrpSpPr>
        <p:grpSpPr>
          <a:xfrm>
            <a:off x="3332865" y="6418416"/>
            <a:ext cx="635000" cy="245110"/>
            <a:chOff x="3332865" y="6514427"/>
            <a:chExt cx="635000" cy="245110"/>
          </a:xfrm>
        </p:grpSpPr>
        <p:sp>
          <p:nvSpPr>
            <p:cNvPr id="20" name="object 20"/>
            <p:cNvSpPr/>
            <p:nvPr/>
          </p:nvSpPr>
          <p:spPr>
            <a:xfrm>
              <a:off x="3332865" y="6514427"/>
              <a:ext cx="635000" cy="245110"/>
            </a:xfrm>
            <a:custGeom>
              <a:avLst/>
              <a:gdLst/>
              <a:ahLst/>
              <a:cxnLst/>
              <a:rect l="l" t="t" r="r" b="b"/>
              <a:pathLst>
                <a:path w="635000" h="245109">
                  <a:moveTo>
                    <a:pt x="570225" y="0"/>
                  </a:moveTo>
                  <a:lnTo>
                    <a:pt x="567685" y="8115"/>
                  </a:lnTo>
                  <a:lnTo>
                    <a:pt x="578950" y="13949"/>
                  </a:lnTo>
                  <a:lnTo>
                    <a:pt x="588751" y="22442"/>
                  </a:lnTo>
                  <a:lnTo>
                    <a:pt x="609414" y="63456"/>
                  </a:lnTo>
                  <a:lnTo>
                    <a:pt x="616326" y="122529"/>
                  </a:lnTo>
                  <a:lnTo>
                    <a:pt x="615562" y="143989"/>
                  </a:lnTo>
                  <a:lnTo>
                    <a:pt x="604007" y="197497"/>
                  </a:lnTo>
                  <a:lnTo>
                    <a:pt x="578950" y="230906"/>
                  </a:lnTo>
                  <a:lnTo>
                    <a:pt x="567685" y="236735"/>
                  </a:lnTo>
                  <a:lnTo>
                    <a:pt x="570225" y="244850"/>
                  </a:lnTo>
                  <a:lnTo>
                    <a:pt x="608587" y="218150"/>
                  </a:lnTo>
                  <a:lnTo>
                    <a:pt x="630312" y="165725"/>
                  </a:lnTo>
                  <a:lnTo>
                    <a:pt x="634487" y="122427"/>
                  </a:lnTo>
                  <a:lnTo>
                    <a:pt x="633441" y="99996"/>
                  </a:lnTo>
                  <a:lnTo>
                    <a:pt x="625111" y="59814"/>
                  </a:lnTo>
                  <a:lnTo>
                    <a:pt x="597562" y="14573"/>
                  </a:lnTo>
                  <a:lnTo>
                    <a:pt x="584774" y="5672"/>
                  </a:lnTo>
                  <a:lnTo>
                    <a:pt x="570225" y="0"/>
                  </a:lnTo>
                  <a:close/>
                </a:path>
                <a:path w="635000" h="245109">
                  <a:moveTo>
                    <a:pt x="64384" y="0"/>
                  </a:moveTo>
                  <a:lnTo>
                    <a:pt x="25950" y="26703"/>
                  </a:lnTo>
                  <a:lnTo>
                    <a:pt x="4186" y="79125"/>
                  </a:lnTo>
                  <a:lnTo>
                    <a:pt x="0" y="122529"/>
                  </a:lnTo>
                  <a:lnTo>
                    <a:pt x="1043" y="144854"/>
                  </a:lnTo>
                  <a:lnTo>
                    <a:pt x="9425" y="185039"/>
                  </a:lnTo>
                  <a:lnTo>
                    <a:pt x="36952" y="230279"/>
                  </a:lnTo>
                  <a:lnTo>
                    <a:pt x="64384" y="244850"/>
                  </a:lnTo>
                  <a:lnTo>
                    <a:pt x="66797" y="236735"/>
                  </a:lnTo>
                  <a:lnTo>
                    <a:pt x="55531" y="230906"/>
                  </a:lnTo>
                  <a:lnTo>
                    <a:pt x="45731" y="222423"/>
                  </a:lnTo>
                  <a:lnTo>
                    <a:pt x="25121" y="181474"/>
                  </a:lnTo>
                  <a:lnTo>
                    <a:pt x="18159" y="122427"/>
                  </a:lnTo>
                  <a:lnTo>
                    <a:pt x="18938" y="101017"/>
                  </a:lnTo>
                  <a:lnTo>
                    <a:pt x="30475" y="47409"/>
                  </a:lnTo>
                  <a:lnTo>
                    <a:pt x="55531" y="13949"/>
                  </a:lnTo>
                  <a:lnTo>
                    <a:pt x="66797" y="8115"/>
                  </a:lnTo>
                  <a:lnTo>
                    <a:pt x="6438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623944" y="6544119"/>
              <a:ext cx="249681" cy="187745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bject 22"/>
              <p:cNvSpPr txBox="1"/>
              <p:nvPr/>
            </p:nvSpPr>
            <p:spPr>
              <a:xfrm>
                <a:off x="2309495" y="6101009"/>
                <a:ext cx="1739264" cy="552450"/>
              </a:xfrm>
              <a:prstGeom prst="rect">
                <a:avLst/>
              </a:prstGeom>
            </p:spPr>
            <p:txBody>
              <a:bodyPr vert="horz" wrap="square" lIns="0" tIns="32384" rIns="0" bIns="0" rtlCol="0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ts val="254"/>
                  </a:spcBef>
                </a:pPr>
                <a:r>
                  <a:rPr sz="1600" dirty="0">
                    <a:latin typeface="Courier New"/>
                    <a:cs typeface="Courier New"/>
                  </a:rPr>
                  <a:t>o</a:t>
                </a:r>
                <a:r>
                  <a:rPr sz="1600" spc="310" dirty="0">
                    <a:latin typeface="Courier New"/>
                    <a:cs typeface="Courier New"/>
                  </a:rPr>
                  <a:t> </a:t>
                </a:r>
                <a14:m>
                  <m:oMath xmlns:m="http://schemas.openxmlformats.org/officeDocument/2006/math">
                    <m:r>
                      <a:rPr lang="pt-BR" sz="1600" i="1" dirty="0" smtClean="0">
                        <a:latin typeface="Cambria Math" panose="02040503050406030204" pitchFamily="18" charset="0"/>
                        <a:cs typeface="Cambria Math"/>
                      </a:rPr>
                      <m:t>𝑘</m:t>
                    </m:r>
                    <m:r>
                      <a:rPr lang="pt-BR" sz="1600" i="1" dirty="0">
                        <a:latin typeface="Cambria Math" panose="02040503050406030204" pitchFamily="18" charset="0"/>
                        <a:cs typeface="Cambria Math"/>
                      </a:rPr>
                      <m:t>=</m:t>
                    </m:r>
                    <m:r>
                      <a:rPr lang="pt-BR" sz="1600" i="1" dirty="0">
                        <a:latin typeface="Cambria Math" panose="02040503050406030204" pitchFamily="18" charset="0"/>
                        <a:cs typeface="Cambria Math"/>
                      </a:rPr>
                      <m:t>𝑘</m:t>
                    </m:r>
                    <m:r>
                      <a:rPr lang="pt-BR" sz="1600" i="1" dirty="0">
                        <a:latin typeface="Cambria Math" panose="02040503050406030204" pitchFamily="18" charset="0"/>
                        <a:cs typeface="Cambria Math"/>
                      </a:rPr>
                      <m:t>+</m:t>
                    </m:r>
                    <m:r>
                      <a:rPr lang="pt-BR" sz="1600" i="1" spc="-25" dirty="0">
                        <a:latin typeface="Cambria Math" panose="02040503050406030204" pitchFamily="18" charset="0"/>
                        <a:cs typeface="Cambria Math"/>
                      </a:rPr>
                      <m:t>1</m:t>
                    </m:r>
                  </m:oMath>
                </a14:m>
                <a:r>
                  <a:rPr sz="1600" spc="-25" dirty="0">
                    <a:latin typeface="Calibri"/>
                    <a:cs typeface="Calibri"/>
                  </a:rPr>
                  <a:t>.</a:t>
                </a:r>
                <a:endParaRPr sz="1600" dirty="0">
                  <a:latin typeface="Calibri"/>
                  <a:cs typeface="Calibri"/>
                </a:endParaRPr>
              </a:p>
              <a:p>
                <a:pPr marL="286385" indent="-287020">
                  <a:lnSpc>
                    <a:spcPct val="100000"/>
                  </a:lnSpc>
                  <a:spcBef>
                    <a:spcPts val="155"/>
                  </a:spcBef>
                  <a:buFont typeface="Courier New"/>
                  <a:buChar char="o"/>
                  <a:tabLst>
                    <a:tab pos="287020" algn="l"/>
                    <a:tab pos="1674495" algn="l"/>
                  </a:tabLst>
                </a:pPr>
                <a:r>
                  <a:rPr sz="1600" dirty="0">
                    <a:latin typeface="Calibri"/>
                    <a:cs typeface="Calibri"/>
                  </a:rPr>
                  <a:t>Calcule</a:t>
                </a:r>
                <a:r>
                  <a:rPr sz="1600" spc="-35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pt-BR" sz="1600" i="1" dirty="0" smtClean="0">
                        <a:latin typeface="Cambria Math" panose="02040503050406030204" pitchFamily="18" charset="0"/>
                        <a:cs typeface="Cambria Math"/>
                      </a:rPr>
                      <m:t>𝐽</m:t>
                    </m:r>
                    <m:r>
                      <a:rPr lang="pt-BR" sz="1600" i="1" spc="375" dirty="0">
                        <a:latin typeface="Cambria Math" panose="02040503050406030204" pitchFamily="18" charset="0"/>
                        <a:cs typeface="Cambria Math"/>
                      </a:rPr>
                      <m:t> </m:t>
                    </m:r>
                    <m:r>
                      <a:rPr lang="pt-BR" sz="1600" i="1" dirty="0">
                        <a:latin typeface="Cambria Math" panose="02040503050406030204" pitchFamily="18" charset="0"/>
                        <a:cs typeface="Cambria Math"/>
                      </a:rPr>
                      <m:t>𝑾</m:t>
                    </m:r>
                    <m:r>
                      <a:rPr lang="pt-BR" sz="1600" i="1" spc="275" dirty="0">
                        <a:latin typeface="Cambria Math" panose="02040503050406030204" pitchFamily="18" charset="0"/>
                        <a:cs typeface="Cambria Math"/>
                      </a:rPr>
                      <m:t> </m:t>
                    </m:r>
                    <m:r>
                      <a:rPr lang="pt-BR" sz="1600" i="1" spc="-50" dirty="0">
                        <a:latin typeface="Cambria Math" panose="02040503050406030204" pitchFamily="18" charset="0"/>
                        <a:cs typeface="Cambria Math"/>
                      </a:rPr>
                      <m:t>𝑘</m:t>
                    </m:r>
                    <m:r>
                      <a:rPr lang="pt-BR" sz="1600" i="1" dirty="0">
                        <a:latin typeface="Cambria Math" panose="02040503050406030204" pitchFamily="18" charset="0"/>
                        <a:cs typeface="Cambria Math"/>
                      </a:rPr>
                      <m:t>	</m:t>
                    </m:r>
                  </m:oMath>
                </a14:m>
                <a:r>
                  <a:rPr sz="1600" spc="-50" dirty="0">
                    <a:latin typeface="Calibri"/>
                    <a:cs typeface="Calibri"/>
                  </a:rPr>
                  <a:t>.</a:t>
                </a:r>
                <a:endParaRPr sz="16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22" name="object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9495" y="6101009"/>
                <a:ext cx="1739264" cy="552450"/>
              </a:xfrm>
              <a:prstGeom prst="rect">
                <a:avLst/>
              </a:prstGeom>
              <a:blipFill>
                <a:blip r:embed="rId7"/>
                <a:stretch>
                  <a:fillRect l="-7368" t="-6667" b="-2222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object 24"/>
              <p:cNvSpPr txBox="1"/>
              <p:nvPr/>
            </p:nvSpPr>
            <p:spPr>
              <a:xfrm>
                <a:off x="9882117" y="5579492"/>
                <a:ext cx="1730375" cy="891270"/>
              </a:xfrm>
              <a:prstGeom prst="rect">
                <a:avLst/>
              </a:prstGeom>
            </p:spPr>
            <p:txBody>
              <a:bodyPr vert="horz" wrap="square" lIns="0" tIns="13970" rIns="0" bIns="0" rtlCol="0">
                <a:spAutoFit/>
              </a:bodyPr>
              <a:lstStyle/>
              <a:p>
                <a:pPr marL="38100" marR="30480" algn="ctr">
                  <a:lnSpc>
                    <a:spcPct val="99800"/>
                  </a:lnSpc>
                  <a:spcBef>
                    <a:spcPts val="110"/>
                  </a:spcBef>
                </a:pPr>
                <a:r>
                  <a:rPr lang="pt-BR" sz="1400" b="1" dirty="0">
                    <a:latin typeface="Calibri"/>
                    <a:cs typeface="Calibri"/>
                  </a:rPr>
                  <a:t>OBS</a:t>
                </a:r>
                <a:r>
                  <a:rPr lang="pt-BR" sz="1400" dirty="0">
                    <a:latin typeface="Calibri"/>
                    <a:cs typeface="Calibri"/>
                  </a:rPr>
                  <a:t>.:</a:t>
                </a:r>
                <a:r>
                  <a:rPr lang="pt-BR" sz="1400" spc="-25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400" b="0" i="1" dirty="0" smtClean="0">
                            <a:latin typeface="Cambria Math" panose="02040503050406030204" pitchFamily="18" charset="0"/>
                            <a:cs typeface="Cambria Math"/>
                          </a:rPr>
                        </m:ctrlPr>
                      </m:sSubPr>
                      <m:e>
                        <m:r>
                          <a:rPr lang="pt-BR" sz="1400" i="1" dirty="0" smtClean="0">
                            <a:latin typeface="Cambria Math" panose="02040503050406030204" pitchFamily="18" charset="0"/>
                            <a:cs typeface="Cambria Math"/>
                          </a:rPr>
                          <m:t>𝐽</m:t>
                        </m:r>
                      </m:e>
                      <m:sub>
                        <m:r>
                          <a:rPr lang="pt-BR" sz="1400" b="0" i="1" dirty="0" smtClean="0">
                            <a:latin typeface="Cambria Math" panose="02040503050406030204" pitchFamily="18" charset="0"/>
                            <a:cs typeface="Cambria Math"/>
                          </a:rPr>
                          <m:t>𝑛</m:t>
                        </m:r>
                      </m:sub>
                    </m:sSub>
                    <m:r>
                      <a:rPr lang="pt-BR" sz="1400" b="0" i="1" dirty="0" smtClean="0">
                        <a:latin typeface="Cambria Math" panose="02040503050406030204" pitchFamily="18" charset="0"/>
                        <a:cs typeface="Cambria Math"/>
                      </a:rPr>
                      <m:t>(</m:t>
                    </m:r>
                    <m:r>
                      <a:rPr lang="pt-BR" sz="1400" i="1" dirty="0" smtClean="0">
                        <a:latin typeface="Cambria Math" panose="02040503050406030204" pitchFamily="18" charset="0"/>
                        <a:cs typeface="Cambria Math"/>
                      </a:rPr>
                      <m:t>𝑾</m:t>
                    </m:r>
                    <m:r>
                      <a:rPr lang="pt-BR" sz="1400" b="0" i="1" dirty="0" smtClean="0">
                        <a:latin typeface="Cambria Math" panose="02040503050406030204" pitchFamily="18" charset="0"/>
                        <a:cs typeface="Cambria Math"/>
                      </a:rPr>
                      <m:t>)</m:t>
                    </m:r>
                  </m:oMath>
                </a14:m>
                <a:r>
                  <a:rPr lang="pt-BR" sz="1400" spc="125" dirty="0">
                    <a:latin typeface="Cambria Math"/>
                    <a:cs typeface="Cambria Math"/>
                  </a:rPr>
                  <a:t>  </a:t>
                </a:r>
                <a:r>
                  <a:rPr lang="pt-BR" sz="1400" dirty="0">
                    <a:latin typeface="Calibri"/>
                    <a:cs typeface="Calibri"/>
                  </a:rPr>
                  <a:t>é</a:t>
                </a:r>
                <a:r>
                  <a:rPr lang="pt-BR" sz="1400" spc="-5" dirty="0">
                    <a:latin typeface="Calibri"/>
                    <a:cs typeface="Calibri"/>
                  </a:rPr>
                  <a:t> </a:t>
                </a:r>
                <a:r>
                  <a:rPr lang="pt-BR" sz="1400" dirty="0">
                    <a:latin typeface="Calibri"/>
                    <a:cs typeface="Calibri"/>
                  </a:rPr>
                  <a:t>a</a:t>
                </a:r>
                <a:r>
                  <a:rPr lang="pt-BR" sz="1400" spc="-10" dirty="0">
                    <a:latin typeface="Calibri"/>
                    <a:cs typeface="Calibri"/>
                  </a:rPr>
                  <a:t> </a:t>
                </a:r>
                <a:r>
                  <a:rPr lang="pt-BR" sz="1400" spc="-20" dirty="0">
                    <a:latin typeface="Calibri"/>
                    <a:cs typeface="Calibri"/>
                  </a:rPr>
                  <a:t>média </a:t>
                </a:r>
                <a:r>
                  <a:rPr lang="pt-BR" sz="1400" dirty="0">
                    <a:latin typeface="Calibri"/>
                    <a:cs typeface="Calibri"/>
                  </a:rPr>
                  <a:t>do</a:t>
                </a:r>
                <a:r>
                  <a:rPr lang="pt-BR" sz="1400" spc="-35" dirty="0">
                    <a:latin typeface="Calibri"/>
                    <a:cs typeface="Calibri"/>
                  </a:rPr>
                  <a:t> </a:t>
                </a:r>
                <a:r>
                  <a:rPr lang="pt-BR" sz="1400" dirty="0">
                    <a:latin typeface="Calibri"/>
                    <a:cs typeface="Calibri"/>
                  </a:rPr>
                  <a:t>erro</a:t>
                </a:r>
                <a:r>
                  <a:rPr lang="pt-BR" sz="1400" spc="-30" dirty="0">
                    <a:latin typeface="Calibri"/>
                    <a:cs typeface="Calibri"/>
                  </a:rPr>
                  <a:t> </a:t>
                </a:r>
                <a:r>
                  <a:rPr lang="pt-BR" sz="1400" dirty="0">
                    <a:latin typeface="Calibri"/>
                    <a:cs typeface="Calibri"/>
                  </a:rPr>
                  <a:t>para</a:t>
                </a:r>
                <a:r>
                  <a:rPr lang="pt-BR" sz="1400" spc="-25" dirty="0">
                    <a:latin typeface="Calibri"/>
                    <a:cs typeface="Calibri"/>
                  </a:rPr>
                  <a:t> </a:t>
                </a:r>
                <a:r>
                  <a:rPr lang="pt-BR" sz="1400" dirty="0">
                    <a:latin typeface="Calibri"/>
                    <a:cs typeface="Calibri"/>
                  </a:rPr>
                  <a:t>as</a:t>
                </a:r>
                <a:r>
                  <a:rPr lang="pt-BR" sz="1400" spc="-5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pt-BR" sz="1400" i="1" spc="-25" dirty="0" smtClean="0">
                        <a:latin typeface="Cambria Math" panose="02040503050406030204" pitchFamily="18" charset="0"/>
                        <a:cs typeface="Cambria Math"/>
                      </a:rPr>
                      <m:t>𝑁</m:t>
                    </m:r>
                    <m:r>
                      <a:rPr lang="pt-BR" sz="1500" i="1" spc="-37" baseline="-16666" dirty="0">
                        <a:latin typeface="Cambria Math" panose="02040503050406030204" pitchFamily="18" charset="0"/>
                        <a:cs typeface="Cambria Math"/>
                      </a:rPr>
                      <m:t>𝑀</m:t>
                    </m:r>
                  </m:oMath>
                </a14:m>
                <a:r>
                  <a:rPr lang="pt-BR" sz="1500" baseline="-16666" dirty="0">
                    <a:latin typeface="Cambria Math"/>
                    <a:cs typeface="Cambria Math"/>
                  </a:rPr>
                  <a:t> </a:t>
                </a:r>
                <a:r>
                  <a:rPr lang="pt-BR" sz="1400" dirty="0">
                    <a:latin typeface="Calibri"/>
                    <a:cs typeface="Calibri"/>
                  </a:rPr>
                  <a:t>saídas</a:t>
                </a:r>
                <a:r>
                  <a:rPr lang="pt-BR" sz="1400" spc="-15" dirty="0">
                    <a:latin typeface="Calibri"/>
                    <a:cs typeface="Calibri"/>
                  </a:rPr>
                  <a:t> </a:t>
                </a:r>
                <a:r>
                  <a:rPr lang="pt-BR" sz="1400" dirty="0">
                    <a:latin typeface="Calibri"/>
                    <a:cs typeface="Calibri"/>
                  </a:rPr>
                  <a:t>e</a:t>
                </a:r>
                <a:r>
                  <a:rPr lang="pt-BR" sz="1400" spc="-5" dirty="0">
                    <a:latin typeface="Calibri"/>
                    <a:cs typeface="Calibri"/>
                  </a:rPr>
                  <a:t> </a:t>
                </a:r>
                <a:r>
                  <a:rPr lang="pt-BR" sz="1400" i="1" spc="-10" dirty="0">
                    <a:latin typeface="Calibri"/>
                    <a:cs typeface="Calibri"/>
                  </a:rPr>
                  <a:t>n</a:t>
                </a:r>
                <a:r>
                  <a:rPr lang="pt-BR" sz="1400" spc="-10" dirty="0">
                    <a:latin typeface="Calibri"/>
                    <a:cs typeface="Calibri"/>
                  </a:rPr>
                  <a:t>-</a:t>
                </a:r>
                <a:r>
                  <a:rPr lang="pt-BR" sz="1400" spc="-20" dirty="0">
                    <a:latin typeface="Calibri"/>
                    <a:cs typeface="Calibri"/>
                  </a:rPr>
                  <a:t>ésimo </a:t>
                </a:r>
                <a:r>
                  <a:rPr lang="pt-BR" sz="1400" spc="-10" dirty="0">
                    <a:latin typeface="Calibri"/>
                    <a:cs typeface="Calibri"/>
                  </a:rPr>
                  <a:t>exemplo.</a:t>
                </a:r>
                <a:endParaRPr sz="14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24" name="object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2117" y="5579492"/>
                <a:ext cx="1730375" cy="891270"/>
              </a:xfrm>
              <a:prstGeom prst="rect">
                <a:avLst/>
              </a:prstGeom>
              <a:blipFill>
                <a:blip r:embed="rId8"/>
                <a:stretch>
                  <a:fillRect l="-1056" t="-4110" r="-1408" b="-1027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8427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dirty="0"/>
              <a:t>Algumas</a:t>
            </a:r>
            <a:r>
              <a:rPr spc="-50" dirty="0"/>
              <a:t> </a:t>
            </a:r>
            <a:r>
              <a:rPr dirty="0"/>
              <a:t>visões</a:t>
            </a:r>
            <a:r>
              <a:rPr spc="-50" dirty="0"/>
              <a:t> </a:t>
            </a:r>
            <a:r>
              <a:rPr dirty="0"/>
              <a:t>práticas</a:t>
            </a:r>
            <a:r>
              <a:rPr spc="-45" dirty="0"/>
              <a:t> </a:t>
            </a:r>
            <a:r>
              <a:rPr dirty="0"/>
              <a:t>de</a:t>
            </a:r>
            <a:r>
              <a:rPr spc="-55" dirty="0"/>
              <a:t> </a:t>
            </a:r>
            <a:r>
              <a:rPr dirty="0"/>
              <a:t>algoritmos</a:t>
            </a:r>
            <a:r>
              <a:rPr spc="-45" dirty="0"/>
              <a:t> </a:t>
            </a:r>
            <a:r>
              <a:rPr spc="-25" dirty="0"/>
              <a:t>de </a:t>
            </a:r>
            <a:r>
              <a:rPr spc="-10" dirty="0"/>
              <a:t>aprendizado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577953"/>
            <a:ext cx="10483215" cy="232918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2800" b="1" spc="-25" dirty="0">
                <a:latin typeface="Calibri"/>
                <a:cs typeface="Calibri"/>
              </a:rPr>
              <a:t>Versões</a:t>
            </a:r>
            <a:r>
              <a:rPr sz="2800" b="1" spc="-8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Online,</a:t>
            </a:r>
            <a:r>
              <a:rPr sz="2800" b="1" spc="-8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Batch</a:t>
            </a:r>
            <a:r>
              <a:rPr sz="2800" b="1" spc="-7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e</a:t>
            </a:r>
            <a:r>
              <a:rPr sz="2800" b="1" spc="-8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Minibatch</a:t>
            </a:r>
            <a:endParaRPr sz="2800" dirty="0">
              <a:latin typeface="Calibri"/>
              <a:cs typeface="Calibri"/>
            </a:endParaRPr>
          </a:p>
          <a:p>
            <a:pPr marL="241300" marR="8890" indent="-228600">
              <a:lnSpc>
                <a:spcPts val="3020"/>
              </a:lnSpc>
              <a:spcBef>
                <a:spcPts val="106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O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outro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extremo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seria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utilizar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todo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conjunto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dados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calcular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o </a:t>
            </a:r>
            <a:r>
              <a:rPr sz="2800" spc="-10" dirty="0">
                <a:latin typeface="Calibri"/>
                <a:cs typeface="Calibri"/>
              </a:rPr>
              <a:t>gradiente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antes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atualizar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pesos.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ts val="303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Essa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ideia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trás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abordagem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12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batelada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</a:t>
            </a:r>
            <a:r>
              <a:rPr sz="2800" b="1" i="1" dirty="0">
                <a:latin typeface="Calibri"/>
                <a:cs typeface="Calibri"/>
              </a:rPr>
              <a:t>batch</a:t>
            </a:r>
            <a:r>
              <a:rPr sz="2800" dirty="0">
                <a:latin typeface="Calibri"/>
                <a:cs typeface="Calibri"/>
              </a:rPr>
              <a:t>).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algoritmo </a:t>
            </a:r>
            <a:r>
              <a:rPr sz="2800" dirty="0">
                <a:latin typeface="Calibri"/>
                <a:cs typeface="Calibri"/>
              </a:rPr>
              <a:t>abaixo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ilustra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operação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correspondente.</a:t>
            </a:r>
            <a:endParaRPr sz="2800" dirty="0">
              <a:latin typeface="Calibri"/>
              <a:cs typeface="Calibri"/>
            </a:endParaRPr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9A471047-2B5E-0ABF-7983-CEB83B11FE0F}"/>
              </a:ext>
            </a:extLst>
          </p:cNvPr>
          <p:cNvGrpSpPr/>
          <p:nvPr/>
        </p:nvGrpSpPr>
        <p:grpSpPr>
          <a:xfrm>
            <a:off x="2157096" y="3900987"/>
            <a:ext cx="7877809" cy="2927985"/>
            <a:chOff x="1760220" y="3900987"/>
            <a:chExt cx="7877809" cy="2927985"/>
          </a:xfrm>
        </p:grpSpPr>
        <p:sp>
          <p:nvSpPr>
            <p:cNvPr id="4" name="object 5">
              <a:extLst>
                <a:ext uri="{FF2B5EF4-FFF2-40B4-BE49-F238E27FC236}">
                  <a16:creationId xmlns:a16="http://schemas.microsoft.com/office/drawing/2014/main" id="{23489F17-A7F2-8FA1-302E-382E15FB6647}"/>
                </a:ext>
              </a:extLst>
            </p:cNvPr>
            <p:cNvSpPr/>
            <p:nvPr/>
          </p:nvSpPr>
          <p:spPr>
            <a:xfrm>
              <a:off x="1760220" y="3900987"/>
              <a:ext cx="7877809" cy="2927985"/>
            </a:xfrm>
            <a:custGeom>
              <a:avLst/>
              <a:gdLst/>
              <a:ahLst/>
              <a:cxnLst/>
              <a:rect l="l" t="t" r="r" b="b"/>
              <a:pathLst>
                <a:path w="7877809" h="2927984">
                  <a:moveTo>
                    <a:pt x="0" y="2927604"/>
                  </a:moveTo>
                  <a:lnTo>
                    <a:pt x="7877556" y="2927604"/>
                  </a:lnTo>
                  <a:lnTo>
                    <a:pt x="7877556" y="0"/>
                  </a:lnTo>
                  <a:lnTo>
                    <a:pt x="0" y="0"/>
                  </a:lnTo>
                  <a:lnTo>
                    <a:pt x="0" y="2927604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object 8">
                  <a:extLst>
                    <a:ext uri="{FF2B5EF4-FFF2-40B4-BE49-F238E27FC236}">
                      <a16:creationId xmlns:a16="http://schemas.microsoft.com/office/drawing/2014/main" id="{C08A0F01-F66F-9F91-C398-EACF404AE831}"/>
                    </a:ext>
                  </a:extLst>
                </p:cNvPr>
                <p:cNvSpPr txBox="1"/>
                <p:nvPr/>
              </p:nvSpPr>
              <p:spPr>
                <a:xfrm>
                  <a:off x="1866899" y="3908020"/>
                  <a:ext cx="7664450" cy="1087797"/>
                </a:xfrm>
                <a:prstGeom prst="rect">
                  <a:avLst/>
                </a:prstGeom>
              </p:spPr>
              <p:txBody>
                <a:bodyPr vert="horz" wrap="square" lIns="0" tIns="32384" rIns="0" bIns="0" rtlCol="0">
                  <a:spAutoFit/>
                </a:bodyPr>
                <a:lstStyle/>
                <a:p>
                  <a:pPr marL="286385" indent="-287020">
                    <a:lnSpc>
                      <a:spcPct val="100000"/>
                    </a:lnSpc>
                    <a:spcBef>
                      <a:spcPts val="254"/>
                    </a:spcBef>
                    <a:buFont typeface="Wingdings"/>
                    <a:buChar char=""/>
                    <a:tabLst>
                      <a:tab pos="287020" algn="l"/>
                    </a:tabLst>
                  </a:pPr>
                  <a:r>
                    <a:rPr lang="pt-BR" sz="1600" dirty="0">
                      <a:latin typeface="Calibri"/>
                      <a:cs typeface="Calibri"/>
                    </a:rPr>
                    <a:t>Defina</a:t>
                  </a:r>
                  <a:r>
                    <a:rPr lang="pt-BR" sz="1600" spc="-45" dirty="0">
                      <a:latin typeface="Calibri"/>
                      <a:cs typeface="Calibri"/>
                    </a:rPr>
                    <a:t> </a:t>
                  </a:r>
                  <a:r>
                    <a:rPr lang="pt-BR" sz="1600" spc="-10" dirty="0">
                      <a:latin typeface="Calibri"/>
                      <a:cs typeface="Calibri"/>
                    </a:rPr>
                    <a:t>valores</a:t>
                  </a:r>
                  <a:r>
                    <a:rPr lang="pt-BR" sz="1600" spc="-25" dirty="0">
                      <a:latin typeface="Calibri"/>
                      <a:cs typeface="Calibri"/>
                    </a:rPr>
                    <a:t> </a:t>
                  </a:r>
                  <a:r>
                    <a:rPr lang="pt-BR" sz="1600" dirty="0">
                      <a:latin typeface="Calibri"/>
                      <a:cs typeface="Calibri"/>
                    </a:rPr>
                    <a:t>iniciais</a:t>
                  </a:r>
                  <a:r>
                    <a:rPr lang="pt-BR" sz="1600" spc="-70" dirty="0">
                      <a:latin typeface="Calibri"/>
                      <a:cs typeface="Calibri"/>
                    </a:rPr>
                    <a:t> </a:t>
                  </a:r>
                  <a:r>
                    <a:rPr lang="pt-BR" sz="1600" dirty="0">
                      <a:latin typeface="Calibri"/>
                      <a:cs typeface="Calibri"/>
                    </a:rPr>
                    <a:t>para</a:t>
                  </a:r>
                  <a:r>
                    <a:rPr lang="pt-BR" sz="1600" spc="-40" dirty="0">
                      <a:latin typeface="Calibri"/>
                      <a:cs typeface="Calibri"/>
                    </a:rPr>
                    <a:t> </a:t>
                  </a:r>
                  <a:r>
                    <a:rPr lang="pt-BR" sz="1600" dirty="0">
                      <a:latin typeface="Calibri"/>
                      <a:cs typeface="Calibri"/>
                    </a:rPr>
                    <a:t>a</a:t>
                  </a:r>
                  <a:r>
                    <a:rPr lang="pt-BR" sz="1600" spc="-40" dirty="0">
                      <a:latin typeface="Calibri"/>
                      <a:cs typeface="Calibri"/>
                    </a:rPr>
                    <a:t> </a:t>
                  </a:r>
                  <a:r>
                    <a:rPr lang="pt-BR" sz="1600" dirty="0">
                      <a:latin typeface="Calibri"/>
                      <a:cs typeface="Calibri"/>
                    </a:rPr>
                    <a:t>matriz</a:t>
                  </a:r>
                  <a:r>
                    <a:rPr lang="pt-BR" sz="1600" spc="-35" dirty="0">
                      <a:latin typeface="Calibri"/>
                      <a:cs typeface="Calibri"/>
                    </a:rPr>
                    <a:t> </a:t>
                  </a:r>
                  <a:r>
                    <a:rPr lang="pt-BR" sz="1600" dirty="0">
                      <a:latin typeface="Calibri"/>
                      <a:cs typeface="Calibri"/>
                    </a:rPr>
                    <a:t>de</a:t>
                  </a:r>
                  <a:r>
                    <a:rPr lang="pt-BR" sz="1600" spc="-40" dirty="0">
                      <a:latin typeface="Calibri"/>
                      <a:cs typeface="Calibri"/>
                    </a:rPr>
                    <a:t> </a:t>
                  </a:r>
                  <a:r>
                    <a:rPr lang="pt-BR" sz="1600" dirty="0">
                      <a:latin typeface="Calibri"/>
                      <a:cs typeface="Calibri"/>
                    </a:rPr>
                    <a:t>pesos</a:t>
                  </a:r>
                  <a:r>
                    <a:rPr lang="pt-BR" sz="1600" spc="15" dirty="0">
                      <a:latin typeface="Calibri"/>
                      <a:cs typeface="Calibri"/>
                    </a:rPr>
                    <a:t> </a:t>
                  </a:r>
                  <a:r>
                    <a:rPr lang="pt-BR" sz="1600" dirty="0">
                      <a:latin typeface="Cambria Math"/>
                      <a:cs typeface="Cambria Math"/>
                    </a:rPr>
                    <a:t>𝑾</a:t>
                  </a:r>
                  <a:r>
                    <a:rPr lang="pt-BR" sz="1600" spc="-25" dirty="0">
                      <a:latin typeface="Cambria Math"/>
                      <a:cs typeface="Cambria Math"/>
                    </a:rPr>
                    <a:t> </a:t>
                  </a:r>
                  <a:r>
                    <a:rPr lang="pt-BR" sz="1600" dirty="0">
                      <a:latin typeface="Calibri"/>
                      <a:cs typeface="Calibri"/>
                    </a:rPr>
                    <a:t>e</a:t>
                  </a:r>
                  <a:r>
                    <a:rPr lang="pt-BR" sz="1600" spc="-30" dirty="0">
                      <a:latin typeface="Calibri"/>
                      <a:cs typeface="Calibri"/>
                    </a:rPr>
                    <a:t> </a:t>
                  </a:r>
                  <a:r>
                    <a:rPr lang="pt-BR" sz="1600" dirty="0">
                      <a:latin typeface="Calibri"/>
                      <a:cs typeface="Calibri"/>
                    </a:rPr>
                    <a:t>um</a:t>
                  </a:r>
                  <a:r>
                    <a:rPr lang="pt-BR" sz="1600" spc="-40" dirty="0">
                      <a:latin typeface="Calibri"/>
                      <a:cs typeface="Calibri"/>
                    </a:rPr>
                    <a:t> </a:t>
                  </a:r>
                  <a:r>
                    <a:rPr lang="pt-BR" sz="1600" dirty="0">
                      <a:latin typeface="Calibri"/>
                      <a:cs typeface="Calibri"/>
                    </a:rPr>
                    <a:t>passo</a:t>
                  </a:r>
                  <a:r>
                    <a:rPr lang="pt-BR" sz="1600" spc="-30" dirty="0">
                      <a:latin typeface="Calibri"/>
                      <a:cs typeface="Calibri"/>
                    </a:rPr>
                    <a:t> </a:t>
                  </a:r>
                  <a:r>
                    <a:rPr lang="pt-BR" sz="1600" dirty="0">
                      <a:latin typeface="Calibri"/>
                      <a:cs typeface="Calibri"/>
                    </a:rPr>
                    <a:t>de</a:t>
                  </a:r>
                  <a:r>
                    <a:rPr lang="pt-BR" sz="1600" spc="-30" dirty="0">
                      <a:latin typeface="Calibri"/>
                      <a:cs typeface="Calibri"/>
                    </a:rPr>
                    <a:t> </a:t>
                  </a:r>
                  <a:r>
                    <a:rPr lang="pt-BR" sz="1600" spc="-10" dirty="0">
                      <a:latin typeface="Calibri"/>
                      <a:cs typeface="Calibri"/>
                    </a:rPr>
                    <a:t>aprendizagem</a:t>
                  </a:r>
                  <a:r>
                    <a:rPr lang="pt-BR" sz="1600" spc="-40" dirty="0">
                      <a:latin typeface="Calibri"/>
                      <a:cs typeface="Calibri"/>
                    </a:rPr>
                    <a:t> </a:t>
                  </a:r>
                  <a:r>
                    <a:rPr lang="pt-BR" sz="1600" dirty="0">
                      <a:latin typeface="Cambria Math"/>
                      <a:cs typeface="Cambria Math"/>
                    </a:rPr>
                    <a:t>𝛼</a:t>
                  </a:r>
                  <a:r>
                    <a:rPr lang="pt-BR" sz="1600" spc="25" dirty="0">
                      <a:latin typeface="Cambria Math"/>
                      <a:cs typeface="Cambria Math"/>
                    </a:rPr>
                    <a:t> </a:t>
                  </a:r>
                  <a:r>
                    <a:rPr lang="pt-BR" sz="1600" spc="-10" dirty="0">
                      <a:latin typeface="Calibri"/>
                      <a:cs typeface="Calibri"/>
                    </a:rPr>
                    <a:t>pequeno.</a:t>
                  </a:r>
                  <a:endParaRPr lang="pt-BR" sz="1600" dirty="0">
                    <a:latin typeface="Calibri"/>
                    <a:cs typeface="Calibri"/>
                  </a:endParaRPr>
                </a:p>
                <a:p>
                  <a:pPr marL="286385" indent="-287020">
                    <a:lnSpc>
                      <a:spcPct val="100000"/>
                    </a:lnSpc>
                    <a:spcBef>
                      <a:spcPts val="155"/>
                    </a:spcBef>
                    <a:buFont typeface="Wingdings"/>
                    <a:buChar char=""/>
                    <a:tabLst>
                      <a:tab pos="287020" algn="l"/>
                      <a:tab pos="4980940" algn="l"/>
                    </a:tabLst>
                  </a:pPr>
                  <a:r>
                    <a:rPr lang="pt-BR" sz="1600" spc="-10" dirty="0">
                      <a:latin typeface="Calibri"/>
                      <a:cs typeface="Calibri"/>
                    </a:rPr>
                    <a:t>Faça</a:t>
                  </a:r>
                  <a:r>
                    <a:rPr lang="pt-BR" sz="1600" spc="-25" dirty="0">
                      <a:latin typeface="Calibri"/>
                      <a:cs typeface="Calibri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pt-BR" sz="1600" i="1" dirty="0" smtClean="0">
                          <a:latin typeface="Cambria Math" panose="02040503050406030204" pitchFamily="18" charset="0"/>
                          <a:cs typeface="Cambria Math"/>
                        </a:rPr>
                        <m:t>𝑘</m:t>
                      </m:r>
                      <m:r>
                        <a:rPr lang="pt-BR" sz="1600" b="0" i="1" dirty="0" smtClean="0">
                          <a:latin typeface="Cambria Math" panose="02040503050406030204" pitchFamily="18" charset="0"/>
                          <a:cs typeface="Cambria Math"/>
                        </a:rPr>
                        <m:t>=</m:t>
                      </m:r>
                      <m:r>
                        <a:rPr lang="pt-BR" sz="1600" i="1" dirty="0">
                          <a:latin typeface="Cambria Math" panose="02040503050406030204" pitchFamily="18" charset="0"/>
                          <a:cs typeface="Cambria Math"/>
                        </a:rPr>
                        <m:t>0</m:t>
                      </m:r>
                      <m:r>
                        <a:rPr lang="pt-BR" sz="1600" i="1" spc="-10" dirty="0">
                          <a:latin typeface="Cambria Math" panose="02040503050406030204" pitchFamily="18" charset="0"/>
                          <a:cs typeface="Cambria Math"/>
                        </a:rPr>
                        <m:t> </m:t>
                      </m:r>
                    </m:oMath>
                  </a14:m>
                  <a:r>
                    <a:rPr lang="pt-BR" sz="1600" dirty="0">
                      <a:latin typeface="Calibri"/>
                      <a:cs typeface="Calibri"/>
                    </a:rPr>
                    <a:t>(épocas) e</a:t>
                  </a:r>
                  <a:r>
                    <a:rPr lang="pt-BR" sz="1600" spc="-15" dirty="0">
                      <a:latin typeface="Calibri"/>
                      <a:cs typeface="Calibri"/>
                    </a:rPr>
                    <a:t> </a:t>
                  </a:r>
                  <a:r>
                    <a:rPr lang="pt-BR" sz="1600" dirty="0">
                      <a:latin typeface="Calibri"/>
                      <a:cs typeface="Calibri"/>
                    </a:rPr>
                    <a:t>calcule</a:t>
                  </a:r>
                  <a:r>
                    <a:rPr lang="pt-BR" sz="1600" spc="-30" dirty="0">
                      <a:latin typeface="Calibri"/>
                      <a:cs typeface="Calibri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pt-BR" sz="1600" i="1" dirty="0" smtClean="0">
                          <a:latin typeface="Cambria Math" panose="02040503050406030204" pitchFamily="18" charset="0"/>
                          <a:cs typeface="Cambria Math"/>
                        </a:rPr>
                        <m:t>𝐽</m:t>
                      </m:r>
                      <m:d>
                        <m:dPr>
                          <m:ctrlPr>
                            <a:rPr lang="pt-BR" sz="1600" b="0" i="1" dirty="0" smtClean="0"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dPr>
                        <m:e>
                          <m:r>
                            <a:rPr lang="pt-BR" sz="1600" i="1" dirty="0" smtClean="0">
                              <a:latin typeface="Cambria Math" panose="02040503050406030204" pitchFamily="18" charset="0"/>
                              <a:cs typeface="Cambria Math"/>
                            </a:rPr>
                            <m:t>𝑾</m:t>
                          </m:r>
                          <m:d>
                            <m:dPr>
                              <m:ctrlPr>
                                <a:rPr lang="pt-BR" sz="1600" i="1" spc="270" dirty="0" smtClean="0">
                                  <a:latin typeface="Cambria Math" panose="02040503050406030204" pitchFamily="18" charset="0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pt-BR" sz="1600" i="1" spc="-50" dirty="0" smtClean="0">
                                  <a:latin typeface="Cambria Math" panose="02040503050406030204" pitchFamily="18" charset="0"/>
                                  <a:cs typeface="Cambria Math"/>
                                </a:rPr>
                                <m:t>𝑘</m:t>
                              </m:r>
                            </m:e>
                          </m:d>
                        </m:e>
                      </m:d>
                    </m:oMath>
                  </a14:m>
                  <a:r>
                    <a:rPr lang="pt-BR" sz="1600" dirty="0">
                      <a:latin typeface="Cambria Math"/>
                      <a:cs typeface="Cambria Math"/>
                    </a:rPr>
                    <a:t>	</a:t>
                  </a:r>
                  <a:r>
                    <a:rPr lang="pt-BR" sz="1600" spc="-50" dirty="0">
                      <a:latin typeface="Calibri"/>
                      <a:cs typeface="Calibri"/>
                    </a:rPr>
                    <a:t>.</a:t>
                  </a:r>
                  <a:endParaRPr lang="pt-BR" sz="1600" dirty="0">
                    <a:latin typeface="Calibri"/>
                    <a:cs typeface="Calibri"/>
                  </a:endParaRPr>
                </a:p>
                <a:p>
                  <a:pPr marL="286385" indent="-287020">
                    <a:lnSpc>
                      <a:spcPct val="100000"/>
                    </a:lnSpc>
                    <a:spcBef>
                      <a:spcPts val="85"/>
                    </a:spcBef>
                    <a:buFont typeface="Wingdings"/>
                    <a:buChar char=""/>
                    <a:tabLst>
                      <a:tab pos="287020" algn="l"/>
                    </a:tabLst>
                  </a:pPr>
                  <a:r>
                    <a:rPr lang="pt-BR" sz="1600" spc="-10" dirty="0">
                      <a:latin typeface="Calibri"/>
                      <a:cs typeface="Calibri"/>
                    </a:rPr>
                    <a:t>Enquanto</a:t>
                  </a:r>
                  <a:r>
                    <a:rPr lang="pt-BR" sz="1600" spc="-40" dirty="0">
                      <a:latin typeface="Calibri"/>
                      <a:cs typeface="Calibri"/>
                    </a:rPr>
                    <a:t> </a:t>
                  </a:r>
                  <a:r>
                    <a:rPr lang="pt-BR" sz="1600" dirty="0">
                      <a:latin typeface="Calibri"/>
                      <a:cs typeface="Calibri"/>
                    </a:rPr>
                    <a:t>o</a:t>
                  </a:r>
                  <a:r>
                    <a:rPr lang="pt-BR" sz="1600" spc="-35" dirty="0">
                      <a:latin typeface="Calibri"/>
                      <a:cs typeface="Calibri"/>
                    </a:rPr>
                    <a:t> </a:t>
                  </a:r>
                  <a:r>
                    <a:rPr lang="pt-BR" sz="1600" dirty="0">
                      <a:latin typeface="Calibri"/>
                      <a:cs typeface="Calibri"/>
                    </a:rPr>
                    <a:t>critério</a:t>
                  </a:r>
                  <a:r>
                    <a:rPr lang="pt-BR" sz="1600" spc="-30" dirty="0">
                      <a:latin typeface="Calibri"/>
                      <a:cs typeface="Calibri"/>
                    </a:rPr>
                    <a:t> </a:t>
                  </a:r>
                  <a:r>
                    <a:rPr lang="pt-BR" sz="1600" dirty="0">
                      <a:latin typeface="Calibri"/>
                      <a:cs typeface="Calibri"/>
                    </a:rPr>
                    <a:t>de</a:t>
                  </a:r>
                  <a:r>
                    <a:rPr lang="pt-BR" sz="1600" spc="-30" dirty="0">
                      <a:latin typeface="Calibri"/>
                      <a:cs typeface="Calibri"/>
                    </a:rPr>
                    <a:t> </a:t>
                  </a:r>
                  <a:r>
                    <a:rPr lang="pt-BR" sz="1600" spc="-10" dirty="0">
                      <a:latin typeface="Calibri"/>
                      <a:cs typeface="Calibri"/>
                    </a:rPr>
                    <a:t>parada</a:t>
                  </a:r>
                  <a:r>
                    <a:rPr lang="pt-BR" sz="1600" spc="-45" dirty="0">
                      <a:latin typeface="Calibri"/>
                      <a:cs typeface="Calibri"/>
                    </a:rPr>
                    <a:t> </a:t>
                  </a:r>
                  <a:r>
                    <a:rPr lang="pt-BR" sz="1600" dirty="0">
                      <a:latin typeface="Calibri"/>
                      <a:cs typeface="Calibri"/>
                    </a:rPr>
                    <a:t>não</a:t>
                  </a:r>
                  <a:r>
                    <a:rPr lang="pt-BR" sz="1600" spc="-30" dirty="0">
                      <a:latin typeface="Calibri"/>
                      <a:cs typeface="Calibri"/>
                    </a:rPr>
                    <a:t> </a:t>
                  </a:r>
                  <a:r>
                    <a:rPr lang="pt-BR" sz="1600" dirty="0">
                      <a:latin typeface="Calibri"/>
                      <a:cs typeface="Calibri"/>
                    </a:rPr>
                    <a:t>for</a:t>
                  </a:r>
                  <a:r>
                    <a:rPr lang="pt-BR" sz="1600" spc="-25" dirty="0">
                      <a:latin typeface="Calibri"/>
                      <a:cs typeface="Calibri"/>
                    </a:rPr>
                    <a:t> </a:t>
                  </a:r>
                  <a:r>
                    <a:rPr lang="pt-BR" sz="1600" spc="-10" dirty="0">
                      <a:latin typeface="Calibri"/>
                      <a:cs typeface="Calibri"/>
                    </a:rPr>
                    <a:t>atendido,</a:t>
                  </a:r>
                  <a:r>
                    <a:rPr lang="pt-BR" sz="1600" spc="-65" dirty="0">
                      <a:latin typeface="Calibri"/>
                      <a:cs typeface="Calibri"/>
                    </a:rPr>
                    <a:t> </a:t>
                  </a:r>
                  <a:r>
                    <a:rPr lang="pt-BR" sz="1600" spc="-10" dirty="0">
                      <a:latin typeface="Calibri"/>
                      <a:cs typeface="Calibri"/>
                    </a:rPr>
                    <a:t>faça:</a:t>
                  </a:r>
                  <a:endParaRPr lang="pt-BR" sz="1600" dirty="0">
                    <a:latin typeface="Calibri"/>
                    <a:cs typeface="Calibri"/>
                  </a:endParaRPr>
                </a:p>
                <a:p>
                  <a:pPr marL="743585" lvl="1" indent="-287020">
                    <a:lnSpc>
                      <a:spcPct val="100000"/>
                    </a:lnSpc>
                    <a:spcBef>
                      <a:spcPts val="10"/>
                    </a:spcBef>
                    <a:buFont typeface="Courier New"/>
                    <a:buChar char="o"/>
                    <a:tabLst>
                      <a:tab pos="744220" algn="l"/>
                    </a:tabLst>
                  </a:pPr>
                  <a:r>
                    <a:rPr lang="pt-BR" sz="1600" spc="-10" dirty="0">
                      <a:latin typeface="Calibri"/>
                      <a:cs typeface="Calibri"/>
                    </a:rPr>
                    <a:t>Para</a:t>
                  </a:r>
                  <a:r>
                    <a:rPr lang="pt-BR" sz="1600" spc="-30" dirty="0">
                      <a:latin typeface="Calibri"/>
                      <a:cs typeface="Calibri"/>
                    </a:rPr>
                    <a:t> </a:t>
                  </a:r>
                  <a:r>
                    <a:rPr lang="pt-BR" sz="1600" dirty="0">
                      <a:latin typeface="Cambria Math"/>
                      <a:cs typeface="Cambria Math"/>
                    </a:rPr>
                    <a:t>𝑛</a:t>
                  </a:r>
                  <a:r>
                    <a:rPr lang="pt-BR" sz="1600" spc="-10" dirty="0">
                      <a:latin typeface="Cambria Math"/>
                      <a:cs typeface="Cambria Math"/>
                    </a:rPr>
                    <a:t> </a:t>
                  </a:r>
                  <a:r>
                    <a:rPr lang="pt-BR" sz="1600" dirty="0">
                      <a:latin typeface="Calibri"/>
                      <a:cs typeface="Calibri"/>
                    </a:rPr>
                    <a:t>variando</a:t>
                  </a:r>
                  <a:r>
                    <a:rPr lang="pt-BR" sz="1600" spc="-20" dirty="0">
                      <a:latin typeface="Calibri"/>
                      <a:cs typeface="Calibri"/>
                    </a:rPr>
                    <a:t> </a:t>
                  </a:r>
                  <a:r>
                    <a:rPr lang="pt-BR" sz="1600" dirty="0">
                      <a:latin typeface="Calibri"/>
                      <a:cs typeface="Calibri"/>
                    </a:rPr>
                    <a:t>de</a:t>
                  </a:r>
                  <a:r>
                    <a:rPr lang="pt-BR" sz="1600" spc="-35" dirty="0">
                      <a:latin typeface="Calibri"/>
                      <a:cs typeface="Calibri"/>
                    </a:rPr>
                    <a:t> </a:t>
                  </a:r>
                  <a:r>
                    <a:rPr lang="pt-BR" sz="1600" dirty="0">
                      <a:latin typeface="Calibri"/>
                      <a:cs typeface="Calibri"/>
                    </a:rPr>
                    <a:t>1</a:t>
                  </a:r>
                  <a:r>
                    <a:rPr lang="pt-BR" sz="1600" spc="-30" dirty="0">
                      <a:latin typeface="Calibri"/>
                      <a:cs typeface="Calibri"/>
                    </a:rPr>
                    <a:t> </a:t>
                  </a:r>
                  <a:r>
                    <a:rPr lang="pt-BR" sz="1600" dirty="0">
                      <a:latin typeface="Calibri"/>
                      <a:cs typeface="Calibri"/>
                    </a:rPr>
                    <a:t>até</a:t>
                  </a:r>
                  <a:r>
                    <a:rPr lang="pt-BR" sz="1600" spc="-25" dirty="0">
                      <a:latin typeface="Calibri"/>
                      <a:cs typeface="Calibri"/>
                    </a:rPr>
                    <a:t> </a:t>
                  </a:r>
                  <a:r>
                    <a:rPr lang="pt-BR" sz="1600" dirty="0">
                      <a:latin typeface="Cambria Math"/>
                      <a:cs typeface="Cambria Math"/>
                    </a:rPr>
                    <a:t>𝑁</a:t>
                  </a:r>
                  <a:r>
                    <a:rPr lang="pt-BR" sz="1600" dirty="0">
                      <a:latin typeface="Calibri"/>
                      <a:cs typeface="Calibri"/>
                    </a:rPr>
                    <a:t>,</a:t>
                  </a:r>
                  <a:r>
                    <a:rPr lang="pt-BR" sz="1600" spc="-30" dirty="0">
                      <a:latin typeface="Calibri"/>
                      <a:cs typeface="Calibri"/>
                    </a:rPr>
                    <a:t> </a:t>
                  </a:r>
                  <a:r>
                    <a:rPr lang="pt-BR" sz="1600" spc="-20" dirty="0">
                      <a:latin typeface="Calibri"/>
                      <a:cs typeface="Calibri"/>
                    </a:rPr>
                    <a:t>faça:</a:t>
                  </a:r>
                  <a:endParaRPr sz="1600" dirty="0">
                    <a:latin typeface="Calibri"/>
                    <a:cs typeface="Calibri"/>
                  </a:endParaRPr>
                </a:p>
              </p:txBody>
            </p:sp>
          </mc:Choice>
          <mc:Fallback xmlns="">
            <p:sp>
              <p:nvSpPr>
                <p:cNvPr id="5" name="object 8">
                  <a:extLst>
                    <a:ext uri="{FF2B5EF4-FFF2-40B4-BE49-F238E27FC236}">
                      <a16:creationId xmlns:a16="http://schemas.microsoft.com/office/drawing/2014/main" id="{C08A0F01-F66F-9F91-C398-EACF404AE8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66899" y="3908020"/>
                  <a:ext cx="7664450" cy="1087797"/>
                </a:xfrm>
                <a:prstGeom prst="rect">
                  <a:avLst/>
                </a:prstGeom>
                <a:blipFill>
                  <a:blip r:embed="rId2"/>
                  <a:stretch>
                    <a:fillRect l="-1510" t="-3911" r="-238" b="-10615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object 18">
                  <a:extLst>
                    <a:ext uri="{FF2B5EF4-FFF2-40B4-BE49-F238E27FC236}">
                      <a16:creationId xmlns:a16="http://schemas.microsoft.com/office/drawing/2014/main" id="{BB16DA48-F254-3DBE-00B3-AC8259045CC5}"/>
                    </a:ext>
                  </a:extLst>
                </p:cNvPr>
                <p:cNvSpPr txBox="1"/>
                <p:nvPr/>
              </p:nvSpPr>
              <p:spPr>
                <a:xfrm>
                  <a:off x="2660650" y="4946596"/>
                  <a:ext cx="6026149" cy="583173"/>
                </a:xfrm>
                <a:prstGeom prst="rect">
                  <a:avLst/>
                </a:prstGeom>
              </p:spPr>
              <p:txBody>
                <a:bodyPr vert="horz" wrap="square" lIns="0" tIns="33020" rIns="0" bIns="0" rtlCol="0">
                  <a:spAutoFit/>
                </a:bodyPr>
                <a:lstStyle/>
                <a:p>
                  <a:pPr marL="324485" indent="-287020">
                    <a:lnSpc>
                      <a:spcPct val="100000"/>
                    </a:lnSpc>
                    <a:spcBef>
                      <a:spcPts val="260"/>
                    </a:spcBef>
                    <a:buFont typeface="Wingdings"/>
                    <a:buChar char=""/>
                    <a:tabLst>
                      <a:tab pos="324485" algn="l"/>
                      <a:tab pos="325120" algn="l"/>
                    </a:tabLst>
                  </a:pPr>
                  <a:r>
                    <a:rPr lang="pt-BR" sz="1600" spc="-10" dirty="0">
                      <a:latin typeface="Calibri"/>
                      <a:cs typeface="Calibri"/>
                    </a:rPr>
                    <a:t>Apresente</a:t>
                  </a:r>
                  <a:r>
                    <a:rPr lang="pt-BR" sz="1600" spc="-20" dirty="0">
                      <a:latin typeface="Calibri"/>
                      <a:cs typeface="Calibri"/>
                    </a:rPr>
                    <a:t> </a:t>
                  </a:r>
                  <a:r>
                    <a:rPr lang="pt-BR" sz="1600" dirty="0">
                      <a:latin typeface="Calibri"/>
                      <a:cs typeface="Calibri"/>
                    </a:rPr>
                    <a:t>o</a:t>
                  </a:r>
                  <a:r>
                    <a:rPr lang="pt-BR" sz="1600" spc="-30" dirty="0">
                      <a:latin typeface="Calibri"/>
                      <a:cs typeface="Calibri"/>
                    </a:rPr>
                    <a:t> </a:t>
                  </a:r>
                  <a:r>
                    <a:rPr lang="pt-BR" sz="1600" dirty="0">
                      <a:latin typeface="Cambria Math"/>
                      <a:cs typeface="Cambria Math"/>
                    </a:rPr>
                    <a:t>𝑛</a:t>
                  </a:r>
                  <a:r>
                    <a:rPr lang="pt-BR" sz="1600" dirty="0">
                      <a:latin typeface="Calibri"/>
                      <a:cs typeface="Calibri"/>
                    </a:rPr>
                    <a:t>-ésimo</a:t>
                  </a:r>
                  <a:r>
                    <a:rPr lang="pt-BR" sz="1600" spc="-30" dirty="0">
                      <a:latin typeface="Calibri"/>
                      <a:cs typeface="Calibri"/>
                    </a:rPr>
                    <a:t> </a:t>
                  </a:r>
                  <a:r>
                    <a:rPr lang="pt-BR" sz="1600" spc="-10" dirty="0">
                      <a:latin typeface="Calibri"/>
                      <a:cs typeface="Calibri"/>
                    </a:rPr>
                    <a:t>exemplo</a:t>
                  </a:r>
                  <a:r>
                    <a:rPr lang="pt-BR" sz="1600" spc="-30" dirty="0">
                      <a:latin typeface="Calibri"/>
                      <a:cs typeface="Calibri"/>
                    </a:rPr>
                    <a:t> </a:t>
                  </a:r>
                  <a:r>
                    <a:rPr lang="pt-BR" sz="1600" dirty="0">
                      <a:latin typeface="Calibri"/>
                      <a:cs typeface="Calibri"/>
                    </a:rPr>
                    <a:t>de</a:t>
                  </a:r>
                  <a:r>
                    <a:rPr lang="pt-BR" sz="1600" spc="-40" dirty="0">
                      <a:latin typeface="Calibri"/>
                      <a:cs typeface="Calibri"/>
                    </a:rPr>
                    <a:t> </a:t>
                  </a:r>
                  <a:r>
                    <a:rPr lang="pt-BR" sz="1600" spc="-10" dirty="0">
                      <a:latin typeface="Calibri"/>
                      <a:cs typeface="Calibri"/>
                    </a:rPr>
                    <a:t>entrada</a:t>
                  </a:r>
                  <a:r>
                    <a:rPr lang="pt-BR" sz="1600" spc="-30" dirty="0">
                      <a:latin typeface="Calibri"/>
                      <a:cs typeface="Calibri"/>
                    </a:rPr>
                    <a:t> </a:t>
                  </a:r>
                  <a:r>
                    <a:rPr lang="pt-BR" sz="1600" dirty="0">
                      <a:latin typeface="Calibri"/>
                      <a:cs typeface="Calibri"/>
                    </a:rPr>
                    <a:t>à</a:t>
                  </a:r>
                  <a:r>
                    <a:rPr lang="pt-BR" sz="1600" spc="-35" dirty="0">
                      <a:latin typeface="Calibri"/>
                      <a:cs typeface="Calibri"/>
                    </a:rPr>
                    <a:t> </a:t>
                  </a:r>
                  <a:r>
                    <a:rPr lang="pt-BR" sz="1600" spc="-10" dirty="0">
                      <a:latin typeface="Calibri"/>
                      <a:cs typeface="Calibri"/>
                    </a:rPr>
                    <a:t>rede.</a:t>
                  </a:r>
                  <a:endParaRPr lang="pt-BR" sz="1600" dirty="0">
                    <a:latin typeface="Calibri"/>
                    <a:cs typeface="Calibri"/>
                  </a:endParaRPr>
                </a:p>
                <a:p>
                  <a:pPr marL="324485" indent="-287020">
                    <a:lnSpc>
                      <a:spcPct val="100000"/>
                    </a:lnSpc>
                    <a:spcBef>
                      <a:spcPts val="160"/>
                    </a:spcBef>
                    <a:buFont typeface="Wingdings"/>
                    <a:buChar char=""/>
                    <a:tabLst>
                      <a:tab pos="324485" algn="l"/>
                      <a:tab pos="325120" algn="l"/>
                      <a:tab pos="1818005" algn="l"/>
                      <a:tab pos="2906395" algn="l"/>
                    </a:tabLst>
                  </a:pPr>
                  <a:r>
                    <a:rPr lang="pt-BR" sz="1600" dirty="0">
                      <a:latin typeface="Calibri"/>
                      <a:cs typeface="Calibri"/>
                    </a:rPr>
                    <a:t>Calcule</a:t>
                  </a:r>
                  <a:r>
                    <a:rPr lang="pt-BR" sz="1600" spc="-25" dirty="0">
                      <a:latin typeface="Calibri"/>
                      <a:cs typeface="Calibri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pt-BR" sz="1600" b="0" i="1" spc="-25" smtClean="0"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sSubPr>
                        <m:e>
                          <m:r>
                            <a:rPr lang="pt-BR" sz="1600" b="0" i="1" spc="-25" smtClean="0">
                              <a:latin typeface="Cambria Math" panose="02040503050406030204" pitchFamily="18" charset="0"/>
                              <a:cs typeface="Calibri"/>
                            </a:rPr>
                            <m:t>𝐽</m:t>
                          </m:r>
                        </m:e>
                        <m:sub>
                          <m:r>
                            <a:rPr lang="pt-BR" sz="1600" b="0" i="1" spc="-25" smtClean="0">
                              <a:latin typeface="Cambria Math" panose="02040503050406030204" pitchFamily="18" charset="0"/>
                              <a:cs typeface="Calibri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pt-BR" sz="1600" b="0" i="1" spc="-25" smtClean="0"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dPr>
                        <m:e>
                          <m:r>
                            <a:rPr lang="pt-BR" sz="1600" b="1" i="1" spc="-25" smtClean="0">
                              <a:latin typeface="Cambria Math" panose="02040503050406030204" pitchFamily="18" charset="0"/>
                              <a:cs typeface="Calibri"/>
                            </a:rPr>
                            <m:t>𝑾</m:t>
                          </m:r>
                          <m:d>
                            <m:dPr>
                              <m:ctrlPr>
                                <a:rPr lang="pt-BR" sz="1600" b="0" i="1" spc="-25" smtClean="0">
                                  <a:latin typeface="Cambria Math" panose="02040503050406030204" pitchFamily="18" charset="0"/>
                                  <a:cs typeface="Calibri"/>
                                </a:rPr>
                              </m:ctrlPr>
                            </m:dPr>
                            <m:e>
                              <m:r>
                                <a:rPr lang="pt-BR" sz="1600" b="0" i="1" spc="-25" smtClean="0">
                                  <a:latin typeface="Cambria Math" panose="02040503050406030204" pitchFamily="18" charset="0"/>
                                  <a:cs typeface="Calibri"/>
                                </a:rPr>
                                <m:t>𝑘</m:t>
                              </m:r>
                            </m:e>
                          </m:d>
                        </m:e>
                      </m:d>
                    </m:oMath>
                  </a14:m>
                  <a:r>
                    <a:rPr lang="pt-BR" sz="1600" dirty="0">
                      <a:latin typeface="Cambria Math"/>
                      <a:cs typeface="Cambria Math"/>
                    </a:rPr>
                    <a:t> e calcule e armazene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sz="1600" b="0" i="0" smtClean="0">
                          <a:latin typeface="Cambria Math" panose="02040503050406030204" pitchFamily="18" charset="0"/>
                          <a:cs typeface="Cambria Math"/>
                        </a:rPr>
                        <m:t>∇</m:t>
                      </m:r>
                      <m:sSub>
                        <m:sSubPr>
                          <m:ctrlPr>
                            <a:rPr lang="pt-BR" sz="1600" b="0" i="1" smtClean="0"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pt-BR" sz="1600" b="0" i="1" smtClean="0">
                              <a:latin typeface="Cambria Math" panose="02040503050406030204" pitchFamily="18" charset="0"/>
                              <a:cs typeface="Cambria Math"/>
                            </a:rPr>
                            <m:t>𝐽</m:t>
                          </m:r>
                        </m:e>
                        <m:sub>
                          <m:r>
                            <a:rPr lang="pt-BR" sz="1600" b="0" i="1" smtClean="0">
                              <a:latin typeface="Cambria Math" panose="02040503050406030204" pitchFamily="18" charset="0"/>
                              <a:cs typeface="Cambria Math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pt-BR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1600" b="1" i="1" smtClean="0">
                              <a:latin typeface="Cambria Math" panose="02040503050406030204" pitchFamily="18" charset="0"/>
                            </a:rPr>
                            <m:t>𝑾</m:t>
                          </m:r>
                          <m:d>
                            <m:dPr>
                              <m:ctrlP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e>
                      </m:d>
                      <m:r>
                        <a:rPr lang="pt-BR" sz="16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a14:m>
                  <a:endParaRPr lang="pt-BR" sz="1600" dirty="0">
                    <a:latin typeface="Calibri"/>
                    <a:cs typeface="Calibri"/>
                  </a:endParaRPr>
                </a:p>
              </p:txBody>
            </p:sp>
          </mc:Choice>
          <mc:Fallback xmlns="">
            <p:sp>
              <p:nvSpPr>
                <p:cNvPr id="11" name="object 18">
                  <a:extLst>
                    <a:ext uri="{FF2B5EF4-FFF2-40B4-BE49-F238E27FC236}">
                      <a16:creationId xmlns:a16="http://schemas.microsoft.com/office/drawing/2014/main" id="{BB16DA48-F254-3DBE-00B3-AC8259045C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60650" y="4946596"/>
                  <a:ext cx="6026149" cy="583173"/>
                </a:xfrm>
                <a:prstGeom prst="rect">
                  <a:avLst/>
                </a:prstGeom>
                <a:blipFill>
                  <a:blip r:embed="rId3"/>
                  <a:stretch>
                    <a:fillRect l="-1316" t="-7292" b="-18750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object 22">
                  <a:extLst>
                    <a:ext uri="{FF2B5EF4-FFF2-40B4-BE49-F238E27FC236}">
                      <a16:creationId xmlns:a16="http://schemas.microsoft.com/office/drawing/2014/main" id="{5F85405D-AB77-CABD-327A-3A549E64388D}"/>
                    </a:ext>
                  </a:extLst>
                </p:cNvPr>
                <p:cNvSpPr txBox="1"/>
                <p:nvPr/>
              </p:nvSpPr>
              <p:spPr>
                <a:xfrm>
                  <a:off x="2329542" y="5634537"/>
                  <a:ext cx="5061858" cy="936346"/>
                </a:xfrm>
                <a:prstGeom prst="rect">
                  <a:avLst/>
                </a:prstGeom>
              </p:spPr>
              <p:txBody>
                <a:bodyPr vert="horz" wrap="square" lIns="0" tIns="32384" rIns="0" bIns="0" rtlCol="0">
                  <a:spAutoFit/>
                </a:bodyPr>
                <a:lstStyle/>
                <a:p>
                  <a:pPr>
                    <a:lnSpc>
                      <a:spcPct val="100000"/>
                    </a:lnSpc>
                    <a:spcBef>
                      <a:spcPts val="254"/>
                    </a:spcBef>
                  </a:pPr>
                  <a:r>
                    <a:rPr lang="pt-BR" sz="1600" dirty="0">
                      <a:latin typeface="Courier New"/>
                      <a:cs typeface="Courier New"/>
                    </a:rPr>
                    <a:t>o</a:t>
                  </a:r>
                  <a:r>
                    <a:rPr lang="pt-BR" sz="1600" spc="310" dirty="0">
                      <a:latin typeface="Courier New"/>
                      <a:cs typeface="Courier New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pt-BR" sz="1600" b="1" i="1" dirty="0" smtClean="0">
                          <a:latin typeface="Cambria Math" panose="02040503050406030204" pitchFamily="18" charset="0"/>
                          <a:cs typeface="Cambria Math"/>
                        </a:rPr>
                        <m:t>𝑾</m:t>
                      </m:r>
                      <m:r>
                        <a:rPr lang="pt-BR" sz="1600" b="0" i="0" dirty="0" smtClean="0">
                          <a:latin typeface="Cambria Math" panose="02040503050406030204" pitchFamily="18" charset="0"/>
                          <a:cs typeface="Cambria Math"/>
                        </a:rPr>
                        <m:t> </m:t>
                      </m:r>
                      <m:d>
                        <m:dPr>
                          <m:ctrlPr>
                            <a:rPr lang="pt-BR" sz="1600" b="0" i="1" dirty="0" smtClean="0"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dPr>
                        <m:e>
                          <m:r>
                            <a:rPr lang="pt-BR" sz="1600" i="1" dirty="0">
                              <a:latin typeface="Cambria Math" panose="02040503050406030204" pitchFamily="18" charset="0"/>
                              <a:cs typeface="Cambria Math"/>
                            </a:rPr>
                            <m:t>𝑘</m:t>
                          </m:r>
                          <m:r>
                            <a:rPr lang="pt-BR" sz="1600" i="1" dirty="0">
                              <a:latin typeface="Cambria Math" panose="02040503050406030204" pitchFamily="18" charset="0"/>
                              <a:cs typeface="Cambria Math"/>
                            </a:rPr>
                            <m:t>+</m:t>
                          </m:r>
                          <m:r>
                            <a:rPr lang="pt-BR" sz="1600" i="1" dirty="0">
                              <a:latin typeface="Cambria Math" panose="02040503050406030204" pitchFamily="18" charset="0"/>
                              <a:cs typeface="Cambria Math"/>
                            </a:rPr>
                            <m:t>1</m:t>
                          </m:r>
                        </m:e>
                      </m:d>
                      <m:r>
                        <a:rPr lang="pt-BR" sz="1600" b="0" i="1" spc="-25" dirty="0" smtClean="0">
                          <a:latin typeface="Cambria Math" panose="02040503050406030204" pitchFamily="18" charset="0"/>
                          <a:cs typeface="Cambria Math"/>
                        </a:rPr>
                        <m:t>=</m:t>
                      </m:r>
                      <m:r>
                        <a:rPr lang="pt-BR" sz="1600" b="1" i="1" spc="-25" dirty="0" smtClean="0">
                          <a:latin typeface="Cambria Math" panose="02040503050406030204" pitchFamily="18" charset="0"/>
                          <a:cs typeface="Cambria Math"/>
                        </a:rPr>
                        <m:t>𝑾</m:t>
                      </m:r>
                      <m:d>
                        <m:dPr>
                          <m:ctrlPr>
                            <a:rPr lang="pt-BR" sz="1600" b="0" i="1" spc="-25" dirty="0" smtClean="0"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dPr>
                        <m:e>
                          <m:r>
                            <a:rPr lang="pt-BR" sz="1600" b="0" i="1" spc="-25" dirty="0" smtClean="0">
                              <a:latin typeface="Cambria Math" panose="02040503050406030204" pitchFamily="18" charset="0"/>
                              <a:cs typeface="Cambria Math"/>
                            </a:rPr>
                            <m:t>𝑘</m:t>
                          </m:r>
                        </m:e>
                      </m:d>
                      <m:r>
                        <a:rPr lang="pt-BR" sz="1600" b="0" i="1" spc="-25" dirty="0" smtClean="0">
                          <a:latin typeface="Cambria Math" panose="02040503050406030204" pitchFamily="18" charset="0"/>
                          <a:cs typeface="Cambria Math"/>
                        </a:rPr>
                        <m:t>−</m:t>
                      </m:r>
                      <m:f>
                        <m:fPr>
                          <m:ctrlPr>
                            <a:rPr lang="pt-BR" sz="1600" b="0" i="1" spc="-25" dirty="0" smtClean="0"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fPr>
                        <m:num>
                          <m:r>
                            <a:rPr lang="pt-BR" sz="1600" b="0" i="1" spc="-25" dirty="0" smtClean="0">
                              <a:latin typeface="Cambria Math" panose="02040503050406030204" pitchFamily="18" charset="0"/>
                              <a:cs typeface="Cambria Math"/>
                            </a:rPr>
                            <m:t>𝛼</m:t>
                          </m:r>
                        </m:num>
                        <m:den>
                          <m:r>
                            <a:rPr lang="pt-BR" sz="1600" b="0" i="1" spc="-25" dirty="0" smtClean="0">
                              <a:latin typeface="Cambria Math" panose="02040503050406030204" pitchFamily="18" charset="0"/>
                              <a:cs typeface="Cambria Math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pt-BR" sz="1600" b="0" i="1" spc="-25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pt-BR" sz="1600" b="0" i="1" spc="-25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1600" b="0" i="1" spc="-25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pt-BR" sz="1600" b="0" i="1" spc="-25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pt-BR" sz="1600" b="0" i="1" spc="-25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pt-BR" sz="1600" b="0" i="0" spc="-25" dirty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  <m:sSub>
                            <m:sSubPr>
                              <m:ctrlPr>
                                <a:rPr lang="pt-BR" sz="1600" b="0" i="1" spc="-25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600" b="0" i="1" spc="-25" dirty="0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pt-BR" sz="1600" b="0" i="1" spc="-25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d>
                            <m:dPr>
                              <m:ctrlPr>
                                <a:rPr lang="pt-BR" sz="1600" b="0" i="1" spc="-25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1600" b="1" i="1" spc="-25" dirty="0" smtClean="0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  <m:d>
                                <m:dPr>
                                  <m:ctrlPr>
                                    <a:rPr lang="pt-BR" sz="1600" b="0" i="1" spc="-25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1600" b="0" i="1" spc="-25" dirty="0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e>
                          </m:d>
                        </m:e>
                      </m:nary>
                    </m:oMath>
                  </a14:m>
                  <a:r>
                    <a:rPr lang="pt-BR" sz="1600" spc="-25" dirty="0">
                      <a:latin typeface="Calibri"/>
                      <a:cs typeface="Calibri"/>
                    </a:rPr>
                    <a:t>.</a:t>
                  </a:r>
                  <a:endParaRPr lang="pt-BR" sz="1600" dirty="0">
                    <a:latin typeface="Calibri"/>
                    <a:cs typeface="Calibri"/>
                  </a:endParaRPr>
                </a:p>
                <a:p>
                  <a:pPr marL="286385" indent="-287020">
                    <a:lnSpc>
                      <a:spcPct val="100000"/>
                    </a:lnSpc>
                    <a:spcBef>
                      <a:spcPts val="155"/>
                    </a:spcBef>
                    <a:buFont typeface="Courier New"/>
                    <a:buChar char="o"/>
                    <a:tabLst>
                      <a:tab pos="287020" algn="l"/>
                      <a:tab pos="1674495" algn="l"/>
                    </a:tabLst>
                  </a:pPr>
                  <a14:m>
                    <m:oMath xmlns:m="http://schemas.openxmlformats.org/officeDocument/2006/math">
                      <m:r>
                        <a:rPr lang="pt-BR" sz="1600" b="0" i="1" dirty="0" smtClean="0">
                          <a:latin typeface="Cambria Math" panose="02040503050406030204" pitchFamily="18" charset="0"/>
                          <a:cs typeface="Cambria Math"/>
                        </a:rPr>
                        <m:t>𝑘</m:t>
                      </m:r>
                      <m:r>
                        <a:rPr lang="pt-BR" sz="1600" b="0" i="1" dirty="0" smtClean="0">
                          <a:latin typeface="Cambria Math" panose="02040503050406030204" pitchFamily="18" charset="0"/>
                          <a:cs typeface="Cambria Math"/>
                        </a:rPr>
                        <m:t>=</m:t>
                      </m:r>
                      <m:r>
                        <a:rPr lang="pt-BR" sz="1600" b="0" i="1" dirty="0" smtClean="0">
                          <a:latin typeface="Cambria Math" panose="02040503050406030204" pitchFamily="18" charset="0"/>
                          <a:cs typeface="Cambria Math"/>
                        </a:rPr>
                        <m:t>𝑘</m:t>
                      </m:r>
                      <m:r>
                        <a:rPr lang="pt-BR" sz="1600" b="0" i="1" dirty="0" smtClean="0">
                          <a:latin typeface="Cambria Math" panose="02040503050406030204" pitchFamily="18" charset="0"/>
                          <a:cs typeface="Cambria Math"/>
                        </a:rPr>
                        <m:t>+</m:t>
                      </m:r>
                      <m:r>
                        <a:rPr lang="pt-BR" sz="1600" b="0" i="1" dirty="0" smtClean="0">
                          <a:latin typeface="Cambria Math" panose="02040503050406030204" pitchFamily="18" charset="0"/>
                          <a:cs typeface="Cambria Math"/>
                        </a:rPr>
                        <m:t>1</m:t>
                      </m:r>
                      <m:r>
                        <a:rPr lang="pt-BR" sz="1600" b="0" i="1" dirty="0" smtClean="0">
                          <a:latin typeface="Cambria Math" panose="02040503050406030204" pitchFamily="18" charset="0"/>
                          <a:cs typeface="Cambria Math"/>
                        </a:rPr>
                        <m:t>	</m:t>
                      </m:r>
                    </m:oMath>
                  </a14:m>
                  <a:r>
                    <a:rPr lang="pt-BR" sz="1600" spc="-50" dirty="0">
                      <a:latin typeface="Calibri"/>
                      <a:cs typeface="Calibri"/>
                    </a:rPr>
                    <a:t>.</a:t>
                  </a:r>
                </a:p>
                <a:p>
                  <a:pPr marL="286385" indent="-287020">
                    <a:lnSpc>
                      <a:spcPct val="100000"/>
                    </a:lnSpc>
                    <a:spcBef>
                      <a:spcPts val="155"/>
                    </a:spcBef>
                    <a:buFont typeface="Courier New"/>
                    <a:buChar char="o"/>
                    <a:tabLst>
                      <a:tab pos="287020" algn="l"/>
                      <a:tab pos="1674495" algn="l"/>
                    </a:tabLst>
                  </a:pPr>
                  <a:r>
                    <a:rPr lang="pt-BR" sz="1600" spc="-50" dirty="0">
                      <a:latin typeface="Calibri"/>
                      <a:cs typeface="Calibri"/>
                    </a:rPr>
                    <a:t>Calcule </a:t>
                  </a:r>
                  <a14:m>
                    <m:oMath xmlns:m="http://schemas.openxmlformats.org/officeDocument/2006/math">
                      <m:r>
                        <a:rPr lang="pt-BR" sz="1600" b="0" i="1" spc="-50" smtClean="0">
                          <a:latin typeface="Cambria Math" panose="02040503050406030204" pitchFamily="18" charset="0"/>
                          <a:cs typeface="Calibri"/>
                        </a:rPr>
                        <m:t>𝐽</m:t>
                      </m:r>
                      <m:d>
                        <m:dPr>
                          <m:ctrlPr>
                            <a:rPr lang="pt-BR" sz="1600" b="0" i="1" spc="-50" smtClean="0"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dPr>
                        <m:e>
                          <m:r>
                            <a:rPr lang="pt-BR" sz="1600" b="1" i="1" spc="-50" smtClean="0">
                              <a:latin typeface="Cambria Math" panose="02040503050406030204" pitchFamily="18" charset="0"/>
                              <a:cs typeface="Calibri"/>
                            </a:rPr>
                            <m:t>𝑾</m:t>
                          </m:r>
                          <m:d>
                            <m:dPr>
                              <m:ctrlPr>
                                <a:rPr lang="pt-BR" sz="1600" b="0" i="1" spc="-50" smtClean="0">
                                  <a:latin typeface="Cambria Math" panose="02040503050406030204" pitchFamily="18" charset="0"/>
                                  <a:cs typeface="Calibri"/>
                                </a:rPr>
                              </m:ctrlPr>
                            </m:dPr>
                            <m:e>
                              <m:r>
                                <a:rPr lang="pt-BR" sz="1600" b="0" i="1" spc="-50" smtClean="0">
                                  <a:latin typeface="Cambria Math" panose="02040503050406030204" pitchFamily="18" charset="0"/>
                                  <a:cs typeface="Calibri"/>
                                </a:rPr>
                                <m:t>𝑘</m:t>
                              </m:r>
                            </m:e>
                          </m:d>
                        </m:e>
                      </m:d>
                    </m:oMath>
                  </a14:m>
                  <a:endParaRPr sz="1600" dirty="0">
                    <a:latin typeface="Calibri"/>
                    <a:cs typeface="Calibri"/>
                  </a:endParaRPr>
                </a:p>
              </p:txBody>
            </p:sp>
          </mc:Choice>
          <mc:Fallback xmlns="">
            <p:sp>
              <p:nvSpPr>
                <p:cNvPr id="15" name="object 22">
                  <a:extLst>
                    <a:ext uri="{FF2B5EF4-FFF2-40B4-BE49-F238E27FC236}">
                      <a16:creationId xmlns:a16="http://schemas.microsoft.com/office/drawing/2014/main" id="{5F85405D-AB77-CABD-327A-3A549E6438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29542" y="5634537"/>
                  <a:ext cx="5061858" cy="936346"/>
                </a:xfrm>
                <a:prstGeom prst="rect">
                  <a:avLst/>
                </a:prstGeom>
                <a:blipFill>
                  <a:blip r:embed="rId4"/>
                  <a:stretch>
                    <a:fillRect l="-2407" t="-37013" b="-11039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129032"/>
            <a:ext cx="12192000" cy="814324"/>
          </a:xfrm>
          <a:prstGeom prst="rect">
            <a:avLst/>
          </a:prstGeom>
        </p:spPr>
        <p:txBody>
          <a:bodyPr vert="horz" wrap="square" lIns="0" tIns="196849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0"/>
              </a:spcBef>
            </a:pPr>
            <a:r>
              <a:rPr dirty="0"/>
              <a:t>Algumas</a:t>
            </a:r>
            <a:r>
              <a:rPr spc="-55" dirty="0"/>
              <a:t> </a:t>
            </a:r>
            <a:r>
              <a:rPr dirty="0"/>
              <a:t>visões</a:t>
            </a:r>
            <a:r>
              <a:rPr spc="-40" dirty="0"/>
              <a:t> </a:t>
            </a:r>
            <a:r>
              <a:rPr dirty="0"/>
              <a:t>práticas</a:t>
            </a:r>
            <a:r>
              <a:rPr spc="-40" dirty="0"/>
              <a:t> </a:t>
            </a:r>
            <a:r>
              <a:rPr dirty="0"/>
              <a:t>de</a:t>
            </a:r>
            <a:r>
              <a:rPr spc="-45" dirty="0"/>
              <a:t> </a:t>
            </a:r>
            <a:r>
              <a:rPr dirty="0"/>
              <a:t>algoritmos</a:t>
            </a:r>
            <a:r>
              <a:rPr spc="-40" dirty="0"/>
              <a:t> </a:t>
            </a:r>
            <a:r>
              <a:rPr spc="-25" dirty="0"/>
              <a:t>de </a:t>
            </a:r>
            <a:r>
              <a:rPr spc="-10" dirty="0"/>
              <a:t>aprendizado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64869" y="990600"/>
            <a:ext cx="11265535" cy="2638158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264160">
              <a:lnSpc>
                <a:spcPct val="100000"/>
              </a:lnSpc>
              <a:spcBef>
                <a:spcPts val="305"/>
              </a:spcBef>
            </a:pPr>
            <a:r>
              <a:rPr sz="2200" b="1" spc="-20" dirty="0">
                <a:latin typeface="Calibri"/>
                <a:cs typeface="Calibri"/>
              </a:rPr>
              <a:t>Versões</a:t>
            </a:r>
            <a:r>
              <a:rPr sz="2200" b="1" spc="-6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Online,</a:t>
            </a:r>
            <a:r>
              <a:rPr sz="2200" b="1" spc="-8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Batch</a:t>
            </a:r>
            <a:r>
              <a:rPr sz="2200" b="1" spc="-5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e</a:t>
            </a:r>
            <a:r>
              <a:rPr sz="2200" b="1" spc="-75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Minibatch</a:t>
            </a:r>
            <a:endParaRPr sz="2200" dirty="0">
              <a:latin typeface="Calibri"/>
              <a:cs typeface="Calibri"/>
            </a:endParaRPr>
          </a:p>
          <a:p>
            <a:pPr marL="492759" indent="-229235">
              <a:lnSpc>
                <a:spcPts val="2245"/>
              </a:lnSpc>
              <a:spcBef>
                <a:spcPts val="200"/>
              </a:spcBef>
              <a:buFont typeface="Arial"/>
              <a:buChar char="•"/>
              <a:tabLst>
                <a:tab pos="492759" algn="l"/>
                <a:tab pos="493395" algn="l"/>
              </a:tabLst>
            </a:pPr>
            <a:r>
              <a:rPr sz="2200" dirty="0">
                <a:latin typeface="Calibri"/>
                <a:cs typeface="Calibri"/>
              </a:rPr>
              <a:t>Nas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redes</a:t>
            </a:r>
            <a:r>
              <a:rPr sz="2200" b="1" i="1" spc="-6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neurais</a:t>
            </a:r>
            <a:r>
              <a:rPr sz="2200" b="1" i="1" spc="-7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profundas</a:t>
            </a:r>
            <a:r>
              <a:rPr sz="2200" b="1" i="1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(ou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deep</a:t>
            </a:r>
            <a:r>
              <a:rPr sz="2200" b="1" i="1" spc="-6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learning</a:t>
            </a:r>
            <a:r>
              <a:rPr sz="2200" dirty="0">
                <a:latin typeface="Calibri"/>
                <a:cs typeface="Calibri"/>
              </a:rPr>
              <a:t>),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usadas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com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muita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frequência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em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problemas</a:t>
            </a:r>
            <a:endParaRPr sz="2200" dirty="0">
              <a:latin typeface="Calibri"/>
              <a:cs typeface="Calibri"/>
            </a:endParaRPr>
          </a:p>
          <a:p>
            <a:pPr marL="492759">
              <a:lnSpc>
                <a:spcPts val="1850"/>
              </a:lnSpc>
            </a:pPr>
            <a:r>
              <a:rPr sz="2200" dirty="0">
                <a:latin typeface="Calibri"/>
                <a:cs typeface="Calibri"/>
              </a:rPr>
              <a:t>com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enormes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conjuntos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dados,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regra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é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adotar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caminho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do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meio,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usando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abordagem</a:t>
            </a:r>
            <a:endParaRPr sz="2200" dirty="0">
              <a:latin typeface="Calibri"/>
              <a:cs typeface="Calibri"/>
            </a:endParaRPr>
          </a:p>
          <a:p>
            <a:pPr marL="492759">
              <a:lnSpc>
                <a:spcPts val="2245"/>
              </a:lnSpc>
            </a:pPr>
            <a:r>
              <a:rPr sz="2200" dirty="0">
                <a:latin typeface="Calibri"/>
                <a:cs typeface="Calibri"/>
              </a:rPr>
              <a:t>com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b="1" i="1" spc="-20" dirty="0">
                <a:latin typeface="Calibri"/>
                <a:cs typeface="Calibri"/>
              </a:rPr>
              <a:t>mini-</a:t>
            </a:r>
            <a:r>
              <a:rPr sz="2200" b="1" i="1" spc="-10" dirty="0">
                <a:latin typeface="Calibri"/>
                <a:cs typeface="Calibri"/>
              </a:rPr>
              <a:t>batches</a:t>
            </a:r>
            <a:r>
              <a:rPr sz="2200" spc="-10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492759" indent="-229235">
              <a:lnSpc>
                <a:spcPts val="2245"/>
              </a:lnSpc>
              <a:spcBef>
                <a:spcPts val="204"/>
              </a:spcBef>
              <a:buFont typeface="Arial"/>
              <a:buChar char="•"/>
              <a:tabLst>
                <a:tab pos="492759" algn="l"/>
                <a:tab pos="493395" algn="l"/>
              </a:tabLst>
            </a:pPr>
            <a:r>
              <a:rPr sz="2200" dirty="0">
                <a:latin typeface="Calibri"/>
                <a:cs typeface="Calibri"/>
              </a:rPr>
              <a:t>Nesse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caso,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adaptação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dos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pesos</a:t>
            </a:r>
            <a:r>
              <a:rPr sz="2200" b="1" i="1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é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realizada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com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um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gradiente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calculado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partir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um</a:t>
            </a:r>
            <a:endParaRPr sz="2200" dirty="0">
              <a:latin typeface="Calibri"/>
              <a:cs typeface="Calibri"/>
            </a:endParaRPr>
          </a:p>
          <a:p>
            <a:pPr marL="492759" marR="807085">
              <a:lnSpc>
                <a:spcPct val="70000"/>
              </a:lnSpc>
              <a:spcBef>
                <a:spcPts val="395"/>
              </a:spcBef>
            </a:pPr>
            <a:r>
              <a:rPr sz="2200" spc="-20" dirty="0">
                <a:latin typeface="Calibri"/>
                <a:cs typeface="Calibri"/>
              </a:rPr>
              <a:t>meio-</a:t>
            </a:r>
            <a:r>
              <a:rPr sz="2200" dirty="0">
                <a:latin typeface="Calibri"/>
                <a:cs typeface="Calibri"/>
              </a:rPr>
              <a:t>termo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entre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um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exemplo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número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total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exemplos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(em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geral,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este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é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um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valor relativamente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pequeno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em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métodos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10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primeira</a:t>
            </a:r>
            <a:r>
              <a:rPr sz="2200" b="1" i="1" spc="-85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ordem</a:t>
            </a:r>
            <a:r>
              <a:rPr sz="2200" spc="-10" dirty="0">
                <a:latin typeface="Calibri"/>
                <a:cs typeface="Calibri"/>
              </a:rPr>
              <a:t>).</a:t>
            </a:r>
            <a:endParaRPr sz="2200" dirty="0">
              <a:latin typeface="Calibri"/>
              <a:cs typeface="Calibri"/>
            </a:endParaRPr>
          </a:p>
          <a:p>
            <a:pPr marL="492759" indent="-229235">
              <a:lnSpc>
                <a:spcPts val="2245"/>
              </a:lnSpc>
              <a:spcBef>
                <a:spcPts val="219"/>
              </a:spcBef>
              <a:buFont typeface="Arial"/>
              <a:buChar char="•"/>
              <a:tabLst>
                <a:tab pos="492759" algn="l"/>
                <a:tab pos="493395" algn="l"/>
              </a:tabLst>
            </a:pPr>
            <a:r>
              <a:rPr sz="2200" b="1" dirty="0">
                <a:latin typeface="Calibri"/>
                <a:cs typeface="Calibri"/>
              </a:rPr>
              <a:t>OBS</a:t>
            </a:r>
            <a:r>
              <a:rPr sz="2200" dirty="0">
                <a:latin typeface="Calibri"/>
                <a:cs typeface="Calibri"/>
              </a:rPr>
              <a:t>.: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amostras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que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compõem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um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b="1" i="1" spc="-20" dirty="0">
                <a:latin typeface="Calibri"/>
                <a:cs typeface="Calibri"/>
              </a:rPr>
              <a:t>mini-</a:t>
            </a:r>
            <a:r>
              <a:rPr sz="2200" b="1" i="1" dirty="0">
                <a:latin typeface="Calibri"/>
                <a:cs typeface="Calibri"/>
              </a:rPr>
              <a:t>batch</a:t>
            </a:r>
            <a:r>
              <a:rPr sz="2200" b="1" i="1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são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aleatoriamente</a:t>
            </a:r>
            <a:r>
              <a:rPr sz="2200" b="1" i="1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tomadas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do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conjunto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de</a:t>
            </a:r>
            <a:endParaRPr sz="2200" dirty="0">
              <a:latin typeface="Calibri"/>
              <a:cs typeface="Calibri"/>
            </a:endParaRPr>
          </a:p>
          <a:p>
            <a:pPr marL="492759">
              <a:lnSpc>
                <a:spcPts val="2245"/>
              </a:lnSpc>
            </a:pPr>
            <a:r>
              <a:rPr sz="2200" dirty="0">
                <a:latin typeface="Calibri"/>
                <a:cs typeface="Calibri"/>
              </a:rPr>
              <a:t>dados.</a:t>
            </a:r>
            <a:r>
              <a:rPr sz="2200" spc="-9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algoritmo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abaixo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ilustra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spc="-10" dirty="0" err="1">
                <a:latin typeface="Calibri"/>
                <a:cs typeface="Calibri"/>
              </a:rPr>
              <a:t>isso</a:t>
            </a:r>
            <a:r>
              <a:rPr sz="2200" spc="-10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4" name="object 5">
            <a:extLst>
              <a:ext uri="{FF2B5EF4-FFF2-40B4-BE49-F238E27FC236}">
                <a16:creationId xmlns:a16="http://schemas.microsoft.com/office/drawing/2014/main" id="{065F563E-DE28-D45D-F243-DA8F678DA04A}"/>
              </a:ext>
            </a:extLst>
          </p:cNvPr>
          <p:cNvSpPr/>
          <p:nvPr/>
        </p:nvSpPr>
        <p:spPr>
          <a:xfrm>
            <a:off x="628583" y="3810000"/>
            <a:ext cx="11168405" cy="2669896"/>
          </a:xfrm>
          <a:custGeom>
            <a:avLst/>
            <a:gdLst/>
            <a:ahLst/>
            <a:cxnLst/>
            <a:rect l="l" t="t" r="r" b="b"/>
            <a:pathLst>
              <a:path w="7877809" h="2927984">
                <a:moveTo>
                  <a:pt x="0" y="2927604"/>
                </a:moveTo>
                <a:lnTo>
                  <a:pt x="7877556" y="2927604"/>
                </a:lnTo>
                <a:lnTo>
                  <a:pt x="7877556" y="0"/>
                </a:lnTo>
                <a:lnTo>
                  <a:pt x="0" y="0"/>
                </a:lnTo>
                <a:lnTo>
                  <a:pt x="0" y="2927604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8">
                <a:extLst>
                  <a:ext uri="{FF2B5EF4-FFF2-40B4-BE49-F238E27FC236}">
                    <a16:creationId xmlns:a16="http://schemas.microsoft.com/office/drawing/2014/main" id="{39075C36-3B55-1305-F207-B9906A64E0A6}"/>
                  </a:ext>
                </a:extLst>
              </p:cNvPr>
              <p:cNvSpPr txBox="1"/>
              <p:nvPr/>
            </p:nvSpPr>
            <p:spPr>
              <a:xfrm>
                <a:off x="735263" y="3817032"/>
                <a:ext cx="10406382" cy="1087797"/>
              </a:xfrm>
              <a:prstGeom prst="rect">
                <a:avLst/>
              </a:prstGeom>
            </p:spPr>
            <p:txBody>
              <a:bodyPr vert="horz" wrap="square" lIns="0" tIns="32384" rIns="0" bIns="0" rtlCol="0">
                <a:spAutoFit/>
              </a:bodyPr>
              <a:lstStyle/>
              <a:p>
                <a:pPr marL="286385" indent="-287020">
                  <a:lnSpc>
                    <a:spcPct val="100000"/>
                  </a:lnSpc>
                  <a:spcBef>
                    <a:spcPts val="254"/>
                  </a:spcBef>
                  <a:buFont typeface="Wingdings"/>
                  <a:buChar char=""/>
                  <a:tabLst>
                    <a:tab pos="287020" algn="l"/>
                  </a:tabLst>
                </a:pPr>
                <a:r>
                  <a:rPr lang="pt-BR" sz="1600" dirty="0">
                    <a:latin typeface="Calibri"/>
                    <a:cs typeface="Calibri"/>
                  </a:rPr>
                  <a:t>Defina</a:t>
                </a:r>
                <a:r>
                  <a:rPr lang="pt-BR" sz="1600" spc="-45" dirty="0">
                    <a:latin typeface="Calibri"/>
                    <a:cs typeface="Calibri"/>
                  </a:rPr>
                  <a:t> </a:t>
                </a:r>
                <a:r>
                  <a:rPr lang="pt-BR" sz="1600" spc="-10" dirty="0">
                    <a:latin typeface="Calibri"/>
                    <a:cs typeface="Calibri"/>
                  </a:rPr>
                  <a:t>valores</a:t>
                </a:r>
                <a:r>
                  <a:rPr lang="pt-BR" sz="1600" spc="-25" dirty="0">
                    <a:latin typeface="Calibri"/>
                    <a:cs typeface="Calibri"/>
                  </a:rPr>
                  <a:t> </a:t>
                </a:r>
                <a:r>
                  <a:rPr lang="pt-BR" sz="1600" dirty="0">
                    <a:latin typeface="Calibri"/>
                    <a:cs typeface="Calibri"/>
                  </a:rPr>
                  <a:t>iniciais</a:t>
                </a:r>
                <a:r>
                  <a:rPr lang="pt-BR" sz="1600" spc="-70" dirty="0">
                    <a:latin typeface="Calibri"/>
                    <a:cs typeface="Calibri"/>
                  </a:rPr>
                  <a:t> </a:t>
                </a:r>
                <a:r>
                  <a:rPr lang="pt-BR" sz="1600" dirty="0">
                    <a:latin typeface="Calibri"/>
                    <a:cs typeface="Calibri"/>
                  </a:rPr>
                  <a:t>para</a:t>
                </a:r>
                <a:r>
                  <a:rPr lang="pt-BR" sz="1600" spc="-40" dirty="0">
                    <a:latin typeface="Calibri"/>
                    <a:cs typeface="Calibri"/>
                  </a:rPr>
                  <a:t> </a:t>
                </a:r>
                <a:r>
                  <a:rPr lang="pt-BR" sz="1600" dirty="0">
                    <a:latin typeface="Calibri"/>
                    <a:cs typeface="Calibri"/>
                  </a:rPr>
                  <a:t>a</a:t>
                </a:r>
                <a:r>
                  <a:rPr lang="pt-BR" sz="1600" spc="-40" dirty="0">
                    <a:latin typeface="Calibri"/>
                    <a:cs typeface="Calibri"/>
                  </a:rPr>
                  <a:t> </a:t>
                </a:r>
                <a:r>
                  <a:rPr lang="pt-BR" sz="1600" dirty="0">
                    <a:latin typeface="Calibri"/>
                    <a:cs typeface="Calibri"/>
                  </a:rPr>
                  <a:t>matriz</a:t>
                </a:r>
                <a:r>
                  <a:rPr lang="pt-BR" sz="1600" spc="-35" dirty="0">
                    <a:latin typeface="Calibri"/>
                    <a:cs typeface="Calibri"/>
                  </a:rPr>
                  <a:t> </a:t>
                </a:r>
                <a:r>
                  <a:rPr lang="pt-BR" sz="1600" dirty="0">
                    <a:latin typeface="Calibri"/>
                    <a:cs typeface="Calibri"/>
                  </a:rPr>
                  <a:t>de</a:t>
                </a:r>
                <a:r>
                  <a:rPr lang="pt-BR" sz="1600" spc="-40" dirty="0">
                    <a:latin typeface="Calibri"/>
                    <a:cs typeface="Calibri"/>
                  </a:rPr>
                  <a:t> </a:t>
                </a:r>
                <a:r>
                  <a:rPr lang="pt-BR" sz="1600" dirty="0">
                    <a:latin typeface="Calibri"/>
                    <a:cs typeface="Calibri"/>
                  </a:rPr>
                  <a:t>pesos</a:t>
                </a:r>
                <a:r>
                  <a:rPr lang="pt-BR" sz="1600" spc="15" dirty="0">
                    <a:latin typeface="Calibri"/>
                    <a:cs typeface="Calibri"/>
                  </a:rPr>
                  <a:t> </a:t>
                </a:r>
                <a:r>
                  <a:rPr lang="pt-BR" sz="1600" dirty="0">
                    <a:latin typeface="Cambria Math"/>
                    <a:cs typeface="Cambria Math"/>
                  </a:rPr>
                  <a:t>𝑾</a:t>
                </a:r>
                <a:r>
                  <a:rPr lang="pt-BR" sz="1600" spc="-25" dirty="0">
                    <a:latin typeface="Cambria Math"/>
                    <a:cs typeface="Cambria Math"/>
                  </a:rPr>
                  <a:t> </a:t>
                </a:r>
                <a:r>
                  <a:rPr lang="pt-BR" sz="1600" dirty="0">
                    <a:latin typeface="Calibri"/>
                    <a:cs typeface="Calibri"/>
                  </a:rPr>
                  <a:t>e</a:t>
                </a:r>
                <a:r>
                  <a:rPr lang="pt-BR" sz="1600" spc="-30" dirty="0">
                    <a:latin typeface="Calibri"/>
                    <a:cs typeface="Calibri"/>
                  </a:rPr>
                  <a:t> </a:t>
                </a:r>
                <a:r>
                  <a:rPr lang="pt-BR" sz="1600" dirty="0">
                    <a:latin typeface="Calibri"/>
                    <a:cs typeface="Calibri"/>
                  </a:rPr>
                  <a:t>um</a:t>
                </a:r>
                <a:r>
                  <a:rPr lang="pt-BR" sz="1600" spc="-40" dirty="0">
                    <a:latin typeface="Calibri"/>
                    <a:cs typeface="Calibri"/>
                  </a:rPr>
                  <a:t> </a:t>
                </a:r>
                <a:r>
                  <a:rPr lang="pt-BR" sz="1600" dirty="0">
                    <a:latin typeface="Calibri"/>
                    <a:cs typeface="Calibri"/>
                  </a:rPr>
                  <a:t>passo</a:t>
                </a:r>
                <a:r>
                  <a:rPr lang="pt-BR" sz="1600" spc="-30" dirty="0">
                    <a:latin typeface="Calibri"/>
                    <a:cs typeface="Calibri"/>
                  </a:rPr>
                  <a:t> </a:t>
                </a:r>
                <a:r>
                  <a:rPr lang="pt-BR" sz="1600" dirty="0">
                    <a:latin typeface="Calibri"/>
                    <a:cs typeface="Calibri"/>
                  </a:rPr>
                  <a:t>de</a:t>
                </a:r>
                <a:r>
                  <a:rPr lang="pt-BR" sz="1600" spc="-30" dirty="0">
                    <a:latin typeface="Calibri"/>
                    <a:cs typeface="Calibri"/>
                  </a:rPr>
                  <a:t> </a:t>
                </a:r>
                <a:r>
                  <a:rPr lang="pt-BR" sz="1600" spc="-10" dirty="0">
                    <a:latin typeface="Calibri"/>
                    <a:cs typeface="Calibri"/>
                  </a:rPr>
                  <a:t>aprendizagem</a:t>
                </a:r>
                <a:r>
                  <a:rPr lang="pt-BR" sz="1600" spc="-40" dirty="0">
                    <a:latin typeface="Calibri"/>
                    <a:cs typeface="Calibri"/>
                  </a:rPr>
                  <a:t> </a:t>
                </a:r>
                <a:r>
                  <a:rPr lang="pt-BR" sz="1600" dirty="0">
                    <a:latin typeface="Cambria Math"/>
                    <a:cs typeface="Cambria Math"/>
                  </a:rPr>
                  <a:t>𝛼</a:t>
                </a:r>
                <a:r>
                  <a:rPr lang="pt-BR" sz="1600" spc="25" dirty="0">
                    <a:latin typeface="Cambria Math"/>
                    <a:cs typeface="Cambria Math"/>
                  </a:rPr>
                  <a:t> </a:t>
                </a:r>
                <a:r>
                  <a:rPr lang="pt-BR" sz="1600" spc="-10" dirty="0">
                    <a:latin typeface="Calibri"/>
                    <a:cs typeface="Calibri"/>
                  </a:rPr>
                  <a:t>pequeno e o tamanho, </a:t>
                </a:r>
                <a14:m>
                  <m:oMath xmlns:m="http://schemas.openxmlformats.org/officeDocument/2006/math">
                    <m:r>
                      <a:rPr lang="pt-BR" sz="1600" b="0" i="1" spc="-10" smtClean="0">
                        <a:latin typeface="Cambria Math" panose="02040503050406030204" pitchFamily="18" charset="0"/>
                        <a:cs typeface="Calibri"/>
                      </a:rPr>
                      <m:t>𝑚</m:t>
                    </m:r>
                  </m:oMath>
                </a14:m>
                <a:r>
                  <a:rPr lang="pt-BR" sz="1600" dirty="0">
                    <a:latin typeface="Calibri"/>
                    <a:cs typeface="Calibri"/>
                  </a:rPr>
                  <a:t>, do </a:t>
                </a:r>
                <a:r>
                  <a:rPr lang="pt-BR" sz="1600" dirty="0" err="1">
                    <a:latin typeface="Calibri"/>
                    <a:cs typeface="Calibri"/>
                  </a:rPr>
                  <a:t>mini-batch</a:t>
                </a:r>
                <a:endParaRPr lang="pt-BR" sz="1600" dirty="0">
                  <a:latin typeface="Calibri"/>
                  <a:cs typeface="Calibri"/>
                </a:endParaRPr>
              </a:p>
              <a:p>
                <a:pPr marL="286385" indent="-287020">
                  <a:lnSpc>
                    <a:spcPct val="100000"/>
                  </a:lnSpc>
                  <a:spcBef>
                    <a:spcPts val="155"/>
                  </a:spcBef>
                  <a:buFont typeface="Wingdings"/>
                  <a:buChar char=""/>
                  <a:tabLst>
                    <a:tab pos="287020" algn="l"/>
                    <a:tab pos="4980940" algn="l"/>
                  </a:tabLst>
                </a:pPr>
                <a:r>
                  <a:rPr lang="pt-BR" sz="1600" spc="-10" dirty="0">
                    <a:latin typeface="Calibri"/>
                    <a:cs typeface="Calibri"/>
                  </a:rPr>
                  <a:t>Faça</a:t>
                </a:r>
                <a:r>
                  <a:rPr lang="pt-BR" sz="1600" spc="-25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pt-BR" sz="1600" i="1" dirty="0" smtClean="0">
                        <a:latin typeface="Cambria Math" panose="02040503050406030204" pitchFamily="18" charset="0"/>
                        <a:cs typeface="Cambria Math"/>
                      </a:rPr>
                      <m:t>𝑘</m:t>
                    </m:r>
                    <m:r>
                      <a:rPr lang="pt-BR" sz="1600" b="0" i="1" dirty="0" smtClean="0">
                        <a:latin typeface="Cambria Math" panose="02040503050406030204" pitchFamily="18" charset="0"/>
                        <a:cs typeface="Cambria Math"/>
                      </a:rPr>
                      <m:t>=</m:t>
                    </m:r>
                    <m:r>
                      <a:rPr lang="pt-BR" sz="1600" i="1" dirty="0">
                        <a:latin typeface="Cambria Math" panose="02040503050406030204" pitchFamily="18" charset="0"/>
                        <a:cs typeface="Cambria Math"/>
                      </a:rPr>
                      <m:t>0</m:t>
                    </m:r>
                    <m:r>
                      <a:rPr lang="pt-BR" sz="1600" i="1" spc="-10" dirty="0">
                        <a:latin typeface="Cambria Math" panose="02040503050406030204" pitchFamily="18" charset="0"/>
                        <a:cs typeface="Cambria Math"/>
                      </a:rPr>
                      <m:t> </m:t>
                    </m:r>
                  </m:oMath>
                </a14:m>
                <a:r>
                  <a:rPr lang="pt-BR" sz="1600" dirty="0">
                    <a:latin typeface="Calibri"/>
                    <a:cs typeface="Calibri"/>
                  </a:rPr>
                  <a:t>(épocas) e</a:t>
                </a:r>
                <a:r>
                  <a:rPr lang="pt-BR" sz="1600" spc="-15" dirty="0">
                    <a:latin typeface="Calibri"/>
                    <a:cs typeface="Calibri"/>
                  </a:rPr>
                  <a:t> </a:t>
                </a:r>
                <a:r>
                  <a:rPr lang="pt-BR" sz="1600" dirty="0">
                    <a:latin typeface="Calibri"/>
                    <a:cs typeface="Calibri"/>
                  </a:rPr>
                  <a:t>calcule</a:t>
                </a:r>
                <a:r>
                  <a:rPr lang="pt-BR" sz="1600" spc="-30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pt-BR" sz="1600" i="1" dirty="0" smtClean="0">
                        <a:latin typeface="Cambria Math" panose="02040503050406030204" pitchFamily="18" charset="0"/>
                        <a:cs typeface="Cambria Math"/>
                      </a:rPr>
                      <m:t>𝐽</m:t>
                    </m:r>
                    <m:d>
                      <m:dPr>
                        <m:ctrlPr>
                          <a:rPr lang="pt-BR" sz="1600" b="0" i="1" dirty="0" smtClean="0">
                            <a:latin typeface="Cambria Math" panose="02040503050406030204" pitchFamily="18" charset="0"/>
                            <a:cs typeface="Cambria Math"/>
                          </a:rPr>
                        </m:ctrlPr>
                      </m:dPr>
                      <m:e>
                        <m:r>
                          <a:rPr lang="pt-BR" sz="1600" i="1" dirty="0" smtClean="0">
                            <a:latin typeface="Cambria Math" panose="02040503050406030204" pitchFamily="18" charset="0"/>
                            <a:cs typeface="Cambria Math"/>
                          </a:rPr>
                          <m:t>𝑾</m:t>
                        </m:r>
                        <m:d>
                          <m:dPr>
                            <m:ctrlPr>
                              <a:rPr lang="pt-BR" sz="1600" i="1" spc="270" dirty="0" smtClean="0">
                                <a:latin typeface="Cambria Math" panose="02040503050406030204" pitchFamily="18" charset="0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pt-BR" sz="1600" i="1" spc="-50" dirty="0" smtClean="0">
                                <a:latin typeface="Cambria Math" panose="02040503050406030204" pitchFamily="18" charset="0"/>
                                <a:cs typeface="Cambria Math"/>
                              </a:rPr>
                              <m:t>𝑘</m:t>
                            </m:r>
                          </m:e>
                        </m:d>
                      </m:e>
                    </m:d>
                  </m:oMath>
                </a14:m>
                <a:r>
                  <a:rPr lang="pt-BR" sz="1600" dirty="0">
                    <a:latin typeface="Cambria Math"/>
                    <a:cs typeface="Cambria Math"/>
                  </a:rPr>
                  <a:t>	</a:t>
                </a:r>
                <a:r>
                  <a:rPr lang="pt-BR" sz="1600" spc="-50" dirty="0">
                    <a:latin typeface="Calibri"/>
                    <a:cs typeface="Calibri"/>
                  </a:rPr>
                  <a:t>.</a:t>
                </a:r>
                <a:endParaRPr lang="pt-BR" sz="1600" dirty="0">
                  <a:latin typeface="Calibri"/>
                  <a:cs typeface="Calibri"/>
                </a:endParaRPr>
              </a:p>
              <a:p>
                <a:pPr marL="286385" indent="-287020">
                  <a:lnSpc>
                    <a:spcPct val="100000"/>
                  </a:lnSpc>
                  <a:spcBef>
                    <a:spcPts val="85"/>
                  </a:spcBef>
                  <a:buFont typeface="Wingdings"/>
                  <a:buChar char=""/>
                  <a:tabLst>
                    <a:tab pos="287020" algn="l"/>
                  </a:tabLst>
                </a:pPr>
                <a:r>
                  <a:rPr lang="pt-BR" sz="1600" spc="-10" dirty="0">
                    <a:latin typeface="Calibri"/>
                    <a:cs typeface="Calibri"/>
                  </a:rPr>
                  <a:t>Enquanto</a:t>
                </a:r>
                <a:r>
                  <a:rPr lang="pt-BR" sz="1600" spc="-40" dirty="0">
                    <a:latin typeface="Calibri"/>
                    <a:cs typeface="Calibri"/>
                  </a:rPr>
                  <a:t> </a:t>
                </a:r>
                <a:r>
                  <a:rPr lang="pt-BR" sz="1600" dirty="0">
                    <a:latin typeface="Calibri"/>
                    <a:cs typeface="Calibri"/>
                  </a:rPr>
                  <a:t>o</a:t>
                </a:r>
                <a:r>
                  <a:rPr lang="pt-BR" sz="1600" spc="-35" dirty="0">
                    <a:latin typeface="Calibri"/>
                    <a:cs typeface="Calibri"/>
                  </a:rPr>
                  <a:t> </a:t>
                </a:r>
                <a:r>
                  <a:rPr lang="pt-BR" sz="1600" dirty="0">
                    <a:latin typeface="Calibri"/>
                    <a:cs typeface="Calibri"/>
                  </a:rPr>
                  <a:t>critério</a:t>
                </a:r>
                <a:r>
                  <a:rPr lang="pt-BR" sz="1600" spc="-30" dirty="0">
                    <a:latin typeface="Calibri"/>
                    <a:cs typeface="Calibri"/>
                  </a:rPr>
                  <a:t> </a:t>
                </a:r>
                <a:r>
                  <a:rPr lang="pt-BR" sz="1600" dirty="0">
                    <a:latin typeface="Calibri"/>
                    <a:cs typeface="Calibri"/>
                  </a:rPr>
                  <a:t>de</a:t>
                </a:r>
                <a:r>
                  <a:rPr lang="pt-BR" sz="1600" spc="-30" dirty="0">
                    <a:latin typeface="Calibri"/>
                    <a:cs typeface="Calibri"/>
                  </a:rPr>
                  <a:t> </a:t>
                </a:r>
                <a:r>
                  <a:rPr lang="pt-BR" sz="1600" spc="-10" dirty="0">
                    <a:latin typeface="Calibri"/>
                    <a:cs typeface="Calibri"/>
                  </a:rPr>
                  <a:t>parada</a:t>
                </a:r>
                <a:r>
                  <a:rPr lang="pt-BR" sz="1600" spc="-45" dirty="0">
                    <a:latin typeface="Calibri"/>
                    <a:cs typeface="Calibri"/>
                  </a:rPr>
                  <a:t> </a:t>
                </a:r>
                <a:r>
                  <a:rPr lang="pt-BR" sz="1600" dirty="0">
                    <a:latin typeface="Calibri"/>
                    <a:cs typeface="Calibri"/>
                  </a:rPr>
                  <a:t>não</a:t>
                </a:r>
                <a:r>
                  <a:rPr lang="pt-BR" sz="1600" spc="-30" dirty="0">
                    <a:latin typeface="Calibri"/>
                    <a:cs typeface="Calibri"/>
                  </a:rPr>
                  <a:t> </a:t>
                </a:r>
                <a:r>
                  <a:rPr lang="pt-BR" sz="1600" dirty="0">
                    <a:latin typeface="Calibri"/>
                    <a:cs typeface="Calibri"/>
                  </a:rPr>
                  <a:t>for</a:t>
                </a:r>
                <a:r>
                  <a:rPr lang="pt-BR" sz="1600" spc="-25" dirty="0">
                    <a:latin typeface="Calibri"/>
                    <a:cs typeface="Calibri"/>
                  </a:rPr>
                  <a:t> </a:t>
                </a:r>
                <a:r>
                  <a:rPr lang="pt-BR" sz="1600" spc="-10" dirty="0">
                    <a:latin typeface="Calibri"/>
                    <a:cs typeface="Calibri"/>
                  </a:rPr>
                  <a:t>atendido,</a:t>
                </a:r>
                <a:r>
                  <a:rPr lang="pt-BR" sz="1600" spc="-65" dirty="0">
                    <a:latin typeface="Calibri"/>
                    <a:cs typeface="Calibri"/>
                  </a:rPr>
                  <a:t> </a:t>
                </a:r>
                <a:r>
                  <a:rPr lang="pt-BR" sz="1600" spc="-10" dirty="0">
                    <a:latin typeface="Calibri"/>
                    <a:cs typeface="Calibri"/>
                  </a:rPr>
                  <a:t>faça:</a:t>
                </a:r>
                <a:endParaRPr lang="pt-BR" sz="1600" dirty="0">
                  <a:latin typeface="Calibri"/>
                  <a:cs typeface="Calibri"/>
                </a:endParaRPr>
              </a:p>
              <a:p>
                <a:pPr marL="743585" lvl="1" indent="-287020">
                  <a:lnSpc>
                    <a:spcPct val="100000"/>
                  </a:lnSpc>
                  <a:spcBef>
                    <a:spcPts val="10"/>
                  </a:spcBef>
                  <a:buFont typeface="Courier New"/>
                  <a:buChar char="o"/>
                  <a:tabLst>
                    <a:tab pos="744220" algn="l"/>
                  </a:tabLst>
                </a:pPr>
                <a:r>
                  <a:rPr lang="pt-BR" sz="1600" spc="-10" dirty="0">
                    <a:latin typeface="Calibri"/>
                    <a:cs typeface="Calibri"/>
                  </a:rPr>
                  <a:t>Para</a:t>
                </a:r>
                <a:r>
                  <a:rPr lang="pt-BR" sz="1600" spc="-30" dirty="0">
                    <a:latin typeface="Calibri"/>
                    <a:cs typeface="Calibri"/>
                  </a:rPr>
                  <a:t> </a:t>
                </a:r>
                <a:r>
                  <a:rPr lang="pt-BR" sz="1600" dirty="0">
                    <a:latin typeface="Cambria Math"/>
                    <a:cs typeface="Cambria Math"/>
                  </a:rPr>
                  <a:t>𝑛</a:t>
                </a:r>
                <a:r>
                  <a:rPr lang="pt-BR" sz="1600" spc="-10" dirty="0">
                    <a:latin typeface="Cambria Math"/>
                    <a:cs typeface="Cambria Math"/>
                  </a:rPr>
                  <a:t> </a:t>
                </a:r>
                <a:r>
                  <a:rPr lang="pt-BR" sz="1600" dirty="0">
                    <a:latin typeface="Calibri"/>
                    <a:cs typeface="Calibri"/>
                  </a:rPr>
                  <a:t>variando</a:t>
                </a:r>
                <a:r>
                  <a:rPr lang="pt-BR" sz="1600" spc="-20" dirty="0">
                    <a:latin typeface="Calibri"/>
                    <a:cs typeface="Calibri"/>
                  </a:rPr>
                  <a:t> </a:t>
                </a:r>
                <a:r>
                  <a:rPr lang="pt-BR" sz="1600" dirty="0">
                    <a:latin typeface="Calibri"/>
                    <a:cs typeface="Calibri"/>
                  </a:rPr>
                  <a:t>de</a:t>
                </a:r>
                <a:r>
                  <a:rPr lang="pt-BR" sz="1600" spc="-35" dirty="0">
                    <a:latin typeface="Calibri"/>
                    <a:cs typeface="Calibri"/>
                  </a:rPr>
                  <a:t> </a:t>
                </a:r>
                <a:r>
                  <a:rPr lang="pt-BR" sz="1600" dirty="0">
                    <a:latin typeface="Calibri"/>
                    <a:cs typeface="Calibri"/>
                  </a:rPr>
                  <a:t>1</a:t>
                </a:r>
                <a:r>
                  <a:rPr lang="pt-BR" sz="1600" spc="-30" dirty="0">
                    <a:latin typeface="Calibri"/>
                    <a:cs typeface="Calibri"/>
                  </a:rPr>
                  <a:t> </a:t>
                </a:r>
                <a:r>
                  <a:rPr lang="pt-BR" sz="1600" dirty="0">
                    <a:latin typeface="Calibri"/>
                    <a:cs typeface="Calibri"/>
                  </a:rPr>
                  <a:t>até</a:t>
                </a:r>
                <a:r>
                  <a:rPr lang="pt-BR" sz="1600" spc="-25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pt-BR" sz="1600" i="1" spc="-25" dirty="0" smtClean="0">
                        <a:latin typeface="Cambria Math" panose="02040503050406030204" pitchFamily="18" charset="0"/>
                        <a:cs typeface="Calibri"/>
                      </a:rPr>
                      <m:t>𝑚</m:t>
                    </m:r>
                  </m:oMath>
                </a14:m>
                <a:r>
                  <a:rPr lang="pt-BR" sz="1600" dirty="0">
                    <a:latin typeface="Calibri"/>
                    <a:cs typeface="Calibri"/>
                  </a:rPr>
                  <a:t>,</a:t>
                </a:r>
                <a:r>
                  <a:rPr lang="pt-BR" sz="1600" spc="-30" dirty="0">
                    <a:latin typeface="Calibri"/>
                    <a:cs typeface="Calibri"/>
                  </a:rPr>
                  <a:t> </a:t>
                </a:r>
                <a:r>
                  <a:rPr lang="pt-BR" sz="1600" spc="-20" dirty="0">
                    <a:latin typeface="Calibri"/>
                    <a:cs typeface="Calibri"/>
                  </a:rPr>
                  <a:t>faça:</a:t>
                </a:r>
                <a:endParaRPr sz="16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5" name="object 8">
                <a:extLst>
                  <a:ext uri="{FF2B5EF4-FFF2-40B4-BE49-F238E27FC236}">
                    <a16:creationId xmlns:a16="http://schemas.microsoft.com/office/drawing/2014/main" id="{39075C36-3B55-1305-F207-B9906A64E0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263" y="3817032"/>
                <a:ext cx="10406382" cy="1087797"/>
              </a:xfrm>
              <a:prstGeom prst="rect">
                <a:avLst/>
              </a:prstGeom>
              <a:blipFill>
                <a:blip r:embed="rId2"/>
                <a:stretch>
                  <a:fillRect l="-1113" t="-3911" b="-1061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18">
                <a:extLst>
                  <a:ext uri="{FF2B5EF4-FFF2-40B4-BE49-F238E27FC236}">
                    <a16:creationId xmlns:a16="http://schemas.microsoft.com/office/drawing/2014/main" id="{49947C60-CBDF-0231-988B-B3B8F988B1E0}"/>
                  </a:ext>
                </a:extLst>
              </p:cNvPr>
              <p:cNvSpPr txBox="1"/>
              <p:nvPr/>
            </p:nvSpPr>
            <p:spPr>
              <a:xfrm>
                <a:off x="1529014" y="4855608"/>
                <a:ext cx="10267975" cy="583173"/>
              </a:xfrm>
              <a:prstGeom prst="rect">
                <a:avLst/>
              </a:prstGeom>
            </p:spPr>
            <p:txBody>
              <a:bodyPr vert="horz" wrap="square" lIns="0" tIns="33020" rIns="0" bIns="0" rtlCol="0">
                <a:spAutoFit/>
              </a:bodyPr>
              <a:lstStyle/>
              <a:p>
                <a:pPr marL="324485" indent="-287020">
                  <a:lnSpc>
                    <a:spcPct val="100000"/>
                  </a:lnSpc>
                  <a:spcBef>
                    <a:spcPts val="260"/>
                  </a:spcBef>
                  <a:buFont typeface="Wingdings"/>
                  <a:buChar char=""/>
                  <a:tabLst>
                    <a:tab pos="324485" algn="l"/>
                    <a:tab pos="325120" algn="l"/>
                  </a:tabLst>
                </a:pPr>
                <a:r>
                  <a:rPr lang="pt-BR" sz="1600" spc="-10" dirty="0">
                    <a:latin typeface="Calibri"/>
                    <a:cs typeface="Calibri"/>
                  </a:rPr>
                  <a:t>Apresente</a:t>
                </a:r>
                <a:r>
                  <a:rPr lang="pt-BR" sz="1600" spc="-20" dirty="0">
                    <a:latin typeface="Calibri"/>
                    <a:cs typeface="Calibri"/>
                  </a:rPr>
                  <a:t> </a:t>
                </a:r>
                <a:r>
                  <a:rPr lang="pt-BR" sz="1600" dirty="0">
                    <a:latin typeface="Calibri"/>
                    <a:cs typeface="Calibri"/>
                  </a:rPr>
                  <a:t>o</a:t>
                </a:r>
                <a:r>
                  <a:rPr lang="pt-BR" sz="1600" spc="-30" dirty="0">
                    <a:latin typeface="Calibri"/>
                    <a:cs typeface="Calibri"/>
                  </a:rPr>
                  <a:t> </a:t>
                </a:r>
                <a:r>
                  <a:rPr lang="pt-BR" sz="1600" dirty="0">
                    <a:latin typeface="Cambria Math"/>
                    <a:cs typeface="Cambria Math"/>
                  </a:rPr>
                  <a:t>𝑛</a:t>
                </a:r>
                <a:r>
                  <a:rPr lang="pt-BR" sz="1600" dirty="0">
                    <a:latin typeface="Calibri"/>
                    <a:cs typeface="Calibri"/>
                  </a:rPr>
                  <a:t>-ésimo</a:t>
                </a:r>
                <a:r>
                  <a:rPr lang="pt-BR" sz="1600" spc="-30" dirty="0">
                    <a:latin typeface="Calibri"/>
                    <a:cs typeface="Calibri"/>
                  </a:rPr>
                  <a:t> </a:t>
                </a:r>
                <a:r>
                  <a:rPr lang="pt-BR" sz="1600" spc="-10" dirty="0">
                    <a:latin typeface="Calibri"/>
                    <a:cs typeface="Calibri"/>
                  </a:rPr>
                  <a:t>exemplo</a:t>
                </a:r>
                <a:r>
                  <a:rPr lang="pt-BR" sz="1600" spc="-30" dirty="0">
                    <a:latin typeface="Calibri"/>
                    <a:cs typeface="Calibri"/>
                  </a:rPr>
                  <a:t> </a:t>
                </a:r>
                <a:r>
                  <a:rPr lang="pt-BR" sz="1600" dirty="0">
                    <a:latin typeface="Calibri"/>
                    <a:cs typeface="Calibri"/>
                  </a:rPr>
                  <a:t>de</a:t>
                </a:r>
                <a:r>
                  <a:rPr lang="pt-BR" sz="1600" spc="-40" dirty="0">
                    <a:latin typeface="Calibri"/>
                    <a:cs typeface="Calibri"/>
                  </a:rPr>
                  <a:t> </a:t>
                </a:r>
                <a:r>
                  <a:rPr lang="pt-BR" sz="1600" spc="-10" dirty="0">
                    <a:latin typeface="Calibri"/>
                    <a:cs typeface="Calibri"/>
                  </a:rPr>
                  <a:t>entrada, amostrado aleatoriamente sem reposição do conjunto de treinamento,</a:t>
                </a:r>
                <a:r>
                  <a:rPr lang="pt-BR" sz="1600" spc="-30" dirty="0">
                    <a:latin typeface="Calibri"/>
                    <a:cs typeface="Calibri"/>
                  </a:rPr>
                  <a:t> </a:t>
                </a:r>
                <a:r>
                  <a:rPr lang="pt-BR" sz="1600" dirty="0">
                    <a:latin typeface="Calibri"/>
                    <a:cs typeface="Calibri"/>
                  </a:rPr>
                  <a:t>à</a:t>
                </a:r>
                <a:r>
                  <a:rPr lang="pt-BR" sz="1600" spc="-35" dirty="0">
                    <a:latin typeface="Calibri"/>
                    <a:cs typeface="Calibri"/>
                  </a:rPr>
                  <a:t> </a:t>
                </a:r>
                <a:r>
                  <a:rPr lang="pt-BR" sz="1600" spc="-10" dirty="0">
                    <a:latin typeface="Calibri"/>
                    <a:cs typeface="Calibri"/>
                  </a:rPr>
                  <a:t>rede.</a:t>
                </a:r>
                <a:endParaRPr lang="pt-BR" sz="1600" dirty="0">
                  <a:latin typeface="Calibri"/>
                  <a:cs typeface="Calibri"/>
                </a:endParaRPr>
              </a:p>
              <a:p>
                <a:pPr marL="324485" indent="-287020">
                  <a:lnSpc>
                    <a:spcPct val="100000"/>
                  </a:lnSpc>
                  <a:spcBef>
                    <a:spcPts val="160"/>
                  </a:spcBef>
                  <a:buFont typeface="Wingdings"/>
                  <a:buChar char=""/>
                  <a:tabLst>
                    <a:tab pos="324485" algn="l"/>
                    <a:tab pos="325120" algn="l"/>
                    <a:tab pos="1818005" algn="l"/>
                    <a:tab pos="2906395" algn="l"/>
                  </a:tabLst>
                </a:pPr>
                <a:r>
                  <a:rPr lang="pt-BR" sz="1600" dirty="0">
                    <a:latin typeface="Calibri"/>
                    <a:cs typeface="Calibri"/>
                  </a:rPr>
                  <a:t>Calcule</a:t>
                </a:r>
                <a:r>
                  <a:rPr lang="pt-BR" sz="1600" spc="-25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600" b="0" i="1" spc="-25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r>
                          <a:rPr lang="pt-BR" sz="1600" b="0" i="1" spc="-25" smtClean="0">
                            <a:latin typeface="Cambria Math" panose="02040503050406030204" pitchFamily="18" charset="0"/>
                            <a:cs typeface="Calibri"/>
                          </a:rPr>
                          <m:t>𝐽</m:t>
                        </m:r>
                      </m:e>
                      <m:sub>
                        <m:r>
                          <a:rPr lang="pt-BR" sz="1600" b="0" i="1" spc="-25" smtClean="0">
                            <a:latin typeface="Cambria Math" panose="02040503050406030204" pitchFamily="18" charset="0"/>
                            <a:cs typeface="Calibri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pt-BR" sz="1600" b="0" i="1" spc="-25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>
                          <a:rPr lang="pt-BR" sz="1600" b="1" i="1" spc="-25" smtClean="0">
                            <a:latin typeface="Cambria Math" panose="02040503050406030204" pitchFamily="18" charset="0"/>
                            <a:cs typeface="Calibri"/>
                          </a:rPr>
                          <m:t>𝑾</m:t>
                        </m:r>
                        <m:d>
                          <m:dPr>
                            <m:ctrlPr>
                              <a:rPr lang="pt-BR" sz="1600" b="0" i="1" spc="-25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dPr>
                          <m:e>
                            <m:r>
                              <a:rPr lang="pt-BR" sz="1600" b="0" i="1" spc="-25" smtClean="0">
                                <a:latin typeface="Cambria Math" panose="02040503050406030204" pitchFamily="18" charset="0"/>
                                <a:cs typeface="Calibri"/>
                              </a:rPr>
                              <m:t>𝑘</m:t>
                            </m:r>
                          </m:e>
                        </m:d>
                      </m:e>
                    </m:d>
                  </m:oMath>
                </a14:m>
                <a:r>
                  <a:rPr lang="pt-BR" sz="1600" dirty="0">
                    <a:latin typeface="Cambria Math"/>
                    <a:cs typeface="Cambria Math"/>
                  </a:rPr>
                  <a:t> e calcule e armazene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1600" b="0" i="0" smtClean="0">
                        <a:latin typeface="Cambria Math" panose="02040503050406030204" pitchFamily="18" charset="0"/>
                        <a:cs typeface="Cambria Math"/>
                      </a:rPr>
                      <m:t>∇</m:t>
                    </m:r>
                    <m:sSub>
                      <m:sSubPr>
                        <m:ctrlPr>
                          <a:rPr lang="pt-BR" sz="1600" b="0" i="1" smtClean="0">
                            <a:latin typeface="Cambria Math" panose="02040503050406030204" pitchFamily="18" charset="0"/>
                            <a:cs typeface="Cambria Math"/>
                          </a:rPr>
                        </m:ctrlPr>
                      </m:sSubPr>
                      <m:e>
                        <m:r>
                          <a:rPr lang="pt-BR" sz="1600" b="0" i="1" smtClean="0">
                            <a:latin typeface="Cambria Math" panose="02040503050406030204" pitchFamily="18" charset="0"/>
                            <a:cs typeface="Cambria Math"/>
                          </a:rPr>
                          <m:t>𝐽</m:t>
                        </m:r>
                      </m:e>
                      <m:sub>
                        <m:r>
                          <a:rPr lang="pt-BR" sz="1600" b="0" i="1" smtClean="0">
                            <a:latin typeface="Cambria Math" panose="02040503050406030204" pitchFamily="18" charset="0"/>
                            <a:cs typeface="Cambria Math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pt-B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1" i="1" smtClean="0">
                            <a:latin typeface="Cambria Math" panose="02040503050406030204" pitchFamily="18" charset="0"/>
                          </a:rPr>
                          <m:t>𝑾</m:t>
                        </m:r>
                        <m:d>
                          <m:dPr>
                            <m:ctrlPr>
                              <a:rPr lang="pt-BR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16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e>
                    </m:d>
                    <m:r>
                      <a:rPr lang="pt-BR" sz="16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pt-BR" sz="16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6" name="object 18">
                <a:extLst>
                  <a:ext uri="{FF2B5EF4-FFF2-40B4-BE49-F238E27FC236}">
                    <a16:creationId xmlns:a16="http://schemas.microsoft.com/office/drawing/2014/main" id="{49947C60-CBDF-0231-988B-B3B8F988B1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9014" y="4855608"/>
                <a:ext cx="10267975" cy="583173"/>
              </a:xfrm>
              <a:prstGeom prst="rect">
                <a:avLst/>
              </a:prstGeom>
              <a:blipFill>
                <a:blip r:embed="rId3"/>
                <a:stretch>
                  <a:fillRect l="-772" t="-8421" r="-594" b="-1894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22">
                <a:extLst>
                  <a:ext uri="{FF2B5EF4-FFF2-40B4-BE49-F238E27FC236}">
                    <a16:creationId xmlns:a16="http://schemas.microsoft.com/office/drawing/2014/main" id="{FE56D876-0CD5-68B0-6E9C-A6BEA25791C1}"/>
                  </a:ext>
                </a:extLst>
              </p:cNvPr>
              <p:cNvSpPr txBox="1"/>
              <p:nvPr/>
            </p:nvSpPr>
            <p:spPr>
              <a:xfrm>
                <a:off x="1197906" y="5543549"/>
                <a:ext cx="5061858" cy="936346"/>
              </a:xfrm>
              <a:prstGeom prst="rect">
                <a:avLst/>
              </a:prstGeom>
            </p:spPr>
            <p:txBody>
              <a:bodyPr vert="horz" wrap="square" lIns="0" tIns="32384" rIns="0" bIns="0" rtlCol="0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ts val="254"/>
                  </a:spcBef>
                </a:pPr>
                <a:r>
                  <a:rPr lang="pt-BR" sz="1600" dirty="0">
                    <a:latin typeface="Courier New"/>
                    <a:cs typeface="Courier New"/>
                  </a:rPr>
                  <a:t>o</a:t>
                </a:r>
                <a:r>
                  <a:rPr lang="pt-BR" sz="1600" spc="310" dirty="0">
                    <a:latin typeface="Courier New"/>
                    <a:cs typeface="Courier New"/>
                  </a:rPr>
                  <a:t> </a:t>
                </a:r>
                <a14:m>
                  <m:oMath xmlns:m="http://schemas.openxmlformats.org/officeDocument/2006/math">
                    <m:r>
                      <a:rPr lang="pt-BR" sz="1600" b="1" i="1" dirty="0" smtClean="0">
                        <a:latin typeface="Cambria Math" panose="02040503050406030204" pitchFamily="18" charset="0"/>
                        <a:cs typeface="Cambria Math"/>
                      </a:rPr>
                      <m:t>𝑾</m:t>
                    </m:r>
                    <m:r>
                      <a:rPr lang="pt-BR" sz="1600" b="0" i="0" dirty="0" smtClean="0">
                        <a:latin typeface="Cambria Math" panose="02040503050406030204" pitchFamily="18" charset="0"/>
                        <a:cs typeface="Cambria Math"/>
                      </a:rPr>
                      <m:t> </m:t>
                    </m:r>
                    <m:d>
                      <m:dPr>
                        <m:ctrlPr>
                          <a:rPr lang="pt-BR" sz="1600" b="0" i="1" dirty="0" smtClean="0">
                            <a:latin typeface="Cambria Math" panose="02040503050406030204" pitchFamily="18" charset="0"/>
                            <a:cs typeface="Cambria Math"/>
                          </a:rPr>
                        </m:ctrlPr>
                      </m:dPr>
                      <m:e>
                        <m:r>
                          <a:rPr lang="pt-BR" sz="1600" i="1" dirty="0">
                            <a:latin typeface="Cambria Math" panose="02040503050406030204" pitchFamily="18" charset="0"/>
                            <a:cs typeface="Cambria Math"/>
                          </a:rPr>
                          <m:t>𝑘</m:t>
                        </m:r>
                        <m:r>
                          <a:rPr lang="pt-BR" sz="1600" i="1" dirty="0">
                            <a:latin typeface="Cambria Math" panose="02040503050406030204" pitchFamily="18" charset="0"/>
                            <a:cs typeface="Cambria Math"/>
                          </a:rPr>
                          <m:t>+1</m:t>
                        </m:r>
                      </m:e>
                    </m:d>
                    <m:r>
                      <a:rPr lang="pt-BR" sz="1600" b="0" i="1" spc="-25" dirty="0" smtClean="0">
                        <a:latin typeface="Cambria Math" panose="02040503050406030204" pitchFamily="18" charset="0"/>
                        <a:cs typeface="Cambria Math"/>
                      </a:rPr>
                      <m:t>=</m:t>
                    </m:r>
                    <m:r>
                      <a:rPr lang="pt-BR" sz="1600" b="1" i="1" spc="-25" dirty="0" smtClean="0">
                        <a:latin typeface="Cambria Math" panose="02040503050406030204" pitchFamily="18" charset="0"/>
                        <a:cs typeface="Cambria Math"/>
                      </a:rPr>
                      <m:t>𝑾</m:t>
                    </m:r>
                    <m:d>
                      <m:dPr>
                        <m:ctrlPr>
                          <a:rPr lang="pt-BR" sz="1600" b="0" i="1" spc="-25" dirty="0" smtClean="0">
                            <a:latin typeface="Cambria Math" panose="02040503050406030204" pitchFamily="18" charset="0"/>
                            <a:cs typeface="Cambria Math"/>
                          </a:rPr>
                        </m:ctrlPr>
                      </m:dPr>
                      <m:e>
                        <m:r>
                          <a:rPr lang="pt-BR" sz="1600" b="0" i="1" spc="-25" dirty="0" smtClean="0">
                            <a:latin typeface="Cambria Math" panose="02040503050406030204" pitchFamily="18" charset="0"/>
                            <a:cs typeface="Cambria Math"/>
                          </a:rPr>
                          <m:t>𝑘</m:t>
                        </m:r>
                      </m:e>
                    </m:d>
                    <m:r>
                      <a:rPr lang="pt-BR" sz="1600" b="0" i="1" spc="-25" dirty="0" smtClean="0">
                        <a:latin typeface="Cambria Math" panose="02040503050406030204" pitchFamily="18" charset="0"/>
                        <a:cs typeface="Cambria Math"/>
                      </a:rPr>
                      <m:t>−</m:t>
                    </m:r>
                    <m:f>
                      <m:fPr>
                        <m:ctrlPr>
                          <a:rPr lang="pt-BR" sz="1600" b="0" i="1" spc="-25" dirty="0" smtClean="0">
                            <a:latin typeface="Cambria Math" panose="02040503050406030204" pitchFamily="18" charset="0"/>
                            <a:cs typeface="Cambria Math"/>
                          </a:rPr>
                        </m:ctrlPr>
                      </m:fPr>
                      <m:num>
                        <m:r>
                          <a:rPr lang="pt-BR" sz="1600" b="0" i="1" spc="-25" dirty="0" smtClean="0">
                            <a:latin typeface="Cambria Math" panose="02040503050406030204" pitchFamily="18" charset="0"/>
                            <a:cs typeface="Cambria Math"/>
                          </a:rPr>
                          <m:t>𝛼</m:t>
                        </m:r>
                      </m:num>
                      <m:den>
                        <m:r>
                          <a:rPr lang="pt-BR" sz="1600" b="0" i="1" spc="-25" dirty="0" smtClean="0">
                            <a:latin typeface="Cambria Math" panose="02040503050406030204" pitchFamily="18" charset="0"/>
                            <a:cs typeface="Cambria Math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limLoc m:val="subSup"/>
                        <m:ctrlPr>
                          <a:rPr lang="pt-BR" sz="1600" b="0" i="1" spc="-25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pt-BR" sz="1600" b="0" i="1" spc="-25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pt-BR" sz="1600" b="0" i="1" spc="-25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brk m:alnAt="25"/>
                          </m:rPr>
                          <a:rPr lang="pt-BR" sz="1600" b="0" i="1" spc="-25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pt-BR" sz="1600" b="0" i="1" spc="-25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pt-BR" sz="1600" b="0" i="0" spc="-25" dirty="0" smtClean="0">
                            <a:latin typeface="Cambria Math" panose="02040503050406030204" pitchFamily="18" charset="0"/>
                          </a:rPr>
                          <m:t>∇</m:t>
                        </m:r>
                        <m:sSub>
                          <m:sSubPr>
                            <m:ctrlPr>
                              <a:rPr lang="pt-BR" sz="1600" b="0" i="1" spc="-25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600" b="0" i="1" spc="-25" dirty="0" smtClean="0"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pt-BR" sz="1600" b="0" i="1" spc="-25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d>
                          <m:dPr>
                            <m:ctrlPr>
                              <a:rPr lang="pt-BR" sz="1600" b="0" i="1" spc="-25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1600" b="1" i="1" spc="-25" dirty="0" smtClean="0">
                                <a:latin typeface="Cambria Math" panose="02040503050406030204" pitchFamily="18" charset="0"/>
                              </a:rPr>
                              <m:t>𝑾</m:t>
                            </m:r>
                            <m:d>
                              <m:dPr>
                                <m:ctrlPr>
                                  <a:rPr lang="pt-BR" sz="1600" b="0" i="1" spc="-25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t-BR" sz="1600" b="0" i="1" spc="-25" dirty="0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d>
                          </m:e>
                        </m:d>
                      </m:e>
                    </m:nary>
                  </m:oMath>
                </a14:m>
                <a:r>
                  <a:rPr lang="pt-BR" sz="1600" spc="-25" dirty="0">
                    <a:latin typeface="Calibri"/>
                    <a:cs typeface="Calibri"/>
                  </a:rPr>
                  <a:t>.</a:t>
                </a:r>
                <a:endParaRPr lang="pt-BR" sz="1600" dirty="0">
                  <a:latin typeface="Calibri"/>
                  <a:cs typeface="Calibri"/>
                </a:endParaRPr>
              </a:p>
              <a:p>
                <a:pPr marL="286385" indent="-287020">
                  <a:lnSpc>
                    <a:spcPct val="100000"/>
                  </a:lnSpc>
                  <a:spcBef>
                    <a:spcPts val="155"/>
                  </a:spcBef>
                  <a:buFont typeface="Courier New"/>
                  <a:buChar char="o"/>
                  <a:tabLst>
                    <a:tab pos="287020" algn="l"/>
                    <a:tab pos="1674495" algn="l"/>
                  </a:tabLst>
                </a:pPr>
                <a14:m>
                  <m:oMath xmlns:m="http://schemas.openxmlformats.org/officeDocument/2006/math">
                    <m:r>
                      <a:rPr lang="pt-BR" sz="1600" b="0" i="1" dirty="0" smtClean="0">
                        <a:latin typeface="Cambria Math" panose="02040503050406030204" pitchFamily="18" charset="0"/>
                        <a:cs typeface="Cambria Math"/>
                      </a:rPr>
                      <m:t>𝑘</m:t>
                    </m:r>
                    <m:r>
                      <a:rPr lang="pt-BR" sz="1600" b="0" i="1" dirty="0" smtClean="0">
                        <a:latin typeface="Cambria Math" panose="02040503050406030204" pitchFamily="18" charset="0"/>
                        <a:cs typeface="Cambria Math"/>
                      </a:rPr>
                      <m:t>=</m:t>
                    </m:r>
                    <m:r>
                      <a:rPr lang="pt-BR" sz="1600" b="0" i="1" dirty="0" smtClean="0">
                        <a:latin typeface="Cambria Math" panose="02040503050406030204" pitchFamily="18" charset="0"/>
                        <a:cs typeface="Cambria Math"/>
                      </a:rPr>
                      <m:t>𝑘</m:t>
                    </m:r>
                    <m:r>
                      <a:rPr lang="pt-BR" sz="1600" b="0" i="1" dirty="0" smtClean="0">
                        <a:latin typeface="Cambria Math" panose="02040503050406030204" pitchFamily="18" charset="0"/>
                        <a:cs typeface="Cambria Math"/>
                      </a:rPr>
                      <m:t>+1	</m:t>
                    </m:r>
                  </m:oMath>
                </a14:m>
                <a:r>
                  <a:rPr lang="pt-BR" sz="1600" spc="-50" dirty="0">
                    <a:latin typeface="Calibri"/>
                    <a:cs typeface="Calibri"/>
                  </a:rPr>
                  <a:t>.</a:t>
                </a:r>
              </a:p>
              <a:p>
                <a:pPr marL="286385" indent="-287020">
                  <a:lnSpc>
                    <a:spcPct val="100000"/>
                  </a:lnSpc>
                  <a:spcBef>
                    <a:spcPts val="155"/>
                  </a:spcBef>
                  <a:buFont typeface="Courier New"/>
                  <a:buChar char="o"/>
                  <a:tabLst>
                    <a:tab pos="287020" algn="l"/>
                    <a:tab pos="1674495" algn="l"/>
                  </a:tabLst>
                </a:pPr>
                <a:r>
                  <a:rPr lang="pt-BR" sz="1600" spc="-50" dirty="0">
                    <a:latin typeface="Calibri"/>
                    <a:cs typeface="Calibri"/>
                  </a:rPr>
                  <a:t>Calcule </a:t>
                </a:r>
                <a14:m>
                  <m:oMath xmlns:m="http://schemas.openxmlformats.org/officeDocument/2006/math">
                    <m:r>
                      <a:rPr lang="pt-BR" sz="1600" b="0" i="1" spc="-50" smtClean="0">
                        <a:latin typeface="Cambria Math" panose="02040503050406030204" pitchFamily="18" charset="0"/>
                        <a:cs typeface="Calibri"/>
                      </a:rPr>
                      <m:t>𝐽</m:t>
                    </m:r>
                    <m:d>
                      <m:dPr>
                        <m:ctrlPr>
                          <a:rPr lang="pt-BR" sz="1600" b="0" i="1" spc="-5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>
                          <a:rPr lang="pt-BR" sz="1600" b="1" i="1" spc="-50" smtClean="0">
                            <a:latin typeface="Cambria Math" panose="02040503050406030204" pitchFamily="18" charset="0"/>
                            <a:cs typeface="Calibri"/>
                          </a:rPr>
                          <m:t>𝑾</m:t>
                        </m:r>
                        <m:d>
                          <m:dPr>
                            <m:ctrlPr>
                              <a:rPr lang="pt-BR" sz="1600" b="0" i="1" spc="-50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dPr>
                          <m:e>
                            <m:r>
                              <a:rPr lang="pt-BR" sz="1600" b="0" i="1" spc="-50" smtClean="0">
                                <a:latin typeface="Cambria Math" panose="02040503050406030204" pitchFamily="18" charset="0"/>
                                <a:cs typeface="Calibri"/>
                              </a:rPr>
                              <m:t>𝑘</m:t>
                            </m:r>
                          </m:e>
                        </m:d>
                      </m:e>
                    </m:d>
                  </m:oMath>
                </a14:m>
                <a:endParaRPr sz="16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7" name="object 22">
                <a:extLst>
                  <a:ext uri="{FF2B5EF4-FFF2-40B4-BE49-F238E27FC236}">
                    <a16:creationId xmlns:a16="http://schemas.microsoft.com/office/drawing/2014/main" id="{FE56D876-0CD5-68B0-6E9C-A6BEA25791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7906" y="5543549"/>
                <a:ext cx="5061858" cy="936346"/>
              </a:xfrm>
              <a:prstGeom prst="rect">
                <a:avLst/>
              </a:prstGeom>
              <a:blipFill>
                <a:blip r:embed="rId4"/>
                <a:stretch>
                  <a:fillRect l="-2530" t="-37013" b="-1103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8427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spc="-10" dirty="0"/>
              <a:t>Variações</a:t>
            </a:r>
            <a:r>
              <a:rPr spc="-55" dirty="0"/>
              <a:t> </a:t>
            </a:r>
            <a:r>
              <a:rPr dirty="0"/>
              <a:t>dos</a:t>
            </a:r>
            <a:r>
              <a:rPr spc="-65" dirty="0"/>
              <a:t> </a:t>
            </a:r>
            <a:r>
              <a:rPr dirty="0"/>
              <a:t>algoritmos</a:t>
            </a:r>
            <a:r>
              <a:rPr spc="-70" dirty="0"/>
              <a:t> </a:t>
            </a:r>
            <a:r>
              <a:rPr dirty="0"/>
              <a:t>de</a:t>
            </a:r>
            <a:r>
              <a:rPr spc="-70" dirty="0"/>
              <a:t> </a:t>
            </a:r>
            <a:r>
              <a:rPr dirty="0"/>
              <a:t>otimização</a:t>
            </a:r>
            <a:r>
              <a:rPr spc="-40" dirty="0"/>
              <a:t> </a:t>
            </a:r>
            <a:r>
              <a:rPr spc="-25" dirty="0"/>
              <a:t>dos </a:t>
            </a:r>
            <a:r>
              <a:rPr spc="-10" dirty="0"/>
              <a:t>pesos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66062"/>
            <a:ext cx="10661015" cy="4883150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241300" marR="5080" indent="-228600">
              <a:lnSpc>
                <a:spcPct val="80000"/>
              </a:lnSpc>
              <a:spcBef>
                <a:spcPts val="72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Existem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vários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algoritmos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baseados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no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gradiente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podem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ser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empregados </a:t>
            </a:r>
            <a:r>
              <a:rPr sz="2600" dirty="0">
                <a:latin typeface="Calibri"/>
                <a:cs typeface="Calibri"/>
              </a:rPr>
              <a:t>para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otimizar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pesos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rede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neural.</a:t>
            </a:r>
            <a:endParaRPr sz="2600" dirty="0">
              <a:latin typeface="Calibri"/>
              <a:cs typeface="Calibri"/>
            </a:endParaRPr>
          </a:p>
          <a:p>
            <a:pPr marL="241300" marR="440690" indent="-228600">
              <a:lnSpc>
                <a:spcPct val="80000"/>
              </a:lnSpc>
              <a:spcBef>
                <a:spcPts val="100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Aqui,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vamos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nos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ater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alguns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métodos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mais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usuais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na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literatura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moderna,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encontra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bastante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focada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no</a:t>
            </a:r>
            <a:r>
              <a:rPr sz="2600" spc="-10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apredizado</a:t>
            </a:r>
            <a:r>
              <a:rPr sz="2600" b="1" i="1" spc="-75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profundo</a:t>
            </a:r>
            <a:r>
              <a:rPr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76225" indent="-264160">
              <a:lnSpc>
                <a:spcPts val="3110"/>
              </a:lnSpc>
              <a:spcBef>
                <a:spcPts val="385"/>
              </a:spcBef>
              <a:buSzPct val="96153"/>
              <a:buFont typeface="Wingdings"/>
              <a:buChar char=""/>
              <a:tabLst>
                <a:tab pos="276860" algn="l"/>
              </a:tabLst>
            </a:pPr>
            <a:r>
              <a:rPr sz="2600" b="1" dirty="0">
                <a:latin typeface="Calibri"/>
                <a:cs typeface="Calibri"/>
              </a:rPr>
              <a:t>Métodos</a:t>
            </a:r>
            <a:r>
              <a:rPr sz="2600" b="1" spc="-8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do</a:t>
            </a:r>
            <a:r>
              <a:rPr sz="2600" b="1" spc="-5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Gradiente</a:t>
            </a:r>
            <a:r>
              <a:rPr sz="2600" b="1" spc="-1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Descendente</a:t>
            </a:r>
            <a:r>
              <a:rPr sz="2600" b="1" spc="-40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Estocástico</a:t>
            </a:r>
            <a:r>
              <a:rPr sz="2600" b="1" spc="-8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(GDE)</a:t>
            </a:r>
            <a:r>
              <a:rPr sz="2600" b="1" spc="-6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e</a:t>
            </a:r>
            <a:r>
              <a:rPr sz="2600" b="1" spc="-40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Mini-batch</a:t>
            </a:r>
            <a:endParaRPr sz="2600" dirty="0">
              <a:latin typeface="Calibri"/>
              <a:cs typeface="Calibri"/>
            </a:endParaRPr>
          </a:p>
          <a:p>
            <a:pPr marL="698500" marR="557530" lvl="1" indent="-228600">
              <a:lnSpc>
                <a:spcPts val="2110"/>
              </a:lnSpc>
              <a:spcBef>
                <a:spcPts val="505"/>
              </a:spcBef>
              <a:buFont typeface="Wingdings"/>
              <a:buChar char=""/>
              <a:tabLst>
                <a:tab pos="699135" algn="l"/>
              </a:tabLst>
            </a:pPr>
            <a:r>
              <a:rPr sz="2200" dirty="0">
                <a:latin typeface="Calibri"/>
                <a:cs typeface="Calibri"/>
              </a:rPr>
              <a:t>Sabemos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que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métodos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do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GDE</a:t>
            </a:r>
            <a:r>
              <a:rPr sz="2200" b="1" i="1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mini-</a:t>
            </a:r>
            <a:r>
              <a:rPr sz="2200" b="1" i="1" dirty="0">
                <a:latin typeface="Calibri"/>
                <a:cs typeface="Calibri"/>
              </a:rPr>
              <a:t>batch</a:t>
            </a:r>
            <a:r>
              <a:rPr sz="2200" b="1" i="1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utilizam,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respectivamente,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um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único exemplo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um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subconjunto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exemplos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tomados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aleatoriamente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para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Calibri"/>
                <a:cs typeface="Calibri"/>
              </a:rPr>
              <a:t>estimar</a:t>
            </a:r>
            <a:r>
              <a:rPr sz="22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spc="-50" dirty="0">
                <a:latin typeface="Calibri"/>
                <a:cs typeface="Calibri"/>
              </a:rPr>
              <a:t>o </a:t>
            </a:r>
            <a:r>
              <a:rPr sz="2200" spc="-10" dirty="0">
                <a:latin typeface="Calibri"/>
                <a:cs typeface="Calibri"/>
              </a:rPr>
              <a:t>gradiente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função</a:t>
            </a:r>
            <a:r>
              <a:rPr sz="2200" b="1" i="1" spc="-65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custo</a:t>
            </a:r>
            <a:r>
              <a:rPr sz="2200" spc="-10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698500" marR="32384" lvl="1" indent="-228600">
              <a:lnSpc>
                <a:spcPct val="80100"/>
              </a:lnSpc>
              <a:spcBef>
                <a:spcPts val="520"/>
              </a:spcBef>
              <a:buFont typeface="Wingdings"/>
              <a:buChar char=""/>
              <a:tabLst>
                <a:tab pos="699135" algn="l"/>
              </a:tabLst>
            </a:pPr>
            <a:r>
              <a:rPr sz="2200" dirty="0">
                <a:latin typeface="Calibri"/>
                <a:cs typeface="Calibri"/>
              </a:rPr>
              <a:t>Este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tipo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estimador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é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que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gera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noção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b="1" i="1" spc="-10" dirty="0">
                <a:solidFill>
                  <a:srgbClr val="00AF50"/>
                </a:solidFill>
                <a:latin typeface="Calibri"/>
                <a:cs typeface="Calibri"/>
              </a:rPr>
              <a:t>gradiente</a:t>
            </a:r>
            <a:r>
              <a:rPr sz="22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spc="-10" dirty="0">
                <a:solidFill>
                  <a:srgbClr val="00AF50"/>
                </a:solidFill>
                <a:latin typeface="Calibri"/>
                <a:cs typeface="Calibri"/>
              </a:rPr>
              <a:t>estocástico</a:t>
            </a:r>
            <a:r>
              <a:rPr sz="2200" spc="-10" dirty="0">
                <a:latin typeface="Calibri"/>
                <a:cs typeface="Calibri"/>
              </a:rPr>
              <a:t>: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atualizações</a:t>
            </a:r>
            <a:r>
              <a:rPr sz="2200" b="1" i="1" spc="-60" dirty="0">
                <a:latin typeface="Calibri"/>
                <a:cs typeface="Calibri"/>
              </a:rPr>
              <a:t> </a:t>
            </a:r>
            <a:r>
              <a:rPr sz="2200" b="1" i="1" spc="-25" dirty="0">
                <a:latin typeface="Calibri"/>
                <a:cs typeface="Calibri"/>
              </a:rPr>
              <a:t>não </a:t>
            </a:r>
            <a:r>
              <a:rPr sz="2200" b="1" i="1" dirty="0">
                <a:latin typeface="Calibri"/>
                <a:cs typeface="Calibri"/>
              </a:rPr>
              <a:t>seguem</a:t>
            </a:r>
            <a:r>
              <a:rPr sz="2200" b="1" i="1" spc="-7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a</a:t>
            </a:r>
            <a:r>
              <a:rPr sz="2200" b="1" i="1" spc="-3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direção</a:t>
            </a:r>
            <a:r>
              <a:rPr sz="2200" b="1" i="1" spc="-4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de</a:t>
            </a:r>
            <a:r>
              <a:rPr sz="2200" b="1" i="1" spc="-4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máxima</a:t>
            </a:r>
            <a:r>
              <a:rPr sz="2200" b="1" i="1" spc="-40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declividade</a:t>
            </a:r>
            <a:r>
              <a:rPr sz="2200" b="1" i="1" spc="-6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da</a:t>
            </a:r>
            <a:r>
              <a:rPr sz="2200" b="1" i="1" spc="-30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superfície</a:t>
            </a:r>
            <a:r>
              <a:rPr sz="2200" b="1" i="1" spc="-4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de</a:t>
            </a:r>
            <a:r>
              <a:rPr sz="2200" b="1" i="1" spc="-4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erro</a:t>
            </a:r>
            <a:r>
              <a:rPr sz="2200" b="1" i="1" spc="-4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e,</a:t>
            </a:r>
            <a:r>
              <a:rPr sz="2200" b="1" i="1" spc="-5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se</a:t>
            </a:r>
            <a:r>
              <a:rPr sz="2200" b="1" i="1" spc="-4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o</a:t>
            </a:r>
            <a:r>
              <a:rPr sz="2200" b="1" i="1" spc="-50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conjunto</a:t>
            </a:r>
            <a:r>
              <a:rPr sz="2200" b="1" i="1" spc="-40" dirty="0">
                <a:latin typeface="Calibri"/>
                <a:cs typeface="Calibri"/>
              </a:rPr>
              <a:t> </a:t>
            </a:r>
            <a:r>
              <a:rPr sz="2200" b="1" i="1" spc="-25" dirty="0">
                <a:latin typeface="Calibri"/>
                <a:cs typeface="Calibri"/>
              </a:rPr>
              <a:t>de </a:t>
            </a:r>
            <a:r>
              <a:rPr sz="2200" b="1" i="1" spc="-10" dirty="0">
                <a:latin typeface="Calibri"/>
                <a:cs typeface="Calibri"/>
              </a:rPr>
              <a:t>treinamento</a:t>
            </a:r>
            <a:r>
              <a:rPr sz="2200" b="1" i="1" spc="-6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contiver</a:t>
            </a:r>
            <a:r>
              <a:rPr sz="2200" b="1" i="1" spc="-6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ruído,</a:t>
            </a:r>
            <a:r>
              <a:rPr sz="2200" b="1" i="1" spc="-7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não</a:t>
            </a:r>
            <a:r>
              <a:rPr sz="2200" b="1" i="1" spc="-60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convergem</a:t>
            </a:r>
            <a:r>
              <a:rPr sz="2200" b="1" i="1" spc="-6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para</a:t>
            </a:r>
            <a:r>
              <a:rPr sz="2200" b="1" i="1" spc="-6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o</a:t>
            </a:r>
            <a:r>
              <a:rPr sz="2200" b="1" i="1" spc="-6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ponto</a:t>
            </a:r>
            <a:r>
              <a:rPr sz="2200" b="1" i="1" spc="-6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de</a:t>
            </a:r>
            <a:r>
              <a:rPr sz="2200" b="1" i="1" spc="-55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mínimo.</a:t>
            </a:r>
            <a:endParaRPr sz="2200" dirty="0">
              <a:latin typeface="Calibri"/>
              <a:cs typeface="Calibri"/>
            </a:endParaRPr>
          </a:p>
          <a:p>
            <a:pPr marL="698500" marR="32384" lvl="1" indent="-228600">
              <a:lnSpc>
                <a:spcPct val="80000"/>
              </a:lnSpc>
              <a:spcBef>
                <a:spcPts val="505"/>
              </a:spcBef>
              <a:buFont typeface="Wingdings"/>
              <a:buChar char=""/>
              <a:tabLst>
                <a:tab pos="699135" algn="l"/>
              </a:tabLst>
            </a:pPr>
            <a:r>
              <a:rPr sz="2200" spc="-10" dirty="0">
                <a:latin typeface="Calibri"/>
                <a:cs typeface="Calibri"/>
              </a:rPr>
              <a:t>Porém,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eles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são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amplamente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empregados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em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aprendizado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profundo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devido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à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utilização </a:t>
            </a:r>
            <a:r>
              <a:rPr sz="2200" dirty="0">
                <a:latin typeface="Calibri"/>
                <a:cs typeface="Calibri"/>
              </a:rPr>
              <a:t>reduzida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configurável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amostras,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resultando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em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menor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complexidade computacional.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ts val="2605"/>
              </a:lnSpc>
              <a:buFont typeface="Wingdings"/>
              <a:buChar char=""/>
              <a:tabLst>
                <a:tab pos="699135" algn="l"/>
              </a:tabLst>
            </a:pPr>
            <a:r>
              <a:rPr sz="2200" dirty="0">
                <a:latin typeface="Calibri"/>
                <a:cs typeface="Calibri"/>
              </a:rPr>
              <a:t>Além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disso,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existem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algumas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variações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em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cima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deles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que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melhoram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convergência.</a:t>
            </a:r>
            <a:endParaRPr sz="2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8427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spc="-10" dirty="0"/>
              <a:t>Variações</a:t>
            </a:r>
            <a:r>
              <a:rPr spc="-55" dirty="0"/>
              <a:t> </a:t>
            </a:r>
            <a:r>
              <a:rPr dirty="0"/>
              <a:t>dos</a:t>
            </a:r>
            <a:r>
              <a:rPr spc="-65" dirty="0"/>
              <a:t> </a:t>
            </a:r>
            <a:r>
              <a:rPr dirty="0"/>
              <a:t>algoritmos</a:t>
            </a:r>
            <a:r>
              <a:rPr spc="-70" dirty="0"/>
              <a:t> </a:t>
            </a:r>
            <a:r>
              <a:rPr dirty="0"/>
              <a:t>de</a:t>
            </a:r>
            <a:r>
              <a:rPr spc="-70" dirty="0"/>
              <a:t> </a:t>
            </a:r>
            <a:r>
              <a:rPr dirty="0"/>
              <a:t>otimização</a:t>
            </a:r>
            <a:r>
              <a:rPr spc="-40" dirty="0"/>
              <a:t> </a:t>
            </a:r>
            <a:r>
              <a:rPr spc="-25" dirty="0"/>
              <a:t>dos </a:t>
            </a:r>
            <a:r>
              <a:rPr spc="-10" dirty="0"/>
              <a:t>pesos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8463" y="1762440"/>
            <a:ext cx="7442628" cy="2477770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266700" marR="1764664" indent="-228600">
              <a:lnSpc>
                <a:spcPct val="80000"/>
              </a:lnSpc>
              <a:spcBef>
                <a:spcPts val="725"/>
              </a:spcBef>
              <a:buSzPct val="96153"/>
              <a:buFont typeface="Wingdings"/>
              <a:buChar char=""/>
              <a:tabLst>
                <a:tab pos="301625" algn="l"/>
              </a:tabLst>
            </a:pPr>
            <a:r>
              <a:rPr sz="2600" b="1" dirty="0">
                <a:latin typeface="Calibri"/>
                <a:cs typeface="Calibri"/>
              </a:rPr>
              <a:t>Redução</a:t>
            </a:r>
            <a:r>
              <a:rPr sz="2600" b="1" spc="-5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programada</a:t>
            </a:r>
            <a:r>
              <a:rPr sz="2600" b="1" spc="-3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do</a:t>
            </a:r>
            <a:r>
              <a:rPr sz="2600" b="1" spc="-5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passo</a:t>
            </a:r>
            <a:r>
              <a:rPr sz="2600" b="1" spc="-50" dirty="0">
                <a:latin typeface="Calibri"/>
                <a:cs typeface="Calibri"/>
              </a:rPr>
              <a:t> </a:t>
            </a:r>
            <a:r>
              <a:rPr sz="2600" b="1" spc="-25" dirty="0">
                <a:latin typeface="Calibri"/>
                <a:cs typeface="Calibri"/>
              </a:rPr>
              <a:t>de </a:t>
            </a:r>
            <a:r>
              <a:rPr sz="2600" b="1" spc="-10" dirty="0">
                <a:latin typeface="Calibri"/>
                <a:cs typeface="Calibri"/>
              </a:rPr>
              <a:t>aprendizagem</a:t>
            </a:r>
            <a:endParaRPr sz="2600" dirty="0">
              <a:latin typeface="Calibri"/>
              <a:cs typeface="Calibri"/>
            </a:endParaRPr>
          </a:p>
          <a:p>
            <a:pPr marL="723900" marR="82550" lvl="1" indent="-228600">
              <a:lnSpc>
                <a:spcPts val="2110"/>
              </a:lnSpc>
              <a:spcBef>
                <a:spcPts val="509"/>
              </a:spcBef>
              <a:buFont typeface="Wingdings"/>
              <a:buChar char=""/>
              <a:tabLst>
                <a:tab pos="724535" algn="l"/>
              </a:tabLst>
            </a:pPr>
            <a:r>
              <a:rPr sz="2200" dirty="0">
                <a:latin typeface="Calibri"/>
                <a:cs typeface="Calibri"/>
              </a:rPr>
              <a:t>A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escolha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do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passo</a:t>
            </a:r>
            <a:r>
              <a:rPr sz="2200" b="1" i="1" spc="-3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de</a:t>
            </a:r>
            <a:r>
              <a:rPr sz="2200" b="1" i="1" spc="-35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aprendizagem</a:t>
            </a:r>
            <a:r>
              <a:rPr sz="2200" spc="-10" dirty="0">
                <a:latin typeface="Calibri"/>
                <a:cs typeface="Calibri"/>
              </a:rPr>
              <a:t>,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mbria Math"/>
                <a:cs typeface="Cambria Math"/>
              </a:rPr>
              <a:t>𝛼</a:t>
            </a:r>
            <a:r>
              <a:rPr sz="2200" dirty="0">
                <a:latin typeface="Calibri"/>
                <a:cs typeface="Calibri"/>
              </a:rPr>
              <a:t>,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50" dirty="0">
                <a:latin typeface="Calibri"/>
                <a:cs typeface="Calibri"/>
              </a:rPr>
              <a:t>é </a:t>
            </a:r>
            <a:r>
              <a:rPr sz="2200" spc="-10" dirty="0">
                <a:latin typeface="Calibri"/>
                <a:cs typeface="Calibri"/>
              </a:rPr>
              <a:t>complicada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exige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um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compromisso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entre </a:t>
            </a:r>
            <a:r>
              <a:rPr sz="2200" dirty="0">
                <a:latin typeface="Calibri"/>
                <a:cs typeface="Calibri"/>
              </a:rPr>
              <a:t>velocidade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convergência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estabilidade/precisão.</a:t>
            </a:r>
            <a:endParaRPr sz="2200" dirty="0">
              <a:latin typeface="Calibri"/>
              <a:cs typeface="Calibri"/>
            </a:endParaRPr>
          </a:p>
          <a:p>
            <a:pPr marL="723900" marR="30480" lvl="1" indent="-228600" algn="just">
              <a:lnSpc>
                <a:spcPct val="80000"/>
              </a:lnSpc>
              <a:spcBef>
                <a:spcPts val="515"/>
              </a:spcBef>
              <a:buFont typeface="Wingdings"/>
              <a:buChar char=""/>
              <a:tabLst>
                <a:tab pos="724535" algn="l"/>
              </a:tabLst>
            </a:pPr>
            <a:r>
              <a:rPr sz="2200" spc="-30" dirty="0">
                <a:latin typeface="Calibri"/>
                <a:cs typeface="Calibri"/>
              </a:rPr>
              <a:t>Pode-</a:t>
            </a:r>
            <a:r>
              <a:rPr sz="2200" dirty="0">
                <a:latin typeface="Calibri"/>
                <a:cs typeface="Calibri"/>
              </a:rPr>
              <a:t>se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usar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mbria Math"/>
                <a:cs typeface="Cambria Math"/>
              </a:rPr>
              <a:t>𝛼</a:t>
            </a:r>
            <a:r>
              <a:rPr sz="2200" spc="25" dirty="0">
                <a:latin typeface="Cambria Math"/>
                <a:cs typeface="Cambria Math"/>
              </a:rPr>
              <a:t> </a:t>
            </a:r>
            <a:r>
              <a:rPr sz="2200" dirty="0">
                <a:latin typeface="Calibri"/>
                <a:cs typeface="Calibri"/>
              </a:rPr>
              <a:t>com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um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valor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fixo,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mas,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geralmente, </a:t>
            </a:r>
            <a:r>
              <a:rPr sz="2200" dirty="0">
                <a:latin typeface="Calibri"/>
                <a:cs typeface="Calibri"/>
              </a:rPr>
              <a:t>se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adota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uma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variação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decrescente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um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valor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mbria Math"/>
                <a:cs typeface="Cambria Math"/>
              </a:rPr>
              <a:t>𝛼</a:t>
            </a:r>
            <a:r>
              <a:rPr sz="2400" baseline="-15625" dirty="0">
                <a:latin typeface="Cambria Math"/>
                <a:cs typeface="Cambria Math"/>
              </a:rPr>
              <a:t>0</a:t>
            </a:r>
            <a:r>
              <a:rPr sz="2400" spc="270" baseline="-15625" dirty="0">
                <a:latin typeface="Cambria Math"/>
                <a:cs typeface="Cambria Math"/>
              </a:rPr>
              <a:t> </a:t>
            </a:r>
            <a:r>
              <a:rPr sz="2200" spc="-50" dirty="0">
                <a:latin typeface="Calibri"/>
                <a:cs typeface="Calibri"/>
              </a:rPr>
              <a:t>a </a:t>
            </a:r>
            <a:r>
              <a:rPr sz="2200" dirty="0">
                <a:latin typeface="Calibri"/>
                <a:cs typeface="Calibri"/>
              </a:rPr>
              <a:t>um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valor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mbria Math"/>
                <a:cs typeface="Cambria Math"/>
              </a:rPr>
              <a:t>𝛼</a:t>
            </a:r>
            <a:r>
              <a:rPr sz="2400" baseline="-15625" dirty="0">
                <a:latin typeface="Cambria Math"/>
                <a:cs typeface="Cambria Math"/>
              </a:rPr>
              <a:t>𝜏</a:t>
            </a:r>
            <a:r>
              <a:rPr sz="2400" spc="330" baseline="-15625" dirty="0">
                <a:latin typeface="Cambria Math"/>
                <a:cs typeface="Cambria Math"/>
              </a:rPr>
              <a:t> </a:t>
            </a:r>
            <a:r>
              <a:rPr sz="2200" dirty="0">
                <a:latin typeface="Calibri"/>
                <a:cs typeface="Calibri"/>
              </a:rPr>
              <a:t>(i.e.,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iteração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0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à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mbria Math"/>
                <a:cs typeface="Cambria Math"/>
              </a:rPr>
              <a:t>𝜏</a:t>
            </a:r>
            <a:r>
              <a:rPr sz="2200" dirty="0">
                <a:latin typeface="Calibri"/>
                <a:cs typeface="Calibri"/>
              </a:rPr>
              <a:t>-ésima</a:t>
            </a:r>
            <a:r>
              <a:rPr sz="2200" spc="-10" dirty="0">
                <a:latin typeface="Calibri"/>
                <a:cs typeface="Calibri"/>
              </a:rPr>
              <a:t> iteração):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60443" y="5105400"/>
            <a:ext cx="6868415" cy="156401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ts val="2630"/>
              </a:lnSpc>
              <a:spcBef>
                <a:spcPts val="95"/>
              </a:spcBef>
            </a:pPr>
            <a:r>
              <a:rPr sz="2200" dirty="0">
                <a:latin typeface="Calibri"/>
                <a:cs typeface="Calibri"/>
              </a:rPr>
              <a:t>onde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mbria Math"/>
                <a:cs typeface="Cambria Math"/>
              </a:rPr>
              <a:t>𝑗</a:t>
            </a:r>
            <a:r>
              <a:rPr sz="2200" spc="10" dirty="0">
                <a:latin typeface="Cambria Math"/>
                <a:cs typeface="Cambria Math"/>
              </a:rPr>
              <a:t> </a:t>
            </a:r>
            <a:r>
              <a:rPr sz="2200" dirty="0">
                <a:latin typeface="Calibri"/>
                <a:cs typeface="Calibri"/>
              </a:rPr>
              <a:t>é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número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iteração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treinamento.</a:t>
            </a:r>
            <a:endParaRPr sz="2200" dirty="0">
              <a:latin typeface="Calibri"/>
              <a:cs typeface="Calibri"/>
            </a:endParaRPr>
          </a:p>
          <a:p>
            <a:pPr marL="266700" marR="30480" indent="-228600">
              <a:lnSpc>
                <a:spcPct val="80000"/>
              </a:lnSpc>
              <a:spcBef>
                <a:spcPts val="515"/>
              </a:spcBef>
              <a:buFont typeface="Wingdings"/>
              <a:buChar char=""/>
              <a:tabLst>
                <a:tab pos="266700" algn="l"/>
              </a:tabLst>
            </a:pPr>
            <a:r>
              <a:rPr sz="2200" dirty="0">
                <a:latin typeface="Calibri"/>
                <a:cs typeface="Calibri"/>
              </a:rPr>
              <a:t>Após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mbria Math"/>
                <a:cs typeface="Cambria Math"/>
              </a:rPr>
              <a:t>𝜏</a:t>
            </a:r>
            <a:r>
              <a:rPr sz="2200" dirty="0">
                <a:latin typeface="Calibri"/>
                <a:cs typeface="Calibri"/>
              </a:rPr>
              <a:t>-ésima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iteração,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pode-</a:t>
            </a:r>
            <a:r>
              <a:rPr sz="2200" dirty="0">
                <a:latin typeface="Calibri"/>
                <a:cs typeface="Calibri"/>
              </a:rPr>
              <a:t>se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deixar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valor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do </a:t>
            </a:r>
            <a:r>
              <a:rPr sz="2200" dirty="0">
                <a:latin typeface="Calibri"/>
                <a:cs typeface="Calibri"/>
              </a:rPr>
              <a:t>passo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aprendizagem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fixo,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como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mostrado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na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figura </a:t>
            </a:r>
            <a:r>
              <a:rPr sz="2200" dirty="0">
                <a:latin typeface="Calibri"/>
                <a:cs typeface="Calibri"/>
              </a:rPr>
              <a:t>ao</a:t>
            </a:r>
            <a:r>
              <a:rPr sz="2200" spc="-20" dirty="0">
                <a:latin typeface="Calibri"/>
                <a:cs typeface="Calibri"/>
              </a:rPr>
              <a:t> lado.</a:t>
            </a:r>
            <a:endParaRPr sz="2200" dirty="0">
              <a:latin typeface="Calibri"/>
              <a:cs typeface="Calibri"/>
            </a:endParaRPr>
          </a:p>
          <a:p>
            <a:pPr marL="266700" marR="335280" indent="-228600">
              <a:lnSpc>
                <a:spcPct val="80000"/>
              </a:lnSpc>
              <a:spcBef>
                <a:spcPts val="495"/>
              </a:spcBef>
              <a:buFont typeface="Wingdings"/>
              <a:buChar char=""/>
              <a:tabLst>
                <a:tab pos="266700" algn="l"/>
              </a:tabLst>
            </a:pPr>
            <a:r>
              <a:rPr sz="2200" spc="-10" dirty="0">
                <a:latin typeface="Calibri"/>
                <a:cs typeface="Calibri"/>
              </a:rPr>
              <a:t>Porém,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definição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dos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hiperparâmetros,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mbria Math"/>
                <a:cs typeface="Cambria Math"/>
              </a:rPr>
              <a:t>𝛼</a:t>
            </a:r>
            <a:r>
              <a:rPr sz="2400" baseline="-15625" dirty="0">
                <a:latin typeface="Cambria Math"/>
                <a:cs typeface="Cambria Math"/>
              </a:rPr>
              <a:t>0</a:t>
            </a:r>
            <a:r>
              <a:rPr sz="2400" spc="292" baseline="-15625" dirty="0">
                <a:latin typeface="Cambria Math"/>
                <a:cs typeface="Cambria Math"/>
              </a:rPr>
              <a:t> </a:t>
            </a:r>
            <a:r>
              <a:rPr sz="2200" dirty="0">
                <a:latin typeface="Calibri"/>
                <a:cs typeface="Calibri"/>
              </a:rPr>
              <a:t>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60" dirty="0">
                <a:latin typeface="Cambria Math"/>
                <a:cs typeface="Cambria Math"/>
              </a:rPr>
              <a:t>𝛼</a:t>
            </a:r>
            <a:r>
              <a:rPr sz="2400" spc="89" baseline="-15625" dirty="0">
                <a:latin typeface="Cambria Math"/>
                <a:cs typeface="Cambria Math"/>
              </a:rPr>
              <a:t>𝜏</a:t>
            </a:r>
            <a:r>
              <a:rPr sz="2200" spc="60" dirty="0">
                <a:latin typeface="Calibri"/>
                <a:cs typeface="Calibri"/>
              </a:rPr>
              <a:t>,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50" dirty="0">
                <a:latin typeface="Calibri"/>
                <a:cs typeface="Calibri"/>
              </a:rPr>
              <a:t>é </a:t>
            </a:r>
            <a:r>
              <a:rPr sz="2200" dirty="0">
                <a:latin typeface="Calibri"/>
                <a:cs typeface="Calibri"/>
              </a:rPr>
              <a:t>mais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um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problema</a:t>
            </a:r>
            <a:r>
              <a:rPr sz="2200" b="1" i="1" spc="-5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de</a:t>
            </a:r>
            <a:r>
              <a:rPr sz="2200" b="1" i="1" spc="-55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otimização</a:t>
            </a:r>
            <a:r>
              <a:rPr sz="2200" b="1" i="1" spc="-50" dirty="0">
                <a:latin typeface="Calibri"/>
                <a:cs typeface="Calibri"/>
              </a:rPr>
              <a:t> </a:t>
            </a:r>
            <a:r>
              <a:rPr sz="2200" b="1" i="1" spc="-25" dirty="0">
                <a:latin typeface="Calibri"/>
                <a:cs typeface="Calibri"/>
              </a:rPr>
              <a:t>de </a:t>
            </a:r>
            <a:r>
              <a:rPr sz="2200" b="1" i="1" spc="-10" dirty="0">
                <a:latin typeface="Calibri"/>
                <a:cs typeface="Calibri"/>
              </a:rPr>
              <a:t>hiperparâmetros</a:t>
            </a:r>
            <a:r>
              <a:rPr sz="2200" spc="-10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</p:txBody>
      </p:sp>
      <p:pic>
        <p:nvPicPr>
          <p:cNvPr id="25" name="object 2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50113" y="4871205"/>
            <a:ext cx="1990215" cy="1978496"/>
          </a:xfrm>
          <a:prstGeom prst="rect">
            <a:avLst/>
          </a:prstGeom>
        </p:spPr>
      </p:pic>
      <p:grpSp>
        <p:nvGrpSpPr>
          <p:cNvPr id="26" name="object 26"/>
          <p:cNvGrpSpPr/>
          <p:nvPr/>
        </p:nvGrpSpPr>
        <p:grpSpPr>
          <a:xfrm>
            <a:off x="7841091" y="4845321"/>
            <a:ext cx="2254250" cy="1998980"/>
            <a:chOff x="7841091" y="4845321"/>
            <a:chExt cx="2254250" cy="1998980"/>
          </a:xfrm>
        </p:grpSpPr>
        <p:pic>
          <p:nvPicPr>
            <p:cNvPr id="27" name="object 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41091" y="4845321"/>
              <a:ext cx="2011866" cy="1998844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9639299" y="5565647"/>
              <a:ext cx="449580" cy="554990"/>
            </a:xfrm>
            <a:custGeom>
              <a:avLst/>
              <a:gdLst/>
              <a:ahLst/>
              <a:cxnLst/>
              <a:rect l="l" t="t" r="r" b="b"/>
              <a:pathLst>
                <a:path w="449579" h="554989">
                  <a:moveTo>
                    <a:pt x="224790" y="0"/>
                  </a:moveTo>
                  <a:lnTo>
                    <a:pt x="224790" y="138683"/>
                  </a:lnTo>
                  <a:lnTo>
                    <a:pt x="0" y="138683"/>
                  </a:lnTo>
                  <a:lnTo>
                    <a:pt x="0" y="416051"/>
                  </a:lnTo>
                  <a:lnTo>
                    <a:pt x="224790" y="416051"/>
                  </a:lnTo>
                  <a:lnTo>
                    <a:pt x="224790" y="554735"/>
                  </a:lnTo>
                  <a:lnTo>
                    <a:pt x="449579" y="277367"/>
                  </a:lnTo>
                  <a:lnTo>
                    <a:pt x="22479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9639299" y="5565647"/>
              <a:ext cx="449580" cy="554990"/>
            </a:xfrm>
            <a:custGeom>
              <a:avLst/>
              <a:gdLst/>
              <a:ahLst/>
              <a:cxnLst/>
              <a:rect l="l" t="t" r="r" b="b"/>
              <a:pathLst>
                <a:path w="449579" h="554989">
                  <a:moveTo>
                    <a:pt x="0" y="138683"/>
                  </a:moveTo>
                  <a:lnTo>
                    <a:pt x="224790" y="138683"/>
                  </a:lnTo>
                  <a:lnTo>
                    <a:pt x="224790" y="0"/>
                  </a:lnTo>
                  <a:lnTo>
                    <a:pt x="449579" y="277367"/>
                  </a:lnTo>
                  <a:lnTo>
                    <a:pt x="224790" y="554735"/>
                  </a:lnTo>
                  <a:lnTo>
                    <a:pt x="224790" y="416051"/>
                  </a:lnTo>
                  <a:lnTo>
                    <a:pt x="0" y="416051"/>
                  </a:lnTo>
                  <a:lnTo>
                    <a:pt x="0" y="138683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1" name="Imagem 30">
            <a:extLst>
              <a:ext uri="{FF2B5EF4-FFF2-40B4-BE49-F238E27FC236}">
                <a16:creationId xmlns:a16="http://schemas.microsoft.com/office/drawing/2014/main" id="{971A276F-C36B-7191-8247-7BF371A557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0163" y="1345919"/>
            <a:ext cx="3753374" cy="320084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E9D7C0BC-0405-17E6-BC83-3294BA8E090A}"/>
                  </a:ext>
                </a:extLst>
              </p:cNvPr>
              <p:cNvSpPr txBox="1"/>
              <p:nvPr/>
            </p:nvSpPr>
            <p:spPr>
              <a:xfrm>
                <a:off x="2682223" y="4393611"/>
                <a:ext cx="2570768" cy="5805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num>
                            <m:den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num>
                        <m:den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den>
                      </m:f>
                      <m:sSub>
                        <m:sSub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sub>
                      </m:sSub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E9D7C0BC-0405-17E6-BC83-3294BA8E09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2223" y="4393611"/>
                <a:ext cx="2570768" cy="58054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0"/>
              </a:spcBef>
            </a:pPr>
            <a:r>
              <a:rPr spc="-10" dirty="0"/>
              <a:t>Variações</a:t>
            </a:r>
            <a:r>
              <a:rPr spc="-65" dirty="0"/>
              <a:t> </a:t>
            </a:r>
            <a:r>
              <a:rPr dirty="0"/>
              <a:t>dos</a:t>
            </a:r>
            <a:r>
              <a:rPr spc="-65" dirty="0"/>
              <a:t> </a:t>
            </a:r>
            <a:r>
              <a:rPr dirty="0"/>
              <a:t>algoritmos</a:t>
            </a:r>
            <a:r>
              <a:rPr spc="-65" dirty="0"/>
              <a:t> </a:t>
            </a:r>
            <a:r>
              <a:rPr dirty="0"/>
              <a:t>de</a:t>
            </a:r>
            <a:r>
              <a:rPr spc="-45" dirty="0"/>
              <a:t> </a:t>
            </a:r>
            <a:r>
              <a:rPr dirty="0"/>
              <a:t>otimização</a:t>
            </a:r>
            <a:r>
              <a:rPr spc="-40" dirty="0"/>
              <a:t> </a:t>
            </a:r>
            <a:r>
              <a:rPr spc="-25" dirty="0"/>
              <a:t>dos </a:t>
            </a:r>
            <a:r>
              <a:rPr spc="-10" dirty="0"/>
              <a:t>pesos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3"/>
              <p:cNvSpPr txBox="1"/>
              <p:nvPr/>
            </p:nvSpPr>
            <p:spPr>
              <a:xfrm>
                <a:off x="916939" y="1635632"/>
                <a:ext cx="10040620" cy="2794000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295275" indent="-283210">
                  <a:lnSpc>
                    <a:spcPts val="3329"/>
                  </a:lnSpc>
                  <a:spcBef>
                    <a:spcPts val="95"/>
                  </a:spcBef>
                  <a:buSzPct val="96428"/>
                  <a:buFont typeface="Wingdings"/>
                  <a:buChar char=""/>
                  <a:tabLst>
                    <a:tab pos="295910" algn="l"/>
                  </a:tabLst>
                </a:pPr>
                <a:r>
                  <a:rPr sz="2800" b="1" spc="-10" dirty="0">
                    <a:latin typeface="Calibri"/>
                    <a:cs typeface="Calibri"/>
                  </a:rPr>
                  <a:t>Momentum</a:t>
                </a:r>
                <a:endParaRPr sz="2800" dirty="0">
                  <a:latin typeface="Calibri"/>
                  <a:cs typeface="Calibri"/>
                </a:endParaRPr>
              </a:p>
              <a:p>
                <a:pPr marL="698500" marR="189230" lvl="1" indent="-228600">
                  <a:lnSpc>
                    <a:spcPct val="80000"/>
                  </a:lnSpc>
                  <a:spcBef>
                    <a:spcPts val="550"/>
                  </a:spcBef>
                  <a:buFont typeface="Wingdings"/>
                  <a:buChar char=""/>
                  <a:tabLst>
                    <a:tab pos="699135" algn="l"/>
                  </a:tabLst>
                </a:pPr>
                <a:r>
                  <a:rPr sz="2400" dirty="0">
                    <a:latin typeface="Calibri"/>
                    <a:cs typeface="Calibri"/>
                  </a:rPr>
                  <a:t>O</a:t>
                </a:r>
                <a:r>
                  <a:rPr sz="2400" spc="-35" dirty="0">
                    <a:latin typeface="Calibri"/>
                    <a:cs typeface="Calibri"/>
                  </a:rPr>
                  <a:t> </a:t>
                </a:r>
                <a:r>
                  <a:rPr sz="2400" b="1" i="1" dirty="0">
                    <a:latin typeface="Calibri"/>
                    <a:cs typeface="Calibri"/>
                  </a:rPr>
                  <a:t>termo</a:t>
                </a:r>
                <a:r>
                  <a:rPr sz="2400" b="1" i="1" spc="-15" dirty="0">
                    <a:latin typeface="Calibri"/>
                    <a:cs typeface="Calibri"/>
                  </a:rPr>
                  <a:t> </a:t>
                </a:r>
                <a:r>
                  <a:rPr sz="2400" b="1" i="1" dirty="0">
                    <a:latin typeface="Calibri"/>
                    <a:cs typeface="Calibri"/>
                  </a:rPr>
                  <a:t>momento</a:t>
                </a:r>
                <a:r>
                  <a:rPr sz="2400" b="1" i="1" spc="-30" dirty="0">
                    <a:latin typeface="Calibri"/>
                    <a:cs typeface="Calibri"/>
                  </a:rPr>
                  <a:t> </a:t>
                </a:r>
                <a:r>
                  <a:rPr sz="2400" dirty="0">
                    <a:latin typeface="Calibri"/>
                    <a:cs typeface="Calibri"/>
                  </a:rPr>
                  <a:t>é</a:t>
                </a:r>
                <a:r>
                  <a:rPr sz="2400" spc="-25" dirty="0">
                    <a:latin typeface="Calibri"/>
                    <a:cs typeface="Calibri"/>
                  </a:rPr>
                  <a:t> </a:t>
                </a:r>
                <a:r>
                  <a:rPr sz="2400" dirty="0">
                    <a:latin typeface="Calibri"/>
                    <a:cs typeface="Calibri"/>
                  </a:rPr>
                  <a:t>adicionado</a:t>
                </a:r>
                <a:r>
                  <a:rPr sz="2400" spc="-30" dirty="0">
                    <a:latin typeface="Calibri"/>
                    <a:cs typeface="Calibri"/>
                  </a:rPr>
                  <a:t> </a:t>
                </a:r>
                <a:r>
                  <a:rPr sz="2400" dirty="0">
                    <a:latin typeface="Calibri"/>
                    <a:cs typeface="Calibri"/>
                  </a:rPr>
                  <a:t>à</a:t>
                </a:r>
                <a:r>
                  <a:rPr sz="2400" spc="-35" dirty="0">
                    <a:latin typeface="Calibri"/>
                    <a:cs typeface="Calibri"/>
                  </a:rPr>
                  <a:t> </a:t>
                </a:r>
                <a:r>
                  <a:rPr sz="2400" b="1" i="1" dirty="0">
                    <a:latin typeface="Calibri"/>
                    <a:cs typeface="Calibri"/>
                  </a:rPr>
                  <a:t>equação</a:t>
                </a:r>
                <a:r>
                  <a:rPr sz="2400" b="1" i="1" spc="-40" dirty="0">
                    <a:latin typeface="Calibri"/>
                    <a:cs typeface="Calibri"/>
                  </a:rPr>
                  <a:t> </a:t>
                </a:r>
                <a:r>
                  <a:rPr sz="2400" b="1" i="1" dirty="0">
                    <a:latin typeface="Calibri"/>
                    <a:cs typeface="Calibri"/>
                  </a:rPr>
                  <a:t>de</a:t>
                </a:r>
                <a:r>
                  <a:rPr sz="2400" b="1" i="1" spc="-35" dirty="0">
                    <a:latin typeface="Calibri"/>
                    <a:cs typeface="Calibri"/>
                  </a:rPr>
                  <a:t> </a:t>
                </a:r>
                <a:r>
                  <a:rPr sz="2400" b="1" i="1" dirty="0">
                    <a:latin typeface="Calibri"/>
                    <a:cs typeface="Calibri"/>
                  </a:rPr>
                  <a:t>atualização</a:t>
                </a:r>
                <a:r>
                  <a:rPr sz="2400" b="1" i="1" spc="-60" dirty="0">
                    <a:latin typeface="Calibri"/>
                    <a:cs typeface="Calibri"/>
                  </a:rPr>
                  <a:t> </a:t>
                </a:r>
                <a:r>
                  <a:rPr sz="2400" b="1" i="1" dirty="0">
                    <a:latin typeface="Calibri"/>
                    <a:cs typeface="Calibri"/>
                  </a:rPr>
                  <a:t>dos</a:t>
                </a:r>
                <a:r>
                  <a:rPr sz="2400" b="1" i="1" spc="-20" dirty="0">
                    <a:latin typeface="Calibri"/>
                    <a:cs typeface="Calibri"/>
                  </a:rPr>
                  <a:t> </a:t>
                </a:r>
                <a:r>
                  <a:rPr sz="2400" b="1" i="1" dirty="0">
                    <a:latin typeface="Calibri"/>
                    <a:cs typeface="Calibri"/>
                  </a:rPr>
                  <a:t>pesos</a:t>
                </a:r>
                <a:r>
                  <a:rPr sz="2400" b="1" i="1" spc="-40" dirty="0">
                    <a:latin typeface="Calibri"/>
                    <a:cs typeface="Calibri"/>
                  </a:rPr>
                  <a:t> </a:t>
                </a:r>
                <a:r>
                  <a:rPr sz="2400" spc="-20" dirty="0">
                    <a:latin typeface="Calibri"/>
                    <a:cs typeface="Calibri"/>
                  </a:rPr>
                  <a:t>para </a:t>
                </a:r>
                <a:r>
                  <a:rPr sz="2400" dirty="0">
                    <a:latin typeface="Calibri"/>
                    <a:cs typeface="Calibri"/>
                  </a:rPr>
                  <a:t>incorporar</a:t>
                </a:r>
                <a:r>
                  <a:rPr sz="2400" spc="-85" dirty="0">
                    <a:latin typeface="Calibri"/>
                    <a:cs typeface="Calibri"/>
                  </a:rPr>
                  <a:t> </a:t>
                </a:r>
                <a:r>
                  <a:rPr sz="24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informação</a:t>
                </a:r>
                <a:r>
                  <a:rPr sz="2400" b="1" i="1" spc="-65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sz="24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do</a:t>
                </a:r>
                <a:r>
                  <a:rPr sz="2400" b="1" i="1" spc="-90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sz="24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histórico</a:t>
                </a:r>
                <a:r>
                  <a:rPr sz="2400" b="1" i="1" spc="-55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sz="24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de</a:t>
                </a:r>
                <a:r>
                  <a:rPr sz="2400" b="1" i="1" spc="-80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sz="24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gradientes</a:t>
                </a:r>
                <a:r>
                  <a:rPr sz="2400" b="1" i="1" spc="-65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sz="2400" b="1" i="1" spc="-10" dirty="0">
                    <a:solidFill>
                      <a:srgbClr val="00AF50"/>
                    </a:solidFill>
                    <a:latin typeface="Calibri"/>
                    <a:cs typeface="Calibri"/>
                  </a:rPr>
                  <a:t>anteriores</a:t>
                </a:r>
                <a:r>
                  <a:rPr sz="2400" spc="-10" dirty="0">
                    <a:latin typeface="Calibri"/>
                    <a:cs typeface="Calibri"/>
                  </a:rPr>
                  <a:t>.</a:t>
                </a:r>
                <a:endParaRPr sz="2400" dirty="0">
                  <a:latin typeface="Calibri"/>
                  <a:cs typeface="Calibri"/>
                </a:endParaRPr>
              </a:p>
              <a:p>
                <a:pPr marL="698500" marR="5080" lvl="1" indent="-228600">
                  <a:lnSpc>
                    <a:spcPct val="80000"/>
                  </a:lnSpc>
                  <a:spcBef>
                    <a:spcPts val="495"/>
                  </a:spcBef>
                  <a:buFont typeface="Wingdings"/>
                  <a:buChar char=""/>
                  <a:tabLst>
                    <a:tab pos="699135" algn="l"/>
                  </a:tabLst>
                </a:pPr>
                <a:r>
                  <a:rPr sz="2400" dirty="0">
                    <a:latin typeface="Calibri"/>
                    <a:cs typeface="Calibri"/>
                  </a:rPr>
                  <a:t>Esse</a:t>
                </a:r>
                <a:r>
                  <a:rPr sz="2400" spc="-35" dirty="0">
                    <a:latin typeface="Calibri"/>
                    <a:cs typeface="Calibri"/>
                  </a:rPr>
                  <a:t> </a:t>
                </a:r>
                <a:r>
                  <a:rPr sz="2400" dirty="0">
                    <a:latin typeface="Calibri"/>
                    <a:cs typeface="Calibri"/>
                  </a:rPr>
                  <a:t>termo</a:t>
                </a:r>
                <a:r>
                  <a:rPr sz="2400" spc="-45" dirty="0">
                    <a:latin typeface="Calibri"/>
                    <a:cs typeface="Calibri"/>
                  </a:rPr>
                  <a:t> </a:t>
                </a:r>
                <a:r>
                  <a:rPr sz="2400" dirty="0">
                    <a:latin typeface="Calibri"/>
                    <a:cs typeface="Calibri"/>
                  </a:rPr>
                  <a:t>tem</a:t>
                </a:r>
                <a:r>
                  <a:rPr sz="2400" spc="-50" dirty="0">
                    <a:latin typeface="Calibri"/>
                    <a:cs typeface="Calibri"/>
                  </a:rPr>
                  <a:t> </a:t>
                </a:r>
                <a:r>
                  <a:rPr sz="2400" dirty="0">
                    <a:latin typeface="Calibri"/>
                    <a:cs typeface="Calibri"/>
                  </a:rPr>
                  <a:t>o</a:t>
                </a:r>
                <a:r>
                  <a:rPr sz="2400" spc="-40" dirty="0">
                    <a:latin typeface="Calibri"/>
                    <a:cs typeface="Calibri"/>
                  </a:rPr>
                  <a:t> </a:t>
                </a:r>
                <a:r>
                  <a:rPr sz="2400" dirty="0">
                    <a:latin typeface="Calibri"/>
                    <a:cs typeface="Calibri"/>
                  </a:rPr>
                  <a:t>potencial</a:t>
                </a:r>
                <a:r>
                  <a:rPr sz="2400" spc="-45" dirty="0">
                    <a:latin typeface="Calibri"/>
                    <a:cs typeface="Calibri"/>
                  </a:rPr>
                  <a:t> </a:t>
                </a:r>
                <a:r>
                  <a:rPr sz="2400" dirty="0">
                    <a:latin typeface="Calibri"/>
                    <a:cs typeface="Calibri"/>
                  </a:rPr>
                  <a:t>de</a:t>
                </a:r>
                <a:r>
                  <a:rPr sz="2400" spc="-20" dirty="0">
                    <a:latin typeface="Calibri"/>
                    <a:cs typeface="Calibri"/>
                  </a:rPr>
                  <a:t> </a:t>
                </a:r>
                <a:r>
                  <a:rPr sz="24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aumentar</a:t>
                </a:r>
                <a:r>
                  <a:rPr sz="2400" b="1" i="1" spc="-45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sz="24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a</a:t>
                </a:r>
                <a:r>
                  <a:rPr sz="2400" b="1" i="1" spc="-40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sz="24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velocidade</a:t>
                </a:r>
                <a:r>
                  <a:rPr sz="2400" b="1" i="1" spc="-55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sz="24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de</a:t>
                </a:r>
                <a:r>
                  <a:rPr sz="2400" b="1" i="1" spc="-40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sz="24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convergência</a:t>
                </a:r>
                <a:r>
                  <a:rPr sz="2400" b="1" i="1" spc="-30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sz="2400" spc="-25" dirty="0">
                    <a:latin typeface="Calibri"/>
                    <a:cs typeface="Calibri"/>
                  </a:rPr>
                  <a:t>das </a:t>
                </a:r>
                <a:r>
                  <a:rPr sz="2400" dirty="0">
                    <a:latin typeface="Calibri"/>
                    <a:cs typeface="Calibri"/>
                  </a:rPr>
                  <a:t>versões</a:t>
                </a:r>
                <a:r>
                  <a:rPr sz="2400" spc="-25" dirty="0">
                    <a:latin typeface="Calibri"/>
                    <a:cs typeface="Calibri"/>
                  </a:rPr>
                  <a:t> </a:t>
                </a:r>
                <a:r>
                  <a:rPr sz="2400" dirty="0">
                    <a:latin typeface="Calibri"/>
                    <a:cs typeface="Calibri"/>
                  </a:rPr>
                  <a:t>GDE</a:t>
                </a:r>
                <a:r>
                  <a:rPr sz="2400" spc="-5" dirty="0">
                    <a:latin typeface="Calibri"/>
                    <a:cs typeface="Calibri"/>
                  </a:rPr>
                  <a:t> </a:t>
                </a:r>
                <a:r>
                  <a:rPr sz="2400" dirty="0">
                    <a:latin typeface="Calibri"/>
                    <a:cs typeface="Calibri"/>
                  </a:rPr>
                  <a:t>e</a:t>
                </a:r>
                <a:r>
                  <a:rPr sz="2400" spc="-5" dirty="0">
                    <a:latin typeface="Calibri"/>
                    <a:cs typeface="Calibri"/>
                  </a:rPr>
                  <a:t> </a:t>
                </a:r>
                <a:r>
                  <a:rPr sz="2400" dirty="0">
                    <a:latin typeface="Calibri"/>
                    <a:cs typeface="Calibri"/>
                  </a:rPr>
                  <a:t>em</a:t>
                </a:r>
                <a:r>
                  <a:rPr sz="2400" spc="-20" dirty="0">
                    <a:latin typeface="Calibri"/>
                    <a:cs typeface="Calibri"/>
                  </a:rPr>
                  <a:t> </a:t>
                </a:r>
                <a:r>
                  <a:rPr sz="2400" spc="-10" dirty="0">
                    <a:latin typeface="Calibri"/>
                    <a:cs typeface="Calibri"/>
                  </a:rPr>
                  <a:t>mini-</a:t>
                </a:r>
                <a:r>
                  <a:rPr sz="2400" dirty="0">
                    <a:latin typeface="Calibri"/>
                    <a:cs typeface="Calibri"/>
                  </a:rPr>
                  <a:t>lotes</a:t>
                </a:r>
                <a:r>
                  <a:rPr sz="2400" spc="-20" dirty="0">
                    <a:latin typeface="Calibri"/>
                    <a:cs typeface="Calibri"/>
                  </a:rPr>
                  <a:t> </a:t>
                </a:r>
                <a:r>
                  <a:rPr sz="2400" dirty="0">
                    <a:latin typeface="Calibri"/>
                    <a:cs typeface="Calibri"/>
                  </a:rPr>
                  <a:t>e</a:t>
                </a:r>
                <a:r>
                  <a:rPr sz="2400" spc="-5" dirty="0">
                    <a:latin typeface="Calibri"/>
                    <a:cs typeface="Calibri"/>
                  </a:rPr>
                  <a:t> </a:t>
                </a:r>
                <a:r>
                  <a:rPr sz="2400" b="1" i="1" spc="-10" dirty="0">
                    <a:solidFill>
                      <a:srgbClr val="00AF50"/>
                    </a:solidFill>
                    <a:latin typeface="Calibri"/>
                    <a:cs typeface="Calibri"/>
                  </a:rPr>
                  <a:t>deixá-</a:t>
                </a:r>
                <a:r>
                  <a:rPr sz="24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las</a:t>
                </a:r>
                <a:r>
                  <a:rPr sz="2400" b="1" i="1" spc="-40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sz="24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mais</a:t>
                </a:r>
                <a:r>
                  <a:rPr sz="2400" b="1" i="1" spc="-20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sz="2400" b="1" i="1" spc="-10" dirty="0">
                    <a:solidFill>
                      <a:srgbClr val="00AF50"/>
                    </a:solidFill>
                    <a:latin typeface="Calibri"/>
                    <a:cs typeface="Calibri"/>
                  </a:rPr>
                  <a:t>estáveis</a:t>
                </a:r>
                <a:r>
                  <a:rPr sz="2400" spc="-10" dirty="0">
                    <a:latin typeface="Calibri"/>
                    <a:cs typeface="Calibri"/>
                  </a:rPr>
                  <a:t>.</a:t>
                </a:r>
                <a:endParaRPr sz="2400" dirty="0">
                  <a:latin typeface="Calibri"/>
                  <a:cs typeface="Calibri"/>
                </a:endParaRPr>
              </a:p>
              <a:p>
                <a:pPr marL="698500" lvl="1" indent="-229235">
                  <a:lnSpc>
                    <a:spcPts val="2640"/>
                  </a:lnSpc>
                  <a:buFont typeface="Wingdings"/>
                  <a:buChar char=""/>
                  <a:tabLst>
                    <a:tab pos="699135" algn="l"/>
                  </a:tabLst>
                </a:pPr>
                <a:r>
                  <a:rPr sz="2400" dirty="0">
                    <a:latin typeface="Calibri"/>
                    <a:cs typeface="Calibri"/>
                  </a:rPr>
                  <a:t>A</a:t>
                </a:r>
                <a:r>
                  <a:rPr sz="2400" spc="-40" dirty="0">
                    <a:latin typeface="Calibri"/>
                    <a:cs typeface="Calibri"/>
                  </a:rPr>
                  <a:t> </a:t>
                </a:r>
                <a:r>
                  <a:rPr sz="2400" b="1" i="1" dirty="0">
                    <a:latin typeface="Calibri"/>
                    <a:cs typeface="Calibri"/>
                  </a:rPr>
                  <a:t>atualização</a:t>
                </a:r>
                <a:r>
                  <a:rPr sz="2400" b="1" i="1" spc="-50" dirty="0">
                    <a:latin typeface="Calibri"/>
                    <a:cs typeface="Calibri"/>
                  </a:rPr>
                  <a:t> </a:t>
                </a:r>
                <a:r>
                  <a:rPr sz="2400" b="1" i="1" dirty="0">
                    <a:latin typeface="Calibri"/>
                    <a:cs typeface="Calibri"/>
                  </a:rPr>
                  <a:t>dos</a:t>
                </a:r>
                <a:r>
                  <a:rPr sz="2400" b="1" i="1" spc="-35" dirty="0">
                    <a:latin typeface="Calibri"/>
                    <a:cs typeface="Calibri"/>
                  </a:rPr>
                  <a:t> </a:t>
                </a:r>
                <a:r>
                  <a:rPr sz="2400" b="1" i="1" dirty="0">
                    <a:latin typeface="Calibri"/>
                    <a:cs typeface="Calibri"/>
                  </a:rPr>
                  <a:t>pesos</a:t>
                </a:r>
                <a:r>
                  <a:rPr sz="2400" b="1" i="1" spc="-25" dirty="0">
                    <a:latin typeface="Calibri"/>
                    <a:cs typeface="Calibri"/>
                  </a:rPr>
                  <a:t> </a:t>
                </a:r>
                <a:r>
                  <a:rPr sz="2400" dirty="0">
                    <a:latin typeface="Calibri"/>
                    <a:cs typeface="Calibri"/>
                  </a:rPr>
                  <a:t>com</a:t>
                </a:r>
                <a:r>
                  <a:rPr sz="2400" spc="-40" dirty="0">
                    <a:latin typeface="Calibri"/>
                    <a:cs typeface="Calibri"/>
                  </a:rPr>
                  <a:t> </a:t>
                </a:r>
                <a:r>
                  <a:rPr sz="2400" dirty="0">
                    <a:latin typeface="Calibri"/>
                    <a:cs typeface="Calibri"/>
                  </a:rPr>
                  <a:t>o</a:t>
                </a:r>
                <a:r>
                  <a:rPr sz="2400" spc="-30" dirty="0">
                    <a:latin typeface="Calibri"/>
                    <a:cs typeface="Calibri"/>
                  </a:rPr>
                  <a:t> </a:t>
                </a:r>
                <a:r>
                  <a:rPr sz="2400" b="1" i="1" dirty="0">
                    <a:latin typeface="Calibri"/>
                    <a:cs typeface="Calibri"/>
                  </a:rPr>
                  <a:t>termo</a:t>
                </a:r>
                <a:r>
                  <a:rPr sz="2400" b="1" i="1" spc="-20" dirty="0">
                    <a:latin typeface="Calibri"/>
                    <a:cs typeface="Calibri"/>
                  </a:rPr>
                  <a:t> </a:t>
                </a:r>
                <a:r>
                  <a:rPr sz="2400" b="1" i="1" dirty="0">
                    <a:latin typeface="Calibri"/>
                    <a:cs typeface="Calibri"/>
                  </a:rPr>
                  <a:t>momento</a:t>
                </a:r>
                <a:r>
                  <a:rPr sz="2400" b="1" i="1" spc="-35" dirty="0">
                    <a:latin typeface="Calibri"/>
                    <a:cs typeface="Calibri"/>
                  </a:rPr>
                  <a:t> </a:t>
                </a:r>
                <a:r>
                  <a:rPr sz="2400" dirty="0">
                    <a:latin typeface="Calibri"/>
                    <a:cs typeface="Calibri"/>
                  </a:rPr>
                  <a:t>é</a:t>
                </a:r>
                <a:r>
                  <a:rPr sz="2400" spc="-20" dirty="0">
                    <a:latin typeface="Calibri"/>
                    <a:cs typeface="Calibri"/>
                  </a:rPr>
                  <a:t> </a:t>
                </a:r>
                <a:r>
                  <a:rPr sz="2400" dirty="0">
                    <a:latin typeface="Calibri"/>
                    <a:cs typeface="Calibri"/>
                  </a:rPr>
                  <a:t>dada</a:t>
                </a:r>
                <a:r>
                  <a:rPr sz="2400" spc="-20" dirty="0">
                    <a:latin typeface="Calibri"/>
                    <a:cs typeface="Calibri"/>
                  </a:rPr>
                  <a:t> </a:t>
                </a:r>
                <a:r>
                  <a:rPr sz="2400" spc="-25" dirty="0">
                    <a:latin typeface="Calibri"/>
                    <a:cs typeface="Calibri"/>
                  </a:rPr>
                  <a:t>por</a:t>
                </a:r>
                <a:endParaRPr sz="2400" dirty="0">
                  <a:latin typeface="Calibri"/>
                  <a:cs typeface="Calibri"/>
                </a:endParaRPr>
              </a:p>
              <a:p>
                <a:pPr marL="542925" algn="ctr">
                  <a:lnSpc>
                    <a:spcPts val="27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 dirty="0" smtClean="0">
                          <a:latin typeface="Cambria Math" panose="02040503050406030204" pitchFamily="18" charset="0"/>
                          <a:cs typeface="Cambria Math"/>
                        </a:rPr>
                        <m:t>𝒘</m:t>
                      </m:r>
                      <m:r>
                        <a:rPr lang="pt-BR" sz="2400" i="1" dirty="0">
                          <a:latin typeface="Cambria Math" panose="02040503050406030204" pitchFamily="18" charset="0"/>
                          <a:cs typeface="Cambria Math"/>
                        </a:rPr>
                        <m:t>←</m:t>
                      </m:r>
                      <m:r>
                        <a:rPr lang="pt-BR" sz="2400" i="1" dirty="0">
                          <a:latin typeface="Cambria Math" panose="02040503050406030204" pitchFamily="18" charset="0"/>
                          <a:cs typeface="Cambria Math"/>
                        </a:rPr>
                        <m:t>𝒘</m:t>
                      </m:r>
                      <m:r>
                        <a:rPr lang="pt-BR" sz="2400" i="1" dirty="0">
                          <a:latin typeface="Cambria Math" panose="02040503050406030204" pitchFamily="18" charset="0"/>
                          <a:cs typeface="Cambria Math"/>
                        </a:rPr>
                        <m:t>−</m:t>
                      </m:r>
                      <m:r>
                        <a:rPr lang="pt-BR" sz="2400" i="1" spc="-25" dirty="0">
                          <a:latin typeface="Cambria Math" panose="02040503050406030204" pitchFamily="18" charset="0"/>
                          <a:cs typeface="Cambria Math"/>
                        </a:rPr>
                        <m:t>𝛼</m:t>
                      </m:r>
                      <m:r>
                        <a:rPr lang="pt-BR" sz="2400" i="1" spc="-25" dirty="0">
                          <a:latin typeface="Cambria Math" panose="02040503050406030204" pitchFamily="18" charset="0"/>
                          <a:cs typeface="Cambria Math"/>
                        </a:rPr>
                        <m:t>𝒗</m:t>
                      </m:r>
                      <m:r>
                        <a:rPr lang="pt-BR" sz="2400" i="1" spc="-25" dirty="0">
                          <a:latin typeface="Cambria Math" panose="02040503050406030204" pitchFamily="18" charset="0"/>
                          <a:cs typeface="Cambria Math"/>
                        </a:rPr>
                        <m:t>,</m:t>
                      </m:r>
                    </m:oMath>
                  </m:oMathPara>
                </a14:m>
                <a:endParaRPr sz="2400" dirty="0">
                  <a:latin typeface="Cambria Math"/>
                  <a:cs typeface="Cambria Math"/>
                </a:endParaRPr>
              </a:p>
              <a:p>
                <a:pPr marL="469900">
                  <a:lnSpc>
                    <a:spcPts val="2870"/>
                  </a:lnSpc>
                </a:pPr>
                <a:r>
                  <a:rPr sz="2400" dirty="0">
                    <a:latin typeface="Calibri"/>
                    <a:cs typeface="Calibri"/>
                  </a:rPr>
                  <a:t>onde</a:t>
                </a:r>
                <a:r>
                  <a:rPr sz="2400" spc="-20" dirty="0">
                    <a:latin typeface="Calibri"/>
                    <a:cs typeface="Calibri"/>
                  </a:rPr>
                  <a:t> </a:t>
                </a:r>
                <a:r>
                  <a:rPr sz="2400" dirty="0">
                    <a:latin typeface="Cambria Math"/>
                    <a:cs typeface="Cambria Math"/>
                  </a:rPr>
                  <a:t>𝒘</a:t>
                </a:r>
                <a:r>
                  <a:rPr sz="2400" spc="-15" dirty="0">
                    <a:latin typeface="Cambria Math"/>
                    <a:cs typeface="Cambria Math"/>
                  </a:rPr>
                  <a:t> </a:t>
                </a:r>
                <a:r>
                  <a:rPr sz="2400" dirty="0">
                    <a:latin typeface="Calibri"/>
                    <a:cs typeface="Calibri"/>
                  </a:rPr>
                  <a:t>são</a:t>
                </a:r>
                <a:r>
                  <a:rPr sz="2400" spc="-20" dirty="0">
                    <a:latin typeface="Calibri"/>
                    <a:cs typeface="Calibri"/>
                  </a:rPr>
                  <a:t> </a:t>
                </a:r>
                <a:r>
                  <a:rPr sz="2400" dirty="0">
                    <a:latin typeface="Calibri"/>
                    <a:cs typeface="Calibri"/>
                  </a:rPr>
                  <a:t>os</a:t>
                </a:r>
                <a:r>
                  <a:rPr sz="2400" spc="-25" dirty="0">
                    <a:latin typeface="Calibri"/>
                    <a:cs typeface="Calibri"/>
                  </a:rPr>
                  <a:t> </a:t>
                </a:r>
                <a:r>
                  <a:rPr sz="2400" dirty="0">
                    <a:latin typeface="Calibri"/>
                    <a:cs typeface="Calibri"/>
                  </a:rPr>
                  <a:t>pesos,</a:t>
                </a:r>
                <a:r>
                  <a:rPr sz="2400" spc="-5" dirty="0">
                    <a:latin typeface="Calibri"/>
                    <a:cs typeface="Calibri"/>
                  </a:rPr>
                  <a:t> </a:t>
                </a:r>
                <a:r>
                  <a:rPr sz="2400" dirty="0">
                    <a:latin typeface="Cambria Math"/>
                    <a:cs typeface="Cambria Math"/>
                  </a:rPr>
                  <a:t>𝒗</a:t>
                </a:r>
                <a:r>
                  <a:rPr sz="2400" spc="-5" dirty="0">
                    <a:latin typeface="Cambria Math"/>
                    <a:cs typeface="Cambria Math"/>
                  </a:rPr>
                  <a:t> </a:t>
                </a:r>
                <a:r>
                  <a:rPr sz="2400" dirty="0">
                    <a:latin typeface="Calibri"/>
                    <a:cs typeface="Calibri"/>
                  </a:rPr>
                  <a:t>é</a:t>
                </a:r>
                <a:r>
                  <a:rPr sz="2400" spc="-20" dirty="0">
                    <a:latin typeface="Calibri"/>
                    <a:cs typeface="Calibri"/>
                  </a:rPr>
                  <a:t> </a:t>
                </a:r>
                <a:r>
                  <a:rPr sz="2400" dirty="0">
                    <a:latin typeface="Calibri"/>
                    <a:cs typeface="Calibri"/>
                  </a:rPr>
                  <a:t>a</a:t>
                </a:r>
                <a:r>
                  <a:rPr sz="2400" spc="-20" dirty="0">
                    <a:latin typeface="Calibri"/>
                    <a:cs typeface="Calibri"/>
                  </a:rPr>
                  <a:t> </a:t>
                </a:r>
                <a:r>
                  <a:rPr sz="2400" b="1" i="1" dirty="0">
                    <a:latin typeface="Calibri"/>
                    <a:cs typeface="Calibri"/>
                  </a:rPr>
                  <a:t>velocidade</a:t>
                </a:r>
                <a:r>
                  <a:rPr sz="2400" dirty="0">
                    <a:latin typeface="Calibri"/>
                    <a:cs typeface="Calibri"/>
                  </a:rPr>
                  <a:t>,</a:t>
                </a:r>
                <a:r>
                  <a:rPr sz="2400" spc="-50" dirty="0">
                    <a:latin typeface="Calibri"/>
                    <a:cs typeface="Calibri"/>
                  </a:rPr>
                  <a:t> </a:t>
                </a:r>
                <a:r>
                  <a:rPr sz="2400" dirty="0">
                    <a:latin typeface="Calibri"/>
                    <a:cs typeface="Calibri"/>
                  </a:rPr>
                  <a:t>a</a:t>
                </a:r>
                <a:r>
                  <a:rPr sz="2400" spc="-20" dirty="0">
                    <a:latin typeface="Calibri"/>
                    <a:cs typeface="Calibri"/>
                  </a:rPr>
                  <a:t> </a:t>
                </a:r>
                <a:r>
                  <a:rPr sz="2400" dirty="0">
                    <a:latin typeface="Calibri"/>
                    <a:cs typeface="Calibri"/>
                  </a:rPr>
                  <a:t>qual</a:t>
                </a:r>
                <a:r>
                  <a:rPr sz="2400" spc="-15" dirty="0">
                    <a:latin typeface="Calibri"/>
                    <a:cs typeface="Calibri"/>
                  </a:rPr>
                  <a:t> </a:t>
                </a:r>
                <a:r>
                  <a:rPr sz="2400" dirty="0">
                    <a:latin typeface="Calibri"/>
                    <a:cs typeface="Calibri"/>
                  </a:rPr>
                  <a:t>é</a:t>
                </a:r>
                <a:r>
                  <a:rPr sz="2400" spc="-10" dirty="0">
                    <a:latin typeface="Calibri"/>
                    <a:cs typeface="Calibri"/>
                  </a:rPr>
                  <a:t> </a:t>
                </a:r>
                <a:r>
                  <a:rPr sz="2400" dirty="0">
                    <a:latin typeface="Calibri"/>
                    <a:cs typeface="Calibri"/>
                  </a:rPr>
                  <a:t>atualizada</a:t>
                </a:r>
                <a:r>
                  <a:rPr sz="2400" spc="-20" dirty="0">
                    <a:latin typeface="Calibri"/>
                    <a:cs typeface="Calibri"/>
                  </a:rPr>
                  <a:t> </a:t>
                </a:r>
                <a:r>
                  <a:rPr sz="2400" dirty="0">
                    <a:latin typeface="Calibri"/>
                    <a:cs typeface="Calibri"/>
                  </a:rPr>
                  <a:t>da</a:t>
                </a:r>
                <a:r>
                  <a:rPr sz="2400" spc="-30" dirty="0">
                    <a:latin typeface="Calibri"/>
                    <a:cs typeface="Calibri"/>
                  </a:rPr>
                  <a:t> </a:t>
                </a:r>
                <a:r>
                  <a:rPr sz="2400" dirty="0">
                    <a:latin typeface="Calibri"/>
                    <a:cs typeface="Calibri"/>
                  </a:rPr>
                  <a:t>seguinte</a:t>
                </a:r>
                <a:r>
                  <a:rPr sz="2400" spc="-10" dirty="0">
                    <a:latin typeface="Calibri"/>
                    <a:cs typeface="Calibri"/>
                  </a:rPr>
                  <a:t> forma</a:t>
                </a:r>
                <a:endParaRPr sz="24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3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939" y="1635632"/>
                <a:ext cx="10040620" cy="2794000"/>
              </a:xfrm>
              <a:prstGeom prst="rect">
                <a:avLst/>
              </a:prstGeom>
              <a:blipFill>
                <a:blip r:embed="rId2"/>
                <a:stretch>
                  <a:fillRect l="-1761" t="-3704" r="-2004" b="-566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5"/>
              <p:cNvSpPr txBox="1"/>
              <p:nvPr/>
            </p:nvSpPr>
            <p:spPr>
              <a:xfrm>
                <a:off x="3963669" y="4417626"/>
                <a:ext cx="3947160" cy="382156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  <a:tabLst>
                    <a:tab pos="2726690" algn="l"/>
                    <a:tab pos="3094355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 dirty="0" smtClean="0">
                          <a:latin typeface="Cambria Math" panose="02040503050406030204" pitchFamily="18" charset="0"/>
                          <a:cs typeface="Cambria Math"/>
                        </a:rPr>
                        <m:t>𝒗</m:t>
                      </m:r>
                      <m:r>
                        <a:rPr lang="pt-BR" sz="2400" i="1" dirty="0">
                          <a:latin typeface="Cambria Math" panose="02040503050406030204" pitchFamily="18" charset="0"/>
                          <a:cs typeface="Cambria Math"/>
                        </a:rPr>
                        <m:t>←</m:t>
                      </m:r>
                      <m:r>
                        <a:rPr lang="pt-BR" sz="2400" i="1" dirty="0">
                          <a:latin typeface="Cambria Math" panose="02040503050406030204" pitchFamily="18" charset="0"/>
                          <a:cs typeface="Cambria Math"/>
                        </a:rPr>
                        <m:t>𝜇</m:t>
                      </m:r>
                      <m:r>
                        <a:rPr lang="pt-BR" sz="2400" i="1" dirty="0">
                          <a:latin typeface="Cambria Math" panose="02040503050406030204" pitchFamily="18" charset="0"/>
                          <a:cs typeface="Cambria Math"/>
                        </a:rPr>
                        <m:t>𝒗</m:t>
                      </m:r>
                      <m:r>
                        <a:rPr lang="pt-BR" sz="2400" i="1" dirty="0">
                          <a:latin typeface="Cambria Math" panose="02040503050406030204" pitchFamily="18" charset="0"/>
                          <a:cs typeface="Cambria Math"/>
                        </a:rPr>
                        <m:t>+(</m:t>
                      </m:r>
                      <m:r>
                        <a:rPr lang="pt-BR" sz="2400" i="1" dirty="0">
                          <a:latin typeface="Cambria Math" panose="02040503050406030204" pitchFamily="18" charset="0"/>
                          <a:cs typeface="Cambria Math"/>
                        </a:rPr>
                        <m:t>1</m:t>
                      </m:r>
                      <m:r>
                        <a:rPr lang="pt-BR" sz="2400" i="1" dirty="0">
                          <a:latin typeface="Cambria Math" panose="02040503050406030204" pitchFamily="18" charset="0"/>
                          <a:cs typeface="Cambria Math"/>
                        </a:rPr>
                        <m:t>−</m:t>
                      </m:r>
                      <m:r>
                        <a:rPr lang="pt-BR" sz="2400" i="1" spc="-20" dirty="0">
                          <a:latin typeface="Cambria Math" panose="02040503050406030204" pitchFamily="18" charset="0"/>
                          <a:cs typeface="Cambria Math"/>
                        </a:rPr>
                        <m:t>𝜇</m:t>
                      </m:r>
                      <m:r>
                        <a:rPr lang="pt-BR" sz="2400" i="1" spc="-20" dirty="0">
                          <a:latin typeface="Cambria Math" panose="02040503050406030204" pitchFamily="18" charset="0"/>
                          <a:cs typeface="Cambria Math"/>
                        </a:rPr>
                        <m:t>)</m:t>
                      </m:r>
                      <m:r>
                        <a:rPr lang="pt-BR" sz="2400" i="1" spc="-20" dirty="0" smtClean="0">
                          <a:latin typeface="Cambria Math" panose="02040503050406030204" pitchFamily="18" charset="0"/>
                          <a:cs typeface="Cambria Math"/>
                        </a:rPr>
                        <m:t>𝛻</m:t>
                      </m:r>
                      <m:r>
                        <a:rPr lang="pt-BR" sz="2400" i="1" spc="-20" dirty="0" smtClean="0">
                          <a:latin typeface="Cambria Math" panose="02040503050406030204" pitchFamily="18" charset="0"/>
                          <a:cs typeface="Cambria Math"/>
                        </a:rPr>
                        <m:t>𝐽</m:t>
                      </m:r>
                      <m:r>
                        <a:rPr lang="pt-BR" sz="2400" i="1" spc="-20" dirty="0">
                          <a:latin typeface="Cambria Math" panose="02040503050406030204" pitchFamily="18" charset="0"/>
                          <a:cs typeface="Cambria Math"/>
                        </a:rPr>
                        <m:t>(</m:t>
                      </m:r>
                      <m:r>
                        <a:rPr lang="pt-BR" sz="2400" i="1" spc="-50" dirty="0" smtClean="0">
                          <a:latin typeface="Cambria Math" panose="02040503050406030204" pitchFamily="18" charset="0"/>
                          <a:cs typeface="Cambria Math"/>
                        </a:rPr>
                        <m:t>𝒘</m:t>
                      </m:r>
                      <m:r>
                        <a:rPr lang="pt-BR" sz="2400" i="1" spc="-50" dirty="0" smtClean="0">
                          <a:latin typeface="Cambria Math" panose="02040503050406030204" pitchFamily="18" charset="0"/>
                          <a:cs typeface="Cambria Math"/>
                        </a:rPr>
                        <m:t>)</m:t>
                      </m:r>
                      <m:r>
                        <a:rPr lang="pt-BR" sz="2400" i="1" dirty="0">
                          <a:latin typeface="Cambria Math" panose="02040503050406030204" pitchFamily="18" charset="0"/>
                          <a:cs typeface="Cambria Math"/>
                        </a:rPr>
                        <m:t>	</m:t>
                      </m:r>
                      <m:r>
                        <a:rPr lang="pt-BR" sz="2400" i="1" spc="-50" dirty="0">
                          <a:latin typeface="Cambria Math" panose="02040503050406030204" pitchFamily="18" charset="0"/>
                          <a:cs typeface="Cambria Math"/>
                        </a:rPr>
                        <m:t>,</m:t>
                      </m:r>
                    </m:oMath>
                  </m:oMathPara>
                </a14:m>
                <a:endParaRPr sz="2400" dirty="0">
                  <a:latin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5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3669" y="4417626"/>
                <a:ext cx="3947160" cy="382156"/>
              </a:xfrm>
              <a:prstGeom prst="rect">
                <a:avLst/>
              </a:prstGeom>
              <a:blipFill>
                <a:blip r:embed="rId3"/>
                <a:stretch>
                  <a:fillRect b="-3709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object 7"/>
          <p:cNvSpPr txBox="1"/>
          <p:nvPr/>
        </p:nvSpPr>
        <p:spPr>
          <a:xfrm>
            <a:off x="1387348" y="4874895"/>
            <a:ext cx="10563860" cy="198310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 marR="5080">
              <a:lnSpc>
                <a:spcPct val="80000"/>
              </a:lnSpc>
              <a:spcBef>
                <a:spcPts val="675"/>
              </a:spcBef>
              <a:tabLst>
                <a:tab pos="1225550" algn="l"/>
                <a:tab pos="1659889" algn="l"/>
              </a:tabLst>
            </a:pPr>
            <a:r>
              <a:rPr sz="2400" dirty="0">
                <a:latin typeface="Calibri"/>
                <a:cs typeface="Calibri"/>
              </a:rPr>
              <a:t>onde,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𝛻𝐽</a:t>
            </a:r>
            <a:r>
              <a:rPr lang="pt-BR" sz="2400" spc="-25" dirty="0">
                <a:latin typeface="Cambria Math"/>
                <a:cs typeface="Cambria Math"/>
              </a:rPr>
              <a:t>(</a:t>
            </a:r>
            <a:r>
              <a:rPr sz="2400" spc="-50" dirty="0">
                <a:latin typeface="Cambria Math"/>
                <a:cs typeface="Cambria Math"/>
              </a:rPr>
              <a:t>𝒘</a:t>
            </a:r>
            <a:r>
              <a:rPr lang="pt-BR" sz="2400" spc="-50" dirty="0">
                <a:latin typeface="Cambria Math"/>
                <a:cs typeface="Cambria Math"/>
              </a:rPr>
              <a:t>)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vetor</a:t>
            </a:r>
            <a:r>
              <a:rPr sz="2400" b="1" i="1" spc="-2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gradiente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𝛼</a:t>
            </a:r>
            <a:r>
              <a:rPr sz="2400" spc="65" dirty="0">
                <a:latin typeface="Cambria Math"/>
                <a:cs typeface="Cambria Math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passo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de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aprendizagem</a:t>
            </a:r>
            <a:r>
              <a:rPr sz="2400" b="1" i="1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𝜇</a:t>
            </a:r>
            <a:r>
              <a:rPr sz="2400" spc="6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∈</a:t>
            </a:r>
            <a:r>
              <a:rPr sz="2400" spc="13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[0,1)</a:t>
            </a:r>
            <a:r>
              <a:rPr sz="2400" spc="-20" dirty="0">
                <a:latin typeface="Cambria Math"/>
                <a:cs typeface="Cambria Math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o </a:t>
            </a:r>
            <a:r>
              <a:rPr sz="2400" b="1" i="1" dirty="0">
                <a:latin typeface="Calibri"/>
                <a:cs typeface="Calibri"/>
              </a:rPr>
              <a:t>coeficiente</a:t>
            </a:r>
            <a:r>
              <a:rPr sz="2400" b="1" i="1" spc="-5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de</a:t>
            </a:r>
            <a:r>
              <a:rPr sz="2400" b="1" i="1" spc="-5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momento</a:t>
            </a:r>
            <a:r>
              <a:rPr sz="2400" b="1" i="1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determina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rapidez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contribuições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gradientes </a:t>
            </a:r>
            <a:r>
              <a:rPr sz="2400" dirty="0">
                <a:latin typeface="Calibri"/>
                <a:cs typeface="Calibri"/>
              </a:rPr>
              <a:t>anteriores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decaem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(ou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seja,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𝜇</a:t>
            </a:r>
            <a:r>
              <a:rPr sz="2400" spc="55" dirty="0">
                <a:latin typeface="Cambria Math"/>
                <a:cs typeface="Cambria Math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termo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dita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quantidade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memória).</a:t>
            </a:r>
            <a:endParaRPr sz="2400" dirty="0">
              <a:latin typeface="Calibri"/>
              <a:cs typeface="Calibri"/>
            </a:endParaRPr>
          </a:p>
          <a:p>
            <a:pPr marL="241300" marR="548005" indent="-228600">
              <a:lnSpc>
                <a:spcPct val="80000"/>
              </a:lnSpc>
              <a:spcBef>
                <a:spcPts val="505"/>
              </a:spcBef>
              <a:buFont typeface="Wingdings"/>
              <a:buChar char="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Quanto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maior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μ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maior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será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influência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gradientes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anteriores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direção </a:t>
            </a:r>
            <a:r>
              <a:rPr sz="2400" dirty="0">
                <a:latin typeface="Calibri"/>
                <a:cs typeface="Calibri"/>
              </a:rPr>
              <a:t>atual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quanto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menor,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menor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influência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gradientes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anteriores.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ts val="2810"/>
              </a:lnSpc>
              <a:buFont typeface="Wingdings"/>
              <a:buChar char=""/>
              <a:tabLst>
                <a:tab pos="241300" algn="l"/>
              </a:tabLst>
            </a:pPr>
            <a:r>
              <a:rPr sz="2400" dirty="0">
                <a:latin typeface="Cambria Math"/>
                <a:cs typeface="Cambria Math"/>
              </a:rPr>
              <a:t>𝒗</a:t>
            </a:r>
            <a:r>
              <a:rPr sz="2400" spc="-20" dirty="0">
                <a:latin typeface="Cambria Math"/>
                <a:cs typeface="Cambria Math"/>
              </a:rPr>
              <a:t> </a:t>
            </a:r>
            <a:r>
              <a:rPr sz="2400" dirty="0">
                <a:latin typeface="Calibri"/>
                <a:cs typeface="Calibri"/>
              </a:rPr>
              <a:t>dá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direção</a:t>
            </a:r>
            <a:r>
              <a:rPr sz="2400" b="1" i="1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velocidade</a:t>
            </a:r>
            <a:r>
              <a:rPr sz="2400" b="1" i="1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qual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pesos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movem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pelo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espaço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pesos.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962392" y="4481321"/>
            <a:ext cx="28422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Média</a:t>
            </a:r>
            <a:r>
              <a:rPr sz="1200" spc="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móvel</a:t>
            </a:r>
            <a:r>
              <a:rPr sz="1200" spc="5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exponencialmente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decrescente.</a:t>
            </a:r>
            <a:endParaRPr sz="1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8427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spc="-10" dirty="0"/>
              <a:t>Variações</a:t>
            </a:r>
            <a:r>
              <a:rPr spc="-55" dirty="0"/>
              <a:t> </a:t>
            </a:r>
            <a:r>
              <a:rPr dirty="0"/>
              <a:t>dos</a:t>
            </a:r>
            <a:r>
              <a:rPr spc="-65" dirty="0"/>
              <a:t> </a:t>
            </a:r>
            <a:r>
              <a:rPr dirty="0"/>
              <a:t>algoritmos</a:t>
            </a:r>
            <a:r>
              <a:rPr spc="-70" dirty="0"/>
              <a:t> </a:t>
            </a:r>
            <a:r>
              <a:rPr dirty="0"/>
              <a:t>de</a:t>
            </a:r>
            <a:r>
              <a:rPr spc="-70" dirty="0"/>
              <a:t> </a:t>
            </a:r>
            <a:r>
              <a:rPr dirty="0"/>
              <a:t>otimização</a:t>
            </a:r>
            <a:r>
              <a:rPr spc="-40" dirty="0"/>
              <a:t> </a:t>
            </a:r>
            <a:r>
              <a:rPr spc="-25" dirty="0"/>
              <a:t>dos </a:t>
            </a:r>
            <a:r>
              <a:rPr spc="-10" dirty="0"/>
              <a:t>pesos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59966"/>
            <a:ext cx="7947659" cy="49498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5275" indent="-283210">
              <a:lnSpc>
                <a:spcPts val="3329"/>
              </a:lnSpc>
              <a:spcBef>
                <a:spcPts val="95"/>
              </a:spcBef>
              <a:buSzPct val="96428"/>
              <a:buFont typeface="Wingdings"/>
              <a:buChar char=""/>
              <a:tabLst>
                <a:tab pos="295910" algn="l"/>
              </a:tabLst>
            </a:pPr>
            <a:r>
              <a:rPr sz="2800" b="1" spc="-10" dirty="0">
                <a:latin typeface="Calibri"/>
                <a:cs typeface="Calibri"/>
              </a:rPr>
              <a:t>Momentum</a:t>
            </a:r>
            <a:endParaRPr sz="2800" dirty="0">
              <a:latin typeface="Calibri"/>
              <a:cs typeface="Calibri"/>
            </a:endParaRPr>
          </a:p>
          <a:p>
            <a:pPr marL="698500" lvl="1" indent="-229235">
              <a:lnSpc>
                <a:spcPts val="2565"/>
              </a:lnSpc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Em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física,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momento</a:t>
            </a:r>
            <a:r>
              <a:rPr sz="2400" b="1" i="1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igual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massa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de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uma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partícula</a:t>
            </a:r>
            <a:endParaRPr sz="2400" dirty="0">
              <a:latin typeface="Calibri"/>
              <a:cs typeface="Calibri"/>
            </a:endParaRPr>
          </a:p>
          <a:p>
            <a:pPr marL="698500">
              <a:lnSpc>
                <a:spcPts val="2550"/>
              </a:lnSpc>
            </a:pPr>
            <a:r>
              <a:rPr sz="2400" b="1" i="1" dirty="0">
                <a:latin typeface="Calibri"/>
                <a:cs typeface="Calibri"/>
              </a:rPr>
              <a:t>vezes</a:t>
            </a:r>
            <a:r>
              <a:rPr sz="2400" b="1" i="1" spc="-6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sua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velocidade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ts val="2800"/>
              </a:lnSpc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Neste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caso,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partícula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vetor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pesos,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𝒘</a:t>
            </a:r>
            <a:r>
              <a:rPr sz="2400" spc="-2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698500" marR="408940" lvl="1" indent="-228600">
              <a:lnSpc>
                <a:spcPct val="80000"/>
              </a:lnSpc>
              <a:spcBef>
                <a:spcPts val="540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No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algoritmo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momento,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assumimos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massa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60" dirty="0">
                <a:latin typeface="Calibri"/>
                <a:cs typeface="Calibri"/>
              </a:rPr>
              <a:t>é </a:t>
            </a:r>
            <a:r>
              <a:rPr sz="2400" dirty="0">
                <a:latin typeface="Calibri"/>
                <a:cs typeface="Calibri"/>
              </a:rPr>
              <a:t>unitária,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então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vetor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velocidade,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𝒗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também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pode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ser </a:t>
            </a:r>
            <a:r>
              <a:rPr sz="2400" dirty="0">
                <a:latin typeface="Calibri"/>
                <a:cs typeface="Calibri"/>
              </a:rPr>
              <a:t>considerado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momento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partícula.</a:t>
            </a:r>
            <a:endParaRPr sz="2400" dirty="0">
              <a:latin typeface="Calibri"/>
              <a:cs typeface="Calibri"/>
            </a:endParaRPr>
          </a:p>
          <a:p>
            <a:pPr marL="698500" marR="487045" lvl="1" indent="-228600">
              <a:lnSpc>
                <a:spcPts val="2300"/>
              </a:lnSpc>
              <a:spcBef>
                <a:spcPts val="489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termo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momento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adiciona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média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gradientes </a:t>
            </a:r>
            <a:r>
              <a:rPr sz="2400" dirty="0">
                <a:latin typeface="Calibri"/>
                <a:cs typeface="Calibri"/>
              </a:rPr>
              <a:t>anteriores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à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atualização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corrente,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assim:</a:t>
            </a:r>
            <a:endParaRPr sz="2400" dirty="0">
              <a:latin typeface="Calibri"/>
              <a:cs typeface="Calibri"/>
            </a:endParaRPr>
          </a:p>
          <a:p>
            <a:pPr marL="1155700" marR="5080" lvl="2" indent="-228600">
              <a:lnSpc>
                <a:spcPct val="80100"/>
              </a:lnSpc>
              <a:spcBef>
                <a:spcPts val="525"/>
              </a:spcBef>
              <a:buFont typeface="Courier New"/>
              <a:buChar char="o"/>
              <a:tabLst>
                <a:tab pos="1156335" algn="l"/>
              </a:tabLst>
            </a:pPr>
            <a:r>
              <a:rPr sz="2000" dirty="0">
                <a:latin typeface="Calibri"/>
                <a:cs typeface="Calibri"/>
              </a:rPr>
              <a:t>Quando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gradiente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aponta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na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mesma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direção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por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várias </a:t>
            </a:r>
            <a:r>
              <a:rPr sz="2000" dirty="0">
                <a:latin typeface="Calibri"/>
                <a:cs typeface="Calibri"/>
              </a:rPr>
              <a:t>iterações,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termo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aumenta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tamanho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dos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passos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dados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naquela direção.</a:t>
            </a:r>
            <a:endParaRPr sz="2000" dirty="0">
              <a:latin typeface="Calibri"/>
              <a:cs typeface="Calibri"/>
            </a:endParaRPr>
          </a:p>
          <a:p>
            <a:pPr marL="1155700" marR="513080" lvl="2" indent="-228600">
              <a:lnSpc>
                <a:spcPts val="1920"/>
              </a:lnSpc>
              <a:spcBef>
                <a:spcPts val="490"/>
              </a:spcBef>
              <a:buFont typeface="Courier New"/>
              <a:buChar char="o"/>
              <a:tabLst>
                <a:tab pos="1156335" algn="l"/>
              </a:tabLst>
            </a:pPr>
            <a:r>
              <a:rPr sz="2000" dirty="0">
                <a:latin typeface="Calibri"/>
                <a:cs typeface="Calibri"/>
              </a:rPr>
              <a:t>Quando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gradiente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muda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direção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cada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nova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iteração,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0" dirty="0">
                <a:latin typeface="Calibri"/>
                <a:cs typeface="Calibri"/>
              </a:rPr>
              <a:t>o </a:t>
            </a:r>
            <a:r>
              <a:rPr sz="2000" dirty="0">
                <a:latin typeface="Calibri"/>
                <a:cs typeface="Calibri"/>
              </a:rPr>
              <a:t>termo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momento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suaviza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variações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(figura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ao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lado).</a:t>
            </a:r>
            <a:endParaRPr sz="2000" dirty="0">
              <a:latin typeface="Calibri"/>
              <a:cs typeface="Calibri"/>
            </a:endParaRPr>
          </a:p>
          <a:p>
            <a:pPr marL="1155700" lvl="2" indent="-229235">
              <a:lnSpc>
                <a:spcPts val="2160"/>
              </a:lnSpc>
              <a:spcBef>
                <a:spcPts val="40"/>
              </a:spcBef>
              <a:buFont typeface="Courier New"/>
              <a:buChar char="o"/>
              <a:tabLst>
                <a:tab pos="1156335" algn="l"/>
              </a:tabLst>
            </a:pPr>
            <a:r>
              <a:rPr sz="2000" dirty="0">
                <a:latin typeface="Calibri"/>
                <a:cs typeface="Calibri"/>
              </a:rPr>
              <a:t>Como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resultado,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temos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b="1" i="1" spc="-10" dirty="0">
                <a:solidFill>
                  <a:srgbClr val="00AF50"/>
                </a:solidFill>
                <a:latin typeface="Calibri"/>
                <a:cs typeface="Calibri"/>
              </a:rPr>
              <a:t>convergência</a:t>
            </a:r>
            <a:r>
              <a:rPr sz="20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000" b="1" i="1" dirty="0">
                <a:solidFill>
                  <a:srgbClr val="00AF50"/>
                </a:solidFill>
                <a:latin typeface="Calibri"/>
                <a:cs typeface="Calibri"/>
              </a:rPr>
              <a:t>mais</a:t>
            </a:r>
            <a:r>
              <a:rPr sz="2000" b="1" i="1" spc="-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000" b="1" i="1" dirty="0">
                <a:solidFill>
                  <a:srgbClr val="00AF50"/>
                </a:solidFill>
                <a:latin typeface="Calibri"/>
                <a:cs typeface="Calibri"/>
              </a:rPr>
              <a:t>rápida</a:t>
            </a:r>
            <a:r>
              <a:rPr sz="20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000" b="1" i="1" dirty="0">
                <a:solidFill>
                  <a:srgbClr val="00AF50"/>
                </a:solidFill>
                <a:latin typeface="Calibri"/>
                <a:cs typeface="Calibri"/>
              </a:rPr>
              <a:t>e</a:t>
            </a:r>
            <a:r>
              <a:rPr sz="2000" b="1" i="1" spc="-10" dirty="0">
                <a:solidFill>
                  <a:srgbClr val="00AF50"/>
                </a:solidFill>
                <a:latin typeface="Calibri"/>
                <a:cs typeface="Calibri"/>
              </a:rPr>
              <a:t> oscilação</a:t>
            </a:r>
            <a:endParaRPr sz="2000" dirty="0">
              <a:latin typeface="Calibri"/>
              <a:cs typeface="Calibri"/>
            </a:endParaRPr>
          </a:p>
          <a:p>
            <a:pPr marL="1155700">
              <a:lnSpc>
                <a:spcPts val="2160"/>
              </a:lnSpc>
            </a:pPr>
            <a:r>
              <a:rPr sz="2000" b="1" i="1" spc="-10" dirty="0">
                <a:solidFill>
                  <a:srgbClr val="00AF50"/>
                </a:solidFill>
                <a:latin typeface="Calibri"/>
                <a:cs typeface="Calibri"/>
              </a:rPr>
              <a:t>reduzida</a:t>
            </a:r>
            <a:r>
              <a:rPr sz="2000" spc="-10" dirty="0"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12500" y="1806336"/>
            <a:ext cx="3005740" cy="4728069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6623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0"/>
              </a:spcBef>
            </a:pPr>
            <a:r>
              <a:rPr spc="-10" dirty="0"/>
              <a:t>Variações</a:t>
            </a:r>
            <a:r>
              <a:rPr spc="-65" dirty="0"/>
              <a:t> </a:t>
            </a:r>
            <a:r>
              <a:rPr dirty="0"/>
              <a:t>dos</a:t>
            </a:r>
            <a:r>
              <a:rPr spc="-65" dirty="0"/>
              <a:t> </a:t>
            </a:r>
            <a:r>
              <a:rPr dirty="0"/>
              <a:t>algoritmos</a:t>
            </a:r>
            <a:r>
              <a:rPr spc="-65" dirty="0"/>
              <a:t> </a:t>
            </a:r>
            <a:r>
              <a:rPr dirty="0"/>
              <a:t>de</a:t>
            </a:r>
            <a:r>
              <a:rPr spc="-45" dirty="0"/>
              <a:t> </a:t>
            </a:r>
            <a:r>
              <a:rPr dirty="0"/>
              <a:t>otimização</a:t>
            </a:r>
            <a:r>
              <a:rPr spc="-40" dirty="0"/>
              <a:t> </a:t>
            </a:r>
            <a:r>
              <a:rPr spc="-25" dirty="0"/>
              <a:t>dos </a:t>
            </a:r>
            <a:r>
              <a:rPr spc="-10" dirty="0"/>
              <a:t>pesos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672208"/>
            <a:ext cx="11059160" cy="48558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75590" indent="-263525">
              <a:lnSpc>
                <a:spcPts val="2970"/>
              </a:lnSpc>
              <a:spcBef>
                <a:spcPts val="105"/>
              </a:spcBef>
              <a:buSzPct val="96153"/>
              <a:buFont typeface="Wingdings"/>
              <a:buChar char=""/>
              <a:tabLst>
                <a:tab pos="276225" algn="l"/>
              </a:tabLst>
            </a:pPr>
            <a:r>
              <a:rPr sz="2600" b="1" dirty="0">
                <a:latin typeface="Calibri"/>
                <a:cs typeface="Calibri"/>
              </a:rPr>
              <a:t>Momento</a:t>
            </a:r>
            <a:r>
              <a:rPr sz="2600" b="1" spc="-4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de</a:t>
            </a:r>
            <a:r>
              <a:rPr sz="2600" b="1" spc="-40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Nesterov</a:t>
            </a:r>
            <a:endParaRPr sz="2600" dirty="0">
              <a:latin typeface="Calibri"/>
              <a:cs typeface="Calibri"/>
            </a:endParaRPr>
          </a:p>
          <a:p>
            <a:pPr marL="698500" lvl="1" indent="-229235">
              <a:lnSpc>
                <a:spcPts val="2095"/>
              </a:lnSpc>
              <a:buFont typeface="Wingdings"/>
              <a:buChar char=""/>
              <a:tabLst>
                <a:tab pos="699135" algn="l"/>
              </a:tabLst>
            </a:pPr>
            <a:r>
              <a:rPr sz="2200" dirty="0">
                <a:latin typeface="Calibri"/>
                <a:cs typeface="Calibri"/>
              </a:rPr>
              <a:t>O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método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do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momento</a:t>
            </a:r>
            <a:r>
              <a:rPr sz="2200" b="1" i="1" spc="-4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de</a:t>
            </a:r>
            <a:r>
              <a:rPr sz="2200" b="1" i="1" spc="-50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Nesterov</a:t>
            </a:r>
            <a:r>
              <a:rPr sz="2200" b="1" i="1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é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uma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variação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do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método</a:t>
            </a:r>
            <a:r>
              <a:rPr sz="2200" b="1" i="1" spc="-5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do</a:t>
            </a:r>
            <a:r>
              <a:rPr sz="2200" b="1" i="1" spc="-50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momento</a:t>
            </a:r>
            <a:r>
              <a:rPr sz="2200" b="1" i="1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em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que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50" dirty="0">
                <a:latin typeface="Calibri"/>
                <a:cs typeface="Calibri"/>
              </a:rPr>
              <a:t>o</a:t>
            </a:r>
            <a:endParaRPr sz="2200" dirty="0">
              <a:latin typeface="Calibri"/>
              <a:cs typeface="Calibri"/>
            </a:endParaRPr>
          </a:p>
          <a:p>
            <a:pPr marL="698500">
              <a:lnSpc>
                <a:spcPts val="1850"/>
              </a:lnSpc>
            </a:pPr>
            <a:r>
              <a:rPr sz="2200" dirty="0">
                <a:latin typeface="Calibri"/>
                <a:cs typeface="Calibri"/>
              </a:rPr>
              <a:t>cálculo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do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vetor</a:t>
            </a:r>
            <a:r>
              <a:rPr sz="2200" b="1" i="1" spc="-5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gradiente</a:t>
            </a:r>
            <a:r>
              <a:rPr sz="2200" b="1" i="1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não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é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feito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em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relação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ao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vetor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pesos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mbria Math"/>
                <a:cs typeface="Cambria Math"/>
              </a:rPr>
              <a:t>𝒘</a:t>
            </a:r>
            <a:r>
              <a:rPr sz="2200" dirty="0">
                <a:latin typeface="Calibri"/>
                <a:cs typeface="Calibri"/>
              </a:rPr>
              <a:t>,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em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relação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50" dirty="0">
                <a:latin typeface="Calibri"/>
                <a:cs typeface="Calibri"/>
              </a:rPr>
              <a:t>a</a:t>
            </a:r>
            <a:endParaRPr sz="2200" dirty="0">
              <a:latin typeface="Calibri"/>
              <a:cs typeface="Calibri"/>
            </a:endParaRPr>
          </a:p>
          <a:p>
            <a:pPr marL="698500">
              <a:lnSpc>
                <a:spcPts val="2100"/>
              </a:lnSpc>
            </a:pPr>
            <a:r>
              <a:rPr sz="2200" dirty="0">
                <a:latin typeface="Cambria Math"/>
                <a:cs typeface="Cambria Math"/>
              </a:rPr>
              <a:t>𝒘</a:t>
            </a:r>
            <a:r>
              <a:rPr sz="2200" spc="-5" dirty="0">
                <a:latin typeface="Cambria Math"/>
                <a:cs typeface="Cambria Math"/>
              </a:rPr>
              <a:t> </a:t>
            </a:r>
            <a:r>
              <a:rPr sz="2200" dirty="0">
                <a:latin typeface="Cambria Math"/>
                <a:cs typeface="Cambria Math"/>
              </a:rPr>
              <a:t>+</a:t>
            </a:r>
            <a:r>
              <a:rPr sz="2200" spc="-20" dirty="0">
                <a:latin typeface="Cambria Math"/>
                <a:cs typeface="Cambria Math"/>
              </a:rPr>
              <a:t> </a:t>
            </a:r>
            <a:r>
              <a:rPr sz="2200" spc="-25" dirty="0">
                <a:latin typeface="Cambria Math"/>
                <a:cs typeface="Cambria Math"/>
              </a:rPr>
              <a:t>𝜇𝒗</a:t>
            </a:r>
            <a:r>
              <a:rPr sz="2200" spc="-25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ts val="2100"/>
              </a:lnSpc>
              <a:buFont typeface="Wingdings"/>
              <a:buChar char=""/>
              <a:tabLst>
                <a:tab pos="699135" algn="l"/>
              </a:tabLst>
            </a:pPr>
            <a:r>
              <a:rPr sz="2200" dirty="0">
                <a:latin typeface="Calibri"/>
                <a:cs typeface="Calibri"/>
              </a:rPr>
              <a:t>Essa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mudança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no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cálculo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do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gradiente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faz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com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que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momento</a:t>
            </a:r>
            <a:r>
              <a:rPr sz="2200" b="1" i="1" spc="-6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de</a:t>
            </a:r>
            <a:r>
              <a:rPr sz="2200" b="1" i="1" spc="-65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Nesterov</a:t>
            </a:r>
            <a:r>
              <a:rPr sz="2200" b="1" i="1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apresente</a:t>
            </a:r>
            <a:endParaRPr sz="2200" dirty="0">
              <a:latin typeface="Calibri"/>
              <a:cs typeface="Calibri"/>
            </a:endParaRPr>
          </a:p>
          <a:p>
            <a:pPr marL="698500">
              <a:lnSpc>
                <a:spcPts val="2245"/>
              </a:lnSpc>
            </a:pPr>
            <a:r>
              <a:rPr sz="2200" b="1" i="1" spc="-10" dirty="0">
                <a:solidFill>
                  <a:srgbClr val="00AF50"/>
                </a:solidFill>
                <a:latin typeface="Calibri"/>
                <a:cs typeface="Calibri"/>
              </a:rPr>
              <a:t>convergência</a:t>
            </a:r>
            <a:r>
              <a:rPr sz="22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Calibri"/>
                <a:cs typeface="Calibri"/>
              </a:rPr>
              <a:t>mais</a:t>
            </a:r>
            <a:r>
              <a:rPr sz="22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Calibri"/>
                <a:cs typeface="Calibri"/>
              </a:rPr>
              <a:t>rápida</a:t>
            </a:r>
            <a:r>
              <a:rPr sz="22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Calibri"/>
                <a:cs typeface="Calibri"/>
              </a:rPr>
              <a:t>e</a:t>
            </a:r>
            <a:r>
              <a:rPr sz="22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spc="-10" dirty="0">
                <a:solidFill>
                  <a:srgbClr val="00AF50"/>
                </a:solidFill>
                <a:latin typeface="Calibri"/>
                <a:cs typeface="Calibri"/>
              </a:rPr>
              <a:t>ajustes</a:t>
            </a:r>
            <a:r>
              <a:rPr sz="22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Calibri"/>
                <a:cs typeface="Calibri"/>
              </a:rPr>
              <a:t>mais</a:t>
            </a:r>
            <a:r>
              <a:rPr sz="22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Calibri"/>
                <a:cs typeface="Calibri"/>
              </a:rPr>
              <a:t>precisos</a:t>
            </a:r>
            <a:r>
              <a:rPr sz="22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Calibri"/>
                <a:cs typeface="Calibri"/>
              </a:rPr>
              <a:t>dos</a:t>
            </a:r>
            <a:r>
              <a:rPr sz="22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Calibri"/>
                <a:cs typeface="Calibri"/>
              </a:rPr>
              <a:t>pesos</a:t>
            </a:r>
            <a:r>
              <a:rPr sz="22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do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que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momento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clássico.</a:t>
            </a:r>
            <a:endParaRPr sz="2200" dirty="0">
              <a:latin typeface="Calibri"/>
              <a:cs typeface="Calibri"/>
            </a:endParaRPr>
          </a:p>
          <a:p>
            <a:pPr marL="276225" indent="-264160">
              <a:lnSpc>
                <a:spcPts val="2980"/>
              </a:lnSpc>
              <a:spcBef>
                <a:spcPts val="55"/>
              </a:spcBef>
              <a:buSzPct val="96153"/>
              <a:buFont typeface="Wingdings"/>
              <a:buChar char=""/>
              <a:tabLst>
                <a:tab pos="276860" algn="l"/>
              </a:tabLst>
            </a:pPr>
            <a:r>
              <a:rPr sz="2600" b="1" dirty="0">
                <a:latin typeface="Calibri"/>
                <a:cs typeface="Calibri"/>
              </a:rPr>
              <a:t>Modelos</a:t>
            </a:r>
            <a:r>
              <a:rPr sz="2600" b="1" spc="-6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com</a:t>
            </a:r>
            <a:r>
              <a:rPr sz="2600" b="1" spc="-5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Passo</a:t>
            </a:r>
            <a:r>
              <a:rPr sz="2600" b="1" spc="-6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de</a:t>
            </a:r>
            <a:r>
              <a:rPr sz="2600" b="1" spc="-5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Aprendizagem</a:t>
            </a:r>
            <a:r>
              <a:rPr sz="2600" b="1" spc="-25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Adaptativo</a:t>
            </a:r>
            <a:endParaRPr sz="2600" dirty="0">
              <a:latin typeface="Calibri"/>
              <a:cs typeface="Calibri"/>
            </a:endParaRPr>
          </a:p>
          <a:p>
            <a:pPr marL="698500" lvl="1" indent="-229235">
              <a:lnSpc>
                <a:spcPts val="2105"/>
              </a:lnSpc>
              <a:buFont typeface="Wingdings"/>
              <a:buChar char=""/>
              <a:tabLst>
                <a:tab pos="699135" algn="l"/>
              </a:tabLst>
            </a:pPr>
            <a:r>
              <a:rPr sz="2200" dirty="0">
                <a:latin typeface="Calibri"/>
                <a:cs typeface="Calibri"/>
              </a:rPr>
              <a:t>O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passo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aprendizagem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é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um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b="1" i="1" spc="-10" dirty="0">
                <a:solidFill>
                  <a:srgbClr val="00AF50"/>
                </a:solidFill>
                <a:latin typeface="Calibri"/>
                <a:cs typeface="Calibri"/>
              </a:rPr>
              <a:t>hiperparâmetro</a:t>
            </a:r>
            <a:r>
              <a:rPr sz="2200" b="1" i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Calibri"/>
                <a:cs typeface="Calibri"/>
              </a:rPr>
              <a:t>difícil</a:t>
            </a:r>
            <a:r>
              <a:rPr sz="22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2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Calibri"/>
                <a:cs typeface="Calibri"/>
              </a:rPr>
              <a:t>ser</a:t>
            </a:r>
            <a:r>
              <a:rPr sz="22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spc="-10" dirty="0">
                <a:solidFill>
                  <a:srgbClr val="00AF50"/>
                </a:solidFill>
                <a:latin typeface="Calibri"/>
                <a:cs typeface="Calibri"/>
              </a:rPr>
              <a:t>ajustado</a:t>
            </a:r>
            <a:r>
              <a:rPr sz="22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2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Calibri"/>
                <a:cs typeface="Calibri"/>
              </a:rPr>
              <a:t>forma</a:t>
            </a:r>
            <a:r>
              <a:rPr sz="22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Calibri"/>
                <a:cs typeface="Calibri"/>
              </a:rPr>
              <a:t>ótima</a:t>
            </a:r>
            <a:r>
              <a:rPr sz="2200" b="1" i="1" spc="-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spc="-50" dirty="0">
                <a:latin typeface="Calibri"/>
                <a:cs typeface="Calibri"/>
              </a:rPr>
              <a:t>e</a:t>
            </a:r>
            <a:endParaRPr sz="2200" dirty="0">
              <a:latin typeface="Calibri"/>
              <a:cs typeface="Calibri"/>
            </a:endParaRPr>
          </a:p>
          <a:p>
            <a:pPr marL="698500">
              <a:lnSpc>
                <a:spcPts val="2100"/>
              </a:lnSpc>
            </a:pPr>
            <a:r>
              <a:rPr sz="2200" b="1" i="1" spc="-10" dirty="0">
                <a:solidFill>
                  <a:srgbClr val="00AF50"/>
                </a:solidFill>
                <a:latin typeface="Calibri"/>
                <a:cs typeface="Calibri"/>
              </a:rPr>
              <a:t>bastante</a:t>
            </a:r>
            <a:r>
              <a:rPr sz="22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spc="-10" dirty="0">
                <a:solidFill>
                  <a:srgbClr val="00AF50"/>
                </a:solidFill>
                <a:latin typeface="Calibri"/>
                <a:cs typeface="Calibri"/>
              </a:rPr>
              <a:t>relevante</a:t>
            </a:r>
            <a:r>
              <a:rPr sz="2200" b="1" i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Calibri"/>
                <a:cs typeface="Calibri"/>
              </a:rPr>
              <a:t>para</a:t>
            </a:r>
            <a:r>
              <a:rPr sz="22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Calibri"/>
                <a:cs typeface="Calibri"/>
              </a:rPr>
              <a:t>o</a:t>
            </a:r>
            <a:r>
              <a:rPr sz="22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spc="-10" dirty="0">
                <a:solidFill>
                  <a:srgbClr val="00AF50"/>
                </a:solidFill>
                <a:latin typeface="Calibri"/>
                <a:cs typeface="Calibri"/>
              </a:rPr>
              <a:t>sucesso</a:t>
            </a:r>
            <a:r>
              <a:rPr sz="22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Calibri"/>
                <a:cs typeface="Calibri"/>
              </a:rPr>
              <a:t>do</a:t>
            </a:r>
            <a:r>
              <a:rPr sz="2200" b="1" i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spc="-10" dirty="0">
                <a:solidFill>
                  <a:srgbClr val="00AF50"/>
                </a:solidFill>
                <a:latin typeface="Calibri"/>
                <a:cs typeface="Calibri"/>
              </a:rPr>
              <a:t>treinamento</a:t>
            </a:r>
            <a:r>
              <a:rPr sz="2200" b="1" i="1" spc="-2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uma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rede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neural.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ts val="2345"/>
              </a:lnSpc>
              <a:buFont typeface="Wingdings"/>
              <a:buChar char=""/>
              <a:tabLst>
                <a:tab pos="699135" algn="l"/>
              </a:tabLst>
            </a:pPr>
            <a:r>
              <a:rPr sz="2200" dirty="0">
                <a:latin typeface="Calibri"/>
                <a:cs typeface="Calibri"/>
              </a:rPr>
              <a:t>Isso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motivou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surgimento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métodos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capazes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ajustá-</a:t>
            </a:r>
            <a:r>
              <a:rPr sz="2200" dirty="0">
                <a:latin typeface="Calibri"/>
                <a:cs typeface="Calibri"/>
              </a:rPr>
              <a:t>lo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b="1" i="1" spc="-10" dirty="0">
                <a:solidFill>
                  <a:srgbClr val="00AF50"/>
                </a:solidFill>
                <a:latin typeface="Calibri"/>
                <a:cs typeface="Calibri"/>
              </a:rPr>
              <a:t>dinamicamente</a:t>
            </a:r>
            <a:r>
              <a:rPr sz="2200" spc="-10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ts val="2345"/>
              </a:lnSpc>
              <a:buFont typeface="Wingdings"/>
              <a:buChar char=""/>
              <a:tabLst>
                <a:tab pos="699135" algn="l"/>
              </a:tabLst>
            </a:pPr>
            <a:r>
              <a:rPr sz="2200" dirty="0">
                <a:latin typeface="Calibri"/>
                <a:cs typeface="Calibri"/>
              </a:rPr>
              <a:t>Esses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métodos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ajustam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passo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acordo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com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b="1" i="1" spc="-10" dirty="0">
                <a:solidFill>
                  <a:srgbClr val="00AF50"/>
                </a:solidFill>
                <a:latin typeface="Calibri"/>
                <a:cs typeface="Calibri"/>
              </a:rPr>
              <a:t>informações</a:t>
            </a:r>
            <a:r>
              <a:rPr sz="22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Calibri"/>
                <a:cs typeface="Calibri"/>
              </a:rPr>
              <a:t>dos</a:t>
            </a:r>
            <a:r>
              <a:rPr sz="22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spc="-10" dirty="0">
                <a:solidFill>
                  <a:srgbClr val="00AF50"/>
                </a:solidFill>
                <a:latin typeface="Calibri"/>
                <a:cs typeface="Calibri"/>
              </a:rPr>
              <a:t>gradientes</a:t>
            </a:r>
            <a:r>
              <a:rPr sz="22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spc="-10" dirty="0">
                <a:solidFill>
                  <a:srgbClr val="00AF50"/>
                </a:solidFill>
                <a:latin typeface="Calibri"/>
                <a:cs typeface="Calibri"/>
              </a:rPr>
              <a:t>passados</a:t>
            </a:r>
            <a:r>
              <a:rPr sz="2200" spc="-10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ts val="2100"/>
              </a:lnSpc>
              <a:buFont typeface="Wingdings"/>
              <a:buChar char=""/>
              <a:tabLst>
                <a:tab pos="699135" algn="l"/>
              </a:tabLst>
            </a:pPr>
            <a:r>
              <a:rPr sz="2200" dirty="0">
                <a:latin typeface="Calibri"/>
                <a:cs typeface="Calibri"/>
              </a:rPr>
              <a:t>Além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disso,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pode-</a:t>
            </a:r>
            <a:r>
              <a:rPr sz="2200" dirty="0">
                <a:latin typeface="Calibri"/>
                <a:cs typeface="Calibri"/>
              </a:rPr>
              <a:t>se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ter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Calibri"/>
                <a:cs typeface="Calibri"/>
              </a:rPr>
              <a:t>passos</a:t>
            </a:r>
            <a:r>
              <a:rPr sz="22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spc="-10" dirty="0">
                <a:solidFill>
                  <a:srgbClr val="00AF50"/>
                </a:solidFill>
                <a:latin typeface="Calibri"/>
                <a:cs typeface="Calibri"/>
              </a:rPr>
              <a:t>diferentes</a:t>
            </a:r>
            <a:r>
              <a:rPr sz="22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Calibri"/>
                <a:cs typeface="Calibri"/>
              </a:rPr>
              <a:t>para</a:t>
            </a:r>
            <a:r>
              <a:rPr sz="22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Calibri"/>
                <a:cs typeface="Calibri"/>
              </a:rPr>
              <a:t>cada</a:t>
            </a:r>
            <a:r>
              <a:rPr sz="22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Calibri"/>
                <a:cs typeface="Calibri"/>
              </a:rPr>
              <a:t>peso</a:t>
            </a:r>
            <a:r>
              <a:rPr sz="22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Calibri"/>
                <a:cs typeface="Calibri"/>
              </a:rPr>
              <a:t>do</a:t>
            </a:r>
            <a:r>
              <a:rPr sz="22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Calibri"/>
                <a:cs typeface="Calibri"/>
              </a:rPr>
              <a:t>modelo</a:t>
            </a:r>
            <a:r>
              <a:rPr sz="2200" dirty="0">
                <a:latin typeface="Calibri"/>
                <a:cs typeface="Calibri"/>
              </a:rPr>
              <a:t>,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quais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são</a:t>
            </a:r>
            <a:endParaRPr sz="2200" dirty="0">
              <a:latin typeface="Calibri"/>
              <a:cs typeface="Calibri"/>
            </a:endParaRPr>
          </a:p>
          <a:p>
            <a:pPr marL="698500">
              <a:lnSpc>
                <a:spcPts val="2100"/>
              </a:lnSpc>
            </a:pPr>
            <a:r>
              <a:rPr sz="2200" spc="-10" dirty="0">
                <a:latin typeface="Calibri"/>
                <a:cs typeface="Calibri"/>
              </a:rPr>
              <a:t>atualizados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forma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independente.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ts val="2100"/>
              </a:lnSpc>
              <a:buFont typeface="Wingdings"/>
              <a:buChar char=""/>
              <a:tabLst>
                <a:tab pos="699135" algn="l"/>
              </a:tabLst>
            </a:pPr>
            <a:r>
              <a:rPr sz="2200" spc="-20" dirty="0">
                <a:latin typeface="Calibri"/>
                <a:cs typeface="Calibri"/>
              </a:rPr>
              <a:t>Portanto,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esses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métodos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são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adequados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para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redes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neurais,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onde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b="1" i="1" spc="-10" dirty="0">
                <a:solidFill>
                  <a:srgbClr val="00AF50"/>
                </a:solidFill>
                <a:latin typeface="Calibri"/>
                <a:cs typeface="Calibri"/>
              </a:rPr>
              <a:t>superfície</a:t>
            </a:r>
            <a:r>
              <a:rPr sz="22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2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Calibri"/>
                <a:cs typeface="Calibri"/>
              </a:rPr>
              <a:t>erro</a:t>
            </a:r>
            <a:r>
              <a:rPr sz="22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spc="-50" dirty="0">
                <a:solidFill>
                  <a:srgbClr val="00AF50"/>
                </a:solidFill>
                <a:latin typeface="Calibri"/>
                <a:cs typeface="Calibri"/>
              </a:rPr>
              <a:t>é</a:t>
            </a:r>
            <a:endParaRPr sz="2200" dirty="0">
              <a:latin typeface="Calibri"/>
              <a:cs typeface="Calibri"/>
            </a:endParaRPr>
          </a:p>
          <a:p>
            <a:pPr marL="698500" marR="5080">
              <a:lnSpc>
                <a:spcPct val="70000"/>
              </a:lnSpc>
              <a:spcBef>
                <a:spcPts val="395"/>
              </a:spcBef>
            </a:pPr>
            <a:r>
              <a:rPr sz="2200" b="1" i="1" spc="-10" dirty="0">
                <a:solidFill>
                  <a:srgbClr val="00AF50"/>
                </a:solidFill>
                <a:latin typeface="Calibri"/>
                <a:cs typeface="Calibri"/>
              </a:rPr>
              <a:t>bastante</a:t>
            </a:r>
            <a:r>
              <a:rPr sz="22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Calibri"/>
                <a:cs typeface="Calibri"/>
              </a:rPr>
              <a:t>irregular</a:t>
            </a:r>
            <a:r>
              <a:rPr sz="22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Calibri"/>
                <a:cs typeface="Calibri"/>
              </a:rPr>
              <a:t>e</a:t>
            </a:r>
            <a:r>
              <a:rPr sz="22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spc="-10" dirty="0">
                <a:solidFill>
                  <a:srgbClr val="00AF50"/>
                </a:solidFill>
                <a:latin typeface="Calibri"/>
                <a:cs typeface="Calibri"/>
              </a:rPr>
              <a:t>diferente</a:t>
            </a:r>
            <a:r>
              <a:rPr sz="22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Calibri"/>
                <a:cs typeface="Calibri"/>
              </a:rPr>
              <a:t>em</a:t>
            </a:r>
            <a:r>
              <a:rPr sz="22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spc="-10" dirty="0">
                <a:solidFill>
                  <a:srgbClr val="00AF50"/>
                </a:solidFill>
                <a:latin typeface="Calibri"/>
                <a:cs typeface="Calibri"/>
              </a:rPr>
              <a:t>diferentes</a:t>
            </a:r>
            <a:r>
              <a:rPr sz="22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spc="-10" dirty="0">
                <a:solidFill>
                  <a:srgbClr val="00AF50"/>
                </a:solidFill>
                <a:latin typeface="Calibri"/>
                <a:cs typeface="Calibri"/>
              </a:rPr>
              <a:t>dimensões,</a:t>
            </a:r>
            <a:r>
              <a:rPr sz="22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Calibri"/>
                <a:cs typeface="Calibri"/>
              </a:rPr>
              <a:t>tornando</a:t>
            </a:r>
            <a:r>
              <a:rPr sz="22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Calibri"/>
                <a:cs typeface="Calibri"/>
              </a:rPr>
              <a:t>a</a:t>
            </a:r>
            <a:r>
              <a:rPr sz="22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spc="-10" dirty="0">
                <a:solidFill>
                  <a:srgbClr val="00AF50"/>
                </a:solidFill>
                <a:latin typeface="Calibri"/>
                <a:cs typeface="Calibri"/>
              </a:rPr>
              <a:t>atualização</a:t>
            </a:r>
            <a:r>
              <a:rPr sz="22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Calibri"/>
                <a:cs typeface="Calibri"/>
              </a:rPr>
              <a:t>dos</a:t>
            </a:r>
            <a:r>
              <a:rPr sz="22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spc="-10" dirty="0">
                <a:solidFill>
                  <a:srgbClr val="00AF50"/>
                </a:solidFill>
                <a:latin typeface="Calibri"/>
                <a:cs typeface="Calibri"/>
              </a:rPr>
              <a:t>pesos </a:t>
            </a:r>
            <a:r>
              <a:rPr sz="2200" b="1" i="1" dirty="0">
                <a:solidFill>
                  <a:srgbClr val="00AF50"/>
                </a:solidFill>
                <a:latin typeface="Calibri"/>
                <a:cs typeface="Calibri"/>
              </a:rPr>
              <a:t>mais</a:t>
            </a:r>
            <a:r>
              <a:rPr sz="22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spc="-10" dirty="0">
                <a:solidFill>
                  <a:srgbClr val="00AF50"/>
                </a:solidFill>
                <a:latin typeface="Calibri"/>
                <a:cs typeface="Calibri"/>
              </a:rPr>
              <a:t>efetiva</a:t>
            </a:r>
            <a:r>
              <a:rPr sz="2200" spc="-10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ts val="2340"/>
              </a:lnSpc>
              <a:buFont typeface="Wingdings"/>
              <a:buChar char=""/>
              <a:tabLst>
                <a:tab pos="699135" algn="l"/>
              </a:tabLst>
            </a:pPr>
            <a:r>
              <a:rPr sz="2200" spc="-10" dirty="0">
                <a:latin typeface="Calibri"/>
                <a:cs typeface="Calibri"/>
              </a:rPr>
              <a:t>Dentre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técnicas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mais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populares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dessa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classe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estão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AdaGrad</a:t>
            </a:r>
            <a:r>
              <a:rPr sz="2200" dirty="0">
                <a:latin typeface="Calibri"/>
                <a:cs typeface="Calibri"/>
              </a:rPr>
              <a:t>,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RMSProp</a:t>
            </a:r>
            <a:r>
              <a:rPr sz="2200" b="1" i="1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Adam.</a:t>
            </a:r>
            <a:endParaRPr sz="2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39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Inicialização</a:t>
            </a:r>
            <a:r>
              <a:rPr spc="-45" dirty="0"/>
              <a:t> </a:t>
            </a:r>
            <a:r>
              <a:rPr dirty="0"/>
              <a:t>dos</a:t>
            </a:r>
            <a:r>
              <a:rPr spc="-50" dirty="0"/>
              <a:t> </a:t>
            </a:r>
            <a:r>
              <a:rPr spc="-10" dirty="0"/>
              <a:t>Pesos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37106"/>
            <a:ext cx="11174095" cy="5078095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241300" marR="456565" indent="-228600">
              <a:lnSpc>
                <a:spcPct val="70000"/>
              </a:lnSpc>
              <a:spcBef>
                <a:spcPts val="104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Uma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vez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métodos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treinamento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redes</a:t>
            </a:r>
            <a:r>
              <a:rPr sz="2600" b="1" i="1" spc="-5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neurais</a:t>
            </a:r>
            <a:r>
              <a:rPr sz="2600" b="1" i="1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MLP</a:t>
            </a:r>
            <a:r>
              <a:rPr sz="2600" b="1" i="1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são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iterativos, </a:t>
            </a:r>
            <a:r>
              <a:rPr sz="2600" dirty="0">
                <a:latin typeface="Calibri"/>
                <a:cs typeface="Calibri"/>
              </a:rPr>
              <a:t>eles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dependem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uma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inicialização</a:t>
            </a:r>
            <a:r>
              <a:rPr sz="2600" b="1" i="1" spc="-1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dos</a:t>
            </a:r>
            <a:r>
              <a:rPr sz="2600" b="1" i="1" spc="-20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pesos</a:t>
            </a:r>
            <a:r>
              <a:rPr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41300" marR="114300" indent="-228600">
              <a:lnSpc>
                <a:spcPct val="700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Como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métodos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são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busca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local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inicialização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pode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afetar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drasticamente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50" dirty="0">
                <a:latin typeface="Calibri"/>
                <a:cs typeface="Calibri"/>
              </a:rPr>
              <a:t>a </a:t>
            </a:r>
            <a:r>
              <a:rPr sz="2600" dirty="0">
                <a:latin typeface="Calibri"/>
                <a:cs typeface="Calibri"/>
              </a:rPr>
              <a:t>qualidade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solução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obtida.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ts val="2650"/>
              </a:lnSpc>
              <a:spcBef>
                <a:spcPts val="6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ponto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</a:t>
            </a:r>
            <a:r>
              <a:rPr sz="2600" b="1" i="1" spc="-5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inicialização</a:t>
            </a:r>
            <a:r>
              <a:rPr sz="2600" b="1" i="1" spc="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pode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determinar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algoritmo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converge,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sendo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alguns</a:t>
            </a:r>
            <a:endParaRPr sz="2600" dirty="0">
              <a:latin typeface="Calibri"/>
              <a:cs typeface="Calibri"/>
            </a:endParaRPr>
          </a:p>
          <a:p>
            <a:pPr marL="241300">
              <a:lnSpc>
                <a:spcPts val="2185"/>
              </a:lnSpc>
            </a:pPr>
            <a:r>
              <a:rPr sz="2600" dirty="0">
                <a:latin typeface="Calibri"/>
                <a:cs typeface="Calibri"/>
              </a:rPr>
              <a:t>pontos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iniciais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tão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instáveis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algoritmo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encontra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dificuldades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numéricas</a:t>
            </a:r>
            <a:endParaRPr sz="2600" dirty="0">
              <a:latin typeface="Calibri"/>
              <a:cs typeface="Calibri"/>
            </a:endParaRPr>
          </a:p>
          <a:p>
            <a:pPr marL="241300" marR="438150">
              <a:lnSpc>
                <a:spcPct val="70000"/>
              </a:lnSpc>
              <a:spcBef>
                <a:spcPts val="465"/>
              </a:spcBef>
            </a:pPr>
            <a:r>
              <a:rPr sz="2600" spc="-10" dirty="0">
                <a:latin typeface="Calibri"/>
                <a:cs typeface="Calibri"/>
              </a:rPr>
              <a:t>(representações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numéricas: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underflow</a:t>
            </a:r>
            <a:r>
              <a:rPr sz="2600" b="1" i="1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overflow</a:t>
            </a:r>
            <a:r>
              <a:rPr sz="2600" dirty="0">
                <a:latin typeface="Calibri"/>
                <a:cs typeface="Calibri"/>
              </a:rPr>
              <a:t>)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falha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completamente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em </a:t>
            </a:r>
            <a:r>
              <a:rPr sz="2600" dirty="0">
                <a:latin typeface="Calibri"/>
                <a:cs typeface="Calibri"/>
              </a:rPr>
              <a:t>convergir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(e.g.,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desaparecimento</a:t>
            </a:r>
            <a:r>
              <a:rPr sz="2600" b="1" i="1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explosão</a:t>
            </a:r>
            <a:r>
              <a:rPr sz="2600" b="1" i="1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gradientes).</a:t>
            </a:r>
            <a:endParaRPr sz="2600" dirty="0">
              <a:latin typeface="Calibri"/>
              <a:cs typeface="Calibri"/>
            </a:endParaRPr>
          </a:p>
          <a:p>
            <a:pPr marL="241300" marR="1228725" indent="-228600">
              <a:lnSpc>
                <a:spcPct val="7000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ponto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inicialização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também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pode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fazer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ocorram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variações expressivas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na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velocidade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</a:t>
            </a:r>
            <a:r>
              <a:rPr sz="2600" b="1" i="1" spc="-4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convergência</a:t>
            </a:r>
            <a:r>
              <a:rPr sz="2600" b="1" i="1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(e.g.,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platôs,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pontos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sela).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ts val="2650"/>
              </a:lnSpc>
              <a:spcBef>
                <a:spcPts val="6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Uma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questão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importante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inicialização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pesos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“</a:t>
            </a:r>
            <a:r>
              <a:rPr sz="2600" b="1" i="1" dirty="0">
                <a:latin typeface="Calibri"/>
                <a:cs typeface="Calibri"/>
              </a:rPr>
              <a:t>quebrar</a:t>
            </a:r>
            <a:r>
              <a:rPr sz="2600" b="1" i="1" spc="-4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a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simetria</a:t>
            </a:r>
            <a:r>
              <a:rPr sz="2600" dirty="0">
                <a:latin typeface="Calibri"/>
                <a:cs typeface="Calibri"/>
              </a:rPr>
              <a:t>”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entre</a:t>
            </a:r>
            <a:endParaRPr sz="2600" dirty="0">
              <a:latin typeface="Calibri"/>
              <a:cs typeface="Calibri"/>
            </a:endParaRPr>
          </a:p>
          <a:p>
            <a:pPr marL="241300">
              <a:lnSpc>
                <a:spcPts val="2185"/>
              </a:lnSpc>
            </a:pPr>
            <a:r>
              <a:rPr sz="2600" dirty="0">
                <a:latin typeface="Calibri"/>
                <a:cs typeface="Calibri"/>
              </a:rPr>
              <a:t>os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nós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ou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seja,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nós</a:t>
            </a:r>
            <a:r>
              <a:rPr sz="2600" b="1" i="1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mesma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função</a:t>
            </a:r>
            <a:r>
              <a:rPr sz="2600" b="1" i="1" spc="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</a:t>
            </a:r>
            <a:r>
              <a:rPr sz="2600" b="1" i="1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ativação</a:t>
            </a:r>
            <a:r>
              <a:rPr sz="2600" b="1" i="1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conectados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às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mesmas</a:t>
            </a:r>
            <a:endParaRPr sz="2600" dirty="0">
              <a:latin typeface="Calibri"/>
              <a:cs typeface="Calibri"/>
            </a:endParaRPr>
          </a:p>
          <a:p>
            <a:pPr marL="241300" marR="1056005">
              <a:lnSpc>
                <a:spcPct val="70000"/>
              </a:lnSpc>
              <a:spcBef>
                <a:spcPts val="465"/>
              </a:spcBef>
            </a:pPr>
            <a:r>
              <a:rPr sz="2600" dirty="0">
                <a:latin typeface="Calibri"/>
                <a:cs typeface="Calibri"/>
              </a:rPr>
              <a:t>entradas,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devem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ter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pesos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iniciais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diferentes,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caso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contrário,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eles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terão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os </a:t>
            </a:r>
            <a:r>
              <a:rPr sz="2600" dirty="0">
                <a:latin typeface="Calibri"/>
                <a:cs typeface="Calibri"/>
              </a:rPr>
              <a:t>mesmos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pesos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ao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longo do</a:t>
            </a:r>
            <a:r>
              <a:rPr sz="2600" spc="-10" dirty="0">
                <a:latin typeface="Calibri"/>
                <a:cs typeface="Calibri"/>
              </a:rPr>
              <a:t> treinamento.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ts val="2940"/>
              </a:lnSpc>
              <a:spcBef>
                <a:spcPts val="6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Isso,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portanto,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sugere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uma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abordagem</a:t>
            </a:r>
            <a:r>
              <a:rPr sz="2600" b="1" i="1" spc="-8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</a:t>
            </a:r>
            <a:r>
              <a:rPr sz="2600" b="1" i="1" spc="-6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inicialização</a:t>
            </a:r>
            <a:r>
              <a:rPr sz="2600" b="1" i="1" spc="-15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aleatória</a:t>
            </a:r>
            <a:r>
              <a:rPr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R="5080" algn="r">
              <a:lnSpc>
                <a:spcPts val="1260"/>
              </a:lnSpc>
            </a:pPr>
            <a:r>
              <a:rPr sz="12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[1]</a:t>
            </a:r>
            <a:r>
              <a:rPr sz="1200" u="sng" spc="-2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12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The importance</a:t>
            </a:r>
            <a:r>
              <a:rPr sz="1200" u="sng" spc="-1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12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of</a:t>
            </a:r>
            <a:r>
              <a:rPr sz="1200" u="sng" spc="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12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effective</a:t>
            </a:r>
            <a:r>
              <a:rPr sz="1200" u="sng" spc="-1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12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initialization</a:t>
            </a:r>
            <a:endParaRPr sz="1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39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Inicialização</a:t>
            </a:r>
            <a:r>
              <a:rPr spc="-45" dirty="0"/>
              <a:t> </a:t>
            </a:r>
            <a:r>
              <a:rPr dirty="0"/>
              <a:t>dos</a:t>
            </a:r>
            <a:r>
              <a:rPr spc="-50" dirty="0"/>
              <a:t> </a:t>
            </a:r>
            <a:r>
              <a:rPr spc="-10" dirty="0"/>
              <a:t>Pesos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46250"/>
            <a:ext cx="10947400" cy="46977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ts val="245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Os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pesos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iniciais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são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tipicamente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obtidos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partir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distribuições</a:t>
            </a:r>
            <a:r>
              <a:rPr sz="2400" b="1" i="1" spc="-1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gaussianas</a:t>
            </a:r>
            <a:r>
              <a:rPr sz="2400" b="1" i="1" spc="-4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ou</a:t>
            </a:r>
            <a:endParaRPr sz="2400" dirty="0">
              <a:latin typeface="Calibri"/>
              <a:cs typeface="Calibri"/>
            </a:endParaRPr>
          </a:p>
          <a:p>
            <a:pPr marL="241300">
              <a:lnSpc>
                <a:spcPts val="2450"/>
              </a:lnSpc>
            </a:pPr>
            <a:r>
              <a:rPr sz="2400" b="1" i="1" dirty="0">
                <a:latin typeface="Calibri"/>
                <a:cs typeface="Calibri"/>
              </a:rPr>
              <a:t>uniformes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não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importando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muito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qual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usada.</a:t>
            </a:r>
            <a:endParaRPr sz="2400" dirty="0">
              <a:latin typeface="Calibri"/>
              <a:cs typeface="Calibri"/>
            </a:endParaRPr>
          </a:p>
          <a:p>
            <a:pPr marL="241300" marR="5080" indent="-228600">
              <a:lnSpc>
                <a:spcPct val="700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No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entanto,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o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intervalo</a:t>
            </a:r>
            <a:r>
              <a:rPr sz="2400" b="1" i="1" spc="-2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de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valores</a:t>
            </a:r>
            <a:r>
              <a:rPr sz="2400" b="1" i="1" spc="-4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da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distribuição</a:t>
            </a:r>
            <a:r>
              <a:rPr sz="2400" b="1" i="1" spc="-2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usada</a:t>
            </a:r>
            <a:r>
              <a:rPr sz="2400" b="1" i="1" spc="-6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para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iniciar</a:t>
            </a:r>
            <a:r>
              <a:rPr sz="2400" b="1" i="1" spc="-2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os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pesos</a:t>
            </a:r>
            <a:r>
              <a:rPr sz="2400" b="1" i="1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tem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um </a:t>
            </a:r>
            <a:r>
              <a:rPr sz="2400" dirty="0">
                <a:latin typeface="Calibri"/>
                <a:cs typeface="Calibri"/>
              </a:rPr>
              <a:t>efeito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significativo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tanto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resultado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otimização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quanto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capacidade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de </a:t>
            </a:r>
            <a:r>
              <a:rPr sz="2400" dirty="0">
                <a:latin typeface="Calibri"/>
                <a:cs typeface="Calibri"/>
              </a:rPr>
              <a:t>generalização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rede.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ts val="2770"/>
              </a:lnSpc>
              <a:spcBef>
                <a:spcPts val="145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ordem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grandeza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desses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pesos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levanta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algumas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discussões:</a:t>
            </a:r>
            <a:endParaRPr sz="2400" dirty="0">
              <a:latin typeface="Calibri"/>
              <a:cs typeface="Calibri"/>
            </a:endParaRPr>
          </a:p>
          <a:p>
            <a:pPr marL="698500" marR="379095" lvl="1" indent="-228600">
              <a:lnSpc>
                <a:spcPct val="70000"/>
              </a:lnSpc>
              <a:spcBef>
                <a:spcPts val="610"/>
              </a:spcBef>
              <a:buFont typeface="Wingdings"/>
              <a:buChar char=""/>
              <a:tabLst>
                <a:tab pos="699135" algn="l"/>
              </a:tabLst>
            </a:pPr>
            <a:r>
              <a:rPr sz="2000" dirty="0">
                <a:latin typeface="Calibri"/>
                <a:cs typeface="Calibri"/>
              </a:rPr>
              <a:t>Pesos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maior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magnitude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criam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uma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maior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distinção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entre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nós</a:t>
            </a:r>
            <a:r>
              <a:rPr sz="2000" b="1" i="1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(i.e.,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quebra</a:t>
            </a:r>
            <a:r>
              <a:rPr sz="2000" b="1" i="1" spc="-40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de</a:t>
            </a:r>
            <a:r>
              <a:rPr sz="2000" b="1" i="1" spc="-25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simetria</a:t>
            </a:r>
            <a:r>
              <a:rPr sz="2000" dirty="0">
                <a:latin typeface="Calibri"/>
                <a:cs typeface="Calibri"/>
              </a:rPr>
              <a:t>).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Por </a:t>
            </a:r>
            <a:r>
              <a:rPr sz="2000" dirty="0">
                <a:latin typeface="Calibri"/>
                <a:cs typeface="Calibri"/>
              </a:rPr>
              <a:t>outro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lado,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isso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pode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causar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problemas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b="1" i="1" spc="-10" dirty="0">
                <a:latin typeface="Calibri"/>
                <a:cs typeface="Calibri"/>
              </a:rPr>
              <a:t>instabilidade</a:t>
            </a:r>
            <a:r>
              <a:rPr sz="2000" spc="-10" dirty="0"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  <a:p>
            <a:pPr marL="698500" marR="57150" lvl="1" indent="-228600">
              <a:lnSpc>
                <a:spcPct val="70000"/>
              </a:lnSpc>
              <a:spcBef>
                <a:spcPts val="505"/>
              </a:spcBef>
              <a:buFont typeface="Wingdings"/>
              <a:buChar char=""/>
              <a:tabLst>
                <a:tab pos="699135" algn="l"/>
              </a:tabLst>
            </a:pPr>
            <a:r>
              <a:rPr sz="2000" dirty="0">
                <a:latin typeface="Calibri"/>
                <a:cs typeface="Calibri"/>
              </a:rPr>
              <a:t>Pesos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maior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magnitude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favorecem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propagação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informação,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porém,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por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outro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lado,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causam </a:t>
            </a:r>
            <a:r>
              <a:rPr sz="2000" dirty="0">
                <a:latin typeface="Calibri"/>
                <a:cs typeface="Calibri"/>
              </a:rPr>
              <a:t>preocupações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do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ponto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vista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regularização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(</a:t>
            </a:r>
            <a:r>
              <a:rPr sz="2000" b="1" i="1" spc="-10" dirty="0">
                <a:latin typeface="Calibri"/>
                <a:cs typeface="Calibri"/>
              </a:rPr>
              <a:t>overfitting</a:t>
            </a:r>
            <a:r>
              <a:rPr sz="2000" spc="-10" dirty="0">
                <a:latin typeface="Calibri"/>
                <a:cs typeface="Calibri"/>
              </a:rPr>
              <a:t>).</a:t>
            </a:r>
            <a:endParaRPr sz="2000" dirty="0">
              <a:latin typeface="Calibri"/>
              <a:cs typeface="Calibri"/>
            </a:endParaRPr>
          </a:p>
          <a:p>
            <a:pPr marL="698500" marR="40005" lvl="1" indent="-228600">
              <a:lnSpc>
                <a:spcPct val="70100"/>
              </a:lnSpc>
              <a:spcBef>
                <a:spcPts val="500"/>
              </a:spcBef>
              <a:buFont typeface="Wingdings"/>
              <a:buChar char=""/>
              <a:tabLst>
                <a:tab pos="699135" algn="l"/>
              </a:tabLst>
            </a:pPr>
            <a:r>
              <a:rPr sz="2000" dirty="0">
                <a:latin typeface="Calibri"/>
                <a:cs typeface="Calibri"/>
              </a:rPr>
              <a:t>Pesos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magnitude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elevada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podem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levar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nós</a:t>
            </a:r>
            <a:r>
              <a:rPr sz="2000" b="1" i="1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com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funções</a:t>
            </a:r>
            <a:r>
              <a:rPr sz="2000" b="1" i="1" spc="-40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de</a:t>
            </a:r>
            <a:r>
              <a:rPr sz="2000" b="1" i="1" spc="-20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ativação</a:t>
            </a:r>
            <a:r>
              <a:rPr sz="2000" b="1" i="1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tipo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sigmóide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0" dirty="0">
                <a:latin typeface="Calibri"/>
                <a:cs typeface="Calibri"/>
              </a:rPr>
              <a:t>a </a:t>
            </a:r>
            <a:r>
              <a:rPr sz="2000" dirty="0">
                <a:latin typeface="Calibri"/>
                <a:cs typeface="Calibri"/>
              </a:rPr>
              <a:t>operarem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na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região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saturação,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comprometendo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convergência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do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algoritmo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(</a:t>
            </a:r>
            <a:r>
              <a:rPr sz="2000" b="1" i="1" spc="-10" dirty="0">
                <a:latin typeface="Calibri"/>
                <a:cs typeface="Calibri"/>
              </a:rPr>
              <a:t>desaparecimento </a:t>
            </a:r>
            <a:r>
              <a:rPr sz="2000" b="1" i="1" dirty="0">
                <a:latin typeface="Calibri"/>
                <a:cs typeface="Calibri"/>
              </a:rPr>
              <a:t>do</a:t>
            </a:r>
            <a:r>
              <a:rPr sz="2000" b="1" i="1" spc="-25" dirty="0">
                <a:latin typeface="Calibri"/>
                <a:cs typeface="Calibri"/>
              </a:rPr>
              <a:t> </a:t>
            </a:r>
            <a:r>
              <a:rPr sz="2000" b="1" i="1" spc="-10" dirty="0">
                <a:latin typeface="Calibri"/>
                <a:cs typeface="Calibri"/>
              </a:rPr>
              <a:t>gradiente</a:t>
            </a:r>
            <a:r>
              <a:rPr sz="2000" spc="-10" dirty="0">
                <a:latin typeface="Calibri"/>
                <a:cs typeface="Calibri"/>
              </a:rPr>
              <a:t>).</a:t>
            </a:r>
            <a:endParaRPr sz="2000" dirty="0">
              <a:latin typeface="Calibri"/>
              <a:cs typeface="Calibri"/>
            </a:endParaRPr>
          </a:p>
          <a:p>
            <a:pPr marL="698500" marR="50165" lvl="1" indent="-228600">
              <a:lnSpc>
                <a:spcPct val="70000"/>
              </a:lnSpc>
              <a:spcBef>
                <a:spcPts val="495"/>
              </a:spcBef>
              <a:buFont typeface="Wingdings"/>
              <a:buChar char=""/>
              <a:tabLst>
                <a:tab pos="699135" algn="l"/>
              </a:tabLst>
            </a:pPr>
            <a:r>
              <a:rPr sz="2000" dirty="0">
                <a:latin typeface="Calibri"/>
                <a:cs typeface="Calibri"/>
              </a:rPr>
              <a:t>Pesos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magnitude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elevada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podem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levar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nós</a:t>
            </a:r>
            <a:r>
              <a:rPr sz="2000" b="1" i="1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com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funções</a:t>
            </a:r>
            <a:r>
              <a:rPr sz="2000" b="1" i="1" spc="-40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de</a:t>
            </a:r>
            <a:r>
              <a:rPr sz="2000" b="1" i="1" spc="-20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ativação</a:t>
            </a:r>
            <a:r>
              <a:rPr sz="2000" b="1" i="1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tipo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RELU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à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b="1" i="1" spc="-10" dirty="0">
                <a:latin typeface="Calibri"/>
                <a:cs typeface="Calibri"/>
              </a:rPr>
              <a:t>explosão </a:t>
            </a:r>
            <a:r>
              <a:rPr sz="2000" b="1" i="1" dirty="0">
                <a:latin typeface="Calibri"/>
                <a:cs typeface="Calibri"/>
              </a:rPr>
              <a:t>do</a:t>
            </a:r>
            <a:r>
              <a:rPr sz="2000" b="1" i="1" spc="-50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gradiente</a:t>
            </a:r>
            <a:r>
              <a:rPr sz="2000" b="1" i="1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ou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dos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valores</a:t>
            </a:r>
            <a:r>
              <a:rPr sz="2000" b="1" i="1" spc="-40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de</a:t>
            </a:r>
            <a:r>
              <a:rPr sz="2000" b="1" i="1" spc="-35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saída</a:t>
            </a:r>
            <a:r>
              <a:rPr sz="2000" dirty="0">
                <a:latin typeface="Calibri"/>
                <a:cs typeface="Calibri"/>
              </a:rPr>
              <a:t>,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deixando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rede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muito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sensível a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mudanças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dos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valores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de </a:t>
            </a:r>
            <a:r>
              <a:rPr sz="2000" spc="-10" dirty="0">
                <a:latin typeface="Calibri"/>
                <a:cs typeface="Calibri"/>
              </a:rPr>
              <a:t>entrada.</a:t>
            </a:r>
            <a:endParaRPr sz="20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14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10" dirty="0">
                <a:latin typeface="Calibri"/>
                <a:cs typeface="Calibri"/>
              </a:rPr>
              <a:t>Portanto,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na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sequência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listamos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algumas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heurísticas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inicialização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pesos.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39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Inicialização</a:t>
            </a:r>
            <a:r>
              <a:rPr spc="-45" dirty="0"/>
              <a:t> </a:t>
            </a:r>
            <a:r>
              <a:rPr dirty="0"/>
              <a:t>dos</a:t>
            </a:r>
            <a:r>
              <a:rPr spc="-50" dirty="0"/>
              <a:t> </a:t>
            </a:r>
            <a:r>
              <a:rPr spc="-10" dirty="0"/>
              <a:t>Pesos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295400"/>
            <a:ext cx="10946765" cy="1542415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241300" marR="5080" indent="-228600">
              <a:lnSpc>
                <a:spcPct val="70100"/>
              </a:lnSpc>
              <a:spcBef>
                <a:spcPts val="960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ideia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por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trás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destas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heurísticas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manter</a:t>
            </a:r>
            <a:r>
              <a:rPr sz="2400" b="1" i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a</a:t>
            </a:r>
            <a:r>
              <a:rPr sz="2400" b="1" i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média</a:t>
            </a:r>
            <a:r>
              <a:rPr sz="2400" b="1" i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das</a:t>
            </a:r>
            <a:r>
              <a:rPr sz="2400" b="1" i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ativações</a:t>
            </a:r>
            <a:r>
              <a:rPr sz="2400" b="1" i="1" spc="-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igual</a:t>
            </a:r>
            <a:r>
              <a:rPr sz="2400" b="1" i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a</a:t>
            </a:r>
            <a:r>
              <a:rPr sz="2400" b="1" i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zero</a:t>
            </a:r>
            <a:r>
              <a:rPr sz="2400" b="1" i="1" spc="-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e</a:t>
            </a:r>
            <a:r>
              <a:rPr sz="2400" b="1" i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spc="-20" dirty="0">
                <a:solidFill>
                  <a:srgbClr val="00AF50"/>
                </a:solidFill>
                <a:latin typeface="Calibri"/>
                <a:cs typeface="Calibri"/>
              </a:rPr>
              <a:t>suas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variâncias</a:t>
            </a:r>
            <a:r>
              <a:rPr sz="2400" b="1" i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spc="-10" dirty="0">
                <a:solidFill>
                  <a:srgbClr val="00AF50"/>
                </a:solidFill>
                <a:latin typeface="Calibri"/>
                <a:cs typeface="Calibri"/>
              </a:rPr>
              <a:t>constantes</a:t>
            </a:r>
            <a:r>
              <a:rPr sz="2400" b="1" i="1" spc="-2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ao</a:t>
            </a:r>
            <a:r>
              <a:rPr sz="2400" b="1" i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longo</a:t>
            </a:r>
            <a:r>
              <a:rPr sz="2400" b="1" i="1" spc="-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das</a:t>
            </a:r>
            <a:r>
              <a:rPr sz="24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várias</a:t>
            </a:r>
            <a:r>
              <a:rPr sz="2400" b="1" i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camadas</a:t>
            </a:r>
            <a:r>
              <a:rPr sz="24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da</a:t>
            </a:r>
            <a:r>
              <a:rPr sz="24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rede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pois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desta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forma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evita-</a:t>
            </a:r>
            <a:r>
              <a:rPr sz="2400" spc="-25" dirty="0">
                <a:latin typeface="Calibri"/>
                <a:cs typeface="Calibri"/>
              </a:rPr>
              <a:t>se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desaparecimento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explosão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gradiente.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ts val="2450"/>
              </a:lnSpc>
              <a:spcBef>
                <a:spcPts val="130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Considerando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camada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𝑚</a:t>
            </a:r>
            <a:r>
              <a:rPr sz="2400" spc="25" dirty="0">
                <a:latin typeface="Cambria Math"/>
                <a:cs typeface="Cambria Math"/>
              </a:rPr>
              <a:t> </a:t>
            </a:r>
            <a:r>
              <a:rPr sz="2400" dirty="0">
                <a:latin typeface="Calibri"/>
                <a:cs typeface="Calibri"/>
              </a:rPr>
              <a:t>entradas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𝑛</a:t>
            </a:r>
            <a:r>
              <a:rPr sz="2400" spc="20" dirty="0">
                <a:latin typeface="Cambria Math"/>
                <a:cs typeface="Cambria Math"/>
              </a:rPr>
              <a:t> </a:t>
            </a:r>
            <a:r>
              <a:rPr sz="2400" dirty="0">
                <a:latin typeface="Calibri"/>
                <a:cs typeface="Calibri"/>
              </a:rPr>
              <a:t>saídas,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temos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seguintes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heurísticas</a:t>
            </a:r>
            <a:endParaRPr sz="2400" dirty="0">
              <a:latin typeface="Calibri"/>
              <a:cs typeface="Calibri"/>
            </a:endParaRPr>
          </a:p>
          <a:p>
            <a:pPr marL="241300">
              <a:lnSpc>
                <a:spcPts val="2450"/>
              </a:lnSpc>
            </a:pPr>
            <a:r>
              <a:rPr sz="2400" dirty="0">
                <a:latin typeface="Calibri"/>
                <a:cs typeface="Calibri"/>
              </a:rPr>
              <a:t>para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inicializar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pesos</a:t>
            </a:r>
            <a:r>
              <a:rPr sz="2400" b="1" i="1" spc="-2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sinápticos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seus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nós.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16939" y="5962294"/>
            <a:ext cx="11077575" cy="852805"/>
          </a:xfrm>
          <a:prstGeom prst="rect">
            <a:avLst/>
          </a:prstGeom>
        </p:spPr>
        <p:txBody>
          <a:bodyPr vert="horz" wrap="square" lIns="0" tIns="122555" rIns="0" bIns="0" rtlCol="0">
            <a:spAutoFit/>
          </a:bodyPr>
          <a:lstStyle/>
          <a:p>
            <a:pPr marL="241300" marR="154940" indent="-228600">
              <a:lnSpc>
                <a:spcPct val="70000"/>
              </a:lnSpc>
              <a:spcBef>
                <a:spcPts val="965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Uma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heurística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inicialização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pesos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de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bias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10" dirty="0">
                <a:latin typeface="Calibri"/>
                <a:cs typeface="Calibri"/>
              </a:rPr>
              <a:t> inicializá-</a:t>
            </a:r>
            <a:r>
              <a:rPr sz="2400" dirty="0">
                <a:latin typeface="Calibri"/>
                <a:cs typeface="Calibri"/>
              </a:rPr>
              <a:t>los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valores</a:t>
            </a:r>
            <a:r>
              <a:rPr sz="2400" b="1" i="1" spc="-15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nulos</a:t>
            </a:r>
            <a:r>
              <a:rPr sz="2400" spc="-10" dirty="0">
                <a:latin typeface="Calibri"/>
                <a:cs typeface="Calibri"/>
              </a:rPr>
              <a:t>. </a:t>
            </a:r>
            <a:r>
              <a:rPr sz="2400" dirty="0">
                <a:latin typeface="Calibri"/>
                <a:cs typeface="Calibri"/>
              </a:rPr>
              <a:t>Esta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heurística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usada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pois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mostra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bastante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eficiente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maioria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casos.</a:t>
            </a:r>
            <a:endParaRPr sz="2400"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  <a:spcBef>
                <a:spcPts val="175"/>
              </a:spcBef>
            </a:pPr>
            <a:r>
              <a:rPr sz="12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[2]</a:t>
            </a:r>
            <a:r>
              <a:rPr sz="1200" u="sng" spc="-2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12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How</a:t>
            </a:r>
            <a:r>
              <a:rPr sz="1200" u="sng" spc="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12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to</a:t>
            </a:r>
            <a:r>
              <a:rPr sz="1200" u="sng" spc="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12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find</a:t>
            </a:r>
            <a:r>
              <a:rPr sz="1200" u="sng" spc="-3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12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appropriate</a:t>
            </a:r>
            <a:r>
              <a:rPr sz="1200" u="sng" spc="-3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12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initialization</a:t>
            </a:r>
            <a:r>
              <a:rPr sz="1200" u="sng" spc="-3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12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values</a:t>
            </a:r>
            <a:endParaRPr sz="120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ela 11">
                <a:extLst>
                  <a:ext uri="{FF2B5EF4-FFF2-40B4-BE49-F238E27FC236}">
                    <a16:creationId xmlns:a16="http://schemas.microsoft.com/office/drawing/2014/main" id="{10A15979-BCD3-42CC-1A93-CE676E6A1A1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12716544"/>
                  </p:ext>
                </p:extLst>
              </p:nvPr>
            </p:nvGraphicFramePr>
            <p:xfrm>
              <a:off x="909682" y="3058267"/>
              <a:ext cx="10896688" cy="268357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750151">
                      <a:extLst>
                        <a:ext uri="{9D8B030D-6E8A-4147-A177-3AD203B41FA5}">
                          <a16:colId xmlns:a16="http://schemas.microsoft.com/office/drawing/2014/main" val="1234952311"/>
                        </a:ext>
                      </a:extLst>
                    </a:gridCol>
                    <a:gridCol w="3698193">
                      <a:extLst>
                        <a:ext uri="{9D8B030D-6E8A-4147-A177-3AD203B41FA5}">
                          <a16:colId xmlns:a16="http://schemas.microsoft.com/office/drawing/2014/main" val="4183814512"/>
                        </a:ext>
                      </a:extLst>
                    </a:gridCol>
                    <a:gridCol w="2724172">
                      <a:extLst>
                        <a:ext uri="{9D8B030D-6E8A-4147-A177-3AD203B41FA5}">
                          <a16:colId xmlns:a16="http://schemas.microsoft.com/office/drawing/2014/main" val="918209812"/>
                        </a:ext>
                      </a:extLst>
                    </a:gridCol>
                    <a:gridCol w="2724172">
                      <a:extLst>
                        <a:ext uri="{9D8B030D-6E8A-4147-A177-3AD203B41FA5}">
                          <a16:colId xmlns:a16="http://schemas.microsoft.com/office/drawing/2014/main" val="2526578161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b="1" spc="-10" dirty="0">
                              <a:latin typeface="+mn-lt"/>
                              <a:cs typeface="Calibri"/>
                            </a:rPr>
                            <a:t>Inicialização</a:t>
                          </a:r>
                          <a:endParaRPr lang="pt-BR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400" b="1" dirty="0">
                              <a:latin typeface="+mn-lt"/>
                              <a:cs typeface="Calibri"/>
                            </a:rPr>
                            <a:t>Funções</a:t>
                          </a:r>
                          <a:r>
                            <a:rPr lang="pt-BR" sz="1400" b="1" spc="-45" dirty="0">
                              <a:latin typeface="+mn-lt"/>
                              <a:cs typeface="Calibri"/>
                            </a:rPr>
                            <a:t> </a:t>
                          </a:r>
                          <a:r>
                            <a:rPr lang="pt-BR" sz="1400" b="1" dirty="0">
                              <a:latin typeface="+mn-lt"/>
                              <a:cs typeface="Calibri"/>
                            </a:rPr>
                            <a:t>de</a:t>
                          </a:r>
                          <a:r>
                            <a:rPr lang="pt-BR" sz="1400" b="1" spc="-20" dirty="0">
                              <a:latin typeface="+mn-lt"/>
                              <a:cs typeface="Calibri"/>
                            </a:rPr>
                            <a:t> </a:t>
                          </a:r>
                          <a:r>
                            <a:rPr lang="pt-BR" sz="1400" b="1" spc="-10" dirty="0">
                              <a:latin typeface="+mn-lt"/>
                              <a:cs typeface="Calibri"/>
                            </a:rPr>
                            <a:t>ativação</a:t>
                          </a:r>
                          <a:endParaRPr lang="pt-BR" sz="1400" dirty="0">
                            <a:latin typeface="+mn-lt"/>
                            <a:cs typeface="Calibri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400" b="1" dirty="0">
                              <a:latin typeface="+mn-lt"/>
                              <a:cs typeface="Calibri"/>
                            </a:rPr>
                            <a:t>Distribuição</a:t>
                          </a:r>
                          <a:r>
                            <a:rPr lang="pt-BR" sz="1400" b="1" spc="-70" dirty="0">
                              <a:latin typeface="+mn-lt"/>
                              <a:cs typeface="Calibri"/>
                            </a:rPr>
                            <a:t> </a:t>
                          </a:r>
                          <a:r>
                            <a:rPr lang="pt-BR" sz="1400" b="1" spc="-10" dirty="0">
                              <a:latin typeface="+mn-lt"/>
                              <a:cs typeface="Calibri"/>
                            </a:rPr>
                            <a:t>Uniforme</a:t>
                          </a:r>
                          <a:endParaRPr lang="pt-BR" sz="1400" dirty="0">
                            <a:latin typeface="+mn-lt"/>
                            <a:cs typeface="Calibri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sz="1400" b="0" i="1" smtClean="0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  <m:r>
                                  <a:rPr lang="pt-BR" sz="1400" b="0" i="1" smtClean="0">
                                    <a:latin typeface="Cambria Math" panose="02040503050406030204" pitchFamily="18" charset="0"/>
                                  </a:rPr>
                                  <m:t>(−</m:t>
                                </m:r>
                                <m:r>
                                  <a:rPr lang="pt-BR" sz="1400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pt-BR" sz="14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pt-BR" sz="1400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pt-BR" sz="14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pt-BR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400" b="1" dirty="0">
                              <a:latin typeface="+mn-lt"/>
                              <a:cs typeface="Calibri"/>
                            </a:rPr>
                            <a:t>Distribuição</a:t>
                          </a:r>
                          <a:r>
                            <a:rPr lang="pt-BR" sz="1400" b="1" spc="-70" dirty="0">
                              <a:latin typeface="+mn-lt"/>
                              <a:cs typeface="Calibri"/>
                            </a:rPr>
                            <a:t> </a:t>
                          </a:r>
                          <a:r>
                            <a:rPr lang="pt-BR" sz="1400" b="1" spc="-10" dirty="0">
                              <a:latin typeface="+mn-lt"/>
                              <a:cs typeface="Calibri"/>
                            </a:rPr>
                            <a:t>Normal</a:t>
                          </a:r>
                          <a:endParaRPr lang="pt-BR" sz="1400" dirty="0">
                            <a:latin typeface="+mn-lt"/>
                            <a:cs typeface="Calibri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pt-B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BR" sz="1400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  <m:r>
                                      <a:rPr lang="pt-BR" sz="1400" b="0" i="1" smtClean="0">
                                        <a:latin typeface="Cambria Math" panose="02040503050406030204" pitchFamily="18" charset="0"/>
                                      </a:rPr>
                                      <m:t>(0,</m:t>
                                    </m:r>
                                    <m:r>
                                      <a:rPr lang="pt-BR" sz="1400" b="0" i="1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pt-BR" sz="1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pt-BR" sz="14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pt-BR" sz="1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680044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400" spc="-10" dirty="0">
                              <a:latin typeface="+mn-lt"/>
                              <a:cs typeface="Calibri"/>
                            </a:rPr>
                            <a:t>Xavier/</a:t>
                          </a:r>
                          <a:r>
                            <a:rPr lang="pt-BR" sz="1400" spc="-10" dirty="0" err="1">
                              <a:latin typeface="+mn-lt"/>
                              <a:cs typeface="Calibri"/>
                            </a:rPr>
                            <a:t>Glorot</a:t>
                          </a:r>
                          <a:endParaRPr lang="pt-BR" sz="1400" dirty="0">
                            <a:latin typeface="+mn-lt"/>
                            <a:cs typeface="Calibri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400" dirty="0">
                              <a:latin typeface="+mn-lt"/>
                              <a:cs typeface="Calibri"/>
                            </a:rPr>
                            <a:t>Linear</a:t>
                          </a:r>
                          <a:r>
                            <a:rPr lang="pt-BR" sz="1400" spc="-30" dirty="0">
                              <a:latin typeface="+mn-lt"/>
                              <a:cs typeface="Calibri"/>
                            </a:rPr>
                            <a:t> </a:t>
                          </a:r>
                          <a:r>
                            <a:rPr lang="pt-BR" sz="1400" dirty="0">
                              <a:latin typeface="+mn-lt"/>
                              <a:cs typeface="Calibri"/>
                            </a:rPr>
                            <a:t>(i.e.,</a:t>
                          </a:r>
                          <a:r>
                            <a:rPr lang="pt-BR" sz="1400" spc="-40" dirty="0">
                              <a:latin typeface="+mn-lt"/>
                              <a:cs typeface="Calibri"/>
                            </a:rPr>
                            <a:t> </a:t>
                          </a:r>
                          <a:r>
                            <a:rPr lang="pt-BR" sz="1400" dirty="0">
                              <a:latin typeface="+mn-lt"/>
                              <a:cs typeface="Calibri"/>
                            </a:rPr>
                            <a:t>nenhuma),</a:t>
                          </a:r>
                          <a:r>
                            <a:rPr lang="pt-BR" sz="1400" spc="-10" dirty="0">
                              <a:latin typeface="+mn-lt"/>
                              <a:cs typeface="Calibri"/>
                            </a:rPr>
                            <a:t> </a:t>
                          </a:r>
                          <a:r>
                            <a:rPr lang="pt-BR" sz="1400" spc="-20" dirty="0" err="1">
                              <a:latin typeface="+mn-lt"/>
                              <a:cs typeface="Calibri"/>
                            </a:rPr>
                            <a:t>Tanh</a:t>
                          </a:r>
                          <a:r>
                            <a:rPr lang="pt-BR" sz="1400" spc="-20" dirty="0">
                              <a:latin typeface="+mn-lt"/>
                              <a:cs typeface="Calibri"/>
                            </a:rPr>
                            <a:t>,</a:t>
                          </a:r>
                          <a:r>
                            <a:rPr lang="pt-BR" sz="1400" spc="-30" dirty="0">
                              <a:latin typeface="+mn-lt"/>
                              <a:cs typeface="Calibri"/>
                            </a:rPr>
                            <a:t> </a:t>
                          </a:r>
                          <a:r>
                            <a:rPr lang="pt-BR" sz="1400" dirty="0">
                              <a:latin typeface="+mn-lt"/>
                              <a:cs typeface="Calibri"/>
                            </a:rPr>
                            <a:t>Logística,</a:t>
                          </a:r>
                          <a:r>
                            <a:rPr lang="pt-BR" sz="1400" spc="-25" dirty="0">
                              <a:latin typeface="+mn-lt"/>
                              <a:cs typeface="Calibri"/>
                            </a:rPr>
                            <a:t> </a:t>
                          </a:r>
                          <a:r>
                            <a:rPr lang="pt-BR" sz="1400" spc="-10" dirty="0" err="1">
                              <a:latin typeface="+mn-lt"/>
                              <a:cs typeface="Calibri"/>
                            </a:rPr>
                            <a:t>Softmax</a:t>
                          </a:r>
                          <a:endParaRPr lang="pt-BR" sz="1400" dirty="0">
                            <a:latin typeface="+mn-lt"/>
                            <a:cs typeface="Calibri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sz="1400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pt-BR" sz="1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pt-BR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f>
                                      <m:fPr>
                                        <m:ctrlPr>
                                          <a:rPr lang="pt-BR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pt-BR" sz="1400" b="0" i="1" smtClean="0">
                                            <a:latin typeface="Cambria Math" panose="02040503050406030204" pitchFamily="18" charset="0"/>
                                          </a:rPr>
                                          <m:t>6</m:t>
                                        </m:r>
                                      </m:num>
                                      <m:den>
                                        <m:r>
                                          <a:rPr lang="pt-BR" sz="1400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  <m:r>
                                          <a:rPr lang="pt-BR" sz="1400" b="0" i="1" smtClean="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pt-BR" sz="14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den>
                                    </m:f>
                                  </m:e>
                                </m:rad>
                              </m:oMath>
                            </m:oMathPara>
                          </a14:m>
                          <a:endParaRPr lang="pt-BR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pt-B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BR" sz="1400" b="0" i="1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pt-BR" sz="1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pt-BR" sz="1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pt-B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t-BR" sz="1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pt-BR" sz="14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pt-BR" sz="14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pt-BR" sz="14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pt-BR" sz="1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877565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400" spc="-25" dirty="0">
                              <a:latin typeface="+mn-lt"/>
                              <a:cs typeface="Calibri"/>
                            </a:rPr>
                            <a:t>He</a:t>
                          </a:r>
                          <a:endParaRPr lang="pt-BR" sz="1400" dirty="0">
                            <a:latin typeface="+mn-lt"/>
                            <a:cs typeface="Calibri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400" dirty="0" err="1">
                              <a:latin typeface="+mn-lt"/>
                              <a:cs typeface="Calibri"/>
                            </a:rPr>
                            <a:t>ReLU</a:t>
                          </a:r>
                          <a:r>
                            <a:rPr lang="pt-BR" sz="1400" spc="-40" dirty="0">
                              <a:latin typeface="+mn-lt"/>
                              <a:cs typeface="Calibri"/>
                            </a:rPr>
                            <a:t> </a:t>
                          </a:r>
                          <a:r>
                            <a:rPr lang="pt-BR" sz="1400" dirty="0">
                              <a:latin typeface="+mn-lt"/>
                              <a:cs typeface="Calibri"/>
                            </a:rPr>
                            <a:t>e</a:t>
                          </a:r>
                          <a:r>
                            <a:rPr lang="pt-BR" sz="1400" spc="-20" dirty="0">
                              <a:latin typeface="+mn-lt"/>
                              <a:cs typeface="Calibri"/>
                            </a:rPr>
                            <a:t> </a:t>
                          </a:r>
                          <a:r>
                            <a:rPr lang="pt-BR" sz="1400" dirty="0">
                              <a:latin typeface="+mn-lt"/>
                              <a:cs typeface="Calibri"/>
                            </a:rPr>
                            <a:t>suas</a:t>
                          </a:r>
                          <a:r>
                            <a:rPr lang="pt-BR" sz="1400" spc="-15" dirty="0">
                              <a:latin typeface="+mn-lt"/>
                              <a:cs typeface="Calibri"/>
                            </a:rPr>
                            <a:t> </a:t>
                          </a:r>
                          <a:r>
                            <a:rPr lang="pt-BR" sz="1400" spc="-10" dirty="0">
                              <a:latin typeface="+mn-lt"/>
                              <a:cs typeface="Calibri"/>
                            </a:rPr>
                            <a:t>variantes</a:t>
                          </a:r>
                          <a:endParaRPr lang="pt-BR" sz="1400" dirty="0">
                            <a:latin typeface="+mn-lt"/>
                            <a:cs typeface="Calibri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sz="1400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pt-BR" sz="1400" b="0" i="1" smtClean="0">
                                    <a:latin typeface="Cambria Math" panose="02040503050406030204" pitchFamily="18" charset="0"/>
                                  </a:rPr>
                                  <m:t>= 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pt-B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f>
                                      <m:fPr>
                                        <m:ctrlPr>
                                          <a:rPr lang="pt-BR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pt-BR" sz="1400" b="0" i="1" smtClean="0">
                                            <a:latin typeface="Cambria Math" panose="02040503050406030204" pitchFamily="18" charset="0"/>
                                          </a:rPr>
                                          <m:t>6</m:t>
                                        </m:r>
                                      </m:num>
                                      <m:den>
                                        <m:r>
                                          <a:rPr lang="pt-BR" sz="1400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den>
                                    </m:f>
                                  </m:e>
                                </m:rad>
                              </m:oMath>
                            </m:oMathPara>
                          </a14:m>
                          <a:endParaRPr lang="pt-BR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pt-B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BR" sz="1400" b="0" i="1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pt-BR" sz="1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pt-BR" sz="1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pt-B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t-BR" sz="1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pt-BR" sz="14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pt-BR" sz="1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275582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400" spc="-10" dirty="0" err="1">
                              <a:latin typeface="+mn-lt"/>
                              <a:cs typeface="Calibri"/>
                            </a:rPr>
                            <a:t>LeCun</a:t>
                          </a:r>
                          <a:endParaRPr lang="pt-BR" sz="1400" dirty="0">
                            <a:latin typeface="+mn-lt"/>
                            <a:cs typeface="Calibri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400" spc="-20" dirty="0">
                              <a:latin typeface="+mn-lt"/>
                              <a:cs typeface="Calibri"/>
                            </a:rPr>
                            <a:t>SELU</a:t>
                          </a:r>
                          <a:endParaRPr lang="pt-BR" sz="1400" dirty="0">
                            <a:latin typeface="+mn-lt"/>
                            <a:cs typeface="Calibri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sz="1400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pt-BR" sz="1400" b="0" i="1" smtClean="0">
                                    <a:latin typeface="Cambria Math" panose="02040503050406030204" pitchFamily="18" charset="0"/>
                                  </a:rPr>
                                  <m:t>= 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pt-B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f>
                                      <m:fPr>
                                        <m:ctrlPr>
                                          <a:rPr lang="pt-BR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pt-BR" sz="14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num>
                                      <m:den>
                                        <m:r>
                                          <a:rPr lang="pt-BR" sz="1400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den>
                                    </m:f>
                                  </m:e>
                                </m:rad>
                              </m:oMath>
                            </m:oMathPara>
                          </a14:m>
                          <a:endParaRPr lang="pt-BR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pt-B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BR" sz="1400" b="0" i="1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pt-BR" sz="1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pt-BR" sz="1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pt-B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t-BR" sz="1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pt-BR" sz="14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pt-BR" sz="1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0575623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ela 11">
                <a:extLst>
                  <a:ext uri="{FF2B5EF4-FFF2-40B4-BE49-F238E27FC236}">
                    <a16:creationId xmlns:a16="http://schemas.microsoft.com/office/drawing/2014/main" id="{10A15979-BCD3-42CC-1A93-CE676E6A1A1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12716544"/>
                  </p:ext>
                </p:extLst>
              </p:nvPr>
            </p:nvGraphicFramePr>
            <p:xfrm>
              <a:off x="909682" y="3058267"/>
              <a:ext cx="10896688" cy="268357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750151">
                      <a:extLst>
                        <a:ext uri="{9D8B030D-6E8A-4147-A177-3AD203B41FA5}">
                          <a16:colId xmlns:a16="http://schemas.microsoft.com/office/drawing/2014/main" val="1234952311"/>
                        </a:ext>
                      </a:extLst>
                    </a:gridCol>
                    <a:gridCol w="3698193">
                      <a:extLst>
                        <a:ext uri="{9D8B030D-6E8A-4147-A177-3AD203B41FA5}">
                          <a16:colId xmlns:a16="http://schemas.microsoft.com/office/drawing/2014/main" val="4183814512"/>
                        </a:ext>
                      </a:extLst>
                    </a:gridCol>
                    <a:gridCol w="2724172">
                      <a:extLst>
                        <a:ext uri="{9D8B030D-6E8A-4147-A177-3AD203B41FA5}">
                          <a16:colId xmlns:a16="http://schemas.microsoft.com/office/drawing/2014/main" val="918209812"/>
                        </a:ext>
                      </a:extLst>
                    </a:gridCol>
                    <a:gridCol w="2724172">
                      <a:extLst>
                        <a:ext uri="{9D8B030D-6E8A-4147-A177-3AD203B41FA5}">
                          <a16:colId xmlns:a16="http://schemas.microsoft.com/office/drawing/2014/main" val="2526578161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b="1" spc="-10" dirty="0">
                              <a:latin typeface="+mn-lt"/>
                              <a:cs typeface="Calibri"/>
                            </a:rPr>
                            <a:t>Inicialização</a:t>
                          </a:r>
                          <a:endParaRPr lang="pt-BR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400" b="1" dirty="0">
                              <a:latin typeface="+mn-lt"/>
                              <a:cs typeface="Calibri"/>
                            </a:rPr>
                            <a:t>Funções</a:t>
                          </a:r>
                          <a:r>
                            <a:rPr lang="pt-BR" sz="1400" b="1" spc="-45" dirty="0">
                              <a:latin typeface="+mn-lt"/>
                              <a:cs typeface="Calibri"/>
                            </a:rPr>
                            <a:t> </a:t>
                          </a:r>
                          <a:r>
                            <a:rPr lang="pt-BR" sz="1400" b="1" dirty="0">
                              <a:latin typeface="+mn-lt"/>
                              <a:cs typeface="Calibri"/>
                            </a:rPr>
                            <a:t>de</a:t>
                          </a:r>
                          <a:r>
                            <a:rPr lang="pt-BR" sz="1400" b="1" spc="-20" dirty="0">
                              <a:latin typeface="+mn-lt"/>
                              <a:cs typeface="Calibri"/>
                            </a:rPr>
                            <a:t> </a:t>
                          </a:r>
                          <a:r>
                            <a:rPr lang="pt-BR" sz="1400" b="1" spc="-10" dirty="0">
                              <a:latin typeface="+mn-lt"/>
                              <a:cs typeface="Calibri"/>
                            </a:rPr>
                            <a:t>ativação</a:t>
                          </a:r>
                          <a:endParaRPr lang="pt-BR" sz="1400" dirty="0">
                            <a:latin typeface="+mn-lt"/>
                            <a:cs typeface="Calibri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0224" t="-1176" r="-100447" b="-4211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00224" t="-1176" r="-447" b="-4211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68004411"/>
                      </a:ext>
                    </a:extLst>
                  </a:tr>
                  <a:tr h="721805"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400" spc="-10" dirty="0">
                              <a:latin typeface="+mn-lt"/>
                              <a:cs typeface="Calibri"/>
                            </a:rPr>
                            <a:t>Xavier/</a:t>
                          </a:r>
                          <a:r>
                            <a:rPr lang="pt-BR" sz="1400" spc="-10" dirty="0" err="1">
                              <a:latin typeface="+mn-lt"/>
                              <a:cs typeface="Calibri"/>
                            </a:rPr>
                            <a:t>Glorot</a:t>
                          </a:r>
                          <a:endParaRPr lang="pt-BR" sz="1400" dirty="0">
                            <a:latin typeface="+mn-lt"/>
                            <a:cs typeface="Calibri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400" dirty="0">
                              <a:latin typeface="+mn-lt"/>
                              <a:cs typeface="Calibri"/>
                            </a:rPr>
                            <a:t>Linear</a:t>
                          </a:r>
                          <a:r>
                            <a:rPr lang="pt-BR" sz="1400" spc="-30" dirty="0">
                              <a:latin typeface="+mn-lt"/>
                              <a:cs typeface="Calibri"/>
                            </a:rPr>
                            <a:t> </a:t>
                          </a:r>
                          <a:r>
                            <a:rPr lang="pt-BR" sz="1400" dirty="0">
                              <a:latin typeface="+mn-lt"/>
                              <a:cs typeface="Calibri"/>
                            </a:rPr>
                            <a:t>(i.e.,</a:t>
                          </a:r>
                          <a:r>
                            <a:rPr lang="pt-BR" sz="1400" spc="-40" dirty="0">
                              <a:latin typeface="+mn-lt"/>
                              <a:cs typeface="Calibri"/>
                            </a:rPr>
                            <a:t> </a:t>
                          </a:r>
                          <a:r>
                            <a:rPr lang="pt-BR" sz="1400" dirty="0">
                              <a:latin typeface="+mn-lt"/>
                              <a:cs typeface="Calibri"/>
                            </a:rPr>
                            <a:t>nenhuma),</a:t>
                          </a:r>
                          <a:r>
                            <a:rPr lang="pt-BR" sz="1400" spc="-10" dirty="0">
                              <a:latin typeface="+mn-lt"/>
                              <a:cs typeface="Calibri"/>
                            </a:rPr>
                            <a:t> </a:t>
                          </a:r>
                          <a:r>
                            <a:rPr lang="pt-BR" sz="1400" spc="-20" dirty="0" err="1">
                              <a:latin typeface="+mn-lt"/>
                              <a:cs typeface="Calibri"/>
                            </a:rPr>
                            <a:t>Tanh</a:t>
                          </a:r>
                          <a:r>
                            <a:rPr lang="pt-BR" sz="1400" spc="-20" dirty="0">
                              <a:latin typeface="+mn-lt"/>
                              <a:cs typeface="Calibri"/>
                            </a:rPr>
                            <a:t>,</a:t>
                          </a:r>
                          <a:r>
                            <a:rPr lang="pt-BR" sz="1400" spc="-30" dirty="0">
                              <a:latin typeface="+mn-lt"/>
                              <a:cs typeface="Calibri"/>
                            </a:rPr>
                            <a:t> </a:t>
                          </a:r>
                          <a:r>
                            <a:rPr lang="pt-BR" sz="1400" dirty="0">
                              <a:latin typeface="+mn-lt"/>
                              <a:cs typeface="Calibri"/>
                            </a:rPr>
                            <a:t>Logística,</a:t>
                          </a:r>
                          <a:r>
                            <a:rPr lang="pt-BR" sz="1400" spc="-25" dirty="0">
                              <a:latin typeface="+mn-lt"/>
                              <a:cs typeface="Calibri"/>
                            </a:rPr>
                            <a:t> </a:t>
                          </a:r>
                          <a:r>
                            <a:rPr lang="pt-BR" sz="1400" spc="-10" dirty="0" err="1">
                              <a:latin typeface="+mn-lt"/>
                              <a:cs typeface="Calibri"/>
                            </a:rPr>
                            <a:t>Softmax</a:t>
                          </a:r>
                          <a:endParaRPr lang="pt-BR" sz="1400" dirty="0">
                            <a:latin typeface="+mn-lt"/>
                            <a:cs typeface="Calibri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0224" t="-72269" r="-100447" b="-2008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00224" t="-72269" r="-447" b="-20084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87756585"/>
                      </a:ext>
                    </a:extLst>
                  </a:tr>
                  <a:tr h="721805"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400" spc="-25" dirty="0">
                              <a:latin typeface="+mn-lt"/>
                              <a:cs typeface="Calibri"/>
                            </a:rPr>
                            <a:t>He</a:t>
                          </a:r>
                          <a:endParaRPr lang="pt-BR" sz="1400" dirty="0">
                            <a:latin typeface="+mn-lt"/>
                            <a:cs typeface="Calibri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400" dirty="0" err="1">
                              <a:latin typeface="+mn-lt"/>
                              <a:cs typeface="Calibri"/>
                            </a:rPr>
                            <a:t>ReLU</a:t>
                          </a:r>
                          <a:r>
                            <a:rPr lang="pt-BR" sz="1400" spc="-40" dirty="0">
                              <a:latin typeface="+mn-lt"/>
                              <a:cs typeface="Calibri"/>
                            </a:rPr>
                            <a:t> </a:t>
                          </a:r>
                          <a:r>
                            <a:rPr lang="pt-BR" sz="1400" dirty="0">
                              <a:latin typeface="+mn-lt"/>
                              <a:cs typeface="Calibri"/>
                            </a:rPr>
                            <a:t>e</a:t>
                          </a:r>
                          <a:r>
                            <a:rPr lang="pt-BR" sz="1400" spc="-20" dirty="0">
                              <a:latin typeface="+mn-lt"/>
                              <a:cs typeface="Calibri"/>
                            </a:rPr>
                            <a:t> </a:t>
                          </a:r>
                          <a:r>
                            <a:rPr lang="pt-BR" sz="1400" dirty="0">
                              <a:latin typeface="+mn-lt"/>
                              <a:cs typeface="Calibri"/>
                            </a:rPr>
                            <a:t>suas</a:t>
                          </a:r>
                          <a:r>
                            <a:rPr lang="pt-BR" sz="1400" spc="-15" dirty="0">
                              <a:latin typeface="+mn-lt"/>
                              <a:cs typeface="Calibri"/>
                            </a:rPr>
                            <a:t> </a:t>
                          </a:r>
                          <a:r>
                            <a:rPr lang="pt-BR" sz="1400" spc="-10" dirty="0">
                              <a:latin typeface="+mn-lt"/>
                              <a:cs typeface="Calibri"/>
                            </a:rPr>
                            <a:t>variantes</a:t>
                          </a:r>
                          <a:endParaRPr lang="pt-BR" sz="1400" dirty="0">
                            <a:latin typeface="+mn-lt"/>
                            <a:cs typeface="Calibri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0224" t="-173729" r="-100447" b="-1025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00224" t="-173729" r="-447" b="-10254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27558202"/>
                      </a:ext>
                    </a:extLst>
                  </a:tr>
                  <a:tr h="721805"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400" spc="-10" dirty="0" err="1">
                              <a:latin typeface="+mn-lt"/>
                              <a:cs typeface="Calibri"/>
                            </a:rPr>
                            <a:t>LeCun</a:t>
                          </a:r>
                          <a:endParaRPr lang="pt-BR" sz="1400" dirty="0">
                            <a:latin typeface="+mn-lt"/>
                            <a:cs typeface="Calibri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400" spc="-20" dirty="0">
                              <a:latin typeface="+mn-lt"/>
                              <a:cs typeface="Calibri"/>
                            </a:rPr>
                            <a:t>SELU</a:t>
                          </a:r>
                          <a:endParaRPr lang="pt-BR" sz="1400" dirty="0">
                            <a:latin typeface="+mn-lt"/>
                            <a:cs typeface="Calibri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0224" t="-271429" r="-100447" b="-16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00224" t="-271429" r="-447" b="-16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5756233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326263"/>
            <a:ext cx="8176259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Redes</a:t>
            </a:r>
            <a:r>
              <a:rPr spc="-55" dirty="0"/>
              <a:t> </a:t>
            </a:r>
            <a:r>
              <a:rPr dirty="0"/>
              <a:t>Neurais</a:t>
            </a:r>
            <a:r>
              <a:rPr spc="-50" dirty="0"/>
              <a:t> </a:t>
            </a:r>
            <a:r>
              <a:rPr dirty="0"/>
              <a:t>MLP</a:t>
            </a:r>
            <a:r>
              <a:rPr spc="-65" dirty="0"/>
              <a:t> </a:t>
            </a:r>
            <a:r>
              <a:rPr dirty="0"/>
              <a:t>com</a:t>
            </a:r>
            <a:r>
              <a:rPr spc="-35" dirty="0"/>
              <a:t> </a:t>
            </a:r>
            <a:r>
              <a:rPr spc="-10" dirty="0"/>
              <a:t>SciKit-Learn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8487" y="1295400"/>
            <a:ext cx="10995025" cy="4956810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241300" marR="786765" indent="-228600">
              <a:lnSpc>
                <a:spcPts val="2810"/>
              </a:lnSpc>
              <a:spcBef>
                <a:spcPts val="45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Como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vimos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anteriormente,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biblioteca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i="1" spc="-10" dirty="0">
                <a:latin typeface="Calibri"/>
                <a:cs typeface="Calibri"/>
              </a:rPr>
              <a:t>SciKit-</a:t>
            </a:r>
            <a:r>
              <a:rPr sz="2600" i="1" dirty="0">
                <a:latin typeface="Calibri"/>
                <a:cs typeface="Calibri"/>
              </a:rPr>
              <a:t>Learn</a:t>
            </a:r>
            <a:r>
              <a:rPr sz="2600" i="1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disponibiliza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algumas </a:t>
            </a:r>
            <a:r>
              <a:rPr sz="2600" dirty="0">
                <a:latin typeface="Calibri"/>
                <a:cs typeface="Calibri"/>
              </a:rPr>
              <a:t>classes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para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treinamento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redes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neurais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i="1" dirty="0">
                <a:latin typeface="Calibri"/>
                <a:cs typeface="Calibri"/>
              </a:rPr>
              <a:t>multi-layer</a:t>
            </a:r>
            <a:r>
              <a:rPr sz="2600" i="1" spc="-45" dirty="0">
                <a:latin typeface="Calibri"/>
                <a:cs typeface="Calibri"/>
              </a:rPr>
              <a:t> </a:t>
            </a:r>
            <a:r>
              <a:rPr sz="2600" i="1" spc="-10" dirty="0">
                <a:latin typeface="Calibri"/>
                <a:cs typeface="Calibri"/>
              </a:rPr>
              <a:t>perceptron</a:t>
            </a:r>
            <a:r>
              <a:rPr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41300" marR="1152525" indent="-228600">
              <a:lnSpc>
                <a:spcPts val="281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10" dirty="0">
                <a:latin typeface="Calibri"/>
                <a:cs typeface="Calibri"/>
              </a:rPr>
              <a:t>Entretanto,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suas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implementações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não</a:t>
            </a:r>
            <a:r>
              <a:rPr sz="2600" b="1" i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são</a:t>
            </a:r>
            <a:r>
              <a:rPr sz="26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flexíveis</a:t>
            </a:r>
            <a:r>
              <a:rPr sz="26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e</a:t>
            </a:r>
            <a:r>
              <a:rPr sz="26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não</a:t>
            </a:r>
            <a:r>
              <a:rPr sz="2600" b="1" i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se</a:t>
            </a:r>
            <a:r>
              <a:rPr sz="26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destinam</a:t>
            </a:r>
            <a:r>
              <a:rPr sz="26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spc="-50" dirty="0">
                <a:solidFill>
                  <a:srgbClr val="00AF50"/>
                </a:solidFill>
                <a:latin typeface="Calibri"/>
                <a:cs typeface="Calibri"/>
              </a:rPr>
              <a:t>a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aplicações</a:t>
            </a:r>
            <a:r>
              <a:rPr sz="2600" b="1" i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6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larga</a:t>
            </a:r>
            <a:r>
              <a:rPr sz="2600" b="1" i="1" spc="-2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spc="-10" dirty="0">
                <a:solidFill>
                  <a:srgbClr val="00AF50"/>
                </a:solidFill>
                <a:latin typeface="Calibri"/>
                <a:cs typeface="Calibri"/>
              </a:rPr>
              <a:t>escala</a:t>
            </a:r>
            <a:r>
              <a:rPr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25"/>
              </a:spcBef>
              <a:buFont typeface="Wingdings"/>
              <a:buChar char=""/>
              <a:tabLst>
                <a:tab pos="699135" algn="l"/>
              </a:tabLst>
            </a:pPr>
            <a:r>
              <a:rPr sz="2200" dirty="0">
                <a:latin typeface="Calibri"/>
                <a:cs typeface="Calibri"/>
              </a:rPr>
              <a:t>A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biblioteca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i="1" spc="-20" dirty="0">
                <a:latin typeface="Calibri"/>
                <a:cs typeface="Calibri"/>
              </a:rPr>
              <a:t>SciKit-</a:t>
            </a:r>
            <a:r>
              <a:rPr sz="2200" i="1" dirty="0">
                <a:latin typeface="Calibri"/>
                <a:cs typeface="Calibri"/>
              </a:rPr>
              <a:t>Learn</a:t>
            </a:r>
            <a:r>
              <a:rPr sz="2200" i="1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não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oferece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suporte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GPUs.</a:t>
            </a:r>
            <a:endParaRPr sz="2200" dirty="0">
              <a:latin typeface="Calibri"/>
              <a:cs typeface="Calibri"/>
            </a:endParaRPr>
          </a:p>
          <a:p>
            <a:pPr marL="241300" marR="307975" indent="-228600">
              <a:lnSpc>
                <a:spcPts val="281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Para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implementações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modelos</a:t>
            </a:r>
            <a:r>
              <a:rPr sz="2600" b="1" i="1" spc="-5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</a:t>
            </a:r>
            <a:r>
              <a:rPr sz="2600" b="1" i="1" spc="-6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aprendizado</a:t>
            </a:r>
            <a:r>
              <a:rPr sz="2600" b="1" i="1" spc="-8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profundo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escaláveis,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muito </a:t>
            </a:r>
            <a:r>
              <a:rPr sz="2600" dirty="0">
                <a:latin typeface="Calibri"/>
                <a:cs typeface="Calibri"/>
              </a:rPr>
              <a:t>mais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rápidos,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flexíveis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baseados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em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GPU,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devemos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utilizar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bibliotecas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como:</a:t>
            </a:r>
            <a:endParaRPr sz="26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25"/>
              </a:spcBef>
              <a:buFont typeface="Wingdings"/>
              <a:buChar char=""/>
              <a:tabLst>
                <a:tab pos="699135" algn="l"/>
              </a:tabLst>
            </a:pPr>
            <a:r>
              <a:rPr sz="2200" b="1" i="1" spc="-25" dirty="0">
                <a:latin typeface="Calibri"/>
                <a:cs typeface="Calibri"/>
              </a:rPr>
              <a:t>Tensorflow</a:t>
            </a:r>
            <a:r>
              <a:rPr sz="2200" spc="-25" dirty="0">
                <a:latin typeface="Calibri"/>
                <a:cs typeface="Calibri"/>
              </a:rPr>
              <a:t>: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criada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pela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equipe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Google</a:t>
            </a:r>
            <a:r>
              <a:rPr sz="2200" i="1" spc="-55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Brain</a:t>
            </a:r>
            <a:r>
              <a:rPr sz="2200" i="1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do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i="1" spc="-10" dirty="0">
                <a:latin typeface="Calibri"/>
                <a:cs typeface="Calibri"/>
              </a:rPr>
              <a:t>Google</a:t>
            </a:r>
            <a:r>
              <a:rPr sz="2200" spc="-10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29"/>
              </a:spcBef>
              <a:buFont typeface="Wingdings"/>
              <a:buChar char=""/>
              <a:tabLst>
                <a:tab pos="699135" algn="l"/>
              </a:tabLst>
            </a:pPr>
            <a:r>
              <a:rPr sz="2200" b="1" i="1" spc="-20" dirty="0">
                <a:latin typeface="Calibri"/>
                <a:cs typeface="Calibri"/>
              </a:rPr>
              <a:t>PyTorch</a:t>
            </a:r>
            <a:r>
              <a:rPr sz="2200" spc="-20" dirty="0">
                <a:latin typeface="Calibri"/>
                <a:cs typeface="Calibri"/>
              </a:rPr>
              <a:t>: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criada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pela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Meta</a:t>
            </a:r>
            <a:r>
              <a:rPr sz="2200" i="1" spc="-70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AI</a:t>
            </a:r>
            <a:r>
              <a:rPr sz="2200" i="1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(antigo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i="1" spc="-10" dirty="0">
                <a:latin typeface="Calibri"/>
                <a:cs typeface="Calibri"/>
              </a:rPr>
              <a:t>Facebook</a:t>
            </a:r>
            <a:r>
              <a:rPr sz="2200" spc="-10" dirty="0">
                <a:latin typeface="Calibri"/>
                <a:cs typeface="Calibri"/>
              </a:rPr>
              <a:t>).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40"/>
              </a:spcBef>
              <a:buFont typeface="Wingdings"/>
              <a:buChar char=""/>
              <a:tabLst>
                <a:tab pos="699135" algn="l"/>
              </a:tabLst>
            </a:pPr>
            <a:r>
              <a:rPr sz="2200" b="1" i="1" dirty="0">
                <a:latin typeface="Calibri"/>
                <a:cs typeface="Calibri"/>
              </a:rPr>
              <a:t>MXNet</a:t>
            </a:r>
            <a:r>
              <a:rPr sz="2200" dirty="0">
                <a:latin typeface="Calibri"/>
                <a:cs typeface="Calibri"/>
              </a:rPr>
              <a:t>: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criada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pela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i="1" spc="-10" dirty="0">
                <a:latin typeface="Calibri"/>
                <a:cs typeface="Calibri"/>
              </a:rPr>
              <a:t>Apache</a:t>
            </a:r>
            <a:r>
              <a:rPr sz="2200" spc="-10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ts val="2510"/>
              </a:lnSpc>
              <a:spcBef>
                <a:spcPts val="240"/>
              </a:spcBef>
              <a:buFont typeface="Wingdings"/>
              <a:buChar char=""/>
              <a:tabLst>
                <a:tab pos="699135" algn="l"/>
              </a:tabLst>
            </a:pPr>
            <a:r>
              <a:rPr sz="2200" b="1" i="1" dirty="0">
                <a:latin typeface="Calibri"/>
                <a:cs typeface="Calibri"/>
              </a:rPr>
              <a:t>Theano</a:t>
            </a:r>
            <a:r>
              <a:rPr sz="2200" dirty="0">
                <a:latin typeface="Calibri"/>
                <a:cs typeface="Calibri"/>
              </a:rPr>
              <a:t>: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criada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pela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Universidade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Montreal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(primeira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versão)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mantida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posteriormente</a:t>
            </a:r>
            <a:endParaRPr sz="2200" dirty="0">
              <a:latin typeface="Calibri"/>
              <a:cs typeface="Calibri"/>
            </a:endParaRPr>
          </a:p>
          <a:p>
            <a:pPr marL="698500">
              <a:lnSpc>
                <a:spcPts val="2510"/>
              </a:lnSpc>
            </a:pPr>
            <a:r>
              <a:rPr sz="2200" dirty="0">
                <a:latin typeface="Calibri"/>
                <a:cs typeface="Calibri"/>
              </a:rPr>
              <a:t>pela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equipe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desenvolvedores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do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pacote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PyMC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sob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nome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Aesara.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29"/>
              </a:spcBef>
              <a:buFont typeface="Wingdings"/>
              <a:buChar char=""/>
              <a:tabLst>
                <a:tab pos="699135" algn="l"/>
              </a:tabLst>
            </a:pPr>
            <a:r>
              <a:rPr sz="2200" dirty="0">
                <a:latin typeface="Calibri"/>
                <a:cs typeface="Calibri"/>
              </a:rPr>
              <a:t>Entre</a:t>
            </a:r>
            <a:r>
              <a:rPr sz="2200" spc="1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outras:</a:t>
            </a:r>
            <a:r>
              <a:rPr sz="2200" spc="145" dirty="0">
                <a:latin typeface="Calibri"/>
                <a:cs typeface="Calibri"/>
              </a:rPr>
              <a:t> </a:t>
            </a:r>
            <a:r>
              <a:rPr sz="2200" u="sng" spc="-2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https://scikit-learn.org/stable/related_projects.html#related-</a:t>
            </a:r>
            <a:r>
              <a:rPr sz="22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projects</a:t>
            </a:r>
            <a:endParaRPr sz="2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23121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Classificação</a:t>
            </a:r>
            <a:r>
              <a:rPr spc="-65" dirty="0"/>
              <a:t> </a:t>
            </a:r>
            <a:r>
              <a:rPr dirty="0"/>
              <a:t>com</a:t>
            </a:r>
            <a:r>
              <a:rPr spc="-60" dirty="0"/>
              <a:t> </a:t>
            </a:r>
            <a:r>
              <a:rPr spc="-10" dirty="0"/>
              <a:t>MLPClassifier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22975" y="1793493"/>
            <a:ext cx="5498465" cy="836294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2700" marR="5080">
              <a:lnSpc>
                <a:spcPts val="3030"/>
              </a:lnSpc>
              <a:spcBef>
                <a:spcPts val="470"/>
              </a:spcBef>
            </a:pPr>
            <a:r>
              <a:rPr sz="2800" spc="-10" dirty="0">
                <a:latin typeface="Calibri"/>
                <a:cs typeface="Calibri"/>
              </a:rPr>
              <a:t>Classificação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dígitos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escritos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à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mão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rede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MLP.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39073" y="6515201"/>
            <a:ext cx="358711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Exemplo</a:t>
            </a:r>
            <a:r>
              <a:rPr sz="14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:</a:t>
            </a:r>
            <a:r>
              <a:rPr sz="1400" u="sng" spc="-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1400" b="1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classificação_com_MLPClassifier.ipynb</a:t>
            </a:r>
            <a:endParaRPr sz="1400" dirty="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0183" y="1690116"/>
            <a:ext cx="4762500" cy="47640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57942" y="2959322"/>
            <a:ext cx="3281743" cy="3257962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Regressão</a:t>
            </a:r>
            <a:r>
              <a:rPr spc="-125" dirty="0"/>
              <a:t> </a:t>
            </a:r>
            <a:r>
              <a:rPr dirty="0"/>
              <a:t>com</a:t>
            </a:r>
            <a:r>
              <a:rPr spc="-114" dirty="0"/>
              <a:t> </a:t>
            </a:r>
            <a:r>
              <a:rPr spc="-10" dirty="0"/>
              <a:t>MLPRegressor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39608" y="6556349"/>
            <a:ext cx="444944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Exemplo:</a:t>
            </a:r>
            <a:r>
              <a:rPr sz="1200" u="sng" spc="-3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12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aproximando_função_descontínua_com_MLPRegressor.ipynb</a:t>
            </a:r>
            <a:endParaRPr sz="12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4075" y="1743917"/>
            <a:ext cx="5039993" cy="366942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022975" y="1793493"/>
            <a:ext cx="5495925" cy="836294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2700" marR="5080">
              <a:lnSpc>
                <a:spcPts val="3030"/>
              </a:lnSpc>
              <a:spcBef>
                <a:spcPts val="470"/>
              </a:spcBef>
            </a:pPr>
            <a:r>
              <a:rPr sz="2800" spc="-10" dirty="0">
                <a:latin typeface="Calibri"/>
                <a:cs typeface="Calibri"/>
              </a:rPr>
              <a:t>Aproximação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função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com </a:t>
            </a:r>
            <a:r>
              <a:rPr sz="2800" spc="-10" dirty="0">
                <a:latin typeface="Calibri"/>
                <a:cs typeface="Calibri"/>
              </a:rPr>
              <a:t>descontinuidades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rede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MLP.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39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Avisos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07159"/>
            <a:ext cx="9729470" cy="530273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Vocês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já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podem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resolver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exercícios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  <a:hlinkClick r:id="rId2"/>
              </a:rPr>
              <a:t>lista</a:t>
            </a:r>
            <a:r>
              <a:rPr sz="2800" spc="-55" dirty="0">
                <a:latin typeface="Calibri"/>
                <a:cs typeface="Calibri"/>
                <a:hlinkClick r:id="rId2"/>
              </a:rPr>
              <a:t> </a:t>
            </a:r>
            <a:r>
              <a:rPr sz="2800" spc="-20" dirty="0">
                <a:latin typeface="Calibri"/>
                <a:cs typeface="Calibri"/>
                <a:hlinkClick r:id="rId2"/>
              </a:rPr>
              <a:t>#12</a:t>
            </a:r>
            <a:r>
              <a:rPr sz="2800" spc="-2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03267" y="2616530"/>
            <a:ext cx="3402965" cy="1031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spc="-10" dirty="0"/>
              <a:t>Obrigado!</a:t>
            </a:r>
            <a:endParaRPr sz="660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2440" y="480059"/>
            <a:ext cx="3403091" cy="218998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93335" y="480059"/>
            <a:ext cx="3730752" cy="261366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6700" y="3360420"/>
            <a:ext cx="3814572" cy="214884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357115" y="3593591"/>
            <a:ext cx="2049780" cy="274929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681216" y="3724655"/>
            <a:ext cx="2476500" cy="248564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944356" y="480059"/>
            <a:ext cx="2854452" cy="286207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433559" y="4370832"/>
            <a:ext cx="2596896" cy="1405128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39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Avisos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07159"/>
            <a:ext cx="9729470" cy="156083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Vocês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já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podem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resolver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exercícios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lista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#12.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Apresentação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trabalhos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finais: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29/06/2023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partir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08:00.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Horários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apresentações:</a:t>
            </a:r>
            <a:endParaRPr sz="2800" dirty="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073082" y="3600513"/>
          <a:ext cx="6424929" cy="21463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99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17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14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221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674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130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Dia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4351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3400" marR="276860" indent="-25019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Horário</a:t>
                      </a:r>
                      <a:r>
                        <a:rPr sz="1800" b="1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5" dirty="0">
                          <a:latin typeface="Calibri"/>
                          <a:cs typeface="Calibri"/>
                        </a:rPr>
                        <a:t>do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Início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315" marR="117475" indent="-23812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Número</a:t>
                      </a:r>
                      <a:r>
                        <a:rPr sz="1800" b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5" dirty="0">
                          <a:latin typeface="Calibri"/>
                          <a:cs typeface="Calibri"/>
                        </a:rPr>
                        <a:t>do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Grupo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30"/>
                        </a:spcBef>
                      </a:pPr>
                      <a:r>
                        <a:rPr sz="1800" b="1" spc="-20" dirty="0">
                          <a:latin typeface="Calibri"/>
                          <a:cs typeface="Calibri"/>
                        </a:rPr>
                        <a:t>Nome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4351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785">
                <a:tc row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  <a:p>
                      <a:pPr marL="424180">
                        <a:lnSpc>
                          <a:spcPct val="100000"/>
                        </a:lnSpc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29/06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215" algn="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8:00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Jéssica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44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78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0" algn="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8:20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Gabriel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Damasceno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44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178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215" algn="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8:40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Gabriel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Pivoto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42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215" algn="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9:00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Isabela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178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215" algn="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9:20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Daniel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652793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76784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Aproximação</a:t>
            </a:r>
            <a:r>
              <a:rPr spc="-135" dirty="0"/>
              <a:t> </a:t>
            </a:r>
            <a:r>
              <a:rPr dirty="0"/>
              <a:t>universal</a:t>
            </a:r>
            <a:r>
              <a:rPr spc="-105" dirty="0"/>
              <a:t> </a:t>
            </a:r>
            <a:r>
              <a:rPr dirty="0"/>
              <a:t>de</a:t>
            </a:r>
            <a:r>
              <a:rPr spc="-110" dirty="0"/>
              <a:t> </a:t>
            </a:r>
            <a:r>
              <a:rPr spc="-10" dirty="0"/>
              <a:t>funções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553928"/>
            <a:ext cx="4620895" cy="1136015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241300" marR="5080" indent="-228600" algn="just">
              <a:lnSpc>
                <a:spcPct val="90000"/>
              </a:lnSpc>
              <a:spcBef>
                <a:spcPts val="41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Redes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neurais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podem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ser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usadas </a:t>
            </a:r>
            <a:r>
              <a:rPr sz="2600" dirty="0">
                <a:latin typeface="Calibri"/>
                <a:cs typeface="Calibri"/>
              </a:rPr>
              <a:t>para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aproximar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funções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como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as </a:t>
            </a:r>
            <a:r>
              <a:rPr sz="2600" dirty="0">
                <a:latin typeface="Calibri"/>
                <a:cs typeface="Calibri"/>
              </a:rPr>
              <a:t>mostradas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abaixo:</a:t>
            </a:r>
            <a:endParaRPr sz="2600" dirty="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16939" y="4217289"/>
            <a:ext cx="4414520" cy="2562860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241300" marR="5080" indent="-228600">
              <a:lnSpc>
                <a:spcPct val="90000"/>
              </a:lnSpc>
              <a:spcBef>
                <a:spcPts val="415"/>
              </a:spcBef>
              <a:buFont typeface="Arial"/>
              <a:buChar char="•"/>
              <a:tabLst>
                <a:tab pos="241300" algn="l"/>
              </a:tabLst>
            </a:pPr>
            <a:r>
              <a:rPr sz="2600" b="1" dirty="0">
                <a:solidFill>
                  <a:srgbClr val="FF0000"/>
                </a:solidFill>
                <a:latin typeface="Calibri"/>
                <a:cs typeface="Calibri"/>
              </a:rPr>
              <a:t>Exercício</a:t>
            </a:r>
            <a:r>
              <a:rPr sz="2600" dirty="0">
                <a:latin typeface="Calibri"/>
                <a:cs typeface="Calibri"/>
              </a:rPr>
              <a:t>: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usar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classes </a:t>
            </a:r>
            <a:r>
              <a:rPr sz="26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MLPRegressor</a:t>
            </a:r>
            <a:r>
              <a:rPr sz="2600" spc="-55" dirty="0">
                <a:solidFill>
                  <a:srgbClr val="0462C1"/>
                </a:solidFill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 </a:t>
            </a:r>
            <a:r>
              <a:rPr sz="26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GridSearchCV</a:t>
            </a:r>
            <a:r>
              <a:rPr sz="2600" spc="-10" dirty="0">
                <a:solidFill>
                  <a:srgbClr val="0462C1"/>
                </a:solidFill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biblioteca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SciKit-Learn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para </a:t>
            </a:r>
            <a:r>
              <a:rPr sz="2600" dirty="0">
                <a:latin typeface="Calibri"/>
                <a:cs typeface="Calibri"/>
              </a:rPr>
              <a:t>encontrar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número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nós </a:t>
            </a:r>
            <a:r>
              <a:rPr sz="2600" dirty="0">
                <a:latin typeface="Calibri"/>
                <a:cs typeface="Calibri"/>
              </a:rPr>
              <a:t>necessários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na </a:t>
            </a:r>
            <a:r>
              <a:rPr sz="2600" spc="-10" dirty="0">
                <a:latin typeface="Calibri"/>
                <a:cs typeface="Calibri"/>
              </a:rPr>
              <a:t>camada </a:t>
            </a:r>
            <a:r>
              <a:rPr sz="2600" dirty="0">
                <a:latin typeface="Calibri"/>
                <a:cs typeface="Calibri"/>
              </a:rPr>
              <a:t>escondida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para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rede </a:t>
            </a:r>
            <a:r>
              <a:rPr sz="2600" dirty="0">
                <a:latin typeface="Calibri"/>
                <a:cs typeface="Calibri"/>
              </a:rPr>
              <a:t>neural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aproxime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estas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funções.</a:t>
            </a:r>
            <a:endParaRPr sz="2600" dirty="0">
              <a:latin typeface="Calibri"/>
              <a:cs typeface="Calibri"/>
            </a:endParaRPr>
          </a:p>
        </p:txBody>
      </p:sp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346191" y="2046732"/>
            <a:ext cx="3209543" cy="219760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15"/>
              <p:cNvSpPr txBox="1"/>
              <p:nvPr/>
            </p:nvSpPr>
            <p:spPr>
              <a:xfrm>
                <a:off x="6478820" y="1690389"/>
                <a:ext cx="1374287" cy="283476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100"/>
                  </a:spcBef>
                  <a:tabLst>
                    <a:tab pos="551815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800" i="1" dirty="0" smtClean="0">
                          <a:latin typeface="Cambria Math" panose="02040503050406030204" pitchFamily="18" charset="0"/>
                          <a:cs typeface="Cambria Math"/>
                        </a:rPr>
                        <m:t>𝑓</m:t>
                      </m:r>
                      <m:r>
                        <a:rPr lang="pt-BR" sz="1800" b="0" i="1" dirty="0" smtClean="0">
                          <a:latin typeface="Cambria Math" panose="02040503050406030204" pitchFamily="18" charset="0"/>
                          <a:cs typeface="Cambria Math"/>
                        </a:rPr>
                        <m:t>(</m:t>
                      </m:r>
                      <m:r>
                        <a:rPr lang="pt-BR" sz="1800" i="1" spc="-50" dirty="0" smtClean="0">
                          <a:latin typeface="Cambria Math" panose="02040503050406030204" pitchFamily="18" charset="0"/>
                          <a:cs typeface="Cambria Math"/>
                        </a:rPr>
                        <m:t>𝑥</m:t>
                      </m:r>
                      <m:r>
                        <a:rPr lang="pt-BR" sz="1800" i="1" spc="-50" dirty="0" smtClean="0">
                          <a:latin typeface="Cambria Math" panose="02040503050406030204" pitchFamily="18" charset="0"/>
                          <a:cs typeface="Cambria Math"/>
                        </a:rPr>
                        <m:t>)</m:t>
                      </m:r>
                      <m:r>
                        <a:rPr lang="pt-BR" sz="1800" i="1" dirty="0">
                          <a:latin typeface="Cambria Math" panose="02040503050406030204" pitchFamily="18" charset="0"/>
                          <a:cs typeface="Cambria Math"/>
                        </a:rPr>
                        <m:t>	</m:t>
                      </m:r>
                      <m:r>
                        <a:rPr lang="pt-BR" sz="1800" i="1" dirty="0">
                          <a:latin typeface="Cambria Math" panose="02040503050406030204" pitchFamily="18" charset="0"/>
                          <a:cs typeface="Cambria Math"/>
                        </a:rPr>
                        <m:t>= </m:t>
                      </m:r>
                      <m:r>
                        <a:rPr lang="pt-BR" sz="1800" i="1" spc="50" dirty="0">
                          <a:latin typeface="Cambria Math" panose="02040503050406030204" pitchFamily="18" charset="0"/>
                          <a:cs typeface="Cambria Math"/>
                        </a:rPr>
                        <m:t>𝑥</m:t>
                      </m:r>
                      <m:r>
                        <a:rPr lang="pt-BR" sz="1950" i="1" spc="75" baseline="27777" dirty="0">
                          <a:latin typeface="Cambria Math" panose="02040503050406030204" pitchFamily="18" charset="0"/>
                          <a:cs typeface="Cambria Math"/>
                        </a:rPr>
                        <m:t>2</m:t>
                      </m:r>
                    </m:oMath>
                  </m:oMathPara>
                </a14:m>
                <a:endParaRPr sz="1950" baseline="27777" dirty="0">
                  <a:latin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15" name="object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8820" y="1690389"/>
                <a:ext cx="1374287" cy="283476"/>
              </a:xfrm>
              <a:prstGeom prst="rect">
                <a:avLst/>
              </a:prstGeom>
              <a:blipFill>
                <a:blip r:embed="rId5"/>
                <a:stretch>
                  <a:fillRect b="-3617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827152" y="2067542"/>
            <a:ext cx="3192770" cy="2135175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010253" y="4647884"/>
            <a:ext cx="3331757" cy="213811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4A42CD89-7E13-336D-F77D-2C5837784B61}"/>
                  </a:ext>
                </a:extLst>
              </p:cNvPr>
              <p:cNvSpPr txBox="1"/>
              <p:nvPr/>
            </p:nvSpPr>
            <p:spPr>
              <a:xfrm>
                <a:off x="1360509" y="2771001"/>
                <a:ext cx="266303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pt-BR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t-BR" b="0" i="1" smtClean="0">
                        <a:latin typeface="Cambria Math" panose="02040503050406030204" pitchFamily="18" charset="0"/>
                      </a:rPr>
                      <m:t>,  −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endParaRPr lang="pt-BR" dirty="0"/>
              </a:p>
            </p:txBody>
          </p:sp>
        </mc:Choice>
        <mc:Fallback xmlns=""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4A42CD89-7E13-336D-F77D-2C5837784B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0509" y="2771001"/>
                <a:ext cx="2663037" cy="276999"/>
              </a:xfrm>
              <a:prstGeom prst="rect">
                <a:avLst/>
              </a:prstGeom>
              <a:blipFill>
                <a:blip r:embed="rId8"/>
                <a:stretch>
                  <a:fillRect l="-4805" t="-20000" r="-458" b="-4444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339C5367-44AD-D2F9-02C8-9D887219EFC1}"/>
                  </a:ext>
                </a:extLst>
              </p:cNvPr>
              <p:cNvSpPr txBox="1"/>
              <p:nvPr/>
            </p:nvSpPr>
            <p:spPr>
              <a:xfrm>
                <a:off x="1360509" y="3294384"/>
                <a:ext cx="2645340" cy="3926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pt-B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pt-BR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100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endParaRPr lang="pt-BR" dirty="0"/>
              </a:p>
            </p:txBody>
          </p:sp>
        </mc:Choice>
        <mc:Fallback xmlns=""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339C5367-44AD-D2F9-02C8-9D887219EF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0509" y="3294384"/>
                <a:ext cx="2645340" cy="392608"/>
              </a:xfrm>
              <a:prstGeom prst="rect">
                <a:avLst/>
              </a:prstGeom>
              <a:blipFill>
                <a:blip r:embed="rId9"/>
                <a:stretch>
                  <a:fillRect l="-4839" r="-461" b="-1538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aixaDeTexto 25">
                <a:extLst>
                  <a:ext uri="{FF2B5EF4-FFF2-40B4-BE49-F238E27FC236}">
                    <a16:creationId xmlns:a16="http://schemas.microsoft.com/office/drawing/2014/main" id="{B4CFE5C6-D67C-AD48-F3C5-05A06C51DB6C}"/>
                  </a:ext>
                </a:extLst>
              </p:cNvPr>
              <p:cNvSpPr txBox="1"/>
              <p:nvPr/>
            </p:nvSpPr>
            <p:spPr>
              <a:xfrm>
                <a:off x="1360509" y="3834678"/>
                <a:ext cx="308802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pt-BR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t-BR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,</m:t>
                        </m:r>
                      </m:e>
                    </m:func>
                    <m:r>
                      <a:rPr lang="pt-BR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endParaRPr lang="pt-BR" dirty="0"/>
              </a:p>
            </p:txBody>
          </p:sp>
        </mc:Choice>
        <mc:Fallback xmlns="">
          <p:sp>
            <p:nvSpPr>
              <p:cNvPr id="26" name="CaixaDeTexto 25">
                <a:extLst>
                  <a:ext uri="{FF2B5EF4-FFF2-40B4-BE49-F238E27FC236}">
                    <a16:creationId xmlns:a16="http://schemas.microsoft.com/office/drawing/2014/main" id="{B4CFE5C6-D67C-AD48-F3C5-05A06C51DB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0509" y="3834678"/>
                <a:ext cx="3088025" cy="276999"/>
              </a:xfrm>
              <a:prstGeom prst="rect">
                <a:avLst/>
              </a:prstGeom>
              <a:blipFill>
                <a:blip r:embed="rId10"/>
                <a:stretch>
                  <a:fillRect l="-4142" t="-20000" b="-4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bject 15">
                <a:extLst>
                  <a:ext uri="{FF2B5EF4-FFF2-40B4-BE49-F238E27FC236}">
                    <a16:creationId xmlns:a16="http://schemas.microsoft.com/office/drawing/2014/main" id="{FA3E17C9-56D6-538F-62AE-3F3775E4BBAF}"/>
                  </a:ext>
                </a:extLst>
              </p:cNvPr>
              <p:cNvSpPr txBox="1"/>
              <p:nvPr/>
            </p:nvSpPr>
            <p:spPr>
              <a:xfrm>
                <a:off x="9900774" y="1410710"/>
                <a:ext cx="1374287" cy="531428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100"/>
                  </a:spcBef>
                  <a:tabLst>
                    <a:tab pos="551815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800" i="1" dirty="0" smtClean="0">
                          <a:latin typeface="Cambria Math" panose="02040503050406030204" pitchFamily="18" charset="0"/>
                          <a:cs typeface="Cambria Math"/>
                        </a:rPr>
                        <m:t>𝑓</m:t>
                      </m:r>
                      <m:r>
                        <a:rPr lang="pt-BR" sz="1800" b="0" i="1" dirty="0" smtClean="0">
                          <a:latin typeface="Cambria Math" panose="02040503050406030204" pitchFamily="18" charset="0"/>
                          <a:cs typeface="Cambria Math"/>
                        </a:rPr>
                        <m:t>(</m:t>
                      </m:r>
                      <m:r>
                        <a:rPr lang="pt-BR" sz="1800" i="1" spc="-50" dirty="0" smtClean="0">
                          <a:latin typeface="Cambria Math" panose="02040503050406030204" pitchFamily="18" charset="0"/>
                          <a:cs typeface="Cambria Math"/>
                        </a:rPr>
                        <m:t>𝑥</m:t>
                      </m:r>
                      <m:r>
                        <a:rPr lang="pt-BR" sz="1800" i="1" spc="-50" dirty="0" smtClean="0">
                          <a:latin typeface="Cambria Math" panose="02040503050406030204" pitchFamily="18" charset="0"/>
                          <a:cs typeface="Cambria Math"/>
                        </a:rPr>
                        <m:t>)</m:t>
                      </m:r>
                      <m:r>
                        <a:rPr lang="pt-BR" sz="1800" i="1" dirty="0">
                          <a:latin typeface="Cambria Math" panose="02040503050406030204" pitchFamily="18" charset="0"/>
                          <a:cs typeface="Cambria Math"/>
                        </a:rPr>
                        <m:t>	</m:t>
                      </m:r>
                      <m:r>
                        <a:rPr lang="pt-BR" sz="1800" i="1" dirty="0">
                          <a:latin typeface="Cambria Math" panose="02040503050406030204" pitchFamily="18" charset="0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pt-BR" sz="1800" b="0" i="1" spc="105" dirty="0" smtClean="0"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fPr>
                        <m:num>
                          <m:r>
                            <a:rPr lang="pt-BR" sz="1800" b="0" i="1" spc="105" dirty="0" smtClean="0">
                              <a:latin typeface="Cambria Math" panose="02040503050406030204" pitchFamily="18" charset="0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pt-BR" sz="1800" b="0" i="1" spc="105" dirty="0" smtClean="0">
                              <a:latin typeface="Cambria Math" panose="02040503050406030204" pitchFamily="18" charset="0"/>
                              <a:cs typeface="Cambria Math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sz="1950" baseline="27777" dirty="0">
                  <a:latin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27" name="object 15">
                <a:extLst>
                  <a:ext uri="{FF2B5EF4-FFF2-40B4-BE49-F238E27FC236}">
                    <a16:creationId xmlns:a16="http://schemas.microsoft.com/office/drawing/2014/main" id="{FA3E17C9-56D6-538F-62AE-3F3775E4BB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0774" y="1410710"/>
                <a:ext cx="1374287" cy="53142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bject 15">
                <a:extLst>
                  <a:ext uri="{FF2B5EF4-FFF2-40B4-BE49-F238E27FC236}">
                    <a16:creationId xmlns:a16="http://schemas.microsoft.com/office/drawing/2014/main" id="{34A4A035-0EC7-7DFC-7A1A-A11579EE2F2E}"/>
                  </a:ext>
                </a:extLst>
              </p:cNvPr>
              <p:cNvSpPr txBox="1"/>
              <p:nvPr/>
            </p:nvSpPr>
            <p:spPr>
              <a:xfrm>
                <a:off x="8154682" y="4271822"/>
                <a:ext cx="1606029" cy="283476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100"/>
                  </a:spcBef>
                  <a:tabLst>
                    <a:tab pos="551815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800" i="1" dirty="0" smtClean="0">
                          <a:latin typeface="Cambria Math" panose="02040503050406030204" pitchFamily="18" charset="0"/>
                          <a:cs typeface="Cambria Math"/>
                        </a:rPr>
                        <m:t>𝑓</m:t>
                      </m:r>
                      <m:r>
                        <a:rPr lang="pt-BR" sz="1800" b="0" i="1" dirty="0" smtClean="0">
                          <a:latin typeface="Cambria Math" panose="02040503050406030204" pitchFamily="18" charset="0"/>
                          <a:cs typeface="Cambria Math"/>
                        </a:rPr>
                        <m:t>(</m:t>
                      </m:r>
                      <m:r>
                        <a:rPr lang="pt-BR" sz="1800" i="1" spc="-50" dirty="0" smtClean="0">
                          <a:latin typeface="Cambria Math" panose="02040503050406030204" pitchFamily="18" charset="0"/>
                          <a:cs typeface="Cambria Math"/>
                        </a:rPr>
                        <m:t>𝑥</m:t>
                      </m:r>
                      <m:r>
                        <a:rPr lang="pt-BR" sz="1800" i="1" spc="-50" dirty="0" smtClean="0">
                          <a:latin typeface="Cambria Math" panose="02040503050406030204" pitchFamily="18" charset="0"/>
                          <a:cs typeface="Cambria Math"/>
                        </a:rPr>
                        <m:t>)</m:t>
                      </m:r>
                      <m:r>
                        <a:rPr lang="pt-BR" sz="1800" i="1" dirty="0">
                          <a:latin typeface="Cambria Math" panose="02040503050406030204" pitchFamily="18" charset="0"/>
                          <a:cs typeface="Cambria Math"/>
                        </a:rPr>
                        <m:t>	</m:t>
                      </m:r>
                      <m:r>
                        <a:rPr lang="pt-BR" sz="1800" i="1" dirty="0">
                          <a:latin typeface="Cambria Math" panose="02040503050406030204" pitchFamily="18" charset="0"/>
                          <a:cs typeface="Cambria Math"/>
                        </a:rPr>
                        <m:t>=</m:t>
                      </m:r>
                      <m:func>
                        <m:funcPr>
                          <m:ctrlPr>
                            <a:rPr lang="pt-BR" sz="1800" b="0" i="1" spc="105" dirty="0" smtClean="0"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 sz="1800" b="0" i="0" spc="105" dirty="0" smtClean="0">
                              <a:latin typeface="Cambria Math" panose="02040503050406030204" pitchFamily="18" charset="0"/>
                              <a:cs typeface="Cambria Math"/>
                            </a:rPr>
                            <m:t>sin</m:t>
                          </m:r>
                        </m:fName>
                        <m:e>
                          <m:r>
                            <a:rPr lang="pt-BR" sz="1800" b="0" i="1" spc="105" dirty="0" smtClean="0">
                              <a:latin typeface="Cambria Math" panose="02040503050406030204" pitchFamily="18" charset="0"/>
                              <a:cs typeface="Cambria Math"/>
                            </a:rPr>
                            <m:t>(</m:t>
                          </m:r>
                          <m:r>
                            <a:rPr lang="pt-BR" sz="1800" b="0" i="1" spc="105" dirty="0" smtClean="0">
                              <a:latin typeface="Cambria Math" panose="02040503050406030204" pitchFamily="18" charset="0"/>
                              <a:cs typeface="Cambria Math"/>
                            </a:rPr>
                            <m:t>𝑥</m:t>
                          </m:r>
                          <m:r>
                            <a:rPr lang="pt-BR" sz="1800" b="0" i="1" spc="105" dirty="0" smtClean="0">
                              <a:latin typeface="Cambria Math" panose="02040503050406030204" pitchFamily="18" charset="0"/>
                              <a:cs typeface="Cambria Math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sz="1950" baseline="27777" dirty="0">
                  <a:latin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28" name="object 15">
                <a:extLst>
                  <a:ext uri="{FF2B5EF4-FFF2-40B4-BE49-F238E27FC236}">
                    <a16:creationId xmlns:a16="http://schemas.microsoft.com/office/drawing/2014/main" id="{34A4A035-0EC7-7DFC-7A1A-A11579EE2F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4682" y="4271822"/>
                <a:ext cx="1606029" cy="283476"/>
              </a:xfrm>
              <a:prstGeom prst="rect">
                <a:avLst/>
              </a:prstGeom>
              <a:blipFill>
                <a:blip r:embed="rId12"/>
                <a:stretch>
                  <a:fillRect l="-4183" r="-1901" b="-3913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099482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76784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Aproximação</a:t>
            </a:r>
            <a:r>
              <a:rPr spc="-135" dirty="0"/>
              <a:t> </a:t>
            </a:r>
            <a:r>
              <a:rPr dirty="0"/>
              <a:t>universal</a:t>
            </a:r>
            <a:r>
              <a:rPr spc="-105" dirty="0"/>
              <a:t> </a:t>
            </a:r>
            <a:r>
              <a:rPr dirty="0"/>
              <a:t>de</a:t>
            </a:r>
            <a:r>
              <a:rPr spc="-110" dirty="0"/>
              <a:t> </a:t>
            </a:r>
            <a:r>
              <a:rPr spc="-10" dirty="0"/>
              <a:t>funções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553928"/>
            <a:ext cx="4620895" cy="1136015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241300" marR="5080" indent="-228600" algn="just">
              <a:lnSpc>
                <a:spcPct val="90000"/>
              </a:lnSpc>
              <a:spcBef>
                <a:spcPts val="41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Redes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neurais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podem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ser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usadas </a:t>
            </a:r>
            <a:r>
              <a:rPr sz="2600" dirty="0">
                <a:latin typeface="Calibri"/>
                <a:cs typeface="Calibri"/>
              </a:rPr>
              <a:t>para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aproximar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funções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como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as </a:t>
            </a:r>
            <a:r>
              <a:rPr sz="2600" dirty="0">
                <a:latin typeface="Calibri"/>
                <a:cs typeface="Calibri"/>
              </a:rPr>
              <a:t>mostradas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abaixo:</a:t>
            </a:r>
            <a:endParaRPr sz="2600" dirty="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16939" y="4217289"/>
            <a:ext cx="4414520" cy="2562860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241300" marR="5080" indent="-228600">
              <a:lnSpc>
                <a:spcPct val="90000"/>
              </a:lnSpc>
              <a:spcBef>
                <a:spcPts val="415"/>
              </a:spcBef>
              <a:buFont typeface="Arial"/>
              <a:buChar char="•"/>
              <a:tabLst>
                <a:tab pos="241300" algn="l"/>
              </a:tabLst>
            </a:pPr>
            <a:r>
              <a:rPr sz="2600" b="1" dirty="0">
                <a:solidFill>
                  <a:srgbClr val="FF0000"/>
                </a:solidFill>
                <a:latin typeface="Calibri"/>
                <a:cs typeface="Calibri"/>
              </a:rPr>
              <a:t>Exercício</a:t>
            </a:r>
            <a:r>
              <a:rPr sz="2600" dirty="0">
                <a:latin typeface="Calibri"/>
                <a:cs typeface="Calibri"/>
              </a:rPr>
              <a:t>: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usar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classes </a:t>
            </a:r>
            <a:r>
              <a:rPr sz="26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MLPRegressor</a:t>
            </a:r>
            <a:r>
              <a:rPr sz="2600" spc="-55" dirty="0">
                <a:solidFill>
                  <a:srgbClr val="0462C1"/>
                </a:solidFill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 </a:t>
            </a:r>
            <a:r>
              <a:rPr sz="26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GridSearchCV</a:t>
            </a:r>
            <a:r>
              <a:rPr sz="2600" spc="-10" dirty="0">
                <a:solidFill>
                  <a:srgbClr val="0462C1"/>
                </a:solidFill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biblioteca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SciKit-Learn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para </a:t>
            </a:r>
            <a:r>
              <a:rPr sz="2600" dirty="0">
                <a:latin typeface="Calibri"/>
                <a:cs typeface="Calibri"/>
              </a:rPr>
              <a:t>encontrar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número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nós </a:t>
            </a:r>
            <a:r>
              <a:rPr sz="2600" dirty="0">
                <a:latin typeface="Calibri"/>
                <a:cs typeface="Calibri"/>
              </a:rPr>
              <a:t>necessários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na </a:t>
            </a:r>
            <a:r>
              <a:rPr sz="2600" spc="-10" dirty="0">
                <a:latin typeface="Calibri"/>
                <a:cs typeface="Calibri"/>
              </a:rPr>
              <a:t>camada </a:t>
            </a:r>
            <a:r>
              <a:rPr sz="2600" dirty="0">
                <a:latin typeface="Calibri"/>
                <a:cs typeface="Calibri"/>
              </a:rPr>
              <a:t>escondida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para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rede </a:t>
            </a:r>
            <a:r>
              <a:rPr sz="2600" dirty="0">
                <a:latin typeface="Calibri"/>
                <a:cs typeface="Calibri"/>
              </a:rPr>
              <a:t>neural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aproxime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estas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funções.</a:t>
            </a:r>
            <a:endParaRPr sz="2600" dirty="0">
              <a:latin typeface="Calibri"/>
              <a:cs typeface="Calibri"/>
            </a:endParaRPr>
          </a:p>
        </p:txBody>
      </p:sp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346191" y="2046732"/>
            <a:ext cx="3209543" cy="219760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15"/>
              <p:cNvSpPr txBox="1"/>
              <p:nvPr/>
            </p:nvSpPr>
            <p:spPr>
              <a:xfrm>
                <a:off x="6478820" y="1690389"/>
                <a:ext cx="1374287" cy="283476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100"/>
                  </a:spcBef>
                  <a:tabLst>
                    <a:tab pos="551815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800" i="1" dirty="0" smtClean="0">
                          <a:latin typeface="Cambria Math" panose="02040503050406030204" pitchFamily="18" charset="0"/>
                          <a:cs typeface="Cambria Math"/>
                        </a:rPr>
                        <m:t>𝑓</m:t>
                      </m:r>
                      <m:r>
                        <a:rPr lang="pt-BR" sz="1800" b="0" i="1" dirty="0" smtClean="0">
                          <a:latin typeface="Cambria Math" panose="02040503050406030204" pitchFamily="18" charset="0"/>
                          <a:cs typeface="Cambria Math"/>
                        </a:rPr>
                        <m:t>(</m:t>
                      </m:r>
                      <m:r>
                        <a:rPr lang="pt-BR" sz="1800" i="1" spc="-50" dirty="0" smtClean="0">
                          <a:latin typeface="Cambria Math" panose="02040503050406030204" pitchFamily="18" charset="0"/>
                          <a:cs typeface="Cambria Math"/>
                        </a:rPr>
                        <m:t>𝑥</m:t>
                      </m:r>
                      <m:r>
                        <a:rPr lang="pt-BR" sz="1800" i="1" spc="-50" dirty="0" smtClean="0">
                          <a:latin typeface="Cambria Math" panose="02040503050406030204" pitchFamily="18" charset="0"/>
                          <a:cs typeface="Cambria Math"/>
                        </a:rPr>
                        <m:t>)</m:t>
                      </m:r>
                      <m:r>
                        <a:rPr lang="pt-BR" sz="1800" i="1" dirty="0">
                          <a:latin typeface="Cambria Math" panose="02040503050406030204" pitchFamily="18" charset="0"/>
                          <a:cs typeface="Cambria Math"/>
                        </a:rPr>
                        <m:t>	</m:t>
                      </m:r>
                      <m:r>
                        <a:rPr lang="pt-BR" sz="1800" i="1" dirty="0">
                          <a:latin typeface="Cambria Math" panose="02040503050406030204" pitchFamily="18" charset="0"/>
                          <a:cs typeface="Cambria Math"/>
                        </a:rPr>
                        <m:t>= </m:t>
                      </m:r>
                      <m:r>
                        <a:rPr lang="pt-BR" sz="1800" i="1" spc="50" dirty="0">
                          <a:latin typeface="Cambria Math" panose="02040503050406030204" pitchFamily="18" charset="0"/>
                          <a:cs typeface="Cambria Math"/>
                        </a:rPr>
                        <m:t>𝑥</m:t>
                      </m:r>
                      <m:r>
                        <a:rPr lang="pt-BR" sz="1950" i="1" spc="75" baseline="27777" dirty="0">
                          <a:latin typeface="Cambria Math" panose="02040503050406030204" pitchFamily="18" charset="0"/>
                          <a:cs typeface="Cambria Math"/>
                        </a:rPr>
                        <m:t>2</m:t>
                      </m:r>
                    </m:oMath>
                  </m:oMathPara>
                </a14:m>
                <a:endParaRPr sz="1950" baseline="27777" dirty="0">
                  <a:latin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15" name="object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8820" y="1690389"/>
                <a:ext cx="1374287" cy="283476"/>
              </a:xfrm>
              <a:prstGeom prst="rect">
                <a:avLst/>
              </a:prstGeom>
              <a:blipFill>
                <a:blip r:embed="rId5"/>
                <a:stretch>
                  <a:fillRect b="-3617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827152" y="2067542"/>
            <a:ext cx="3192770" cy="2135175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010253" y="4647884"/>
            <a:ext cx="3331757" cy="213811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4A42CD89-7E13-336D-F77D-2C5837784B61}"/>
                  </a:ext>
                </a:extLst>
              </p:cNvPr>
              <p:cNvSpPr txBox="1"/>
              <p:nvPr/>
            </p:nvSpPr>
            <p:spPr>
              <a:xfrm>
                <a:off x="1360509" y="2771001"/>
                <a:ext cx="266303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pt-BR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t-BR" b="0" i="1" smtClean="0">
                        <a:latin typeface="Cambria Math" panose="02040503050406030204" pitchFamily="18" charset="0"/>
                      </a:rPr>
                      <m:t>,  −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endParaRPr lang="pt-BR" dirty="0"/>
              </a:p>
            </p:txBody>
          </p:sp>
        </mc:Choice>
        <mc:Fallback xmlns=""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4A42CD89-7E13-336D-F77D-2C5837784B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0509" y="2771001"/>
                <a:ext cx="2663037" cy="276999"/>
              </a:xfrm>
              <a:prstGeom prst="rect">
                <a:avLst/>
              </a:prstGeom>
              <a:blipFill>
                <a:blip r:embed="rId8"/>
                <a:stretch>
                  <a:fillRect l="-4805" t="-20000" r="-458" b="-4444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339C5367-44AD-D2F9-02C8-9D887219EFC1}"/>
                  </a:ext>
                </a:extLst>
              </p:cNvPr>
              <p:cNvSpPr txBox="1"/>
              <p:nvPr/>
            </p:nvSpPr>
            <p:spPr>
              <a:xfrm>
                <a:off x="1360509" y="3294384"/>
                <a:ext cx="2645340" cy="3926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pt-B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pt-BR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100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endParaRPr lang="pt-BR" dirty="0"/>
              </a:p>
            </p:txBody>
          </p:sp>
        </mc:Choice>
        <mc:Fallback xmlns=""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339C5367-44AD-D2F9-02C8-9D887219EF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0509" y="3294384"/>
                <a:ext cx="2645340" cy="392608"/>
              </a:xfrm>
              <a:prstGeom prst="rect">
                <a:avLst/>
              </a:prstGeom>
              <a:blipFill>
                <a:blip r:embed="rId9"/>
                <a:stretch>
                  <a:fillRect l="-4839" r="-461" b="-1538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aixaDeTexto 25">
                <a:extLst>
                  <a:ext uri="{FF2B5EF4-FFF2-40B4-BE49-F238E27FC236}">
                    <a16:creationId xmlns:a16="http://schemas.microsoft.com/office/drawing/2014/main" id="{B4CFE5C6-D67C-AD48-F3C5-05A06C51DB6C}"/>
                  </a:ext>
                </a:extLst>
              </p:cNvPr>
              <p:cNvSpPr txBox="1"/>
              <p:nvPr/>
            </p:nvSpPr>
            <p:spPr>
              <a:xfrm>
                <a:off x="1360509" y="3834678"/>
                <a:ext cx="308802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pt-BR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t-BR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,</m:t>
                        </m:r>
                      </m:e>
                    </m:func>
                    <m:r>
                      <a:rPr lang="pt-BR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endParaRPr lang="pt-BR" dirty="0"/>
              </a:p>
            </p:txBody>
          </p:sp>
        </mc:Choice>
        <mc:Fallback xmlns="">
          <p:sp>
            <p:nvSpPr>
              <p:cNvPr id="26" name="CaixaDeTexto 25">
                <a:extLst>
                  <a:ext uri="{FF2B5EF4-FFF2-40B4-BE49-F238E27FC236}">
                    <a16:creationId xmlns:a16="http://schemas.microsoft.com/office/drawing/2014/main" id="{B4CFE5C6-D67C-AD48-F3C5-05A06C51DB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0509" y="3834678"/>
                <a:ext cx="3088025" cy="276999"/>
              </a:xfrm>
              <a:prstGeom prst="rect">
                <a:avLst/>
              </a:prstGeom>
              <a:blipFill>
                <a:blip r:embed="rId10"/>
                <a:stretch>
                  <a:fillRect l="-4142" t="-20000" b="-4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bject 15">
                <a:extLst>
                  <a:ext uri="{FF2B5EF4-FFF2-40B4-BE49-F238E27FC236}">
                    <a16:creationId xmlns:a16="http://schemas.microsoft.com/office/drawing/2014/main" id="{FA3E17C9-56D6-538F-62AE-3F3775E4BBAF}"/>
                  </a:ext>
                </a:extLst>
              </p:cNvPr>
              <p:cNvSpPr txBox="1"/>
              <p:nvPr/>
            </p:nvSpPr>
            <p:spPr>
              <a:xfrm>
                <a:off x="9900774" y="1410710"/>
                <a:ext cx="1374287" cy="531428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100"/>
                  </a:spcBef>
                  <a:tabLst>
                    <a:tab pos="551815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800" i="1" dirty="0" smtClean="0">
                          <a:latin typeface="Cambria Math" panose="02040503050406030204" pitchFamily="18" charset="0"/>
                          <a:cs typeface="Cambria Math"/>
                        </a:rPr>
                        <m:t>𝑓</m:t>
                      </m:r>
                      <m:r>
                        <a:rPr lang="pt-BR" sz="1800" b="0" i="1" dirty="0" smtClean="0">
                          <a:latin typeface="Cambria Math" panose="02040503050406030204" pitchFamily="18" charset="0"/>
                          <a:cs typeface="Cambria Math"/>
                        </a:rPr>
                        <m:t>(</m:t>
                      </m:r>
                      <m:r>
                        <a:rPr lang="pt-BR" sz="1800" i="1" spc="-50" dirty="0" smtClean="0">
                          <a:latin typeface="Cambria Math" panose="02040503050406030204" pitchFamily="18" charset="0"/>
                          <a:cs typeface="Cambria Math"/>
                        </a:rPr>
                        <m:t>𝑥</m:t>
                      </m:r>
                      <m:r>
                        <a:rPr lang="pt-BR" sz="1800" i="1" spc="-50" dirty="0" smtClean="0">
                          <a:latin typeface="Cambria Math" panose="02040503050406030204" pitchFamily="18" charset="0"/>
                          <a:cs typeface="Cambria Math"/>
                        </a:rPr>
                        <m:t>)</m:t>
                      </m:r>
                      <m:r>
                        <a:rPr lang="pt-BR" sz="1800" i="1" dirty="0">
                          <a:latin typeface="Cambria Math" panose="02040503050406030204" pitchFamily="18" charset="0"/>
                          <a:cs typeface="Cambria Math"/>
                        </a:rPr>
                        <m:t>	</m:t>
                      </m:r>
                      <m:r>
                        <a:rPr lang="pt-BR" sz="1800" i="1" dirty="0">
                          <a:latin typeface="Cambria Math" panose="02040503050406030204" pitchFamily="18" charset="0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pt-BR" sz="1800" b="0" i="1" spc="105" dirty="0" smtClean="0"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fPr>
                        <m:num>
                          <m:r>
                            <a:rPr lang="pt-BR" sz="1800" b="0" i="1" spc="105" dirty="0" smtClean="0">
                              <a:latin typeface="Cambria Math" panose="02040503050406030204" pitchFamily="18" charset="0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pt-BR" sz="1800" b="0" i="1" spc="105" dirty="0" smtClean="0">
                              <a:latin typeface="Cambria Math" panose="02040503050406030204" pitchFamily="18" charset="0"/>
                              <a:cs typeface="Cambria Math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sz="1950" baseline="27777" dirty="0">
                  <a:latin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27" name="object 15">
                <a:extLst>
                  <a:ext uri="{FF2B5EF4-FFF2-40B4-BE49-F238E27FC236}">
                    <a16:creationId xmlns:a16="http://schemas.microsoft.com/office/drawing/2014/main" id="{FA3E17C9-56D6-538F-62AE-3F3775E4BB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0774" y="1410710"/>
                <a:ext cx="1374287" cy="53142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bject 15">
                <a:extLst>
                  <a:ext uri="{FF2B5EF4-FFF2-40B4-BE49-F238E27FC236}">
                    <a16:creationId xmlns:a16="http://schemas.microsoft.com/office/drawing/2014/main" id="{34A4A035-0EC7-7DFC-7A1A-A11579EE2F2E}"/>
                  </a:ext>
                </a:extLst>
              </p:cNvPr>
              <p:cNvSpPr txBox="1"/>
              <p:nvPr/>
            </p:nvSpPr>
            <p:spPr>
              <a:xfrm>
                <a:off x="8154682" y="4271822"/>
                <a:ext cx="1606029" cy="283476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100"/>
                  </a:spcBef>
                  <a:tabLst>
                    <a:tab pos="551815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800" i="1" dirty="0" smtClean="0">
                          <a:latin typeface="Cambria Math" panose="02040503050406030204" pitchFamily="18" charset="0"/>
                          <a:cs typeface="Cambria Math"/>
                        </a:rPr>
                        <m:t>𝑓</m:t>
                      </m:r>
                      <m:r>
                        <a:rPr lang="pt-BR" sz="1800" b="0" i="1" dirty="0" smtClean="0">
                          <a:latin typeface="Cambria Math" panose="02040503050406030204" pitchFamily="18" charset="0"/>
                          <a:cs typeface="Cambria Math"/>
                        </a:rPr>
                        <m:t>(</m:t>
                      </m:r>
                      <m:r>
                        <a:rPr lang="pt-BR" sz="1800" i="1" spc="-50" dirty="0" smtClean="0">
                          <a:latin typeface="Cambria Math" panose="02040503050406030204" pitchFamily="18" charset="0"/>
                          <a:cs typeface="Cambria Math"/>
                        </a:rPr>
                        <m:t>𝑥</m:t>
                      </m:r>
                      <m:r>
                        <a:rPr lang="pt-BR" sz="1800" i="1" spc="-50" dirty="0" smtClean="0">
                          <a:latin typeface="Cambria Math" panose="02040503050406030204" pitchFamily="18" charset="0"/>
                          <a:cs typeface="Cambria Math"/>
                        </a:rPr>
                        <m:t>)</m:t>
                      </m:r>
                      <m:r>
                        <a:rPr lang="pt-BR" sz="1800" i="1" dirty="0">
                          <a:latin typeface="Cambria Math" panose="02040503050406030204" pitchFamily="18" charset="0"/>
                          <a:cs typeface="Cambria Math"/>
                        </a:rPr>
                        <m:t>	</m:t>
                      </m:r>
                      <m:r>
                        <a:rPr lang="pt-BR" sz="1800" i="1" dirty="0">
                          <a:latin typeface="Cambria Math" panose="02040503050406030204" pitchFamily="18" charset="0"/>
                          <a:cs typeface="Cambria Math"/>
                        </a:rPr>
                        <m:t>=</m:t>
                      </m:r>
                      <m:func>
                        <m:funcPr>
                          <m:ctrlPr>
                            <a:rPr lang="pt-BR" sz="1800" b="0" i="1" spc="105" dirty="0" smtClean="0"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 sz="1800" b="0" i="0" spc="105" dirty="0" smtClean="0">
                              <a:latin typeface="Cambria Math" panose="02040503050406030204" pitchFamily="18" charset="0"/>
                              <a:cs typeface="Cambria Math"/>
                            </a:rPr>
                            <m:t>sin</m:t>
                          </m:r>
                        </m:fName>
                        <m:e>
                          <m:r>
                            <a:rPr lang="pt-BR" sz="1800" b="0" i="1" spc="105" dirty="0" smtClean="0">
                              <a:latin typeface="Cambria Math" panose="02040503050406030204" pitchFamily="18" charset="0"/>
                              <a:cs typeface="Cambria Math"/>
                            </a:rPr>
                            <m:t>(</m:t>
                          </m:r>
                          <m:r>
                            <a:rPr lang="pt-BR" sz="1800" b="0" i="1" spc="105" dirty="0" smtClean="0">
                              <a:latin typeface="Cambria Math" panose="02040503050406030204" pitchFamily="18" charset="0"/>
                              <a:cs typeface="Cambria Math"/>
                            </a:rPr>
                            <m:t>𝑥</m:t>
                          </m:r>
                          <m:r>
                            <a:rPr lang="pt-BR" sz="1800" b="0" i="1" spc="105" dirty="0" smtClean="0">
                              <a:latin typeface="Cambria Math" panose="02040503050406030204" pitchFamily="18" charset="0"/>
                              <a:cs typeface="Cambria Math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sz="1950" baseline="27777" dirty="0">
                  <a:latin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28" name="object 15">
                <a:extLst>
                  <a:ext uri="{FF2B5EF4-FFF2-40B4-BE49-F238E27FC236}">
                    <a16:creationId xmlns:a16="http://schemas.microsoft.com/office/drawing/2014/main" id="{34A4A035-0EC7-7DFC-7A1A-A11579EE2F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4682" y="4271822"/>
                <a:ext cx="1606029" cy="283476"/>
              </a:xfrm>
              <a:prstGeom prst="rect">
                <a:avLst/>
              </a:prstGeom>
              <a:blipFill>
                <a:blip r:embed="rId12"/>
                <a:stretch>
                  <a:fillRect l="-4183" r="-1901" b="-3913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304584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39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Retropropagação</a:t>
            </a:r>
            <a:r>
              <a:rPr spc="-125" dirty="0"/>
              <a:t> </a:t>
            </a:r>
            <a:r>
              <a:rPr dirty="0"/>
              <a:t>do</a:t>
            </a:r>
            <a:r>
              <a:rPr spc="-114" dirty="0"/>
              <a:t> </a:t>
            </a:r>
            <a:r>
              <a:rPr spc="-20" dirty="0"/>
              <a:t>Erro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371600"/>
            <a:ext cx="10862945" cy="1602740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241300" marR="5080" indent="-228600">
              <a:lnSpc>
                <a:spcPct val="80000"/>
              </a:lnSpc>
              <a:spcBef>
                <a:spcPts val="76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Para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fazer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dependência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pesos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apareça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maneira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clara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na </a:t>
            </a:r>
            <a:r>
              <a:rPr sz="2800" spc="-10" dirty="0">
                <a:latin typeface="Calibri"/>
                <a:cs typeface="Calibri"/>
              </a:rPr>
              <a:t>expressão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erro,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nós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precisamos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recorrer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aplicações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sucessivas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da </a:t>
            </a:r>
            <a:r>
              <a:rPr sz="2800" b="1" i="1" dirty="0">
                <a:latin typeface="Calibri"/>
                <a:cs typeface="Calibri"/>
              </a:rPr>
              <a:t>regra</a:t>
            </a:r>
            <a:r>
              <a:rPr sz="2800" b="1" i="1" spc="-4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da</a:t>
            </a:r>
            <a:r>
              <a:rPr sz="2800" b="1" i="1" spc="-5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cadeia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Usando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notação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Leibniz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essa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regra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mostra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que:</a:t>
            </a:r>
            <a:endParaRPr sz="2800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16"/>
              <p:cNvSpPr txBox="1"/>
              <p:nvPr/>
            </p:nvSpPr>
            <p:spPr>
              <a:xfrm>
                <a:off x="891539" y="3910016"/>
                <a:ext cx="10103485" cy="1226298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266700" indent="-228600">
                  <a:spcBef>
                    <a:spcPts val="95"/>
                  </a:spcBef>
                  <a:buFont typeface="Arial"/>
                  <a:buChar char="•"/>
                  <a:tabLst>
                    <a:tab pos="266700" algn="l"/>
                    <a:tab pos="5843270" algn="l"/>
                    <a:tab pos="6215380" algn="l"/>
                    <a:tab pos="6820534" algn="l"/>
                  </a:tabLst>
                </a:pPr>
                <a:r>
                  <a:rPr lang="pt-BR" sz="2800" dirty="0">
                    <a:latin typeface="Calibri"/>
                    <a:cs typeface="Calibri"/>
                  </a:rPr>
                  <a:t>Por</a:t>
                </a:r>
                <a:r>
                  <a:rPr lang="pt-BR" sz="2800" spc="-90" dirty="0">
                    <a:latin typeface="Calibri"/>
                    <a:cs typeface="Calibri"/>
                  </a:rPr>
                  <a:t> </a:t>
                </a:r>
                <a:r>
                  <a:rPr lang="pt-BR" sz="2800" spc="-20" dirty="0">
                    <a:latin typeface="Calibri"/>
                    <a:cs typeface="Calibri"/>
                  </a:rPr>
                  <a:t>exemplo,</a:t>
                </a:r>
                <a:r>
                  <a:rPr lang="pt-BR" sz="2800" spc="-8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vamos</a:t>
                </a:r>
                <a:r>
                  <a:rPr lang="pt-BR" sz="2800" spc="-100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considerar</a:t>
                </a:r>
                <a:r>
                  <a:rPr lang="pt-BR" sz="2800" spc="-7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que</a:t>
                </a:r>
                <a:r>
                  <a:rPr lang="pt-BR" sz="2800" spc="-140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pt-BR" sz="2800" i="1" spc="-50" dirty="0" smtClean="0">
                        <a:latin typeface="Cambria Math" panose="02040503050406030204" pitchFamily="18" charset="0"/>
                        <a:cs typeface="Cambria Math"/>
                      </a:rPr>
                      <m:t>𝑓</m:t>
                    </m:r>
                    <m:d>
                      <m:dPr>
                        <m:ctrlPr>
                          <a:rPr lang="pt-BR" sz="2800" b="0" i="1" spc="-50" dirty="0" smtClean="0">
                            <a:latin typeface="Cambria Math" panose="02040503050406030204" pitchFamily="18" charset="0"/>
                            <a:cs typeface="Cambria Math"/>
                          </a:rPr>
                        </m:ctrlPr>
                      </m:dPr>
                      <m:e>
                        <m:r>
                          <a:rPr lang="pt-BR" sz="2800" i="1" spc="-50" dirty="0">
                            <a:latin typeface="Cambria Math" panose="02040503050406030204" pitchFamily="18" charset="0"/>
                            <a:cs typeface="Cambria Math"/>
                          </a:rPr>
                          <m:t>𝑔</m:t>
                        </m:r>
                        <m:d>
                          <m:dPr>
                            <m:ctrlPr>
                              <a:rPr lang="pt-BR" sz="2800" b="0" i="1" spc="-50" dirty="0" smtClean="0">
                                <a:latin typeface="Cambria Math" panose="02040503050406030204" pitchFamily="18" charset="0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pt-BR" sz="2800" i="1" spc="-50" dirty="0">
                                <a:latin typeface="Cambria Math" panose="02040503050406030204" pitchFamily="18" charset="0"/>
                                <a:cs typeface="Cambria Math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pt-BR" sz="2800" b="0" i="1" spc="-50" dirty="0" smtClean="0">
                        <a:latin typeface="Cambria Math" panose="02040503050406030204" pitchFamily="18" charset="0"/>
                        <a:cs typeface="Cambria Math"/>
                      </a:rPr>
                      <m:t>=</m:t>
                    </m:r>
                    <m:sSup>
                      <m:sSupPr>
                        <m:ctrlPr>
                          <a:rPr lang="pt-BR" sz="2800" b="0" i="1" spc="-50" dirty="0" smtClean="0">
                            <a:latin typeface="Cambria Math" panose="02040503050406030204" pitchFamily="18" charset="0"/>
                            <a:cs typeface="Cambria Math"/>
                          </a:rPr>
                        </m:ctrlPr>
                      </m:sSupPr>
                      <m:e>
                        <m:r>
                          <a:rPr lang="pt-BR" sz="2800" b="0" i="1" spc="-50" dirty="0" smtClean="0">
                            <a:latin typeface="Cambria Math" panose="02040503050406030204" pitchFamily="18" charset="0"/>
                            <a:cs typeface="Cambria Math"/>
                          </a:rPr>
                          <m:t>𝑒</m:t>
                        </m:r>
                      </m:e>
                      <m:sup>
                        <m:sSup>
                          <m:sSupPr>
                            <m:ctrlPr>
                              <a:rPr lang="pt-BR" sz="2800" b="0" i="1" spc="-50" dirty="0" smtClean="0">
                                <a:latin typeface="Cambria Math" panose="02040503050406030204" pitchFamily="18" charset="0"/>
                                <a:cs typeface="Cambria Math"/>
                              </a:rPr>
                            </m:ctrlPr>
                          </m:sSupPr>
                          <m:e>
                            <m:r>
                              <a:rPr lang="pt-BR" sz="2800" b="0" i="1" spc="-50" dirty="0" smtClean="0">
                                <a:latin typeface="Cambria Math" panose="02040503050406030204" pitchFamily="18" charset="0"/>
                                <a:cs typeface="Cambria Math"/>
                              </a:rPr>
                              <m:t>𝑥</m:t>
                            </m:r>
                          </m:e>
                          <m:sup>
                            <m:r>
                              <a:rPr lang="pt-BR" sz="2800" b="0" i="1" spc="-50" dirty="0" smtClean="0">
                                <a:latin typeface="Cambria Math" panose="02040503050406030204" pitchFamily="18" charset="0"/>
                                <a:cs typeface="Cambria Math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r>
                  <a:rPr lang="pt-BR" sz="2475" spc="-232" baseline="58922" dirty="0">
                    <a:latin typeface="Cambria Math"/>
                    <a:cs typeface="Cambria Math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e</a:t>
                </a:r>
                <a:r>
                  <a:rPr lang="pt-BR" sz="2800" spc="-2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que </a:t>
                </a:r>
                <a:r>
                  <a:rPr lang="pt-BR" sz="2800" spc="-10" dirty="0">
                    <a:latin typeface="Calibri"/>
                    <a:cs typeface="Calibri"/>
                  </a:rPr>
                  <a:t>queremos obter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sz="2800" b="0" i="1" spc="-1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fPr>
                      <m:num>
                        <m:r>
                          <a:rPr lang="pt-BR" sz="2800" b="0" i="1" spc="-10" smtClean="0">
                            <a:latin typeface="Cambria Math" panose="02040503050406030204" pitchFamily="18" charset="0"/>
                            <a:cs typeface="Calibri"/>
                          </a:rPr>
                          <m:t>𝜕</m:t>
                        </m:r>
                        <m:r>
                          <a:rPr lang="pt-BR" sz="2800" b="0" i="1" spc="-10" smtClean="0">
                            <a:latin typeface="Cambria Math" panose="02040503050406030204" pitchFamily="18" charset="0"/>
                            <a:cs typeface="Calibri"/>
                          </a:rPr>
                          <m:t>𝑓</m:t>
                        </m:r>
                        <m:d>
                          <m:dPr>
                            <m:ctrlPr>
                              <a:rPr lang="pt-BR" sz="2800" b="0" i="1" spc="-10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dPr>
                          <m:e>
                            <m:r>
                              <a:rPr lang="pt-BR" sz="2800" b="0" i="1" spc="-10" smtClean="0">
                                <a:latin typeface="Cambria Math" panose="02040503050406030204" pitchFamily="18" charset="0"/>
                                <a:cs typeface="Calibri"/>
                              </a:rPr>
                              <m:t>𝑔</m:t>
                            </m:r>
                            <m:d>
                              <m:dPr>
                                <m:ctrlPr>
                                  <a:rPr lang="pt-BR" sz="2800" b="0" i="1" spc="-10" smtClean="0">
                                    <a:latin typeface="Cambria Math" panose="02040503050406030204" pitchFamily="18" charset="0"/>
                                    <a:cs typeface="Calibri"/>
                                  </a:rPr>
                                </m:ctrlPr>
                              </m:dPr>
                              <m:e>
                                <m:r>
                                  <a:rPr lang="pt-BR" sz="2800" b="0" i="1" spc="-10" smtClean="0">
                                    <a:latin typeface="Cambria Math" panose="02040503050406030204" pitchFamily="18" charset="0"/>
                                    <a:cs typeface="Calibri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</m:num>
                      <m:den>
                        <m:r>
                          <a:rPr lang="pt-BR" sz="2800" b="0" i="1" spc="-10" smtClean="0">
                            <a:latin typeface="Cambria Math" panose="02040503050406030204" pitchFamily="18" charset="0"/>
                            <a:cs typeface="Calibri"/>
                          </a:rPr>
                          <m:t>𝜕</m:t>
                        </m:r>
                        <m:r>
                          <a:rPr lang="pt-BR" sz="2800" b="0" i="1" spc="-10" smtClean="0">
                            <a:latin typeface="Cambria Math" panose="02040503050406030204" pitchFamily="18" charset="0"/>
                            <a:cs typeface="Calibri"/>
                          </a:rPr>
                          <m:t>𝑥</m:t>
                        </m:r>
                      </m:den>
                    </m:f>
                    <m:r>
                      <a:rPr lang="pt-BR" sz="2800" b="0" i="1" spc="-10" smtClean="0">
                        <a:latin typeface="Cambria Math" panose="02040503050406030204" pitchFamily="18" charset="0"/>
                        <a:cs typeface="Calibri"/>
                      </a:rPr>
                      <m:t>.</m:t>
                    </m:r>
                  </m:oMath>
                </a14:m>
                <a:endParaRPr sz="28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6" name="object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539" y="3910016"/>
                <a:ext cx="10103485" cy="1226298"/>
              </a:xfrm>
              <a:prstGeom prst="rect">
                <a:avLst/>
              </a:prstGeom>
              <a:blipFill>
                <a:blip r:embed="rId2"/>
                <a:stretch>
                  <a:fillRect l="-1628" t="-1485" r="-1749" b="-990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object 23"/>
              <p:cNvSpPr txBox="1"/>
              <p:nvPr/>
            </p:nvSpPr>
            <p:spPr>
              <a:xfrm>
                <a:off x="916938" y="5141452"/>
                <a:ext cx="10284461" cy="443070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266700" indent="-228600">
                  <a:lnSpc>
                    <a:spcPct val="100000"/>
                  </a:lnSpc>
                  <a:spcBef>
                    <a:spcPts val="95"/>
                  </a:spcBef>
                  <a:buFont typeface="Arial"/>
                  <a:buChar char="•"/>
                  <a:tabLst>
                    <a:tab pos="266700" algn="l"/>
                    <a:tab pos="3489960" algn="l"/>
                    <a:tab pos="3937000" algn="l"/>
                  </a:tabLst>
                </a:pPr>
                <a:r>
                  <a:rPr lang="pt-BR" sz="2800" dirty="0">
                    <a:latin typeface="Calibri"/>
                    <a:cs typeface="Calibri"/>
                  </a:rPr>
                  <a:t>Nós</a:t>
                </a:r>
                <a:r>
                  <a:rPr lang="pt-BR" sz="2800" spc="-6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podemos</a:t>
                </a:r>
                <a:r>
                  <a:rPr lang="pt-BR" sz="2800" spc="-60" dirty="0">
                    <a:latin typeface="Calibri"/>
                    <a:cs typeface="Calibri"/>
                  </a:rPr>
                  <a:t> </a:t>
                </a:r>
                <a:r>
                  <a:rPr lang="pt-BR" sz="2800" spc="-20" dirty="0">
                    <a:latin typeface="Calibri"/>
                    <a:cs typeface="Calibri"/>
                  </a:rPr>
                  <a:t>fazer</a:t>
                </a:r>
                <a:r>
                  <a:rPr lang="pt-BR" sz="2800" spc="-110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pt-BR" sz="2800" i="1" spc="-50" dirty="0" smtClean="0">
                        <a:latin typeface="Cambria Math" panose="02040503050406030204" pitchFamily="18" charset="0"/>
                        <a:cs typeface="Cambria Math"/>
                      </a:rPr>
                      <m:t>𝑔</m:t>
                    </m:r>
                    <m:r>
                      <a:rPr lang="pt-BR" sz="2800" b="0" i="1" spc="-50" dirty="0" smtClean="0">
                        <a:latin typeface="Cambria Math" panose="02040503050406030204" pitchFamily="18" charset="0"/>
                        <a:cs typeface="Cambria Math"/>
                      </a:rPr>
                      <m:t>(</m:t>
                    </m:r>
                    <m:r>
                      <a:rPr lang="pt-BR" sz="2800" i="1" spc="-50" dirty="0">
                        <a:latin typeface="Cambria Math" panose="02040503050406030204" pitchFamily="18" charset="0"/>
                        <a:cs typeface="Cambria Math"/>
                      </a:rPr>
                      <m:t>𝑥</m:t>
                    </m:r>
                    <m:r>
                      <a:rPr lang="pt-BR" sz="2800" b="0" i="1" spc="-50" dirty="0" smtClean="0">
                        <a:latin typeface="Cambria Math" panose="02040503050406030204" pitchFamily="18" charset="0"/>
                        <a:cs typeface="Cambria Math"/>
                      </a:rPr>
                      <m:t>)</m:t>
                    </m:r>
                    <m:r>
                      <a:rPr lang="pt-BR" sz="2800" i="1" dirty="0">
                        <a:latin typeface="Cambria Math" panose="02040503050406030204" pitchFamily="18" charset="0"/>
                        <a:cs typeface="Cambria Math"/>
                      </a:rPr>
                      <m:t>	= </m:t>
                    </m:r>
                    <m:r>
                      <a:rPr lang="pt-BR" sz="2800" i="1" spc="85" dirty="0">
                        <a:latin typeface="Cambria Math" panose="02040503050406030204" pitchFamily="18" charset="0"/>
                        <a:cs typeface="Cambria Math"/>
                      </a:rPr>
                      <m:t>𝑥</m:t>
                    </m:r>
                    <m:r>
                      <a:rPr lang="pt-BR" sz="3075" i="1" spc="127" baseline="27100" dirty="0">
                        <a:latin typeface="Cambria Math" panose="02040503050406030204" pitchFamily="18" charset="0"/>
                        <a:cs typeface="Cambria Math"/>
                      </a:rPr>
                      <m:t>2</m:t>
                    </m:r>
                  </m:oMath>
                </a14:m>
                <a:r>
                  <a:rPr lang="pt-BR" sz="3075" spc="390" baseline="27100" dirty="0">
                    <a:latin typeface="Cambria Math"/>
                    <a:cs typeface="Cambria Math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e</a:t>
                </a:r>
                <a:r>
                  <a:rPr lang="pt-BR" sz="2800" spc="-3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usar</a:t>
                </a:r>
                <a:r>
                  <a:rPr lang="pt-BR" sz="2800" spc="-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a</a:t>
                </a:r>
                <a:r>
                  <a:rPr lang="pt-BR" sz="2800" spc="-35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latin typeface="Calibri"/>
                    <a:cs typeface="Calibri"/>
                  </a:rPr>
                  <a:t>regra</a:t>
                </a:r>
                <a:r>
                  <a:rPr lang="pt-BR" sz="2800" b="1" i="1" spc="-25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latin typeface="Calibri"/>
                    <a:cs typeface="Calibri"/>
                  </a:rPr>
                  <a:t>da</a:t>
                </a:r>
                <a:r>
                  <a:rPr lang="pt-BR" sz="2800" b="1" i="1" spc="-40" dirty="0">
                    <a:latin typeface="Calibri"/>
                    <a:cs typeface="Calibri"/>
                  </a:rPr>
                  <a:t> </a:t>
                </a:r>
                <a:r>
                  <a:rPr lang="pt-BR" sz="2800" b="1" i="1" spc="-10" dirty="0">
                    <a:latin typeface="Calibri"/>
                    <a:cs typeface="Calibri"/>
                  </a:rPr>
                  <a:t>cadeia</a:t>
                </a:r>
                <a:r>
                  <a:rPr lang="pt-BR" sz="2800" spc="-10" dirty="0">
                    <a:latin typeface="Calibri"/>
                    <a:cs typeface="Calibri"/>
                  </a:rPr>
                  <a:t>:</a:t>
                </a:r>
                <a:endParaRPr sz="28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23" name="object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938" y="5141452"/>
                <a:ext cx="10284461" cy="443070"/>
              </a:xfrm>
              <a:prstGeom prst="rect">
                <a:avLst/>
              </a:prstGeom>
              <a:blipFill>
                <a:blip r:embed="rId3"/>
                <a:stretch>
                  <a:fillRect l="-1600" t="-20548" b="-4931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aixaDeTexto 32">
                <a:extLst>
                  <a:ext uri="{FF2B5EF4-FFF2-40B4-BE49-F238E27FC236}">
                    <a16:creationId xmlns:a16="http://schemas.microsoft.com/office/drawing/2014/main" id="{9D545B8C-722F-4A3E-AF7E-1C602B03BEF5}"/>
                  </a:ext>
                </a:extLst>
              </p:cNvPr>
              <p:cNvSpPr txBox="1"/>
              <p:nvPr/>
            </p:nvSpPr>
            <p:spPr>
              <a:xfrm>
                <a:off x="2884801" y="5859872"/>
                <a:ext cx="6422399" cy="8275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sSup>
                        <m:sSup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sSup>
                            <m:s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sup>
                      </m:sSup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33" name="CaixaDeTexto 32">
                <a:extLst>
                  <a:ext uri="{FF2B5EF4-FFF2-40B4-BE49-F238E27FC236}">
                    <a16:creationId xmlns:a16="http://schemas.microsoft.com/office/drawing/2014/main" id="{9D545B8C-722F-4A3E-AF7E-1C602B03BE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4801" y="5859872"/>
                <a:ext cx="6422399" cy="8275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1C7402A1-F9DD-8A1C-0A8A-A6085FCCEADD}"/>
                  </a:ext>
                </a:extLst>
              </p:cNvPr>
              <p:cNvSpPr txBox="1"/>
              <p:nvPr/>
            </p:nvSpPr>
            <p:spPr>
              <a:xfrm>
                <a:off x="2979410" y="2971800"/>
                <a:ext cx="6233181" cy="10225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d>
                                    <m:dPr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d>
                                    <m:dPr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d>
                                <m:d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</m:den>
                      </m:f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d>
                                <m:d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d>
                            <m:d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1C7402A1-F9DD-8A1C-0A8A-A6085FCCEA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9410" y="2971800"/>
                <a:ext cx="6233181" cy="102258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274774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56515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Retropropagação</a:t>
            </a:r>
            <a:r>
              <a:rPr spc="-125" dirty="0"/>
              <a:t> </a:t>
            </a:r>
            <a:r>
              <a:rPr dirty="0"/>
              <a:t>do</a:t>
            </a:r>
            <a:r>
              <a:rPr spc="-114" dirty="0"/>
              <a:t> </a:t>
            </a:r>
            <a:r>
              <a:rPr spc="-20" dirty="0"/>
              <a:t>Erro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9589"/>
            <a:ext cx="10875645" cy="4984115"/>
          </a:xfrm>
          <a:prstGeom prst="rect">
            <a:avLst/>
          </a:prstGeom>
        </p:spPr>
        <p:txBody>
          <a:bodyPr vert="horz" wrap="square" lIns="0" tIns="59054" rIns="0" bIns="0" rtlCol="0">
            <a:spAutoFit/>
          </a:bodyPr>
          <a:lstStyle/>
          <a:p>
            <a:pPr marL="241300" marR="15240" indent="-228600">
              <a:lnSpc>
                <a:spcPts val="2800"/>
              </a:lnSpc>
              <a:spcBef>
                <a:spcPts val="464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Agora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voltamos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à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equação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MSE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vemos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as</a:t>
            </a:r>
            <a:r>
              <a:rPr sz="2600" b="1" i="1" spc="-2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saídas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da</a:t>
            </a:r>
            <a:r>
              <a:rPr sz="2600" b="1" i="1" spc="-5" dirty="0">
                <a:latin typeface="Calibri"/>
                <a:cs typeface="Calibri"/>
              </a:rPr>
              <a:t> </a:t>
            </a:r>
            <a:r>
              <a:rPr sz="2600" spc="-10" dirty="0">
                <a:latin typeface="Cambria Math"/>
                <a:cs typeface="Cambria Math"/>
              </a:rPr>
              <a:t>𝑴</a:t>
            </a:r>
            <a:r>
              <a:rPr sz="2600" b="1" i="1" spc="-10" dirty="0">
                <a:latin typeface="Calibri"/>
                <a:cs typeface="Calibri"/>
              </a:rPr>
              <a:t>-</a:t>
            </a:r>
            <a:r>
              <a:rPr sz="2600" b="1" i="1" dirty="0">
                <a:latin typeface="Calibri"/>
                <a:cs typeface="Calibri"/>
              </a:rPr>
              <a:t>ésima</a:t>
            </a:r>
            <a:r>
              <a:rPr sz="2600" b="1" i="1" spc="-15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camada </a:t>
            </a:r>
            <a:r>
              <a:rPr sz="2600" b="1" i="1" dirty="0">
                <a:latin typeface="Calibri"/>
                <a:cs typeface="Calibri"/>
              </a:rPr>
              <a:t>(i.e.,</a:t>
            </a:r>
            <a:r>
              <a:rPr sz="2600" b="1" i="1" spc="-2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saída)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da</a:t>
            </a:r>
            <a:r>
              <a:rPr sz="2600" b="1" i="1" spc="-1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rede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aparecem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</a:t>
            </a:r>
            <a:r>
              <a:rPr sz="2600" b="1" i="1" spc="-1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maneira</a:t>
            </a:r>
            <a:r>
              <a:rPr sz="2600" b="1" i="1" spc="-2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direta</a:t>
            </a:r>
            <a:r>
              <a:rPr sz="2600" b="1" i="1" spc="-1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na</a:t>
            </a:r>
            <a:r>
              <a:rPr sz="2600" b="1" i="1" spc="-5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equação</a:t>
            </a:r>
            <a:r>
              <a:rPr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41300" marR="5080" indent="-228600">
              <a:lnSpc>
                <a:spcPts val="2810"/>
              </a:lnSpc>
              <a:spcBef>
                <a:spcPts val="99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Isso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significa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simples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se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obter</a:t>
            </a:r>
            <a:r>
              <a:rPr sz="2600" b="1" i="1" spc="-2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as</a:t>
            </a:r>
            <a:r>
              <a:rPr sz="2600" b="1" i="1" spc="-2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derivadas</a:t>
            </a:r>
            <a:r>
              <a:rPr sz="2600" b="1" i="1" spc="-4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com</a:t>
            </a:r>
            <a:r>
              <a:rPr sz="2600" b="1" i="1" spc="-2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respeito</a:t>
            </a:r>
            <a:r>
              <a:rPr sz="2600" b="1" i="1" spc="-4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aos</a:t>
            </a:r>
            <a:r>
              <a:rPr sz="2600" b="1" i="1" spc="-1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pesos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desta camada</a:t>
            </a:r>
            <a:r>
              <a:rPr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41300" marR="449580" indent="-228600">
              <a:lnSpc>
                <a:spcPct val="90000"/>
              </a:lnSpc>
              <a:spcBef>
                <a:spcPts val="96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Porém,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quando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precisamos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avaliar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derivadas</a:t>
            </a:r>
            <a:r>
              <a:rPr sz="2600" b="1" i="1" spc="-5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com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respeito</a:t>
            </a:r>
            <a:r>
              <a:rPr sz="2600" b="1" i="1" spc="-7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aos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pesos</a:t>
            </a:r>
            <a:r>
              <a:rPr sz="2600" b="1" i="1" spc="-50" dirty="0">
                <a:latin typeface="Calibri"/>
                <a:cs typeface="Calibri"/>
              </a:rPr>
              <a:t> </a:t>
            </a:r>
            <a:r>
              <a:rPr sz="2600" b="1" i="1" spc="-25" dirty="0">
                <a:latin typeface="Calibri"/>
                <a:cs typeface="Calibri"/>
              </a:rPr>
              <a:t>das </a:t>
            </a:r>
            <a:r>
              <a:rPr sz="2600" b="1" i="1" dirty="0">
                <a:latin typeface="Calibri"/>
                <a:cs typeface="Calibri"/>
              </a:rPr>
              <a:t>camadas</a:t>
            </a:r>
            <a:r>
              <a:rPr sz="2600" b="1" i="1" spc="-5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anteriores</a:t>
            </a:r>
            <a:r>
              <a:rPr sz="2600" b="1" i="1" spc="-5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(i.e.,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ocultas)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situação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fica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mais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complexa,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pois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não </a:t>
            </a:r>
            <a:r>
              <a:rPr sz="2600" dirty="0">
                <a:latin typeface="Calibri"/>
                <a:cs typeface="Calibri"/>
              </a:rPr>
              <a:t>existe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dependência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direta.</a:t>
            </a:r>
            <a:endParaRPr sz="2600" dirty="0">
              <a:latin typeface="Calibri"/>
              <a:cs typeface="Calibri"/>
            </a:endParaRPr>
          </a:p>
          <a:p>
            <a:pPr marL="241300" marR="257810" indent="-228600">
              <a:lnSpc>
                <a:spcPct val="900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Portanto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surge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pergunta,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podemos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atribuir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cada</a:t>
            </a:r>
            <a:r>
              <a:rPr sz="2600" spc="-10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nó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camada </a:t>
            </a:r>
            <a:r>
              <a:rPr sz="2600" dirty="0">
                <a:latin typeface="Calibri"/>
                <a:cs typeface="Calibri"/>
              </a:rPr>
              <a:t>oculta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rede,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e,</a:t>
            </a:r>
            <a:r>
              <a:rPr sz="2600" spc="-10" dirty="0">
                <a:latin typeface="Calibri"/>
                <a:cs typeface="Calibri"/>
              </a:rPr>
              <a:t> consequentemente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seus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pesos,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sua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devida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influência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na </a:t>
            </a:r>
            <a:r>
              <a:rPr sz="2600" dirty="0">
                <a:latin typeface="Calibri"/>
                <a:cs typeface="Calibri"/>
              </a:rPr>
              <a:t>composição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dos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valores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saída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e,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consequentemente,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erro?</a:t>
            </a:r>
            <a:endParaRPr sz="2600" dirty="0">
              <a:latin typeface="Calibri"/>
              <a:cs typeface="Calibri"/>
            </a:endParaRPr>
          </a:p>
          <a:p>
            <a:pPr marL="698500" marR="157480" lvl="1" indent="-228600">
              <a:lnSpc>
                <a:spcPct val="90000"/>
              </a:lnSpc>
              <a:spcBef>
                <a:spcPts val="520"/>
              </a:spcBef>
              <a:buFont typeface="Wingdings"/>
              <a:buChar char=""/>
              <a:tabLst>
                <a:tab pos="699135" algn="l"/>
              </a:tabLst>
            </a:pPr>
            <a:r>
              <a:rPr sz="2200" spc="-30" dirty="0">
                <a:latin typeface="Calibri"/>
                <a:cs typeface="Calibri"/>
              </a:rPr>
              <a:t>Propaga-</a:t>
            </a:r>
            <a:r>
              <a:rPr sz="2200" dirty="0">
                <a:latin typeface="Calibri"/>
                <a:cs typeface="Calibri"/>
              </a:rPr>
              <a:t>se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erro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calculado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na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saída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rede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neural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para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suas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camadas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anteriores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até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50" dirty="0">
                <a:latin typeface="Calibri"/>
                <a:cs typeface="Calibri"/>
              </a:rPr>
              <a:t>a </a:t>
            </a:r>
            <a:r>
              <a:rPr sz="2200" spc="-10" dirty="0">
                <a:latin typeface="Calibri"/>
                <a:cs typeface="Calibri"/>
              </a:rPr>
              <a:t>primeira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camada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oculta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usando-</a:t>
            </a:r>
            <a:r>
              <a:rPr sz="2200" dirty="0">
                <a:latin typeface="Calibri"/>
                <a:cs typeface="Calibri"/>
              </a:rPr>
              <a:t>se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um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algoritmo,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baseado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na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regra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cadeia,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conhecido </a:t>
            </a:r>
            <a:r>
              <a:rPr sz="2200" dirty="0">
                <a:latin typeface="Calibri"/>
                <a:cs typeface="Calibri"/>
              </a:rPr>
              <a:t>como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backpropagation</a:t>
            </a:r>
            <a:r>
              <a:rPr sz="2200" b="1" i="1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ou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retropropagação</a:t>
            </a:r>
            <a:r>
              <a:rPr sz="2200" b="1" i="1" spc="-2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do</a:t>
            </a:r>
            <a:r>
              <a:rPr sz="2200" b="1" i="1" spc="-30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erro</a:t>
            </a:r>
            <a:r>
              <a:rPr sz="2200" spc="-10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796780" y="1377314"/>
            <a:ext cx="1205230" cy="527685"/>
          </a:xfrm>
          <a:custGeom>
            <a:avLst/>
            <a:gdLst/>
            <a:ahLst/>
            <a:cxnLst/>
            <a:rect l="l" t="t" r="r" b="b"/>
            <a:pathLst>
              <a:path w="1205229" h="527685">
                <a:moveTo>
                  <a:pt x="1132645" y="29126"/>
                </a:moveTo>
                <a:lnTo>
                  <a:pt x="0" y="516000"/>
                </a:lnTo>
                <a:lnTo>
                  <a:pt x="5079" y="527558"/>
                </a:lnTo>
                <a:lnTo>
                  <a:pt x="1137671" y="40832"/>
                </a:lnTo>
                <a:lnTo>
                  <a:pt x="1132645" y="29126"/>
                </a:lnTo>
                <a:close/>
              </a:path>
              <a:path w="1205229" h="527685">
                <a:moveTo>
                  <a:pt x="1189043" y="24130"/>
                </a:moveTo>
                <a:lnTo>
                  <a:pt x="1144270" y="24130"/>
                </a:lnTo>
                <a:lnTo>
                  <a:pt x="1149350" y="35813"/>
                </a:lnTo>
                <a:lnTo>
                  <a:pt x="1137671" y="40832"/>
                </a:lnTo>
                <a:lnTo>
                  <a:pt x="1150239" y="70104"/>
                </a:lnTo>
                <a:lnTo>
                  <a:pt x="1189043" y="24130"/>
                </a:lnTo>
                <a:close/>
              </a:path>
              <a:path w="1205229" h="527685">
                <a:moveTo>
                  <a:pt x="1144270" y="24130"/>
                </a:moveTo>
                <a:lnTo>
                  <a:pt x="1132645" y="29126"/>
                </a:lnTo>
                <a:lnTo>
                  <a:pt x="1137671" y="40832"/>
                </a:lnTo>
                <a:lnTo>
                  <a:pt x="1149350" y="35813"/>
                </a:lnTo>
                <a:lnTo>
                  <a:pt x="1144270" y="24130"/>
                </a:lnTo>
                <a:close/>
              </a:path>
              <a:path w="1205229" h="527685">
                <a:moveTo>
                  <a:pt x="1120140" y="0"/>
                </a:moveTo>
                <a:lnTo>
                  <a:pt x="1132645" y="29126"/>
                </a:lnTo>
                <a:lnTo>
                  <a:pt x="1144270" y="24130"/>
                </a:lnTo>
                <a:lnTo>
                  <a:pt x="1189043" y="24130"/>
                </a:lnTo>
                <a:lnTo>
                  <a:pt x="1205229" y="4952"/>
                </a:lnTo>
                <a:lnTo>
                  <a:pt x="112014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CE269E38-DE06-B725-5C13-12BE31A4AC75}"/>
                  </a:ext>
                </a:extLst>
              </p:cNvPr>
              <p:cNvSpPr txBox="1"/>
              <p:nvPr/>
            </p:nvSpPr>
            <p:spPr>
              <a:xfrm>
                <a:off x="7339032" y="789978"/>
                <a:ext cx="4548168" cy="8102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𝑗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pt-BR" b="0" i="0" smtClean="0">
                                  <a:latin typeface="Cambria Math" panose="02040503050406030204" pitchFamily="18" charset="0"/>
                                </a:rPr>
                                <m:t>dados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pt-B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pt-BR" b="0" i="0" smtClean="0">
                                  <a:latin typeface="Cambria Math" panose="02040503050406030204" pitchFamily="18" charset="0"/>
                                </a:rPr>
                                <m:t>dados</m:t>
                              </m:r>
                            </m:sub>
                          </m:sSub>
                        </m:sup>
                        <m:e>
                          <m:nary>
                            <m:naryPr>
                              <m:chr m:val="∑"/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brk m:alnAt="23"/>
                                </m:r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sub>
                              </m:sSub>
                            </m:sup>
                            <m:e>
                              <m:sSup>
                                <m:sSup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</m:d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Sup>
                                        <m:sSubSupPr>
                                          <m:ctrlP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  <m:sup>
                                          <m: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sup>
                                      </m:sSubSup>
                                      <m:d>
                                        <m:dPr>
                                          <m:ctrlP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nary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CE269E38-DE06-B725-5C13-12BE31A4AC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9032" y="789978"/>
                <a:ext cx="4548168" cy="81022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6761627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39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Retropropagação</a:t>
            </a:r>
            <a:r>
              <a:rPr spc="-125" dirty="0"/>
              <a:t> </a:t>
            </a:r>
            <a:r>
              <a:rPr dirty="0"/>
              <a:t>do</a:t>
            </a:r>
            <a:r>
              <a:rPr spc="-114" dirty="0"/>
              <a:t> </a:t>
            </a:r>
            <a:r>
              <a:rPr spc="-20" dirty="0"/>
              <a:t>Erro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658188"/>
            <a:ext cx="10736580" cy="1732914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41300" marR="5080" indent="-228600">
              <a:lnSpc>
                <a:spcPts val="3030"/>
              </a:lnSpc>
              <a:spcBef>
                <a:spcPts val="4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seguir,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veremos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maneira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mais</a:t>
            </a:r>
            <a:r>
              <a:rPr sz="2800" spc="-12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sistemática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retropropagação </a:t>
            </a:r>
            <a:r>
              <a:rPr sz="2800" b="1" i="1" dirty="0">
                <a:latin typeface="Calibri"/>
                <a:cs typeface="Calibri"/>
              </a:rPr>
              <a:t>do</a:t>
            </a:r>
            <a:r>
              <a:rPr sz="2800" b="1" i="1" spc="-3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erro</a:t>
            </a:r>
            <a:r>
              <a:rPr sz="2800" b="1" i="1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realizada.</a:t>
            </a:r>
            <a:endParaRPr sz="2800" dirty="0">
              <a:latin typeface="Calibri"/>
              <a:cs typeface="Calibri"/>
            </a:endParaRPr>
          </a:p>
          <a:p>
            <a:pPr marL="241300" marR="212725" indent="-228600">
              <a:lnSpc>
                <a:spcPts val="302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Inicialmente,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nós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devemos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observar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fato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fundamental.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cálculo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da </a:t>
            </a:r>
            <a:r>
              <a:rPr sz="2800" dirty="0">
                <a:latin typeface="Calibri"/>
                <a:cs typeface="Calibri"/>
              </a:rPr>
              <a:t>derivada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MSE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respeito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peso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qualquer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dada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por: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16939" y="4324079"/>
            <a:ext cx="10961370" cy="247078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698500" indent="-229235">
              <a:lnSpc>
                <a:spcPct val="100000"/>
              </a:lnSpc>
              <a:spcBef>
                <a:spcPts val="305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b="1" dirty="0">
                <a:latin typeface="Calibri"/>
                <a:cs typeface="Calibri"/>
              </a:rPr>
              <a:t>OBS.1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Operação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derivada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parcial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distributiva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698500" indent="-229235">
              <a:lnSpc>
                <a:spcPct val="100000"/>
              </a:lnSpc>
              <a:spcBef>
                <a:spcPts val="209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b="1" dirty="0">
                <a:latin typeface="Calibri"/>
                <a:cs typeface="Calibri"/>
              </a:rPr>
              <a:t>OBS.2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divisão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pelo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número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amostras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omitida,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pois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não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afeta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otimização.</a:t>
            </a:r>
            <a:endParaRPr sz="2400" dirty="0">
              <a:latin typeface="Calibri"/>
              <a:cs typeface="Calibri"/>
            </a:endParaRPr>
          </a:p>
          <a:p>
            <a:pPr marL="241300" marR="5080" indent="-228600">
              <a:lnSpc>
                <a:spcPts val="304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equação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acima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mostra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necessário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calcular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derivada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parcial </a:t>
            </a:r>
            <a:r>
              <a:rPr sz="2800" dirty="0">
                <a:latin typeface="Calibri"/>
                <a:cs typeface="Calibri"/>
              </a:rPr>
              <a:t>apenas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quadrado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erro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associado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ao</a:t>
            </a:r>
            <a:r>
              <a:rPr sz="2800" spc="-140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𝑛</a:t>
            </a:r>
            <a:r>
              <a:rPr sz="2800" dirty="0">
                <a:latin typeface="Calibri"/>
                <a:cs typeface="Calibri"/>
              </a:rPr>
              <a:t>-ésimo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exemplo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entrada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da</a:t>
            </a:r>
            <a:endParaRPr sz="2800" dirty="0">
              <a:latin typeface="Calibri"/>
              <a:cs typeface="Calibri"/>
            </a:endParaRPr>
          </a:p>
          <a:p>
            <a:pPr marL="241300" marR="1628139">
              <a:lnSpc>
                <a:spcPts val="3010"/>
              </a:lnSpc>
              <a:spcBef>
                <a:spcPts val="5"/>
              </a:spcBef>
            </a:pPr>
            <a:r>
              <a:rPr sz="2800" dirty="0">
                <a:latin typeface="Cambria Math"/>
                <a:cs typeface="Cambria Math"/>
              </a:rPr>
              <a:t>𝑘</a:t>
            </a:r>
            <a:r>
              <a:rPr sz="2800" dirty="0">
                <a:latin typeface="Calibri"/>
                <a:cs typeface="Calibri"/>
              </a:rPr>
              <a:t>-ésima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saída,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pois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gradiente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será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média</a:t>
            </a:r>
            <a:r>
              <a:rPr sz="2800" b="1" i="1" spc="-5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destes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gradientes </a:t>
            </a:r>
            <a:r>
              <a:rPr sz="2800" b="1" i="1" dirty="0">
                <a:latin typeface="Calibri"/>
                <a:cs typeface="Calibri"/>
              </a:rPr>
              <a:t>particulares</a:t>
            </a:r>
            <a:r>
              <a:rPr sz="2800" b="1" i="1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(ou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locais</a:t>
            </a:r>
            <a:r>
              <a:rPr sz="2800" spc="-10" dirty="0">
                <a:latin typeface="Calibri"/>
                <a:cs typeface="Calibri"/>
              </a:rPr>
              <a:t>).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569956" y="3624834"/>
            <a:ext cx="1059180" cy="6680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034" marR="5080" indent="-13970" algn="just">
              <a:lnSpc>
                <a:spcPct val="100400"/>
              </a:lnSpc>
              <a:spcBef>
                <a:spcPts val="95"/>
              </a:spcBef>
            </a:pPr>
            <a:r>
              <a:rPr sz="1400" b="1" dirty="0">
                <a:latin typeface="Calibri"/>
                <a:cs typeface="Calibri"/>
              </a:rPr>
              <a:t>OBS.</a:t>
            </a:r>
            <a:r>
              <a:rPr sz="1400" dirty="0">
                <a:latin typeface="Calibri"/>
                <a:cs typeface="Calibri"/>
              </a:rPr>
              <a:t>: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mudei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o </a:t>
            </a:r>
            <a:r>
              <a:rPr sz="1400" dirty="0">
                <a:latin typeface="Calibri"/>
                <a:cs typeface="Calibri"/>
              </a:rPr>
              <a:t>índice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do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erro </a:t>
            </a:r>
            <a:r>
              <a:rPr sz="1400" dirty="0">
                <a:latin typeface="Calibri"/>
                <a:cs typeface="Calibri"/>
              </a:rPr>
              <a:t>de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mbria Math"/>
                <a:cs typeface="Cambria Math"/>
              </a:rPr>
              <a:t>𝑗</a:t>
            </a:r>
            <a:r>
              <a:rPr sz="1400" spc="5" dirty="0">
                <a:latin typeface="Cambria Math"/>
                <a:cs typeface="Cambria Math"/>
              </a:rPr>
              <a:t> </a:t>
            </a:r>
            <a:r>
              <a:rPr sz="1400" dirty="0">
                <a:latin typeface="Calibri"/>
                <a:cs typeface="Calibri"/>
              </a:rPr>
              <a:t>para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25" dirty="0">
                <a:latin typeface="Cambria Math"/>
                <a:cs typeface="Cambria Math"/>
              </a:rPr>
              <a:t>𝑘</a:t>
            </a:r>
            <a:r>
              <a:rPr sz="1400" spc="-25" dirty="0">
                <a:latin typeface="Calibri"/>
                <a:cs typeface="Calibri"/>
              </a:rPr>
              <a:t>.</a:t>
            </a:r>
            <a:endParaRPr sz="140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A3B73D9E-A398-08C9-B651-BBE1F5E98988}"/>
                  </a:ext>
                </a:extLst>
              </p:cNvPr>
              <p:cNvSpPr txBox="1"/>
              <p:nvPr/>
            </p:nvSpPr>
            <p:spPr>
              <a:xfrm>
                <a:off x="2292041" y="3406326"/>
                <a:ext cx="7607917" cy="9239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d>
                            <m:d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</m:d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bSup>
                        </m:den>
                      </m:f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nary>
                            <m:naryPr>
                              <m:chr m:val="∑"/>
                              <m:limLoc m:val="subSup"/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pt-BR" sz="2400" b="0" i="0" smtClean="0">
                                      <a:latin typeface="Cambria Math" panose="02040503050406030204" pitchFamily="18" charset="0"/>
                                    </a:rPr>
                                    <m:t>dados</m:t>
                                  </m:r>
                                </m:sub>
                              </m:sSub>
                            </m:sup>
                            <m:e>
                              <m:nary>
                                <m:naryPr>
                                  <m:chr m:val="∑"/>
                                  <m:limLoc m:val="subSup"/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5"/>
                                    </m:r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sSub>
                                    <m:sSubPr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sub>
                                  </m:sSub>
                                </m:sup>
                                <m:e>
                                  <m:sSubSup>
                                    <m:sSubSupPr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b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  <m:sup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nary>
                            </m:e>
                          </m:nary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bSup>
                        </m:den>
                      </m:f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sSub>
                            <m:sSub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pt-BR" sz="2400" b="0" i="0" smtClean="0">
                                  <a:latin typeface="Cambria Math" panose="02040503050406030204" pitchFamily="18" charset="0"/>
                                </a:rPr>
                                <m:t>dados</m:t>
                              </m:r>
                            </m:sub>
                          </m:sSub>
                        </m:sup>
                        <m:e>
                          <m:nary>
                            <m:naryPr>
                              <m:chr m:val="∑"/>
                              <m:limLoc m:val="subSup"/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sub>
                              </m:sSub>
                            </m:sup>
                            <m:e>
                              <m:f>
                                <m:f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Sup>
                                    <m:sSubSupPr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b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  <m:sup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d>
                                    <m:dPr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Sup>
                                    <m:sSubSupPr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  <m:sup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p>
                                  </m:sSubSup>
                                </m:den>
                              </m:f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 .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A3B73D9E-A398-08C9-B651-BBE1F5E989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2041" y="3406326"/>
                <a:ext cx="7607917" cy="92397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128844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648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Retropropagação:</a:t>
            </a:r>
            <a:r>
              <a:rPr spc="-85" dirty="0"/>
              <a:t> </a:t>
            </a:r>
            <a:r>
              <a:rPr dirty="0"/>
              <a:t>Algumas</a:t>
            </a:r>
            <a:r>
              <a:rPr spc="-110" dirty="0"/>
              <a:t> </a:t>
            </a:r>
            <a:r>
              <a:rPr dirty="0"/>
              <a:t>noções</a:t>
            </a:r>
            <a:r>
              <a:rPr spc="-60" dirty="0"/>
              <a:t> </a:t>
            </a:r>
            <a:r>
              <a:rPr spc="-10" dirty="0"/>
              <a:t>básicas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15"/>
              <p:cNvSpPr txBox="1"/>
              <p:nvPr/>
            </p:nvSpPr>
            <p:spPr>
              <a:xfrm>
                <a:off x="816336" y="3085033"/>
                <a:ext cx="10726420" cy="752770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241300" indent="-228600">
                  <a:spcBef>
                    <a:spcPts val="100"/>
                  </a:spcBef>
                  <a:buFont typeface="Arial"/>
                  <a:buChar char="•"/>
                  <a:tabLst>
                    <a:tab pos="241300" algn="l"/>
                  </a:tabLst>
                </a:pPr>
                <a:r>
                  <a:rPr lang="pt-BR" sz="2400" dirty="0">
                    <a:latin typeface="Calibri"/>
                    <a:cs typeface="Calibri"/>
                  </a:rPr>
                  <a:t>A</a:t>
                </a:r>
                <a:r>
                  <a:rPr lang="pt-BR" sz="2400" spc="-3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primeira</a:t>
                </a:r>
                <a:r>
                  <a:rPr lang="pt-BR" sz="2400" spc="-4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derivada</a:t>
                </a:r>
                <a:r>
                  <a:rPr lang="pt-BR" sz="2400" spc="-2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após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a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igualdade</a:t>
                </a:r>
                <a:r>
                  <a:rPr lang="pt-BR" sz="2400" spc="-3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é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a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derivada</a:t>
                </a:r>
                <a:r>
                  <a:rPr lang="pt-BR" sz="2400" spc="-2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da</a:t>
                </a:r>
                <a:r>
                  <a:rPr lang="pt-BR" sz="2400" spc="-95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função</a:t>
                </a:r>
                <a:r>
                  <a:rPr lang="pt-BR" sz="2400" b="1" i="1" spc="-25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de</a:t>
                </a:r>
                <a:r>
                  <a:rPr lang="pt-BR" sz="2400" b="1" i="1" spc="-45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custo</a:t>
                </a:r>
                <a:r>
                  <a:rPr lang="pt-BR" sz="2400" b="1" i="1" spc="-2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com</a:t>
                </a:r>
                <a:r>
                  <a:rPr lang="pt-BR" sz="2400" spc="-50" dirty="0">
                    <a:latin typeface="Calibri"/>
                    <a:cs typeface="Calibri"/>
                  </a:rPr>
                  <a:t> </a:t>
                </a:r>
                <a:r>
                  <a:rPr lang="pt-BR" sz="2400" dirty="0" err="1">
                    <a:latin typeface="Calibri"/>
                    <a:cs typeface="Calibri"/>
                  </a:rPr>
                  <a:t>respeito</a:t>
                </a:r>
                <a:r>
                  <a:rPr lang="pt-BR" sz="2400" spc="-35" dirty="0">
                    <a:latin typeface="Calibri"/>
                    <a:cs typeface="Calibri"/>
                  </a:rPr>
                  <a:t> </a:t>
                </a:r>
                <a:r>
                  <a:rPr lang="pt-BR" sz="2400" spc="-50" dirty="0">
                    <a:latin typeface="Calibri"/>
                    <a:cs typeface="Calibri"/>
                  </a:rPr>
                  <a:t>à </a:t>
                </a:r>
                <a:r>
                  <a:rPr lang="pt-BR" sz="2400" b="1" i="1" dirty="0">
                    <a:latin typeface="Calibri"/>
                    <a:cs typeface="Calibri"/>
                  </a:rPr>
                  <a:t>ativação</a:t>
                </a:r>
                <a:r>
                  <a:rPr lang="pt-BR" sz="2400" dirty="0">
                    <a:latin typeface="Calibri"/>
                    <a:cs typeface="Calibri"/>
                  </a:rPr>
                  <a:t>,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pt-BR" sz="2400" b="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Sup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  <a:cs typeface="Calibri"/>
                          </a:rPr>
                          <m:t>𝑢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  <a:cs typeface="Calibri"/>
                          </a:rPr>
                          <m:t>𝑖</m:t>
                        </m:r>
                      </m:sub>
                      <m:sup>
                        <m:r>
                          <a:rPr lang="pt-BR" sz="2400" b="0" i="1" smtClean="0">
                            <a:latin typeface="Cambria Math" panose="02040503050406030204" pitchFamily="18" charset="0"/>
                            <a:cs typeface="Calibri"/>
                          </a:rPr>
                          <m:t>𝑚</m:t>
                        </m:r>
                      </m:sup>
                    </m:sSubSup>
                  </m:oMath>
                </a14:m>
                <a:r>
                  <a:rPr lang="pt-BR" sz="2400" spc="114" dirty="0">
                    <a:latin typeface="Calibri"/>
                    <a:cs typeface="Calibri"/>
                  </a:rPr>
                  <a:t>,</a:t>
                </a:r>
                <a:r>
                  <a:rPr lang="pt-BR" sz="2400" spc="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do</a:t>
                </a:r>
                <a:r>
                  <a:rPr lang="pt-BR" sz="2400" spc="-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mbria Math"/>
                    <a:cs typeface="Cambria Math"/>
                  </a:rPr>
                  <a:t>𝑖</a:t>
                </a:r>
                <a:r>
                  <a:rPr lang="pt-BR" sz="2400" dirty="0">
                    <a:latin typeface="Calibri"/>
                    <a:cs typeface="Calibri"/>
                  </a:rPr>
                  <a:t>-</a:t>
                </a:r>
                <a:r>
                  <a:rPr lang="pt-BR" sz="2400" dirty="0" err="1">
                    <a:latin typeface="Calibri"/>
                    <a:cs typeface="Calibri"/>
                  </a:rPr>
                  <a:t>ésimo</a:t>
                </a:r>
                <a:r>
                  <a:rPr lang="pt-BR" sz="2400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nó</a:t>
                </a:r>
                <a:r>
                  <a:rPr lang="pt-BR" sz="2400" b="1" i="1" spc="-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da</a:t>
                </a:r>
                <a:r>
                  <a:rPr lang="pt-BR" sz="2400" spc="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mbria Math"/>
                    <a:cs typeface="Cambria Math"/>
                  </a:rPr>
                  <a:t>𝑚</a:t>
                </a:r>
                <a:r>
                  <a:rPr lang="pt-BR" sz="2400" dirty="0">
                    <a:latin typeface="Calibri"/>
                    <a:cs typeface="Calibri"/>
                  </a:rPr>
                  <a:t>-</a:t>
                </a:r>
                <a:r>
                  <a:rPr lang="pt-BR" sz="2400" dirty="0" err="1">
                    <a:latin typeface="Calibri"/>
                    <a:cs typeface="Calibri"/>
                  </a:rPr>
                  <a:t>ésima</a:t>
                </a:r>
                <a:r>
                  <a:rPr lang="pt-BR" sz="2400" dirty="0">
                    <a:latin typeface="Calibri"/>
                    <a:cs typeface="Calibri"/>
                  </a:rPr>
                  <a:t> </a:t>
                </a:r>
                <a:r>
                  <a:rPr lang="pt-BR" sz="2400" spc="-10" dirty="0">
                    <a:latin typeface="Calibri"/>
                    <a:cs typeface="Calibri"/>
                  </a:rPr>
                  <a:t>camada.</a:t>
                </a:r>
                <a:endParaRPr sz="24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5" name="object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336" y="3085033"/>
                <a:ext cx="10726420" cy="752770"/>
              </a:xfrm>
              <a:prstGeom prst="rect">
                <a:avLst/>
              </a:prstGeom>
              <a:blipFill>
                <a:blip r:embed="rId2"/>
                <a:stretch>
                  <a:fillRect l="-1535" t="-10484" r="-1819" b="-2338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object 17"/>
          <p:cNvSpPr txBox="1"/>
          <p:nvPr/>
        </p:nvSpPr>
        <p:spPr>
          <a:xfrm>
            <a:off x="816336" y="3978442"/>
            <a:ext cx="10617200" cy="5464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70000"/>
              </a:lnSpc>
              <a:spcBef>
                <a:spcPts val="695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Essa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grandeza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será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chamada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sensibilidade</a:t>
            </a:r>
            <a:r>
              <a:rPr sz="2400" b="1" i="1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denotada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pela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letra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grega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𝛿</a:t>
            </a:r>
            <a:r>
              <a:rPr sz="2400" dirty="0">
                <a:latin typeface="Calibri"/>
                <a:cs typeface="Calibri"/>
              </a:rPr>
              <a:t>.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Desta forma:</a:t>
            </a:r>
            <a:endParaRPr sz="2400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object 24"/>
              <p:cNvSpPr txBox="1"/>
              <p:nvPr/>
            </p:nvSpPr>
            <p:spPr>
              <a:xfrm>
                <a:off x="816336" y="4820092"/>
                <a:ext cx="7075805" cy="391774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266700" indent="-228600">
                  <a:lnSpc>
                    <a:spcPct val="100000"/>
                  </a:lnSpc>
                  <a:spcBef>
                    <a:spcPts val="100"/>
                  </a:spcBef>
                  <a:buFont typeface="Arial"/>
                  <a:buChar char="•"/>
                  <a:tabLst>
                    <a:tab pos="266700" algn="l"/>
                  </a:tabLst>
                </a:pPr>
                <a:r>
                  <a:rPr lang="pt-BR" sz="2400" dirty="0">
                    <a:latin typeface="Calibri"/>
                    <a:cs typeface="Calibri"/>
                  </a:rPr>
                  <a:t>O</a:t>
                </a:r>
                <a:r>
                  <a:rPr lang="pt-BR" sz="2400" spc="-20" dirty="0">
                    <a:latin typeface="Calibri"/>
                    <a:cs typeface="Calibri"/>
                  </a:rPr>
                  <a:t> </a:t>
                </a:r>
                <a:r>
                  <a:rPr lang="pt-BR" sz="2400" dirty="0" err="1">
                    <a:latin typeface="Calibri"/>
                    <a:cs typeface="Calibri"/>
                  </a:rPr>
                  <a:t>termo</a:t>
                </a:r>
                <a:r>
                  <a:rPr lang="pt-BR" sz="2400" spc="-30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pt-BR" sz="2400" b="0" i="1" spc="-3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SupPr>
                      <m:e>
                        <m:r>
                          <a:rPr lang="pt-BR" sz="2400" b="0" i="1" spc="-30" smtClean="0">
                            <a:latin typeface="Cambria Math" panose="02040503050406030204" pitchFamily="18" charset="0"/>
                            <a:cs typeface="Calibri"/>
                          </a:rPr>
                          <m:t>𝛿</m:t>
                        </m:r>
                      </m:e>
                      <m:sub>
                        <m:r>
                          <a:rPr lang="pt-BR" sz="2400" b="0" i="1" spc="-30" smtClean="0">
                            <a:latin typeface="Cambria Math" panose="02040503050406030204" pitchFamily="18" charset="0"/>
                            <a:cs typeface="Calibri"/>
                          </a:rPr>
                          <m:t>𝑖</m:t>
                        </m:r>
                      </m:sub>
                      <m:sup>
                        <m:r>
                          <a:rPr lang="pt-BR" sz="2400" b="0" i="1" spc="-30" smtClean="0">
                            <a:latin typeface="Cambria Math" panose="02040503050406030204" pitchFamily="18" charset="0"/>
                            <a:cs typeface="Calibri"/>
                          </a:rPr>
                          <m:t>𝑚</m:t>
                        </m:r>
                      </m:sup>
                    </m:sSubSup>
                  </m:oMath>
                </a14:m>
                <a:r>
                  <a:rPr lang="pt-BR" sz="2400" dirty="0">
                    <a:latin typeface="Calibri"/>
                    <a:cs typeface="Calibri"/>
                  </a:rPr>
                  <a:t>é</a:t>
                </a:r>
                <a:r>
                  <a:rPr lang="pt-BR" sz="2400" spc="-2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único</a:t>
                </a:r>
                <a:r>
                  <a:rPr lang="pt-BR" sz="2400" spc="-2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para</a:t>
                </a:r>
                <a:r>
                  <a:rPr lang="pt-BR" sz="2400" spc="-1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cada</a:t>
                </a:r>
                <a:r>
                  <a:rPr lang="pt-BR" sz="2400" spc="-15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nó</a:t>
                </a:r>
                <a:r>
                  <a:rPr lang="pt-BR" sz="2400" b="1" i="1" spc="-2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da</a:t>
                </a:r>
                <a:r>
                  <a:rPr lang="pt-BR" sz="2400" spc="-1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mbria Math"/>
                    <a:cs typeface="Cambria Math"/>
                  </a:rPr>
                  <a:t>𝑚</a:t>
                </a:r>
                <a:r>
                  <a:rPr lang="pt-BR" sz="2400" dirty="0">
                    <a:latin typeface="Calibri"/>
                    <a:cs typeface="Calibri"/>
                  </a:rPr>
                  <a:t>-ésima</a:t>
                </a:r>
                <a:r>
                  <a:rPr lang="pt-BR" sz="2400" spc="-5" dirty="0">
                    <a:latin typeface="Calibri"/>
                    <a:cs typeface="Calibri"/>
                  </a:rPr>
                  <a:t> </a:t>
                </a:r>
                <a:r>
                  <a:rPr lang="pt-BR" sz="2400" spc="-10" dirty="0">
                    <a:latin typeface="Calibri"/>
                    <a:cs typeface="Calibri"/>
                  </a:rPr>
                  <a:t>camada.</a:t>
                </a:r>
                <a:endParaRPr sz="24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24" name="object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336" y="4820092"/>
                <a:ext cx="7075805" cy="391774"/>
              </a:xfrm>
              <a:prstGeom prst="rect">
                <a:avLst/>
              </a:prstGeom>
              <a:blipFill>
                <a:blip r:embed="rId3"/>
                <a:stretch>
                  <a:fillRect l="-1981" t="-25000" r="-775" b="-4375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object 25"/>
              <p:cNvSpPr txBox="1"/>
              <p:nvPr/>
            </p:nvSpPr>
            <p:spPr>
              <a:xfrm>
                <a:off x="816336" y="5324569"/>
                <a:ext cx="10271760" cy="1152431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241300" indent="-228600">
                  <a:spcBef>
                    <a:spcPts val="100"/>
                  </a:spcBef>
                  <a:buFont typeface="Arial"/>
                  <a:buChar char="•"/>
                  <a:tabLst>
                    <a:tab pos="241300" algn="l"/>
                  </a:tabLst>
                </a:pPr>
                <a:r>
                  <a:rPr lang="pt-BR" sz="2400" dirty="0">
                    <a:latin typeface="Calibri"/>
                    <a:cs typeface="Calibri"/>
                  </a:rPr>
                  <a:t>O</a:t>
                </a:r>
                <a:r>
                  <a:rPr lang="pt-BR" sz="2400" spc="-3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outro</a:t>
                </a:r>
                <a:r>
                  <a:rPr lang="pt-BR" sz="2400" spc="-3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termo,</a:t>
                </a:r>
                <a:r>
                  <a:rPr lang="pt-BR" sz="2400" spc="-4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por</a:t>
                </a:r>
                <a:r>
                  <a:rPr lang="pt-BR" sz="2400" spc="-3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sua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vez,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varia</a:t>
                </a:r>
                <a:r>
                  <a:rPr lang="pt-BR" sz="2400" spc="-3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ao</a:t>
                </a:r>
                <a:r>
                  <a:rPr lang="pt-BR" sz="2400" spc="-3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longo</a:t>
                </a:r>
                <a:r>
                  <a:rPr lang="pt-BR" sz="2400" spc="-3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das</a:t>
                </a:r>
                <a:r>
                  <a:rPr lang="pt-BR" sz="2400" spc="-3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entradas</a:t>
                </a:r>
                <a:r>
                  <a:rPr lang="pt-BR" sz="2400" spc="-3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do</a:t>
                </a:r>
                <a:r>
                  <a:rPr lang="pt-BR" sz="2400" spc="-95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nó</a:t>
                </a:r>
                <a:r>
                  <a:rPr lang="pt-BR" sz="2400" b="1" i="1" spc="-2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em</a:t>
                </a:r>
                <a:r>
                  <a:rPr lang="pt-BR" sz="2400" spc="-3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questão.</a:t>
                </a:r>
                <a:r>
                  <a:rPr lang="pt-BR" sz="2400" spc="-50" dirty="0">
                    <a:latin typeface="Calibri"/>
                    <a:cs typeface="Calibri"/>
                  </a:rPr>
                  <a:t> </a:t>
                </a:r>
                <a:r>
                  <a:rPr lang="pt-BR" sz="2400" spc="-20" dirty="0">
                    <a:latin typeface="Calibri"/>
                    <a:cs typeface="Calibri"/>
                  </a:rPr>
                  <a:t>Como </a:t>
                </a:r>
                <a:r>
                  <a:rPr lang="pt-BR" sz="2400" dirty="0">
                    <a:latin typeface="Calibri"/>
                    <a:cs typeface="Calibri"/>
                  </a:rPr>
                  <a:t>adotamos</a:t>
                </a:r>
                <a:r>
                  <a:rPr lang="pt-BR" sz="2400" spc="-4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nós</a:t>
                </a:r>
                <a:r>
                  <a:rPr lang="pt-BR" sz="2400" spc="-3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do</a:t>
                </a:r>
                <a:r>
                  <a:rPr lang="pt-BR" sz="2400" spc="-50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tipo</a:t>
                </a:r>
                <a:r>
                  <a:rPr lang="pt-BR" sz="2400" b="1" i="1" spc="-25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 err="1">
                    <a:latin typeface="Calibri"/>
                    <a:cs typeface="Calibri"/>
                  </a:rPr>
                  <a:t>perceptron</a:t>
                </a:r>
                <a:r>
                  <a:rPr lang="pt-BR" sz="2400" dirty="0">
                    <a:latin typeface="Calibri"/>
                    <a:cs typeface="Calibri"/>
                  </a:rPr>
                  <a:t>,</a:t>
                </a:r>
                <a:r>
                  <a:rPr lang="pt-BR" sz="2400" spc="-2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a</a:t>
                </a:r>
                <a:r>
                  <a:rPr lang="pt-BR" sz="2400" spc="-30" dirty="0">
                    <a:latin typeface="Calibri"/>
                    <a:cs typeface="Calibri"/>
                  </a:rPr>
                  <a:t> </a:t>
                </a:r>
                <a:r>
                  <a:rPr lang="pt-BR" sz="2400" spc="-10" dirty="0">
                    <a:latin typeface="Calibri"/>
                    <a:cs typeface="Calibri"/>
                  </a:rPr>
                  <a:t>ativação, </a:t>
                </a:r>
                <a14:m>
                  <m:oMath xmlns:m="http://schemas.openxmlformats.org/officeDocument/2006/math">
                    <m:r>
                      <a:rPr lang="pt-BR" sz="2400" b="0" i="0" spc="-10" smtClean="0">
                        <a:latin typeface="Cambria Math" panose="02040503050406030204" pitchFamily="18" charset="0"/>
                        <a:cs typeface="Calibri"/>
                      </a:rPr>
                      <m:t> </m:t>
                    </m:r>
                    <m:sSubSup>
                      <m:sSubSupPr>
                        <m:ctrlPr>
                          <a:rPr lang="pt-BR" sz="2400" b="0" i="1" spc="-1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SupPr>
                      <m:e>
                        <m:r>
                          <a:rPr lang="pt-BR" sz="2400" b="0" i="1" spc="-10" smtClean="0">
                            <a:latin typeface="Cambria Math" panose="02040503050406030204" pitchFamily="18" charset="0"/>
                            <a:cs typeface="Calibri"/>
                          </a:rPr>
                          <m:t>𝑢</m:t>
                        </m:r>
                      </m:e>
                      <m:sub>
                        <m:r>
                          <a:rPr lang="pt-BR" sz="2400" b="0" i="1" spc="-10" smtClean="0">
                            <a:latin typeface="Cambria Math" panose="02040503050406030204" pitchFamily="18" charset="0"/>
                            <a:cs typeface="Calibri"/>
                          </a:rPr>
                          <m:t>𝑖</m:t>
                        </m:r>
                      </m:sub>
                      <m:sup>
                        <m:r>
                          <a:rPr lang="pt-BR" sz="2400" b="0" i="1" spc="-10" smtClean="0">
                            <a:latin typeface="Cambria Math" panose="02040503050406030204" pitchFamily="18" charset="0"/>
                            <a:cs typeface="Calibri"/>
                          </a:rPr>
                          <m:t>𝑚</m:t>
                        </m:r>
                      </m:sup>
                    </m:sSubSup>
                  </m:oMath>
                </a14:m>
                <a:r>
                  <a:rPr lang="pt-BR" sz="2400" spc="114" dirty="0">
                    <a:latin typeface="Calibri"/>
                    <a:cs typeface="Calibri"/>
                  </a:rPr>
                  <a:t>,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é</a:t>
                </a:r>
                <a:r>
                  <a:rPr lang="pt-BR" sz="2400" spc="-4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uma</a:t>
                </a:r>
                <a:r>
                  <a:rPr lang="pt-BR" sz="2400" spc="-20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combinação</a:t>
                </a:r>
                <a:r>
                  <a:rPr lang="pt-BR" sz="2400" b="1" i="1" spc="-55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linear</a:t>
                </a:r>
                <a:r>
                  <a:rPr lang="pt-BR" sz="2400" b="1" i="1" spc="-25" dirty="0">
                    <a:latin typeface="Calibri"/>
                    <a:cs typeface="Calibri"/>
                  </a:rPr>
                  <a:t> </a:t>
                </a:r>
                <a:r>
                  <a:rPr lang="pt-BR" sz="2400" spc="-25" dirty="0">
                    <a:latin typeface="Calibri"/>
                    <a:cs typeface="Calibri"/>
                  </a:rPr>
                  <a:t>das entradas</a:t>
                </a:r>
                <a:endParaRPr lang="pt-BR" sz="24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25" name="object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336" y="5324569"/>
                <a:ext cx="10271760" cy="1152431"/>
              </a:xfrm>
              <a:prstGeom prst="rect">
                <a:avLst/>
              </a:prstGeom>
              <a:blipFill>
                <a:blip r:embed="rId4"/>
                <a:stretch>
                  <a:fillRect l="-1602" t="-6842" r="-1899" b="-1210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object 29"/>
          <p:cNvSpPr txBox="1"/>
          <p:nvPr/>
        </p:nvSpPr>
        <p:spPr>
          <a:xfrm>
            <a:off x="7010400" y="4297807"/>
            <a:ext cx="2142235" cy="3729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7820">
              <a:lnSpc>
                <a:spcPts val="1380"/>
              </a:lnSpc>
              <a:spcBef>
                <a:spcPts val="100"/>
              </a:spcBef>
            </a:pPr>
            <a:r>
              <a:rPr sz="1400" b="1" dirty="0">
                <a:latin typeface="Calibri"/>
                <a:cs typeface="Calibri"/>
              </a:rPr>
              <a:t>Sensibilidade</a:t>
            </a:r>
            <a:r>
              <a:rPr sz="1400" b="1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do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dirty="0">
                <a:latin typeface="Cambria Math"/>
                <a:cs typeface="Cambria Math"/>
              </a:rPr>
              <a:t>𝑖</a:t>
            </a:r>
            <a:r>
              <a:rPr sz="1400" dirty="0">
                <a:latin typeface="Calibri"/>
                <a:cs typeface="Calibri"/>
              </a:rPr>
              <a:t>-</a:t>
            </a:r>
            <a:r>
              <a:rPr sz="1400" spc="-10" dirty="0" err="1">
                <a:latin typeface="Calibri"/>
                <a:cs typeface="Calibri"/>
              </a:rPr>
              <a:t>ésimo</a:t>
            </a:r>
            <a:r>
              <a:rPr lang="pt-BR" sz="1400" spc="-10" dirty="0">
                <a:latin typeface="Calibri"/>
                <a:cs typeface="Calibri"/>
              </a:rPr>
              <a:t> </a:t>
            </a:r>
            <a:r>
              <a:rPr lang="pt-BR" sz="2000" spc="-50" dirty="0">
                <a:latin typeface="Cambria Math"/>
                <a:cs typeface="Cambria Math"/>
              </a:rPr>
              <a:t> </a:t>
            </a:r>
            <a:r>
              <a:rPr lang="pt-BR" sz="1400" dirty="0">
                <a:latin typeface="Calibri"/>
                <a:cs typeface="Calibri"/>
              </a:rPr>
              <a:t>nó</a:t>
            </a:r>
            <a:r>
              <a:rPr lang="pt-BR" sz="1400" spc="-5" dirty="0">
                <a:latin typeface="Calibri"/>
                <a:cs typeface="Calibri"/>
              </a:rPr>
              <a:t> </a:t>
            </a:r>
            <a:r>
              <a:rPr lang="pt-BR" sz="1400" dirty="0">
                <a:latin typeface="Calibri"/>
                <a:cs typeface="Calibri"/>
              </a:rPr>
              <a:t>da</a:t>
            </a:r>
            <a:r>
              <a:rPr lang="pt-BR" sz="1400" spc="5" dirty="0">
                <a:latin typeface="Calibri"/>
                <a:cs typeface="Calibri"/>
              </a:rPr>
              <a:t> </a:t>
            </a:r>
            <a:r>
              <a:rPr lang="pt-BR" sz="1400" dirty="0">
                <a:latin typeface="Cambria Math"/>
                <a:cs typeface="Cambria Math"/>
              </a:rPr>
              <a:t>𝑚</a:t>
            </a:r>
            <a:r>
              <a:rPr lang="pt-BR" sz="1400" dirty="0">
                <a:latin typeface="Calibri"/>
                <a:cs typeface="Calibri"/>
              </a:rPr>
              <a:t>-</a:t>
            </a:r>
            <a:r>
              <a:rPr lang="pt-BR" sz="1400" dirty="0" err="1">
                <a:latin typeface="Calibri"/>
                <a:cs typeface="Calibri"/>
              </a:rPr>
              <a:t>ésima</a:t>
            </a:r>
            <a:r>
              <a:rPr lang="pt-BR" sz="1400" spc="-20" dirty="0">
                <a:latin typeface="Calibri"/>
                <a:cs typeface="Calibri"/>
              </a:rPr>
              <a:t> </a:t>
            </a:r>
            <a:r>
              <a:rPr lang="pt-BR" sz="1400" spc="-10" dirty="0">
                <a:latin typeface="Calibri"/>
                <a:cs typeface="Calibri"/>
              </a:rPr>
              <a:t>camada.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845043" y="2219070"/>
            <a:ext cx="1590675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13716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Calibri"/>
                <a:cs typeface="Calibri"/>
              </a:rPr>
              <a:t>Ativação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do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nó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ao </a:t>
            </a:r>
            <a:r>
              <a:rPr sz="1400" dirty="0">
                <a:latin typeface="Calibri"/>
                <a:cs typeface="Calibri"/>
              </a:rPr>
              <a:t>qual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peso</a:t>
            </a:r>
            <a:r>
              <a:rPr sz="1400" spc="-10" dirty="0">
                <a:latin typeface="Calibri"/>
                <a:cs typeface="Calibri"/>
              </a:rPr>
              <a:t> pertence.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7162800" y="2429255"/>
            <a:ext cx="682625" cy="206375"/>
          </a:xfrm>
          <a:custGeom>
            <a:avLst/>
            <a:gdLst/>
            <a:ahLst/>
            <a:cxnLst/>
            <a:rect l="l" t="t" r="r" b="b"/>
            <a:pathLst>
              <a:path w="682625" h="206375">
                <a:moveTo>
                  <a:pt x="63753" y="132461"/>
                </a:moveTo>
                <a:lnTo>
                  <a:pt x="0" y="188976"/>
                </a:lnTo>
                <a:lnTo>
                  <a:pt x="83438" y="205994"/>
                </a:lnTo>
                <a:lnTo>
                  <a:pt x="76095" y="178562"/>
                </a:lnTo>
                <a:lnTo>
                  <a:pt x="62991" y="178562"/>
                </a:lnTo>
                <a:lnTo>
                  <a:pt x="59689" y="166370"/>
                </a:lnTo>
                <a:lnTo>
                  <a:pt x="71949" y="163075"/>
                </a:lnTo>
                <a:lnTo>
                  <a:pt x="63753" y="132461"/>
                </a:lnTo>
                <a:close/>
              </a:path>
              <a:path w="682625" h="206375">
                <a:moveTo>
                  <a:pt x="71949" y="163075"/>
                </a:moveTo>
                <a:lnTo>
                  <a:pt x="59689" y="166370"/>
                </a:lnTo>
                <a:lnTo>
                  <a:pt x="62991" y="178562"/>
                </a:lnTo>
                <a:lnTo>
                  <a:pt x="75216" y="175277"/>
                </a:lnTo>
                <a:lnTo>
                  <a:pt x="71949" y="163075"/>
                </a:lnTo>
                <a:close/>
              </a:path>
              <a:path w="682625" h="206375">
                <a:moveTo>
                  <a:pt x="75216" y="175277"/>
                </a:moveTo>
                <a:lnTo>
                  <a:pt x="62991" y="178562"/>
                </a:lnTo>
                <a:lnTo>
                  <a:pt x="76095" y="178562"/>
                </a:lnTo>
                <a:lnTo>
                  <a:pt x="75216" y="175277"/>
                </a:lnTo>
                <a:close/>
              </a:path>
              <a:path w="682625" h="206375">
                <a:moveTo>
                  <a:pt x="678814" y="0"/>
                </a:moveTo>
                <a:lnTo>
                  <a:pt x="71949" y="163075"/>
                </a:lnTo>
                <a:lnTo>
                  <a:pt x="75216" y="175277"/>
                </a:lnTo>
                <a:lnTo>
                  <a:pt x="682116" y="12192"/>
                </a:lnTo>
                <a:lnTo>
                  <a:pt x="67881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aixaDeTexto 35">
                <a:extLst>
                  <a:ext uri="{FF2B5EF4-FFF2-40B4-BE49-F238E27FC236}">
                    <a16:creationId xmlns:a16="http://schemas.microsoft.com/office/drawing/2014/main" id="{E095B359-363E-5BB8-FE49-77A5179A0B80}"/>
                  </a:ext>
                </a:extLst>
              </p:cNvPr>
              <p:cNvSpPr txBox="1"/>
              <p:nvPr/>
            </p:nvSpPr>
            <p:spPr>
              <a:xfrm>
                <a:off x="4352831" y="6076248"/>
                <a:ext cx="3664272" cy="7817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bSup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 ∈</m:t>
                          </m:r>
                          <m:r>
                            <a:rPr lang="pt-BR" sz="2000" b="0" i="0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m:rPr>
                              <m:sty m:val="p"/>
                            </m:rPr>
                            <a:rPr lang="pt-BR" sz="2000" b="0" i="0" smtClean="0">
                              <a:latin typeface="Cambria Math" panose="02040503050406030204" pitchFamily="18" charset="0"/>
                            </a:rPr>
                            <m:t>entradas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bSup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 .</m:t>
                          </m:r>
                        </m:e>
                      </m:nary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36" name="CaixaDeTexto 35">
                <a:extLst>
                  <a:ext uri="{FF2B5EF4-FFF2-40B4-BE49-F238E27FC236}">
                    <a16:creationId xmlns:a16="http://schemas.microsoft.com/office/drawing/2014/main" id="{E095B359-363E-5BB8-FE49-77A5179A0B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2831" y="6076248"/>
                <a:ext cx="3664272" cy="78175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object 6">
                <a:extLst>
                  <a:ext uri="{FF2B5EF4-FFF2-40B4-BE49-F238E27FC236}">
                    <a16:creationId xmlns:a16="http://schemas.microsoft.com/office/drawing/2014/main" id="{6FE45B0C-9260-F390-185C-EA417256D275}"/>
                  </a:ext>
                </a:extLst>
              </p:cNvPr>
              <p:cNvSpPr txBox="1"/>
              <p:nvPr/>
            </p:nvSpPr>
            <p:spPr>
              <a:xfrm>
                <a:off x="816336" y="1243619"/>
                <a:ext cx="10873105" cy="1043171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266700" indent="-228600">
                  <a:spcBef>
                    <a:spcPts val="100"/>
                  </a:spcBef>
                  <a:buFont typeface="Arial"/>
                  <a:buChar char="•"/>
                  <a:tabLst>
                    <a:tab pos="266700" algn="l"/>
                    <a:tab pos="4759960" algn="l"/>
                  </a:tabLst>
                </a:pPr>
                <a:r>
                  <a:rPr lang="pt-BR" sz="2400" dirty="0">
                    <a:latin typeface="Calibri"/>
                    <a:cs typeface="Calibri"/>
                  </a:rPr>
                  <a:t>Considerando</a:t>
                </a:r>
                <a:r>
                  <a:rPr lang="pt-BR" sz="2400" spc="-3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a</a:t>
                </a:r>
                <a:r>
                  <a:rPr lang="pt-BR" sz="2400" spc="-45" dirty="0">
                    <a:latin typeface="Calibri"/>
                    <a:cs typeface="Calibri"/>
                  </a:rPr>
                  <a:t> </a:t>
                </a:r>
                <a:r>
                  <a:rPr lang="pt-BR" sz="2400" dirty="0" err="1">
                    <a:latin typeface="Calibri"/>
                    <a:cs typeface="Calibri"/>
                  </a:rPr>
                  <a:t>derivada</a:t>
                </a:r>
                <a:r>
                  <a:rPr lang="pt-BR" sz="2400" spc="-20" dirty="0">
                    <a:latin typeface="Calibri"/>
                    <a:cs typeface="Calibri"/>
                  </a:rPr>
                  <a:t> </a:t>
                </a:r>
                <a:r>
                  <a:rPr lang="pt-BR" sz="2400" dirty="0" err="1">
                    <a:latin typeface="Calibri"/>
                    <a:cs typeface="Calibri"/>
                  </a:rPr>
                  <a:t>gera</a:t>
                </a:r>
                <a:r>
                  <a:rPr lang="pt-BR" sz="2400" dirty="0">
                    <a:latin typeface="Calibri"/>
                    <a:cs typeface="Calibri"/>
                  </a:rPr>
                  <a:t>l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sz="2400" b="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fPr>
                      <m:num>
                        <m:r>
                          <a:rPr lang="pt-BR" sz="2400" b="0" i="1" smtClean="0">
                            <a:latin typeface="Cambria Math" panose="02040503050406030204" pitchFamily="18" charset="0"/>
                            <a:cs typeface="Calibri"/>
                          </a:rPr>
                          <m:t>𝜕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  <a:cs typeface="Calibri"/>
                          </a:rPr>
                          <m:t>𝐽</m:t>
                        </m:r>
                        <m:d>
                          <m:dPr>
                            <m:ctrlPr>
                              <a:rPr lang="pt-BR" sz="24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dPr>
                          <m:e>
                            <m:r>
                              <a:rPr lang="pt-BR" sz="2400" b="1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𝒘</m:t>
                            </m:r>
                          </m:e>
                        </m:d>
                      </m:num>
                      <m:den>
                        <m:r>
                          <a:rPr lang="pt-BR" sz="2400" b="0" i="1" smtClean="0">
                            <a:latin typeface="Cambria Math" panose="02040503050406030204" pitchFamily="18" charset="0"/>
                            <a:cs typeface="Calibri"/>
                          </a:rPr>
                          <m:t>𝜕</m:t>
                        </m:r>
                        <m:sSubSup>
                          <m:sSubSupPr>
                            <m:ctrlPr>
                              <a:rPr lang="pt-BR" sz="24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sSubSupPr>
                          <m:e>
                            <m:r>
                              <a:rPr lang="pt-BR" sz="24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𝑤</m:t>
                            </m:r>
                          </m:e>
                          <m:sub>
                            <m:r>
                              <a:rPr lang="pt-BR" sz="24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𝑖</m:t>
                            </m:r>
                            <m:r>
                              <a:rPr lang="pt-BR" sz="24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,</m:t>
                            </m:r>
                            <m:r>
                              <a:rPr lang="pt-BR" sz="24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𝑗</m:t>
                            </m:r>
                          </m:sub>
                          <m:sup>
                            <m:r>
                              <a:rPr lang="pt-BR" sz="24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𝑚</m:t>
                            </m:r>
                          </m:sup>
                        </m:sSubSup>
                        <m:r>
                          <a:rPr lang="pt-BR" sz="2400" b="0" i="1" smtClean="0">
                            <a:latin typeface="Cambria Math" panose="02040503050406030204" pitchFamily="18" charset="0"/>
                            <a:cs typeface="Calibri"/>
                          </a:rPr>
                          <m:t> </m:t>
                        </m:r>
                      </m:den>
                    </m:f>
                  </m:oMath>
                </a14:m>
                <a:r>
                  <a:rPr lang="pt-BR" sz="2400" dirty="0">
                    <a:latin typeface="Calibri"/>
                    <a:cs typeface="Calibri"/>
                  </a:rPr>
                  <a:t> (i.e.,</a:t>
                </a:r>
                <a:r>
                  <a:rPr lang="pt-BR" sz="2400" spc="-5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derivada</a:t>
                </a:r>
                <a:r>
                  <a:rPr lang="pt-BR" sz="2400" spc="-3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para</a:t>
                </a:r>
                <a:r>
                  <a:rPr lang="pt-BR" sz="2400" spc="-4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um</a:t>
                </a:r>
                <a:r>
                  <a:rPr lang="pt-BR" sz="2400" spc="-3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peso</a:t>
                </a:r>
                <a:r>
                  <a:rPr lang="pt-BR" sz="2400" spc="-4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genérico)</a:t>
                </a:r>
                <a:r>
                  <a:rPr lang="pt-BR" sz="2400" spc="-4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e</a:t>
                </a:r>
                <a:r>
                  <a:rPr lang="pt-BR" sz="2400" spc="-3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usando</a:t>
                </a:r>
                <a:r>
                  <a:rPr lang="pt-BR" sz="2400" spc="-40" dirty="0">
                    <a:latin typeface="Calibri"/>
                    <a:cs typeface="Calibri"/>
                  </a:rPr>
                  <a:t> </a:t>
                </a:r>
                <a:r>
                  <a:rPr lang="pt-BR" sz="2400" spc="-50" dirty="0">
                    <a:latin typeface="Calibri"/>
                    <a:cs typeface="Calibri"/>
                  </a:rPr>
                  <a:t>a </a:t>
                </a:r>
                <a:r>
                  <a:rPr lang="pt-BR" sz="2400" b="1" i="1" dirty="0">
                    <a:latin typeface="Calibri"/>
                    <a:cs typeface="Calibri"/>
                  </a:rPr>
                  <a:t>regra</a:t>
                </a:r>
                <a:r>
                  <a:rPr lang="pt-BR" sz="2400" b="1" i="1" spc="-5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da</a:t>
                </a:r>
                <a:r>
                  <a:rPr lang="pt-BR" sz="2400" b="1" i="1" spc="-15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cadeia</a:t>
                </a:r>
                <a:r>
                  <a:rPr lang="pt-BR" sz="2400" dirty="0">
                    <a:latin typeface="Calibri"/>
                    <a:cs typeface="Calibri"/>
                  </a:rPr>
                  <a:t>,</a:t>
                </a:r>
                <a:r>
                  <a:rPr lang="pt-BR" sz="2400" spc="-3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podemos</a:t>
                </a:r>
                <a:r>
                  <a:rPr lang="pt-BR" sz="2400" spc="-5" dirty="0">
                    <a:latin typeface="Calibri"/>
                    <a:cs typeface="Calibri"/>
                  </a:rPr>
                  <a:t> </a:t>
                </a:r>
                <a:r>
                  <a:rPr lang="pt-BR" sz="2400" spc="-20" dirty="0">
                    <a:latin typeface="Calibri"/>
                    <a:cs typeface="Calibri"/>
                  </a:rPr>
                  <a:t>reescrevê-</a:t>
                </a:r>
                <a:r>
                  <a:rPr lang="pt-BR" sz="2400" dirty="0">
                    <a:latin typeface="Calibri"/>
                    <a:cs typeface="Calibri"/>
                  </a:rPr>
                  <a:t>la</a:t>
                </a:r>
                <a:r>
                  <a:rPr lang="pt-BR" sz="2400" spc="10" dirty="0">
                    <a:latin typeface="Calibri"/>
                    <a:cs typeface="Calibri"/>
                  </a:rPr>
                  <a:t> </a:t>
                </a:r>
                <a:r>
                  <a:rPr lang="pt-BR" sz="2400" spc="-10" dirty="0">
                    <a:latin typeface="Calibri"/>
                    <a:cs typeface="Calibri"/>
                  </a:rPr>
                  <a:t>como:</a:t>
                </a:r>
                <a:endParaRPr sz="24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30" name="object 6">
                <a:extLst>
                  <a:ext uri="{FF2B5EF4-FFF2-40B4-BE49-F238E27FC236}">
                    <a16:creationId xmlns:a16="http://schemas.microsoft.com/office/drawing/2014/main" id="{6FE45B0C-9260-F390-185C-EA417256D2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336" y="1243619"/>
                <a:ext cx="10873105" cy="1043171"/>
              </a:xfrm>
              <a:prstGeom prst="rect">
                <a:avLst/>
              </a:prstGeom>
              <a:blipFill>
                <a:blip r:embed="rId6"/>
                <a:stretch>
                  <a:fillRect l="-1289" r="-1682" b="-1695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aixaDeTexto 32">
                <a:extLst>
                  <a:ext uri="{FF2B5EF4-FFF2-40B4-BE49-F238E27FC236}">
                    <a16:creationId xmlns:a16="http://schemas.microsoft.com/office/drawing/2014/main" id="{7EA9D2FC-A47A-4DEA-6107-8D94501DF449}"/>
                  </a:ext>
                </a:extLst>
              </p:cNvPr>
              <p:cNvSpPr txBox="1"/>
              <p:nvPr/>
            </p:nvSpPr>
            <p:spPr>
              <a:xfrm>
                <a:off x="4882687" y="2389445"/>
                <a:ext cx="2426626" cy="71000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  <m:d>
                            <m:d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000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</m:d>
                        </m:num>
                        <m:den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bSup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  <m:d>
                            <m:d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000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</m:d>
                        </m:num>
                        <m:den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bSup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f>
                        <m:f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bSup>
                        </m:num>
                        <m:den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bSup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33" name="CaixaDeTexto 32">
                <a:extLst>
                  <a:ext uri="{FF2B5EF4-FFF2-40B4-BE49-F238E27FC236}">
                    <a16:creationId xmlns:a16="http://schemas.microsoft.com/office/drawing/2014/main" id="{7EA9D2FC-A47A-4DEA-6107-8D94501DF4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2687" y="2389445"/>
                <a:ext cx="2426626" cy="710003"/>
              </a:xfrm>
              <a:prstGeom prst="rect">
                <a:avLst/>
              </a:prstGeom>
              <a:blipFill>
                <a:blip r:embed="rId7"/>
                <a:stretch>
                  <a:fillRect b="-86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aixaDeTexto 36">
                <a:extLst>
                  <a:ext uri="{FF2B5EF4-FFF2-40B4-BE49-F238E27FC236}">
                    <a16:creationId xmlns:a16="http://schemas.microsoft.com/office/drawing/2014/main" id="{2E21DB19-B487-E2E0-B479-B74F904F8D6A}"/>
                  </a:ext>
                </a:extLst>
              </p:cNvPr>
              <p:cNvSpPr txBox="1"/>
              <p:nvPr/>
            </p:nvSpPr>
            <p:spPr>
              <a:xfrm>
                <a:off x="5344608" y="4236406"/>
                <a:ext cx="1502784" cy="6688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bSup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  <m:d>
                            <m:d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000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</m:d>
                        </m:num>
                        <m:den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bSup>
                        </m:den>
                      </m:f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37" name="CaixaDeTexto 36">
                <a:extLst>
                  <a:ext uri="{FF2B5EF4-FFF2-40B4-BE49-F238E27FC236}">
                    <a16:creationId xmlns:a16="http://schemas.microsoft.com/office/drawing/2014/main" id="{2E21DB19-B487-E2E0-B479-B74F904F8D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4608" y="4236406"/>
                <a:ext cx="1502784" cy="66883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2604551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152400"/>
            <a:ext cx="95256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Retropropagação:</a:t>
            </a:r>
            <a:r>
              <a:rPr spc="-85" dirty="0"/>
              <a:t> </a:t>
            </a:r>
            <a:r>
              <a:rPr dirty="0"/>
              <a:t>Algumas</a:t>
            </a:r>
            <a:r>
              <a:rPr spc="-110" dirty="0"/>
              <a:t> </a:t>
            </a:r>
            <a:r>
              <a:rPr dirty="0"/>
              <a:t>noções</a:t>
            </a:r>
            <a:r>
              <a:rPr spc="-60" dirty="0"/>
              <a:t> </a:t>
            </a:r>
            <a:r>
              <a:rPr spc="-10" dirty="0"/>
              <a:t>básicas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914400"/>
            <a:ext cx="92265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-10" dirty="0">
                <a:latin typeface="Calibri"/>
                <a:cs typeface="Calibri"/>
              </a:rPr>
              <a:t>Assim</a:t>
            </a:r>
            <a:endParaRPr sz="2200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11"/>
              <p:cNvSpPr txBox="1"/>
              <p:nvPr/>
            </p:nvSpPr>
            <p:spPr>
              <a:xfrm>
                <a:off x="916939" y="1828800"/>
                <a:ext cx="9856470" cy="359586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266700" indent="-228600">
                  <a:lnSpc>
                    <a:spcPct val="100000"/>
                  </a:lnSpc>
                  <a:spcBef>
                    <a:spcPts val="95"/>
                  </a:spcBef>
                  <a:buFont typeface="Arial"/>
                  <a:buChar char="•"/>
                  <a:tabLst>
                    <a:tab pos="266065" algn="l"/>
                    <a:tab pos="266700" algn="l"/>
                  </a:tabLst>
                </a:pPr>
                <a:r>
                  <a:rPr lang="pt-BR" sz="2200" dirty="0">
                    <a:latin typeface="Calibri"/>
                    <a:cs typeface="Calibri"/>
                  </a:rPr>
                  <a:t>Caso</a:t>
                </a:r>
                <a:r>
                  <a:rPr lang="pt-BR" sz="2200" spc="-45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a</a:t>
                </a:r>
                <a:r>
                  <a:rPr lang="pt-BR" sz="2200" spc="-50" dirty="0">
                    <a:latin typeface="Calibri"/>
                    <a:cs typeface="Calibri"/>
                  </a:rPr>
                  <a:t> </a:t>
                </a:r>
                <a:r>
                  <a:rPr lang="pt-BR" sz="2200" spc="-10" dirty="0">
                    <a:latin typeface="Calibri"/>
                    <a:cs typeface="Calibri"/>
                  </a:rPr>
                  <a:t>derivada</a:t>
                </a:r>
                <a:r>
                  <a:rPr lang="pt-BR" sz="2200" spc="-55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seja</a:t>
                </a:r>
                <a:r>
                  <a:rPr lang="pt-BR" sz="2200" spc="-4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em</a:t>
                </a:r>
                <a:r>
                  <a:rPr lang="pt-BR" sz="2200" spc="-2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relação</a:t>
                </a:r>
                <a:r>
                  <a:rPr lang="pt-BR" sz="2200" spc="-5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ao</a:t>
                </a:r>
                <a:r>
                  <a:rPr lang="pt-BR" sz="2200" spc="-35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termo</a:t>
                </a:r>
                <a:r>
                  <a:rPr lang="pt-BR" sz="2200" spc="-25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de</a:t>
                </a:r>
                <a:r>
                  <a:rPr lang="pt-BR" sz="2200" spc="-95" dirty="0">
                    <a:latin typeface="Calibri"/>
                    <a:cs typeface="Calibri"/>
                  </a:rPr>
                  <a:t> </a:t>
                </a:r>
                <a:r>
                  <a:rPr lang="pt-BR" sz="2200" b="1" i="1" dirty="0">
                    <a:latin typeface="Calibri"/>
                    <a:cs typeface="Calibri"/>
                  </a:rPr>
                  <a:t>bias</a:t>
                </a:r>
                <a:r>
                  <a:rPr lang="pt-BR" sz="2200" dirty="0">
                    <a:latin typeface="Calibri"/>
                    <a:cs typeface="Calibri"/>
                  </a:rPr>
                  <a:t>,</a:t>
                </a:r>
                <a:r>
                  <a:rPr lang="pt-BR" sz="2200" spc="-45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pt-BR" sz="2200" b="0" i="1" spc="-45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SupPr>
                      <m:e>
                        <m:r>
                          <a:rPr lang="pt-BR" sz="2200" b="0" i="1" spc="-45" smtClean="0">
                            <a:latin typeface="Cambria Math" panose="02040503050406030204" pitchFamily="18" charset="0"/>
                            <a:cs typeface="Calibri"/>
                          </a:rPr>
                          <m:t>𝑏</m:t>
                        </m:r>
                      </m:e>
                      <m:sub>
                        <m:r>
                          <a:rPr lang="pt-BR" sz="2200" b="0" i="1" spc="-45" smtClean="0">
                            <a:latin typeface="Cambria Math" panose="02040503050406030204" pitchFamily="18" charset="0"/>
                            <a:cs typeface="Calibri"/>
                          </a:rPr>
                          <m:t>𝑖</m:t>
                        </m:r>
                      </m:sub>
                      <m:sup>
                        <m:r>
                          <a:rPr lang="pt-BR" sz="2200" b="0" i="1" spc="-45" smtClean="0">
                            <a:latin typeface="Cambria Math" panose="02040503050406030204" pitchFamily="18" charset="0"/>
                            <a:cs typeface="Calibri"/>
                          </a:rPr>
                          <m:t>𝑚</m:t>
                        </m:r>
                      </m:sup>
                    </m:sSubSup>
                  </m:oMath>
                </a14:m>
                <a:r>
                  <a:rPr lang="pt-BR" sz="2200" spc="110" dirty="0">
                    <a:latin typeface="Calibri"/>
                    <a:cs typeface="Calibri"/>
                  </a:rPr>
                  <a:t>,</a:t>
                </a:r>
                <a:r>
                  <a:rPr lang="pt-BR" sz="2200" spc="-4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teremos</a:t>
                </a:r>
                <a:r>
                  <a:rPr lang="pt-BR" sz="2200" spc="-3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o</a:t>
                </a:r>
                <a:r>
                  <a:rPr lang="pt-BR" sz="2200" spc="-40" dirty="0">
                    <a:latin typeface="Calibri"/>
                    <a:cs typeface="Calibri"/>
                  </a:rPr>
                  <a:t> </a:t>
                </a:r>
                <a:r>
                  <a:rPr lang="pt-BR" sz="2200" spc="-10" dirty="0">
                    <a:latin typeface="Calibri"/>
                    <a:cs typeface="Calibri"/>
                  </a:rPr>
                  <a:t>seguinte</a:t>
                </a:r>
                <a:r>
                  <a:rPr lang="pt-BR" sz="2200" spc="-30" dirty="0">
                    <a:latin typeface="Calibri"/>
                    <a:cs typeface="Calibri"/>
                  </a:rPr>
                  <a:t> </a:t>
                </a:r>
                <a:r>
                  <a:rPr lang="pt-BR" sz="2200" spc="-10" dirty="0">
                    <a:latin typeface="Calibri"/>
                    <a:cs typeface="Calibri"/>
                  </a:rPr>
                  <a:t>resultado</a:t>
                </a:r>
                <a:endParaRPr sz="22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1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939" y="1828800"/>
                <a:ext cx="9856470" cy="359586"/>
              </a:xfrm>
              <a:prstGeom prst="rect">
                <a:avLst/>
              </a:prstGeom>
              <a:blipFill>
                <a:blip r:embed="rId2"/>
                <a:stretch>
                  <a:fillRect l="-1237" t="-20339" r="-742" b="-4406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16"/>
              <p:cNvSpPr txBox="1"/>
              <p:nvPr/>
            </p:nvSpPr>
            <p:spPr>
              <a:xfrm>
                <a:off x="916939" y="2743200"/>
                <a:ext cx="10965180" cy="1158138"/>
              </a:xfrm>
              <a:prstGeom prst="rect">
                <a:avLst/>
              </a:prstGeom>
            </p:spPr>
            <p:txBody>
              <a:bodyPr vert="horz" wrap="square" lIns="0" tIns="112395" rIns="0" bIns="0" rtlCol="0">
                <a:spAutoFit/>
              </a:bodyPr>
              <a:lstStyle/>
              <a:p>
                <a:pPr marL="292100" marR="55880" indent="-228600">
                  <a:spcBef>
                    <a:spcPts val="885"/>
                  </a:spcBef>
                  <a:buFont typeface="Arial"/>
                  <a:buChar char="•"/>
                  <a:tabLst>
                    <a:tab pos="291465" algn="l"/>
                    <a:tab pos="292100" algn="l"/>
                    <a:tab pos="6792595" algn="l"/>
                  </a:tabLst>
                </a:pPr>
                <a:r>
                  <a:rPr lang="pt-BR" sz="2200" dirty="0">
                    <a:latin typeface="Calibri"/>
                    <a:cs typeface="Calibri"/>
                  </a:rPr>
                  <a:t>Desta</a:t>
                </a:r>
                <a:r>
                  <a:rPr lang="pt-BR" sz="2200" spc="-125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forma,</a:t>
                </a:r>
                <a:r>
                  <a:rPr lang="pt-BR" sz="2200" spc="-65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vemos</a:t>
                </a:r>
                <a:r>
                  <a:rPr lang="pt-BR" sz="2200" spc="-45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que</a:t>
                </a:r>
                <a:r>
                  <a:rPr lang="pt-BR" sz="2200" spc="-80" dirty="0">
                    <a:latin typeface="Calibri"/>
                    <a:cs typeface="Calibri"/>
                  </a:rPr>
                  <a:t> </a:t>
                </a:r>
                <a:r>
                  <a:rPr lang="pt-BR" sz="2200" b="1" i="1" dirty="0">
                    <a:latin typeface="Calibri"/>
                    <a:cs typeface="Calibri"/>
                  </a:rPr>
                  <a:t>todas</a:t>
                </a:r>
                <a:r>
                  <a:rPr lang="pt-BR" sz="2200" b="1" i="1" spc="-65" dirty="0">
                    <a:latin typeface="Calibri"/>
                    <a:cs typeface="Calibri"/>
                  </a:rPr>
                  <a:t> </a:t>
                </a:r>
                <a:r>
                  <a:rPr lang="pt-BR" sz="2200" b="1" i="1" dirty="0">
                    <a:latin typeface="Calibri"/>
                    <a:cs typeface="Calibri"/>
                  </a:rPr>
                  <a:t>as</a:t>
                </a:r>
                <a:r>
                  <a:rPr lang="pt-BR" sz="2200" b="1" i="1" spc="-65" dirty="0">
                    <a:latin typeface="Calibri"/>
                    <a:cs typeface="Calibri"/>
                  </a:rPr>
                  <a:t> </a:t>
                </a:r>
                <a:r>
                  <a:rPr lang="pt-BR" sz="2200" b="1" i="1" dirty="0">
                    <a:latin typeface="Calibri"/>
                    <a:cs typeface="Calibri"/>
                  </a:rPr>
                  <a:t>derivadas</a:t>
                </a:r>
                <a:r>
                  <a:rPr lang="pt-BR" sz="2200" b="1" i="1" spc="-65" dirty="0">
                    <a:latin typeface="Calibri"/>
                    <a:cs typeface="Calibri"/>
                  </a:rPr>
                  <a:t> </a:t>
                </a:r>
                <a:r>
                  <a:rPr lang="pt-BR" sz="2200" b="1" i="1" dirty="0">
                    <a:latin typeface="Calibri"/>
                    <a:cs typeface="Calibri"/>
                  </a:rPr>
                  <a:t>da</a:t>
                </a:r>
                <a:r>
                  <a:rPr lang="pt-BR" sz="2200" b="1" i="1" spc="-55" dirty="0">
                    <a:latin typeface="Calibri"/>
                    <a:cs typeface="Calibri"/>
                  </a:rPr>
                  <a:t> </a:t>
                </a:r>
                <a:r>
                  <a:rPr lang="pt-BR" sz="2200" b="1" i="1" dirty="0">
                    <a:latin typeface="Calibri"/>
                    <a:cs typeface="Calibri"/>
                  </a:rPr>
                  <a:t>função de custo em relação</a:t>
                </a:r>
                <a:r>
                  <a:rPr lang="pt-BR" sz="2200" b="1" i="1" spc="-70" dirty="0">
                    <a:latin typeface="Calibri"/>
                    <a:cs typeface="Calibri"/>
                  </a:rPr>
                  <a:t> </a:t>
                </a:r>
                <a:r>
                  <a:rPr lang="pt-BR" sz="2200" b="1" i="1" dirty="0">
                    <a:latin typeface="Calibri"/>
                    <a:cs typeface="Calibri"/>
                  </a:rPr>
                  <a:t>aos</a:t>
                </a:r>
                <a:r>
                  <a:rPr lang="pt-BR" sz="2200" b="1" i="1" spc="-65" dirty="0">
                    <a:latin typeface="Calibri"/>
                    <a:cs typeface="Calibri"/>
                  </a:rPr>
                  <a:t> </a:t>
                </a:r>
                <a:r>
                  <a:rPr lang="pt-BR" sz="2200" b="1" i="1" spc="-10" dirty="0">
                    <a:latin typeface="Calibri"/>
                    <a:cs typeface="Calibri"/>
                  </a:rPr>
                  <a:t>pesos (sinápticos/bias)</a:t>
                </a:r>
                <a:r>
                  <a:rPr lang="pt-BR" sz="2200" b="1" i="1" spc="-35" dirty="0">
                    <a:latin typeface="Calibri"/>
                    <a:cs typeface="Calibri"/>
                  </a:rPr>
                  <a:t> </a:t>
                </a:r>
                <a:r>
                  <a:rPr lang="pt-BR" sz="2200" b="1" i="1" dirty="0">
                    <a:latin typeface="Calibri"/>
                    <a:cs typeface="Calibri"/>
                  </a:rPr>
                  <a:t>são</a:t>
                </a:r>
                <a:r>
                  <a:rPr lang="pt-BR" sz="2200" b="1" i="1" spc="-35" dirty="0">
                    <a:latin typeface="Calibri"/>
                    <a:cs typeface="Calibri"/>
                  </a:rPr>
                  <a:t> </a:t>
                </a:r>
                <a:r>
                  <a:rPr lang="pt-BR" sz="2200" b="1" i="1" dirty="0">
                    <a:latin typeface="Calibri"/>
                    <a:cs typeface="Calibri"/>
                  </a:rPr>
                  <a:t>produtos</a:t>
                </a:r>
                <a:r>
                  <a:rPr lang="pt-BR" sz="2200" b="1" i="1" spc="-30" dirty="0">
                    <a:latin typeface="Calibri"/>
                    <a:cs typeface="Calibri"/>
                  </a:rPr>
                  <a:t> </a:t>
                </a:r>
                <a:r>
                  <a:rPr lang="pt-BR" sz="2200" b="1" i="1" dirty="0">
                    <a:latin typeface="Calibri"/>
                    <a:cs typeface="Calibri"/>
                  </a:rPr>
                  <a:t>de</a:t>
                </a:r>
                <a:r>
                  <a:rPr lang="pt-BR" sz="2200" b="1" i="1" spc="-40" dirty="0">
                    <a:latin typeface="Calibri"/>
                    <a:cs typeface="Calibri"/>
                  </a:rPr>
                  <a:t> </a:t>
                </a:r>
                <a:r>
                  <a:rPr lang="pt-BR" sz="2200" b="1" i="1" dirty="0">
                    <a:latin typeface="Calibri"/>
                    <a:cs typeface="Calibri"/>
                  </a:rPr>
                  <a:t>uma</a:t>
                </a:r>
                <a:r>
                  <a:rPr lang="pt-BR" sz="2200" b="1" i="1" spc="-25" dirty="0">
                    <a:latin typeface="Calibri"/>
                    <a:cs typeface="Calibri"/>
                  </a:rPr>
                  <a:t> </a:t>
                </a:r>
                <a:r>
                  <a:rPr lang="pt-BR" sz="2200" b="1" i="1" spc="-10" dirty="0">
                    <a:latin typeface="Calibri"/>
                    <a:cs typeface="Calibri"/>
                  </a:rPr>
                  <a:t>sensibilidade,</a:t>
                </a:r>
                <a:r>
                  <a:rPr lang="pt-BR" sz="2200" b="1" i="1" spc="-105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pt-BR" sz="2200" i="1" spc="-105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SupPr>
                      <m:e>
                        <m:r>
                          <a:rPr lang="pt-BR" sz="2200" b="0" i="1" spc="-105" smtClean="0">
                            <a:latin typeface="Cambria Math" panose="02040503050406030204" pitchFamily="18" charset="0"/>
                            <a:cs typeface="Calibri"/>
                          </a:rPr>
                          <m:t>𝛿</m:t>
                        </m:r>
                      </m:e>
                      <m:sub>
                        <m:r>
                          <a:rPr lang="pt-BR" sz="2200" b="0" i="1" spc="-105" smtClean="0">
                            <a:latin typeface="Cambria Math" panose="02040503050406030204" pitchFamily="18" charset="0"/>
                            <a:cs typeface="Calibri"/>
                          </a:rPr>
                          <m:t>𝑖</m:t>
                        </m:r>
                      </m:sub>
                      <m:sup>
                        <m:r>
                          <a:rPr lang="pt-BR" sz="2200" b="0" i="1" spc="-105" smtClean="0">
                            <a:latin typeface="Cambria Math" panose="02040503050406030204" pitchFamily="18" charset="0"/>
                            <a:cs typeface="Calibri"/>
                          </a:rPr>
                          <m:t>𝑚</m:t>
                        </m:r>
                      </m:sup>
                    </m:sSubSup>
                  </m:oMath>
                </a14:m>
                <a:r>
                  <a:rPr lang="pt-BR" sz="2200" b="1" i="1" dirty="0">
                    <a:latin typeface="Calibri"/>
                    <a:cs typeface="Calibri"/>
                  </a:rPr>
                  <a:t>,</a:t>
                </a:r>
                <a:r>
                  <a:rPr lang="pt-BR" sz="2200" b="1" i="1" spc="-55" dirty="0">
                    <a:latin typeface="Calibri"/>
                    <a:cs typeface="Calibri"/>
                  </a:rPr>
                  <a:t> </a:t>
                </a:r>
                <a:r>
                  <a:rPr lang="pt-BR" sz="2200" b="1" i="1" dirty="0">
                    <a:latin typeface="Calibri"/>
                    <a:cs typeface="Calibri"/>
                  </a:rPr>
                  <a:t>por</a:t>
                </a:r>
                <a:r>
                  <a:rPr lang="pt-BR" sz="2200" b="1" i="1" spc="-45" dirty="0">
                    <a:latin typeface="Calibri"/>
                    <a:cs typeface="Calibri"/>
                  </a:rPr>
                  <a:t> </a:t>
                </a:r>
                <a:r>
                  <a:rPr lang="pt-BR" sz="2200" b="1" i="1" dirty="0">
                    <a:latin typeface="Calibri"/>
                    <a:cs typeface="Calibri"/>
                  </a:rPr>
                  <a:t>uma</a:t>
                </a:r>
                <a:r>
                  <a:rPr lang="pt-BR" sz="2200" b="1" i="1" spc="-40" dirty="0">
                    <a:latin typeface="Calibri"/>
                    <a:cs typeface="Calibri"/>
                  </a:rPr>
                  <a:t> </a:t>
                </a:r>
                <a:r>
                  <a:rPr lang="pt-BR" sz="2200" b="1" i="1" dirty="0">
                    <a:latin typeface="Calibri"/>
                    <a:cs typeface="Calibri"/>
                  </a:rPr>
                  <a:t>entrada</a:t>
                </a:r>
                <a:r>
                  <a:rPr lang="pt-BR" sz="2200" b="1" i="1" spc="-25" dirty="0">
                    <a:latin typeface="Calibri"/>
                    <a:cs typeface="Calibri"/>
                  </a:rPr>
                  <a:t> </a:t>
                </a:r>
                <a:r>
                  <a:rPr lang="pt-BR" sz="2200" b="1" i="1" dirty="0">
                    <a:latin typeface="Calibri"/>
                    <a:cs typeface="Calibri"/>
                  </a:rPr>
                  <a:t>do</a:t>
                </a:r>
                <a:r>
                  <a:rPr lang="pt-BR" sz="2200" b="1" i="1" spc="-30" dirty="0">
                    <a:latin typeface="Calibri"/>
                    <a:cs typeface="Calibri"/>
                  </a:rPr>
                  <a:t> </a:t>
                </a:r>
                <a:r>
                  <a:rPr lang="pt-BR" sz="2200" spc="-10" dirty="0">
                    <a:latin typeface="Cambria Math"/>
                    <a:cs typeface="Cambria Math"/>
                  </a:rPr>
                  <a:t>𝒊</a:t>
                </a:r>
                <a:r>
                  <a:rPr lang="pt-BR" sz="2200" b="1" i="1" spc="-10" dirty="0">
                    <a:latin typeface="Calibri"/>
                    <a:cs typeface="Calibri"/>
                  </a:rPr>
                  <a:t>-</a:t>
                </a:r>
                <a:r>
                  <a:rPr lang="pt-BR" sz="2200" b="1" i="1" dirty="0">
                    <a:latin typeface="Calibri"/>
                    <a:cs typeface="Calibri"/>
                  </a:rPr>
                  <a:t>ésimo</a:t>
                </a:r>
                <a:r>
                  <a:rPr lang="pt-BR" sz="2200" b="1" i="1" spc="-40" dirty="0">
                    <a:latin typeface="Calibri"/>
                    <a:cs typeface="Calibri"/>
                  </a:rPr>
                  <a:t> </a:t>
                </a:r>
                <a:r>
                  <a:rPr lang="pt-BR" sz="2200" b="1" i="1" dirty="0">
                    <a:latin typeface="Calibri"/>
                    <a:cs typeface="Calibri"/>
                  </a:rPr>
                  <a:t>nó</a:t>
                </a:r>
                <a:r>
                  <a:rPr lang="pt-BR" sz="2200" b="1" i="1" spc="-45" dirty="0">
                    <a:latin typeface="Calibri"/>
                    <a:cs typeface="Calibri"/>
                  </a:rPr>
                  <a:t> </a:t>
                </a:r>
                <a:r>
                  <a:rPr lang="pt-BR" sz="2200" b="1" i="1" spc="-25" dirty="0">
                    <a:latin typeface="Calibri"/>
                    <a:cs typeface="Calibri"/>
                  </a:rPr>
                  <a:t>da </a:t>
                </a:r>
                <a:r>
                  <a:rPr lang="pt-BR" sz="2200" b="1" i="1" dirty="0">
                    <a:latin typeface="Calibri"/>
                    <a:cs typeface="Calibri"/>
                  </a:rPr>
                  <a:t>rede</a:t>
                </a:r>
                <a:r>
                  <a:rPr lang="pt-BR" sz="2200" b="1" i="1" spc="-50" dirty="0">
                    <a:latin typeface="Calibri"/>
                    <a:cs typeface="Calibri"/>
                  </a:rPr>
                  <a:t> </a:t>
                </a:r>
                <a:r>
                  <a:rPr lang="pt-BR" sz="2200" b="1" i="1" dirty="0">
                    <a:latin typeface="Calibri"/>
                    <a:cs typeface="Calibri"/>
                  </a:rPr>
                  <a:t>(ou,</a:t>
                </a:r>
                <a:r>
                  <a:rPr lang="pt-BR" sz="2200" b="1" i="1" spc="-45" dirty="0">
                    <a:latin typeface="Calibri"/>
                    <a:cs typeface="Calibri"/>
                  </a:rPr>
                  <a:t> </a:t>
                </a:r>
                <a:r>
                  <a:rPr lang="pt-BR" sz="2200" b="1" i="1" dirty="0">
                    <a:latin typeface="Calibri"/>
                    <a:cs typeface="Calibri"/>
                  </a:rPr>
                  <a:t>no</a:t>
                </a:r>
                <a:r>
                  <a:rPr lang="pt-BR" sz="2200" b="1" i="1" spc="-45" dirty="0">
                    <a:latin typeface="Calibri"/>
                    <a:cs typeface="Calibri"/>
                  </a:rPr>
                  <a:t> </a:t>
                </a:r>
                <a:r>
                  <a:rPr lang="pt-BR" sz="2200" b="1" i="1" dirty="0">
                    <a:latin typeface="Calibri"/>
                    <a:cs typeface="Calibri"/>
                  </a:rPr>
                  <a:t>caso</a:t>
                </a:r>
                <a:r>
                  <a:rPr lang="pt-BR" sz="2200" b="1" i="1" spc="-40" dirty="0">
                    <a:latin typeface="Calibri"/>
                    <a:cs typeface="Calibri"/>
                  </a:rPr>
                  <a:t> </a:t>
                </a:r>
                <a:r>
                  <a:rPr lang="pt-BR" sz="2200" b="1" i="1" dirty="0">
                    <a:latin typeface="Calibri"/>
                    <a:cs typeface="Calibri"/>
                  </a:rPr>
                  <a:t>dos</a:t>
                </a:r>
                <a:r>
                  <a:rPr lang="pt-BR" sz="2200" b="1" i="1" spc="-45" dirty="0">
                    <a:latin typeface="Calibri"/>
                    <a:cs typeface="Calibri"/>
                  </a:rPr>
                  <a:t> </a:t>
                </a:r>
                <a:r>
                  <a:rPr lang="pt-BR" sz="2200" b="1" i="1" dirty="0">
                    <a:latin typeface="Calibri"/>
                    <a:cs typeface="Calibri"/>
                  </a:rPr>
                  <a:t>termos</a:t>
                </a:r>
                <a:r>
                  <a:rPr lang="pt-BR" sz="2200" b="1" i="1" spc="-30" dirty="0">
                    <a:latin typeface="Calibri"/>
                    <a:cs typeface="Calibri"/>
                  </a:rPr>
                  <a:t> </a:t>
                </a:r>
                <a:r>
                  <a:rPr lang="pt-BR" sz="2200" b="1" i="1" dirty="0">
                    <a:latin typeface="Calibri"/>
                    <a:cs typeface="Calibri"/>
                  </a:rPr>
                  <a:t>de</a:t>
                </a:r>
                <a:r>
                  <a:rPr lang="pt-BR" sz="2200" b="1" i="1" spc="-50" dirty="0">
                    <a:latin typeface="Calibri"/>
                    <a:cs typeface="Calibri"/>
                  </a:rPr>
                  <a:t> </a:t>
                </a:r>
                <a:r>
                  <a:rPr lang="pt-BR" sz="2200" b="1" i="1" dirty="0">
                    <a:latin typeface="Calibri"/>
                    <a:cs typeface="Calibri"/>
                  </a:rPr>
                  <a:t>bias,</a:t>
                </a:r>
                <a:r>
                  <a:rPr lang="pt-BR" sz="2200" b="1" i="1" spc="-45" dirty="0">
                    <a:latin typeface="Calibri"/>
                    <a:cs typeface="Calibri"/>
                  </a:rPr>
                  <a:t> </a:t>
                </a:r>
                <a:r>
                  <a:rPr lang="pt-BR" sz="2200" b="1" i="1" dirty="0">
                    <a:latin typeface="Calibri"/>
                    <a:cs typeface="Calibri"/>
                  </a:rPr>
                  <a:t>pela</a:t>
                </a:r>
                <a:r>
                  <a:rPr lang="pt-BR" sz="2200" b="1" i="1" spc="-35" dirty="0">
                    <a:latin typeface="Calibri"/>
                    <a:cs typeface="Calibri"/>
                  </a:rPr>
                  <a:t> </a:t>
                </a:r>
                <a:r>
                  <a:rPr lang="pt-BR" sz="2200" b="1" i="1" spc="-10" dirty="0">
                    <a:latin typeface="Calibri"/>
                    <a:cs typeface="Calibri"/>
                  </a:rPr>
                  <a:t>unidade)</a:t>
                </a:r>
                <a:r>
                  <a:rPr lang="pt-BR" sz="2200" spc="-10" dirty="0">
                    <a:latin typeface="Calibri"/>
                    <a:cs typeface="Calibri"/>
                  </a:rPr>
                  <a:t>.</a:t>
                </a:r>
                <a:endParaRPr sz="22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6" name="object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939" y="2743200"/>
                <a:ext cx="10965180" cy="1158138"/>
              </a:xfrm>
              <a:prstGeom prst="rect">
                <a:avLst/>
              </a:prstGeom>
              <a:blipFill>
                <a:blip r:embed="rId3"/>
                <a:stretch>
                  <a:fillRect l="-889" r="-278" b="-1105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object 29"/>
              <p:cNvSpPr txBox="1"/>
              <p:nvPr/>
            </p:nvSpPr>
            <p:spPr>
              <a:xfrm>
                <a:off x="916939" y="4724400"/>
                <a:ext cx="3175635" cy="359586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95"/>
                  </a:spcBef>
                </a:pPr>
                <a:r>
                  <a:rPr lang="pt-BR" sz="2200" dirty="0">
                    <a:latin typeface="Calibri"/>
                    <a:cs typeface="Calibri"/>
                  </a:rPr>
                  <a:t>ou,</a:t>
                </a:r>
                <a:r>
                  <a:rPr lang="pt-BR" sz="2200" spc="-5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para</a:t>
                </a:r>
                <a:r>
                  <a:rPr lang="pt-BR" sz="2200" spc="-6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o</a:t>
                </a:r>
                <a:r>
                  <a:rPr lang="pt-BR" sz="2200" spc="-4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peso</a:t>
                </a:r>
                <a:r>
                  <a:rPr lang="pt-BR" sz="2200" spc="-4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de</a:t>
                </a:r>
                <a:r>
                  <a:rPr lang="pt-BR" sz="2200" spc="-5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bias,</a:t>
                </a:r>
                <a:r>
                  <a:rPr lang="pt-BR" sz="2200" spc="-20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pt-BR" sz="2200" b="0" i="1" spc="-2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SupPr>
                      <m:e>
                        <m:r>
                          <a:rPr lang="pt-BR" sz="2200" b="0" i="1" spc="-20" smtClean="0">
                            <a:latin typeface="Cambria Math" panose="02040503050406030204" pitchFamily="18" charset="0"/>
                            <a:cs typeface="Calibri"/>
                          </a:rPr>
                          <m:t>𝑏</m:t>
                        </m:r>
                      </m:e>
                      <m:sub>
                        <m:r>
                          <a:rPr lang="pt-BR" sz="2200" b="0" i="1" spc="-20" smtClean="0">
                            <a:latin typeface="Cambria Math" panose="02040503050406030204" pitchFamily="18" charset="0"/>
                            <a:cs typeface="Calibri"/>
                          </a:rPr>
                          <m:t>𝑖</m:t>
                        </m:r>
                      </m:sub>
                      <m:sup>
                        <m:r>
                          <a:rPr lang="pt-BR" sz="2200" b="0" i="1" spc="-20" smtClean="0">
                            <a:latin typeface="Cambria Math" panose="02040503050406030204" pitchFamily="18" charset="0"/>
                            <a:cs typeface="Calibri"/>
                          </a:rPr>
                          <m:t>𝑚</m:t>
                        </m:r>
                      </m:sup>
                    </m:sSubSup>
                  </m:oMath>
                </a14:m>
                <a:endParaRPr sz="2400" baseline="31250" dirty="0">
                  <a:latin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29" name="object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939" y="4724400"/>
                <a:ext cx="3175635" cy="359586"/>
              </a:xfrm>
              <a:prstGeom prst="rect">
                <a:avLst/>
              </a:prstGeom>
              <a:blipFill>
                <a:blip r:embed="rId4"/>
                <a:stretch>
                  <a:fillRect l="-4223" t="-20339" b="-4406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object 42"/>
              <p:cNvSpPr txBox="1"/>
              <p:nvPr/>
            </p:nvSpPr>
            <p:spPr>
              <a:xfrm>
                <a:off x="916939" y="5840007"/>
                <a:ext cx="10240010" cy="987514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241300" indent="-228600">
                  <a:spcBef>
                    <a:spcPts val="95"/>
                  </a:spcBef>
                  <a:buFont typeface="Arial"/>
                  <a:buChar char="•"/>
                  <a:tabLst>
                    <a:tab pos="240665" algn="l"/>
                    <a:tab pos="241300" algn="l"/>
                    <a:tab pos="4266565" algn="l"/>
                  </a:tabLst>
                </a:pPr>
                <a:r>
                  <a:rPr lang="pt-BR" sz="2200" dirty="0">
                    <a:latin typeface="Calibri"/>
                    <a:cs typeface="Calibri"/>
                  </a:rPr>
                  <a:t>São</a:t>
                </a:r>
                <a:r>
                  <a:rPr lang="pt-BR" sz="2200" spc="-4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os</a:t>
                </a:r>
                <a:r>
                  <a:rPr lang="pt-BR" sz="2200" spc="-4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valores</a:t>
                </a:r>
                <a:r>
                  <a:rPr lang="pt-BR" sz="2200" spc="-55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de</a:t>
                </a:r>
                <a:r>
                  <a:rPr lang="pt-BR" sz="2200" spc="-60" dirty="0">
                    <a:latin typeface="Calibri"/>
                    <a:cs typeface="Calibri"/>
                  </a:rPr>
                  <a:t> </a:t>
                </a:r>
                <a:r>
                  <a:rPr lang="pt-BR" sz="2200" b="1" i="1" spc="-10" dirty="0" err="1">
                    <a:latin typeface="Calibri"/>
                    <a:cs typeface="Calibri"/>
                  </a:rPr>
                  <a:t>sensibilidade</a:t>
                </a:r>
                <a:r>
                  <a:rPr lang="pt-BR" sz="2200" i="1" spc="-10" dirty="0">
                    <a:latin typeface="Calibri"/>
                    <a:cs typeface="Calibri"/>
                  </a:rPr>
                  <a:t>,</a:t>
                </a:r>
                <a:r>
                  <a:rPr lang="pt-BR" sz="2200" i="1" spc="-70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pt-BR" sz="2200" b="0" i="1" spc="-7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SupPr>
                      <m:e>
                        <m:r>
                          <a:rPr lang="pt-BR" sz="2200" b="0" i="1" spc="-70" smtClean="0">
                            <a:latin typeface="Cambria Math" panose="02040503050406030204" pitchFamily="18" charset="0"/>
                            <a:cs typeface="Calibri"/>
                          </a:rPr>
                          <m:t>𝛿</m:t>
                        </m:r>
                      </m:e>
                      <m:sub>
                        <m:r>
                          <a:rPr lang="pt-BR" sz="2200" b="0" i="1" spc="-70" smtClean="0">
                            <a:latin typeface="Cambria Math" panose="02040503050406030204" pitchFamily="18" charset="0"/>
                            <a:cs typeface="Calibri"/>
                          </a:rPr>
                          <m:t>𝑖</m:t>
                        </m:r>
                      </m:sub>
                      <m:sup>
                        <m:r>
                          <a:rPr lang="pt-BR" sz="2200" b="0" i="1" spc="-70" smtClean="0">
                            <a:latin typeface="Cambria Math" panose="02040503050406030204" pitchFamily="18" charset="0"/>
                            <a:cs typeface="Calibri"/>
                          </a:rPr>
                          <m:t>𝑚</m:t>
                        </m:r>
                      </m:sup>
                    </m:sSubSup>
                  </m:oMath>
                </a14:m>
                <a:r>
                  <a:rPr lang="pt-BR" sz="2200" dirty="0">
                    <a:latin typeface="Calibri"/>
                    <a:cs typeface="Calibri"/>
                  </a:rPr>
                  <a:t>,</a:t>
                </a:r>
                <a:r>
                  <a:rPr lang="pt-BR" sz="2200" spc="-5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que</a:t>
                </a:r>
                <a:r>
                  <a:rPr lang="pt-BR" sz="2200" spc="-45" dirty="0">
                    <a:latin typeface="Calibri"/>
                    <a:cs typeface="Calibri"/>
                  </a:rPr>
                  <a:t> </a:t>
                </a:r>
                <a:r>
                  <a:rPr lang="pt-BR" sz="2200" spc="-10" dirty="0">
                    <a:latin typeface="Calibri"/>
                    <a:cs typeface="Calibri"/>
                  </a:rPr>
                  <a:t>trazem</a:t>
                </a:r>
                <a:r>
                  <a:rPr lang="pt-BR" sz="2200" spc="-3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mais</a:t>
                </a:r>
                <a:r>
                  <a:rPr lang="pt-BR" sz="2200" spc="-40" dirty="0">
                    <a:latin typeface="Calibri"/>
                    <a:cs typeface="Calibri"/>
                  </a:rPr>
                  <a:t> </a:t>
                </a:r>
                <a:r>
                  <a:rPr lang="pt-BR" sz="2200" spc="-10" dirty="0">
                    <a:latin typeface="Calibri"/>
                    <a:cs typeface="Calibri"/>
                  </a:rPr>
                  <a:t>dificuldades</a:t>
                </a:r>
                <a:r>
                  <a:rPr lang="pt-BR" sz="2200" spc="-6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em</a:t>
                </a:r>
                <a:r>
                  <a:rPr lang="pt-BR" sz="2200" spc="-4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seu</a:t>
                </a:r>
                <a:r>
                  <a:rPr lang="pt-BR" sz="2200" spc="-45" dirty="0">
                    <a:latin typeface="Calibri"/>
                    <a:cs typeface="Calibri"/>
                  </a:rPr>
                  <a:t> </a:t>
                </a:r>
                <a:r>
                  <a:rPr lang="pt-BR" sz="2200" spc="-10" dirty="0">
                    <a:latin typeface="Calibri"/>
                    <a:cs typeface="Calibri"/>
                  </a:rPr>
                  <a:t>cálculo,</a:t>
                </a:r>
                <a:r>
                  <a:rPr lang="pt-BR" sz="2200" spc="-45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pois</a:t>
                </a:r>
                <a:r>
                  <a:rPr lang="pt-BR" sz="2200" spc="-55" dirty="0">
                    <a:latin typeface="Calibri"/>
                    <a:cs typeface="Calibri"/>
                  </a:rPr>
                  <a:t> </a:t>
                </a:r>
                <a:r>
                  <a:rPr lang="pt-BR" sz="2200" spc="-50" dirty="0">
                    <a:latin typeface="Calibri"/>
                    <a:cs typeface="Calibri"/>
                  </a:rPr>
                  <a:t>a </a:t>
                </a:r>
                <a:r>
                  <a:rPr lang="pt-BR" sz="2200" spc="-10" dirty="0">
                    <a:latin typeface="Calibri"/>
                    <a:cs typeface="Calibri"/>
                  </a:rPr>
                  <a:t>derivada </a:t>
                </a:r>
                <a:r>
                  <a:rPr lang="pt-BR" sz="2200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ar-AE" sz="2200" b="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fPr>
                      <m:num>
                        <m:r>
                          <a:rPr lang="ar-AE" sz="2200" b="0" i="1" smtClean="0">
                            <a:latin typeface="Cambria Math" panose="02040503050406030204" pitchFamily="18" charset="0"/>
                            <a:cs typeface="Calibri"/>
                          </a:rPr>
                          <m:t>𝜕</m:t>
                        </m:r>
                        <m:sSubSup>
                          <m:sSubSupPr>
                            <m:ctrlPr>
                              <a:rPr lang="ar-AE" sz="22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sSubSupPr>
                          <m:e>
                            <m:r>
                              <a:rPr lang="ar-AE" sz="22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𝑢</m:t>
                            </m:r>
                          </m:e>
                          <m:sub>
                            <m:r>
                              <a:rPr lang="ar-AE" sz="22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𝑖</m:t>
                            </m:r>
                          </m:sub>
                          <m:sup>
                            <m:r>
                              <a:rPr lang="ar-AE" sz="22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𝑚</m:t>
                            </m:r>
                          </m:sup>
                        </m:sSubSup>
                      </m:num>
                      <m:den>
                        <m:r>
                          <a:rPr lang="ar-AE" sz="2200" b="0" i="1" smtClean="0">
                            <a:latin typeface="Cambria Math" panose="02040503050406030204" pitchFamily="18" charset="0"/>
                            <a:cs typeface="Calibri"/>
                          </a:rPr>
                          <m:t>𝜕</m:t>
                        </m:r>
                        <m:sSubSup>
                          <m:sSubSupPr>
                            <m:ctrlPr>
                              <a:rPr lang="ar-AE" sz="22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sSubSupPr>
                          <m:e>
                            <m:r>
                              <a:rPr lang="ar-AE" sz="22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𝑤</m:t>
                            </m:r>
                          </m:e>
                          <m:sub>
                            <m:r>
                              <a:rPr lang="ar-AE" sz="22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𝑖</m:t>
                            </m:r>
                            <m:r>
                              <a:rPr lang="ar-AE" sz="22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,</m:t>
                            </m:r>
                            <m:r>
                              <a:rPr lang="ar-AE" sz="22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𝑗</m:t>
                            </m:r>
                          </m:sub>
                          <m:sup>
                            <m:r>
                              <a:rPr lang="ar-AE" sz="22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𝑚</m:t>
                            </m:r>
                          </m:sup>
                        </m:sSubSup>
                        <m:r>
                          <a:rPr lang="ar-AE" sz="2200" b="0" i="1" smtClean="0">
                            <a:latin typeface="Cambria Math" panose="02040503050406030204" pitchFamily="18" charset="0"/>
                            <a:cs typeface="Calibri"/>
                          </a:rPr>
                          <m:t> </m:t>
                        </m:r>
                      </m:den>
                    </m:f>
                  </m:oMath>
                </a14:m>
                <a:r>
                  <a:rPr lang="pt-BR" sz="2200" dirty="0">
                    <a:latin typeface="Calibri"/>
                    <a:cs typeface="Calibri"/>
                  </a:rPr>
                  <a:t>é</a:t>
                </a:r>
                <a:r>
                  <a:rPr lang="pt-BR" sz="2200" spc="-3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trivial</a:t>
                </a:r>
                <a:r>
                  <a:rPr lang="pt-BR" sz="2200" spc="-75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(ela</a:t>
                </a:r>
                <a:r>
                  <a:rPr lang="pt-BR" sz="2200" spc="-4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é</a:t>
                </a:r>
                <a:r>
                  <a:rPr lang="pt-BR" sz="2200" spc="-4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apenas</a:t>
                </a:r>
                <a:r>
                  <a:rPr lang="pt-BR" sz="2200" spc="-5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o</a:t>
                </a:r>
                <a:r>
                  <a:rPr lang="pt-BR" sz="2200" spc="-35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valor</a:t>
                </a:r>
                <a:r>
                  <a:rPr lang="pt-BR" sz="2200" spc="-6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de</a:t>
                </a:r>
                <a:r>
                  <a:rPr lang="pt-BR" sz="2200" spc="-5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uma</a:t>
                </a:r>
                <a:r>
                  <a:rPr lang="pt-BR" sz="2200" spc="-40" dirty="0">
                    <a:latin typeface="Calibri"/>
                    <a:cs typeface="Calibri"/>
                  </a:rPr>
                  <a:t> </a:t>
                </a:r>
                <a:r>
                  <a:rPr lang="pt-BR" sz="2200" spc="-10" dirty="0">
                    <a:latin typeface="Calibri"/>
                    <a:cs typeface="Calibri"/>
                  </a:rPr>
                  <a:t>entrada</a:t>
                </a:r>
                <a:r>
                  <a:rPr lang="pt-BR" sz="2200" spc="-4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daquele</a:t>
                </a:r>
                <a:r>
                  <a:rPr lang="pt-BR" sz="2200" spc="-50" dirty="0">
                    <a:latin typeface="Calibri"/>
                    <a:cs typeface="Calibri"/>
                  </a:rPr>
                  <a:t> </a:t>
                </a:r>
                <a:r>
                  <a:rPr lang="pt-BR" sz="2200" spc="-20" dirty="0">
                    <a:latin typeface="Calibri"/>
                    <a:cs typeface="Calibri"/>
                  </a:rPr>
                  <a:t>nó).</a:t>
                </a:r>
                <a:endParaRPr lang="pt-BR" sz="22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42" name="object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939" y="5840007"/>
                <a:ext cx="10240010" cy="987514"/>
              </a:xfrm>
              <a:prstGeom prst="rect">
                <a:avLst/>
              </a:prstGeom>
              <a:blipFill>
                <a:blip r:embed="rId5"/>
                <a:stretch>
                  <a:fillRect l="-1429" t="-7407" r="-8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object 48"/>
              <p:cNvSpPr txBox="1"/>
              <p:nvPr/>
            </p:nvSpPr>
            <p:spPr>
              <a:xfrm>
                <a:off x="7953818" y="838200"/>
                <a:ext cx="1597025" cy="767326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32384" marR="5080" indent="-20320">
                  <a:spcBef>
                    <a:spcPts val="100"/>
                  </a:spcBef>
                </a:pPr>
                <a:r>
                  <a:rPr lang="pt-BR" sz="1200" dirty="0">
                    <a:latin typeface="Calibri"/>
                    <a:cs typeface="Calibri"/>
                  </a:rPr>
                  <a:t>Saída</a:t>
                </a:r>
                <a:r>
                  <a:rPr lang="pt-BR" sz="1200" spc="-20" dirty="0">
                    <a:latin typeface="Calibri"/>
                    <a:cs typeface="Calibri"/>
                  </a:rPr>
                  <a:t> </a:t>
                </a:r>
                <a:r>
                  <a:rPr lang="pt-BR" sz="1200" dirty="0">
                    <a:latin typeface="Calibri"/>
                    <a:cs typeface="Calibri"/>
                  </a:rPr>
                  <a:t>da</a:t>
                </a:r>
                <a:r>
                  <a:rPr lang="pt-BR" sz="1200" spc="-30" dirty="0">
                    <a:latin typeface="Calibri"/>
                    <a:cs typeface="Calibri"/>
                  </a:rPr>
                  <a:t> </a:t>
                </a:r>
                <a:r>
                  <a:rPr lang="pt-BR" sz="1200" dirty="0">
                    <a:latin typeface="Calibri"/>
                    <a:cs typeface="Calibri"/>
                  </a:rPr>
                  <a:t>camada</a:t>
                </a:r>
                <a:r>
                  <a:rPr lang="pt-BR" sz="1200" spc="-10" dirty="0">
                    <a:latin typeface="Calibri"/>
                    <a:cs typeface="Calibri"/>
                  </a:rPr>
                  <a:t> anterior </a:t>
                </a:r>
                <a:r>
                  <a:rPr lang="pt-BR" sz="1200" dirty="0">
                    <a:latin typeface="Calibri"/>
                    <a:cs typeface="Calibri"/>
                  </a:rPr>
                  <a:t>conectada</a:t>
                </a:r>
                <a:r>
                  <a:rPr lang="pt-BR" sz="1200" spc="-10" dirty="0">
                    <a:latin typeface="Calibri"/>
                    <a:cs typeface="Calibri"/>
                  </a:rPr>
                  <a:t> </a:t>
                </a:r>
                <a:r>
                  <a:rPr lang="pt-BR" sz="1200" dirty="0">
                    <a:latin typeface="Calibri"/>
                    <a:cs typeface="Calibri"/>
                  </a:rPr>
                  <a:t>ao</a:t>
                </a:r>
                <a:r>
                  <a:rPr lang="pt-BR" sz="1200" spc="10" dirty="0">
                    <a:latin typeface="Calibri"/>
                    <a:cs typeface="Calibri"/>
                  </a:rPr>
                  <a:t> </a:t>
                </a:r>
                <a:r>
                  <a:rPr lang="pt-BR" sz="1200" dirty="0">
                    <a:latin typeface="Cambria Math"/>
                    <a:cs typeface="Cambria Math"/>
                  </a:rPr>
                  <a:t>𝑖</a:t>
                </a:r>
                <a:r>
                  <a:rPr lang="pt-BR" sz="1200" dirty="0">
                    <a:latin typeface="Calibri"/>
                    <a:cs typeface="Calibri"/>
                  </a:rPr>
                  <a:t>-</a:t>
                </a:r>
                <a:r>
                  <a:rPr lang="pt-BR" sz="1200" dirty="0" err="1">
                    <a:latin typeface="Calibri"/>
                    <a:cs typeface="Calibri"/>
                  </a:rPr>
                  <a:t>ésimo</a:t>
                </a:r>
                <a:r>
                  <a:rPr lang="pt-BR" sz="1200" spc="5" dirty="0">
                    <a:latin typeface="Calibri"/>
                    <a:cs typeface="Calibri"/>
                  </a:rPr>
                  <a:t> </a:t>
                </a:r>
                <a:r>
                  <a:rPr lang="pt-BR" sz="1200" spc="-25" dirty="0" err="1">
                    <a:latin typeface="Calibri"/>
                    <a:cs typeface="Calibri"/>
                  </a:rPr>
                  <a:t>nó</a:t>
                </a:r>
                <a:r>
                  <a:rPr lang="pt-BR" sz="1200" spc="-25" dirty="0">
                    <a:latin typeface="Calibri"/>
                    <a:cs typeface="Calibri"/>
                  </a:rPr>
                  <a:t> </a:t>
                </a:r>
                <a:r>
                  <a:rPr lang="pt-BR" sz="1200" dirty="0">
                    <a:latin typeface="Calibri"/>
                    <a:cs typeface="Calibri"/>
                  </a:rPr>
                  <a:t>da</a:t>
                </a:r>
                <a:r>
                  <a:rPr lang="pt-BR" sz="1200" spc="-5" dirty="0">
                    <a:latin typeface="Calibri"/>
                    <a:cs typeface="Calibri"/>
                  </a:rPr>
                  <a:t> </a:t>
                </a:r>
                <a:r>
                  <a:rPr lang="pt-BR" sz="1200" dirty="0">
                    <a:latin typeface="Cambria Math"/>
                    <a:cs typeface="Cambria Math"/>
                  </a:rPr>
                  <a:t>𝑚</a:t>
                </a:r>
                <a:r>
                  <a:rPr lang="pt-BR" sz="1200" dirty="0">
                    <a:latin typeface="Calibri"/>
                    <a:cs typeface="Calibri"/>
                  </a:rPr>
                  <a:t>-</a:t>
                </a:r>
                <a:r>
                  <a:rPr lang="pt-BR" sz="1200" dirty="0" err="1">
                    <a:latin typeface="Calibri"/>
                    <a:cs typeface="Calibri"/>
                  </a:rPr>
                  <a:t>ésima</a:t>
                </a:r>
                <a:r>
                  <a:rPr lang="pt-BR" sz="1200" spc="20" dirty="0">
                    <a:latin typeface="Calibri"/>
                    <a:cs typeface="Calibri"/>
                  </a:rPr>
                  <a:t> </a:t>
                </a:r>
                <a:r>
                  <a:rPr lang="pt-BR" sz="1200" spc="-10" dirty="0">
                    <a:latin typeface="Calibri"/>
                    <a:cs typeface="Calibri"/>
                  </a:rPr>
                  <a:t>camada através </a:t>
                </a:r>
                <a:r>
                  <a:rPr lang="pt-BR" sz="1200" dirty="0">
                    <a:latin typeface="Calibri"/>
                    <a:cs typeface="Calibri"/>
                  </a:rPr>
                  <a:t>do</a:t>
                </a:r>
                <a:r>
                  <a:rPr lang="pt-BR" sz="1200" spc="-10" dirty="0">
                    <a:latin typeface="Calibri"/>
                    <a:cs typeface="Calibri"/>
                  </a:rPr>
                  <a:t> </a:t>
                </a:r>
                <a:r>
                  <a:rPr lang="pt-BR" sz="1200" dirty="0">
                    <a:latin typeface="Calibri"/>
                    <a:cs typeface="Calibri"/>
                  </a:rPr>
                  <a:t>peso</a:t>
                </a:r>
                <a:r>
                  <a:rPr lang="pt-BR" sz="1200" spc="10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pt-BR" sz="1200" b="0" i="1" spc="1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SupPr>
                      <m:e>
                        <m:r>
                          <a:rPr lang="pt-BR" sz="1200" b="0" i="1" spc="10" smtClean="0">
                            <a:latin typeface="Cambria Math" panose="02040503050406030204" pitchFamily="18" charset="0"/>
                            <a:cs typeface="Calibri"/>
                          </a:rPr>
                          <m:t>𝑤</m:t>
                        </m:r>
                      </m:e>
                      <m:sub>
                        <m:r>
                          <a:rPr lang="pt-BR" sz="1200" b="0" i="1" spc="10" smtClean="0">
                            <a:latin typeface="Cambria Math" panose="02040503050406030204" pitchFamily="18" charset="0"/>
                            <a:cs typeface="Calibri"/>
                          </a:rPr>
                          <m:t>𝑖</m:t>
                        </m:r>
                        <m:r>
                          <a:rPr lang="pt-BR" sz="1200" b="0" i="1" spc="10" smtClean="0">
                            <a:latin typeface="Cambria Math" panose="02040503050406030204" pitchFamily="18" charset="0"/>
                            <a:cs typeface="Calibri"/>
                          </a:rPr>
                          <m:t>,</m:t>
                        </m:r>
                        <m:r>
                          <a:rPr lang="pt-BR" sz="1200" b="0" i="1" spc="10" smtClean="0">
                            <a:latin typeface="Cambria Math" panose="02040503050406030204" pitchFamily="18" charset="0"/>
                            <a:cs typeface="Calibri"/>
                          </a:rPr>
                          <m:t>𝑗</m:t>
                        </m:r>
                      </m:sub>
                      <m:sup>
                        <m:r>
                          <a:rPr lang="pt-BR" sz="1200" b="0" i="1" spc="10" smtClean="0">
                            <a:latin typeface="Cambria Math" panose="02040503050406030204" pitchFamily="18" charset="0"/>
                            <a:cs typeface="Calibri"/>
                          </a:rPr>
                          <m:t>𝑚</m:t>
                        </m:r>
                      </m:sup>
                    </m:sSubSup>
                    <m:r>
                      <a:rPr lang="pt-BR" sz="1200" b="0" i="1" spc="10" smtClean="0">
                        <a:latin typeface="Cambria Math" panose="02040503050406030204" pitchFamily="18" charset="0"/>
                        <a:cs typeface="Calibri"/>
                      </a:rPr>
                      <m:t> </m:t>
                    </m:r>
                  </m:oMath>
                </a14:m>
                <a:endParaRPr lang="pt-BR" sz="12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48" name="object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3818" y="838200"/>
                <a:ext cx="1597025" cy="767326"/>
              </a:xfrm>
              <a:prstGeom prst="rect">
                <a:avLst/>
              </a:prstGeom>
              <a:blipFill>
                <a:blip r:embed="rId6"/>
                <a:stretch>
                  <a:fillRect l="-5344" t="-4800" r="-6107" b="-104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object 52"/>
          <p:cNvSpPr/>
          <p:nvPr/>
        </p:nvSpPr>
        <p:spPr>
          <a:xfrm>
            <a:off x="7054595" y="990600"/>
            <a:ext cx="756920" cy="297180"/>
          </a:xfrm>
          <a:custGeom>
            <a:avLst/>
            <a:gdLst/>
            <a:ahLst/>
            <a:cxnLst/>
            <a:rect l="l" t="t" r="r" b="b"/>
            <a:pathLst>
              <a:path w="756920" h="297180">
                <a:moveTo>
                  <a:pt x="58038" y="225678"/>
                </a:moveTo>
                <a:lnTo>
                  <a:pt x="0" y="288036"/>
                </a:lnTo>
                <a:lnTo>
                  <a:pt x="84708" y="297052"/>
                </a:lnTo>
                <a:lnTo>
                  <a:pt x="75265" y="271779"/>
                </a:lnTo>
                <a:lnTo>
                  <a:pt x="61722" y="271779"/>
                </a:lnTo>
                <a:lnTo>
                  <a:pt x="57276" y="259841"/>
                </a:lnTo>
                <a:lnTo>
                  <a:pt x="69146" y="255405"/>
                </a:lnTo>
                <a:lnTo>
                  <a:pt x="58038" y="225678"/>
                </a:lnTo>
                <a:close/>
              </a:path>
              <a:path w="756920" h="297180">
                <a:moveTo>
                  <a:pt x="69146" y="255405"/>
                </a:moveTo>
                <a:lnTo>
                  <a:pt x="57276" y="259841"/>
                </a:lnTo>
                <a:lnTo>
                  <a:pt x="61722" y="271779"/>
                </a:lnTo>
                <a:lnTo>
                  <a:pt x="73605" y="267338"/>
                </a:lnTo>
                <a:lnTo>
                  <a:pt x="69146" y="255405"/>
                </a:lnTo>
                <a:close/>
              </a:path>
              <a:path w="756920" h="297180">
                <a:moveTo>
                  <a:pt x="73605" y="267338"/>
                </a:moveTo>
                <a:lnTo>
                  <a:pt x="61722" y="271779"/>
                </a:lnTo>
                <a:lnTo>
                  <a:pt x="75265" y="271779"/>
                </a:lnTo>
                <a:lnTo>
                  <a:pt x="73605" y="267338"/>
                </a:lnTo>
                <a:close/>
              </a:path>
              <a:path w="756920" h="297180">
                <a:moveTo>
                  <a:pt x="752475" y="0"/>
                </a:moveTo>
                <a:lnTo>
                  <a:pt x="69146" y="255405"/>
                </a:lnTo>
                <a:lnTo>
                  <a:pt x="73605" y="267338"/>
                </a:lnTo>
                <a:lnTo>
                  <a:pt x="756920" y="11937"/>
                </a:lnTo>
                <a:lnTo>
                  <a:pt x="75247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CaixaDeTexto 52">
                <a:extLst>
                  <a:ext uri="{FF2B5EF4-FFF2-40B4-BE49-F238E27FC236}">
                    <a16:creationId xmlns:a16="http://schemas.microsoft.com/office/drawing/2014/main" id="{157F272F-C554-D3AB-DB66-8FC0B1298B8E}"/>
                  </a:ext>
                </a:extLst>
              </p:cNvPr>
              <p:cNvSpPr txBox="1"/>
              <p:nvPr/>
            </p:nvSpPr>
            <p:spPr>
              <a:xfrm>
                <a:off x="5242626" y="990600"/>
                <a:ext cx="1706749" cy="71000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bSup>
                        </m:num>
                        <m:den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bSup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. </m:t>
                      </m:r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53" name="CaixaDeTexto 52">
                <a:extLst>
                  <a:ext uri="{FF2B5EF4-FFF2-40B4-BE49-F238E27FC236}">
                    <a16:creationId xmlns:a16="http://schemas.microsoft.com/office/drawing/2014/main" id="{157F272F-C554-D3AB-DB66-8FC0B1298B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2626" y="990600"/>
                <a:ext cx="1706749" cy="71000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CaixaDeTexto 53">
                <a:extLst>
                  <a:ext uri="{FF2B5EF4-FFF2-40B4-BE49-F238E27FC236}">
                    <a16:creationId xmlns:a16="http://schemas.microsoft.com/office/drawing/2014/main" id="{061420EA-6309-3416-6737-C8CF666D5555}"/>
                  </a:ext>
                </a:extLst>
              </p:cNvPr>
              <p:cNvSpPr txBox="1"/>
              <p:nvPr/>
            </p:nvSpPr>
            <p:spPr>
              <a:xfrm>
                <a:off x="5497535" y="2209800"/>
                <a:ext cx="1196931" cy="6751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bSup>
                        </m:num>
                        <m:den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bSup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. </m:t>
                      </m:r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54" name="CaixaDeTexto 53">
                <a:extLst>
                  <a:ext uri="{FF2B5EF4-FFF2-40B4-BE49-F238E27FC236}">
                    <a16:creationId xmlns:a16="http://schemas.microsoft.com/office/drawing/2014/main" id="{061420EA-6309-3416-6737-C8CF666D55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7535" y="2209800"/>
                <a:ext cx="1196931" cy="67518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CaixaDeTexto 54">
                <a:extLst>
                  <a:ext uri="{FF2B5EF4-FFF2-40B4-BE49-F238E27FC236}">
                    <a16:creationId xmlns:a16="http://schemas.microsoft.com/office/drawing/2014/main" id="{21F160CF-3C3B-49F0-32E7-461EC9F67C00}"/>
                  </a:ext>
                </a:extLst>
              </p:cNvPr>
              <p:cNvSpPr txBox="1"/>
              <p:nvPr/>
            </p:nvSpPr>
            <p:spPr>
              <a:xfrm>
                <a:off x="4195384" y="4014397"/>
                <a:ext cx="3801232" cy="71000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0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bSup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  <m:d>
                            <m:d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000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</m:d>
                        </m:num>
                        <m:den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bSup>
                        </m:den>
                      </m:f>
                      <m:f>
                        <m:f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bSup>
                        </m:num>
                        <m:den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bSup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bSup>
                      <m:sSubSup>
                        <m:sSubSup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55" name="CaixaDeTexto 54">
                <a:extLst>
                  <a:ext uri="{FF2B5EF4-FFF2-40B4-BE49-F238E27FC236}">
                    <a16:creationId xmlns:a16="http://schemas.microsoft.com/office/drawing/2014/main" id="{21F160CF-3C3B-49F0-32E7-461EC9F67C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5384" y="4014397"/>
                <a:ext cx="3801232" cy="71000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CaixaDeTexto 55">
                <a:extLst>
                  <a:ext uri="{FF2B5EF4-FFF2-40B4-BE49-F238E27FC236}">
                    <a16:creationId xmlns:a16="http://schemas.microsoft.com/office/drawing/2014/main" id="{BAFF28A2-EE1C-2F9A-498F-7EA8DE6761EF}"/>
                  </a:ext>
                </a:extLst>
              </p:cNvPr>
              <p:cNvSpPr txBox="1"/>
              <p:nvPr/>
            </p:nvSpPr>
            <p:spPr>
              <a:xfrm>
                <a:off x="4549680" y="5029200"/>
                <a:ext cx="3092641" cy="6987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0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sub>
                            <m:sup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bSup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  <m:d>
                            <m:d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000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</m:d>
                        </m:num>
                        <m:den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bSup>
                        </m:den>
                      </m:f>
                      <m:f>
                        <m:f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bSup>
                        </m:num>
                        <m:den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bSup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bSup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. </m:t>
                      </m:r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56" name="CaixaDeTexto 55">
                <a:extLst>
                  <a:ext uri="{FF2B5EF4-FFF2-40B4-BE49-F238E27FC236}">
                    <a16:creationId xmlns:a16="http://schemas.microsoft.com/office/drawing/2014/main" id="{BAFF28A2-EE1C-2F9A-498F-7EA8DE6761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9680" y="5029200"/>
                <a:ext cx="3092641" cy="69871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703884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39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Retropropagando</a:t>
            </a:r>
            <a:r>
              <a:rPr spc="-130" dirty="0"/>
              <a:t> </a:t>
            </a:r>
            <a:r>
              <a:rPr dirty="0"/>
              <a:t>o</a:t>
            </a:r>
            <a:r>
              <a:rPr spc="-110" dirty="0"/>
              <a:t> </a:t>
            </a:r>
            <a:r>
              <a:rPr spc="-20" dirty="0"/>
              <a:t>erro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3"/>
              <p:cNvSpPr txBox="1"/>
              <p:nvPr/>
            </p:nvSpPr>
            <p:spPr>
              <a:xfrm>
                <a:off x="916939" y="1487973"/>
                <a:ext cx="10996930" cy="5012591"/>
              </a:xfrm>
              <a:prstGeom prst="rect">
                <a:avLst/>
              </a:prstGeom>
            </p:spPr>
            <p:txBody>
              <a:bodyPr vert="horz" wrap="square" lIns="0" tIns="92075" rIns="0" bIns="0" rtlCol="0">
                <a:spAutoFit/>
              </a:bodyPr>
              <a:lstStyle/>
              <a:p>
                <a:pPr marL="469900" marR="1080135" indent="-457200">
                  <a:lnSpc>
                    <a:spcPct val="80000"/>
                  </a:lnSpc>
                  <a:spcBef>
                    <a:spcPts val="725"/>
                  </a:spcBef>
                  <a:buFont typeface="Arial" panose="020B0604020202020204" pitchFamily="34" charset="0"/>
                  <a:buChar char="•"/>
                  <a:tabLst>
                    <a:tab pos="241300" algn="l"/>
                  </a:tabLst>
                </a:pPr>
                <a:r>
                  <a:rPr lang="pt-BR" sz="2600" spc="-10" dirty="0">
                    <a:latin typeface="Calibri"/>
                    <a:cs typeface="Calibri"/>
                  </a:rPr>
                  <a:t>Portanto,</a:t>
                </a:r>
                <a:r>
                  <a:rPr lang="pt-BR" sz="2600" spc="-6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a</a:t>
                </a:r>
                <a:r>
                  <a:rPr lang="pt-BR" sz="2600" spc="-5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estratégia</a:t>
                </a:r>
                <a:r>
                  <a:rPr lang="pt-BR" sz="2600" spc="-8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de</a:t>
                </a:r>
                <a:r>
                  <a:rPr lang="pt-BR" sz="2600" spc="-5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otimização</a:t>
                </a:r>
                <a:r>
                  <a:rPr lang="pt-BR" sz="2600" spc="-4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adotada</a:t>
                </a:r>
                <a:r>
                  <a:rPr lang="pt-BR" sz="2600" spc="-4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para</a:t>
                </a:r>
                <a:r>
                  <a:rPr lang="pt-BR" sz="2600" spc="-6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atualização</a:t>
                </a:r>
                <a:r>
                  <a:rPr lang="pt-BR" sz="2600" spc="-5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dos</a:t>
                </a:r>
                <a:r>
                  <a:rPr lang="pt-BR" sz="2600" spc="-55" dirty="0">
                    <a:latin typeface="Calibri"/>
                    <a:cs typeface="Calibri"/>
                  </a:rPr>
                  <a:t> </a:t>
                </a:r>
                <a:r>
                  <a:rPr lang="pt-BR" sz="2600" spc="-10" dirty="0">
                    <a:latin typeface="Calibri"/>
                    <a:cs typeface="Calibri"/>
                  </a:rPr>
                  <a:t>pesos </a:t>
                </a:r>
                <a:r>
                  <a:rPr lang="pt-BR" sz="2600" dirty="0">
                    <a:latin typeface="Calibri"/>
                    <a:cs typeface="Calibri"/>
                  </a:rPr>
                  <a:t>(sinápticos</a:t>
                </a:r>
                <a:r>
                  <a:rPr lang="pt-BR" sz="2600" spc="-6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e</a:t>
                </a:r>
                <a:r>
                  <a:rPr lang="pt-BR" sz="2600" spc="-3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de</a:t>
                </a:r>
                <a:r>
                  <a:rPr lang="pt-BR" sz="2600" spc="-2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bias)</a:t>
                </a:r>
                <a:r>
                  <a:rPr lang="pt-BR" sz="2600" spc="-2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da</a:t>
                </a:r>
                <a:r>
                  <a:rPr lang="pt-BR" sz="2600" spc="-2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rede</a:t>
                </a:r>
                <a:r>
                  <a:rPr lang="pt-BR" sz="2600" spc="-2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neural</a:t>
                </a:r>
                <a:r>
                  <a:rPr lang="pt-BR" sz="2600" spc="-4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é</a:t>
                </a:r>
                <a:r>
                  <a:rPr lang="pt-BR" sz="2600" spc="-3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a</a:t>
                </a:r>
                <a:r>
                  <a:rPr lang="pt-BR" sz="2600" spc="-15" dirty="0">
                    <a:latin typeface="Calibri"/>
                    <a:cs typeface="Calibri"/>
                  </a:rPr>
                  <a:t> </a:t>
                </a:r>
                <a:r>
                  <a:rPr lang="pt-BR" sz="2600" spc="-10" dirty="0">
                    <a:latin typeface="Calibri"/>
                    <a:cs typeface="Calibri"/>
                  </a:rPr>
                  <a:t>seguinte:</a:t>
                </a:r>
                <a:endParaRPr lang="pt-BR" sz="2600" dirty="0">
                  <a:latin typeface="Calibri"/>
                  <a:cs typeface="Calibri"/>
                </a:endParaRPr>
              </a:p>
              <a:p>
                <a:pPr marL="927100" lvl="1" indent="-457834">
                  <a:lnSpc>
                    <a:spcPts val="2635"/>
                  </a:lnSpc>
                  <a:buAutoNum type="arabicPeriod"/>
                  <a:tabLst>
                    <a:tab pos="927100" algn="l"/>
                    <a:tab pos="927735" algn="l"/>
                  </a:tabLst>
                </a:pPr>
                <a:r>
                  <a:rPr lang="pt-BR" sz="2200" spc="-25" dirty="0">
                    <a:latin typeface="Calibri"/>
                    <a:cs typeface="Calibri"/>
                  </a:rPr>
                  <a:t>Começa-</a:t>
                </a:r>
                <a:r>
                  <a:rPr lang="pt-BR" sz="2200" dirty="0">
                    <a:latin typeface="Calibri"/>
                    <a:cs typeface="Calibri"/>
                  </a:rPr>
                  <a:t>se</a:t>
                </a:r>
                <a:r>
                  <a:rPr lang="pt-BR" sz="2200" spc="-5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pela</a:t>
                </a:r>
                <a:r>
                  <a:rPr lang="pt-BR" sz="2200" spc="-4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saída,</a:t>
                </a:r>
                <a:r>
                  <a:rPr lang="pt-BR" sz="2200" spc="-45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onde</a:t>
                </a:r>
                <a:r>
                  <a:rPr lang="pt-BR" sz="2200" spc="-35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o</a:t>
                </a:r>
                <a:r>
                  <a:rPr lang="pt-BR" sz="2200" spc="-25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erro</a:t>
                </a:r>
                <a:r>
                  <a:rPr lang="pt-BR" sz="2200" spc="-3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é</a:t>
                </a:r>
                <a:r>
                  <a:rPr lang="pt-BR" sz="2200" spc="-30" dirty="0">
                    <a:latin typeface="Calibri"/>
                    <a:cs typeface="Calibri"/>
                  </a:rPr>
                  <a:t> </a:t>
                </a:r>
                <a:r>
                  <a:rPr lang="pt-BR" sz="2200" spc="-10" dirty="0">
                    <a:latin typeface="Calibri"/>
                    <a:cs typeface="Calibri"/>
                  </a:rPr>
                  <a:t>calculado.</a:t>
                </a:r>
                <a:endParaRPr lang="pt-BR" sz="2200" dirty="0">
                  <a:latin typeface="Calibri"/>
                  <a:cs typeface="Calibri"/>
                </a:endParaRPr>
              </a:p>
              <a:p>
                <a:pPr marL="1155700" lvl="2" indent="-229235">
                  <a:lnSpc>
                    <a:spcPts val="2260"/>
                  </a:lnSpc>
                  <a:spcBef>
                    <a:spcPts val="50"/>
                  </a:spcBef>
                  <a:buFont typeface="Wingdings"/>
                  <a:buChar char=""/>
                  <a:tabLst>
                    <a:tab pos="1156335" algn="l"/>
                  </a:tabLst>
                </a:pPr>
                <a:r>
                  <a:rPr lang="pt-BR" sz="1900" dirty="0">
                    <a:latin typeface="Calibri"/>
                    <a:cs typeface="Calibri"/>
                  </a:rPr>
                  <a:t>Etapa</a:t>
                </a:r>
                <a:r>
                  <a:rPr lang="pt-BR" sz="1900" spc="-40" dirty="0">
                    <a:latin typeface="Calibri"/>
                    <a:cs typeface="Calibri"/>
                  </a:rPr>
                  <a:t> </a:t>
                </a:r>
                <a:r>
                  <a:rPr lang="pt-BR" sz="1900" dirty="0">
                    <a:latin typeface="Calibri"/>
                    <a:cs typeface="Calibri"/>
                  </a:rPr>
                  <a:t>chamada</a:t>
                </a:r>
                <a:r>
                  <a:rPr lang="pt-BR" sz="1900" spc="-35" dirty="0">
                    <a:latin typeface="Calibri"/>
                    <a:cs typeface="Calibri"/>
                  </a:rPr>
                  <a:t> </a:t>
                </a:r>
                <a:r>
                  <a:rPr lang="pt-BR" sz="1900" dirty="0">
                    <a:latin typeface="Calibri"/>
                    <a:cs typeface="Calibri"/>
                  </a:rPr>
                  <a:t>de</a:t>
                </a:r>
                <a:r>
                  <a:rPr lang="pt-BR" sz="1900" spc="-30" dirty="0">
                    <a:latin typeface="Calibri"/>
                    <a:cs typeface="Calibri"/>
                  </a:rPr>
                  <a:t> </a:t>
                </a:r>
                <a:r>
                  <a:rPr lang="pt-BR" sz="1900" b="1" i="1" dirty="0">
                    <a:latin typeface="Calibri"/>
                    <a:cs typeface="Calibri"/>
                  </a:rPr>
                  <a:t>direta</a:t>
                </a:r>
                <a:r>
                  <a:rPr lang="pt-BR" sz="1900" dirty="0">
                    <a:latin typeface="Calibri"/>
                    <a:cs typeface="Calibri"/>
                  </a:rPr>
                  <a:t>,</a:t>
                </a:r>
                <a:r>
                  <a:rPr lang="pt-BR" sz="1900" spc="-35" dirty="0">
                    <a:latin typeface="Calibri"/>
                    <a:cs typeface="Calibri"/>
                  </a:rPr>
                  <a:t> </a:t>
                </a:r>
                <a:r>
                  <a:rPr lang="pt-BR" sz="1900" dirty="0">
                    <a:latin typeface="Calibri"/>
                    <a:cs typeface="Calibri"/>
                  </a:rPr>
                  <a:t>pois</a:t>
                </a:r>
                <a:r>
                  <a:rPr lang="pt-BR" sz="1900" spc="-35" dirty="0">
                    <a:latin typeface="Calibri"/>
                    <a:cs typeface="Calibri"/>
                  </a:rPr>
                  <a:t> </a:t>
                </a:r>
                <a:r>
                  <a:rPr lang="pt-BR" sz="1900" spc="-10" dirty="0">
                    <a:latin typeface="Calibri"/>
                    <a:cs typeface="Calibri"/>
                  </a:rPr>
                  <a:t>aplica-</a:t>
                </a:r>
                <a:r>
                  <a:rPr lang="pt-BR" sz="1900" dirty="0">
                    <a:latin typeface="Calibri"/>
                    <a:cs typeface="Calibri"/>
                  </a:rPr>
                  <a:t>se</a:t>
                </a:r>
                <a:r>
                  <a:rPr lang="pt-BR" sz="1900" spc="-30" dirty="0">
                    <a:latin typeface="Calibri"/>
                    <a:cs typeface="Calibri"/>
                  </a:rPr>
                  <a:t> </a:t>
                </a:r>
                <a:r>
                  <a:rPr lang="pt-BR" sz="1900" dirty="0">
                    <a:latin typeface="Calibri"/>
                    <a:cs typeface="Calibri"/>
                  </a:rPr>
                  <a:t>as</a:t>
                </a:r>
                <a:r>
                  <a:rPr lang="pt-BR" sz="1900" spc="-40" dirty="0">
                    <a:latin typeface="Calibri"/>
                    <a:cs typeface="Calibri"/>
                  </a:rPr>
                  <a:t> </a:t>
                </a:r>
                <a:r>
                  <a:rPr lang="pt-BR" sz="1900" spc="-10" dirty="0">
                    <a:latin typeface="Calibri"/>
                    <a:cs typeface="Calibri"/>
                  </a:rPr>
                  <a:t>entradas</a:t>
                </a:r>
                <a:r>
                  <a:rPr lang="pt-BR" sz="1900" spc="-50" dirty="0">
                    <a:latin typeface="Calibri"/>
                    <a:cs typeface="Calibri"/>
                  </a:rPr>
                  <a:t> </a:t>
                </a:r>
                <a:r>
                  <a:rPr lang="pt-BR" sz="1900" dirty="0">
                    <a:latin typeface="Calibri"/>
                    <a:cs typeface="Calibri"/>
                  </a:rPr>
                  <a:t>à</a:t>
                </a:r>
                <a:r>
                  <a:rPr lang="pt-BR" sz="1900" spc="-45" dirty="0">
                    <a:latin typeface="Calibri"/>
                    <a:cs typeface="Calibri"/>
                  </a:rPr>
                  <a:t> </a:t>
                </a:r>
                <a:r>
                  <a:rPr lang="pt-BR" sz="1900" dirty="0">
                    <a:latin typeface="Calibri"/>
                    <a:cs typeface="Calibri"/>
                  </a:rPr>
                  <a:t>rede</a:t>
                </a:r>
                <a:r>
                  <a:rPr lang="pt-BR" sz="1900" spc="-25" dirty="0">
                    <a:latin typeface="Calibri"/>
                    <a:cs typeface="Calibri"/>
                  </a:rPr>
                  <a:t> </a:t>
                </a:r>
                <a:r>
                  <a:rPr lang="pt-BR" sz="1900" dirty="0">
                    <a:latin typeface="Calibri"/>
                    <a:cs typeface="Calibri"/>
                  </a:rPr>
                  <a:t>e</a:t>
                </a:r>
                <a:r>
                  <a:rPr lang="pt-BR" sz="1900" spc="-40" dirty="0">
                    <a:latin typeface="Calibri"/>
                    <a:cs typeface="Calibri"/>
                  </a:rPr>
                  <a:t> </a:t>
                </a:r>
                <a:r>
                  <a:rPr lang="pt-BR" sz="1900" spc="-10" dirty="0">
                    <a:latin typeface="Calibri"/>
                    <a:cs typeface="Calibri"/>
                  </a:rPr>
                  <a:t>calcula-</a:t>
                </a:r>
                <a:r>
                  <a:rPr lang="pt-BR" sz="1900" dirty="0">
                    <a:latin typeface="Calibri"/>
                    <a:cs typeface="Calibri"/>
                  </a:rPr>
                  <a:t>se</a:t>
                </a:r>
                <a:r>
                  <a:rPr lang="pt-BR" sz="1900" spc="-25" dirty="0">
                    <a:latin typeface="Calibri"/>
                    <a:cs typeface="Calibri"/>
                  </a:rPr>
                  <a:t> </a:t>
                </a:r>
                <a:r>
                  <a:rPr lang="pt-BR" sz="1900" dirty="0">
                    <a:latin typeface="Calibri"/>
                    <a:cs typeface="Calibri"/>
                  </a:rPr>
                  <a:t>o</a:t>
                </a:r>
                <a:r>
                  <a:rPr lang="pt-BR" sz="1900" spc="-55" dirty="0">
                    <a:latin typeface="Calibri"/>
                    <a:cs typeface="Calibri"/>
                  </a:rPr>
                  <a:t> </a:t>
                </a:r>
                <a:r>
                  <a:rPr lang="pt-BR" sz="1900" dirty="0">
                    <a:latin typeface="Calibri"/>
                    <a:cs typeface="Calibri"/>
                  </a:rPr>
                  <a:t>erro</a:t>
                </a:r>
                <a:r>
                  <a:rPr lang="pt-BR" sz="1900" spc="-35" dirty="0">
                    <a:latin typeface="Calibri"/>
                    <a:cs typeface="Calibri"/>
                  </a:rPr>
                  <a:t> </a:t>
                </a:r>
                <a:r>
                  <a:rPr lang="pt-BR" sz="1900" dirty="0">
                    <a:latin typeface="Calibri"/>
                    <a:cs typeface="Calibri"/>
                  </a:rPr>
                  <a:t>de</a:t>
                </a:r>
                <a:r>
                  <a:rPr lang="pt-BR" sz="1900" spc="-40" dirty="0">
                    <a:latin typeface="Calibri"/>
                    <a:cs typeface="Calibri"/>
                  </a:rPr>
                  <a:t> </a:t>
                </a:r>
                <a:r>
                  <a:rPr lang="pt-BR" sz="1900" spc="-10" dirty="0">
                    <a:latin typeface="Calibri"/>
                    <a:cs typeface="Calibri"/>
                  </a:rPr>
                  <a:t>saída.</a:t>
                </a:r>
                <a:endParaRPr lang="pt-BR" sz="1900" dirty="0">
                  <a:latin typeface="Calibri"/>
                  <a:cs typeface="Calibri"/>
                </a:endParaRPr>
              </a:p>
              <a:p>
                <a:pPr marL="927100" lvl="1" indent="-457834">
                  <a:lnSpc>
                    <a:spcPts val="2360"/>
                  </a:lnSpc>
                  <a:buAutoNum type="arabicPeriod"/>
                  <a:tabLst>
                    <a:tab pos="927100" algn="l"/>
                    <a:tab pos="927735" algn="l"/>
                  </a:tabLst>
                </a:pPr>
                <a:r>
                  <a:rPr lang="pt-BR" sz="2200" spc="-30" dirty="0">
                    <a:latin typeface="Calibri"/>
                    <a:cs typeface="Calibri"/>
                  </a:rPr>
                  <a:t>Encontra-</a:t>
                </a:r>
                <a:r>
                  <a:rPr lang="pt-BR" sz="2200" dirty="0">
                    <a:latin typeface="Calibri"/>
                    <a:cs typeface="Calibri"/>
                  </a:rPr>
                  <a:t>se</a:t>
                </a:r>
                <a:r>
                  <a:rPr lang="pt-BR" sz="2200" spc="-3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uma</a:t>
                </a:r>
                <a:r>
                  <a:rPr lang="pt-BR" sz="2200" spc="-30" dirty="0">
                    <a:latin typeface="Calibri"/>
                    <a:cs typeface="Calibri"/>
                  </a:rPr>
                  <a:t> </a:t>
                </a:r>
                <a:r>
                  <a:rPr lang="pt-BR" sz="2200" b="1" i="1" dirty="0">
                    <a:latin typeface="Calibri"/>
                    <a:cs typeface="Calibri"/>
                  </a:rPr>
                  <a:t>regra</a:t>
                </a:r>
                <a:r>
                  <a:rPr lang="pt-BR" sz="2200" b="1" i="1" spc="-45" dirty="0">
                    <a:latin typeface="Calibri"/>
                    <a:cs typeface="Calibri"/>
                  </a:rPr>
                  <a:t> </a:t>
                </a:r>
                <a:r>
                  <a:rPr lang="pt-BR" sz="2200" b="1" i="1" dirty="0">
                    <a:latin typeface="Calibri"/>
                    <a:cs typeface="Calibri"/>
                  </a:rPr>
                  <a:t>recursiva</a:t>
                </a:r>
                <a:r>
                  <a:rPr lang="pt-BR" sz="2200" b="1" i="1" spc="-2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que</a:t>
                </a:r>
                <a:r>
                  <a:rPr lang="pt-BR" sz="2200" spc="-5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gere</a:t>
                </a:r>
                <a:r>
                  <a:rPr lang="pt-BR" sz="2200" spc="-35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os</a:t>
                </a:r>
                <a:r>
                  <a:rPr lang="pt-BR" sz="2200" spc="-50" dirty="0">
                    <a:latin typeface="Calibri"/>
                    <a:cs typeface="Calibri"/>
                  </a:rPr>
                  <a:t> </a:t>
                </a:r>
                <a:r>
                  <a:rPr lang="pt-BR" sz="2200" spc="-10" dirty="0">
                    <a:latin typeface="Calibri"/>
                    <a:cs typeface="Calibri"/>
                  </a:rPr>
                  <a:t>valores</a:t>
                </a:r>
                <a:r>
                  <a:rPr lang="pt-BR" sz="2200" spc="-6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de</a:t>
                </a:r>
                <a:r>
                  <a:rPr lang="pt-BR" sz="2200" spc="-30" dirty="0">
                    <a:latin typeface="Calibri"/>
                    <a:cs typeface="Calibri"/>
                  </a:rPr>
                  <a:t> </a:t>
                </a:r>
                <a:r>
                  <a:rPr lang="pt-BR" sz="2200" b="1" i="1" spc="-10" dirty="0">
                    <a:latin typeface="Calibri"/>
                    <a:cs typeface="Calibri"/>
                  </a:rPr>
                  <a:t>sensibilidade</a:t>
                </a:r>
                <a:r>
                  <a:rPr lang="pt-BR" sz="2200" b="1" i="1" spc="-6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para</a:t>
                </a:r>
                <a:r>
                  <a:rPr lang="pt-BR" sz="2200" spc="-5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os</a:t>
                </a:r>
                <a:r>
                  <a:rPr lang="pt-BR" sz="2200" spc="-45" dirty="0">
                    <a:latin typeface="Calibri"/>
                    <a:cs typeface="Calibri"/>
                  </a:rPr>
                  <a:t> </a:t>
                </a:r>
                <a:r>
                  <a:rPr lang="pt-BR" sz="2200" b="1" i="1" dirty="0">
                    <a:latin typeface="Calibri"/>
                    <a:cs typeface="Calibri"/>
                  </a:rPr>
                  <a:t>nós</a:t>
                </a:r>
                <a:r>
                  <a:rPr lang="pt-BR" sz="2200" b="1" i="1" spc="-50" dirty="0">
                    <a:latin typeface="Calibri"/>
                    <a:cs typeface="Calibri"/>
                  </a:rPr>
                  <a:t> </a:t>
                </a:r>
                <a:r>
                  <a:rPr lang="pt-BR" sz="2200" spc="-25" dirty="0">
                    <a:latin typeface="Calibri"/>
                    <a:cs typeface="Calibri"/>
                  </a:rPr>
                  <a:t>das</a:t>
                </a:r>
                <a:endParaRPr lang="pt-BR" sz="2200" dirty="0">
                  <a:latin typeface="Calibri"/>
                  <a:cs typeface="Calibri"/>
                </a:endParaRPr>
              </a:p>
              <a:p>
                <a:pPr marL="927100">
                  <a:lnSpc>
                    <a:spcPts val="2375"/>
                  </a:lnSpc>
                </a:pPr>
                <a:r>
                  <a:rPr lang="pt-BR" sz="2200" dirty="0">
                    <a:latin typeface="Calibri"/>
                    <a:cs typeface="Calibri"/>
                  </a:rPr>
                  <a:t>camadas</a:t>
                </a:r>
                <a:r>
                  <a:rPr lang="pt-BR" sz="2200" spc="-80" dirty="0">
                    <a:latin typeface="Calibri"/>
                    <a:cs typeface="Calibri"/>
                  </a:rPr>
                  <a:t> </a:t>
                </a:r>
                <a:r>
                  <a:rPr lang="pt-BR" sz="2200" spc="-10" dirty="0">
                    <a:latin typeface="Calibri"/>
                    <a:cs typeface="Calibri"/>
                  </a:rPr>
                  <a:t>anteriores</a:t>
                </a:r>
                <a:r>
                  <a:rPr lang="pt-BR" sz="2200" spc="-7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até</a:t>
                </a:r>
                <a:r>
                  <a:rPr lang="pt-BR" sz="2200" spc="-75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a</a:t>
                </a:r>
                <a:r>
                  <a:rPr lang="pt-BR" sz="2200" spc="-75" dirty="0">
                    <a:latin typeface="Calibri"/>
                    <a:cs typeface="Calibri"/>
                  </a:rPr>
                  <a:t> </a:t>
                </a:r>
                <a:r>
                  <a:rPr lang="pt-BR" sz="2200" spc="-10" dirty="0">
                    <a:latin typeface="Calibri"/>
                    <a:cs typeface="Calibri"/>
                  </a:rPr>
                  <a:t>primeira</a:t>
                </a:r>
                <a:r>
                  <a:rPr lang="pt-BR" sz="2200" spc="-75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camada</a:t>
                </a:r>
                <a:r>
                  <a:rPr lang="pt-BR" sz="2200" spc="-80" dirty="0">
                    <a:latin typeface="Calibri"/>
                    <a:cs typeface="Calibri"/>
                  </a:rPr>
                  <a:t> </a:t>
                </a:r>
                <a:r>
                  <a:rPr lang="pt-BR" sz="2200" spc="-10" dirty="0">
                    <a:latin typeface="Calibri"/>
                    <a:cs typeface="Calibri"/>
                  </a:rPr>
                  <a:t>oculta.</a:t>
                </a:r>
                <a:endParaRPr lang="pt-BR" sz="2200" dirty="0">
                  <a:latin typeface="Calibri"/>
                  <a:cs typeface="Calibri"/>
                </a:endParaRPr>
              </a:p>
              <a:p>
                <a:pPr marL="1155700" marR="5080" lvl="2" indent="-228600">
                  <a:lnSpc>
                    <a:spcPts val="1820"/>
                  </a:lnSpc>
                  <a:spcBef>
                    <a:spcPts val="505"/>
                  </a:spcBef>
                  <a:buFont typeface="Wingdings"/>
                  <a:buChar char=""/>
                  <a:tabLst>
                    <a:tab pos="1156335" algn="l"/>
                  </a:tabLst>
                </a:pPr>
                <a:r>
                  <a:rPr lang="pt-BR" sz="1900" dirty="0">
                    <a:latin typeface="Calibri"/>
                    <a:cs typeface="Calibri"/>
                  </a:rPr>
                  <a:t>Etapa</a:t>
                </a:r>
                <a:r>
                  <a:rPr lang="pt-BR" sz="1900" spc="-50" dirty="0">
                    <a:latin typeface="Calibri"/>
                    <a:cs typeface="Calibri"/>
                  </a:rPr>
                  <a:t> </a:t>
                </a:r>
                <a:r>
                  <a:rPr lang="pt-BR" sz="1900" dirty="0">
                    <a:latin typeface="Calibri"/>
                    <a:cs typeface="Calibri"/>
                  </a:rPr>
                  <a:t>chamada</a:t>
                </a:r>
                <a:r>
                  <a:rPr lang="pt-BR" sz="1900" spc="-50" dirty="0">
                    <a:latin typeface="Calibri"/>
                    <a:cs typeface="Calibri"/>
                  </a:rPr>
                  <a:t> </a:t>
                </a:r>
                <a:r>
                  <a:rPr lang="pt-BR" sz="1900" dirty="0">
                    <a:latin typeface="Calibri"/>
                    <a:cs typeface="Calibri"/>
                  </a:rPr>
                  <a:t>de</a:t>
                </a:r>
                <a:r>
                  <a:rPr lang="pt-BR" sz="1900" spc="-35" dirty="0">
                    <a:latin typeface="Calibri"/>
                    <a:cs typeface="Calibri"/>
                  </a:rPr>
                  <a:t> </a:t>
                </a:r>
                <a:r>
                  <a:rPr lang="pt-BR" sz="1900" b="1" i="1" dirty="0">
                    <a:latin typeface="Calibri"/>
                    <a:cs typeface="Calibri"/>
                  </a:rPr>
                  <a:t>reversa</a:t>
                </a:r>
                <a:r>
                  <a:rPr lang="pt-BR" sz="1900" dirty="0">
                    <a:latin typeface="Calibri"/>
                    <a:cs typeface="Calibri"/>
                  </a:rPr>
                  <a:t>,</a:t>
                </a:r>
                <a:r>
                  <a:rPr lang="pt-BR" sz="1900" spc="-45" dirty="0">
                    <a:latin typeface="Calibri"/>
                    <a:cs typeface="Calibri"/>
                  </a:rPr>
                  <a:t> </a:t>
                </a:r>
                <a:r>
                  <a:rPr lang="pt-BR" sz="1900" dirty="0">
                    <a:latin typeface="Calibri"/>
                    <a:cs typeface="Calibri"/>
                  </a:rPr>
                  <a:t>pois</a:t>
                </a:r>
                <a:r>
                  <a:rPr lang="pt-BR" sz="1900" spc="-50" dirty="0">
                    <a:latin typeface="Calibri"/>
                    <a:cs typeface="Calibri"/>
                  </a:rPr>
                  <a:t> </a:t>
                </a:r>
                <a:r>
                  <a:rPr lang="pt-BR" sz="1900" spc="-10" dirty="0">
                    <a:latin typeface="Calibri"/>
                    <a:cs typeface="Calibri"/>
                  </a:rPr>
                  <a:t>calcula-</a:t>
                </a:r>
                <a:r>
                  <a:rPr lang="pt-BR" sz="1900" dirty="0">
                    <a:latin typeface="Calibri"/>
                    <a:cs typeface="Calibri"/>
                  </a:rPr>
                  <a:t>se</a:t>
                </a:r>
                <a:r>
                  <a:rPr lang="pt-BR" sz="1900" spc="-35" dirty="0">
                    <a:latin typeface="Calibri"/>
                    <a:cs typeface="Calibri"/>
                  </a:rPr>
                  <a:t> </a:t>
                </a:r>
                <a:r>
                  <a:rPr lang="pt-BR" sz="1900" dirty="0">
                    <a:latin typeface="Calibri"/>
                    <a:cs typeface="Calibri"/>
                  </a:rPr>
                  <a:t>a</a:t>
                </a:r>
                <a:r>
                  <a:rPr lang="pt-BR" sz="1900" spc="-55" dirty="0">
                    <a:latin typeface="Calibri"/>
                    <a:cs typeface="Calibri"/>
                  </a:rPr>
                  <a:t> </a:t>
                </a:r>
                <a:r>
                  <a:rPr lang="pt-BR" sz="1900" spc="-10" dirty="0">
                    <a:latin typeface="Calibri"/>
                    <a:cs typeface="Calibri"/>
                  </a:rPr>
                  <a:t>contribuição</a:t>
                </a:r>
                <a:r>
                  <a:rPr lang="pt-BR" sz="1900" spc="-40" dirty="0">
                    <a:latin typeface="Calibri"/>
                    <a:cs typeface="Calibri"/>
                  </a:rPr>
                  <a:t> </a:t>
                </a:r>
                <a:r>
                  <a:rPr lang="pt-BR" sz="1900" dirty="0">
                    <a:latin typeface="Calibri"/>
                    <a:cs typeface="Calibri"/>
                  </a:rPr>
                  <a:t>de</a:t>
                </a:r>
                <a:r>
                  <a:rPr lang="pt-BR" sz="1900" spc="-50" dirty="0">
                    <a:latin typeface="Calibri"/>
                    <a:cs typeface="Calibri"/>
                  </a:rPr>
                  <a:t> </a:t>
                </a:r>
                <a:r>
                  <a:rPr lang="pt-BR" sz="1900" dirty="0">
                    <a:latin typeface="Calibri"/>
                    <a:cs typeface="Calibri"/>
                  </a:rPr>
                  <a:t>cada</a:t>
                </a:r>
                <a:r>
                  <a:rPr lang="pt-BR" sz="1900" spc="-55" dirty="0">
                    <a:latin typeface="Calibri"/>
                    <a:cs typeface="Calibri"/>
                  </a:rPr>
                  <a:t> </a:t>
                </a:r>
                <a:r>
                  <a:rPr lang="pt-BR" sz="1900" dirty="0">
                    <a:latin typeface="Calibri"/>
                    <a:cs typeface="Calibri"/>
                  </a:rPr>
                  <a:t>nó</a:t>
                </a:r>
                <a:r>
                  <a:rPr lang="pt-BR" sz="1900" spc="-55" dirty="0">
                    <a:latin typeface="Calibri"/>
                    <a:cs typeface="Calibri"/>
                  </a:rPr>
                  <a:t> </a:t>
                </a:r>
                <a:r>
                  <a:rPr lang="pt-BR" sz="1900" dirty="0">
                    <a:latin typeface="Calibri"/>
                    <a:cs typeface="Calibri"/>
                  </a:rPr>
                  <a:t>das</a:t>
                </a:r>
                <a:r>
                  <a:rPr lang="pt-BR" sz="1900" spc="-55" dirty="0">
                    <a:latin typeface="Calibri"/>
                    <a:cs typeface="Calibri"/>
                  </a:rPr>
                  <a:t> </a:t>
                </a:r>
                <a:r>
                  <a:rPr lang="pt-BR" sz="1900" dirty="0">
                    <a:latin typeface="Calibri"/>
                    <a:cs typeface="Calibri"/>
                  </a:rPr>
                  <a:t>camadas</a:t>
                </a:r>
                <a:r>
                  <a:rPr lang="pt-BR" sz="1900" spc="-55" dirty="0">
                    <a:latin typeface="Calibri"/>
                    <a:cs typeface="Calibri"/>
                  </a:rPr>
                  <a:t> </a:t>
                </a:r>
                <a:r>
                  <a:rPr lang="pt-BR" sz="1900" dirty="0">
                    <a:latin typeface="Calibri"/>
                    <a:cs typeface="Calibri"/>
                  </a:rPr>
                  <a:t>ocultas</a:t>
                </a:r>
                <a:r>
                  <a:rPr lang="pt-BR" sz="1900" spc="-50" dirty="0">
                    <a:latin typeface="Calibri"/>
                    <a:cs typeface="Calibri"/>
                  </a:rPr>
                  <a:t> </a:t>
                </a:r>
                <a:r>
                  <a:rPr lang="pt-BR" sz="1900" dirty="0">
                    <a:latin typeface="Calibri"/>
                    <a:cs typeface="Calibri"/>
                  </a:rPr>
                  <a:t>no</a:t>
                </a:r>
                <a:r>
                  <a:rPr lang="pt-BR" sz="1900" spc="-55" dirty="0">
                    <a:latin typeface="Calibri"/>
                    <a:cs typeface="Calibri"/>
                  </a:rPr>
                  <a:t> </a:t>
                </a:r>
                <a:r>
                  <a:rPr lang="pt-BR" sz="1900" dirty="0">
                    <a:latin typeface="Calibri"/>
                    <a:cs typeface="Calibri"/>
                  </a:rPr>
                  <a:t>erro</a:t>
                </a:r>
                <a:r>
                  <a:rPr lang="pt-BR" sz="1900" spc="-45" dirty="0">
                    <a:latin typeface="Calibri"/>
                    <a:cs typeface="Calibri"/>
                  </a:rPr>
                  <a:t> </a:t>
                </a:r>
                <a:r>
                  <a:rPr lang="pt-BR" sz="1900" spc="-25" dirty="0">
                    <a:latin typeface="Calibri"/>
                    <a:cs typeface="Calibri"/>
                  </a:rPr>
                  <a:t>de </a:t>
                </a:r>
                <a:r>
                  <a:rPr lang="pt-BR" sz="1900" spc="-10" dirty="0">
                    <a:latin typeface="Calibri"/>
                    <a:cs typeface="Calibri"/>
                  </a:rPr>
                  <a:t>saída.</a:t>
                </a:r>
                <a:endParaRPr lang="pt-BR" sz="1900" dirty="0">
                  <a:latin typeface="Calibri"/>
                  <a:cs typeface="Calibri"/>
                </a:endParaRPr>
              </a:p>
              <a:p>
                <a:pPr marL="469900" indent="-457200">
                  <a:lnSpc>
                    <a:spcPct val="100000"/>
                  </a:lnSpc>
                  <a:spcBef>
                    <a:spcPts val="365"/>
                  </a:spcBef>
                  <a:buFont typeface="Arial" panose="020B0604020202020204" pitchFamily="34" charset="0"/>
                  <a:buChar char="•"/>
                  <a:tabLst>
                    <a:tab pos="241300" algn="l"/>
                  </a:tabLst>
                </a:pPr>
                <a:r>
                  <a:rPr lang="pt-BR" sz="2600" dirty="0">
                    <a:latin typeface="Calibri"/>
                    <a:cs typeface="Calibri"/>
                  </a:rPr>
                  <a:t>Esse</a:t>
                </a:r>
                <a:r>
                  <a:rPr lang="pt-BR" sz="2600" spc="-5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processo</a:t>
                </a:r>
                <a:r>
                  <a:rPr lang="pt-BR" sz="2600" spc="-4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é</a:t>
                </a:r>
                <a:r>
                  <a:rPr lang="pt-BR" sz="2600" spc="-3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chamado</a:t>
                </a:r>
                <a:r>
                  <a:rPr lang="pt-BR" sz="2600" spc="-2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de</a:t>
                </a:r>
                <a:r>
                  <a:rPr lang="pt-BR" sz="2600" spc="-60" dirty="0">
                    <a:latin typeface="Calibri"/>
                    <a:cs typeface="Calibri"/>
                  </a:rPr>
                  <a:t> </a:t>
                </a:r>
                <a:r>
                  <a:rPr lang="pt-BR" sz="2600" b="1" i="1" dirty="0">
                    <a:latin typeface="Calibri"/>
                    <a:cs typeface="Calibri"/>
                  </a:rPr>
                  <a:t>retropropagação</a:t>
                </a:r>
                <a:r>
                  <a:rPr lang="pt-BR" sz="2600" b="1" i="1" spc="-35" dirty="0">
                    <a:latin typeface="Calibri"/>
                    <a:cs typeface="Calibri"/>
                  </a:rPr>
                  <a:t> </a:t>
                </a:r>
                <a:r>
                  <a:rPr lang="pt-BR" sz="2600" b="1" i="1" dirty="0">
                    <a:latin typeface="Calibri"/>
                    <a:cs typeface="Calibri"/>
                  </a:rPr>
                  <a:t>do</a:t>
                </a:r>
                <a:r>
                  <a:rPr lang="pt-BR" sz="2600" b="1" i="1" spc="-15" dirty="0">
                    <a:latin typeface="Calibri"/>
                    <a:cs typeface="Calibri"/>
                  </a:rPr>
                  <a:t> </a:t>
                </a:r>
                <a:r>
                  <a:rPr lang="pt-BR" sz="2600" b="1" i="1" dirty="0">
                    <a:latin typeface="Calibri"/>
                    <a:cs typeface="Calibri"/>
                  </a:rPr>
                  <a:t>erro</a:t>
                </a:r>
                <a:r>
                  <a:rPr lang="pt-BR" sz="2600" b="1" i="1" spc="-2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ou</a:t>
                </a:r>
                <a:r>
                  <a:rPr lang="pt-BR" sz="2600" spc="-15" dirty="0">
                    <a:latin typeface="Calibri"/>
                    <a:cs typeface="Calibri"/>
                  </a:rPr>
                  <a:t> </a:t>
                </a:r>
                <a:r>
                  <a:rPr lang="pt-BR" sz="2600" b="1" i="1" spc="-10" dirty="0">
                    <a:latin typeface="Calibri"/>
                    <a:cs typeface="Calibri"/>
                  </a:rPr>
                  <a:t>backpropagation</a:t>
                </a:r>
                <a:r>
                  <a:rPr lang="pt-BR" sz="2600" spc="-10" dirty="0">
                    <a:latin typeface="Calibri"/>
                    <a:cs typeface="Calibri"/>
                  </a:rPr>
                  <a:t>.</a:t>
                </a:r>
                <a:endParaRPr lang="pt-BR" sz="2600" dirty="0">
                  <a:latin typeface="Calibri"/>
                  <a:cs typeface="Calibri"/>
                </a:endParaRPr>
              </a:p>
              <a:p>
                <a:pPr marL="469900" indent="-457200">
                  <a:spcBef>
                    <a:spcPts val="370"/>
                  </a:spcBef>
                  <a:buFont typeface="Arial" panose="020B0604020202020204" pitchFamily="34" charset="0"/>
                  <a:buChar char="•"/>
                  <a:tabLst>
                    <a:tab pos="241300" algn="l"/>
                  </a:tabLst>
                </a:pPr>
                <a:r>
                  <a:rPr lang="pt-BR" sz="2600" dirty="0">
                    <a:latin typeface="Calibri"/>
                    <a:cs typeface="Calibri"/>
                  </a:rPr>
                  <a:t>Para</a:t>
                </a:r>
                <a:r>
                  <a:rPr lang="pt-BR" sz="2600" spc="-4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facilitar</a:t>
                </a:r>
                <a:r>
                  <a:rPr lang="pt-BR" sz="2600" spc="-4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a</a:t>
                </a:r>
                <a:r>
                  <a:rPr lang="pt-BR" sz="2600" spc="-75" dirty="0">
                    <a:latin typeface="Calibri"/>
                    <a:cs typeface="Calibri"/>
                  </a:rPr>
                  <a:t> </a:t>
                </a:r>
                <a:r>
                  <a:rPr lang="pt-BR" sz="2600" b="1" i="1" dirty="0">
                    <a:latin typeface="Calibri"/>
                    <a:cs typeface="Calibri"/>
                  </a:rPr>
                  <a:t>retropropagação</a:t>
                </a:r>
                <a:r>
                  <a:rPr lang="pt-BR" sz="2600" b="1" i="1" spc="-55" dirty="0">
                    <a:latin typeface="Calibri"/>
                    <a:cs typeface="Calibri"/>
                  </a:rPr>
                  <a:t> </a:t>
                </a:r>
                <a:r>
                  <a:rPr lang="pt-BR" sz="2600" b="1" i="1" dirty="0">
                    <a:latin typeface="Calibri"/>
                    <a:cs typeface="Calibri"/>
                  </a:rPr>
                  <a:t>do</a:t>
                </a:r>
                <a:r>
                  <a:rPr lang="pt-BR" sz="2600" b="1" i="1" spc="-40" dirty="0">
                    <a:latin typeface="Calibri"/>
                    <a:cs typeface="Calibri"/>
                  </a:rPr>
                  <a:t> </a:t>
                </a:r>
                <a:r>
                  <a:rPr lang="pt-BR" sz="2600" b="1" i="1" dirty="0">
                    <a:latin typeface="Calibri"/>
                    <a:cs typeface="Calibri"/>
                  </a:rPr>
                  <a:t>erro</a:t>
                </a:r>
                <a:r>
                  <a:rPr lang="pt-BR" sz="2600" dirty="0">
                    <a:latin typeface="Calibri"/>
                    <a:cs typeface="Calibri"/>
                  </a:rPr>
                  <a:t>,</a:t>
                </a:r>
                <a:r>
                  <a:rPr lang="pt-BR" sz="2600" spc="-4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nós</a:t>
                </a:r>
                <a:r>
                  <a:rPr lang="pt-BR" sz="2600" spc="-6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vamos</a:t>
                </a:r>
                <a:r>
                  <a:rPr lang="pt-BR" sz="2600" spc="-4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inicialmente</a:t>
                </a:r>
                <a:r>
                  <a:rPr lang="pt-BR" sz="2600" spc="-80" dirty="0">
                    <a:latin typeface="Calibri"/>
                    <a:cs typeface="Calibri"/>
                  </a:rPr>
                  <a:t> </a:t>
                </a:r>
                <a:r>
                  <a:rPr lang="pt-BR" sz="2600" dirty="0" err="1">
                    <a:latin typeface="Calibri"/>
                    <a:cs typeface="Calibri"/>
                  </a:rPr>
                  <a:t>agrupar</a:t>
                </a:r>
                <a:r>
                  <a:rPr lang="pt-BR" sz="2600" spc="-55" dirty="0">
                    <a:latin typeface="Calibri"/>
                    <a:cs typeface="Calibri"/>
                  </a:rPr>
                  <a:t> </a:t>
                </a:r>
                <a:r>
                  <a:rPr lang="pt-BR" sz="2600" spc="-10" dirty="0" err="1">
                    <a:latin typeface="Calibri"/>
                    <a:cs typeface="Calibri"/>
                  </a:rPr>
                  <a:t>todas</a:t>
                </a:r>
                <a:r>
                  <a:rPr lang="pt-BR" sz="2600" spc="-1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as</a:t>
                </a:r>
                <a:r>
                  <a:rPr lang="pt-BR" sz="2600" spc="-15" dirty="0">
                    <a:latin typeface="Calibri"/>
                    <a:cs typeface="Calibri"/>
                  </a:rPr>
                  <a:t> </a:t>
                </a:r>
                <a:r>
                  <a:rPr lang="pt-BR" sz="2600" b="1" i="1" dirty="0">
                    <a:latin typeface="Calibri"/>
                    <a:cs typeface="Calibri"/>
                  </a:rPr>
                  <a:t>sensibilidades</a:t>
                </a:r>
                <a:r>
                  <a:rPr lang="pt-BR" sz="2600" b="1" i="1" spc="-3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da</a:t>
                </a:r>
                <a:r>
                  <a:rPr lang="pt-BR" sz="2600" spc="-1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mbria Math"/>
                    <a:cs typeface="Cambria Math"/>
                  </a:rPr>
                  <a:t>𝑚</a:t>
                </a:r>
                <a:r>
                  <a:rPr lang="pt-BR" sz="2600" dirty="0">
                    <a:latin typeface="Calibri"/>
                    <a:cs typeface="Calibri"/>
                  </a:rPr>
                  <a:t>-</a:t>
                </a:r>
                <a:r>
                  <a:rPr lang="pt-BR" sz="2600" dirty="0" err="1">
                    <a:latin typeface="Calibri"/>
                    <a:cs typeface="Calibri"/>
                  </a:rPr>
                  <a:t>ésima</a:t>
                </a:r>
                <a:r>
                  <a:rPr lang="pt-BR" sz="2600" spc="-1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camada,</a:t>
                </a:r>
                <a:r>
                  <a:rPr lang="pt-BR" sz="2600" spc="-10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pt-BR" sz="2600" b="0" i="1" spc="-1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SupPr>
                      <m:e>
                        <m:r>
                          <a:rPr lang="pt-BR" sz="2600" b="0" i="1" spc="-10" smtClean="0">
                            <a:latin typeface="Cambria Math" panose="02040503050406030204" pitchFamily="18" charset="0"/>
                            <a:cs typeface="Calibri"/>
                          </a:rPr>
                          <m:t>𝛿</m:t>
                        </m:r>
                      </m:e>
                      <m:sub>
                        <m:r>
                          <a:rPr lang="pt-BR" sz="2600" b="0" i="1" spc="-10" smtClean="0">
                            <a:latin typeface="Cambria Math" panose="02040503050406030204" pitchFamily="18" charset="0"/>
                            <a:cs typeface="Calibri"/>
                          </a:rPr>
                          <m:t>𝑖</m:t>
                        </m:r>
                      </m:sub>
                      <m:sup>
                        <m:r>
                          <a:rPr lang="pt-BR" sz="2600" b="0" i="1" spc="-10" smtClean="0">
                            <a:latin typeface="Cambria Math" panose="02040503050406030204" pitchFamily="18" charset="0"/>
                            <a:cs typeface="Calibri"/>
                          </a:rPr>
                          <m:t>𝑚</m:t>
                        </m:r>
                      </m:sup>
                    </m:sSubSup>
                  </m:oMath>
                </a14:m>
                <a:r>
                  <a:rPr lang="pt-BR" sz="2600" spc="155" dirty="0">
                    <a:latin typeface="Cambria Math"/>
                    <a:cs typeface="Cambria Math"/>
                  </a:rPr>
                  <a:t>,</a:t>
                </a:r>
                <a:r>
                  <a:rPr lang="pt-BR" sz="2600" spc="-140" dirty="0">
                    <a:latin typeface="Cambria Math"/>
                    <a:cs typeface="Cambria Math"/>
                  </a:rPr>
                  <a:t> </a:t>
                </a:r>
                <a:r>
                  <a:rPr lang="pt-BR" sz="2600" dirty="0">
                    <a:latin typeface="Cambria Math"/>
                    <a:cs typeface="Cambria Math"/>
                  </a:rPr>
                  <a:t>∀𝑖</a:t>
                </a:r>
                <a:r>
                  <a:rPr lang="pt-BR" sz="2600" dirty="0">
                    <a:latin typeface="Calibri"/>
                    <a:cs typeface="Calibri"/>
                  </a:rPr>
                  <a:t>,</a:t>
                </a:r>
                <a:r>
                  <a:rPr lang="pt-BR" sz="2600" spc="-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em</a:t>
                </a:r>
                <a:r>
                  <a:rPr lang="pt-BR" sz="2600" spc="-2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um</a:t>
                </a:r>
                <a:r>
                  <a:rPr lang="pt-BR" sz="2600" spc="-20" dirty="0">
                    <a:latin typeface="Calibri"/>
                    <a:cs typeface="Calibri"/>
                  </a:rPr>
                  <a:t> </a:t>
                </a:r>
                <a:r>
                  <a:rPr lang="pt-BR" sz="2600" spc="-35" dirty="0">
                    <a:latin typeface="Calibri"/>
                    <a:cs typeface="Calibri"/>
                  </a:rPr>
                  <a:t>vetor,</a:t>
                </a:r>
                <a:r>
                  <a:rPr lang="pt-BR" sz="2600" dirty="0">
                    <a:latin typeface="Calibri"/>
                    <a:cs typeface="Calibri"/>
                  </a:rPr>
                  <a:t> </a:t>
                </a:r>
                <a:r>
                  <a:rPr lang="pt-BR" sz="2600" spc="80" dirty="0">
                    <a:latin typeface="Cambria Math"/>
                    <a:cs typeface="Cambria Math"/>
                  </a:rPr>
                  <a:t>𝜹</a:t>
                </a:r>
                <a:r>
                  <a:rPr lang="pt-BR" sz="2850" spc="120" baseline="27777" dirty="0">
                    <a:latin typeface="Cambria Math"/>
                    <a:cs typeface="Cambria Math"/>
                  </a:rPr>
                  <a:t>𝑚</a:t>
                </a:r>
                <a:r>
                  <a:rPr lang="pt-BR" sz="2600" spc="80" dirty="0">
                    <a:latin typeface="Calibri"/>
                    <a:cs typeface="Calibri"/>
                  </a:rPr>
                  <a:t>. </a:t>
                </a:r>
              </a:p>
              <a:p>
                <a:pPr marL="495300" indent="-457200">
                  <a:lnSpc>
                    <a:spcPts val="3050"/>
                  </a:lnSpc>
                  <a:buFont typeface="Arial" panose="020B0604020202020204" pitchFamily="34" charset="0"/>
                  <a:buChar char="•"/>
                  <a:tabLst>
                    <a:tab pos="266700" algn="l"/>
                  </a:tabLst>
                </a:pPr>
                <a:r>
                  <a:rPr lang="pt-BR" sz="2600" dirty="0">
                    <a:latin typeface="Calibri"/>
                    <a:cs typeface="Calibri"/>
                  </a:rPr>
                  <a:t>Em</a:t>
                </a:r>
                <a:r>
                  <a:rPr lang="pt-BR" sz="2600" spc="-3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seguida,</a:t>
                </a:r>
                <a:r>
                  <a:rPr lang="pt-BR" sz="2600" spc="-4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vamos</a:t>
                </a:r>
                <a:r>
                  <a:rPr lang="pt-BR" sz="2600" spc="-2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encontrar</a:t>
                </a:r>
                <a:r>
                  <a:rPr lang="pt-BR" sz="2600" spc="-3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uma</a:t>
                </a:r>
                <a:r>
                  <a:rPr lang="pt-BR" sz="2600" spc="-3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regra</a:t>
                </a:r>
                <a:r>
                  <a:rPr lang="pt-BR" sz="2600" spc="-3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que</a:t>
                </a:r>
                <a:r>
                  <a:rPr lang="pt-BR" sz="2600" spc="-3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fará</a:t>
                </a:r>
                <a:r>
                  <a:rPr lang="pt-BR" sz="2600" spc="-3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a</a:t>
                </a:r>
                <a:r>
                  <a:rPr lang="pt-BR" sz="2600" spc="-25" dirty="0">
                    <a:latin typeface="Calibri"/>
                    <a:cs typeface="Calibri"/>
                  </a:rPr>
                  <a:t> </a:t>
                </a:r>
                <a:r>
                  <a:rPr lang="pt-BR" sz="2600" spc="-10" dirty="0">
                    <a:latin typeface="Calibri"/>
                    <a:cs typeface="Calibri"/>
                  </a:rPr>
                  <a:t>transição</a:t>
                </a:r>
                <a:r>
                  <a:rPr lang="pt-BR" sz="2600" spc="-110" dirty="0">
                    <a:latin typeface="Calibri"/>
                    <a:cs typeface="Calibri"/>
                  </a:rPr>
                  <a:t> </a:t>
                </a:r>
                <a:r>
                  <a:rPr lang="pt-BR" sz="2600" spc="85" dirty="0">
                    <a:latin typeface="Cambria Math"/>
                    <a:cs typeface="Cambria Math"/>
                  </a:rPr>
                  <a:t>𝜹</a:t>
                </a:r>
                <a:r>
                  <a:rPr lang="pt-BR" sz="2850" spc="127" baseline="27777" dirty="0">
                    <a:latin typeface="Cambria Math"/>
                    <a:cs typeface="Cambria Math"/>
                  </a:rPr>
                  <a:t>𝑚</a:t>
                </a:r>
                <a:r>
                  <a:rPr lang="pt-BR" sz="2850" spc="615" baseline="27777" dirty="0">
                    <a:latin typeface="Cambria Math"/>
                    <a:cs typeface="Cambria Math"/>
                  </a:rPr>
                  <a:t> </a:t>
                </a:r>
                <a:r>
                  <a:rPr lang="pt-BR" sz="2600" dirty="0">
                    <a:latin typeface="Cambria Math"/>
                    <a:cs typeface="Cambria Math"/>
                  </a:rPr>
                  <a:t>→</a:t>
                </a:r>
                <a:r>
                  <a:rPr lang="pt-BR" sz="2600" spc="110" dirty="0">
                    <a:latin typeface="Cambria Math"/>
                    <a:cs typeface="Cambria Math"/>
                  </a:rPr>
                  <a:t> </a:t>
                </a:r>
                <a:r>
                  <a:rPr lang="pt-BR" sz="2600" spc="50" dirty="0">
                    <a:latin typeface="Cambria Math"/>
                    <a:cs typeface="Cambria Math"/>
                  </a:rPr>
                  <a:t>𝜹</a:t>
                </a:r>
                <a:r>
                  <a:rPr lang="pt-BR" sz="2850" spc="75" baseline="27777" dirty="0">
                    <a:latin typeface="Cambria Math"/>
                    <a:cs typeface="Cambria Math"/>
                  </a:rPr>
                  <a:t>𝑚−1</a:t>
                </a:r>
                <a:r>
                  <a:rPr lang="pt-BR" sz="2600" spc="50" dirty="0">
                    <a:latin typeface="Calibri"/>
                    <a:cs typeface="Calibri"/>
                  </a:rPr>
                  <a:t>.</a:t>
                </a:r>
              </a:p>
              <a:p>
                <a:pPr marL="495300" indent="-457200">
                  <a:lnSpc>
                    <a:spcPts val="3050"/>
                  </a:lnSpc>
                  <a:buFont typeface="Arial" panose="020B0604020202020204" pitchFamily="34" charset="0"/>
                  <a:buChar char="•"/>
                  <a:tabLst>
                    <a:tab pos="266700" algn="l"/>
                  </a:tabLst>
                </a:pPr>
                <a:r>
                  <a:rPr lang="pt-BR" sz="2600" dirty="0">
                    <a:latin typeface="Calibri"/>
                    <a:cs typeface="Calibri"/>
                  </a:rPr>
                  <a:t>Ou</a:t>
                </a:r>
                <a:r>
                  <a:rPr lang="pt-BR" sz="2600" spc="-2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seja,</a:t>
                </a:r>
                <a:r>
                  <a:rPr lang="pt-BR" sz="2600" spc="-3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a</a:t>
                </a:r>
                <a:r>
                  <a:rPr lang="pt-BR" sz="2600" spc="-2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partir</a:t>
                </a:r>
                <a:r>
                  <a:rPr lang="pt-BR" sz="2600" spc="-1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da</a:t>
                </a:r>
                <a:r>
                  <a:rPr lang="pt-BR" sz="2600" spc="-45" dirty="0">
                    <a:latin typeface="Calibri"/>
                    <a:cs typeface="Calibri"/>
                  </a:rPr>
                  <a:t> </a:t>
                </a:r>
                <a:r>
                  <a:rPr lang="pt-BR" sz="2600" b="1" i="1" dirty="0">
                    <a:latin typeface="Calibri"/>
                    <a:cs typeface="Calibri"/>
                  </a:rPr>
                  <a:t>sensibilidade</a:t>
                </a:r>
                <a:r>
                  <a:rPr lang="pt-BR" sz="2600" b="1" i="1" spc="-6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da</a:t>
                </a:r>
                <a:r>
                  <a:rPr lang="pt-BR" sz="2600" spc="-2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camada</a:t>
                </a:r>
                <a:r>
                  <a:rPr lang="pt-BR" sz="2600" spc="-3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mbria Math"/>
                    <a:cs typeface="Cambria Math"/>
                  </a:rPr>
                  <a:t>𝑚</a:t>
                </a:r>
                <a:r>
                  <a:rPr lang="pt-BR" sz="2600" dirty="0">
                    <a:latin typeface="Calibri"/>
                    <a:cs typeface="Calibri"/>
                  </a:rPr>
                  <a:t>,</a:t>
                </a:r>
                <a:r>
                  <a:rPr lang="pt-BR" sz="2600" spc="-2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iremos</a:t>
                </a:r>
                <a:r>
                  <a:rPr lang="pt-BR" sz="2600" spc="-4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encontrar</a:t>
                </a:r>
                <a:r>
                  <a:rPr lang="pt-BR" sz="2600" spc="-30" dirty="0">
                    <a:latin typeface="Calibri"/>
                    <a:cs typeface="Calibri"/>
                  </a:rPr>
                  <a:t> </a:t>
                </a:r>
                <a:r>
                  <a:rPr lang="pt-BR" sz="2600" spc="-50" dirty="0">
                    <a:latin typeface="Calibri"/>
                    <a:cs typeface="Calibri"/>
                  </a:rPr>
                  <a:t>a </a:t>
                </a:r>
                <a:r>
                  <a:rPr lang="pt-BR" sz="2600" b="1" i="1" dirty="0">
                    <a:latin typeface="Calibri"/>
                    <a:cs typeface="Calibri"/>
                  </a:rPr>
                  <a:t>sensibilidade</a:t>
                </a:r>
                <a:r>
                  <a:rPr lang="pt-BR" sz="2600" b="1" i="1" spc="-6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da</a:t>
                </a:r>
                <a:r>
                  <a:rPr lang="pt-BR" sz="2600" spc="-2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camada</a:t>
                </a:r>
                <a:r>
                  <a:rPr lang="pt-BR" sz="2600" spc="-15" dirty="0">
                    <a:latin typeface="Calibri"/>
                    <a:cs typeface="Calibri"/>
                  </a:rPr>
                  <a:t> </a:t>
                </a:r>
                <a:r>
                  <a:rPr lang="pt-BR" sz="2600" spc="-25" dirty="0">
                    <a:latin typeface="Calibri"/>
                    <a:cs typeface="Calibri"/>
                  </a:rPr>
                  <a:t>anterior,</a:t>
                </a:r>
                <a:r>
                  <a:rPr lang="pt-BR" sz="2600" spc="-1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mbria Math"/>
                    <a:cs typeface="Cambria Math"/>
                  </a:rPr>
                  <a:t>𝑚</a:t>
                </a:r>
                <a:r>
                  <a:rPr lang="pt-BR" sz="2600" spc="25" dirty="0">
                    <a:latin typeface="Cambria Math"/>
                    <a:cs typeface="Cambria Math"/>
                  </a:rPr>
                  <a:t> </a:t>
                </a:r>
                <a:r>
                  <a:rPr lang="pt-BR" sz="2600" dirty="0">
                    <a:latin typeface="Cambria Math"/>
                    <a:cs typeface="Cambria Math"/>
                  </a:rPr>
                  <a:t>−</a:t>
                </a:r>
                <a:r>
                  <a:rPr lang="pt-BR" sz="2600" spc="-10" dirty="0">
                    <a:latin typeface="Cambria Math"/>
                    <a:cs typeface="Cambria Math"/>
                  </a:rPr>
                  <a:t> </a:t>
                </a:r>
                <a:r>
                  <a:rPr lang="pt-BR" sz="2600" spc="-25" dirty="0">
                    <a:latin typeface="Cambria Math"/>
                    <a:cs typeface="Cambria Math"/>
                  </a:rPr>
                  <a:t>1</a:t>
                </a:r>
                <a:r>
                  <a:rPr lang="pt-BR" sz="2600" spc="-25" dirty="0">
                    <a:latin typeface="Calibri"/>
                    <a:cs typeface="Calibri"/>
                  </a:rPr>
                  <a:t>.</a:t>
                </a:r>
                <a:endParaRPr lang="pt-BR" sz="26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3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939" y="1487973"/>
                <a:ext cx="10996930" cy="5012591"/>
              </a:xfrm>
              <a:prstGeom prst="rect">
                <a:avLst/>
              </a:prstGeom>
              <a:blipFill>
                <a:blip r:embed="rId2"/>
                <a:stretch>
                  <a:fillRect l="-1552" t="-1582" r="-831" b="-316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847961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39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Retropropagando</a:t>
            </a:r>
            <a:r>
              <a:rPr spc="-130" dirty="0"/>
              <a:t> </a:t>
            </a:r>
            <a:r>
              <a:rPr dirty="0"/>
              <a:t>o</a:t>
            </a:r>
            <a:r>
              <a:rPr spc="-110" dirty="0"/>
              <a:t> </a:t>
            </a:r>
            <a:r>
              <a:rPr spc="-20" dirty="0"/>
              <a:t>erro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8839" y="1600200"/>
            <a:ext cx="10946130" cy="1817370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279400" marR="43180" indent="-228600">
              <a:lnSpc>
                <a:spcPct val="80000"/>
              </a:lnSpc>
              <a:spcBef>
                <a:spcPts val="725"/>
              </a:spcBef>
              <a:buFont typeface="Arial"/>
              <a:buChar char="•"/>
              <a:tabLst>
                <a:tab pos="279400" algn="l"/>
              </a:tabLst>
            </a:pPr>
            <a:r>
              <a:rPr sz="2600" dirty="0">
                <a:latin typeface="Calibri"/>
                <a:cs typeface="Calibri"/>
              </a:rPr>
              <a:t>Em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resumo,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processo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retropropagação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do</a:t>
            </a:r>
            <a:r>
              <a:rPr sz="2600" b="1" i="1" spc="-1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erro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iniciado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calculando-</a:t>
            </a:r>
            <a:r>
              <a:rPr sz="2600" dirty="0">
                <a:latin typeface="Calibri"/>
                <a:cs typeface="Calibri"/>
              </a:rPr>
              <a:t>se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50" dirty="0">
                <a:latin typeface="Calibri"/>
                <a:cs typeface="Calibri"/>
              </a:rPr>
              <a:t>o </a:t>
            </a:r>
            <a:r>
              <a:rPr sz="2600" b="1" i="1" dirty="0">
                <a:latin typeface="Calibri"/>
                <a:cs typeface="Calibri"/>
              </a:rPr>
              <a:t>vetor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</a:t>
            </a:r>
            <a:r>
              <a:rPr sz="2600" b="1" i="1" spc="-2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sensibilidades</a:t>
            </a:r>
            <a:r>
              <a:rPr sz="2600" b="1" i="1" spc="-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última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camada,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70" dirty="0">
                <a:latin typeface="Cambria Math"/>
                <a:cs typeface="Cambria Math"/>
              </a:rPr>
              <a:t>𝜹</a:t>
            </a:r>
            <a:r>
              <a:rPr sz="2850" spc="104" baseline="27777" dirty="0">
                <a:latin typeface="Cambria Math"/>
                <a:cs typeface="Cambria Math"/>
              </a:rPr>
              <a:t>𝑀</a:t>
            </a:r>
            <a:r>
              <a:rPr sz="2600" spc="70" dirty="0">
                <a:latin typeface="Calibri"/>
                <a:cs typeface="Calibri"/>
              </a:rPr>
              <a:t>,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e,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maneira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recursiva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obtém- </a:t>
            </a:r>
            <a:r>
              <a:rPr sz="2600" dirty="0">
                <a:latin typeface="Calibri"/>
                <a:cs typeface="Calibri"/>
              </a:rPr>
              <a:t>se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os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vetores</a:t>
            </a:r>
            <a:r>
              <a:rPr sz="2600" b="1" i="1" spc="-4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</a:t>
            </a:r>
            <a:r>
              <a:rPr sz="2600" b="1" i="1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sensibilidades</a:t>
            </a:r>
            <a:r>
              <a:rPr sz="2600" b="1" i="1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todas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camadas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anteriores.</a:t>
            </a:r>
            <a:endParaRPr sz="2600" dirty="0">
              <a:latin typeface="Calibri"/>
              <a:cs typeface="Calibri"/>
            </a:endParaRPr>
          </a:p>
          <a:p>
            <a:pPr marL="279400" indent="-228600">
              <a:lnSpc>
                <a:spcPts val="2810"/>
              </a:lnSpc>
              <a:spcBef>
                <a:spcPts val="375"/>
              </a:spcBef>
              <a:buFont typeface="Arial"/>
              <a:buChar char="•"/>
              <a:tabLst>
                <a:tab pos="279400" algn="l"/>
              </a:tabLst>
            </a:pPr>
            <a:r>
              <a:rPr sz="2600" dirty="0">
                <a:latin typeface="Calibri"/>
                <a:cs typeface="Calibri"/>
              </a:rPr>
              <a:t>Para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calcular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mbria Math"/>
                <a:cs typeface="Cambria Math"/>
              </a:rPr>
              <a:t>𝜹</a:t>
            </a:r>
            <a:r>
              <a:rPr sz="2850" baseline="27777" dirty="0">
                <a:latin typeface="Cambria Math"/>
                <a:cs typeface="Cambria Math"/>
              </a:rPr>
              <a:t>𝑀</a:t>
            </a:r>
            <a:r>
              <a:rPr sz="2850" spc="442" baseline="27777" dirty="0">
                <a:latin typeface="Cambria Math"/>
                <a:cs typeface="Cambria Math"/>
              </a:rPr>
              <a:t> </a:t>
            </a:r>
            <a:r>
              <a:rPr sz="2600" dirty="0">
                <a:latin typeface="Calibri"/>
                <a:cs typeface="Calibri"/>
              </a:rPr>
              <a:t>(vetor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sensibilidades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camada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saída)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consideramos</a:t>
            </a:r>
            <a:endParaRPr sz="2600" dirty="0">
              <a:latin typeface="Calibri"/>
              <a:cs typeface="Calibri"/>
            </a:endParaRPr>
          </a:p>
          <a:p>
            <a:pPr marL="279400">
              <a:lnSpc>
                <a:spcPts val="2810"/>
              </a:lnSpc>
            </a:pPr>
            <a:r>
              <a:rPr sz="2600" dirty="0">
                <a:latin typeface="Cambria Math"/>
                <a:cs typeface="Cambria Math"/>
              </a:rPr>
              <a:t>𝑁</a:t>
            </a:r>
            <a:r>
              <a:rPr sz="2850" baseline="-16081" dirty="0">
                <a:latin typeface="Cambria Math"/>
                <a:cs typeface="Cambria Math"/>
              </a:rPr>
              <a:t>𝑀</a:t>
            </a:r>
            <a:r>
              <a:rPr sz="2850" spc="434" baseline="-16081" dirty="0">
                <a:latin typeface="Cambria Math"/>
                <a:cs typeface="Cambria Math"/>
              </a:rPr>
              <a:t> </a:t>
            </a:r>
            <a:r>
              <a:rPr sz="2600" dirty="0">
                <a:latin typeface="Calibri"/>
                <a:cs typeface="Calibri"/>
              </a:rPr>
              <a:t>saídas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e,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assim,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temos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mbria Math"/>
                <a:cs typeface="Cambria Math"/>
              </a:rPr>
              <a:t>𝑗</a:t>
            </a:r>
            <a:r>
              <a:rPr sz="2600" dirty="0">
                <a:latin typeface="Calibri"/>
                <a:cs typeface="Calibri"/>
              </a:rPr>
              <a:t>-ésimo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elemento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70" dirty="0">
                <a:latin typeface="Cambria Math"/>
                <a:cs typeface="Cambria Math"/>
              </a:rPr>
              <a:t>𝜹</a:t>
            </a:r>
            <a:r>
              <a:rPr sz="2850" spc="104" baseline="27777" dirty="0">
                <a:latin typeface="Cambria Math"/>
                <a:cs typeface="Cambria Math"/>
              </a:rPr>
              <a:t>𝑀</a:t>
            </a:r>
            <a:r>
              <a:rPr sz="2600" spc="70" dirty="0">
                <a:latin typeface="Calibri"/>
                <a:cs typeface="Calibri"/>
              </a:rPr>
              <a:t>é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dado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por:</a:t>
            </a:r>
            <a:endParaRPr sz="2600" dirty="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976495" y="3524199"/>
            <a:ext cx="835660" cy="3045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lang="pt-BR" sz="2850" baseline="17543" dirty="0">
                <a:latin typeface="Cambria Math"/>
                <a:cs typeface="Calibri"/>
              </a:rPr>
              <a:t>     </a:t>
            </a:r>
            <a:r>
              <a:rPr sz="1200" dirty="0" err="1">
                <a:latin typeface="Calibri"/>
                <a:cs typeface="Calibri"/>
              </a:rPr>
              <a:t>Regra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da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916939" y="4990338"/>
            <a:ext cx="711835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20" dirty="0">
                <a:latin typeface="Calibri"/>
                <a:cs typeface="Calibri"/>
              </a:rPr>
              <a:t>onde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9118917" y="4558699"/>
            <a:ext cx="1499870" cy="2821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25"/>
              </a:lnSpc>
              <a:spcBef>
                <a:spcPts val="100"/>
              </a:spcBef>
            </a:pPr>
            <a:r>
              <a:rPr sz="1800" dirty="0" err="1">
                <a:latin typeface="Calibri"/>
                <a:cs typeface="Calibri"/>
              </a:rPr>
              <a:t>Função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 err="1">
                <a:latin typeface="Calibri"/>
                <a:cs typeface="Calibri"/>
              </a:rPr>
              <a:t>logística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9091676" y="5840069"/>
            <a:ext cx="26657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Função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tangente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hiperbólica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5292090" y="3795776"/>
            <a:ext cx="42608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libri"/>
                <a:cs typeface="Calibri"/>
              </a:rPr>
              <a:t>cadeia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79" name="object 79"/>
          <p:cNvSpPr/>
          <p:nvPr/>
        </p:nvSpPr>
        <p:spPr>
          <a:xfrm>
            <a:off x="7935849" y="5018532"/>
            <a:ext cx="1158875" cy="1053465"/>
          </a:xfrm>
          <a:custGeom>
            <a:avLst/>
            <a:gdLst/>
            <a:ahLst/>
            <a:cxnLst/>
            <a:rect l="l" t="t" r="r" b="b"/>
            <a:pathLst>
              <a:path w="1158875" h="1053464">
                <a:moveTo>
                  <a:pt x="1158494" y="0"/>
                </a:moveTo>
                <a:lnTo>
                  <a:pt x="1076071" y="21717"/>
                </a:lnTo>
                <a:lnTo>
                  <a:pt x="1096975" y="45491"/>
                </a:lnTo>
                <a:lnTo>
                  <a:pt x="0" y="1009040"/>
                </a:lnTo>
                <a:lnTo>
                  <a:pt x="7239" y="1017270"/>
                </a:lnTo>
                <a:lnTo>
                  <a:pt x="7239" y="1023721"/>
                </a:lnTo>
                <a:lnTo>
                  <a:pt x="1081976" y="1021499"/>
                </a:lnTo>
                <a:lnTo>
                  <a:pt x="1082040" y="1053236"/>
                </a:lnTo>
                <a:lnTo>
                  <a:pt x="1158240" y="1014984"/>
                </a:lnTo>
                <a:lnTo>
                  <a:pt x="1145717" y="1008761"/>
                </a:lnTo>
                <a:lnTo>
                  <a:pt x="1081913" y="977036"/>
                </a:lnTo>
                <a:lnTo>
                  <a:pt x="1081963" y="1008799"/>
                </a:lnTo>
                <a:lnTo>
                  <a:pt x="16992" y="1011008"/>
                </a:lnTo>
                <a:lnTo>
                  <a:pt x="1105420" y="55092"/>
                </a:lnTo>
                <a:lnTo>
                  <a:pt x="1126363" y="78867"/>
                </a:lnTo>
                <a:lnTo>
                  <a:pt x="1143381" y="37084"/>
                </a:lnTo>
                <a:lnTo>
                  <a:pt x="115849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CaixaDeTexto 79">
                <a:extLst>
                  <a:ext uri="{FF2B5EF4-FFF2-40B4-BE49-F238E27FC236}">
                    <a16:creationId xmlns:a16="http://schemas.microsoft.com/office/drawing/2014/main" id="{903F7C65-855D-83A5-A214-97F5BBCF362C}"/>
                  </a:ext>
                </a:extLst>
              </p:cNvPr>
              <p:cNvSpPr txBox="1"/>
              <p:nvPr/>
            </p:nvSpPr>
            <p:spPr>
              <a:xfrm>
                <a:off x="1628774" y="3527118"/>
                <a:ext cx="9534661" cy="9952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</m:sSubSup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p>
                          </m:sSubSup>
                        </m:den>
                      </m:f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  <m:sup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  <m: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p>
                          </m:sSubSup>
                        </m:den>
                      </m:f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 =   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  <m:sup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  <m: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p>
                          </m:sSubSup>
                        </m:den>
                      </m:f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p>
                          </m:sSubSup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p>
                          </m:sSub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p>
                          </m:sSubSup>
                        </m:e>
                      </m:d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p>
                          </m:sSubSup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p>
                          </m:sSubSup>
                        </m:den>
                      </m:f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pt-BR" sz="1600" dirty="0"/>
              </a:p>
            </p:txBody>
          </p:sp>
        </mc:Choice>
        <mc:Fallback xmlns="">
          <p:sp>
            <p:nvSpPr>
              <p:cNvPr id="80" name="CaixaDeTexto 79">
                <a:extLst>
                  <a:ext uri="{FF2B5EF4-FFF2-40B4-BE49-F238E27FC236}">
                    <a16:creationId xmlns:a16="http://schemas.microsoft.com/office/drawing/2014/main" id="{903F7C65-855D-83A5-A214-97F5BBCF36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8774" y="3527118"/>
                <a:ext cx="9534661" cy="99527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CaixaDeTexto 80">
                <a:extLst>
                  <a:ext uri="{FF2B5EF4-FFF2-40B4-BE49-F238E27FC236}">
                    <a16:creationId xmlns:a16="http://schemas.microsoft.com/office/drawing/2014/main" id="{A060FAC3-AF62-C94F-7DFF-3CF4F4B3927E}"/>
                  </a:ext>
                </a:extLst>
              </p:cNvPr>
              <p:cNvSpPr txBox="1"/>
              <p:nvPr/>
            </p:nvSpPr>
            <p:spPr>
              <a:xfrm>
                <a:off x="4581932" y="4704254"/>
                <a:ext cx="3028137" cy="43781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p>
                          </m:sSubSup>
                        </m:e>
                      </m:d>
                      <m:sSup>
                        <m:sSup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</m:sSup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p>
                          </m:sSubSup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pt-BR" sz="1600" dirty="0"/>
              </a:p>
            </p:txBody>
          </p:sp>
        </mc:Choice>
        <mc:Fallback xmlns="">
          <p:sp>
            <p:nvSpPr>
              <p:cNvPr id="81" name="CaixaDeTexto 80">
                <a:extLst>
                  <a:ext uri="{FF2B5EF4-FFF2-40B4-BE49-F238E27FC236}">
                    <a16:creationId xmlns:a16="http://schemas.microsoft.com/office/drawing/2014/main" id="{A060FAC3-AF62-C94F-7DFF-3CF4F4B392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1932" y="4704254"/>
                <a:ext cx="3028137" cy="43781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CaixaDeTexto 81">
                <a:extLst>
                  <a:ext uri="{FF2B5EF4-FFF2-40B4-BE49-F238E27FC236}">
                    <a16:creationId xmlns:a16="http://schemas.microsoft.com/office/drawing/2014/main" id="{7515D34D-14E7-0412-A237-2E87269E4425}"/>
                  </a:ext>
                </a:extLst>
              </p:cNvPr>
              <p:cNvSpPr txBox="1"/>
              <p:nvPr/>
            </p:nvSpPr>
            <p:spPr>
              <a:xfrm>
                <a:off x="5081171" y="5278882"/>
                <a:ext cx="2029658" cy="43781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</m:sSubSup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</m:sSup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p>
                          </m:sSubSup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pt-BR" sz="1600" dirty="0"/>
              </a:p>
            </p:txBody>
          </p:sp>
        </mc:Choice>
        <mc:Fallback xmlns="">
          <p:sp>
            <p:nvSpPr>
              <p:cNvPr id="82" name="CaixaDeTexto 81">
                <a:extLst>
                  <a:ext uri="{FF2B5EF4-FFF2-40B4-BE49-F238E27FC236}">
                    <a16:creationId xmlns:a16="http://schemas.microsoft.com/office/drawing/2014/main" id="{7515D34D-14E7-0412-A237-2E87269E44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1171" y="5278882"/>
                <a:ext cx="2029658" cy="43781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CaixaDeTexto 82">
                <a:extLst>
                  <a:ext uri="{FF2B5EF4-FFF2-40B4-BE49-F238E27FC236}">
                    <a16:creationId xmlns:a16="http://schemas.microsoft.com/office/drawing/2014/main" id="{D81AE421-C984-5E14-3573-58254624F792}"/>
                  </a:ext>
                </a:extLst>
              </p:cNvPr>
              <p:cNvSpPr txBox="1"/>
              <p:nvPr/>
            </p:nvSpPr>
            <p:spPr>
              <a:xfrm>
                <a:off x="4596070" y="5935696"/>
                <a:ext cx="2999860" cy="9223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</m:sSup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p>
                          </m:sSubSup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p>
                          </m:sSup>
                          <m:d>
                            <m:d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sup>
                              </m:sSubSup>
                            </m:e>
                          </m:d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p>
                          </m:sSubSup>
                        </m:den>
                      </m:f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1600" dirty="0"/>
              </a:p>
            </p:txBody>
          </p:sp>
        </mc:Choice>
        <mc:Fallback xmlns="">
          <p:sp>
            <p:nvSpPr>
              <p:cNvPr id="83" name="CaixaDeTexto 82">
                <a:extLst>
                  <a:ext uri="{FF2B5EF4-FFF2-40B4-BE49-F238E27FC236}">
                    <a16:creationId xmlns:a16="http://schemas.microsoft.com/office/drawing/2014/main" id="{D81AE421-C984-5E14-3573-58254624F7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6070" y="5935696"/>
                <a:ext cx="2999860" cy="92230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CaixaDeTexto 83">
                <a:extLst>
                  <a:ext uri="{FF2B5EF4-FFF2-40B4-BE49-F238E27FC236}">
                    <a16:creationId xmlns:a16="http://schemas.microsoft.com/office/drawing/2014/main" id="{104936CD-4194-9DA1-D277-BCF81E168203}"/>
                  </a:ext>
                </a:extLst>
              </p:cNvPr>
              <p:cNvSpPr txBox="1"/>
              <p:nvPr/>
            </p:nvSpPr>
            <p:spPr>
              <a:xfrm>
                <a:off x="9297406" y="6221396"/>
                <a:ext cx="2254270" cy="477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d>
                        </m:num>
                        <m:den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den>
                      </m:f>
                      <m:r>
                        <a:rPr lang="pt-BR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pt-BR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pt-BR" sz="1600" b="0" i="0" smtClean="0">
                                      <a:latin typeface="Cambria Math" panose="02040503050406030204" pitchFamily="18" charset="0"/>
                                    </a:rPr>
                                    <m:t>tanh</m:t>
                                  </m:r>
                                </m:e>
                                <m:sup>
                                  <m: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d>
                                <m:dPr>
                                  <m:ctrlP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pt-BR" sz="1600" b="0" i="1" smtClean="0"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pt-BR" sz="1100" dirty="0"/>
              </a:p>
            </p:txBody>
          </p:sp>
        </mc:Choice>
        <mc:Fallback xmlns="">
          <p:sp>
            <p:nvSpPr>
              <p:cNvPr id="84" name="CaixaDeTexto 83">
                <a:extLst>
                  <a:ext uri="{FF2B5EF4-FFF2-40B4-BE49-F238E27FC236}">
                    <a16:creationId xmlns:a16="http://schemas.microsoft.com/office/drawing/2014/main" id="{104936CD-4194-9DA1-D277-BCF81E1682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97406" y="6221396"/>
                <a:ext cx="2254270" cy="47788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CaixaDeTexto 84">
                <a:extLst>
                  <a:ext uri="{FF2B5EF4-FFF2-40B4-BE49-F238E27FC236}">
                    <a16:creationId xmlns:a16="http://schemas.microsoft.com/office/drawing/2014/main" id="{9D9C1BFA-6059-BADC-FC65-3DC938F07906}"/>
                  </a:ext>
                </a:extLst>
              </p:cNvPr>
              <p:cNvSpPr txBox="1"/>
              <p:nvPr/>
            </p:nvSpPr>
            <p:spPr>
              <a:xfrm>
                <a:off x="9150777" y="4934725"/>
                <a:ext cx="2214581" cy="477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d>
                        </m:num>
                        <m:den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den>
                      </m:f>
                      <m:r>
                        <a:rPr lang="pt-BR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16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pt-BR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16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pt-BR" sz="1600" b="0" i="1" smtClean="0">
                          <a:latin typeface="Cambria Math" panose="02040503050406030204" pitchFamily="18" charset="0"/>
                        </a:rPr>
                        <m:t>)</m:t>
                      </m:r>
                      <m:d>
                        <m:dPr>
                          <m:ctrlPr>
                            <a:rPr lang="pt-BR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pt-BR" sz="1100" dirty="0"/>
              </a:p>
            </p:txBody>
          </p:sp>
        </mc:Choice>
        <mc:Fallback xmlns="">
          <p:sp>
            <p:nvSpPr>
              <p:cNvPr id="85" name="CaixaDeTexto 84">
                <a:extLst>
                  <a:ext uri="{FF2B5EF4-FFF2-40B4-BE49-F238E27FC236}">
                    <a16:creationId xmlns:a16="http://schemas.microsoft.com/office/drawing/2014/main" id="{9D9C1BFA-6059-BADC-FC65-3DC938F079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0777" y="4934725"/>
                <a:ext cx="2214581" cy="47788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325715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39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 err="1"/>
              <a:t>Retropropagando</a:t>
            </a:r>
            <a:r>
              <a:rPr spc="-130" dirty="0"/>
              <a:t> </a:t>
            </a:r>
            <a:r>
              <a:rPr dirty="0"/>
              <a:t>o</a:t>
            </a:r>
            <a:r>
              <a:rPr spc="-110" dirty="0"/>
              <a:t> </a:t>
            </a:r>
            <a:r>
              <a:rPr spc="-20" dirty="0" err="1"/>
              <a:t>erro</a:t>
            </a:r>
            <a:endParaRPr spc="-20" dirty="0"/>
          </a:p>
        </p:txBody>
      </p:sp>
      <p:sp>
        <p:nvSpPr>
          <p:cNvPr id="3" name="object 3"/>
          <p:cNvSpPr txBox="1"/>
          <p:nvPr/>
        </p:nvSpPr>
        <p:spPr>
          <a:xfrm>
            <a:off x="904239" y="1447800"/>
            <a:ext cx="691070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4000" indent="-2286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254000" algn="l"/>
              </a:tabLst>
            </a:pPr>
            <a:r>
              <a:rPr sz="2600" dirty="0">
                <a:latin typeface="Calibri"/>
                <a:cs typeface="Calibri"/>
              </a:rPr>
              <a:t>Matricialmente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nós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podemos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expressar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spc="-10" dirty="0">
                <a:latin typeface="Cambria Math"/>
                <a:cs typeface="Cambria Math"/>
              </a:rPr>
              <a:t>𝜹</a:t>
            </a:r>
            <a:r>
              <a:rPr sz="2850" spc="-15" baseline="27777" dirty="0">
                <a:latin typeface="Cambria Math"/>
                <a:cs typeface="Cambria Math"/>
              </a:rPr>
              <a:t>𝑀</a:t>
            </a:r>
            <a:r>
              <a:rPr sz="2600" spc="-10" dirty="0">
                <a:latin typeface="Calibri"/>
                <a:cs typeface="Calibri"/>
              </a:rPr>
              <a:t>como:</a:t>
            </a:r>
            <a:endParaRPr sz="26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91539" y="2406396"/>
            <a:ext cx="250444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600" dirty="0">
                <a:latin typeface="Calibri"/>
                <a:cs typeface="Calibri"/>
              </a:rPr>
              <a:t>onde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matriz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50" dirty="0">
                <a:latin typeface="Cambria Math"/>
                <a:cs typeface="Cambria Math"/>
              </a:rPr>
              <a:t>𝑭</a:t>
            </a:r>
            <a:r>
              <a:rPr sz="2850" spc="75" baseline="27777" dirty="0">
                <a:latin typeface="Cambria Math"/>
                <a:cs typeface="Cambria Math"/>
              </a:rPr>
              <a:t>′𝑀</a:t>
            </a:r>
            <a:endParaRPr sz="2850" baseline="27777">
              <a:latin typeface="Cambria Math"/>
              <a:cs typeface="Cambria Math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407790" y="2502027"/>
            <a:ext cx="661670" cy="306705"/>
          </a:xfrm>
          <a:custGeom>
            <a:avLst/>
            <a:gdLst/>
            <a:ahLst/>
            <a:cxnLst/>
            <a:rect l="l" t="t" r="r" b="b"/>
            <a:pathLst>
              <a:path w="661670" h="306705">
                <a:moveTo>
                  <a:pt x="563626" y="0"/>
                </a:moveTo>
                <a:lnTo>
                  <a:pt x="559181" y="12446"/>
                </a:lnTo>
                <a:lnTo>
                  <a:pt x="576970" y="20115"/>
                </a:lnTo>
                <a:lnTo>
                  <a:pt x="592248" y="30749"/>
                </a:lnTo>
                <a:lnTo>
                  <a:pt x="623169" y="80129"/>
                </a:lnTo>
                <a:lnTo>
                  <a:pt x="632209" y="125468"/>
                </a:lnTo>
                <a:lnTo>
                  <a:pt x="633349" y="151637"/>
                </a:lnTo>
                <a:lnTo>
                  <a:pt x="632207" y="178613"/>
                </a:lnTo>
                <a:lnTo>
                  <a:pt x="623115" y="225182"/>
                </a:lnTo>
                <a:lnTo>
                  <a:pt x="604926" y="261588"/>
                </a:lnTo>
                <a:lnTo>
                  <a:pt x="559688" y="293877"/>
                </a:lnTo>
                <a:lnTo>
                  <a:pt x="563626" y="306324"/>
                </a:lnTo>
                <a:lnTo>
                  <a:pt x="605361" y="286670"/>
                </a:lnTo>
                <a:lnTo>
                  <a:pt x="636143" y="252729"/>
                </a:lnTo>
                <a:lnTo>
                  <a:pt x="655002" y="207279"/>
                </a:lnTo>
                <a:lnTo>
                  <a:pt x="661288" y="153162"/>
                </a:lnTo>
                <a:lnTo>
                  <a:pt x="659715" y="125085"/>
                </a:lnTo>
                <a:lnTo>
                  <a:pt x="647090" y="75312"/>
                </a:lnTo>
                <a:lnTo>
                  <a:pt x="621990" y="34807"/>
                </a:lnTo>
                <a:lnTo>
                  <a:pt x="585795" y="7999"/>
                </a:lnTo>
                <a:lnTo>
                  <a:pt x="563626" y="0"/>
                </a:lnTo>
                <a:close/>
              </a:path>
              <a:path w="661670" h="306705">
                <a:moveTo>
                  <a:pt x="97662" y="0"/>
                </a:moveTo>
                <a:lnTo>
                  <a:pt x="56038" y="19605"/>
                </a:lnTo>
                <a:lnTo>
                  <a:pt x="25273" y="53594"/>
                </a:lnTo>
                <a:lnTo>
                  <a:pt x="6302" y="99139"/>
                </a:lnTo>
                <a:lnTo>
                  <a:pt x="0" y="153162"/>
                </a:lnTo>
                <a:lnTo>
                  <a:pt x="1571" y="181310"/>
                </a:lnTo>
                <a:lnTo>
                  <a:pt x="14144" y="231082"/>
                </a:lnTo>
                <a:lnTo>
                  <a:pt x="39119" y="271498"/>
                </a:lnTo>
                <a:lnTo>
                  <a:pt x="75402" y="298271"/>
                </a:lnTo>
                <a:lnTo>
                  <a:pt x="97662" y="306324"/>
                </a:lnTo>
                <a:lnTo>
                  <a:pt x="101600" y="293877"/>
                </a:lnTo>
                <a:lnTo>
                  <a:pt x="84123" y="286162"/>
                </a:lnTo>
                <a:lnTo>
                  <a:pt x="69040" y="275399"/>
                </a:lnTo>
                <a:lnTo>
                  <a:pt x="46100" y="244728"/>
                </a:lnTo>
                <a:lnTo>
                  <a:pt x="32496" y="203136"/>
                </a:lnTo>
                <a:lnTo>
                  <a:pt x="27939" y="151637"/>
                </a:lnTo>
                <a:lnTo>
                  <a:pt x="29081" y="125468"/>
                </a:lnTo>
                <a:lnTo>
                  <a:pt x="38173" y="80129"/>
                </a:lnTo>
                <a:lnTo>
                  <a:pt x="56386" y="44360"/>
                </a:lnTo>
                <a:lnTo>
                  <a:pt x="101981" y="12446"/>
                </a:lnTo>
                <a:lnTo>
                  <a:pt x="9766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478021" y="2286000"/>
            <a:ext cx="502284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3900" spc="-37" baseline="-20299" dirty="0">
                <a:latin typeface="Cambria Math"/>
                <a:cs typeface="Cambria Math"/>
              </a:rPr>
              <a:t>𝒖</a:t>
            </a:r>
            <a:r>
              <a:rPr sz="1900" spc="-25" dirty="0">
                <a:latin typeface="Cambria Math"/>
                <a:cs typeface="Cambria Math"/>
              </a:rPr>
              <a:t>𝑀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159122" y="2406396"/>
            <a:ext cx="745617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dirty="0">
                <a:latin typeface="Calibri"/>
                <a:cs typeface="Calibri"/>
              </a:rPr>
              <a:t>é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matriz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diagonal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derivadas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funções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de</a:t>
            </a:r>
            <a:endParaRPr sz="2600" dirty="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78839" y="2778125"/>
            <a:ext cx="893064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600" dirty="0">
                <a:latin typeface="Calibri"/>
                <a:cs typeface="Calibri"/>
              </a:rPr>
              <a:t>ativação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em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relação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 err="1">
                <a:latin typeface="Calibri"/>
                <a:cs typeface="Calibri"/>
              </a:rPr>
              <a:t>às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30" dirty="0" err="1">
                <a:latin typeface="Calibri"/>
                <a:cs typeface="Calibri"/>
              </a:rPr>
              <a:t>a</a:t>
            </a:r>
            <a:r>
              <a:rPr sz="2600" spc="-5" dirty="0" err="1">
                <a:latin typeface="Calibri"/>
                <a:cs typeface="Calibri"/>
              </a:rPr>
              <a:t>ti</a:t>
            </a:r>
            <a:r>
              <a:rPr lang="pt-BR" sz="2600" spc="-40" dirty="0" err="1">
                <a:latin typeface="Calibri"/>
                <a:cs typeface="Calibri"/>
              </a:rPr>
              <a:t>vações</a:t>
            </a:r>
            <a:r>
              <a:rPr lang="pt-BR" sz="2600" spc="-40" dirty="0">
                <a:latin typeface="Calibri"/>
                <a:cs typeface="Calibri"/>
              </a:rPr>
              <a:t> dos </a:t>
            </a:r>
            <a:r>
              <a:rPr sz="2600" dirty="0">
                <a:latin typeface="Cambria Math"/>
                <a:cs typeface="Cambria Math"/>
              </a:rPr>
              <a:t>𝑁</a:t>
            </a:r>
            <a:r>
              <a:rPr sz="2850" baseline="-16081" dirty="0">
                <a:latin typeface="Cambria Math"/>
                <a:cs typeface="Cambria Math"/>
              </a:rPr>
              <a:t>𝑀</a:t>
            </a:r>
            <a:r>
              <a:rPr sz="2850" spc="442" baseline="-16081" dirty="0">
                <a:latin typeface="Cambria Math"/>
                <a:cs typeface="Cambria Math"/>
              </a:rPr>
              <a:t> </a:t>
            </a:r>
            <a:r>
              <a:rPr sz="2600" dirty="0">
                <a:latin typeface="Calibri"/>
                <a:cs typeface="Calibri"/>
              </a:rPr>
              <a:t>nós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mbria Math"/>
                <a:cs typeface="Cambria Math"/>
              </a:rPr>
              <a:t>𝑀</a:t>
            </a:r>
            <a:r>
              <a:rPr sz="2600" dirty="0">
                <a:latin typeface="Calibri"/>
                <a:cs typeface="Calibri"/>
              </a:rPr>
              <a:t>-ésima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 err="1">
                <a:latin typeface="Calibri"/>
                <a:cs typeface="Calibri"/>
              </a:rPr>
              <a:t>camada</a:t>
            </a:r>
            <a:r>
              <a:rPr sz="2600" spc="-10" dirty="0">
                <a:latin typeface="Calibri"/>
                <a:cs typeface="Calibri"/>
              </a:rPr>
              <a:t>,</a:t>
            </a:r>
            <a:endParaRPr sz="2600" dirty="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78839" y="4758004"/>
            <a:ext cx="10972800" cy="1399870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50800" marR="370840">
              <a:lnSpc>
                <a:spcPct val="70100"/>
              </a:lnSpc>
              <a:spcBef>
                <a:spcPts val="1040"/>
              </a:spcBef>
            </a:pPr>
            <a:r>
              <a:rPr sz="2600" dirty="0">
                <a:latin typeface="Cambria Math"/>
                <a:cs typeface="Cambria Math"/>
              </a:rPr>
              <a:t>𝒅</a:t>
            </a:r>
            <a:r>
              <a:rPr sz="2600" spc="-10" dirty="0">
                <a:latin typeface="Cambria Math"/>
                <a:cs typeface="Cambria Math"/>
              </a:rPr>
              <a:t> 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mbria Math"/>
                <a:cs typeface="Cambria Math"/>
              </a:rPr>
              <a:t>𝒚</a:t>
            </a:r>
            <a:r>
              <a:rPr sz="2600" spc="-35" dirty="0">
                <a:latin typeface="Cambria Math"/>
                <a:cs typeface="Cambria Math"/>
              </a:rPr>
              <a:t> </a:t>
            </a:r>
            <a:r>
              <a:rPr sz="2600" dirty="0">
                <a:latin typeface="Calibri"/>
                <a:cs typeface="Calibri"/>
              </a:rPr>
              <a:t>são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vetores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dimensão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mbria Math"/>
                <a:cs typeface="Cambria Math"/>
              </a:rPr>
              <a:t>𝑁</a:t>
            </a:r>
            <a:r>
              <a:rPr sz="2850" baseline="-16081" dirty="0">
                <a:latin typeface="Cambria Math"/>
                <a:cs typeface="Cambria Math"/>
              </a:rPr>
              <a:t>𝑀</a:t>
            </a:r>
            <a:r>
              <a:rPr sz="2850" spc="405" baseline="-16081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×</a:t>
            </a:r>
            <a:r>
              <a:rPr sz="2600" spc="-20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1</a:t>
            </a:r>
            <a:r>
              <a:rPr sz="2600" spc="-25" dirty="0">
                <a:latin typeface="Cambria Math"/>
                <a:cs typeface="Cambria Math"/>
              </a:rPr>
              <a:t> </a:t>
            </a:r>
            <a:r>
              <a:rPr sz="2600" dirty="0">
                <a:latin typeface="Calibri"/>
                <a:cs typeface="Calibri"/>
              </a:rPr>
              <a:t>com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valores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esperados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saída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da </a:t>
            </a:r>
            <a:r>
              <a:rPr sz="2600" dirty="0">
                <a:latin typeface="Calibri"/>
                <a:cs typeface="Calibri"/>
              </a:rPr>
              <a:t>rede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neural,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respectivamente.</a:t>
            </a:r>
            <a:endParaRPr sz="2600" dirty="0">
              <a:latin typeface="Calibri"/>
              <a:cs typeface="Calibri"/>
            </a:endParaRPr>
          </a:p>
          <a:p>
            <a:pPr marL="279400" marR="43180" indent="-228600">
              <a:lnSpc>
                <a:spcPct val="70000"/>
              </a:lnSpc>
              <a:spcBef>
                <a:spcPts val="995"/>
              </a:spcBef>
              <a:buFont typeface="Arial"/>
              <a:buChar char="•"/>
              <a:tabLst>
                <a:tab pos="279400" algn="l"/>
              </a:tabLst>
            </a:pPr>
            <a:r>
              <a:rPr sz="2600" dirty="0">
                <a:latin typeface="Calibri"/>
                <a:cs typeface="Calibri"/>
              </a:rPr>
              <a:t>Desta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forma,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aplicação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sucessiva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regra</a:t>
            </a:r>
            <a:r>
              <a:rPr sz="2600" b="1" i="1" spc="-5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da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cadeia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leva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recursão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que, </a:t>
            </a:r>
            <a:r>
              <a:rPr sz="2600" dirty="0">
                <a:latin typeface="Calibri"/>
                <a:cs typeface="Calibri"/>
              </a:rPr>
              <a:t>em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termos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matriciais,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simples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dada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spc="-25" dirty="0" err="1">
                <a:latin typeface="Calibri"/>
                <a:cs typeface="Calibri"/>
              </a:rPr>
              <a:t>por</a:t>
            </a:r>
            <a:endParaRPr sz="2600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aixaDeTexto 34">
                <a:extLst>
                  <a:ext uri="{FF2B5EF4-FFF2-40B4-BE49-F238E27FC236}">
                    <a16:creationId xmlns:a16="http://schemas.microsoft.com/office/drawing/2014/main" id="{21F5F862-7D81-6D5F-7510-9BD8FED29A21}"/>
                  </a:ext>
                </a:extLst>
              </p:cNvPr>
              <p:cNvSpPr txBox="1"/>
              <p:nvPr/>
            </p:nvSpPr>
            <p:spPr>
              <a:xfrm>
                <a:off x="4373734" y="1955701"/>
                <a:ext cx="344453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1" i="1" smtClean="0">
                              <a:latin typeface="Cambria Math" panose="02040503050406030204" pitchFamily="18" charset="0"/>
                            </a:rPr>
                            <m:t>𝜹</m:t>
                          </m:r>
                        </m:e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</m:sSup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1" i="1" smtClean="0"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</m:sSup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b="1" i="1" smtClean="0"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  <m: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p>
                          </m:sSup>
                        </m:e>
                      </m:d>
                      <m:d>
                        <m:dPr>
                          <m:ctrlPr>
                            <a:rPr lang="pt-BR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1" i="1" smtClean="0">
                              <a:latin typeface="Cambria Math" panose="02040503050406030204" pitchFamily="18" charset="0"/>
                            </a:rPr>
                            <m:t>𝒅</m:t>
                          </m:r>
                          <m:r>
                            <a:rPr lang="pt-BR" sz="24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4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</m:oMath>
                  </m:oMathPara>
                </a14:m>
                <a:endParaRPr lang="pt-BR" sz="2400" b="1" dirty="0"/>
              </a:p>
            </p:txBody>
          </p:sp>
        </mc:Choice>
        <mc:Fallback xmlns="">
          <p:sp>
            <p:nvSpPr>
              <p:cNvPr id="35" name="CaixaDeTexto 34">
                <a:extLst>
                  <a:ext uri="{FF2B5EF4-FFF2-40B4-BE49-F238E27FC236}">
                    <a16:creationId xmlns:a16="http://schemas.microsoft.com/office/drawing/2014/main" id="{21F5F862-7D81-6D5F-7510-9BD8FED29A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3734" y="1955701"/>
                <a:ext cx="3444533" cy="369332"/>
              </a:xfrm>
              <a:prstGeom prst="rect">
                <a:avLst/>
              </a:prstGeom>
              <a:blipFill>
                <a:blip r:embed="rId2"/>
                <a:stretch>
                  <a:fillRect l="-1413" b="-30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aixaDeTexto 35">
                <a:extLst>
                  <a:ext uri="{FF2B5EF4-FFF2-40B4-BE49-F238E27FC236}">
                    <a16:creationId xmlns:a16="http://schemas.microsoft.com/office/drawing/2014/main" id="{BECE0306-520A-D550-665D-48A295E18C0E}"/>
                  </a:ext>
                </a:extLst>
              </p:cNvPr>
              <p:cNvSpPr txBox="1"/>
              <p:nvPr/>
            </p:nvSpPr>
            <p:spPr>
              <a:xfrm>
                <a:off x="2729213" y="3270250"/>
                <a:ext cx="6733575" cy="15715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1" i="1" smtClean="0"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</m:sSup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b="1" i="1" smtClean="0"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  <m: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p>
                          </m:sSup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p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sup>
                                </m:sSup>
                                <m:r>
                                  <m:rPr>
                                    <m:brk m:alnAt="7"/>
                                  </m:rP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Sup>
                                  <m:sSubSupPr>
                                    <m:ctrl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sup>
                                </m:sSubSup>
                                <m:r>
                                  <m:rPr>
                                    <m:brk m:alnAt="7"/>
                                  </m:rP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p>
                                  <m:sSupPr>
                                    <m:ctrl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p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sup>
                                </m:sSup>
                                <m:r>
                                  <m:rPr>
                                    <m:brk m:alnAt="7"/>
                                  </m:rP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Sup>
                                  <m:sSubSupPr>
                                    <m:ctrl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sup>
                                </m:sSubSup>
                                <m:r>
                                  <m:rPr>
                                    <m:brk m:alnAt="7"/>
                                  </m:rP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p>
                                  <m:sSupPr>
                                    <m:ctrl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p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sup>
                                </m:sSup>
                                <m:r>
                                  <m:rPr>
                                    <m:brk m:alnAt="7"/>
                                  </m:rP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Sup>
                                  <m:sSubSupPr>
                                    <m:ctrl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</m:e>
                                      <m:sub>
                                        <m: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  <m:t>𝑀</m:t>
                                        </m:r>
                                      </m:sub>
                                    </m:sSub>
                                  </m:sub>
                                  <m:sup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sup>
                                </m:sSubSup>
                                <m:r>
                                  <m:rPr>
                                    <m:brk m:alnAt="7"/>
                                  </m:rP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</m:m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36" name="CaixaDeTexto 35">
                <a:extLst>
                  <a:ext uri="{FF2B5EF4-FFF2-40B4-BE49-F238E27FC236}">
                    <a16:creationId xmlns:a16="http://schemas.microsoft.com/office/drawing/2014/main" id="{BECE0306-520A-D550-665D-48A295E18C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9213" y="3270250"/>
                <a:ext cx="6733575" cy="157158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aixaDeTexto 36">
                <a:extLst>
                  <a:ext uri="{FF2B5EF4-FFF2-40B4-BE49-F238E27FC236}">
                    <a16:creationId xmlns:a16="http://schemas.microsoft.com/office/drawing/2014/main" id="{2985B2F9-7FAA-9140-6FA9-F2F29B2862EE}"/>
                  </a:ext>
                </a:extLst>
              </p:cNvPr>
              <p:cNvSpPr txBox="1"/>
              <p:nvPr/>
            </p:nvSpPr>
            <p:spPr>
              <a:xfrm>
                <a:off x="3913415" y="6270169"/>
                <a:ext cx="4365169" cy="3758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1" i="1" smtClean="0">
                              <a:latin typeface="Cambria Math" panose="02040503050406030204" pitchFamily="18" charset="0"/>
                            </a:rPr>
                            <m:t>𝜹</m:t>
                          </m:r>
                        </m:e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1" i="1" smtClean="0"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b="1" i="1" smtClean="0"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  <m: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d>
                      <m:sSup>
                        <m:sSupPr>
                          <m:ctrlPr>
                            <a:rPr lang="pt-BR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t-BR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pt-BR" sz="2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2400" b="1" i="1" smtClean="0">
                                      <a:latin typeface="Cambria Math" panose="02040503050406030204" pitchFamily="18" charset="0"/>
                                    </a:rPr>
                                    <m:t>𝑾</m:t>
                                  </m:r>
                                </m:e>
                                <m:sup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m:rPr>
                              <m:sty m:val="p"/>
                            </m:rPr>
                            <a:rPr lang="pt-BR" sz="2400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sSup>
                        <m:sSupPr>
                          <m:ctrlPr>
                            <a:rPr lang="pt-BR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1" i="1" smtClean="0">
                              <a:latin typeface="Cambria Math" panose="02040503050406030204" pitchFamily="18" charset="0"/>
                            </a:rPr>
                            <m:t>𝜹</m:t>
                          </m:r>
                        </m:e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  <m:r>
                        <a:rPr lang="pt-BR" sz="2400" b="1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400" b="1" dirty="0"/>
              </a:p>
            </p:txBody>
          </p:sp>
        </mc:Choice>
        <mc:Fallback xmlns="">
          <p:sp>
            <p:nvSpPr>
              <p:cNvPr id="37" name="CaixaDeTexto 36">
                <a:extLst>
                  <a:ext uri="{FF2B5EF4-FFF2-40B4-BE49-F238E27FC236}">
                    <a16:creationId xmlns:a16="http://schemas.microsoft.com/office/drawing/2014/main" id="{2985B2F9-7FAA-9140-6FA9-F2F29B2862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3415" y="6270169"/>
                <a:ext cx="4365169" cy="375872"/>
              </a:xfrm>
              <a:prstGeom prst="rect">
                <a:avLst/>
              </a:prstGeom>
              <a:blipFill>
                <a:blip r:embed="rId4"/>
                <a:stretch>
                  <a:fillRect l="-1117" b="-1147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220103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139065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85" dirty="0"/>
              <a:t>Tarefa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371600"/>
            <a:ext cx="10648950" cy="87395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Encontrem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vetor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gradiente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todos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pesos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nó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1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(camada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1)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da</a:t>
            </a:r>
            <a:r>
              <a:rPr lang="pt-BR" sz="2800" spc="-25" dirty="0">
                <a:latin typeface="Calibri"/>
                <a:cs typeface="Calibri"/>
              </a:rPr>
              <a:t> </a:t>
            </a:r>
            <a:r>
              <a:rPr lang="pt-BR" sz="2800" dirty="0">
                <a:latin typeface="Calibri"/>
                <a:cs typeface="Calibri"/>
              </a:rPr>
              <a:t>rede</a:t>
            </a:r>
            <a:r>
              <a:rPr lang="pt-BR" sz="2800" spc="-100" dirty="0">
                <a:latin typeface="Calibri"/>
                <a:cs typeface="Calibri"/>
              </a:rPr>
              <a:t> </a:t>
            </a:r>
            <a:r>
              <a:rPr lang="pt-BR" sz="2800" dirty="0">
                <a:latin typeface="Calibri"/>
                <a:cs typeface="Calibri"/>
              </a:rPr>
              <a:t>neural</a:t>
            </a:r>
            <a:r>
              <a:rPr lang="pt-BR" sz="2800" spc="-80" dirty="0">
                <a:latin typeface="Calibri"/>
                <a:cs typeface="Calibri"/>
              </a:rPr>
              <a:t> </a:t>
            </a:r>
            <a:r>
              <a:rPr lang="pt-BR" sz="2800" dirty="0">
                <a:latin typeface="Calibri"/>
                <a:cs typeface="Calibri"/>
              </a:rPr>
              <a:t>do</a:t>
            </a:r>
            <a:r>
              <a:rPr lang="pt-BR" sz="2800" spc="-90" dirty="0">
                <a:latin typeface="Calibri"/>
                <a:cs typeface="Calibri"/>
              </a:rPr>
              <a:t> </a:t>
            </a:r>
            <a:r>
              <a:rPr lang="pt-BR" sz="2800" spc="-10" dirty="0">
                <a:latin typeface="Calibri"/>
                <a:cs typeface="Calibri"/>
              </a:rPr>
              <a:t>próximo</a:t>
            </a:r>
            <a:r>
              <a:rPr lang="pt-BR" sz="2800" spc="-65" dirty="0">
                <a:latin typeface="Calibri"/>
                <a:cs typeface="Calibri"/>
              </a:rPr>
              <a:t> </a:t>
            </a:r>
            <a:r>
              <a:rPr lang="pt-BR" sz="2800" spc="-10" dirty="0">
                <a:latin typeface="Calibri"/>
                <a:cs typeface="Calibri"/>
              </a:rPr>
              <a:t>slide.</a:t>
            </a:r>
            <a:endParaRPr lang="pt-BR" sz="2800" dirty="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16939" y="5372811"/>
            <a:ext cx="10654030" cy="121983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5080" indent="-228600">
              <a:lnSpc>
                <a:spcPts val="3020"/>
              </a:lnSpc>
              <a:spcBef>
                <a:spcPts val="480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dirty="0">
                <a:latin typeface="Calibri"/>
                <a:cs typeface="Calibri"/>
              </a:rPr>
              <a:t>OBS</a:t>
            </a:r>
            <a:r>
              <a:rPr sz="2800" dirty="0">
                <a:latin typeface="Calibri"/>
                <a:cs typeface="Calibri"/>
              </a:rPr>
              <a:t>.: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Podem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deixar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derivadas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função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ativação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relação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às </a:t>
            </a:r>
            <a:r>
              <a:rPr sz="2800" spc="-10" dirty="0">
                <a:latin typeface="Calibri"/>
                <a:cs typeface="Calibri"/>
              </a:rPr>
              <a:t>ativações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forma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genérica,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seja,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assumir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tipo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específico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de </a:t>
            </a:r>
            <a:r>
              <a:rPr sz="2800" dirty="0">
                <a:latin typeface="Calibri"/>
                <a:cs typeface="Calibri"/>
              </a:rPr>
              <a:t>função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ativação.</a:t>
            </a:r>
            <a:endParaRPr sz="2800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D13B37B1-180A-3077-222D-29C3A1FB085A}"/>
                  </a:ext>
                </a:extLst>
              </p:cNvPr>
              <p:cNvSpPr txBox="1"/>
              <p:nvPr/>
            </p:nvSpPr>
            <p:spPr>
              <a:xfrm>
                <a:off x="5197196" y="2324330"/>
                <a:ext cx="1797608" cy="30096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𝐽</m:t>
                                    </m:r>
                                    <m:d>
                                      <m:dPr>
                                        <m:ctrlPr>
                                          <a:rPr lang="pt-BR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pt-BR" sz="2800" b="1" i="1" smtClean="0">
                                            <a:latin typeface="Cambria Math" panose="02040503050406030204" pitchFamily="18" charset="0"/>
                                          </a:rPr>
                                          <m:t>𝒘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Sup>
                                      <m:sSubSupPr>
                                        <m:ctrlPr>
                                          <a:rPr lang="pt-BR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pt-BR" sz="2800" b="0" i="1" smtClean="0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pt-BR" sz="2800" b="0" i="1" smtClean="0">
                                            <a:latin typeface="Cambria Math" panose="02040503050406030204" pitchFamily="18" charset="0"/>
                                          </a:rPr>
                                          <m:t>1,1</m:t>
                                        </m:r>
                                      </m:sub>
                                      <m:sup>
                                        <m:r>
                                          <a:rPr lang="pt-BR" sz="28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p>
                                    </m:sSubSup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𝐽</m:t>
                                    </m:r>
                                    <m:d>
                                      <m:dPr>
                                        <m:ctrlPr>
                                          <a:rPr lang="pt-BR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pt-BR" sz="2800" b="1" i="1" smtClean="0">
                                            <a:latin typeface="Cambria Math" panose="02040503050406030204" pitchFamily="18" charset="0"/>
                                          </a:rPr>
                                          <m:t>𝒘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Sup>
                                      <m:sSubSupPr>
                                        <m:ctrlPr>
                                          <a:rPr lang="pt-BR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pt-BR" sz="2800" b="0" i="1" smtClean="0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pt-BR" sz="2800" b="0" i="1" smtClean="0">
                                            <a:latin typeface="Cambria Math" panose="02040503050406030204" pitchFamily="18" charset="0"/>
                                          </a:rPr>
                                          <m:t>1,2</m:t>
                                        </m:r>
                                      </m:sub>
                                      <m:sup>
                                        <m:r>
                                          <a:rPr lang="pt-BR" sz="28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p>
                                    </m:sSubSup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𝐽</m:t>
                                    </m:r>
                                    <m:d>
                                      <m:dPr>
                                        <m:ctrlPr>
                                          <a:rPr lang="pt-BR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pt-BR" sz="2800" b="1" i="1" smtClean="0">
                                            <a:latin typeface="Cambria Math" panose="02040503050406030204" pitchFamily="18" charset="0"/>
                                          </a:rPr>
                                          <m:t>𝒘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Sup>
                                      <m:sSubSupPr>
                                        <m:ctrlPr>
                                          <a:rPr lang="pt-BR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pt-BR" sz="2800" b="0" i="1" smtClean="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pt-BR" sz="28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 lang="pt-BR" sz="28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p>
                                    </m:sSubSup>
                                  </m:den>
                                </m:f>
                              </m:e>
                            </m:mr>
                          </m:m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=?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D13B37B1-180A-3077-222D-29C3A1FB08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7196" y="2324330"/>
                <a:ext cx="1797608" cy="300967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82360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39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Exemplo</a:t>
            </a:r>
            <a:r>
              <a:rPr spc="-100" dirty="0"/>
              <a:t> </a:t>
            </a:r>
            <a:r>
              <a:rPr dirty="0"/>
              <a:t>da</a:t>
            </a:r>
            <a:r>
              <a:rPr spc="-85" dirty="0"/>
              <a:t> </a:t>
            </a:r>
            <a:r>
              <a:rPr spc="-10" dirty="0"/>
              <a:t>retropropagação</a:t>
            </a:r>
            <a:r>
              <a:rPr spc="-100" dirty="0"/>
              <a:t> </a:t>
            </a:r>
            <a:r>
              <a:rPr dirty="0"/>
              <a:t>do</a:t>
            </a:r>
            <a:r>
              <a:rPr spc="-75" dirty="0"/>
              <a:t> </a:t>
            </a:r>
            <a:r>
              <a:rPr spc="-20" dirty="0"/>
              <a:t>erro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92376" y="1609039"/>
            <a:ext cx="7012939" cy="4958715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292100" marR="55880" indent="-228600">
              <a:lnSpc>
                <a:spcPct val="80100"/>
              </a:lnSpc>
              <a:spcBef>
                <a:spcPts val="670"/>
              </a:spcBef>
              <a:buFont typeface="Arial"/>
              <a:buChar char="•"/>
              <a:tabLst>
                <a:tab pos="292100" algn="l"/>
              </a:tabLst>
            </a:pPr>
            <a:r>
              <a:rPr sz="2400" dirty="0">
                <a:latin typeface="Calibri"/>
                <a:cs typeface="Calibri"/>
              </a:rPr>
              <a:t>Considerem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rede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MLP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camada </a:t>
            </a:r>
            <a:r>
              <a:rPr sz="2400" dirty="0">
                <a:latin typeface="Calibri"/>
                <a:cs typeface="Calibri"/>
              </a:rPr>
              <a:t>oculta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dois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nós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camada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saída</a:t>
            </a:r>
            <a:r>
              <a:rPr sz="2400" spc="-25" dirty="0">
                <a:latin typeface="Calibri"/>
                <a:cs typeface="Calibri"/>
              </a:rPr>
              <a:t> com </a:t>
            </a:r>
            <a:r>
              <a:rPr sz="2400" dirty="0">
                <a:latin typeface="Calibri"/>
                <a:cs typeface="Calibri"/>
              </a:rPr>
              <a:t>um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único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nó,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portanto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𝑀</a:t>
            </a:r>
            <a:r>
              <a:rPr sz="2400" spc="15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05" dirty="0">
                <a:latin typeface="Cambria Math"/>
                <a:cs typeface="Cambria Math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2</a:t>
            </a:r>
            <a:r>
              <a:rPr sz="2400" spc="-2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92100" indent="-228600">
              <a:lnSpc>
                <a:spcPct val="100000"/>
              </a:lnSpc>
              <a:spcBef>
                <a:spcPts val="420"/>
              </a:spcBef>
              <a:buFont typeface="Arial"/>
              <a:buChar char="•"/>
              <a:tabLst>
                <a:tab pos="292100" algn="l"/>
              </a:tabLst>
            </a:pPr>
            <a:r>
              <a:rPr sz="2400" dirty="0">
                <a:latin typeface="Calibri"/>
                <a:cs typeface="Calibri"/>
              </a:rPr>
              <a:t>Devemos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começar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calculando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𝜹</a:t>
            </a:r>
            <a:r>
              <a:rPr sz="2625" spc="-37" baseline="28571" dirty="0">
                <a:latin typeface="Cambria Math"/>
                <a:cs typeface="Cambria Math"/>
              </a:rPr>
              <a:t>2</a:t>
            </a:r>
            <a:r>
              <a:rPr sz="2400" spc="-2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92100" marR="354965" indent="-228600">
              <a:lnSpc>
                <a:spcPct val="80000"/>
              </a:lnSpc>
              <a:spcBef>
                <a:spcPts val="1010"/>
              </a:spcBef>
              <a:buFont typeface="Arial"/>
              <a:buChar char="•"/>
              <a:tabLst>
                <a:tab pos="292100" algn="l"/>
              </a:tabLst>
            </a:pPr>
            <a:r>
              <a:rPr sz="2400" dirty="0">
                <a:latin typeface="Calibri"/>
                <a:cs typeface="Calibri"/>
              </a:rPr>
              <a:t>Percebam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essa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sensibilidade</a:t>
            </a:r>
            <a:r>
              <a:rPr sz="2400" b="1" i="1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escalar </a:t>
            </a:r>
            <a:r>
              <a:rPr sz="2400" dirty="0">
                <a:latin typeface="Calibri"/>
                <a:cs typeface="Calibri"/>
              </a:rPr>
              <a:t>pois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há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apenas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nó</a:t>
            </a:r>
            <a:r>
              <a:rPr sz="2400" b="1" i="1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camada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saída.</a:t>
            </a:r>
            <a:endParaRPr sz="2400" dirty="0">
              <a:latin typeface="Calibri"/>
              <a:cs typeface="Calibri"/>
            </a:endParaRPr>
          </a:p>
          <a:p>
            <a:pPr marL="292100" indent="-228600">
              <a:lnSpc>
                <a:spcPts val="2590"/>
              </a:lnSpc>
              <a:spcBef>
                <a:spcPts val="420"/>
              </a:spcBef>
              <a:buFont typeface="Arial"/>
              <a:buChar char="•"/>
              <a:tabLst>
                <a:tab pos="292100" algn="l"/>
              </a:tabLst>
            </a:pPr>
            <a:r>
              <a:rPr sz="2400" spc="-10" dirty="0">
                <a:latin typeface="Calibri"/>
                <a:cs typeface="Calibri"/>
              </a:rPr>
              <a:t>Vamos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considerar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exemplo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entrada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𝒙</a:t>
            </a:r>
            <a:r>
              <a:rPr sz="2400" spc="95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=</a:t>
            </a:r>
            <a:r>
              <a:rPr lang="pt-BR" sz="2400" spc="-50" dirty="0">
                <a:latin typeface="Cambria Math"/>
                <a:cs typeface="Cambria Math"/>
              </a:rPr>
              <a:t>[</a:t>
            </a:r>
            <a:r>
              <a:rPr sz="2400" dirty="0">
                <a:latin typeface="Cambria Math"/>
                <a:cs typeface="Cambria Math"/>
              </a:rPr>
              <a:t>𝑥</a:t>
            </a:r>
            <a:r>
              <a:rPr sz="2625" baseline="-15873" dirty="0">
                <a:latin typeface="Cambria Math"/>
                <a:cs typeface="Cambria Math"/>
              </a:rPr>
              <a:t>1</a:t>
            </a:r>
            <a:r>
              <a:rPr sz="2400" dirty="0">
                <a:latin typeface="Cambria Math"/>
                <a:cs typeface="Cambria Math"/>
              </a:rPr>
              <a:t>,</a:t>
            </a:r>
            <a:r>
              <a:rPr sz="2400" spc="-90" dirty="0">
                <a:latin typeface="Cambria Math"/>
                <a:cs typeface="Cambria Math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𝑥</a:t>
            </a:r>
            <a:r>
              <a:rPr sz="2625" spc="-37" baseline="-15873" dirty="0">
                <a:latin typeface="Cambria Math"/>
                <a:cs typeface="Cambria Math"/>
              </a:rPr>
              <a:t>2</a:t>
            </a:r>
            <a:r>
              <a:rPr lang="pt-BR" sz="2625" spc="-37" baseline="-15873" dirty="0">
                <a:latin typeface="Cambria Math"/>
                <a:cs typeface="Cambria Math"/>
              </a:rPr>
              <a:t>]</a:t>
            </a:r>
            <a:r>
              <a:rPr sz="2625" baseline="-15873" dirty="0">
                <a:latin typeface="Cambria Math"/>
                <a:cs typeface="Cambria Math"/>
              </a:rPr>
              <a:t>	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saída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desejada </a:t>
            </a:r>
            <a:r>
              <a:rPr sz="2400" spc="-25" dirty="0">
                <a:latin typeface="Cambria Math"/>
                <a:cs typeface="Cambria Math"/>
              </a:rPr>
              <a:t>𝑑</a:t>
            </a:r>
            <a:r>
              <a:rPr sz="2400" spc="-2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92100" indent="-228600">
              <a:lnSpc>
                <a:spcPts val="2595"/>
              </a:lnSpc>
              <a:spcBef>
                <a:spcPts val="420"/>
              </a:spcBef>
              <a:buFont typeface="Arial"/>
              <a:buChar char="•"/>
              <a:tabLst>
                <a:tab pos="292100" algn="l"/>
              </a:tabLst>
            </a:pPr>
            <a:r>
              <a:rPr sz="2400" dirty="0">
                <a:latin typeface="Calibri"/>
                <a:cs typeface="Calibri"/>
              </a:rPr>
              <a:t>Supomos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pesos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todos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nós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têm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uma</a:t>
            </a:r>
            <a:endParaRPr sz="2400" dirty="0">
              <a:latin typeface="Calibri"/>
              <a:cs typeface="Calibri"/>
            </a:endParaRPr>
          </a:p>
          <a:p>
            <a:pPr marL="292100">
              <a:lnSpc>
                <a:spcPts val="2595"/>
              </a:lnSpc>
            </a:pPr>
            <a:r>
              <a:rPr sz="2400" dirty="0">
                <a:latin typeface="Calibri"/>
                <a:cs typeface="Calibri"/>
              </a:rPr>
              <a:t>certa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configuração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inicial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(e.g.,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dist.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normal).</a:t>
            </a:r>
            <a:endParaRPr sz="2400" dirty="0">
              <a:latin typeface="Calibri"/>
              <a:cs typeface="Calibri"/>
            </a:endParaRPr>
          </a:p>
          <a:p>
            <a:pPr marL="292100" marR="564515" indent="-228600">
              <a:lnSpc>
                <a:spcPct val="80000"/>
              </a:lnSpc>
              <a:spcBef>
                <a:spcPts val="1010"/>
              </a:spcBef>
              <a:buFont typeface="Arial"/>
              <a:buChar char="•"/>
              <a:tabLst>
                <a:tab pos="292100" algn="l"/>
              </a:tabLst>
            </a:pPr>
            <a:r>
              <a:rPr sz="2400" dirty="0">
                <a:latin typeface="Calibri"/>
                <a:cs typeface="Calibri"/>
              </a:rPr>
              <a:t>Assim,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quando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entrada,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𝒙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apresentada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à </a:t>
            </a:r>
            <a:r>
              <a:rPr sz="2400" dirty="0">
                <a:latin typeface="Calibri"/>
                <a:cs typeface="Calibri"/>
              </a:rPr>
              <a:t>rede,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possível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calcular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todos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valores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de </a:t>
            </a:r>
            <a:r>
              <a:rPr sz="2400" dirty="0">
                <a:latin typeface="Calibri"/>
                <a:cs typeface="Calibri"/>
              </a:rPr>
              <a:t>interesse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longo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dela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até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saída.</a:t>
            </a:r>
            <a:endParaRPr sz="2400" dirty="0">
              <a:latin typeface="Calibri"/>
              <a:cs typeface="Calibri"/>
            </a:endParaRPr>
          </a:p>
          <a:p>
            <a:pPr marL="292100" indent="-228600">
              <a:lnSpc>
                <a:spcPct val="100000"/>
              </a:lnSpc>
              <a:spcBef>
                <a:spcPts val="420"/>
              </a:spcBef>
              <a:buFont typeface="Arial"/>
              <a:buChar char="•"/>
              <a:tabLst>
                <a:tab pos="292100" algn="l"/>
              </a:tabLst>
            </a:pPr>
            <a:r>
              <a:rPr sz="2400" dirty="0">
                <a:latin typeface="Calibri"/>
                <a:cs typeface="Calibri"/>
              </a:rPr>
              <a:t>Essa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etapa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direta</a:t>
            </a:r>
            <a:r>
              <a:rPr sz="2400" b="1" i="1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(ou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inglês,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forward</a:t>
            </a:r>
            <a:r>
              <a:rPr sz="2400" spc="-10" dirty="0">
                <a:latin typeface="Calibri"/>
                <a:cs typeface="Calibri"/>
              </a:rPr>
              <a:t>).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10983" y="2215895"/>
            <a:ext cx="5010912" cy="302971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8253730" y="1861565"/>
            <a:ext cx="1401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Camada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oculta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177653" y="2676855"/>
            <a:ext cx="16002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Camada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 </a:t>
            </a:r>
            <a:r>
              <a:rPr sz="1800" spc="-10" dirty="0">
                <a:latin typeface="Calibri"/>
                <a:cs typeface="Calibri"/>
              </a:rPr>
              <a:t>saída</a:t>
            </a:r>
            <a:endParaRPr sz="18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1916876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129032"/>
            <a:ext cx="10820400" cy="1175911"/>
          </a:xfrm>
          <a:prstGeom prst="rect">
            <a:avLst/>
          </a:prstGeom>
        </p:spPr>
        <p:txBody>
          <a:bodyPr vert="horz" wrap="square" lIns="0" tIns="4939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Exemplo</a:t>
            </a:r>
            <a:r>
              <a:rPr spc="-100" dirty="0"/>
              <a:t> </a:t>
            </a:r>
            <a:r>
              <a:rPr dirty="0"/>
              <a:t>da</a:t>
            </a:r>
            <a:r>
              <a:rPr spc="-85" dirty="0"/>
              <a:t> </a:t>
            </a:r>
            <a:r>
              <a:rPr spc="-10" dirty="0"/>
              <a:t>retropropagação</a:t>
            </a:r>
            <a:r>
              <a:rPr spc="-100" dirty="0"/>
              <a:t> </a:t>
            </a:r>
            <a:r>
              <a:rPr dirty="0"/>
              <a:t>do</a:t>
            </a:r>
            <a:r>
              <a:rPr spc="-75" dirty="0"/>
              <a:t> </a:t>
            </a:r>
            <a:r>
              <a:rPr spc="-20" dirty="0" err="1"/>
              <a:t>erro</a:t>
            </a:r>
            <a:r>
              <a:rPr lang="pt-BR" spc="-20" dirty="0"/>
              <a:t>,</a:t>
            </a:r>
            <a:endParaRPr spc="-2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4"/>
              <p:cNvSpPr txBox="1"/>
              <p:nvPr/>
            </p:nvSpPr>
            <p:spPr>
              <a:xfrm>
                <a:off x="916876" y="1523202"/>
                <a:ext cx="10099430" cy="418256"/>
              </a:xfrm>
              <a:prstGeom prst="rect">
                <a:avLst/>
              </a:prstGeom>
            </p:spPr>
            <p:txBody>
              <a:bodyPr vert="horz" wrap="square" lIns="0" tIns="13335" rIns="0" bIns="0" rtlCol="0">
                <a:spAutoFit/>
              </a:bodyPr>
              <a:lstStyle/>
              <a:p>
                <a:pPr marL="266700" indent="-228600">
                  <a:lnSpc>
                    <a:spcPct val="100000"/>
                  </a:lnSpc>
                  <a:spcBef>
                    <a:spcPts val="105"/>
                  </a:spcBef>
                  <a:buFont typeface="Arial"/>
                  <a:buChar char="•"/>
                  <a:tabLst>
                    <a:tab pos="266700" algn="l"/>
                  </a:tabLst>
                </a:pPr>
                <a:r>
                  <a:rPr lang="pt-BR" sz="2600" spc="-10" dirty="0">
                    <a:latin typeface="Calibri"/>
                    <a:cs typeface="Calibri"/>
                  </a:rPr>
                  <a:t>Portanto,</a:t>
                </a:r>
                <a:r>
                  <a:rPr lang="pt-BR" sz="2600" spc="-3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temos</a:t>
                </a:r>
                <a:r>
                  <a:rPr lang="pt-BR" sz="2600" spc="-3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então</a:t>
                </a:r>
                <a:r>
                  <a:rPr lang="pt-BR" sz="2600" spc="-2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a</a:t>
                </a:r>
                <a:r>
                  <a:rPr lang="pt-BR" sz="2600" spc="-25" dirty="0">
                    <a:latin typeface="Calibri"/>
                    <a:cs typeface="Calibri"/>
                  </a:rPr>
                  <a:t> </a:t>
                </a:r>
                <a:r>
                  <a:rPr lang="pt-BR" sz="2600" dirty="0" err="1">
                    <a:latin typeface="Calibri"/>
                    <a:cs typeface="Calibri"/>
                  </a:rPr>
                  <a:t>saída</a:t>
                </a:r>
                <a:r>
                  <a:rPr lang="pt-BR" sz="2600" spc="-75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pt-BR" sz="2600" b="0" i="1" spc="-75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SupPr>
                      <m:e>
                        <m:r>
                          <a:rPr lang="pt-BR" sz="2600" b="0" i="1" spc="-75" smtClean="0">
                            <a:latin typeface="Cambria Math" panose="02040503050406030204" pitchFamily="18" charset="0"/>
                            <a:cs typeface="Calibri"/>
                          </a:rPr>
                          <m:t>𝑦</m:t>
                        </m:r>
                      </m:e>
                      <m:sub>
                        <m:r>
                          <a:rPr lang="pt-BR" sz="2600" b="0" i="1" spc="-75" smtClean="0">
                            <a:latin typeface="Cambria Math" panose="02040503050406030204" pitchFamily="18" charset="0"/>
                            <a:cs typeface="Calibri"/>
                          </a:rPr>
                          <m:t>1</m:t>
                        </m:r>
                      </m:sub>
                      <m:sup>
                        <m:r>
                          <a:rPr lang="pt-BR" sz="2600" b="0" i="1" spc="-75" smtClean="0">
                            <a:latin typeface="Cambria Math" panose="02040503050406030204" pitchFamily="18" charset="0"/>
                            <a:cs typeface="Calibri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pt-BR" sz="2600" spc="85" dirty="0">
                    <a:latin typeface="Cambria Math"/>
                    <a:cs typeface="Cambria Math"/>
                  </a:rPr>
                  <a:t>,</a:t>
                </a:r>
                <a:r>
                  <a:rPr lang="pt-BR" sz="2600" spc="-140" dirty="0">
                    <a:latin typeface="Cambria Math"/>
                    <a:cs typeface="Cambria Math"/>
                  </a:rPr>
                  <a:t> </a:t>
                </a:r>
                <a:r>
                  <a:rPr lang="pt-BR" sz="2600" dirty="0">
                    <a:latin typeface="Cambria Math"/>
                    <a:cs typeface="Cambria Math"/>
                  </a:rPr>
                  <a:t>onde</a:t>
                </a:r>
                <a:r>
                  <a:rPr lang="pt-BR" sz="2600" spc="-45" dirty="0">
                    <a:latin typeface="Cambria Math"/>
                    <a:cs typeface="Cambria Math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o</a:t>
                </a:r>
                <a:r>
                  <a:rPr lang="pt-BR" sz="2600" spc="-2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erro</a:t>
                </a:r>
                <a:r>
                  <a:rPr lang="pt-BR" sz="2600" spc="-4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pode</a:t>
                </a:r>
                <a:r>
                  <a:rPr lang="pt-BR" sz="2600" spc="-3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ser</a:t>
                </a:r>
                <a:r>
                  <a:rPr lang="pt-BR" sz="2600" spc="-3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calculado</a:t>
                </a:r>
                <a:r>
                  <a:rPr lang="pt-BR" sz="2600" spc="-40" dirty="0">
                    <a:latin typeface="Calibri"/>
                    <a:cs typeface="Calibri"/>
                  </a:rPr>
                  <a:t> </a:t>
                </a:r>
                <a:r>
                  <a:rPr lang="pt-BR" sz="2600" spc="-20" dirty="0">
                    <a:latin typeface="Calibri"/>
                    <a:cs typeface="Calibri"/>
                  </a:rPr>
                  <a:t>como</a:t>
                </a:r>
                <a:endParaRPr sz="26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4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876" y="1523202"/>
                <a:ext cx="10099430" cy="418256"/>
              </a:xfrm>
              <a:prstGeom prst="rect">
                <a:avLst/>
              </a:prstGeom>
              <a:blipFill>
                <a:blip r:embed="rId2"/>
                <a:stretch>
                  <a:fillRect l="-1448" t="-23529" b="-50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5"/>
              <p:cNvSpPr txBox="1"/>
              <p:nvPr/>
            </p:nvSpPr>
            <p:spPr>
              <a:xfrm>
                <a:off x="4663313" y="2145697"/>
                <a:ext cx="2865374" cy="418256"/>
              </a:xfrm>
              <a:prstGeom prst="rect">
                <a:avLst/>
              </a:prstGeom>
            </p:spPr>
            <p:txBody>
              <a:bodyPr vert="horz" wrap="square" lIns="0" tIns="13335" rIns="0" bIns="0" rtlCol="0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10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600" i="1" dirty="0" smtClean="0">
                          <a:latin typeface="Cambria Math" panose="02040503050406030204" pitchFamily="18" charset="0"/>
                          <a:cs typeface="Cambria Math"/>
                        </a:rPr>
                        <m:t>𝑒</m:t>
                      </m:r>
                      <m:r>
                        <a:rPr lang="pt-BR" sz="2600" i="1" dirty="0">
                          <a:latin typeface="Cambria Math" panose="02040503050406030204" pitchFamily="18" charset="0"/>
                          <a:cs typeface="Cambria Math"/>
                        </a:rPr>
                        <m:t>=</m:t>
                      </m:r>
                      <m:r>
                        <a:rPr lang="pt-BR" sz="2600" i="1" dirty="0">
                          <a:latin typeface="Cambria Math" panose="02040503050406030204" pitchFamily="18" charset="0"/>
                          <a:cs typeface="Cambria Math"/>
                        </a:rPr>
                        <m:t>𝑑</m:t>
                      </m:r>
                      <m:r>
                        <a:rPr lang="pt-BR" sz="2600" b="0" i="1" dirty="0" smtClean="0">
                          <a:latin typeface="Cambria Math" panose="02040503050406030204" pitchFamily="18" charset="0"/>
                          <a:cs typeface="Cambria Math"/>
                        </a:rPr>
                        <m:t>−</m:t>
                      </m:r>
                      <m:sSubSup>
                        <m:sSubSupPr>
                          <m:ctrlPr>
                            <a:rPr lang="pt-BR" sz="260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26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pt-BR" sz="26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pt-BR" sz="26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pt-BR" sz="2600" i="1" spc="60" dirty="0">
                          <a:latin typeface="Cambria Math" panose="02040503050406030204" pitchFamily="18" charset="0"/>
                          <a:cs typeface="Calibri"/>
                        </a:rPr>
                        <m:t>.</m:t>
                      </m:r>
                    </m:oMath>
                  </m:oMathPara>
                </a14:m>
                <a:endParaRPr sz="26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5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3313" y="2145697"/>
                <a:ext cx="2865374" cy="41825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object 6"/>
          <p:cNvSpPr txBox="1"/>
          <p:nvPr/>
        </p:nvSpPr>
        <p:spPr>
          <a:xfrm>
            <a:off x="916877" y="2767541"/>
            <a:ext cx="11275124" cy="432810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220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De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posse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erro,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podemos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calcular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sensibilidade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nó</a:t>
            </a:r>
            <a:r>
              <a:rPr sz="2600" b="1" i="1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camada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saída</a:t>
            </a:r>
            <a:endParaRPr sz="2600" dirty="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16876" y="3713226"/>
            <a:ext cx="10820400" cy="776495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469900" marR="5080" indent="-457200">
              <a:lnSpc>
                <a:spcPts val="2810"/>
              </a:lnSpc>
              <a:spcBef>
                <a:spcPts val="455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sz="2600" spc="-25" dirty="0">
                <a:latin typeface="Calibri"/>
                <a:cs typeface="Calibri"/>
              </a:rPr>
              <a:t>Temos,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portanto,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nossa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primeira</a:t>
            </a:r>
            <a:r>
              <a:rPr sz="2600" spc="-10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sensibilidade</a:t>
            </a:r>
            <a:r>
              <a:rPr sz="2600" dirty="0">
                <a:latin typeface="Calibri"/>
                <a:cs typeface="Calibri"/>
              </a:rPr>
              <a:t>.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Agora,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usamos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equação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de </a:t>
            </a:r>
            <a:r>
              <a:rPr sz="2600" dirty="0">
                <a:latin typeface="Calibri"/>
                <a:cs typeface="Calibri"/>
              </a:rPr>
              <a:t>recursão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para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retropropagar</a:t>
            </a:r>
            <a:r>
              <a:rPr sz="2600" b="1" i="1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erro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até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camada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30" dirty="0">
                <a:latin typeface="Calibri"/>
                <a:cs typeface="Calibri"/>
              </a:rPr>
              <a:t>anterior.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fórmula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nos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diz:</a:t>
            </a:r>
            <a:endParaRPr sz="2600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bject 21"/>
              <p:cNvSpPr txBox="1"/>
              <p:nvPr/>
            </p:nvSpPr>
            <p:spPr>
              <a:xfrm>
                <a:off x="916876" y="5197905"/>
                <a:ext cx="5011421" cy="551818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100"/>
                  </a:spcBef>
                  <a:tabLst>
                    <a:tab pos="934085" algn="l"/>
                    <a:tab pos="1550035" algn="l"/>
                    <a:tab pos="2266315" algn="l"/>
                  </a:tabLst>
                </a:pPr>
                <a:r>
                  <a:rPr lang="pt-BR" sz="2600" spc="-20" dirty="0">
                    <a:latin typeface="Calibri"/>
                    <a:cs typeface="Calibri"/>
                  </a:rPr>
                  <a:t>onde</a:t>
                </a:r>
                <a:r>
                  <a:rPr lang="pt-BR" sz="2600" dirty="0">
                    <a:latin typeface="Calibri"/>
                    <a:cs typeface="Calibri"/>
                  </a:rPr>
                  <a:t>	</a:t>
                </a:r>
                <a14:m>
                  <m:oMath xmlns:m="http://schemas.openxmlformats.org/officeDocument/2006/math">
                    <m:r>
                      <a:rPr lang="pt-BR" sz="2600" i="1" dirty="0" smtClean="0">
                        <a:latin typeface="Cambria Math" panose="02040503050406030204" pitchFamily="18" charset="0"/>
                        <a:cs typeface="Calibri"/>
                      </a:rPr>
                      <m:t>(</m:t>
                    </m:r>
                    <m:r>
                      <a:rPr lang="pt-BR" sz="2600" i="1" spc="-25" dirty="0" smtClean="0">
                        <a:latin typeface="Cambria Math" panose="02040503050406030204" pitchFamily="18" charset="0"/>
                        <a:cs typeface="Cambria Math"/>
                      </a:rPr>
                      <m:t>𝑾</m:t>
                    </m:r>
                    <m:r>
                      <a:rPr lang="pt-BR" sz="2850" i="1" spc="-37" baseline="27777" dirty="0">
                        <a:latin typeface="Cambria Math" panose="02040503050406030204" pitchFamily="18" charset="0"/>
                        <a:cs typeface="Cambria Math"/>
                      </a:rPr>
                      <m:t>2</m:t>
                    </m:r>
                    <m:r>
                      <a:rPr lang="pt-BR" sz="2850" b="0" i="1" spc="-37" dirty="0" smtClean="0">
                        <a:latin typeface="Cambria Math" panose="02040503050406030204" pitchFamily="18" charset="0"/>
                        <a:cs typeface="Cambria Math"/>
                      </a:rPr>
                      <m:t>)</m:t>
                    </m:r>
                    <m:r>
                      <a:rPr lang="pt-BR" sz="2850" i="1" baseline="27777" dirty="0">
                        <a:latin typeface="Cambria Math" panose="02040503050406030204" pitchFamily="18" charset="0"/>
                        <a:cs typeface="Cambria Math"/>
                      </a:rPr>
                      <m:t>	</m:t>
                    </m:r>
                    <m:r>
                      <m:rPr>
                        <m:sty m:val="p"/>
                      </m:rPr>
                      <a:rPr lang="pt-BR" sz="2850" i="0" baseline="27777" dirty="0">
                        <a:latin typeface="Cambria Math" panose="02040503050406030204" pitchFamily="18" charset="0"/>
                        <a:cs typeface="Cambria Math"/>
                      </a:rPr>
                      <m:t>T</m:t>
                    </m:r>
                    <m:r>
                      <a:rPr lang="pt-BR" sz="2600" i="1" spc="-50" dirty="0" smtClean="0">
                        <a:latin typeface="Cambria Math" panose="02040503050406030204" pitchFamily="18" charset="0"/>
                        <a:cs typeface="Cambria Math"/>
                      </a:rPr>
                      <m:t>=</m:t>
                    </m:r>
                    <m:sSup>
                      <m:sSupPr>
                        <m:ctrlPr>
                          <a:rPr lang="pt-BR" sz="2600" b="0" i="1" spc="-50" baseline="27777" dirty="0" smtClean="0">
                            <a:latin typeface="Cambria Math" panose="02040503050406030204" pitchFamily="18" charset="0"/>
                            <a:cs typeface="Cambria Math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pt-BR" sz="2600" i="1" spc="-50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pt-BR" sz="2600" i="1" spc="-50" dirty="0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Sup>
                                    <m:sSubSupPr>
                                      <m:ctrlPr>
                                        <a:rPr lang="pt-BR" sz="2600" b="0" i="1" spc="-50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pt-BR" sz="2600" b="0" i="1" spc="-50" dirty="0" smtClean="0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pt-BR" sz="2600" b="0" i="1" spc="-50" dirty="0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pt-BR" sz="2600" b="0" i="1" spc="-50" dirty="0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pt-BR" sz="2600" b="0" i="1" spc="-50" dirty="0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pt-BR" sz="2600" b="0" i="1" spc="-50" dirty="0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r>
                                    <a:rPr lang="pt-BR" sz="2600" b="0" i="1" spc="-50" dirty="0" smtClean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</m:e>
                                <m:e>
                                  <m:sSubSup>
                                    <m:sSubSupPr>
                                      <m:ctrlPr>
                                        <a:rPr lang="pt-BR" sz="2600" b="0" i="1" spc="-50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pt-BR" sz="2600" b="0" i="1" spc="-50" dirty="0" smtClean="0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pt-BR" sz="2600" b="0" i="1" spc="-50" dirty="0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pt-BR" sz="2600" b="0" i="1" spc="-50" dirty="0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pt-BR" sz="2600" b="0" i="1" spc="-50" dirty="0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a:rPr lang="pt-BR" sz="2600" b="0" i="1" spc="-50" dirty="0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r>
                                    <a:rPr lang="pt-BR" sz="2600" b="0" i="1" spc="-50" dirty="0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pt-BR" sz="2600" b="0" i="0" spc="-50" dirty="0" smtClean="0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  <m:r>
                      <a:rPr lang="pt-BR" sz="2600" i="1" dirty="0">
                        <a:latin typeface="Cambria Math" panose="02040503050406030204" pitchFamily="18" charset="0"/>
                        <a:cs typeface="Cambria Math"/>
                      </a:rPr>
                      <m:t>	</m:t>
                    </m:r>
                  </m:oMath>
                </a14:m>
                <a:endParaRPr sz="2850" baseline="29239" dirty="0">
                  <a:latin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21" name="object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876" y="5197905"/>
                <a:ext cx="5011421" cy="551818"/>
              </a:xfrm>
              <a:prstGeom prst="rect">
                <a:avLst/>
              </a:prstGeom>
              <a:blipFill>
                <a:blip r:embed="rId4"/>
                <a:stretch>
                  <a:fillRect l="-3285" t="-6667" b="-33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object 36"/>
          <p:cNvSpPr txBox="1"/>
          <p:nvPr/>
        </p:nvSpPr>
        <p:spPr>
          <a:xfrm>
            <a:off x="9354847" y="5804256"/>
            <a:ext cx="2418715" cy="880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 indent="-635" algn="ctr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Calibri"/>
                <a:cs typeface="Calibri"/>
              </a:rPr>
              <a:t>OBS</a:t>
            </a:r>
            <a:r>
              <a:rPr sz="1400" dirty="0">
                <a:latin typeface="Calibri"/>
                <a:cs typeface="Calibri"/>
              </a:rPr>
              <a:t>.: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Notem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que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dirty="0">
                <a:latin typeface="Cambria Math"/>
                <a:cs typeface="Cambria Math"/>
              </a:rPr>
              <a:t>.</a:t>
            </a:r>
            <a:r>
              <a:rPr sz="1500" baseline="27777" dirty="0">
                <a:latin typeface="Cambria Math"/>
                <a:cs typeface="Cambria Math"/>
              </a:rPr>
              <a:t>2</a:t>
            </a:r>
            <a:r>
              <a:rPr sz="1500" spc="202" baseline="27777" dirty="0">
                <a:latin typeface="Cambria Math"/>
                <a:cs typeface="Cambria Math"/>
              </a:rPr>
              <a:t> </a:t>
            </a:r>
            <a:r>
              <a:rPr sz="1400" dirty="0">
                <a:latin typeface="Calibri"/>
                <a:cs typeface="Calibri"/>
              </a:rPr>
              <a:t>aqui </a:t>
            </a:r>
            <a:r>
              <a:rPr sz="1400" spc="-25" dirty="0">
                <a:latin typeface="Calibri"/>
                <a:cs typeface="Calibri"/>
              </a:rPr>
              <a:t>não </a:t>
            </a:r>
            <a:r>
              <a:rPr sz="1400" dirty="0">
                <a:latin typeface="Calibri"/>
                <a:cs typeface="Calibri"/>
              </a:rPr>
              <a:t>significa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“ao</a:t>
            </a:r>
            <a:r>
              <a:rPr sz="1400" spc="-20" dirty="0">
                <a:latin typeface="Calibri"/>
                <a:cs typeface="Calibri"/>
              </a:rPr>
              <a:t> quadrado”,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mas</a:t>
            </a:r>
            <a:r>
              <a:rPr sz="1400" spc="-25" dirty="0">
                <a:latin typeface="Calibri"/>
                <a:cs typeface="Calibri"/>
              </a:rPr>
              <a:t> sim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indicação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que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trata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de </a:t>
            </a:r>
            <a:r>
              <a:rPr sz="1400" dirty="0">
                <a:latin typeface="Calibri"/>
                <a:cs typeface="Calibri"/>
              </a:rPr>
              <a:t>uma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saída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da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camada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mbria Math"/>
                <a:cs typeface="Cambria Math"/>
              </a:rPr>
              <a:t>𝑚</a:t>
            </a:r>
            <a:r>
              <a:rPr sz="1400" spc="85" dirty="0">
                <a:latin typeface="Cambria Math"/>
                <a:cs typeface="Cambria Math"/>
              </a:rPr>
              <a:t> </a:t>
            </a:r>
            <a:r>
              <a:rPr sz="1400" dirty="0">
                <a:latin typeface="Cambria Math"/>
                <a:cs typeface="Cambria Math"/>
              </a:rPr>
              <a:t>=</a:t>
            </a:r>
            <a:r>
              <a:rPr sz="1400" spc="70" dirty="0">
                <a:latin typeface="Cambria Math"/>
                <a:cs typeface="Cambria Math"/>
              </a:rPr>
              <a:t> </a:t>
            </a:r>
            <a:r>
              <a:rPr sz="1400" spc="-25" dirty="0">
                <a:latin typeface="Cambria Math"/>
                <a:cs typeface="Cambria Math"/>
              </a:rPr>
              <a:t>2</a:t>
            </a:r>
            <a:r>
              <a:rPr sz="1400" spc="-25" dirty="0">
                <a:latin typeface="Calibri"/>
                <a:cs typeface="Calibri"/>
              </a:rPr>
              <a:t>.</a:t>
            </a:r>
            <a:endParaRPr sz="1400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bject 5">
                <a:extLst>
                  <a:ext uri="{FF2B5EF4-FFF2-40B4-BE49-F238E27FC236}">
                    <a16:creationId xmlns:a16="http://schemas.microsoft.com/office/drawing/2014/main" id="{8FDE8C33-A828-F7A0-7E61-B2C821369300}"/>
                  </a:ext>
                </a:extLst>
              </p:cNvPr>
              <p:cNvSpPr txBox="1"/>
              <p:nvPr/>
            </p:nvSpPr>
            <p:spPr>
              <a:xfrm>
                <a:off x="4069017" y="3228164"/>
                <a:ext cx="4053966" cy="418256"/>
              </a:xfrm>
              <a:prstGeom prst="rect">
                <a:avLst/>
              </a:prstGeom>
            </p:spPr>
            <p:txBody>
              <a:bodyPr vert="horz" wrap="square" lIns="0" tIns="13335" rIns="0" bIns="0" rtlCol="0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10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2600" b="0" i="1" smtClean="0"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sSupPr>
                        <m:e>
                          <m:r>
                            <a:rPr lang="pt-BR" sz="2600" b="0" i="1" smtClean="0">
                              <a:latin typeface="Cambria Math" panose="02040503050406030204" pitchFamily="18" charset="0"/>
                              <a:cs typeface="Calibri"/>
                            </a:rPr>
                            <m:t>𝛿</m:t>
                          </m:r>
                        </m:e>
                        <m:sup>
                          <m:r>
                            <a:rPr lang="pt-BR" sz="2600" b="0" i="1" smtClean="0">
                              <a:latin typeface="Cambria Math" panose="02040503050406030204" pitchFamily="18" charset="0"/>
                              <a:cs typeface="Calibri"/>
                            </a:rPr>
                            <m:t>2</m:t>
                          </m:r>
                        </m:sup>
                      </m:sSup>
                      <m:r>
                        <a:rPr lang="pt-BR" sz="2600" b="0" i="1" smtClean="0">
                          <a:latin typeface="Cambria Math" panose="02040503050406030204" pitchFamily="18" charset="0"/>
                          <a:cs typeface="Calibri"/>
                        </a:rPr>
                        <m:t>=−</m:t>
                      </m:r>
                      <m:r>
                        <a:rPr lang="pt-BR" sz="2600" b="0" i="1" smtClean="0">
                          <a:latin typeface="Cambria Math" panose="02040503050406030204" pitchFamily="18" charset="0"/>
                          <a:cs typeface="Calibri"/>
                        </a:rPr>
                        <m:t>2</m:t>
                      </m:r>
                      <m:d>
                        <m:dPr>
                          <m:ctrlPr>
                            <a:rPr lang="pt-BR" sz="2600" b="0" i="1" smtClean="0"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dPr>
                        <m:e>
                          <m:r>
                            <a:rPr lang="pt-BR" sz="2600" b="0" i="1" smtClean="0">
                              <a:latin typeface="Cambria Math" panose="02040503050406030204" pitchFamily="18" charset="0"/>
                              <a:cs typeface="Calibri"/>
                            </a:rPr>
                            <m:t>𝑑</m:t>
                          </m:r>
                          <m:r>
                            <a:rPr lang="pt-BR" sz="2600" b="0" i="1" smtClean="0">
                              <a:latin typeface="Cambria Math" panose="02040503050406030204" pitchFamily="18" charset="0"/>
                              <a:cs typeface="Calibri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pt-BR" sz="2600" b="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</m:ctrlPr>
                            </m:sSubSupPr>
                            <m:e>
                              <m:r>
                                <a:rPr lang="pt-BR" sz="2600" b="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pt-BR" sz="2600" b="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sz="2600" b="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sSup>
                        <m:sSupPr>
                          <m:ctrlPr>
                            <a:rPr lang="pt-BR" sz="2600" b="0" i="1" smtClean="0"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sSupPr>
                        <m:e>
                          <m:r>
                            <a:rPr lang="pt-BR" sz="2600" b="0" i="1" smtClean="0">
                              <a:latin typeface="Cambria Math" panose="02040503050406030204" pitchFamily="18" charset="0"/>
                              <a:cs typeface="Calibri"/>
                            </a:rPr>
                            <m:t>𝑓</m:t>
                          </m:r>
                        </m:e>
                        <m:sup>
                          <m:r>
                            <a:rPr lang="pt-BR" sz="2600" b="0" i="1" smtClean="0">
                              <a:latin typeface="Cambria Math" panose="02040503050406030204" pitchFamily="18" charset="0"/>
                              <a:cs typeface="Calibri"/>
                            </a:rPr>
                            <m:t>′</m:t>
                          </m:r>
                          <m:r>
                            <a:rPr lang="pt-BR" sz="2600" b="0" i="1" smtClean="0">
                              <a:latin typeface="Cambria Math" panose="02040503050406030204" pitchFamily="18" charset="0"/>
                              <a:cs typeface="Calibri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pt-BR" sz="2600" b="0" i="1" smtClean="0"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pt-BR" sz="2600" b="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</m:ctrlPr>
                            </m:sSubSupPr>
                            <m:e>
                              <m:r>
                                <a:rPr lang="pt-BR" sz="2600" b="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sz="2600" b="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sz="2600" b="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  <m:t>2</m:t>
                              </m:r>
                            </m:sup>
                          </m:sSubSup>
                          <m:r>
                            <a:rPr lang="pt-BR" sz="2600" b="0" i="1" smtClean="0">
                              <a:latin typeface="Cambria Math" panose="02040503050406030204" pitchFamily="18" charset="0"/>
                              <a:cs typeface="Calibri"/>
                            </a:rPr>
                            <m:t> </m:t>
                          </m:r>
                        </m:e>
                      </m:d>
                      <m:r>
                        <a:rPr lang="pt-BR" sz="2600" b="0" i="1" smtClean="0">
                          <a:latin typeface="Cambria Math" panose="02040503050406030204" pitchFamily="18" charset="0"/>
                          <a:cs typeface="Calibri"/>
                        </a:rPr>
                        <m:t>.</m:t>
                      </m:r>
                    </m:oMath>
                  </m:oMathPara>
                </a14:m>
                <a:endParaRPr sz="26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37" name="object 5">
                <a:extLst>
                  <a:ext uri="{FF2B5EF4-FFF2-40B4-BE49-F238E27FC236}">
                    <a16:creationId xmlns:a16="http://schemas.microsoft.com/office/drawing/2014/main" id="{8FDE8C33-A828-F7A0-7E61-B2C8213693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9017" y="3228164"/>
                <a:ext cx="4053966" cy="41825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object 5">
                <a:extLst>
                  <a:ext uri="{FF2B5EF4-FFF2-40B4-BE49-F238E27FC236}">
                    <a16:creationId xmlns:a16="http://schemas.microsoft.com/office/drawing/2014/main" id="{4FB0B2D1-361E-49E7-DAFD-A25403978018}"/>
                  </a:ext>
                </a:extLst>
              </p:cNvPr>
              <p:cNvSpPr txBox="1"/>
              <p:nvPr/>
            </p:nvSpPr>
            <p:spPr>
              <a:xfrm>
                <a:off x="4072646" y="4598880"/>
                <a:ext cx="4053966" cy="420693"/>
              </a:xfrm>
              <a:prstGeom prst="rect">
                <a:avLst/>
              </a:prstGeom>
            </p:spPr>
            <p:txBody>
              <a:bodyPr vert="horz" wrap="square" lIns="0" tIns="13335" rIns="0" bIns="0" rtlCol="0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10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2600" b="0" i="1" smtClean="0"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sSupPr>
                        <m:e>
                          <m:r>
                            <a:rPr lang="pt-BR" sz="2600" b="1" i="1" smtClean="0">
                              <a:latin typeface="Cambria Math" panose="02040503050406030204" pitchFamily="18" charset="0"/>
                              <a:cs typeface="Calibri"/>
                            </a:rPr>
                            <m:t>𝜹</m:t>
                          </m:r>
                        </m:e>
                        <m:sup>
                          <m:r>
                            <a:rPr lang="pt-BR" sz="2600" b="0" i="1" smtClean="0">
                              <a:latin typeface="Cambria Math" panose="02040503050406030204" pitchFamily="18" charset="0"/>
                              <a:cs typeface="Calibri"/>
                            </a:rPr>
                            <m:t>1</m:t>
                          </m:r>
                        </m:sup>
                      </m:sSup>
                      <m:r>
                        <a:rPr lang="pt-BR" sz="2600" b="0" i="1" smtClean="0">
                          <a:latin typeface="Cambria Math" panose="02040503050406030204" pitchFamily="18" charset="0"/>
                          <a:cs typeface="Calibri"/>
                        </a:rPr>
                        <m:t>=</m:t>
                      </m:r>
                      <m:sSup>
                        <m:sSupPr>
                          <m:ctrlPr>
                            <a:rPr lang="pt-BR" sz="2600" b="0" i="1" smtClean="0"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sSupPr>
                        <m:e>
                          <m:r>
                            <a:rPr lang="pt-BR" sz="2600" b="1" i="1" smtClean="0">
                              <a:latin typeface="Cambria Math" panose="02040503050406030204" pitchFamily="18" charset="0"/>
                              <a:cs typeface="Calibri"/>
                            </a:rPr>
                            <m:t>𝑭</m:t>
                          </m:r>
                        </m:e>
                        <m:sup>
                          <m:r>
                            <a:rPr lang="pt-BR" sz="2600" b="0" i="1" smtClean="0">
                              <a:latin typeface="Cambria Math" panose="02040503050406030204" pitchFamily="18" charset="0"/>
                              <a:cs typeface="Calibri"/>
                            </a:rPr>
                            <m:t>′</m:t>
                          </m:r>
                          <m:r>
                            <a:rPr lang="pt-BR" sz="2600" b="0" i="1" smtClean="0">
                              <a:latin typeface="Cambria Math" panose="02040503050406030204" pitchFamily="18" charset="0"/>
                              <a:cs typeface="Calibri"/>
                            </a:rPr>
                            <m:t>1</m:t>
                          </m:r>
                        </m:sup>
                      </m:sSup>
                      <m:d>
                        <m:dPr>
                          <m:ctrlPr>
                            <a:rPr lang="pt-BR" sz="2600" b="0" i="1" smtClean="0"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pt-BR" sz="2600" b="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</m:ctrlPr>
                            </m:sSupPr>
                            <m:e>
                              <m:r>
                                <a:rPr lang="pt-BR" sz="2600" b="1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  <m:t>𝒖</m:t>
                              </m:r>
                            </m:e>
                            <m:sup>
                              <m:r>
                                <a:rPr lang="pt-BR" sz="2600" b="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  <m:t>1</m:t>
                              </m:r>
                            </m:sup>
                          </m:sSup>
                        </m:e>
                      </m:d>
                      <m:sSup>
                        <m:sSupPr>
                          <m:ctrlPr>
                            <a:rPr lang="pt-BR" sz="2600" b="0" i="1" smtClean="0"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t-BR" sz="2600" b="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pt-BR" sz="2600" b="0" i="1" smtClean="0">
                                      <a:latin typeface="Cambria Math" panose="02040503050406030204" pitchFamily="18" charset="0"/>
                                      <a:cs typeface="Calibri"/>
                                    </a:rPr>
                                  </m:ctrlPr>
                                </m:sSupPr>
                                <m:e>
                                  <m:r>
                                    <a:rPr lang="pt-BR" sz="2600" b="1" i="1" smtClean="0">
                                      <a:latin typeface="Cambria Math" panose="02040503050406030204" pitchFamily="18" charset="0"/>
                                      <a:cs typeface="Calibri"/>
                                    </a:rPr>
                                    <m:t>𝑾</m:t>
                                  </m:r>
                                </m:e>
                                <m:sup>
                                  <m:r>
                                    <a:rPr lang="pt-BR" sz="2600" b="0" i="1" smtClean="0">
                                      <a:latin typeface="Cambria Math" panose="02040503050406030204" pitchFamily="18" charset="0"/>
                                      <a:cs typeface="Calibri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m:rPr>
                              <m:sty m:val="p"/>
                            </m:rPr>
                            <a:rPr lang="pt-BR" sz="2600" b="0" i="0" smtClean="0">
                              <a:latin typeface="Cambria Math" panose="02040503050406030204" pitchFamily="18" charset="0"/>
                              <a:cs typeface="Calibri"/>
                            </a:rPr>
                            <m:t>T</m:t>
                          </m:r>
                        </m:sup>
                      </m:sSup>
                      <m:sSup>
                        <m:sSupPr>
                          <m:ctrlPr>
                            <a:rPr lang="pt-BR" sz="2600" b="0" i="1" smtClean="0"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sSupPr>
                        <m:e>
                          <m:r>
                            <a:rPr lang="pt-BR" sz="2600" b="0" i="1" smtClean="0">
                              <a:latin typeface="Cambria Math" panose="02040503050406030204" pitchFamily="18" charset="0"/>
                              <a:cs typeface="Calibri"/>
                            </a:rPr>
                            <m:t>𝛿</m:t>
                          </m:r>
                        </m:e>
                        <m:sup>
                          <m:r>
                            <a:rPr lang="pt-BR" sz="2600" b="0" i="1" smtClean="0">
                              <a:latin typeface="Cambria Math" panose="02040503050406030204" pitchFamily="18" charset="0"/>
                              <a:cs typeface="Calibri"/>
                            </a:rPr>
                            <m:t>2</m:t>
                          </m:r>
                        </m:sup>
                      </m:sSup>
                      <m:r>
                        <a:rPr lang="pt-BR" sz="2600" b="0" i="1" smtClean="0">
                          <a:latin typeface="Cambria Math" panose="02040503050406030204" pitchFamily="18" charset="0"/>
                          <a:cs typeface="Calibri"/>
                        </a:rPr>
                        <m:t>.</m:t>
                      </m:r>
                    </m:oMath>
                  </m:oMathPara>
                </a14:m>
                <a:endParaRPr sz="26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38" name="object 5">
                <a:extLst>
                  <a:ext uri="{FF2B5EF4-FFF2-40B4-BE49-F238E27FC236}">
                    <a16:creationId xmlns:a16="http://schemas.microsoft.com/office/drawing/2014/main" id="{4FB0B2D1-361E-49E7-DAFD-A254039780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2646" y="4598880"/>
                <a:ext cx="4053966" cy="42069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CaixaDeTexto 40">
                <a:extLst>
                  <a:ext uri="{FF2B5EF4-FFF2-40B4-BE49-F238E27FC236}">
                    <a16:creationId xmlns:a16="http://schemas.microsoft.com/office/drawing/2014/main" id="{E4DD8423-A110-5D36-9F5F-2336AA4B571D}"/>
                  </a:ext>
                </a:extLst>
              </p:cNvPr>
              <p:cNvSpPr txBox="1"/>
              <p:nvPr/>
            </p:nvSpPr>
            <p:spPr>
              <a:xfrm>
                <a:off x="3997701" y="5804256"/>
                <a:ext cx="4196598" cy="82189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1" i="1" smtClean="0"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b="1" i="1" smtClean="0"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  <m: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p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  <m:r>
                                  <m:rPr>
                                    <m:brk m:alnAt="7"/>
                                  </m:rP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Sup>
                                  <m:sSubSupPr>
                                    <m:ctrl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bSup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brk m:alnAt="7"/>
                                  </m:rP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p>
                                  <m:sSupPr>
                                    <m:ctrl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p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Sup>
                                  <m:sSubSupPr>
                                    <m:ctrl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bSup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</m:m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41" name="CaixaDeTexto 40">
                <a:extLst>
                  <a:ext uri="{FF2B5EF4-FFF2-40B4-BE49-F238E27FC236}">
                    <a16:creationId xmlns:a16="http://schemas.microsoft.com/office/drawing/2014/main" id="{E4DD8423-A110-5D36-9F5F-2336AA4B57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7701" y="5804256"/>
                <a:ext cx="4196598" cy="82189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871579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129032"/>
            <a:ext cx="8277859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Exemplo</a:t>
            </a:r>
            <a:r>
              <a:rPr spc="-90" dirty="0"/>
              <a:t> </a:t>
            </a:r>
            <a:r>
              <a:rPr dirty="0"/>
              <a:t>da</a:t>
            </a:r>
            <a:r>
              <a:rPr spc="-75" dirty="0"/>
              <a:t> </a:t>
            </a:r>
            <a:r>
              <a:rPr spc="-10" dirty="0"/>
              <a:t>retropropagação</a:t>
            </a:r>
            <a:r>
              <a:rPr spc="-80" dirty="0"/>
              <a:t> </a:t>
            </a:r>
            <a:r>
              <a:rPr dirty="0"/>
              <a:t>do</a:t>
            </a:r>
            <a:r>
              <a:rPr spc="-75" dirty="0"/>
              <a:t> </a:t>
            </a:r>
            <a:r>
              <a:rPr spc="-20" dirty="0"/>
              <a:t>erro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190701"/>
            <a:ext cx="140589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20" dirty="0">
                <a:latin typeface="Calibri"/>
                <a:cs typeface="Calibri"/>
              </a:rPr>
              <a:t>Portanto,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16939" y="2421128"/>
            <a:ext cx="10886440" cy="1401602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41300" marR="989965" indent="-228600">
              <a:lnSpc>
                <a:spcPct val="80000"/>
              </a:lnSpc>
              <a:spcBef>
                <a:spcPts val="675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Agora,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obtermos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vetor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gradiente,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multiplicamos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sensibilidades</a:t>
            </a:r>
            <a:r>
              <a:rPr sz="2400" b="1" i="1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pelas </a:t>
            </a:r>
            <a:r>
              <a:rPr sz="2400" dirty="0">
                <a:latin typeface="Calibri"/>
                <a:cs typeface="Calibri"/>
              </a:rPr>
              <a:t>entradas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correspondentes.</a:t>
            </a:r>
            <a:endParaRPr sz="2400" dirty="0">
              <a:latin typeface="Calibri"/>
              <a:cs typeface="Calibri"/>
            </a:endParaRPr>
          </a:p>
          <a:p>
            <a:pPr marL="241300" marR="5080" indent="-228600">
              <a:lnSpc>
                <a:spcPct val="80000"/>
              </a:lnSpc>
              <a:spcBef>
                <a:spcPts val="1000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Por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exemplo,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derivadas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parciais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relação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aos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pesos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nó</a:t>
            </a:r>
            <a:r>
              <a:rPr sz="2400" b="1" i="1" spc="-25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𝑖</a:t>
            </a:r>
            <a:r>
              <a:rPr sz="2400" spc="19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14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1</a:t>
            </a:r>
            <a:r>
              <a:rPr sz="2400" spc="-20" dirty="0">
                <a:latin typeface="Cambria Math"/>
                <a:cs typeface="Cambria Math"/>
              </a:rPr>
              <a:t> </a:t>
            </a:r>
            <a:r>
              <a:rPr sz="2400" dirty="0">
                <a:latin typeface="Calibri"/>
                <a:cs typeface="Calibri"/>
              </a:rPr>
              <a:t>da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camada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𝑚</a:t>
            </a:r>
            <a:r>
              <a:rPr sz="2400" spc="16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= </a:t>
            </a:r>
            <a:r>
              <a:rPr sz="2400" dirty="0">
                <a:latin typeface="Cambria Math"/>
                <a:cs typeface="Cambria Math"/>
              </a:rPr>
              <a:t>1</a:t>
            </a:r>
            <a:r>
              <a:rPr sz="2400" spc="-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libri"/>
                <a:cs typeface="Calibri"/>
              </a:rPr>
              <a:t>são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 err="1">
                <a:latin typeface="Calibri"/>
                <a:cs typeface="Calibri"/>
              </a:rPr>
              <a:t>mostradas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 err="1">
                <a:latin typeface="Calibri"/>
                <a:cs typeface="Calibri"/>
              </a:rPr>
              <a:t>abaixo</a:t>
            </a:r>
            <a:endParaRPr sz="2400" dirty="0">
              <a:latin typeface="Cambria Math"/>
              <a:cs typeface="Cambria Math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4111497" y="5937910"/>
            <a:ext cx="134493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indent="1905" algn="ctr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Os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pesos de </a:t>
            </a:r>
            <a:r>
              <a:rPr sz="1200" b="1" i="1" spc="-20" dirty="0">
                <a:latin typeface="Calibri"/>
                <a:cs typeface="Calibri"/>
              </a:rPr>
              <a:t>bias </a:t>
            </a:r>
            <a:r>
              <a:rPr sz="1200" dirty="0">
                <a:latin typeface="Calibri"/>
                <a:cs typeface="Calibri"/>
              </a:rPr>
              <a:t>estão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ligados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50" dirty="0">
                <a:latin typeface="Calibri"/>
                <a:cs typeface="Calibri"/>
              </a:rPr>
              <a:t>a </a:t>
            </a:r>
            <a:r>
              <a:rPr sz="1200" dirty="0">
                <a:latin typeface="Calibri"/>
                <a:cs typeface="Calibri"/>
              </a:rPr>
              <a:t>entradas</a:t>
            </a:r>
            <a:r>
              <a:rPr sz="1200" spc="-6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com</a:t>
            </a:r>
            <a:r>
              <a:rPr sz="1200" spc="-10" dirty="0">
                <a:latin typeface="Calibri"/>
                <a:cs typeface="Calibri"/>
              </a:rPr>
              <a:t> valores constantes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iguais</a:t>
            </a:r>
            <a:r>
              <a:rPr sz="1200" spc="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15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1.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3389376" y="5664708"/>
            <a:ext cx="749935" cy="650875"/>
          </a:xfrm>
          <a:custGeom>
            <a:avLst/>
            <a:gdLst/>
            <a:ahLst/>
            <a:cxnLst/>
            <a:rect l="l" t="t" r="r" b="b"/>
            <a:pathLst>
              <a:path w="749935" h="650875">
                <a:moveTo>
                  <a:pt x="61768" y="45088"/>
                </a:moveTo>
                <a:lnTo>
                  <a:pt x="53428" y="54711"/>
                </a:lnTo>
                <a:lnTo>
                  <a:pt x="741299" y="650836"/>
                </a:lnTo>
                <a:lnTo>
                  <a:pt x="749553" y="641248"/>
                </a:lnTo>
                <a:lnTo>
                  <a:pt x="61768" y="45088"/>
                </a:lnTo>
                <a:close/>
              </a:path>
              <a:path w="749935" h="650875">
                <a:moveTo>
                  <a:pt x="0" y="0"/>
                </a:moveTo>
                <a:lnTo>
                  <a:pt x="32638" y="78701"/>
                </a:lnTo>
                <a:lnTo>
                  <a:pt x="53428" y="54711"/>
                </a:lnTo>
                <a:lnTo>
                  <a:pt x="43814" y="46380"/>
                </a:lnTo>
                <a:lnTo>
                  <a:pt x="52197" y="36791"/>
                </a:lnTo>
                <a:lnTo>
                  <a:pt x="68957" y="36791"/>
                </a:lnTo>
                <a:lnTo>
                  <a:pt x="82550" y="21107"/>
                </a:lnTo>
                <a:lnTo>
                  <a:pt x="0" y="0"/>
                </a:lnTo>
                <a:close/>
              </a:path>
              <a:path w="749935" h="650875">
                <a:moveTo>
                  <a:pt x="52197" y="36791"/>
                </a:moveTo>
                <a:lnTo>
                  <a:pt x="43814" y="46380"/>
                </a:lnTo>
                <a:lnTo>
                  <a:pt x="53428" y="54711"/>
                </a:lnTo>
                <a:lnTo>
                  <a:pt x="61768" y="45088"/>
                </a:lnTo>
                <a:lnTo>
                  <a:pt x="52197" y="36791"/>
                </a:lnTo>
                <a:close/>
              </a:path>
              <a:path w="749935" h="650875">
                <a:moveTo>
                  <a:pt x="68957" y="36791"/>
                </a:moveTo>
                <a:lnTo>
                  <a:pt x="52197" y="36791"/>
                </a:lnTo>
                <a:lnTo>
                  <a:pt x="61768" y="45088"/>
                </a:lnTo>
                <a:lnTo>
                  <a:pt x="68957" y="3679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CaixaDeTexto 60">
                <a:extLst>
                  <a:ext uri="{FF2B5EF4-FFF2-40B4-BE49-F238E27FC236}">
                    <a16:creationId xmlns:a16="http://schemas.microsoft.com/office/drawing/2014/main" id="{21C092D4-9658-4194-4FF6-276D9022728B}"/>
                  </a:ext>
                </a:extLst>
              </p:cNvPr>
              <p:cNvSpPr txBox="1"/>
              <p:nvPr/>
            </p:nvSpPr>
            <p:spPr>
              <a:xfrm>
                <a:off x="4088431" y="1378769"/>
                <a:ext cx="4015138" cy="8614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1" i="1" smtClean="0">
                              <a:latin typeface="Cambria Math" panose="02040503050406030204" pitchFamily="18" charset="0"/>
                            </a:rPr>
                            <m:t>𝜹</m:t>
                          </m:r>
                        </m:e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𝛿</m:t>
                                    </m:r>
                                  </m:e>
                                  <m:sub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𝛿</m:t>
                                    </m:r>
                                  </m:e>
                                  <m:sub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1,1</m:t>
                                    </m:r>
                                  </m:sub>
                                  <m:sup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p>
                                  <m:sSupPr>
                                    <m:ctrl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p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′1</m:t>
                                    </m:r>
                                  </m:sup>
                                </m:sSup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Sup>
                                  <m:sSubSupPr>
                                    <m:ctrl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bSup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1,2</m:t>
                                    </m:r>
                                  </m:sub>
                                  <m:sup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p>
                                  <m:sSupPr>
                                    <m:ctrl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p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′1</m:t>
                                    </m:r>
                                  </m:sup>
                                </m:sSup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Sup>
                                  <m:sSubSupPr>
                                    <m:ctrl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bSup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</m:m>
                        </m:e>
                      </m:d>
                      <m:sSup>
                        <m:sSup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61" name="CaixaDeTexto 60">
                <a:extLst>
                  <a:ext uri="{FF2B5EF4-FFF2-40B4-BE49-F238E27FC236}">
                    <a16:creationId xmlns:a16="http://schemas.microsoft.com/office/drawing/2014/main" id="{21C092D4-9658-4194-4FF6-276D902272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8431" y="1378769"/>
                <a:ext cx="4015138" cy="86145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CaixaDeTexto 61">
                <a:extLst>
                  <a:ext uri="{FF2B5EF4-FFF2-40B4-BE49-F238E27FC236}">
                    <a16:creationId xmlns:a16="http://schemas.microsoft.com/office/drawing/2014/main" id="{E774AA17-37D7-23EA-1448-525EB24E6C8C}"/>
                  </a:ext>
                </a:extLst>
              </p:cNvPr>
              <p:cNvSpPr txBox="1"/>
              <p:nvPr/>
            </p:nvSpPr>
            <p:spPr>
              <a:xfrm>
                <a:off x="1124856" y="4016805"/>
                <a:ext cx="10522431" cy="25799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pt-BR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𝐽</m:t>
                                    </m:r>
                                    <m:d>
                                      <m:dPr>
                                        <m:ctrlP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pt-BR" sz="2400" b="1" i="1" smtClean="0">
                                            <a:latin typeface="Cambria Math" panose="02040503050406030204" pitchFamily="18" charset="0"/>
                                          </a:rPr>
                                          <m:t>𝒘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Sup>
                                      <m:sSubSupPr>
                                        <m:ctrlP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  <m:t>1,1</m:t>
                                        </m:r>
                                      </m:sub>
                                      <m:sup>
                                        <m: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p>
                                    </m:sSubSup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𝐽</m:t>
                                    </m:r>
                                    <m:d>
                                      <m:dPr>
                                        <m:ctrlP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pt-BR" sz="2400" b="1" i="1" smtClean="0">
                                            <a:latin typeface="Cambria Math" panose="02040503050406030204" pitchFamily="18" charset="0"/>
                                          </a:rPr>
                                          <m:t>𝒘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Sup>
                                      <m:sSubSupPr>
                                        <m:ctrlP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  <m:t>1,2</m:t>
                                        </m:r>
                                      </m:sub>
                                      <m:sup>
                                        <m: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p>
                                    </m:sSubSup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𝐽</m:t>
                                    </m:r>
                                    <m:d>
                                      <m:dPr>
                                        <m:ctrlP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pt-BR" sz="2400" b="1" i="1" smtClean="0">
                                            <a:latin typeface="Cambria Math" panose="02040503050406030204" pitchFamily="18" charset="0"/>
                                          </a:rPr>
                                          <m:t>𝒘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Sup>
                                      <m:sSubSupPr>
                                        <m:ctrlP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p>
                                    </m:sSubSup>
                                  </m:den>
                                </m:f>
                              </m:e>
                            </m:mr>
                          </m:m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d>
                        <m:dPr>
                          <m:begChr m:val="["/>
                          <m:endChr m:val="]"/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Sup>
                        <m:sSubSup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p>
                        <m:sSup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′1</m:t>
                          </m:r>
                        </m:sup>
                      </m:sSup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=−2</m:t>
                      </m:r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sSup>
                        <m:sSup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′2</m:t>
                          </m:r>
                        </m:sup>
                      </m:sSup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sSubSup>
                        <m:sSubSup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p>
                        <m:sSup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′1</m:t>
                          </m:r>
                        </m:sup>
                      </m:sSup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62" name="CaixaDeTexto 61">
                <a:extLst>
                  <a:ext uri="{FF2B5EF4-FFF2-40B4-BE49-F238E27FC236}">
                    <a16:creationId xmlns:a16="http://schemas.microsoft.com/office/drawing/2014/main" id="{E774AA17-37D7-23EA-1448-525EB24E6C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4856" y="4016805"/>
                <a:ext cx="10522431" cy="25799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075741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39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Exemplo</a:t>
            </a:r>
            <a:r>
              <a:rPr spc="-100" dirty="0"/>
              <a:t> </a:t>
            </a:r>
            <a:r>
              <a:rPr dirty="0"/>
              <a:t>da</a:t>
            </a:r>
            <a:r>
              <a:rPr spc="-85" dirty="0"/>
              <a:t> </a:t>
            </a:r>
            <a:r>
              <a:rPr spc="-10" dirty="0"/>
              <a:t>retropropagação</a:t>
            </a:r>
            <a:r>
              <a:rPr spc="-100" dirty="0"/>
              <a:t> </a:t>
            </a:r>
            <a:r>
              <a:rPr dirty="0"/>
              <a:t>do</a:t>
            </a:r>
            <a:r>
              <a:rPr spc="-75" dirty="0"/>
              <a:t> </a:t>
            </a:r>
            <a:r>
              <a:rPr spc="-20" dirty="0"/>
              <a:t>erro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3432" y="1530298"/>
            <a:ext cx="6824980" cy="121443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41300" marR="5080" indent="-228600">
              <a:lnSpc>
                <a:spcPts val="3030"/>
              </a:lnSpc>
              <a:spcBef>
                <a:spcPts val="4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Se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fôssemos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calcular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derivadas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aplicando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regra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cadeia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diretamente,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 err="1">
                <a:latin typeface="Calibri"/>
                <a:cs typeface="Calibri"/>
              </a:rPr>
              <a:t>elas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 err="1">
                <a:latin typeface="Calibri"/>
                <a:cs typeface="Calibri"/>
              </a:rPr>
              <a:t>seriam</a:t>
            </a:r>
            <a:r>
              <a:rPr lang="pt-BR" sz="2800" spc="-10" dirty="0">
                <a:latin typeface="Calibri"/>
                <a:cs typeface="Calibri"/>
              </a:rPr>
              <a:t> </a:t>
            </a:r>
            <a:r>
              <a:rPr lang="pt-BR" sz="2800" dirty="0">
                <a:latin typeface="Calibri"/>
                <a:cs typeface="Calibri"/>
              </a:rPr>
              <a:t>calculadas</a:t>
            </a:r>
            <a:r>
              <a:rPr lang="pt-BR" sz="2800" spc="-105" dirty="0">
                <a:latin typeface="Calibri"/>
                <a:cs typeface="Calibri"/>
              </a:rPr>
              <a:t> </a:t>
            </a:r>
            <a:r>
              <a:rPr lang="pt-BR" sz="2800" dirty="0">
                <a:latin typeface="Calibri"/>
                <a:cs typeface="Calibri"/>
              </a:rPr>
              <a:t>como</a:t>
            </a:r>
            <a:r>
              <a:rPr lang="pt-BR" sz="2800" spc="-100" dirty="0">
                <a:latin typeface="Calibri"/>
                <a:cs typeface="Calibri"/>
              </a:rPr>
              <a:t> </a:t>
            </a:r>
            <a:r>
              <a:rPr lang="pt-BR" sz="2800" spc="-10" dirty="0">
                <a:latin typeface="Calibri"/>
                <a:cs typeface="Calibri"/>
              </a:rPr>
              <a:t>mostrado</a:t>
            </a:r>
            <a:r>
              <a:rPr lang="pt-BR" sz="2800" spc="-95" dirty="0">
                <a:latin typeface="Calibri"/>
                <a:cs typeface="Calibri"/>
              </a:rPr>
              <a:t> </a:t>
            </a:r>
            <a:r>
              <a:rPr lang="pt-BR" sz="2800" spc="-10" dirty="0">
                <a:latin typeface="Calibri"/>
                <a:cs typeface="Calibri"/>
              </a:rPr>
              <a:t>abaixo.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916939" y="4333113"/>
            <a:ext cx="6042025" cy="63944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892935" algn="ctr">
              <a:lnSpc>
                <a:spcPts val="1505"/>
              </a:lnSpc>
              <a:spcBef>
                <a:spcPts val="120"/>
              </a:spcBef>
            </a:pPr>
            <a:endParaRPr sz="1300" dirty="0">
              <a:latin typeface="Cambria Math"/>
              <a:cs typeface="Cambria Math"/>
            </a:endParaRPr>
          </a:p>
          <a:p>
            <a:pPr marL="241300" indent="-228600">
              <a:lnSpc>
                <a:spcPts val="3304"/>
              </a:lnSpc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Resolvendo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derivadas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parciais,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temos</a:t>
            </a:r>
            <a:endParaRPr sz="2800" dirty="0">
              <a:latin typeface="Calibri"/>
              <a:cs typeface="Calibri"/>
            </a:endParaRPr>
          </a:p>
        </p:txBody>
      </p:sp>
      <p:grpSp>
        <p:nvGrpSpPr>
          <p:cNvPr id="68" name="object 68"/>
          <p:cNvGrpSpPr/>
          <p:nvPr/>
        </p:nvGrpSpPr>
        <p:grpSpPr>
          <a:xfrm>
            <a:off x="8398847" y="2636266"/>
            <a:ext cx="3674215" cy="2355945"/>
            <a:chOff x="8398847" y="2636266"/>
            <a:chExt cx="3674215" cy="2355945"/>
          </a:xfrm>
        </p:grpSpPr>
        <p:pic>
          <p:nvPicPr>
            <p:cNvPr id="69" name="object 6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98847" y="3060305"/>
              <a:ext cx="3674215" cy="1931906"/>
            </a:xfrm>
            <a:prstGeom prst="rect">
              <a:avLst/>
            </a:prstGeom>
          </p:spPr>
        </p:pic>
        <p:sp>
          <p:nvSpPr>
            <p:cNvPr id="70" name="object 70"/>
            <p:cNvSpPr/>
            <p:nvPr/>
          </p:nvSpPr>
          <p:spPr>
            <a:xfrm>
              <a:off x="9012935" y="2636266"/>
              <a:ext cx="146050" cy="415925"/>
            </a:xfrm>
            <a:custGeom>
              <a:avLst/>
              <a:gdLst/>
              <a:ahLst/>
              <a:cxnLst/>
              <a:rect l="l" t="t" r="r" b="b"/>
              <a:pathLst>
                <a:path w="146050" h="415925">
                  <a:moveTo>
                    <a:pt x="103113" y="344527"/>
                  </a:moveTo>
                  <a:lnTo>
                    <a:pt x="72644" y="353695"/>
                  </a:lnTo>
                  <a:lnTo>
                    <a:pt x="131191" y="415671"/>
                  </a:lnTo>
                  <a:lnTo>
                    <a:pt x="141354" y="356743"/>
                  </a:lnTo>
                  <a:lnTo>
                    <a:pt x="106807" y="356743"/>
                  </a:lnTo>
                  <a:lnTo>
                    <a:pt x="103113" y="344527"/>
                  </a:lnTo>
                  <a:close/>
                </a:path>
                <a:path w="146050" h="415925">
                  <a:moveTo>
                    <a:pt x="115195" y="340892"/>
                  </a:moveTo>
                  <a:lnTo>
                    <a:pt x="103113" y="344527"/>
                  </a:lnTo>
                  <a:lnTo>
                    <a:pt x="106807" y="356743"/>
                  </a:lnTo>
                  <a:lnTo>
                    <a:pt x="118872" y="353060"/>
                  </a:lnTo>
                  <a:lnTo>
                    <a:pt x="115195" y="340892"/>
                  </a:lnTo>
                  <a:close/>
                </a:path>
                <a:path w="146050" h="415925">
                  <a:moveTo>
                    <a:pt x="145669" y="331724"/>
                  </a:moveTo>
                  <a:lnTo>
                    <a:pt x="115195" y="340892"/>
                  </a:lnTo>
                  <a:lnTo>
                    <a:pt x="118872" y="353060"/>
                  </a:lnTo>
                  <a:lnTo>
                    <a:pt x="106807" y="356743"/>
                  </a:lnTo>
                  <a:lnTo>
                    <a:pt x="141354" y="356743"/>
                  </a:lnTo>
                  <a:lnTo>
                    <a:pt x="145669" y="331724"/>
                  </a:lnTo>
                  <a:close/>
                </a:path>
                <a:path w="146050" h="415925">
                  <a:moveTo>
                    <a:pt x="12192" y="0"/>
                  </a:moveTo>
                  <a:lnTo>
                    <a:pt x="0" y="3556"/>
                  </a:lnTo>
                  <a:lnTo>
                    <a:pt x="103113" y="344527"/>
                  </a:lnTo>
                  <a:lnTo>
                    <a:pt x="115195" y="340892"/>
                  </a:lnTo>
                  <a:lnTo>
                    <a:pt x="1219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1" name="object 71"/>
          <p:cNvSpPr txBox="1"/>
          <p:nvPr/>
        </p:nvSpPr>
        <p:spPr>
          <a:xfrm>
            <a:off x="8540622" y="2033142"/>
            <a:ext cx="13620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Derivada</a:t>
            </a:r>
            <a:r>
              <a:rPr sz="1200" spc="-5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com </a:t>
            </a:r>
            <a:r>
              <a:rPr sz="1200" spc="-10" dirty="0">
                <a:latin typeface="Calibri"/>
                <a:cs typeface="Calibri"/>
              </a:rPr>
              <a:t>relação </a:t>
            </a:r>
            <a:r>
              <a:rPr sz="1200" dirty="0">
                <a:latin typeface="Calibri"/>
                <a:cs typeface="Calibri"/>
              </a:rPr>
              <a:t>ao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primeiro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peso </a:t>
            </a:r>
            <a:r>
              <a:rPr sz="1200" spc="-25" dirty="0">
                <a:latin typeface="Calibri"/>
                <a:cs typeface="Calibri"/>
              </a:rPr>
              <a:t>do </a:t>
            </a:r>
            <a:r>
              <a:rPr sz="1200" dirty="0">
                <a:latin typeface="Calibri"/>
                <a:cs typeface="Calibri"/>
              </a:rPr>
              <a:t>nó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1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da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camada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1.</a:t>
            </a:r>
            <a:endParaRPr sz="120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CaixaDeTexto 73">
                <a:extLst>
                  <a:ext uri="{FF2B5EF4-FFF2-40B4-BE49-F238E27FC236}">
                    <a16:creationId xmlns:a16="http://schemas.microsoft.com/office/drawing/2014/main" id="{AEDDE019-7B81-7C35-D72D-052F7EF2982E}"/>
                  </a:ext>
                </a:extLst>
              </p:cNvPr>
              <p:cNvSpPr txBox="1"/>
              <p:nvPr/>
            </p:nvSpPr>
            <p:spPr>
              <a:xfrm>
                <a:off x="1046583" y="2929668"/>
                <a:ext cx="6715300" cy="14760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  <m:d>
                            <m:d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000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</m:d>
                        </m:num>
                        <m:den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1,1</m:t>
                              </m:r>
                            </m:sub>
                            <m:sup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limLow>
                                <m:limLowPr>
                                  <m:ctrlP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groupChr>
                                    <m:groupChrPr>
                                      <m:chr m:val="⏟"/>
                                      <m:ctrlP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groupChrPr>
                                    <m:e>
                                      <m:f>
                                        <m:fPr>
                                          <m:ctrlPr>
                                            <a:rPr lang="pt-BR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pt-BR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𝜕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pt-BR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d>
                                                <m:dPr>
                                                  <m:ctrlPr>
                                                    <a:rPr lang="pt-BR" sz="20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pt-BR" sz="20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𝑑</m:t>
                                                  </m:r>
                                                  <m:r>
                                                    <a:rPr lang="pt-BR" sz="20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−</m:t>
                                                  </m:r>
                                                  <m:sSup>
                                                    <m:sSupPr>
                                                      <m:ctrlPr>
                                                        <a:rPr lang="pt-BR" sz="20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pPr>
                                                    <m:e>
                                                      <m:r>
                                                        <a:rPr lang="pt-BR" sz="20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𝑓</m:t>
                                                      </m:r>
                                                    </m:e>
                                                    <m:sup>
                                                      <m:r>
                                                        <a:rPr lang="pt-BR" sz="20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2</m:t>
                                                      </m:r>
                                                    </m:sup>
                                                  </m:sSup>
                                                  <m:d>
                                                    <m:dPr>
                                                      <m:ctrlPr>
                                                        <a:rPr lang="pt-BR" sz="20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sSubSup>
                                                        <m:sSubSupPr>
                                                          <m:ctrlPr>
                                                            <a:rPr lang="pt-BR" sz="2000" b="0" i="1" smtClean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sSubSupPr>
                                                        <m:e>
                                                          <m:r>
                                                            <a:rPr lang="pt-BR" sz="2000" b="0" i="1" smtClean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𝑢</m:t>
                                                          </m:r>
                                                        </m:e>
                                                        <m:sub>
                                                          <m:r>
                                                            <a:rPr lang="pt-BR" sz="2000" b="0" i="1" smtClean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1</m:t>
                                                          </m:r>
                                                        </m:sub>
                                                        <m:sup>
                                                          <m:r>
                                                            <a:rPr lang="pt-BR" sz="2000" b="0" i="1" smtClean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2</m:t>
                                                          </m:r>
                                                        </m:sup>
                                                      </m:sSubSup>
                                                    </m:e>
                                                  </m:d>
                                                </m:e>
                                              </m:d>
                                            </m:e>
                                            <m:sup>
                                              <m:r>
                                                <a:rPr lang="pt-BR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</m:num>
                                        <m:den>
                                          <m:r>
                                            <a:rPr lang="pt-BR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𝜕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pt-BR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pt-BR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p>
                                              <m:r>
                                                <a:rPr lang="pt-BR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  <m:d>
                                            <m:dPr>
                                              <m:ctrlPr>
                                                <a:rPr lang="pt-BR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Sup>
                                                <m:sSubSupPr>
                                                  <m:ctrlPr>
                                                    <a:rPr lang="pt-BR" sz="20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SupPr>
                                                <m:e>
                                                  <m:r>
                                                    <a:rPr lang="pt-BR" sz="20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𝑢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pt-BR" sz="20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  <m:sup>
                                                  <m:r>
                                                    <a:rPr lang="pt-BR" sz="20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2</m:t>
                                                  </m:r>
                                                </m:sup>
                                              </m:sSubSup>
                                            </m:e>
                                          </m:d>
                                        </m:den>
                                      </m:f>
                                      <m:f>
                                        <m:fPr>
                                          <m:ctrlPr>
                                            <a:rPr lang="pt-BR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pt-BR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𝜕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pt-BR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pt-BR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p>
                                              <m:r>
                                                <a:rPr lang="pt-BR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  <m:d>
                                            <m:dPr>
                                              <m:ctrlPr>
                                                <a:rPr lang="pt-BR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Sup>
                                                <m:sSubSupPr>
                                                  <m:ctrlPr>
                                                    <a:rPr lang="pt-BR" sz="20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SupPr>
                                                <m:e>
                                                  <m:r>
                                                    <a:rPr lang="pt-BR" sz="20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𝑢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pt-BR" sz="20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  <m:sup>
                                                  <m:r>
                                                    <a:rPr lang="pt-BR" sz="20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2</m:t>
                                                  </m:r>
                                                </m:sup>
                                              </m:sSubSup>
                                            </m:e>
                                          </m:d>
                                        </m:num>
                                        <m:den>
                                          <m:r>
                                            <a:rPr lang="pt-BR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𝜕</m:t>
                                          </m:r>
                                          <m:sSubSup>
                                            <m:sSubSupPr>
                                              <m:ctrlPr>
                                                <a:rPr lang="pt-BR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pt-BR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𝑢</m:t>
                                              </m:r>
                                            </m:e>
                                            <m:sub>
                                              <m:r>
                                                <a:rPr lang="pt-BR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  <m:sup>
                                              <m:r>
                                                <a:rPr lang="pt-BR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bSup>
                                        </m:den>
                                      </m:f>
                                    </m:e>
                                  </m:groupChr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  <m:lim>
                                  <m:sSup>
                                    <m:sSupPr>
                                      <m:ctrlP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  <m:t>𝛿</m:t>
                                      </m:r>
                                    </m:e>
                                    <m:sup>
                                      <m: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lim>
                              </m:limLow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  <m:f>
                                <m:fPr>
                                  <m:ctrlP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Sup>
                                    <m:sSubSupPr>
                                      <m:ctrlP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num>
                                <m:den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p>
                                    <m:sSupPr>
                                      <m:ctrlP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p>
                                      <m: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Sup>
                                    <m:sSubSupPr>
                                      <m:ctrlP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bSup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den>
                              </m:f>
                              <m:f>
                                <m:fPr>
                                  <m:ctrlP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p>
                                    <m:sSupPr>
                                      <m:ctrlP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p>
                                      <m: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pt-BR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pt-BR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𝑢</m:t>
                                          </m:r>
                                        </m:e>
                                        <m:sub>
                                          <m:r>
                                            <a:rPr lang="pt-BR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  <m:sup>
                                          <m:r>
                                            <a:rPr lang="pt-BR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p>
                                      </m:sSubSup>
                                    </m:e>
                                  </m:d>
                                </m:num>
                                <m:den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Sup>
                                    <m:sSubSupPr>
                                      <m:ctrlP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bSup>
                                </m:den>
                              </m:f>
                            </m:e>
                          </m:groupChr>
                        </m:e>
                        <m:lim>
                          <m:sSubSup>
                            <m:sSubSup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</m:lim>
                      </m:limLow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  </m:t>
                      </m:r>
                      <m:limLow>
                        <m:limLow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f>
                                <m:fPr>
                                  <m:ctrlP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Sup>
                                    <m:sSubSupPr>
                                      <m:ctrlP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bSup>
                                </m:num>
                                <m:den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Sup>
                                    <m:sSubSupPr>
                                      <m:ctrlP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  <m:t>1,1</m:t>
                                      </m:r>
                                    </m:sub>
                                    <m:sup>
                                      <m: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bSup>
                                </m:den>
                              </m:f>
                            </m:e>
                          </m:groupChr>
                        </m:e>
                        <m:lim>
                          <m:sSub>
                            <m:sSub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lim>
                      </m:limLow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74" name="CaixaDeTexto 73">
                <a:extLst>
                  <a:ext uri="{FF2B5EF4-FFF2-40B4-BE49-F238E27FC236}">
                    <a16:creationId xmlns:a16="http://schemas.microsoft.com/office/drawing/2014/main" id="{AEDDE019-7B81-7C35-D72D-052F7EF29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6583" y="2929668"/>
                <a:ext cx="6715300" cy="147604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CaixaDeTexto 74">
                <a:extLst>
                  <a:ext uri="{FF2B5EF4-FFF2-40B4-BE49-F238E27FC236}">
                    <a16:creationId xmlns:a16="http://schemas.microsoft.com/office/drawing/2014/main" id="{00EAB3EE-E0E8-7580-92AA-73597EAF4D76}"/>
                  </a:ext>
                </a:extLst>
              </p:cNvPr>
              <p:cNvSpPr txBox="1"/>
              <p:nvPr/>
            </p:nvSpPr>
            <p:spPr>
              <a:xfrm>
                <a:off x="1790396" y="4988548"/>
                <a:ext cx="4430636" cy="8345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  <m:d>
                            <m:d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</m:d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1,1</m:t>
                              </m:r>
                            </m:sub>
                            <m: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</m:den>
                      </m:f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sSub>
                        <m:sSub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Sup>
                        <m:sSubSup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p>
                        <m:sSup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′1</m:t>
                          </m:r>
                        </m:sup>
                      </m:sSup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</m:e>
                      </m:d>
                      <m:sSub>
                        <m:sSub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75" name="CaixaDeTexto 74">
                <a:extLst>
                  <a:ext uri="{FF2B5EF4-FFF2-40B4-BE49-F238E27FC236}">
                    <a16:creationId xmlns:a16="http://schemas.microsoft.com/office/drawing/2014/main" id="{00EAB3EE-E0E8-7580-92AA-73597EAF4D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0396" y="4988548"/>
                <a:ext cx="4430636" cy="8345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CaixaDeTexto 75">
                <a:extLst>
                  <a:ext uri="{FF2B5EF4-FFF2-40B4-BE49-F238E27FC236}">
                    <a16:creationId xmlns:a16="http://schemas.microsoft.com/office/drawing/2014/main" id="{B9103BD3-CDE2-2C44-81D0-37F833F7EB34}"/>
                  </a:ext>
                </a:extLst>
              </p:cNvPr>
              <p:cNvSpPr txBox="1"/>
              <p:nvPr/>
            </p:nvSpPr>
            <p:spPr>
              <a:xfrm>
                <a:off x="3124200" y="5839125"/>
                <a:ext cx="4903650" cy="4038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=−2</m:t>
                      </m:r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sSup>
                        <m:sSup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′2</m:t>
                          </m:r>
                        </m:sup>
                      </m:sSup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sSubSup>
                        <m:sSubSup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p>
                        <m:sSup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′1</m:t>
                          </m:r>
                        </m:sup>
                      </m:sSup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</m:e>
                      </m:d>
                      <m:sSub>
                        <m:sSub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76" name="CaixaDeTexto 75">
                <a:extLst>
                  <a:ext uri="{FF2B5EF4-FFF2-40B4-BE49-F238E27FC236}">
                    <a16:creationId xmlns:a16="http://schemas.microsoft.com/office/drawing/2014/main" id="{B9103BD3-CDE2-2C44-81D0-37F833F7EB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4200" y="5839125"/>
                <a:ext cx="4903650" cy="403828"/>
              </a:xfrm>
              <a:prstGeom prst="rect">
                <a:avLst/>
              </a:prstGeom>
              <a:blipFill>
                <a:blip r:embed="rId5"/>
                <a:stretch>
                  <a:fillRect b="-2727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096880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39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Exemplo</a:t>
            </a:r>
            <a:r>
              <a:rPr spc="-100" dirty="0"/>
              <a:t> </a:t>
            </a:r>
            <a:r>
              <a:rPr dirty="0"/>
              <a:t>da</a:t>
            </a:r>
            <a:r>
              <a:rPr spc="-85" dirty="0"/>
              <a:t> </a:t>
            </a:r>
            <a:r>
              <a:rPr spc="-10" dirty="0"/>
              <a:t>retropropagação</a:t>
            </a:r>
            <a:r>
              <a:rPr spc="-100" dirty="0"/>
              <a:t> </a:t>
            </a:r>
            <a:r>
              <a:rPr dirty="0"/>
              <a:t>do</a:t>
            </a:r>
            <a:r>
              <a:rPr spc="-75" dirty="0"/>
              <a:t> </a:t>
            </a:r>
            <a:r>
              <a:rPr spc="-20" dirty="0"/>
              <a:t>erro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916939" y="1676400"/>
            <a:ext cx="9327515" cy="3858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ts val="2900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5" dirty="0">
                <a:latin typeface="Calibri"/>
                <a:cs typeface="Calibri"/>
              </a:rPr>
              <a:t>Aplicando-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mesmo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procedimento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aos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outros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pesos,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 err="1">
                <a:latin typeface="Calibri"/>
                <a:cs typeface="Calibri"/>
              </a:rPr>
              <a:t>temos</a:t>
            </a:r>
            <a:r>
              <a:rPr sz="2800" spc="-10" dirty="0">
                <a:latin typeface="Calibri"/>
                <a:cs typeface="Calibri"/>
              </a:rPr>
              <a:t>:</a:t>
            </a:r>
            <a:endParaRPr sz="2800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00F0AF2F-5375-54FE-69EE-7C8195B2EE45}"/>
                  </a:ext>
                </a:extLst>
              </p:cNvPr>
              <p:cNvSpPr txBox="1"/>
              <p:nvPr/>
            </p:nvSpPr>
            <p:spPr>
              <a:xfrm>
                <a:off x="916939" y="2133600"/>
                <a:ext cx="10293972" cy="12702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  <m:d>
                            <m:d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800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</m:d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</m:den>
                      </m:f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d>
                                <m:d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p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𝑢</m:t>
                                          </m:r>
                                        </m:e>
                                        <m:sub>
                                          <m: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  <m:sup>
                                          <m: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</m:den>
                      </m:f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00F0AF2F-5375-54FE-69EE-7C8195B2EE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939" y="2133600"/>
                <a:ext cx="10293972" cy="1270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75680EC6-50D8-3602-B8DD-D0EE6C5AD273}"/>
                  </a:ext>
                </a:extLst>
              </p:cNvPr>
              <p:cNvSpPr txBox="1"/>
              <p:nvPr/>
            </p:nvSpPr>
            <p:spPr>
              <a:xfrm>
                <a:off x="916939" y="3741502"/>
                <a:ext cx="10315644" cy="12706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  <m:d>
                            <m:d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800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</m:d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</m:den>
                      </m:f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d>
                                <m:d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p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𝑢</m:t>
                                          </m:r>
                                        </m:e>
                                        <m:sub>
                                          <m: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  <m:sup>
                                          <m: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</m:den>
                      </m:f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75680EC6-50D8-3602-B8DD-D0EE6C5AD2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939" y="3741502"/>
                <a:ext cx="10315644" cy="127066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B7004523-8664-85DA-8B3F-854F96B03D78}"/>
                  </a:ext>
                </a:extLst>
              </p:cNvPr>
              <p:cNvSpPr txBox="1"/>
              <p:nvPr/>
            </p:nvSpPr>
            <p:spPr>
              <a:xfrm>
                <a:off x="916939" y="5393612"/>
                <a:ext cx="9808839" cy="12357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  <m:d>
                            <m:d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800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</m:d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</m:den>
                      </m:f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d>
                                <m:d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p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𝑢</m:t>
                                          </m:r>
                                        </m:e>
                                        <m:sub>
                                          <m: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  <m:sup>
                                          <m: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</m:den>
                      </m:f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B7004523-8664-85DA-8B3F-854F96B03D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939" y="5393612"/>
                <a:ext cx="9808839" cy="123578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816963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95773" y="2616530"/>
            <a:ext cx="2417445" cy="1031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spc="-10" dirty="0"/>
              <a:t>Figuras</a:t>
            </a:r>
            <a:endParaRPr sz="660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bject 25"/>
          <p:cNvSpPr txBox="1"/>
          <p:nvPr/>
        </p:nvSpPr>
        <p:spPr>
          <a:xfrm>
            <a:off x="7175372" y="6045200"/>
            <a:ext cx="27089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onde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mbria Math"/>
                <a:cs typeface="Cambria Math"/>
              </a:rPr>
              <a:t>𝜃</a:t>
            </a:r>
            <a:r>
              <a:rPr sz="1800" spc="55" dirty="0">
                <a:latin typeface="Cambria Math"/>
                <a:cs typeface="Cambria Math"/>
              </a:rPr>
              <a:t> </a:t>
            </a:r>
            <a:r>
              <a:rPr sz="1800" dirty="0">
                <a:latin typeface="Calibri"/>
                <a:cs typeface="Calibri"/>
              </a:rPr>
              <a:t>é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limiar de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decisão.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114754" y="4808473"/>
            <a:ext cx="2526665" cy="1118235"/>
            <a:chOff x="114754" y="4808473"/>
            <a:chExt cx="2526665" cy="1118235"/>
          </a:xfrm>
        </p:grpSpPr>
        <p:sp>
          <p:nvSpPr>
            <p:cNvPr id="27" name="object 27"/>
            <p:cNvSpPr/>
            <p:nvPr/>
          </p:nvSpPr>
          <p:spPr>
            <a:xfrm>
              <a:off x="114744" y="4808473"/>
              <a:ext cx="2520315" cy="1118235"/>
            </a:xfrm>
            <a:custGeom>
              <a:avLst/>
              <a:gdLst/>
              <a:ahLst/>
              <a:cxnLst/>
              <a:rect l="l" t="t" r="r" b="b"/>
              <a:pathLst>
                <a:path w="2520315" h="1118235">
                  <a:moveTo>
                    <a:pt x="2519997" y="1079969"/>
                  </a:moveTo>
                  <a:lnTo>
                    <a:pt x="2507297" y="1073619"/>
                  </a:lnTo>
                  <a:lnTo>
                    <a:pt x="2443797" y="1041869"/>
                  </a:lnTo>
                  <a:lnTo>
                    <a:pt x="2443797" y="1073619"/>
                  </a:lnTo>
                  <a:lnTo>
                    <a:pt x="532828" y="1073619"/>
                  </a:lnTo>
                  <a:lnTo>
                    <a:pt x="532828" y="76200"/>
                  </a:lnTo>
                  <a:lnTo>
                    <a:pt x="564591" y="76200"/>
                  </a:lnTo>
                  <a:lnTo>
                    <a:pt x="558241" y="63500"/>
                  </a:lnTo>
                  <a:lnTo>
                    <a:pt x="526491" y="0"/>
                  </a:lnTo>
                  <a:lnTo>
                    <a:pt x="488391" y="76200"/>
                  </a:lnTo>
                  <a:lnTo>
                    <a:pt x="520128" y="76200"/>
                  </a:lnTo>
                  <a:lnTo>
                    <a:pt x="520128" y="1073619"/>
                  </a:lnTo>
                  <a:lnTo>
                    <a:pt x="0" y="1073619"/>
                  </a:lnTo>
                  <a:lnTo>
                    <a:pt x="0" y="1086319"/>
                  </a:lnTo>
                  <a:lnTo>
                    <a:pt x="2443797" y="1086319"/>
                  </a:lnTo>
                  <a:lnTo>
                    <a:pt x="2443797" y="1118069"/>
                  </a:lnTo>
                  <a:lnTo>
                    <a:pt x="2507297" y="1086319"/>
                  </a:lnTo>
                  <a:lnTo>
                    <a:pt x="2519997" y="107996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052195" y="5413374"/>
              <a:ext cx="1583055" cy="475615"/>
            </a:xfrm>
            <a:custGeom>
              <a:avLst/>
              <a:gdLst/>
              <a:ahLst/>
              <a:cxnLst/>
              <a:rect l="l" t="t" r="r" b="b"/>
              <a:pathLst>
                <a:path w="1583055" h="475614">
                  <a:moveTo>
                    <a:pt x="0" y="0"/>
                  </a:moveTo>
                  <a:lnTo>
                    <a:pt x="0" y="475068"/>
                  </a:lnTo>
                </a:path>
                <a:path w="1583055" h="475614">
                  <a:moveTo>
                    <a:pt x="0" y="0"/>
                  </a:moveTo>
                  <a:lnTo>
                    <a:pt x="1582547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579221" y="5904991"/>
            <a:ext cx="5340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20370" algn="l"/>
              </a:tabLst>
            </a:pPr>
            <a:r>
              <a:rPr sz="1400" spc="-50" dirty="0">
                <a:latin typeface="Cambria Math"/>
                <a:cs typeface="Cambria Math"/>
              </a:rPr>
              <a:t>0</a:t>
            </a:r>
            <a:r>
              <a:rPr sz="1400" dirty="0">
                <a:latin typeface="Cambria Math"/>
                <a:cs typeface="Cambria Math"/>
              </a:rPr>
              <a:t>	</a:t>
            </a:r>
            <a:r>
              <a:rPr sz="1400" spc="-50" dirty="0">
                <a:latin typeface="Cambria Math"/>
                <a:cs typeface="Cambria Math"/>
              </a:rPr>
              <a:t>𝜃</a:t>
            </a:r>
            <a:endParaRPr sz="1400">
              <a:latin typeface="Cambria Math"/>
              <a:cs typeface="Cambria Math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641223" y="4717288"/>
            <a:ext cx="904240" cy="699770"/>
            <a:chOff x="641223" y="4717288"/>
            <a:chExt cx="904240" cy="699770"/>
          </a:xfrm>
        </p:grpSpPr>
        <p:sp>
          <p:nvSpPr>
            <p:cNvPr id="31" name="object 31"/>
            <p:cNvSpPr/>
            <p:nvPr/>
          </p:nvSpPr>
          <p:spPr>
            <a:xfrm>
              <a:off x="915822" y="4717287"/>
              <a:ext cx="629920" cy="276225"/>
            </a:xfrm>
            <a:custGeom>
              <a:avLst/>
              <a:gdLst/>
              <a:ahLst/>
              <a:cxnLst/>
              <a:rect l="l" t="t" r="r" b="b"/>
              <a:pathLst>
                <a:path w="629919" h="276225">
                  <a:moveTo>
                    <a:pt x="75349" y="9144"/>
                  </a:moveTo>
                  <a:lnTo>
                    <a:pt x="72555" y="0"/>
                  </a:lnTo>
                  <a:lnTo>
                    <a:pt x="56134" y="6413"/>
                  </a:lnTo>
                  <a:lnTo>
                    <a:pt x="41719" y="16471"/>
                  </a:lnTo>
                  <a:lnTo>
                    <a:pt x="18872" y="47498"/>
                  </a:lnTo>
                  <a:lnTo>
                    <a:pt x="4711" y="89319"/>
                  </a:lnTo>
                  <a:lnTo>
                    <a:pt x="0" y="138176"/>
                  </a:lnTo>
                  <a:lnTo>
                    <a:pt x="1168" y="163423"/>
                  </a:lnTo>
                  <a:lnTo>
                    <a:pt x="10617" y="208711"/>
                  </a:lnTo>
                  <a:lnTo>
                    <a:pt x="29298" y="246062"/>
                  </a:lnTo>
                  <a:lnTo>
                    <a:pt x="72555" y="276225"/>
                  </a:lnTo>
                  <a:lnTo>
                    <a:pt x="75349" y="267081"/>
                  </a:lnTo>
                  <a:lnTo>
                    <a:pt x="62661" y="260464"/>
                  </a:lnTo>
                  <a:lnTo>
                    <a:pt x="51612" y="250875"/>
                  </a:lnTo>
                  <a:lnTo>
                    <a:pt x="28359" y="204685"/>
                  </a:lnTo>
                  <a:lnTo>
                    <a:pt x="21412" y="162394"/>
                  </a:lnTo>
                  <a:lnTo>
                    <a:pt x="20548" y="138176"/>
                  </a:lnTo>
                  <a:lnTo>
                    <a:pt x="21412" y="113957"/>
                  </a:lnTo>
                  <a:lnTo>
                    <a:pt x="28359" y="71615"/>
                  </a:lnTo>
                  <a:lnTo>
                    <a:pt x="51612" y="25361"/>
                  </a:lnTo>
                  <a:lnTo>
                    <a:pt x="62661" y="15773"/>
                  </a:lnTo>
                  <a:lnTo>
                    <a:pt x="75349" y="9144"/>
                  </a:lnTo>
                  <a:close/>
                </a:path>
                <a:path w="629919" h="276225">
                  <a:moveTo>
                    <a:pt x="315912" y="41529"/>
                  </a:moveTo>
                  <a:lnTo>
                    <a:pt x="312902" y="33020"/>
                  </a:lnTo>
                  <a:lnTo>
                    <a:pt x="297548" y="38557"/>
                  </a:lnTo>
                  <a:lnTo>
                    <a:pt x="284086" y="46570"/>
                  </a:lnTo>
                  <a:lnTo>
                    <a:pt x="255193" y="85115"/>
                  </a:lnTo>
                  <a:lnTo>
                    <a:pt x="245364" y="138938"/>
                  </a:lnTo>
                  <a:lnTo>
                    <a:pt x="246443" y="158381"/>
                  </a:lnTo>
                  <a:lnTo>
                    <a:pt x="262788" y="207772"/>
                  </a:lnTo>
                  <a:lnTo>
                    <a:pt x="297497" y="239204"/>
                  </a:lnTo>
                  <a:lnTo>
                    <a:pt x="312902" y="244729"/>
                  </a:lnTo>
                  <a:lnTo>
                    <a:pt x="315582" y="236093"/>
                  </a:lnTo>
                  <a:lnTo>
                    <a:pt x="303504" y="230759"/>
                  </a:lnTo>
                  <a:lnTo>
                    <a:pt x="293090" y="223329"/>
                  </a:lnTo>
                  <a:lnTo>
                    <a:pt x="271741" y="188671"/>
                  </a:lnTo>
                  <a:lnTo>
                    <a:pt x="264680" y="137795"/>
                  </a:lnTo>
                  <a:lnTo>
                    <a:pt x="265455" y="119735"/>
                  </a:lnTo>
                  <a:lnTo>
                    <a:pt x="277241" y="75057"/>
                  </a:lnTo>
                  <a:lnTo>
                    <a:pt x="303695" y="46863"/>
                  </a:lnTo>
                  <a:lnTo>
                    <a:pt x="315912" y="41529"/>
                  </a:lnTo>
                  <a:close/>
                </a:path>
                <a:path w="629919" h="276225">
                  <a:moveTo>
                    <a:pt x="527151" y="138938"/>
                  </a:moveTo>
                  <a:lnTo>
                    <a:pt x="517283" y="85115"/>
                  </a:lnTo>
                  <a:lnTo>
                    <a:pt x="488416" y="46570"/>
                  </a:lnTo>
                  <a:lnTo>
                    <a:pt x="459587" y="33020"/>
                  </a:lnTo>
                  <a:lnTo>
                    <a:pt x="456539" y="41529"/>
                  </a:lnTo>
                  <a:lnTo>
                    <a:pt x="468820" y="46863"/>
                  </a:lnTo>
                  <a:lnTo>
                    <a:pt x="479374" y="54254"/>
                  </a:lnTo>
                  <a:lnTo>
                    <a:pt x="500773" y="88353"/>
                  </a:lnTo>
                  <a:lnTo>
                    <a:pt x="507847" y="137795"/>
                  </a:lnTo>
                  <a:lnTo>
                    <a:pt x="507060" y="156464"/>
                  </a:lnTo>
                  <a:lnTo>
                    <a:pt x="495274" y="202184"/>
                  </a:lnTo>
                  <a:lnTo>
                    <a:pt x="468960" y="230759"/>
                  </a:lnTo>
                  <a:lnTo>
                    <a:pt x="456920" y="236093"/>
                  </a:lnTo>
                  <a:lnTo>
                    <a:pt x="459587" y="244729"/>
                  </a:lnTo>
                  <a:lnTo>
                    <a:pt x="500049" y="220726"/>
                  </a:lnTo>
                  <a:lnTo>
                    <a:pt x="522782" y="176314"/>
                  </a:lnTo>
                  <a:lnTo>
                    <a:pt x="526046" y="158381"/>
                  </a:lnTo>
                  <a:lnTo>
                    <a:pt x="527151" y="138938"/>
                  </a:lnTo>
                  <a:close/>
                </a:path>
                <a:path w="629919" h="276225">
                  <a:moveTo>
                    <a:pt x="629386" y="138176"/>
                  </a:moveTo>
                  <a:lnTo>
                    <a:pt x="624700" y="89319"/>
                  </a:lnTo>
                  <a:lnTo>
                    <a:pt x="610590" y="47498"/>
                  </a:lnTo>
                  <a:lnTo>
                    <a:pt x="587730" y="16471"/>
                  </a:lnTo>
                  <a:lnTo>
                    <a:pt x="556869" y="0"/>
                  </a:lnTo>
                  <a:lnTo>
                    <a:pt x="554075" y="9144"/>
                  </a:lnTo>
                  <a:lnTo>
                    <a:pt x="566762" y="15773"/>
                  </a:lnTo>
                  <a:lnTo>
                    <a:pt x="577799" y="25361"/>
                  </a:lnTo>
                  <a:lnTo>
                    <a:pt x="601052" y="71615"/>
                  </a:lnTo>
                  <a:lnTo>
                    <a:pt x="608050" y="113957"/>
                  </a:lnTo>
                  <a:lnTo>
                    <a:pt x="608939" y="138176"/>
                  </a:lnTo>
                  <a:lnTo>
                    <a:pt x="608050" y="162394"/>
                  </a:lnTo>
                  <a:lnTo>
                    <a:pt x="601052" y="204685"/>
                  </a:lnTo>
                  <a:lnTo>
                    <a:pt x="577799" y="250875"/>
                  </a:lnTo>
                  <a:lnTo>
                    <a:pt x="554075" y="267081"/>
                  </a:lnTo>
                  <a:lnTo>
                    <a:pt x="556869" y="276225"/>
                  </a:lnTo>
                  <a:lnTo>
                    <a:pt x="600151" y="246062"/>
                  </a:lnTo>
                  <a:lnTo>
                    <a:pt x="618820" y="208711"/>
                  </a:lnTo>
                  <a:lnTo>
                    <a:pt x="628205" y="163423"/>
                  </a:lnTo>
                  <a:lnTo>
                    <a:pt x="629386" y="1381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41223" y="5413375"/>
              <a:ext cx="411480" cy="0"/>
            </a:xfrm>
            <a:custGeom>
              <a:avLst/>
              <a:gdLst/>
              <a:ahLst/>
              <a:cxnLst/>
              <a:rect l="l" t="t" r="r" b="b"/>
              <a:pathLst>
                <a:path w="411480">
                  <a:moveTo>
                    <a:pt x="410971" y="0"/>
                  </a:moveTo>
                  <a:lnTo>
                    <a:pt x="0" y="0"/>
                  </a:lnTo>
                </a:path>
              </a:pathLst>
            </a:custGeom>
            <a:ln w="63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464921" y="4680584"/>
            <a:ext cx="915669" cy="842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𝑓</a:t>
            </a:r>
            <a:r>
              <a:rPr sz="1800" spc="459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𝑔</a:t>
            </a:r>
            <a:r>
              <a:rPr sz="1800" spc="370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𝒙</a:t>
            </a:r>
            <a:endParaRPr sz="18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2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latin typeface="Cambria Math"/>
                <a:cs typeface="Cambria Math"/>
              </a:rPr>
              <a:t>1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2835148" y="5786793"/>
            <a:ext cx="281940" cy="212090"/>
          </a:xfrm>
          <a:custGeom>
            <a:avLst/>
            <a:gdLst/>
            <a:ahLst/>
            <a:cxnLst/>
            <a:rect l="l" t="t" r="r" b="b"/>
            <a:pathLst>
              <a:path w="281939" h="212089">
                <a:moveTo>
                  <a:pt x="214249" y="0"/>
                </a:moveTo>
                <a:lnTo>
                  <a:pt x="211200" y="8597"/>
                </a:lnTo>
                <a:lnTo>
                  <a:pt x="223468" y="13915"/>
                </a:lnTo>
                <a:lnTo>
                  <a:pt x="233997" y="21277"/>
                </a:lnTo>
                <a:lnTo>
                  <a:pt x="255363" y="55406"/>
                </a:lnTo>
                <a:lnTo>
                  <a:pt x="262381" y="104813"/>
                </a:lnTo>
                <a:lnTo>
                  <a:pt x="261596" y="123489"/>
                </a:lnTo>
                <a:lnTo>
                  <a:pt x="249808" y="169214"/>
                </a:lnTo>
                <a:lnTo>
                  <a:pt x="223555" y="197805"/>
                </a:lnTo>
                <a:lnTo>
                  <a:pt x="211454" y="203149"/>
                </a:lnTo>
                <a:lnTo>
                  <a:pt x="214249" y="211747"/>
                </a:lnTo>
                <a:lnTo>
                  <a:pt x="254646" y="187704"/>
                </a:lnTo>
                <a:lnTo>
                  <a:pt x="277367" y="143335"/>
                </a:lnTo>
                <a:lnTo>
                  <a:pt x="281685" y="105930"/>
                </a:lnTo>
                <a:lnTo>
                  <a:pt x="280592" y="86519"/>
                </a:lnTo>
                <a:lnTo>
                  <a:pt x="264287" y="37109"/>
                </a:lnTo>
                <a:lnTo>
                  <a:pt x="229586" y="5541"/>
                </a:lnTo>
                <a:lnTo>
                  <a:pt x="214249" y="0"/>
                </a:lnTo>
                <a:close/>
              </a:path>
              <a:path w="281939" h="212089">
                <a:moveTo>
                  <a:pt x="67437" y="0"/>
                </a:moveTo>
                <a:lnTo>
                  <a:pt x="27092" y="24095"/>
                </a:lnTo>
                <a:lnTo>
                  <a:pt x="4318" y="68576"/>
                </a:lnTo>
                <a:lnTo>
                  <a:pt x="0" y="105930"/>
                </a:lnTo>
                <a:lnTo>
                  <a:pt x="1075" y="125383"/>
                </a:lnTo>
                <a:lnTo>
                  <a:pt x="17399" y="174739"/>
                </a:lnTo>
                <a:lnTo>
                  <a:pt x="52081" y="206211"/>
                </a:lnTo>
                <a:lnTo>
                  <a:pt x="67437" y="211747"/>
                </a:lnTo>
                <a:lnTo>
                  <a:pt x="70103" y="203149"/>
                </a:lnTo>
                <a:lnTo>
                  <a:pt x="58058" y="197805"/>
                </a:lnTo>
                <a:lnTo>
                  <a:pt x="47656" y="190368"/>
                </a:lnTo>
                <a:lnTo>
                  <a:pt x="26376" y="155689"/>
                </a:lnTo>
                <a:lnTo>
                  <a:pt x="19303" y="104813"/>
                </a:lnTo>
                <a:lnTo>
                  <a:pt x="20089" y="86744"/>
                </a:lnTo>
                <a:lnTo>
                  <a:pt x="31876" y="42138"/>
                </a:lnTo>
                <a:lnTo>
                  <a:pt x="58273" y="13915"/>
                </a:lnTo>
                <a:lnTo>
                  <a:pt x="70484" y="8597"/>
                </a:lnTo>
                <a:lnTo>
                  <a:pt x="67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2657982" y="5717235"/>
            <a:ext cx="3968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𝑔</a:t>
            </a:r>
            <a:r>
              <a:rPr sz="1800" spc="385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𝒙</a:t>
            </a:r>
            <a:endParaRPr sz="1800">
              <a:latin typeface="Cambria Math"/>
              <a:cs typeface="Cambria Math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8807450" y="1250950"/>
            <a:ext cx="762000" cy="393700"/>
            <a:chOff x="8807450" y="1250950"/>
            <a:chExt cx="762000" cy="393700"/>
          </a:xfrm>
        </p:grpSpPr>
        <p:sp>
          <p:nvSpPr>
            <p:cNvPr id="37" name="object 37"/>
            <p:cNvSpPr/>
            <p:nvPr/>
          </p:nvSpPr>
          <p:spPr>
            <a:xfrm>
              <a:off x="8813800" y="1257300"/>
              <a:ext cx="749300" cy="381000"/>
            </a:xfrm>
            <a:custGeom>
              <a:avLst/>
              <a:gdLst/>
              <a:ahLst/>
              <a:cxnLst/>
              <a:rect l="l" t="t" r="r" b="b"/>
              <a:pathLst>
                <a:path w="749300" h="381000">
                  <a:moveTo>
                    <a:pt x="0" y="190500"/>
                  </a:moveTo>
                  <a:lnTo>
                    <a:pt x="19102" y="130308"/>
                  </a:lnTo>
                  <a:lnTo>
                    <a:pt x="72294" y="78016"/>
                  </a:lnTo>
                  <a:lnTo>
                    <a:pt x="109743" y="55816"/>
                  </a:lnTo>
                  <a:lnTo>
                    <a:pt x="153399" y="36771"/>
                  </a:lnTo>
                  <a:lnTo>
                    <a:pt x="202490" y="21273"/>
                  </a:lnTo>
                  <a:lnTo>
                    <a:pt x="256243" y="9717"/>
                  </a:lnTo>
                  <a:lnTo>
                    <a:pt x="313887" y="2494"/>
                  </a:lnTo>
                  <a:lnTo>
                    <a:pt x="374650" y="0"/>
                  </a:lnTo>
                  <a:lnTo>
                    <a:pt x="435412" y="2494"/>
                  </a:lnTo>
                  <a:lnTo>
                    <a:pt x="493056" y="9717"/>
                  </a:lnTo>
                  <a:lnTo>
                    <a:pt x="546809" y="21273"/>
                  </a:lnTo>
                  <a:lnTo>
                    <a:pt x="595900" y="36771"/>
                  </a:lnTo>
                  <a:lnTo>
                    <a:pt x="639556" y="55816"/>
                  </a:lnTo>
                  <a:lnTo>
                    <a:pt x="677005" y="78016"/>
                  </a:lnTo>
                  <a:lnTo>
                    <a:pt x="707476" y="102978"/>
                  </a:lnTo>
                  <a:lnTo>
                    <a:pt x="744395" y="159613"/>
                  </a:lnTo>
                  <a:lnTo>
                    <a:pt x="749300" y="190500"/>
                  </a:lnTo>
                  <a:lnTo>
                    <a:pt x="744395" y="221386"/>
                  </a:lnTo>
                  <a:lnTo>
                    <a:pt x="707476" y="278021"/>
                  </a:lnTo>
                  <a:lnTo>
                    <a:pt x="677005" y="302983"/>
                  </a:lnTo>
                  <a:lnTo>
                    <a:pt x="639556" y="325183"/>
                  </a:lnTo>
                  <a:lnTo>
                    <a:pt x="595900" y="344228"/>
                  </a:lnTo>
                  <a:lnTo>
                    <a:pt x="546809" y="359726"/>
                  </a:lnTo>
                  <a:lnTo>
                    <a:pt x="493056" y="371282"/>
                  </a:lnTo>
                  <a:lnTo>
                    <a:pt x="435412" y="378505"/>
                  </a:lnTo>
                  <a:lnTo>
                    <a:pt x="374650" y="381000"/>
                  </a:lnTo>
                  <a:lnTo>
                    <a:pt x="313887" y="378505"/>
                  </a:lnTo>
                  <a:lnTo>
                    <a:pt x="256243" y="371282"/>
                  </a:lnTo>
                  <a:lnTo>
                    <a:pt x="202490" y="359726"/>
                  </a:lnTo>
                  <a:lnTo>
                    <a:pt x="153399" y="344228"/>
                  </a:lnTo>
                  <a:lnTo>
                    <a:pt x="109743" y="325183"/>
                  </a:lnTo>
                  <a:lnTo>
                    <a:pt x="72294" y="302983"/>
                  </a:lnTo>
                  <a:lnTo>
                    <a:pt x="41823" y="278021"/>
                  </a:lnTo>
                  <a:lnTo>
                    <a:pt x="4904" y="221386"/>
                  </a:lnTo>
                  <a:lnTo>
                    <a:pt x="0" y="1905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9093072" y="1355089"/>
              <a:ext cx="281940" cy="212090"/>
            </a:xfrm>
            <a:custGeom>
              <a:avLst/>
              <a:gdLst/>
              <a:ahLst/>
              <a:cxnLst/>
              <a:rect l="l" t="t" r="r" b="b"/>
              <a:pathLst>
                <a:path w="281940" h="212090">
                  <a:moveTo>
                    <a:pt x="214249" y="0"/>
                  </a:moveTo>
                  <a:lnTo>
                    <a:pt x="211200" y="8636"/>
                  </a:lnTo>
                  <a:lnTo>
                    <a:pt x="223468" y="13946"/>
                  </a:lnTo>
                  <a:lnTo>
                    <a:pt x="233997" y="21304"/>
                  </a:lnTo>
                  <a:lnTo>
                    <a:pt x="255363" y="55429"/>
                  </a:lnTo>
                  <a:lnTo>
                    <a:pt x="262381" y="104775"/>
                  </a:lnTo>
                  <a:lnTo>
                    <a:pt x="261596" y="123444"/>
                  </a:lnTo>
                  <a:lnTo>
                    <a:pt x="249808" y="169163"/>
                  </a:lnTo>
                  <a:lnTo>
                    <a:pt x="223627" y="197792"/>
                  </a:lnTo>
                  <a:lnTo>
                    <a:pt x="211581" y="203200"/>
                  </a:lnTo>
                  <a:lnTo>
                    <a:pt x="214249" y="211709"/>
                  </a:lnTo>
                  <a:lnTo>
                    <a:pt x="254646" y="187705"/>
                  </a:lnTo>
                  <a:lnTo>
                    <a:pt x="277368" y="143335"/>
                  </a:lnTo>
                  <a:lnTo>
                    <a:pt x="281685" y="105918"/>
                  </a:lnTo>
                  <a:lnTo>
                    <a:pt x="280610" y="86536"/>
                  </a:lnTo>
                  <a:lnTo>
                    <a:pt x="264286" y="37084"/>
                  </a:lnTo>
                  <a:lnTo>
                    <a:pt x="229586" y="5544"/>
                  </a:lnTo>
                  <a:lnTo>
                    <a:pt x="214249" y="0"/>
                  </a:lnTo>
                  <a:close/>
                </a:path>
                <a:path w="281940" h="212090">
                  <a:moveTo>
                    <a:pt x="67436" y="0"/>
                  </a:moveTo>
                  <a:lnTo>
                    <a:pt x="27092" y="24110"/>
                  </a:lnTo>
                  <a:lnTo>
                    <a:pt x="4365" y="68595"/>
                  </a:lnTo>
                  <a:lnTo>
                    <a:pt x="0" y="105918"/>
                  </a:lnTo>
                  <a:lnTo>
                    <a:pt x="1075" y="125370"/>
                  </a:lnTo>
                  <a:lnTo>
                    <a:pt x="17399" y="174751"/>
                  </a:lnTo>
                  <a:lnTo>
                    <a:pt x="52081" y="206184"/>
                  </a:lnTo>
                  <a:lnTo>
                    <a:pt x="67436" y="211709"/>
                  </a:lnTo>
                  <a:lnTo>
                    <a:pt x="70230" y="203200"/>
                  </a:lnTo>
                  <a:lnTo>
                    <a:pt x="58130" y="197792"/>
                  </a:lnTo>
                  <a:lnTo>
                    <a:pt x="47720" y="190325"/>
                  </a:lnTo>
                  <a:lnTo>
                    <a:pt x="26376" y="155638"/>
                  </a:lnTo>
                  <a:lnTo>
                    <a:pt x="19303" y="104775"/>
                  </a:lnTo>
                  <a:lnTo>
                    <a:pt x="20089" y="86723"/>
                  </a:lnTo>
                  <a:lnTo>
                    <a:pt x="31876" y="42163"/>
                  </a:lnTo>
                  <a:lnTo>
                    <a:pt x="58291" y="13946"/>
                  </a:lnTo>
                  <a:lnTo>
                    <a:pt x="70484" y="8636"/>
                  </a:lnTo>
                  <a:lnTo>
                    <a:pt x="6743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9188450" y="1257300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8940800" y="1333627"/>
            <a:ext cx="1187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Cambria Math"/>
                <a:cs typeface="Cambria Math"/>
              </a:rPr>
              <a:t>𝑔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9318752" y="1333627"/>
            <a:ext cx="109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Cambria Math"/>
                <a:cs typeface="Cambria Math"/>
              </a:rPr>
              <a:t>𝑓</a:t>
            </a:r>
            <a:endParaRPr sz="1200">
              <a:latin typeface="Cambria Math"/>
              <a:cs typeface="Cambria Math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8623300" y="1306194"/>
            <a:ext cx="1113790" cy="353060"/>
            <a:chOff x="8623300" y="1306194"/>
            <a:chExt cx="1113790" cy="353060"/>
          </a:xfrm>
        </p:grpSpPr>
        <p:pic>
          <p:nvPicPr>
            <p:cNvPr id="43" name="object 4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63100" y="1408302"/>
              <a:ext cx="173863" cy="76200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23300" y="1306194"/>
              <a:ext cx="223774" cy="78231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630538" y="1536191"/>
              <a:ext cx="216534" cy="122809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object 46"/>
              <p:cNvSpPr txBox="1"/>
              <p:nvPr/>
            </p:nvSpPr>
            <p:spPr>
              <a:xfrm>
                <a:off x="9741789" y="1302511"/>
                <a:ext cx="107314" cy="197490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pt-BR" sz="1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1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sz="1200" dirty="0">
                  <a:latin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46" name="object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41789" y="1302511"/>
                <a:ext cx="107314" cy="197490"/>
              </a:xfrm>
              <a:prstGeom prst="rect">
                <a:avLst/>
              </a:prstGeom>
              <a:blipFill>
                <a:blip r:embed="rId5"/>
                <a:stretch>
                  <a:fillRect l="-38889" t="-15625" r="-83333" b="-25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object 47"/>
          <p:cNvSpPr txBox="1"/>
          <p:nvPr/>
        </p:nvSpPr>
        <p:spPr>
          <a:xfrm>
            <a:off x="8424418" y="1143127"/>
            <a:ext cx="2171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Cambria Math"/>
                <a:cs typeface="Cambria Math"/>
              </a:rPr>
              <a:t>𝑥</a:t>
            </a:r>
            <a:r>
              <a:rPr sz="1275" spc="-37" baseline="-16339" dirty="0">
                <a:latin typeface="Cambria Math"/>
                <a:cs typeface="Cambria Math"/>
              </a:rPr>
              <a:t>1</a:t>
            </a:r>
            <a:endParaRPr sz="1275" baseline="-16339">
              <a:latin typeface="Cambria Math"/>
              <a:cs typeface="Cambria Math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8422893" y="1524127"/>
            <a:ext cx="2203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Cambria Math"/>
                <a:cs typeface="Cambria Math"/>
              </a:rPr>
              <a:t>𝑥</a:t>
            </a:r>
            <a:r>
              <a:rPr sz="1275" spc="-37" baseline="-16339" dirty="0">
                <a:latin typeface="Cambria Math"/>
                <a:cs typeface="Cambria Math"/>
              </a:rPr>
              <a:t>2</a:t>
            </a:r>
            <a:endParaRPr sz="1275" baseline="-16339">
              <a:latin typeface="Cambria Math"/>
              <a:cs typeface="Cambria Math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9452482" y="3519678"/>
            <a:ext cx="2171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Cambria Math"/>
                <a:cs typeface="Cambria Math"/>
              </a:rPr>
              <a:t>𝑥</a:t>
            </a:r>
            <a:r>
              <a:rPr sz="1275" spc="-37" baseline="-16339" dirty="0">
                <a:latin typeface="Cambria Math"/>
                <a:cs typeface="Cambria Math"/>
              </a:rPr>
              <a:t>1</a:t>
            </a:r>
            <a:endParaRPr sz="1275" baseline="-16339">
              <a:latin typeface="Cambria Math"/>
              <a:cs typeface="Cambria Math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9624948" y="3475990"/>
            <a:ext cx="1349375" cy="432434"/>
            <a:chOff x="9624948" y="3475990"/>
            <a:chExt cx="1349375" cy="432434"/>
          </a:xfrm>
        </p:grpSpPr>
        <p:sp>
          <p:nvSpPr>
            <p:cNvPr id="51" name="object 51"/>
            <p:cNvSpPr/>
            <p:nvPr/>
          </p:nvSpPr>
          <p:spPr>
            <a:xfrm>
              <a:off x="9851897" y="3482340"/>
              <a:ext cx="952500" cy="381000"/>
            </a:xfrm>
            <a:custGeom>
              <a:avLst/>
              <a:gdLst/>
              <a:ahLst/>
              <a:cxnLst/>
              <a:rect l="l" t="t" r="r" b="b"/>
              <a:pathLst>
                <a:path w="952500" h="381000">
                  <a:moveTo>
                    <a:pt x="0" y="190500"/>
                  </a:moveTo>
                  <a:lnTo>
                    <a:pt x="17012" y="139876"/>
                  </a:lnTo>
                  <a:lnTo>
                    <a:pt x="65019" y="94375"/>
                  </a:lnTo>
                  <a:lnTo>
                    <a:pt x="99226" y="74114"/>
                  </a:lnTo>
                  <a:lnTo>
                    <a:pt x="139477" y="55816"/>
                  </a:lnTo>
                  <a:lnTo>
                    <a:pt x="185206" y="39709"/>
                  </a:lnTo>
                  <a:lnTo>
                    <a:pt x="235843" y="26020"/>
                  </a:lnTo>
                  <a:lnTo>
                    <a:pt x="290822" y="14978"/>
                  </a:lnTo>
                  <a:lnTo>
                    <a:pt x="349573" y="6808"/>
                  </a:lnTo>
                  <a:lnTo>
                    <a:pt x="411529" y="1740"/>
                  </a:lnTo>
                  <a:lnTo>
                    <a:pt x="476123" y="0"/>
                  </a:lnTo>
                  <a:lnTo>
                    <a:pt x="540745" y="1740"/>
                  </a:lnTo>
                  <a:lnTo>
                    <a:pt x="602726" y="6808"/>
                  </a:lnTo>
                  <a:lnTo>
                    <a:pt x="661497" y="14978"/>
                  </a:lnTo>
                  <a:lnTo>
                    <a:pt x="716491" y="26020"/>
                  </a:lnTo>
                  <a:lnTo>
                    <a:pt x="767141" y="39709"/>
                  </a:lnTo>
                  <a:lnTo>
                    <a:pt x="812879" y="55816"/>
                  </a:lnTo>
                  <a:lnTo>
                    <a:pt x="853137" y="74114"/>
                  </a:lnTo>
                  <a:lnTo>
                    <a:pt x="887348" y="94375"/>
                  </a:lnTo>
                  <a:lnTo>
                    <a:pt x="935360" y="139876"/>
                  </a:lnTo>
                  <a:lnTo>
                    <a:pt x="952373" y="190500"/>
                  </a:lnTo>
                  <a:lnTo>
                    <a:pt x="948025" y="216365"/>
                  </a:lnTo>
                  <a:lnTo>
                    <a:pt x="914945" y="264681"/>
                  </a:lnTo>
                  <a:lnTo>
                    <a:pt x="853137" y="306939"/>
                  </a:lnTo>
                  <a:lnTo>
                    <a:pt x="812879" y="325231"/>
                  </a:lnTo>
                  <a:lnTo>
                    <a:pt x="767141" y="341329"/>
                  </a:lnTo>
                  <a:lnTo>
                    <a:pt x="716491" y="355007"/>
                  </a:lnTo>
                  <a:lnTo>
                    <a:pt x="661497" y="366039"/>
                  </a:lnTo>
                  <a:lnTo>
                    <a:pt x="602726" y="374200"/>
                  </a:lnTo>
                  <a:lnTo>
                    <a:pt x="540745" y="379262"/>
                  </a:lnTo>
                  <a:lnTo>
                    <a:pt x="476123" y="381000"/>
                  </a:lnTo>
                  <a:lnTo>
                    <a:pt x="411529" y="379262"/>
                  </a:lnTo>
                  <a:lnTo>
                    <a:pt x="349573" y="374200"/>
                  </a:lnTo>
                  <a:lnTo>
                    <a:pt x="290822" y="366039"/>
                  </a:lnTo>
                  <a:lnTo>
                    <a:pt x="235843" y="355007"/>
                  </a:lnTo>
                  <a:lnTo>
                    <a:pt x="185206" y="341329"/>
                  </a:lnTo>
                  <a:lnTo>
                    <a:pt x="139477" y="325231"/>
                  </a:lnTo>
                  <a:lnTo>
                    <a:pt x="99226" y="306939"/>
                  </a:lnTo>
                  <a:lnTo>
                    <a:pt x="65019" y="286681"/>
                  </a:lnTo>
                  <a:lnTo>
                    <a:pt x="17012" y="241167"/>
                  </a:lnTo>
                  <a:lnTo>
                    <a:pt x="0" y="1905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10233024" y="3580130"/>
              <a:ext cx="281940" cy="212090"/>
            </a:xfrm>
            <a:custGeom>
              <a:avLst/>
              <a:gdLst/>
              <a:ahLst/>
              <a:cxnLst/>
              <a:rect l="l" t="t" r="r" b="b"/>
              <a:pathLst>
                <a:path w="281940" h="212089">
                  <a:moveTo>
                    <a:pt x="214249" y="0"/>
                  </a:moveTo>
                  <a:lnTo>
                    <a:pt x="211200" y="8636"/>
                  </a:lnTo>
                  <a:lnTo>
                    <a:pt x="223468" y="13946"/>
                  </a:lnTo>
                  <a:lnTo>
                    <a:pt x="233997" y="21304"/>
                  </a:lnTo>
                  <a:lnTo>
                    <a:pt x="255363" y="55449"/>
                  </a:lnTo>
                  <a:lnTo>
                    <a:pt x="262381" y="104902"/>
                  </a:lnTo>
                  <a:lnTo>
                    <a:pt x="261596" y="123571"/>
                  </a:lnTo>
                  <a:lnTo>
                    <a:pt x="249808" y="169291"/>
                  </a:lnTo>
                  <a:lnTo>
                    <a:pt x="223627" y="197866"/>
                  </a:lnTo>
                  <a:lnTo>
                    <a:pt x="211581" y="203200"/>
                  </a:lnTo>
                  <a:lnTo>
                    <a:pt x="214249" y="211836"/>
                  </a:lnTo>
                  <a:lnTo>
                    <a:pt x="254646" y="187725"/>
                  </a:lnTo>
                  <a:lnTo>
                    <a:pt x="277368" y="143398"/>
                  </a:lnTo>
                  <a:lnTo>
                    <a:pt x="281685" y="106045"/>
                  </a:lnTo>
                  <a:lnTo>
                    <a:pt x="280610" y="86592"/>
                  </a:lnTo>
                  <a:lnTo>
                    <a:pt x="264286" y="37211"/>
                  </a:lnTo>
                  <a:lnTo>
                    <a:pt x="229586" y="5599"/>
                  </a:lnTo>
                  <a:lnTo>
                    <a:pt x="214249" y="0"/>
                  </a:lnTo>
                  <a:close/>
                </a:path>
                <a:path w="281940" h="212089">
                  <a:moveTo>
                    <a:pt x="67436" y="0"/>
                  </a:moveTo>
                  <a:lnTo>
                    <a:pt x="27092" y="24181"/>
                  </a:lnTo>
                  <a:lnTo>
                    <a:pt x="4365" y="68627"/>
                  </a:lnTo>
                  <a:lnTo>
                    <a:pt x="0" y="106045"/>
                  </a:lnTo>
                  <a:lnTo>
                    <a:pt x="1075" y="125477"/>
                  </a:lnTo>
                  <a:lnTo>
                    <a:pt x="17399" y="174752"/>
                  </a:lnTo>
                  <a:lnTo>
                    <a:pt x="52081" y="206291"/>
                  </a:lnTo>
                  <a:lnTo>
                    <a:pt x="67436" y="211836"/>
                  </a:lnTo>
                  <a:lnTo>
                    <a:pt x="70230" y="203200"/>
                  </a:lnTo>
                  <a:lnTo>
                    <a:pt x="58130" y="197866"/>
                  </a:lnTo>
                  <a:lnTo>
                    <a:pt x="47720" y="190436"/>
                  </a:lnTo>
                  <a:lnTo>
                    <a:pt x="26376" y="155765"/>
                  </a:lnTo>
                  <a:lnTo>
                    <a:pt x="19303" y="104902"/>
                  </a:lnTo>
                  <a:lnTo>
                    <a:pt x="20089" y="86830"/>
                  </a:lnTo>
                  <a:lnTo>
                    <a:pt x="31876" y="42164"/>
                  </a:lnTo>
                  <a:lnTo>
                    <a:pt x="58291" y="13946"/>
                  </a:lnTo>
                  <a:lnTo>
                    <a:pt x="70484" y="8636"/>
                  </a:lnTo>
                  <a:lnTo>
                    <a:pt x="6743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10328020" y="3482340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4" name="object 5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804143" y="3633470"/>
              <a:ext cx="170052" cy="76200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624948" y="3630676"/>
              <a:ext cx="224790" cy="76200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825100" y="3731260"/>
              <a:ext cx="136017" cy="176656"/>
            </a:xfrm>
            <a:prstGeom prst="rect">
              <a:avLst/>
            </a:prstGeom>
          </p:spPr>
        </p:pic>
      </p:grpSp>
      <p:sp>
        <p:nvSpPr>
          <p:cNvPr id="57" name="object 57"/>
          <p:cNvSpPr txBox="1"/>
          <p:nvPr/>
        </p:nvSpPr>
        <p:spPr>
          <a:xfrm>
            <a:off x="9875011" y="3568445"/>
            <a:ext cx="1096645" cy="536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5580">
              <a:lnSpc>
                <a:spcPct val="100000"/>
              </a:lnSpc>
              <a:spcBef>
                <a:spcPts val="100"/>
              </a:spcBef>
              <a:tabLst>
                <a:tab pos="506095" algn="l"/>
              </a:tabLst>
            </a:pPr>
            <a:r>
              <a:rPr sz="1800" spc="-75" baseline="2314" dirty="0">
                <a:latin typeface="Cambria Math"/>
                <a:cs typeface="Cambria Math"/>
              </a:rPr>
              <a:t>𝑔</a:t>
            </a:r>
            <a:r>
              <a:rPr sz="1800" baseline="2314" dirty="0">
                <a:latin typeface="Cambria Math"/>
                <a:cs typeface="Cambria Math"/>
              </a:rPr>
              <a:t>	</a:t>
            </a:r>
            <a:r>
              <a:rPr sz="1200" dirty="0">
                <a:latin typeface="Cambria Math"/>
                <a:cs typeface="Cambria Math"/>
              </a:rPr>
              <a:t>𝑓</a:t>
            </a:r>
            <a:r>
              <a:rPr sz="1200" spc="95" dirty="0">
                <a:latin typeface="Cambria Math"/>
                <a:cs typeface="Cambria Math"/>
              </a:rPr>
              <a:t> </a:t>
            </a:r>
            <a:r>
              <a:rPr sz="1200" spc="-25" dirty="0">
                <a:latin typeface="Cambria Math"/>
                <a:cs typeface="Cambria Math"/>
              </a:rPr>
              <a:t>≥</a:t>
            </a:r>
            <a:r>
              <a:rPr sz="1200" spc="-25" dirty="0"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40"/>
              </a:spcBef>
            </a:pPr>
            <a:r>
              <a:rPr sz="1200" spc="-10" dirty="0">
                <a:latin typeface="Calibri"/>
                <a:cs typeface="Calibri"/>
              </a:rPr>
              <a:t>Entrada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inibitória</a:t>
            </a:r>
            <a:endParaRPr sz="120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object 58"/>
              <p:cNvSpPr txBox="1"/>
              <p:nvPr/>
            </p:nvSpPr>
            <p:spPr>
              <a:xfrm>
                <a:off x="10986896" y="3519678"/>
                <a:ext cx="107314" cy="197490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pt-BR" sz="1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1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sz="1200" dirty="0">
                  <a:latin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58" name="object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86896" y="3519678"/>
                <a:ext cx="107314" cy="197490"/>
              </a:xfrm>
              <a:prstGeom prst="rect">
                <a:avLst/>
              </a:prstGeom>
              <a:blipFill>
                <a:blip r:embed="rId9"/>
                <a:stretch>
                  <a:fillRect l="-38889" t="-12121" r="-83333" b="-2121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0" name="Imagem 59">
            <a:extLst>
              <a:ext uri="{FF2B5EF4-FFF2-40B4-BE49-F238E27FC236}">
                <a16:creationId xmlns:a16="http://schemas.microsoft.com/office/drawing/2014/main" id="{BC8D145A-F247-3EBA-1D5C-1F051A290F7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87072" y="2245258"/>
            <a:ext cx="6325098" cy="229571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1" name="CaixaDeTexto 60">
                <a:extLst>
                  <a:ext uri="{FF2B5EF4-FFF2-40B4-BE49-F238E27FC236}">
                    <a16:creationId xmlns:a16="http://schemas.microsoft.com/office/drawing/2014/main" id="{D85F348F-861B-A899-96D7-0F52DC3034CA}"/>
                  </a:ext>
                </a:extLst>
              </p:cNvPr>
              <p:cNvSpPr txBox="1"/>
              <p:nvPr/>
            </p:nvSpPr>
            <p:spPr>
              <a:xfrm>
                <a:off x="7177304" y="5151818"/>
                <a:ext cx="3535327" cy="6178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pt-BR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pt-BR" i="1" smtClean="0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m:rPr>
                                  <m:sty m:val="p"/>
                                </m:rPr>
                                <a:rPr lang="pt-BR" b="0" i="0" smtClean="0">
                                  <a:latin typeface="Cambria Math" panose="02040503050406030204" pitchFamily="18" charset="0"/>
                                </a:rPr>
                                <m:t>se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pt-BR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e>
                              <m:r>
                                <a:rPr lang="pt-BR" i="1" smtClean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pt-BR" i="1" smtClean="0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m:rPr>
                                  <m:sty m:val="p"/>
                                </m:rPr>
                                <a:rPr lang="pt-BR" b="0" i="0" smtClean="0">
                                  <a:latin typeface="Cambria Math" panose="02040503050406030204" pitchFamily="18" charset="0"/>
                                </a:rPr>
                                <m:t>se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d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61" name="CaixaDeTexto 60">
                <a:extLst>
                  <a:ext uri="{FF2B5EF4-FFF2-40B4-BE49-F238E27FC236}">
                    <a16:creationId xmlns:a16="http://schemas.microsoft.com/office/drawing/2014/main" id="{D85F348F-861B-A899-96D7-0F52DC3034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7304" y="5151818"/>
                <a:ext cx="3535327" cy="617861"/>
              </a:xfrm>
              <a:prstGeom prst="rect">
                <a:avLst/>
              </a:prstGeom>
              <a:blipFill>
                <a:blip r:embed="rId11"/>
                <a:stretch>
                  <a:fillRect b="-99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Imagem 23">
            <a:extLst>
              <a:ext uri="{FF2B5EF4-FFF2-40B4-BE49-F238E27FC236}">
                <a16:creationId xmlns:a16="http://schemas.microsoft.com/office/drawing/2014/main" id="{BF59CFEA-7A88-7E4D-C61D-1D1E3E76EA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2438400"/>
            <a:ext cx="5822446" cy="2475686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m 24">
            <a:extLst>
              <a:ext uri="{FF2B5EF4-FFF2-40B4-BE49-F238E27FC236}">
                <a16:creationId xmlns:a16="http://schemas.microsoft.com/office/drawing/2014/main" id="{E0685559-520B-89D4-8884-730A272EB5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1828800"/>
            <a:ext cx="6178668" cy="2786313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object 28"/>
          <p:cNvGrpSpPr/>
          <p:nvPr/>
        </p:nvGrpSpPr>
        <p:grpSpPr>
          <a:xfrm>
            <a:off x="511822" y="5156834"/>
            <a:ext cx="2550795" cy="1118235"/>
            <a:chOff x="511822" y="5156834"/>
            <a:chExt cx="2550795" cy="1118235"/>
          </a:xfrm>
        </p:grpSpPr>
        <p:sp>
          <p:nvSpPr>
            <p:cNvPr id="29" name="object 29"/>
            <p:cNvSpPr/>
            <p:nvPr/>
          </p:nvSpPr>
          <p:spPr>
            <a:xfrm>
              <a:off x="511822" y="5156834"/>
              <a:ext cx="2520315" cy="1118235"/>
            </a:xfrm>
            <a:custGeom>
              <a:avLst/>
              <a:gdLst/>
              <a:ahLst/>
              <a:cxnLst/>
              <a:rect l="l" t="t" r="r" b="b"/>
              <a:pathLst>
                <a:path w="2520315" h="1118235">
                  <a:moveTo>
                    <a:pt x="2520048" y="1079944"/>
                  </a:moveTo>
                  <a:lnTo>
                    <a:pt x="2507348" y="1073594"/>
                  </a:lnTo>
                  <a:lnTo>
                    <a:pt x="2443848" y="1041844"/>
                  </a:lnTo>
                  <a:lnTo>
                    <a:pt x="2443848" y="1073594"/>
                  </a:lnTo>
                  <a:lnTo>
                    <a:pt x="532815" y="1073594"/>
                  </a:lnTo>
                  <a:lnTo>
                    <a:pt x="532815" y="76212"/>
                  </a:lnTo>
                  <a:lnTo>
                    <a:pt x="564565" y="76212"/>
                  </a:lnTo>
                  <a:lnTo>
                    <a:pt x="558215" y="63512"/>
                  </a:lnTo>
                  <a:lnTo>
                    <a:pt x="526465" y="0"/>
                  </a:lnTo>
                  <a:lnTo>
                    <a:pt x="488365" y="76212"/>
                  </a:lnTo>
                  <a:lnTo>
                    <a:pt x="520115" y="76212"/>
                  </a:lnTo>
                  <a:lnTo>
                    <a:pt x="520115" y="1073594"/>
                  </a:lnTo>
                  <a:lnTo>
                    <a:pt x="0" y="1073594"/>
                  </a:lnTo>
                  <a:lnTo>
                    <a:pt x="0" y="1086294"/>
                  </a:lnTo>
                  <a:lnTo>
                    <a:pt x="2443848" y="1086294"/>
                  </a:lnTo>
                  <a:lnTo>
                    <a:pt x="2443848" y="1118044"/>
                  </a:lnTo>
                  <a:lnTo>
                    <a:pt x="2507348" y="1086294"/>
                  </a:lnTo>
                  <a:lnTo>
                    <a:pt x="2520048" y="10799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039825" y="5761723"/>
              <a:ext cx="2016125" cy="0"/>
            </a:xfrm>
            <a:custGeom>
              <a:avLst/>
              <a:gdLst/>
              <a:ahLst/>
              <a:cxnLst/>
              <a:rect l="l" t="t" r="r" b="b"/>
              <a:pathLst>
                <a:path w="2016125">
                  <a:moveTo>
                    <a:pt x="0" y="0"/>
                  </a:moveTo>
                  <a:lnTo>
                    <a:pt x="2016048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976375" y="6253378"/>
            <a:ext cx="1244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mbria Math"/>
                <a:cs typeface="Cambria Math"/>
              </a:rPr>
              <a:t>0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1312926" y="5065648"/>
            <a:ext cx="629920" cy="276225"/>
          </a:xfrm>
          <a:custGeom>
            <a:avLst/>
            <a:gdLst/>
            <a:ahLst/>
            <a:cxnLst/>
            <a:rect l="l" t="t" r="r" b="b"/>
            <a:pathLst>
              <a:path w="629919" h="276225">
                <a:moveTo>
                  <a:pt x="75311" y="9144"/>
                </a:moveTo>
                <a:lnTo>
                  <a:pt x="72517" y="0"/>
                </a:lnTo>
                <a:lnTo>
                  <a:pt x="56083" y="6413"/>
                </a:lnTo>
                <a:lnTo>
                  <a:pt x="41656" y="16471"/>
                </a:lnTo>
                <a:lnTo>
                  <a:pt x="18796" y="47498"/>
                </a:lnTo>
                <a:lnTo>
                  <a:pt x="4673" y="89306"/>
                </a:lnTo>
                <a:lnTo>
                  <a:pt x="0" y="138176"/>
                </a:lnTo>
                <a:lnTo>
                  <a:pt x="1168" y="163372"/>
                </a:lnTo>
                <a:lnTo>
                  <a:pt x="10553" y="208711"/>
                </a:lnTo>
                <a:lnTo>
                  <a:pt x="29222" y="246062"/>
                </a:lnTo>
                <a:lnTo>
                  <a:pt x="72517" y="276225"/>
                </a:lnTo>
                <a:lnTo>
                  <a:pt x="75311" y="267081"/>
                </a:lnTo>
                <a:lnTo>
                  <a:pt x="62611" y="260464"/>
                </a:lnTo>
                <a:lnTo>
                  <a:pt x="51574" y="250875"/>
                </a:lnTo>
                <a:lnTo>
                  <a:pt x="28321" y="204685"/>
                </a:lnTo>
                <a:lnTo>
                  <a:pt x="21323" y="162394"/>
                </a:lnTo>
                <a:lnTo>
                  <a:pt x="20447" y="138061"/>
                </a:lnTo>
                <a:lnTo>
                  <a:pt x="21323" y="113944"/>
                </a:lnTo>
                <a:lnTo>
                  <a:pt x="28321" y="71564"/>
                </a:lnTo>
                <a:lnTo>
                  <a:pt x="51574" y="25361"/>
                </a:lnTo>
                <a:lnTo>
                  <a:pt x="62611" y="15773"/>
                </a:lnTo>
                <a:lnTo>
                  <a:pt x="75311" y="9144"/>
                </a:lnTo>
                <a:close/>
              </a:path>
              <a:path w="629919" h="276225">
                <a:moveTo>
                  <a:pt x="315849" y="41529"/>
                </a:moveTo>
                <a:lnTo>
                  <a:pt x="312788" y="33020"/>
                </a:lnTo>
                <a:lnTo>
                  <a:pt x="297459" y="38557"/>
                </a:lnTo>
                <a:lnTo>
                  <a:pt x="284010" y="46570"/>
                </a:lnTo>
                <a:lnTo>
                  <a:pt x="255168" y="85064"/>
                </a:lnTo>
                <a:lnTo>
                  <a:pt x="245364" y="138938"/>
                </a:lnTo>
                <a:lnTo>
                  <a:pt x="246430" y="158381"/>
                </a:lnTo>
                <a:lnTo>
                  <a:pt x="262763" y="207645"/>
                </a:lnTo>
                <a:lnTo>
                  <a:pt x="297434" y="239204"/>
                </a:lnTo>
                <a:lnTo>
                  <a:pt x="312788" y="244729"/>
                </a:lnTo>
                <a:lnTo>
                  <a:pt x="315582" y="236093"/>
                </a:lnTo>
                <a:lnTo>
                  <a:pt x="303491" y="230759"/>
                </a:lnTo>
                <a:lnTo>
                  <a:pt x="293077" y="223329"/>
                </a:lnTo>
                <a:lnTo>
                  <a:pt x="271729" y="188658"/>
                </a:lnTo>
                <a:lnTo>
                  <a:pt x="264668" y="137795"/>
                </a:lnTo>
                <a:lnTo>
                  <a:pt x="265442" y="119735"/>
                </a:lnTo>
                <a:lnTo>
                  <a:pt x="277241" y="75057"/>
                </a:lnTo>
                <a:lnTo>
                  <a:pt x="303644" y="46850"/>
                </a:lnTo>
                <a:lnTo>
                  <a:pt x="315849" y="41529"/>
                </a:lnTo>
                <a:close/>
              </a:path>
              <a:path w="629919" h="276225">
                <a:moveTo>
                  <a:pt x="527050" y="138938"/>
                </a:moveTo>
                <a:lnTo>
                  <a:pt x="517296" y="85064"/>
                </a:lnTo>
                <a:lnTo>
                  <a:pt x="488391" y="46570"/>
                </a:lnTo>
                <a:lnTo>
                  <a:pt x="459613" y="33020"/>
                </a:lnTo>
                <a:lnTo>
                  <a:pt x="456565" y="41529"/>
                </a:lnTo>
                <a:lnTo>
                  <a:pt x="468820" y="46850"/>
                </a:lnTo>
                <a:lnTo>
                  <a:pt x="479361" y="54203"/>
                </a:lnTo>
                <a:lnTo>
                  <a:pt x="500773" y="88353"/>
                </a:lnTo>
                <a:lnTo>
                  <a:pt x="507746" y="137795"/>
                </a:lnTo>
                <a:lnTo>
                  <a:pt x="506958" y="156464"/>
                </a:lnTo>
                <a:lnTo>
                  <a:pt x="495173" y="202184"/>
                </a:lnTo>
                <a:lnTo>
                  <a:pt x="468985" y="230759"/>
                </a:lnTo>
                <a:lnTo>
                  <a:pt x="456946" y="236093"/>
                </a:lnTo>
                <a:lnTo>
                  <a:pt x="459613" y="244729"/>
                </a:lnTo>
                <a:lnTo>
                  <a:pt x="499999" y="220675"/>
                </a:lnTo>
                <a:lnTo>
                  <a:pt x="522732" y="176301"/>
                </a:lnTo>
                <a:lnTo>
                  <a:pt x="525970" y="158381"/>
                </a:lnTo>
                <a:lnTo>
                  <a:pt x="527050" y="138938"/>
                </a:lnTo>
                <a:close/>
              </a:path>
              <a:path w="629919" h="276225">
                <a:moveTo>
                  <a:pt x="629412" y="138061"/>
                </a:moveTo>
                <a:lnTo>
                  <a:pt x="624662" y="89306"/>
                </a:lnTo>
                <a:lnTo>
                  <a:pt x="610489" y="47498"/>
                </a:lnTo>
                <a:lnTo>
                  <a:pt x="587641" y="16471"/>
                </a:lnTo>
                <a:lnTo>
                  <a:pt x="556895" y="0"/>
                </a:lnTo>
                <a:lnTo>
                  <a:pt x="554101" y="9144"/>
                </a:lnTo>
                <a:lnTo>
                  <a:pt x="566737" y="15773"/>
                </a:lnTo>
                <a:lnTo>
                  <a:pt x="577786" y="25361"/>
                </a:lnTo>
                <a:lnTo>
                  <a:pt x="601065" y="71564"/>
                </a:lnTo>
                <a:lnTo>
                  <a:pt x="607974" y="113944"/>
                </a:lnTo>
                <a:lnTo>
                  <a:pt x="608838" y="138176"/>
                </a:lnTo>
                <a:lnTo>
                  <a:pt x="607974" y="162394"/>
                </a:lnTo>
                <a:lnTo>
                  <a:pt x="601065" y="204685"/>
                </a:lnTo>
                <a:lnTo>
                  <a:pt x="577786" y="250875"/>
                </a:lnTo>
                <a:lnTo>
                  <a:pt x="554101" y="267081"/>
                </a:lnTo>
                <a:lnTo>
                  <a:pt x="556895" y="276225"/>
                </a:lnTo>
                <a:lnTo>
                  <a:pt x="600049" y="246062"/>
                </a:lnTo>
                <a:lnTo>
                  <a:pt x="618744" y="208711"/>
                </a:lnTo>
                <a:lnTo>
                  <a:pt x="628218" y="163372"/>
                </a:lnTo>
                <a:lnTo>
                  <a:pt x="629412" y="13806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3232150" y="6135141"/>
            <a:ext cx="281940" cy="212090"/>
          </a:xfrm>
          <a:custGeom>
            <a:avLst/>
            <a:gdLst/>
            <a:ahLst/>
            <a:cxnLst/>
            <a:rect l="l" t="t" r="r" b="b"/>
            <a:pathLst>
              <a:path w="281939" h="212089">
                <a:moveTo>
                  <a:pt x="214249" y="0"/>
                </a:moveTo>
                <a:lnTo>
                  <a:pt x="211200" y="8585"/>
                </a:lnTo>
                <a:lnTo>
                  <a:pt x="223486" y="13904"/>
                </a:lnTo>
                <a:lnTo>
                  <a:pt x="234045" y="21269"/>
                </a:lnTo>
                <a:lnTo>
                  <a:pt x="255436" y="55401"/>
                </a:lnTo>
                <a:lnTo>
                  <a:pt x="262509" y="104800"/>
                </a:lnTo>
                <a:lnTo>
                  <a:pt x="261723" y="123478"/>
                </a:lnTo>
                <a:lnTo>
                  <a:pt x="249936" y="169214"/>
                </a:lnTo>
                <a:lnTo>
                  <a:pt x="223629" y="197800"/>
                </a:lnTo>
                <a:lnTo>
                  <a:pt x="211582" y="203149"/>
                </a:lnTo>
                <a:lnTo>
                  <a:pt x="214249" y="211734"/>
                </a:lnTo>
                <a:lnTo>
                  <a:pt x="254718" y="187702"/>
                </a:lnTo>
                <a:lnTo>
                  <a:pt x="277447" y="143329"/>
                </a:lnTo>
                <a:lnTo>
                  <a:pt x="281813" y="105918"/>
                </a:lnTo>
                <a:lnTo>
                  <a:pt x="280717" y="86508"/>
                </a:lnTo>
                <a:lnTo>
                  <a:pt x="264287" y="37109"/>
                </a:lnTo>
                <a:lnTo>
                  <a:pt x="229604" y="5541"/>
                </a:lnTo>
                <a:lnTo>
                  <a:pt x="214249" y="0"/>
                </a:lnTo>
                <a:close/>
              </a:path>
              <a:path w="281939" h="212089">
                <a:moveTo>
                  <a:pt x="67563" y="0"/>
                </a:moveTo>
                <a:lnTo>
                  <a:pt x="27166" y="24095"/>
                </a:lnTo>
                <a:lnTo>
                  <a:pt x="4381" y="68570"/>
                </a:lnTo>
                <a:lnTo>
                  <a:pt x="0" y="105918"/>
                </a:lnTo>
                <a:lnTo>
                  <a:pt x="1093" y="125372"/>
                </a:lnTo>
                <a:lnTo>
                  <a:pt x="17399" y="174739"/>
                </a:lnTo>
                <a:lnTo>
                  <a:pt x="52153" y="206200"/>
                </a:lnTo>
                <a:lnTo>
                  <a:pt x="67563" y="211734"/>
                </a:lnTo>
                <a:lnTo>
                  <a:pt x="70230" y="203149"/>
                </a:lnTo>
                <a:lnTo>
                  <a:pt x="58183" y="197800"/>
                </a:lnTo>
                <a:lnTo>
                  <a:pt x="47767" y="190363"/>
                </a:lnTo>
                <a:lnTo>
                  <a:pt x="26376" y="155687"/>
                </a:lnTo>
                <a:lnTo>
                  <a:pt x="19303" y="104800"/>
                </a:lnTo>
                <a:lnTo>
                  <a:pt x="20089" y="86738"/>
                </a:lnTo>
                <a:lnTo>
                  <a:pt x="31876" y="42125"/>
                </a:lnTo>
                <a:lnTo>
                  <a:pt x="58344" y="13904"/>
                </a:lnTo>
                <a:lnTo>
                  <a:pt x="70612" y="8585"/>
                </a:lnTo>
                <a:lnTo>
                  <a:pt x="675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3055111" y="6065621"/>
            <a:ext cx="3968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𝑔</a:t>
            </a:r>
            <a:r>
              <a:rPr sz="1800" spc="385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𝒙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62075" y="5028946"/>
            <a:ext cx="915669" cy="842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𝑓</a:t>
            </a:r>
            <a:r>
              <a:rPr sz="1800" spc="459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𝑔</a:t>
            </a:r>
            <a:r>
              <a:rPr sz="1800" spc="370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𝒙</a:t>
            </a:r>
            <a:endParaRPr sz="18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2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Cambria Math"/>
                <a:cs typeface="Cambria Math"/>
              </a:rPr>
              <a:t>1</a:t>
            </a:r>
            <a:endParaRPr sz="1400">
              <a:latin typeface="Cambria Math"/>
              <a:cs typeface="Cambria Math"/>
            </a:endParaRPr>
          </a:p>
        </p:txBody>
      </p:sp>
      <p:pic>
        <p:nvPicPr>
          <p:cNvPr id="39" name="Imagem 38">
            <a:extLst>
              <a:ext uri="{FF2B5EF4-FFF2-40B4-BE49-F238E27FC236}">
                <a16:creationId xmlns:a16="http://schemas.microsoft.com/office/drawing/2014/main" id="{C11DCF3B-41A9-ACFF-3F0D-CC79337AFA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205" y="1709497"/>
            <a:ext cx="7163396" cy="2886145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Imagem 30">
            <a:extLst>
              <a:ext uri="{FF2B5EF4-FFF2-40B4-BE49-F238E27FC236}">
                <a16:creationId xmlns:a16="http://schemas.microsoft.com/office/drawing/2014/main" id="{A2A5240F-FC02-C924-3765-5FAEF32F70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1905000"/>
            <a:ext cx="7296978" cy="3510123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29C707CD-80E2-10CE-95C4-8E70C2A79F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4494" y="2268407"/>
            <a:ext cx="6315431" cy="2989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63059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363723" y="3110483"/>
            <a:ext cx="2844165" cy="2376170"/>
            <a:chOff x="2363723" y="3110483"/>
            <a:chExt cx="2844165" cy="2376170"/>
          </a:xfrm>
        </p:grpSpPr>
        <p:sp>
          <p:nvSpPr>
            <p:cNvPr id="3" name="object 3"/>
            <p:cNvSpPr/>
            <p:nvPr/>
          </p:nvSpPr>
          <p:spPr>
            <a:xfrm>
              <a:off x="2363724" y="3110483"/>
              <a:ext cx="2844165" cy="2376170"/>
            </a:xfrm>
            <a:custGeom>
              <a:avLst/>
              <a:gdLst/>
              <a:ahLst/>
              <a:cxnLst/>
              <a:rect l="l" t="t" r="r" b="b"/>
              <a:pathLst>
                <a:path w="2844165" h="2376170">
                  <a:moveTo>
                    <a:pt x="2844038" y="1662684"/>
                  </a:moveTo>
                  <a:lnTo>
                    <a:pt x="2831338" y="1656334"/>
                  </a:lnTo>
                  <a:lnTo>
                    <a:pt x="2767838" y="1624584"/>
                  </a:lnTo>
                  <a:lnTo>
                    <a:pt x="2767838" y="1656334"/>
                  </a:lnTo>
                  <a:lnTo>
                    <a:pt x="742442" y="1656334"/>
                  </a:lnTo>
                  <a:lnTo>
                    <a:pt x="742442" y="76200"/>
                  </a:lnTo>
                  <a:lnTo>
                    <a:pt x="774192" y="76200"/>
                  </a:lnTo>
                  <a:lnTo>
                    <a:pt x="767842" y="63500"/>
                  </a:lnTo>
                  <a:lnTo>
                    <a:pt x="736092" y="0"/>
                  </a:lnTo>
                  <a:lnTo>
                    <a:pt x="697992" y="76200"/>
                  </a:lnTo>
                  <a:lnTo>
                    <a:pt x="729742" y="76200"/>
                  </a:lnTo>
                  <a:lnTo>
                    <a:pt x="729742" y="1656334"/>
                  </a:lnTo>
                  <a:lnTo>
                    <a:pt x="0" y="1656334"/>
                  </a:lnTo>
                  <a:lnTo>
                    <a:pt x="0" y="1669034"/>
                  </a:lnTo>
                  <a:lnTo>
                    <a:pt x="729742" y="1669034"/>
                  </a:lnTo>
                  <a:lnTo>
                    <a:pt x="729742" y="2376043"/>
                  </a:lnTo>
                  <a:lnTo>
                    <a:pt x="742442" y="2376043"/>
                  </a:lnTo>
                  <a:lnTo>
                    <a:pt x="742442" y="1669034"/>
                  </a:lnTo>
                  <a:lnTo>
                    <a:pt x="2767838" y="1669034"/>
                  </a:lnTo>
                  <a:lnTo>
                    <a:pt x="2767838" y="1700784"/>
                  </a:lnTo>
                  <a:lnTo>
                    <a:pt x="2831338" y="1669034"/>
                  </a:lnTo>
                  <a:lnTo>
                    <a:pt x="2844038" y="16626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13226" y="4904358"/>
              <a:ext cx="452882" cy="45237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50362" y="4331842"/>
              <a:ext cx="147574" cy="14808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49803" y="4072636"/>
              <a:ext cx="148335" cy="14833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16274" y="4288662"/>
              <a:ext cx="148082" cy="14757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409695" y="4503927"/>
              <a:ext cx="148336" cy="14833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85717" y="3797553"/>
              <a:ext cx="155956" cy="15747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768597" y="3535425"/>
              <a:ext cx="155955" cy="15595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911853" y="3747261"/>
              <a:ext cx="157480" cy="15595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132833" y="4068825"/>
              <a:ext cx="155955" cy="15748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067301" y="3495801"/>
              <a:ext cx="157480" cy="15748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285233" y="3786885"/>
              <a:ext cx="157479" cy="15748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416297" y="3599433"/>
              <a:ext cx="155955" cy="15747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445253" y="4026153"/>
              <a:ext cx="155956" cy="157479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2715767" y="3502151"/>
              <a:ext cx="2021839" cy="1736089"/>
            </a:xfrm>
            <a:custGeom>
              <a:avLst/>
              <a:gdLst/>
              <a:ahLst/>
              <a:cxnLst/>
              <a:rect l="l" t="t" r="r" b="b"/>
              <a:pathLst>
                <a:path w="2021839" h="1736089">
                  <a:moveTo>
                    <a:pt x="0" y="0"/>
                  </a:moveTo>
                  <a:lnTo>
                    <a:pt x="2021585" y="1735582"/>
                  </a:lnTo>
                </a:path>
              </a:pathLst>
            </a:custGeom>
            <a:ln w="63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178175" y="2953003"/>
            <a:ext cx="294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𝑥</a:t>
            </a:r>
            <a:r>
              <a:rPr sz="1950" spc="-37" baseline="-14957" dirty="0">
                <a:latin typeface="Cambria Math"/>
                <a:cs typeface="Cambria Math"/>
              </a:rPr>
              <a:t>2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261230" y="4391025"/>
            <a:ext cx="2128520" cy="1154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435609" algn="ctr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𝑥</a:t>
            </a:r>
            <a:r>
              <a:rPr sz="1950" spc="-37" baseline="-14957" dirty="0">
                <a:latin typeface="Cambria Math"/>
                <a:cs typeface="Cambria Math"/>
              </a:rPr>
              <a:t>1</a:t>
            </a:r>
            <a:endParaRPr sz="1950" baseline="-14957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</a:pPr>
            <a:endParaRPr sz="20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850">
              <a:latin typeface="Cambria Math"/>
              <a:cs typeface="Cambria Math"/>
            </a:endParaRPr>
          </a:p>
          <a:p>
            <a:pPr marL="50800">
              <a:lnSpc>
                <a:spcPct val="100000"/>
              </a:lnSpc>
            </a:pPr>
            <a:r>
              <a:rPr sz="2700" baseline="10802" dirty="0">
                <a:latin typeface="Cambria Math"/>
                <a:cs typeface="Cambria Math"/>
              </a:rPr>
              <a:t>𝑤</a:t>
            </a:r>
            <a:r>
              <a:rPr sz="1300" dirty="0">
                <a:latin typeface="Cambria Math"/>
                <a:cs typeface="Cambria Math"/>
              </a:rPr>
              <a:t>1𝑗</a:t>
            </a:r>
            <a:r>
              <a:rPr sz="2700" baseline="10802" dirty="0">
                <a:latin typeface="Cambria Math"/>
                <a:cs typeface="Cambria Math"/>
              </a:rPr>
              <a:t>𝑥</a:t>
            </a:r>
            <a:r>
              <a:rPr sz="1300" dirty="0">
                <a:latin typeface="Cambria Math"/>
                <a:cs typeface="Cambria Math"/>
              </a:rPr>
              <a:t>1</a:t>
            </a:r>
            <a:r>
              <a:rPr sz="1300" spc="220" dirty="0">
                <a:latin typeface="Cambria Math"/>
                <a:cs typeface="Cambria Math"/>
              </a:rPr>
              <a:t> </a:t>
            </a:r>
            <a:r>
              <a:rPr sz="2700" baseline="10802" dirty="0">
                <a:latin typeface="Cambria Math"/>
                <a:cs typeface="Cambria Math"/>
              </a:rPr>
              <a:t>+</a:t>
            </a:r>
            <a:r>
              <a:rPr sz="2700" spc="82" baseline="10802" dirty="0">
                <a:latin typeface="Cambria Math"/>
                <a:cs typeface="Cambria Math"/>
              </a:rPr>
              <a:t> 𝑤</a:t>
            </a:r>
            <a:r>
              <a:rPr sz="1300" spc="55" dirty="0">
                <a:latin typeface="Cambria Math"/>
                <a:cs typeface="Cambria Math"/>
              </a:rPr>
              <a:t>2𝑗</a:t>
            </a:r>
            <a:r>
              <a:rPr sz="2700" spc="82" baseline="10802" dirty="0">
                <a:latin typeface="Cambria Math"/>
                <a:cs typeface="Cambria Math"/>
              </a:rPr>
              <a:t>𝑥</a:t>
            </a:r>
            <a:r>
              <a:rPr sz="1300" spc="55" dirty="0">
                <a:latin typeface="Cambria Math"/>
                <a:cs typeface="Cambria Math"/>
              </a:rPr>
              <a:t>2</a:t>
            </a:r>
            <a:r>
              <a:rPr sz="1300" spc="220" dirty="0">
                <a:latin typeface="Cambria Math"/>
                <a:cs typeface="Cambria Math"/>
              </a:rPr>
              <a:t> </a:t>
            </a:r>
            <a:r>
              <a:rPr sz="2700" baseline="10802" dirty="0">
                <a:latin typeface="Cambria Math"/>
                <a:cs typeface="Cambria Math"/>
              </a:rPr>
              <a:t>+</a:t>
            </a:r>
            <a:r>
              <a:rPr sz="2700" spc="60" baseline="10802" dirty="0">
                <a:latin typeface="Cambria Math"/>
                <a:cs typeface="Cambria Math"/>
              </a:rPr>
              <a:t> </a:t>
            </a:r>
            <a:r>
              <a:rPr sz="2700" spc="-37" baseline="10802" dirty="0">
                <a:latin typeface="Cambria Math"/>
                <a:cs typeface="Cambria Math"/>
              </a:rPr>
              <a:t>𝑤</a:t>
            </a:r>
            <a:r>
              <a:rPr sz="1300" spc="-25" dirty="0">
                <a:latin typeface="Cambria Math"/>
                <a:cs typeface="Cambria Math"/>
              </a:rPr>
              <a:t>0𝑗</a:t>
            </a:r>
            <a:endParaRPr sz="13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43100" y="560831"/>
            <a:ext cx="144780" cy="144780"/>
          </a:xfrm>
          <a:custGeom>
            <a:avLst/>
            <a:gdLst/>
            <a:ahLst/>
            <a:cxnLst/>
            <a:rect l="l" t="t" r="r" b="b"/>
            <a:pathLst>
              <a:path w="144780" h="144779">
                <a:moveTo>
                  <a:pt x="0" y="144779"/>
                </a:moveTo>
                <a:lnTo>
                  <a:pt x="144780" y="144779"/>
                </a:lnTo>
                <a:lnTo>
                  <a:pt x="144780" y="0"/>
                </a:lnTo>
                <a:lnTo>
                  <a:pt x="0" y="0"/>
                </a:lnTo>
                <a:lnTo>
                  <a:pt x="0" y="144779"/>
                </a:lnTo>
                <a:close/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943100" y="1408175"/>
            <a:ext cx="144780" cy="144780"/>
          </a:xfrm>
          <a:custGeom>
            <a:avLst/>
            <a:gdLst/>
            <a:ahLst/>
            <a:cxnLst/>
            <a:rect l="l" t="t" r="r" b="b"/>
            <a:pathLst>
              <a:path w="144780" h="144780">
                <a:moveTo>
                  <a:pt x="0" y="144779"/>
                </a:moveTo>
                <a:lnTo>
                  <a:pt x="144780" y="144779"/>
                </a:lnTo>
                <a:lnTo>
                  <a:pt x="144780" y="0"/>
                </a:lnTo>
                <a:lnTo>
                  <a:pt x="0" y="0"/>
                </a:lnTo>
                <a:lnTo>
                  <a:pt x="0" y="144779"/>
                </a:lnTo>
                <a:close/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943100" y="3608832"/>
            <a:ext cx="144780" cy="144780"/>
          </a:xfrm>
          <a:custGeom>
            <a:avLst/>
            <a:gdLst/>
            <a:ahLst/>
            <a:cxnLst/>
            <a:rect l="l" t="t" r="r" b="b"/>
            <a:pathLst>
              <a:path w="144780" h="144779">
                <a:moveTo>
                  <a:pt x="0" y="144780"/>
                </a:moveTo>
                <a:lnTo>
                  <a:pt x="144780" y="144780"/>
                </a:lnTo>
                <a:lnTo>
                  <a:pt x="144780" y="0"/>
                </a:lnTo>
                <a:lnTo>
                  <a:pt x="0" y="0"/>
                </a:lnTo>
                <a:lnTo>
                  <a:pt x="0" y="14478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943100" y="2250948"/>
            <a:ext cx="144780" cy="143510"/>
          </a:xfrm>
          <a:custGeom>
            <a:avLst/>
            <a:gdLst/>
            <a:ahLst/>
            <a:cxnLst/>
            <a:rect l="l" t="t" r="r" b="b"/>
            <a:pathLst>
              <a:path w="144780" h="143510">
                <a:moveTo>
                  <a:pt x="0" y="143255"/>
                </a:moveTo>
                <a:lnTo>
                  <a:pt x="144780" y="143255"/>
                </a:lnTo>
                <a:lnTo>
                  <a:pt x="144780" y="0"/>
                </a:lnTo>
                <a:lnTo>
                  <a:pt x="0" y="0"/>
                </a:lnTo>
                <a:lnTo>
                  <a:pt x="0" y="143255"/>
                </a:lnTo>
                <a:close/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3255009" y="357886"/>
            <a:ext cx="552450" cy="553720"/>
            <a:chOff x="3255009" y="357886"/>
            <a:chExt cx="552450" cy="553720"/>
          </a:xfrm>
        </p:grpSpPr>
        <p:sp>
          <p:nvSpPr>
            <p:cNvPr id="7" name="object 7"/>
            <p:cNvSpPr/>
            <p:nvPr/>
          </p:nvSpPr>
          <p:spPr>
            <a:xfrm>
              <a:off x="3261359" y="364236"/>
              <a:ext cx="539750" cy="541020"/>
            </a:xfrm>
            <a:custGeom>
              <a:avLst/>
              <a:gdLst/>
              <a:ahLst/>
              <a:cxnLst/>
              <a:rect l="l" t="t" r="r" b="b"/>
              <a:pathLst>
                <a:path w="539750" h="541019">
                  <a:moveTo>
                    <a:pt x="269748" y="0"/>
                  </a:moveTo>
                  <a:lnTo>
                    <a:pt x="221262" y="4359"/>
                  </a:lnTo>
                  <a:lnTo>
                    <a:pt x="175626" y="16929"/>
                  </a:lnTo>
                  <a:lnTo>
                    <a:pt x="133604" y="36942"/>
                  </a:lnTo>
                  <a:lnTo>
                    <a:pt x="95955" y="63635"/>
                  </a:lnTo>
                  <a:lnTo>
                    <a:pt x="63443" y="96243"/>
                  </a:lnTo>
                  <a:lnTo>
                    <a:pt x="36830" y="133999"/>
                  </a:lnTo>
                  <a:lnTo>
                    <a:pt x="16876" y="176139"/>
                  </a:lnTo>
                  <a:lnTo>
                    <a:pt x="4346" y="221897"/>
                  </a:lnTo>
                  <a:lnTo>
                    <a:pt x="0" y="270510"/>
                  </a:lnTo>
                  <a:lnTo>
                    <a:pt x="4346" y="319122"/>
                  </a:lnTo>
                  <a:lnTo>
                    <a:pt x="16876" y="364880"/>
                  </a:lnTo>
                  <a:lnTo>
                    <a:pt x="36829" y="407020"/>
                  </a:lnTo>
                  <a:lnTo>
                    <a:pt x="63443" y="444776"/>
                  </a:lnTo>
                  <a:lnTo>
                    <a:pt x="95955" y="477384"/>
                  </a:lnTo>
                  <a:lnTo>
                    <a:pt x="133603" y="504077"/>
                  </a:lnTo>
                  <a:lnTo>
                    <a:pt x="175626" y="524090"/>
                  </a:lnTo>
                  <a:lnTo>
                    <a:pt x="221262" y="536660"/>
                  </a:lnTo>
                  <a:lnTo>
                    <a:pt x="269748" y="541019"/>
                  </a:lnTo>
                  <a:lnTo>
                    <a:pt x="318233" y="536660"/>
                  </a:lnTo>
                  <a:lnTo>
                    <a:pt x="363869" y="524090"/>
                  </a:lnTo>
                  <a:lnTo>
                    <a:pt x="405891" y="504077"/>
                  </a:lnTo>
                  <a:lnTo>
                    <a:pt x="443540" y="477384"/>
                  </a:lnTo>
                  <a:lnTo>
                    <a:pt x="476052" y="444776"/>
                  </a:lnTo>
                  <a:lnTo>
                    <a:pt x="502665" y="407020"/>
                  </a:lnTo>
                  <a:lnTo>
                    <a:pt x="522619" y="364880"/>
                  </a:lnTo>
                  <a:lnTo>
                    <a:pt x="535149" y="319122"/>
                  </a:lnTo>
                  <a:lnTo>
                    <a:pt x="539495" y="270510"/>
                  </a:lnTo>
                  <a:lnTo>
                    <a:pt x="535149" y="221897"/>
                  </a:lnTo>
                  <a:lnTo>
                    <a:pt x="522619" y="176139"/>
                  </a:lnTo>
                  <a:lnTo>
                    <a:pt x="502665" y="133999"/>
                  </a:lnTo>
                  <a:lnTo>
                    <a:pt x="476052" y="96243"/>
                  </a:lnTo>
                  <a:lnTo>
                    <a:pt x="443540" y="63635"/>
                  </a:lnTo>
                  <a:lnTo>
                    <a:pt x="405891" y="36942"/>
                  </a:lnTo>
                  <a:lnTo>
                    <a:pt x="363869" y="16929"/>
                  </a:lnTo>
                  <a:lnTo>
                    <a:pt x="318233" y="4359"/>
                  </a:lnTo>
                  <a:lnTo>
                    <a:pt x="269748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261359" y="364236"/>
              <a:ext cx="539750" cy="541020"/>
            </a:xfrm>
            <a:custGeom>
              <a:avLst/>
              <a:gdLst/>
              <a:ahLst/>
              <a:cxnLst/>
              <a:rect l="l" t="t" r="r" b="b"/>
              <a:pathLst>
                <a:path w="539750" h="541019">
                  <a:moveTo>
                    <a:pt x="0" y="270510"/>
                  </a:moveTo>
                  <a:lnTo>
                    <a:pt x="4346" y="221897"/>
                  </a:lnTo>
                  <a:lnTo>
                    <a:pt x="16876" y="176139"/>
                  </a:lnTo>
                  <a:lnTo>
                    <a:pt x="36830" y="133999"/>
                  </a:lnTo>
                  <a:lnTo>
                    <a:pt x="63443" y="96243"/>
                  </a:lnTo>
                  <a:lnTo>
                    <a:pt x="95955" y="63635"/>
                  </a:lnTo>
                  <a:lnTo>
                    <a:pt x="133604" y="36942"/>
                  </a:lnTo>
                  <a:lnTo>
                    <a:pt x="175626" y="16929"/>
                  </a:lnTo>
                  <a:lnTo>
                    <a:pt x="221262" y="4359"/>
                  </a:lnTo>
                  <a:lnTo>
                    <a:pt x="269748" y="0"/>
                  </a:lnTo>
                  <a:lnTo>
                    <a:pt x="318233" y="4359"/>
                  </a:lnTo>
                  <a:lnTo>
                    <a:pt x="363869" y="16929"/>
                  </a:lnTo>
                  <a:lnTo>
                    <a:pt x="405891" y="36942"/>
                  </a:lnTo>
                  <a:lnTo>
                    <a:pt x="443540" y="63635"/>
                  </a:lnTo>
                  <a:lnTo>
                    <a:pt x="476052" y="96243"/>
                  </a:lnTo>
                  <a:lnTo>
                    <a:pt x="502665" y="133999"/>
                  </a:lnTo>
                  <a:lnTo>
                    <a:pt x="522619" y="176139"/>
                  </a:lnTo>
                  <a:lnTo>
                    <a:pt x="535149" y="221897"/>
                  </a:lnTo>
                  <a:lnTo>
                    <a:pt x="539495" y="270510"/>
                  </a:lnTo>
                  <a:lnTo>
                    <a:pt x="535149" y="319122"/>
                  </a:lnTo>
                  <a:lnTo>
                    <a:pt x="522619" y="364880"/>
                  </a:lnTo>
                  <a:lnTo>
                    <a:pt x="502665" y="407020"/>
                  </a:lnTo>
                  <a:lnTo>
                    <a:pt x="476052" y="444776"/>
                  </a:lnTo>
                  <a:lnTo>
                    <a:pt x="443540" y="477384"/>
                  </a:lnTo>
                  <a:lnTo>
                    <a:pt x="405891" y="504077"/>
                  </a:lnTo>
                  <a:lnTo>
                    <a:pt x="363869" y="524090"/>
                  </a:lnTo>
                  <a:lnTo>
                    <a:pt x="318233" y="536660"/>
                  </a:lnTo>
                  <a:lnTo>
                    <a:pt x="269748" y="541019"/>
                  </a:lnTo>
                  <a:lnTo>
                    <a:pt x="221262" y="536660"/>
                  </a:lnTo>
                  <a:lnTo>
                    <a:pt x="175626" y="524090"/>
                  </a:lnTo>
                  <a:lnTo>
                    <a:pt x="133603" y="504077"/>
                  </a:lnTo>
                  <a:lnTo>
                    <a:pt x="95955" y="477384"/>
                  </a:lnTo>
                  <a:lnTo>
                    <a:pt x="63443" y="444776"/>
                  </a:lnTo>
                  <a:lnTo>
                    <a:pt x="36829" y="407020"/>
                  </a:lnTo>
                  <a:lnTo>
                    <a:pt x="16876" y="364880"/>
                  </a:lnTo>
                  <a:lnTo>
                    <a:pt x="4346" y="319122"/>
                  </a:lnTo>
                  <a:lnTo>
                    <a:pt x="0" y="270510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428746" y="429844"/>
            <a:ext cx="205740" cy="392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Calibri"/>
                <a:cs typeface="Calibri"/>
              </a:rPr>
              <a:t>Nó</a:t>
            </a:r>
            <a:endParaRPr sz="12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latin typeface="Calibri"/>
                <a:cs typeface="Calibri"/>
              </a:rPr>
              <a:t>i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255009" y="357886"/>
            <a:ext cx="2629535" cy="3604895"/>
            <a:chOff x="3255009" y="357886"/>
            <a:chExt cx="2629535" cy="3604895"/>
          </a:xfrm>
        </p:grpSpPr>
        <p:sp>
          <p:nvSpPr>
            <p:cNvPr id="11" name="object 11"/>
            <p:cNvSpPr/>
            <p:nvPr/>
          </p:nvSpPr>
          <p:spPr>
            <a:xfrm>
              <a:off x="3261359" y="1210055"/>
              <a:ext cx="539750" cy="541020"/>
            </a:xfrm>
            <a:custGeom>
              <a:avLst/>
              <a:gdLst/>
              <a:ahLst/>
              <a:cxnLst/>
              <a:rect l="l" t="t" r="r" b="b"/>
              <a:pathLst>
                <a:path w="539750" h="541019">
                  <a:moveTo>
                    <a:pt x="269748" y="0"/>
                  </a:moveTo>
                  <a:lnTo>
                    <a:pt x="221262" y="4359"/>
                  </a:lnTo>
                  <a:lnTo>
                    <a:pt x="175626" y="16929"/>
                  </a:lnTo>
                  <a:lnTo>
                    <a:pt x="133604" y="36942"/>
                  </a:lnTo>
                  <a:lnTo>
                    <a:pt x="95955" y="63635"/>
                  </a:lnTo>
                  <a:lnTo>
                    <a:pt x="63443" y="96243"/>
                  </a:lnTo>
                  <a:lnTo>
                    <a:pt x="36830" y="133999"/>
                  </a:lnTo>
                  <a:lnTo>
                    <a:pt x="16876" y="176139"/>
                  </a:lnTo>
                  <a:lnTo>
                    <a:pt x="4346" y="221897"/>
                  </a:lnTo>
                  <a:lnTo>
                    <a:pt x="0" y="270510"/>
                  </a:lnTo>
                  <a:lnTo>
                    <a:pt x="4346" y="319122"/>
                  </a:lnTo>
                  <a:lnTo>
                    <a:pt x="16876" y="364880"/>
                  </a:lnTo>
                  <a:lnTo>
                    <a:pt x="36829" y="407020"/>
                  </a:lnTo>
                  <a:lnTo>
                    <a:pt x="63443" y="444776"/>
                  </a:lnTo>
                  <a:lnTo>
                    <a:pt x="95955" y="477384"/>
                  </a:lnTo>
                  <a:lnTo>
                    <a:pt x="133603" y="504077"/>
                  </a:lnTo>
                  <a:lnTo>
                    <a:pt x="175626" y="524090"/>
                  </a:lnTo>
                  <a:lnTo>
                    <a:pt x="221262" y="536660"/>
                  </a:lnTo>
                  <a:lnTo>
                    <a:pt x="269748" y="541020"/>
                  </a:lnTo>
                  <a:lnTo>
                    <a:pt x="318233" y="536660"/>
                  </a:lnTo>
                  <a:lnTo>
                    <a:pt x="363869" y="524090"/>
                  </a:lnTo>
                  <a:lnTo>
                    <a:pt x="405891" y="504077"/>
                  </a:lnTo>
                  <a:lnTo>
                    <a:pt x="443540" y="477384"/>
                  </a:lnTo>
                  <a:lnTo>
                    <a:pt x="476052" y="444776"/>
                  </a:lnTo>
                  <a:lnTo>
                    <a:pt x="502665" y="407020"/>
                  </a:lnTo>
                  <a:lnTo>
                    <a:pt x="522619" y="364880"/>
                  </a:lnTo>
                  <a:lnTo>
                    <a:pt x="535149" y="319122"/>
                  </a:lnTo>
                  <a:lnTo>
                    <a:pt x="539495" y="270510"/>
                  </a:lnTo>
                  <a:lnTo>
                    <a:pt x="535149" y="221897"/>
                  </a:lnTo>
                  <a:lnTo>
                    <a:pt x="522619" y="176139"/>
                  </a:lnTo>
                  <a:lnTo>
                    <a:pt x="502665" y="133999"/>
                  </a:lnTo>
                  <a:lnTo>
                    <a:pt x="476052" y="96243"/>
                  </a:lnTo>
                  <a:lnTo>
                    <a:pt x="443540" y="63635"/>
                  </a:lnTo>
                  <a:lnTo>
                    <a:pt x="405891" y="36942"/>
                  </a:lnTo>
                  <a:lnTo>
                    <a:pt x="363869" y="16929"/>
                  </a:lnTo>
                  <a:lnTo>
                    <a:pt x="318233" y="4359"/>
                  </a:lnTo>
                  <a:lnTo>
                    <a:pt x="269748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261359" y="1210055"/>
              <a:ext cx="539750" cy="541020"/>
            </a:xfrm>
            <a:custGeom>
              <a:avLst/>
              <a:gdLst/>
              <a:ahLst/>
              <a:cxnLst/>
              <a:rect l="l" t="t" r="r" b="b"/>
              <a:pathLst>
                <a:path w="539750" h="541019">
                  <a:moveTo>
                    <a:pt x="0" y="270510"/>
                  </a:moveTo>
                  <a:lnTo>
                    <a:pt x="4346" y="221897"/>
                  </a:lnTo>
                  <a:lnTo>
                    <a:pt x="16876" y="176139"/>
                  </a:lnTo>
                  <a:lnTo>
                    <a:pt x="36830" y="133999"/>
                  </a:lnTo>
                  <a:lnTo>
                    <a:pt x="63443" y="96243"/>
                  </a:lnTo>
                  <a:lnTo>
                    <a:pt x="95955" y="63635"/>
                  </a:lnTo>
                  <a:lnTo>
                    <a:pt x="133604" y="36942"/>
                  </a:lnTo>
                  <a:lnTo>
                    <a:pt x="175626" y="16929"/>
                  </a:lnTo>
                  <a:lnTo>
                    <a:pt x="221262" y="4359"/>
                  </a:lnTo>
                  <a:lnTo>
                    <a:pt x="269748" y="0"/>
                  </a:lnTo>
                  <a:lnTo>
                    <a:pt x="318233" y="4359"/>
                  </a:lnTo>
                  <a:lnTo>
                    <a:pt x="363869" y="16929"/>
                  </a:lnTo>
                  <a:lnTo>
                    <a:pt x="405891" y="36942"/>
                  </a:lnTo>
                  <a:lnTo>
                    <a:pt x="443540" y="63635"/>
                  </a:lnTo>
                  <a:lnTo>
                    <a:pt x="476052" y="96243"/>
                  </a:lnTo>
                  <a:lnTo>
                    <a:pt x="502665" y="133999"/>
                  </a:lnTo>
                  <a:lnTo>
                    <a:pt x="522619" y="176139"/>
                  </a:lnTo>
                  <a:lnTo>
                    <a:pt x="535149" y="221897"/>
                  </a:lnTo>
                  <a:lnTo>
                    <a:pt x="539495" y="270510"/>
                  </a:lnTo>
                  <a:lnTo>
                    <a:pt x="535149" y="319122"/>
                  </a:lnTo>
                  <a:lnTo>
                    <a:pt x="522619" y="364880"/>
                  </a:lnTo>
                  <a:lnTo>
                    <a:pt x="502665" y="407020"/>
                  </a:lnTo>
                  <a:lnTo>
                    <a:pt x="476052" y="444776"/>
                  </a:lnTo>
                  <a:lnTo>
                    <a:pt x="443540" y="477384"/>
                  </a:lnTo>
                  <a:lnTo>
                    <a:pt x="405891" y="504077"/>
                  </a:lnTo>
                  <a:lnTo>
                    <a:pt x="363869" y="524090"/>
                  </a:lnTo>
                  <a:lnTo>
                    <a:pt x="318233" y="536660"/>
                  </a:lnTo>
                  <a:lnTo>
                    <a:pt x="269748" y="541020"/>
                  </a:lnTo>
                  <a:lnTo>
                    <a:pt x="221262" y="536660"/>
                  </a:lnTo>
                  <a:lnTo>
                    <a:pt x="175626" y="524090"/>
                  </a:lnTo>
                  <a:lnTo>
                    <a:pt x="133603" y="504077"/>
                  </a:lnTo>
                  <a:lnTo>
                    <a:pt x="95955" y="477384"/>
                  </a:lnTo>
                  <a:lnTo>
                    <a:pt x="63443" y="444776"/>
                  </a:lnTo>
                  <a:lnTo>
                    <a:pt x="36829" y="407020"/>
                  </a:lnTo>
                  <a:lnTo>
                    <a:pt x="16876" y="364880"/>
                  </a:lnTo>
                  <a:lnTo>
                    <a:pt x="4346" y="319122"/>
                  </a:lnTo>
                  <a:lnTo>
                    <a:pt x="0" y="270510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261359" y="2055875"/>
              <a:ext cx="539750" cy="541020"/>
            </a:xfrm>
            <a:custGeom>
              <a:avLst/>
              <a:gdLst/>
              <a:ahLst/>
              <a:cxnLst/>
              <a:rect l="l" t="t" r="r" b="b"/>
              <a:pathLst>
                <a:path w="539750" h="541019">
                  <a:moveTo>
                    <a:pt x="269748" y="0"/>
                  </a:moveTo>
                  <a:lnTo>
                    <a:pt x="221262" y="4359"/>
                  </a:lnTo>
                  <a:lnTo>
                    <a:pt x="175626" y="16929"/>
                  </a:lnTo>
                  <a:lnTo>
                    <a:pt x="133604" y="36942"/>
                  </a:lnTo>
                  <a:lnTo>
                    <a:pt x="95955" y="63635"/>
                  </a:lnTo>
                  <a:lnTo>
                    <a:pt x="63443" y="96243"/>
                  </a:lnTo>
                  <a:lnTo>
                    <a:pt x="36830" y="133999"/>
                  </a:lnTo>
                  <a:lnTo>
                    <a:pt x="16876" y="176139"/>
                  </a:lnTo>
                  <a:lnTo>
                    <a:pt x="4346" y="221897"/>
                  </a:lnTo>
                  <a:lnTo>
                    <a:pt x="0" y="270510"/>
                  </a:lnTo>
                  <a:lnTo>
                    <a:pt x="4346" y="319122"/>
                  </a:lnTo>
                  <a:lnTo>
                    <a:pt x="16876" y="364880"/>
                  </a:lnTo>
                  <a:lnTo>
                    <a:pt x="36829" y="407020"/>
                  </a:lnTo>
                  <a:lnTo>
                    <a:pt x="63443" y="444776"/>
                  </a:lnTo>
                  <a:lnTo>
                    <a:pt x="95955" y="477384"/>
                  </a:lnTo>
                  <a:lnTo>
                    <a:pt x="133603" y="504077"/>
                  </a:lnTo>
                  <a:lnTo>
                    <a:pt x="175626" y="524090"/>
                  </a:lnTo>
                  <a:lnTo>
                    <a:pt x="221262" y="536660"/>
                  </a:lnTo>
                  <a:lnTo>
                    <a:pt x="269748" y="541020"/>
                  </a:lnTo>
                  <a:lnTo>
                    <a:pt x="318233" y="536660"/>
                  </a:lnTo>
                  <a:lnTo>
                    <a:pt x="363869" y="524090"/>
                  </a:lnTo>
                  <a:lnTo>
                    <a:pt x="405891" y="504077"/>
                  </a:lnTo>
                  <a:lnTo>
                    <a:pt x="443540" y="477384"/>
                  </a:lnTo>
                  <a:lnTo>
                    <a:pt x="476052" y="444776"/>
                  </a:lnTo>
                  <a:lnTo>
                    <a:pt x="502665" y="407020"/>
                  </a:lnTo>
                  <a:lnTo>
                    <a:pt x="522619" y="364880"/>
                  </a:lnTo>
                  <a:lnTo>
                    <a:pt x="535149" y="319122"/>
                  </a:lnTo>
                  <a:lnTo>
                    <a:pt x="539495" y="270510"/>
                  </a:lnTo>
                  <a:lnTo>
                    <a:pt x="535149" y="221897"/>
                  </a:lnTo>
                  <a:lnTo>
                    <a:pt x="522619" y="176139"/>
                  </a:lnTo>
                  <a:lnTo>
                    <a:pt x="502665" y="133999"/>
                  </a:lnTo>
                  <a:lnTo>
                    <a:pt x="476052" y="96243"/>
                  </a:lnTo>
                  <a:lnTo>
                    <a:pt x="443540" y="63635"/>
                  </a:lnTo>
                  <a:lnTo>
                    <a:pt x="405891" y="36942"/>
                  </a:lnTo>
                  <a:lnTo>
                    <a:pt x="363869" y="16929"/>
                  </a:lnTo>
                  <a:lnTo>
                    <a:pt x="318233" y="4359"/>
                  </a:lnTo>
                  <a:lnTo>
                    <a:pt x="269748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261359" y="2055875"/>
              <a:ext cx="539750" cy="541020"/>
            </a:xfrm>
            <a:custGeom>
              <a:avLst/>
              <a:gdLst/>
              <a:ahLst/>
              <a:cxnLst/>
              <a:rect l="l" t="t" r="r" b="b"/>
              <a:pathLst>
                <a:path w="539750" h="541019">
                  <a:moveTo>
                    <a:pt x="0" y="270510"/>
                  </a:moveTo>
                  <a:lnTo>
                    <a:pt x="4346" y="221897"/>
                  </a:lnTo>
                  <a:lnTo>
                    <a:pt x="16876" y="176139"/>
                  </a:lnTo>
                  <a:lnTo>
                    <a:pt x="36830" y="133999"/>
                  </a:lnTo>
                  <a:lnTo>
                    <a:pt x="63443" y="96243"/>
                  </a:lnTo>
                  <a:lnTo>
                    <a:pt x="95955" y="63635"/>
                  </a:lnTo>
                  <a:lnTo>
                    <a:pt x="133604" y="36942"/>
                  </a:lnTo>
                  <a:lnTo>
                    <a:pt x="175626" y="16929"/>
                  </a:lnTo>
                  <a:lnTo>
                    <a:pt x="221262" y="4359"/>
                  </a:lnTo>
                  <a:lnTo>
                    <a:pt x="269748" y="0"/>
                  </a:lnTo>
                  <a:lnTo>
                    <a:pt x="318233" y="4359"/>
                  </a:lnTo>
                  <a:lnTo>
                    <a:pt x="363869" y="16929"/>
                  </a:lnTo>
                  <a:lnTo>
                    <a:pt x="405891" y="36942"/>
                  </a:lnTo>
                  <a:lnTo>
                    <a:pt x="443540" y="63635"/>
                  </a:lnTo>
                  <a:lnTo>
                    <a:pt x="476052" y="96243"/>
                  </a:lnTo>
                  <a:lnTo>
                    <a:pt x="502665" y="133999"/>
                  </a:lnTo>
                  <a:lnTo>
                    <a:pt x="522619" y="176139"/>
                  </a:lnTo>
                  <a:lnTo>
                    <a:pt x="535149" y="221897"/>
                  </a:lnTo>
                  <a:lnTo>
                    <a:pt x="539495" y="270510"/>
                  </a:lnTo>
                  <a:lnTo>
                    <a:pt x="535149" y="319122"/>
                  </a:lnTo>
                  <a:lnTo>
                    <a:pt x="522619" y="364880"/>
                  </a:lnTo>
                  <a:lnTo>
                    <a:pt x="502665" y="407020"/>
                  </a:lnTo>
                  <a:lnTo>
                    <a:pt x="476052" y="444776"/>
                  </a:lnTo>
                  <a:lnTo>
                    <a:pt x="443540" y="477384"/>
                  </a:lnTo>
                  <a:lnTo>
                    <a:pt x="405891" y="504077"/>
                  </a:lnTo>
                  <a:lnTo>
                    <a:pt x="363869" y="524090"/>
                  </a:lnTo>
                  <a:lnTo>
                    <a:pt x="318233" y="536660"/>
                  </a:lnTo>
                  <a:lnTo>
                    <a:pt x="269748" y="541020"/>
                  </a:lnTo>
                  <a:lnTo>
                    <a:pt x="221262" y="536660"/>
                  </a:lnTo>
                  <a:lnTo>
                    <a:pt x="175626" y="524090"/>
                  </a:lnTo>
                  <a:lnTo>
                    <a:pt x="133603" y="504077"/>
                  </a:lnTo>
                  <a:lnTo>
                    <a:pt x="95955" y="477384"/>
                  </a:lnTo>
                  <a:lnTo>
                    <a:pt x="63443" y="444776"/>
                  </a:lnTo>
                  <a:lnTo>
                    <a:pt x="36829" y="407020"/>
                  </a:lnTo>
                  <a:lnTo>
                    <a:pt x="16876" y="364880"/>
                  </a:lnTo>
                  <a:lnTo>
                    <a:pt x="4346" y="319122"/>
                  </a:lnTo>
                  <a:lnTo>
                    <a:pt x="0" y="270510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261359" y="3416808"/>
              <a:ext cx="539750" cy="539750"/>
            </a:xfrm>
            <a:custGeom>
              <a:avLst/>
              <a:gdLst/>
              <a:ahLst/>
              <a:cxnLst/>
              <a:rect l="l" t="t" r="r" b="b"/>
              <a:pathLst>
                <a:path w="539750" h="539750">
                  <a:moveTo>
                    <a:pt x="269748" y="0"/>
                  </a:moveTo>
                  <a:lnTo>
                    <a:pt x="221262" y="4346"/>
                  </a:lnTo>
                  <a:lnTo>
                    <a:pt x="175626" y="16876"/>
                  </a:lnTo>
                  <a:lnTo>
                    <a:pt x="133604" y="36830"/>
                  </a:lnTo>
                  <a:lnTo>
                    <a:pt x="95955" y="63443"/>
                  </a:lnTo>
                  <a:lnTo>
                    <a:pt x="63443" y="95955"/>
                  </a:lnTo>
                  <a:lnTo>
                    <a:pt x="36830" y="133604"/>
                  </a:lnTo>
                  <a:lnTo>
                    <a:pt x="16876" y="175626"/>
                  </a:lnTo>
                  <a:lnTo>
                    <a:pt x="4346" y="221262"/>
                  </a:lnTo>
                  <a:lnTo>
                    <a:pt x="0" y="269747"/>
                  </a:lnTo>
                  <a:lnTo>
                    <a:pt x="4346" y="318233"/>
                  </a:lnTo>
                  <a:lnTo>
                    <a:pt x="16876" y="363869"/>
                  </a:lnTo>
                  <a:lnTo>
                    <a:pt x="36829" y="405891"/>
                  </a:lnTo>
                  <a:lnTo>
                    <a:pt x="63443" y="443540"/>
                  </a:lnTo>
                  <a:lnTo>
                    <a:pt x="95955" y="476052"/>
                  </a:lnTo>
                  <a:lnTo>
                    <a:pt x="133603" y="502665"/>
                  </a:lnTo>
                  <a:lnTo>
                    <a:pt x="175626" y="522619"/>
                  </a:lnTo>
                  <a:lnTo>
                    <a:pt x="221262" y="535149"/>
                  </a:lnTo>
                  <a:lnTo>
                    <a:pt x="269748" y="539495"/>
                  </a:lnTo>
                  <a:lnTo>
                    <a:pt x="318233" y="535149"/>
                  </a:lnTo>
                  <a:lnTo>
                    <a:pt x="363869" y="522619"/>
                  </a:lnTo>
                  <a:lnTo>
                    <a:pt x="405891" y="502665"/>
                  </a:lnTo>
                  <a:lnTo>
                    <a:pt x="443540" y="476052"/>
                  </a:lnTo>
                  <a:lnTo>
                    <a:pt x="476052" y="443540"/>
                  </a:lnTo>
                  <a:lnTo>
                    <a:pt x="502665" y="405891"/>
                  </a:lnTo>
                  <a:lnTo>
                    <a:pt x="522619" y="363869"/>
                  </a:lnTo>
                  <a:lnTo>
                    <a:pt x="535149" y="318233"/>
                  </a:lnTo>
                  <a:lnTo>
                    <a:pt x="539495" y="269747"/>
                  </a:lnTo>
                  <a:lnTo>
                    <a:pt x="535149" y="221262"/>
                  </a:lnTo>
                  <a:lnTo>
                    <a:pt x="522619" y="175626"/>
                  </a:lnTo>
                  <a:lnTo>
                    <a:pt x="502665" y="133604"/>
                  </a:lnTo>
                  <a:lnTo>
                    <a:pt x="476052" y="95955"/>
                  </a:lnTo>
                  <a:lnTo>
                    <a:pt x="443540" y="63443"/>
                  </a:lnTo>
                  <a:lnTo>
                    <a:pt x="405891" y="36830"/>
                  </a:lnTo>
                  <a:lnTo>
                    <a:pt x="363869" y="16876"/>
                  </a:lnTo>
                  <a:lnTo>
                    <a:pt x="318233" y="4346"/>
                  </a:lnTo>
                  <a:lnTo>
                    <a:pt x="269748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261359" y="3416808"/>
              <a:ext cx="539750" cy="539750"/>
            </a:xfrm>
            <a:custGeom>
              <a:avLst/>
              <a:gdLst/>
              <a:ahLst/>
              <a:cxnLst/>
              <a:rect l="l" t="t" r="r" b="b"/>
              <a:pathLst>
                <a:path w="539750" h="539750">
                  <a:moveTo>
                    <a:pt x="0" y="269747"/>
                  </a:moveTo>
                  <a:lnTo>
                    <a:pt x="4346" y="221262"/>
                  </a:lnTo>
                  <a:lnTo>
                    <a:pt x="16876" y="175626"/>
                  </a:lnTo>
                  <a:lnTo>
                    <a:pt x="36830" y="133604"/>
                  </a:lnTo>
                  <a:lnTo>
                    <a:pt x="63443" y="95955"/>
                  </a:lnTo>
                  <a:lnTo>
                    <a:pt x="95955" y="63443"/>
                  </a:lnTo>
                  <a:lnTo>
                    <a:pt x="133604" y="36830"/>
                  </a:lnTo>
                  <a:lnTo>
                    <a:pt x="175626" y="16876"/>
                  </a:lnTo>
                  <a:lnTo>
                    <a:pt x="221262" y="4346"/>
                  </a:lnTo>
                  <a:lnTo>
                    <a:pt x="269748" y="0"/>
                  </a:lnTo>
                  <a:lnTo>
                    <a:pt x="318233" y="4346"/>
                  </a:lnTo>
                  <a:lnTo>
                    <a:pt x="363869" y="16876"/>
                  </a:lnTo>
                  <a:lnTo>
                    <a:pt x="405891" y="36830"/>
                  </a:lnTo>
                  <a:lnTo>
                    <a:pt x="443540" y="63443"/>
                  </a:lnTo>
                  <a:lnTo>
                    <a:pt x="476052" y="95955"/>
                  </a:lnTo>
                  <a:lnTo>
                    <a:pt x="502665" y="133604"/>
                  </a:lnTo>
                  <a:lnTo>
                    <a:pt x="522619" y="175626"/>
                  </a:lnTo>
                  <a:lnTo>
                    <a:pt x="535149" y="221262"/>
                  </a:lnTo>
                  <a:lnTo>
                    <a:pt x="539495" y="269747"/>
                  </a:lnTo>
                  <a:lnTo>
                    <a:pt x="535149" y="318233"/>
                  </a:lnTo>
                  <a:lnTo>
                    <a:pt x="522619" y="363869"/>
                  </a:lnTo>
                  <a:lnTo>
                    <a:pt x="502665" y="405891"/>
                  </a:lnTo>
                  <a:lnTo>
                    <a:pt x="476052" y="443540"/>
                  </a:lnTo>
                  <a:lnTo>
                    <a:pt x="443540" y="476052"/>
                  </a:lnTo>
                  <a:lnTo>
                    <a:pt x="405891" y="502665"/>
                  </a:lnTo>
                  <a:lnTo>
                    <a:pt x="363869" y="522619"/>
                  </a:lnTo>
                  <a:lnTo>
                    <a:pt x="318233" y="535149"/>
                  </a:lnTo>
                  <a:lnTo>
                    <a:pt x="269748" y="539495"/>
                  </a:lnTo>
                  <a:lnTo>
                    <a:pt x="221262" y="535149"/>
                  </a:lnTo>
                  <a:lnTo>
                    <a:pt x="175626" y="522619"/>
                  </a:lnTo>
                  <a:lnTo>
                    <a:pt x="133603" y="502665"/>
                  </a:lnTo>
                  <a:lnTo>
                    <a:pt x="95955" y="476052"/>
                  </a:lnTo>
                  <a:lnTo>
                    <a:pt x="63443" y="443540"/>
                  </a:lnTo>
                  <a:lnTo>
                    <a:pt x="36829" y="405891"/>
                  </a:lnTo>
                  <a:lnTo>
                    <a:pt x="16876" y="363869"/>
                  </a:lnTo>
                  <a:lnTo>
                    <a:pt x="4346" y="318233"/>
                  </a:lnTo>
                  <a:lnTo>
                    <a:pt x="0" y="269747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337047" y="364236"/>
              <a:ext cx="541020" cy="541020"/>
            </a:xfrm>
            <a:custGeom>
              <a:avLst/>
              <a:gdLst/>
              <a:ahLst/>
              <a:cxnLst/>
              <a:rect l="l" t="t" r="r" b="b"/>
              <a:pathLst>
                <a:path w="541020" h="541019">
                  <a:moveTo>
                    <a:pt x="270510" y="0"/>
                  </a:moveTo>
                  <a:lnTo>
                    <a:pt x="221897" y="4359"/>
                  </a:lnTo>
                  <a:lnTo>
                    <a:pt x="176139" y="16929"/>
                  </a:lnTo>
                  <a:lnTo>
                    <a:pt x="133999" y="36942"/>
                  </a:lnTo>
                  <a:lnTo>
                    <a:pt x="96243" y="63635"/>
                  </a:lnTo>
                  <a:lnTo>
                    <a:pt x="63635" y="96243"/>
                  </a:lnTo>
                  <a:lnTo>
                    <a:pt x="36942" y="133999"/>
                  </a:lnTo>
                  <a:lnTo>
                    <a:pt x="16929" y="176139"/>
                  </a:lnTo>
                  <a:lnTo>
                    <a:pt x="4359" y="221897"/>
                  </a:lnTo>
                  <a:lnTo>
                    <a:pt x="0" y="270510"/>
                  </a:lnTo>
                  <a:lnTo>
                    <a:pt x="4359" y="319122"/>
                  </a:lnTo>
                  <a:lnTo>
                    <a:pt x="16929" y="364880"/>
                  </a:lnTo>
                  <a:lnTo>
                    <a:pt x="36942" y="407020"/>
                  </a:lnTo>
                  <a:lnTo>
                    <a:pt x="63635" y="444776"/>
                  </a:lnTo>
                  <a:lnTo>
                    <a:pt x="96243" y="477384"/>
                  </a:lnTo>
                  <a:lnTo>
                    <a:pt x="133999" y="504077"/>
                  </a:lnTo>
                  <a:lnTo>
                    <a:pt x="176139" y="524090"/>
                  </a:lnTo>
                  <a:lnTo>
                    <a:pt x="221897" y="536660"/>
                  </a:lnTo>
                  <a:lnTo>
                    <a:pt x="270510" y="541019"/>
                  </a:lnTo>
                  <a:lnTo>
                    <a:pt x="319122" y="536660"/>
                  </a:lnTo>
                  <a:lnTo>
                    <a:pt x="364880" y="524090"/>
                  </a:lnTo>
                  <a:lnTo>
                    <a:pt x="407020" y="504077"/>
                  </a:lnTo>
                  <a:lnTo>
                    <a:pt x="444776" y="477384"/>
                  </a:lnTo>
                  <a:lnTo>
                    <a:pt x="477384" y="444776"/>
                  </a:lnTo>
                  <a:lnTo>
                    <a:pt x="504077" y="407020"/>
                  </a:lnTo>
                  <a:lnTo>
                    <a:pt x="524090" y="364880"/>
                  </a:lnTo>
                  <a:lnTo>
                    <a:pt x="536660" y="319122"/>
                  </a:lnTo>
                  <a:lnTo>
                    <a:pt x="541019" y="270510"/>
                  </a:lnTo>
                  <a:lnTo>
                    <a:pt x="536660" y="221897"/>
                  </a:lnTo>
                  <a:lnTo>
                    <a:pt x="524090" y="176139"/>
                  </a:lnTo>
                  <a:lnTo>
                    <a:pt x="504077" y="133999"/>
                  </a:lnTo>
                  <a:lnTo>
                    <a:pt x="477384" y="96243"/>
                  </a:lnTo>
                  <a:lnTo>
                    <a:pt x="444776" y="63635"/>
                  </a:lnTo>
                  <a:lnTo>
                    <a:pt x="407020" y="36942"/>
                  </a:lnTo>
                  <a:lnTo>
                    <a:pt x="364880" y="16929"/>
                  </a:lnTo>
                  <a:lnTo>
                    <a:pt x="319122" y="4359"/>
                  </a:lnTo>
                  <a:lnTo>
                    <a:pt x="27051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337047" y="364236"/>
              <a:ext cx="541020" cy="541020"/>
            </a:xfrm>
            <a:custGeom>
              <a:avLst/>
              <a:gdLst/>
              <a:ahLst/>
              <a:cxnLst/>
              <a:rect l="l" t="t" r="r" b="b"/>
              <a:pathLst>
                <a:path w="541020" h="541019">
                  <a:moveTo>
                    <a:pt x="0" y="270510"/>
                  </a:moveTo>
                  <a:lnTo>
                    <a:pt x="4359" y="221897"/>
                  </a:lnTo>
                  <a:lnTo>
                    <a:pt x="16929" y="176139"/>
                  </a:lnTo>
                  <a:lnTo>
                    <a:pt x="36942" y="133999"/>
                  </a:lnTo>
                  <a:lnTo>
                    <a:pt x="63635" y="96243"/>
                  </a:lnTo>
                  <a:lnTo>
                    <a:pt x="96243" y="63635"/>
                  </a:lnTo>
                  <a:lnTo>
                    <a:pt x="133999" y="36942"/>
                  </a:lnTo>
                  <a:lnTo>
                    <a:pt x="176139" y="16929"/>
                  </a:lnTo>
                  <a:lnTo>
                    <a:pt x="221897" y="4359"/>
                  </a:lnTo>
                  <a:lnTo>
                    <a:pt x="270510" y="0"/>
                  </a:lnTo>
                  <a:lnTo>
                    <a:pt x="319122" y="4359"/>
                  </a:lnTo>
                  <a:lnTo>
                    <a:pt x="364880" y="16929"/>
                  </a:lnTo>
                  <a:lnTo>
                    <a:pt x="407020" y="36942"/>
                  </a:lnTo>
                  <a:lnTo>
                    <a:pt x="444776" y="63635"/>
                  </a:lnTo>
                  <a:lnTo>
                    <a:pt x="477384" y="96243"/>
                  </a:lnTo>
                  <a:lnTo>
                    <a:pt x="504077" y="133999"/>
                  </a:lnTo>
                  <a:lnTo>
                    <a:pt x="524090" y="176139"/>
                  </a:lnTo>
                  <a:lnTo>
                    <a:pt x="536660" y="221897"/>
                  </a:lnTo>
                  <a:lnTo>
                    <a:pt x="541019" y="270510"/>
                  </a:lnTo>
                  <a:lnTo>
                    <a:pt x="536660" y="319122"/>
                  </a:lnTo>
                  <a:lnTo>
                    <a:pt x="524090" y="364880"/>
                  </a:lnTo>
                  <a:lnTo>
                    <a:pt x="504077" y="407020"/>
                  </a:lnTo>
                  <a:lnTo>
                    <a:pt x="477384" y="444776"/>
                  </a:lnTo>
                  <a:lnTo>
                    <a:pt x="444776" y="477384"/>
                  </a:lnTo>
                  <a:lnTo>
                    <a:pt x="407020" y="504077"/>
                  </a:lnTo>
                  <a:lnTo>
                    <a:pt x="364880" y="524090"/>
                  </a:lnTo>
                  <a:lnTo>
                    <a:pt x="319122" y="536660"/>
                  </a:lnTo>
                  <a:lnTo>
                    <a:pt x="270510" y="541019"/>
                  </a:lnTo>
                  <a:lnTo>
                    <a:pt x="221897" y="536660"/>
                  </a:lnTo>
                  <a:lnTo>
                    <a:pt x="176139" y="524090"/>
                  </a:lnTo>
                  <a:lnTo>
                    <a:pt x="133999" y="504077"/>
                  </a:lnTo>
                  <a:lnTo>
                    <a:pt x="96243" y="477384"/>
                  </a:lnTo>
                  <a:lnTo>
                    <a:pt x="63635" y="444776"/>
                  </a:lnTo>
                  <a:lnTo>
                    <a:pt x="36942" y="407020"/>
                  </a:lnTo>
                  <a:lnTo>
                    <a:pt x="16929" y="364880"/>
                  </a:lnTo>
                  <a:lnTo>
                    <a:pt x="4359" y="319122"/>
                  </a:lnTo>
                  <a:lnTo>
                    <a:pt x="0" y="270510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5505450" y="429844"/>
            <a:ext cx="205740" cy="392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Calibri"/>
                <a:cs typeface="Calibri"/>
              </a:rPr>
              <a:t>Nó</a:t>
            </a:r>
            <a:endParaRPr sz="12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latin typeface="Calibri"/>
                <a:cs typeface="Calibri"/>
              </a:rPr>
              <a:t>j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2081910" y="596011"/>
            <a:ext cx="6412230" cy="3366770"/>
            <a:chOff x="2081910" y="596011"/>
            <a:chExt cx="6412230" cy="3366770"/>
          </a:xfrm>
        </p:grpSpPr>
        <p:sp>
          <p:nvSpPr>
            <p:cNvPr id="21" name="object 21"/>
            <p:cNvSpPr/>
            <p:nvPr/>
          </p:nvSpPr>
          <p:spPr>
            <a:xfrm>
              <a:off x="2081911" y="596010"/>
              <a:ext cx="1187450" cy="3128010"/>
            </a:xfrm>
            <a:custGeom>
              <a:avLst/>
              <a:gdLst/>
              <a:ahLst/>
              <a:cxnLst/>
              <a:rect l="l" t="t" r="r" b="b"/>
              <a:pathLst>
                <a:path w="1187450" h="3128010">
                  <a:moveTo>
                    <a:pt x="1167218" y="3096133"/>
                  </a:moveTo>
                  <a:lnTo>
                    <a:pt x="1115695" y="3096133"/>
                  </a:lnTo>
                  <a:lnTo>
                    <a:pt x="1103020" y="3096133"/>
                  </a:lnTo>
                  <a:lnTo>
                    <a:pt x="1102868" y="3127883"/>
                  </a:lnTo>
                  <a:lnTo>
                    <a:pt x="1167218" y="3096133"/>
                  </a:lnTo>
                  <a:close/>
                </a:path>
                <a:path w="1187450" h="3128010">
                  <a:moveTo>
                    <a:pt x="1187450" y="124333"/>
                  </a:moveTo>
                  <a:lnTo>
                    <a:pt x="1184783" y="96520"/>
                  </a:lnTo>
                  <a:lnTo>
                    <a:pt x="1179322" y="39497"/>
                  </a:lnTo>
                  <a:lnTo>
                    <a:pt x="1175512" y="40119"/>
                  </a:lnTo>
                  <a:lnTo>
                    <a:pt x="1179322" y="38227"/>
                  </a:lnTo>
                  <a:lnTo>
                    <a:pt x="1145679" y="21361"/>
                  </a:lnTo>
                  <a:lnTo>
                    <a:pt x="1145679" y="108991"/>
                  </a:lnTo>
                  <a:lnTo>
                    <a:pt x="921791" y="690232"/>
                  </a:lnTo>
                  <a:lnTo>
                    <a:pt x="917054" y="686816"/>
                  </a:lnTo>
                  <a:lnTo>
                    <a:pt x="917054" y="702525"/>
                  </a:lnTo>
                  <a:lnTo>
                    <a:pt x="849083" y="878967"/>
                  </a:lnTo>
                  <a:lnTo>
                    <a:pt x="844194" y="878967"/>
                  </a:lnTo>
                  <a:lnTo>
                    <a:pt x="844194" y="891667"/>
                  </a:lnTo>
                  <a:lnTo>
                    <a:pt x="759142" y="1112456"/>
                  </a:lnTo>
                  <a:lnTo>
                    <a:pt x="753643" y="1104519"/>
                  </a:lnTo>
                  <a:lnTo>
                    <a:pt x="753643" y="1126756"/>
                  </a:lnTo>
                  <a:lnTo>
                    <a:pt x="723811" y="1204214"/>
                  </a:lnTo>
                  <a:lnTo>
                    <a:pt x="715492" y="1210183"/>
                  </a:lnTo>
                  <a:lnTo>
                    <a:pt x="715492" y="1225791"/>
                  </a:lnTo>
                  <a:lnTo>
                    <a:pt x="666280" y="1353540"/>
                  </a:lnTo>
                  <a:lnTo>
                    <a:pt x="661568" y="1350149"/>
                  </a:lnTo>
                  <a:lnTo>
                    <a:pt x="661568" y="1365783"/>
                  </a:lnTo>
                  <a:lnTo>
                    <a:pt x="592455" y="1545209"/>
                  </a:lnTo>
                  <a:lnTo>
                    <a:pt x="585647" y="1527492"/>
                  </a:lnTo>
                  <a:lnTo>
                    <a:pt x="585647" y="1562900"/>
                  </a:lnTo>
                  <a:lnTo>
                    <a:pt x="524332" y="1722069"/>
                  </a:lnTo>
                  <a:lnTo>
                    <a:pt x="519442" y="1722056"/>
                  </a:lnTo>
                  <a:lnTo>
                    <a:pt x="519442" y="1734756"/>
                  </a:lnTo>
                  <a:lnTo>
                    <a:pt x="496531" y="1794256"/>
                  </a:lnTo>
                  <a:lnTo>
                    <a:pt x="490512" y="1782940"/>
                  </a:lnTo>
                  <a:lnTo>
                    <a:pt x="490512" y="1809864"/>
                  </a:lnTo>
                  <a:lnTo>
                    <a:pt x="365379" y="2134717"/>
                  </a:lnTo>
                  <a:lnTo>
                    <a:pt x="19900" y="1732965"/>
                  </a:lnTo>
                  <a:lnTo>
                    <a:pt x="450443" y="1734502"/>
                  </a:lnTo>
                  <a:lnTo>
                    <a:pt x="490512" y="1809864"/>
                  </a:lnTo>
                  <a:lnTo>
                    <a:pt x="490512" y="1782940"/>
                  </a:lnTo>
                  <a:lnTo>
                    <a:pt x="464781" y="1734553"/>
                  </a:lnTo>
                  <a:lnTo>
                    <a:pt x="519442" y="1734756"/>
                  </a:lnTo>
                  <a:lnTo>
                    <a:pt x="519442" y="1722056"/>
                  </a:lnTo>
                  <a:lnTo>
                    <a:pt x="458012" y="1721827"/>
                  </a:lnTo>
                  <a:lnTo>
                    <a:pt x="443687" y="1694903"/>
                  </a:lnTo>
                  <a:lnTo>
                    <a:pt x="443687" y="1721777"/>
                  </a:lnTo>
                  <a:lnTo>
                    <a:pt x="26187" y="1720291"/>
                  </a:lnTo>
                  <a:lnTo>
                    <a:pt x="327812" y="1503908"/>
                  </a:lnTo>
                  <a:lnTo>
                    <a:pt x="443687" y="1721777"/>
                  </a:lnTo>
                  <a:lnTo>
                    <a:pt x="443687" y="1694903"/>
                  </a:lnTo>
                  <a:lnTo>
                    <a:pt x="338162" y="1496491"/>
                  </a:lnTo>
                  <a:lnTo>
                    <a:pt x="512165" y="1371663"/>
                  </a:lnTo>
                  <a:lnTo>
                    <a:pt x="585647" y="1562900"/>
                  </a:lnTo>
                  <a:lnTo>
                    <a:pt x="585647" y="1527492"/>
                  </a:lnTo>
                  <a:lnTo>
                    <a:pt x="522846" y="1363992"/>
                  </a:lnTo>
                  <a:lnTo>
                    <a:pt x="591134" y="1315008"/>
                  </a:lnTo>
                  <a:lnTo>
                    <a:pt x="661568" y="1365783"/>
                  </a:lnTo>
                  <a:lnTo>
                    <a:pt x="661568" y="1350149"/>
                  </a:lnTo>
                  <a:lnTo>
                    <a:pt x="602018" y="1307198"/>
                  </a:lnTo>
                  <a:lnTo>
                    <a:pt x="715492" y="1225791"/>
                  </a:lnTo>
                  <a:lnTo>
                    <a:pt x="715492" y="1210183"/>
                  </a:lnTo>
                  <a:lnTo>
                    <a:pt x="591146" y="1299362"/>
                  </a:lnTo>
                  <a:lnTo>
                    <a:pt x="580263" y="1291526"/>
                  </a:lnTo>
                  <a:lnTo>
                    <a:pt x="580263" y="1307172"/>
                  </a:lnTo>
                  <a:lnTo>
                    <a:pt x="518134" y="1351737"/>
                  </a:lnTo>
                  <a:lnTo>
                    <a:pt x="507453" y="1323936"/>
                  </a:lnTo>
                  <a:lnTo>
                    <a:pt x="507453" y="1359395"/>
                  </a:lnTo>
                  <a:lnTo>
                    <a:pt x="332130" y="1485150"/>
                  </a:lnTo>
                  <a:lnTo>
                    <a:pt x="321792" y="1465719"/>
                  </a:lnTo>
                  <a:lnTo>
                    <a:pt x="321792" y="1492567"/>
                  </a:lnTo>
                  <a:lnTo>
                    <a:pt x="32169" y="1700301"/>
                  </a:lnTo>
                  <a:lnTo>
                    <a:pt x="258876" y="1374267"/>
                  </a:lnTo>
                  <a:lnTo>
                    <a:pt x="321792" y="1492567"/>
                  </a:lnTo>
                  <a:lnTo>
                    <a:pt x="321792" y="1465719"/>
                  </a:lnTo>
                  <a:lnTo>
                    <a:pt x="266966" y="1362621"/>
                  </a:lnTo>
                  <a:lnTo>
                    <a:pt x="397256" y="1175258"/>
                  </a:lnTo>
                  <a:lnTo>
                    <a:pt x="451802" y="1214564"/>
                  </a:lnTo>
                  <a:lnTo>
                    <a:pt x="507453" y="1359395"/>
                  </a:lnTo>
                  <a:lnTo>
                    <a:pt x="507453" y="1323936"/>
                  </a:lnTo>
                  <a:lnTo>
                    <a:pt x="470662" y="1228153"/>
                  </a:lnTo>
                  <a:lnTo>
                    <a:pt x="580263" y="1307172"/>
                  </a:lnTo>
                  <a:lnTo>
                    <a:pt x="580263" y="1291526"/>
                  </a:lnTo>
                  <a:lnTo>
                    <a:pt x="462330" y="1206487"/>
                  </a:lnTo>
                  <a:lnTo>
                    <a:pt x="443471" y="1157414"/>
                  </a:lnTo>
                  <a:lnTo>
                    <a:pt x="443471" y="1192885"/>
                  </a:lnTo>
                  <a:lnTo>
                    <a:pt x="404507" y="1164805"/>
                  </a:lnTo>
                  <a:lnTo>
                    <a:pt x="422656" y="1138720"/>
                  </a:lnTo>
                  <a:lnTo>
                    <a:pt x="443471" y="1192885"/>
                  </a:lnTo>
                  <a:lnTo>
                    <a:pt x="443471" y="1157414"/>
                  </a:lnTo>
                  <a:lnTo>
                    <a:pt x="431431" y="1126083"/>
                  </a:lnTo>
                  <a:lnTo>
                    <a:pt x="592607" y="894295"/>
                  </a:lnTo>
                  <a:lnTo>
                    <a:pt x="753643" y="1126756"/>
                  </a:lnTo>
                  <a:lnTo>
                    <a:pt x="753643" y="1104519"/>
                  </a:lnTo>
                  <a:lnTo>
                    <a:pt x="606183" y="891667"/>
                  </a:lnTo>
                  <a:lnTo>
                    <a:pt x="844194" y="891667"/>
                  </a:lnTo>
                  <a:lnTo>
                    <a:pt x="844194" y="878967"/>
                  </a:lnTo>
                  <a:lnTo>
                    <a:pt x="603262" y="878967"/>
                  </a:lnTo>
                  <a:lnTo>
                    <a:pt x="789851" y="610628"/>
                  </a:lnTo>
                  <a:lnTo>
                    <a:pt x="917054" y="702525"/>
                  </a:lnTo>
                  <a:lnTo>
                    <a:pt x="917054" y="686816"/>
                  </a:lnTo>
                  <a:lnTo>
                    <a:pt x="797128" y="600163"/>
                  </a:lnTo>
                  <a:lnTo>
                    <a:pt x="1137056" y="111290"/>
                  </a:lnTo>
                  <a:lnTo>
                    <a:pt x="1139698" y="114935"/>
                  </a:lnTo>
                  <a:lnTo>
                    <a:pt x="1143584" y="107518"/>
                  </a:lnTo>
                  <a:lnTo>
                    <a:pt x="1145679" y="108991"/>
                  </a:lnTo>
                  <a:lnTo>
                    <a:pt x="1145679" y="21361"/>
                  </a:lnTo>
                  <a:lnTo>
                    <a:pt x="1128369" y="12674"/>
                  </a:lnTo>
                  <a:lnTo>
                    <a:pt x="1128369" y="101561"/>
                  </a:lnTo>
                  <a:lnTo>
                    <a:pt x="786841" y="592734"/>
                  </a:lnTo>
                  <a:lnTo>
                    <a:pt x="779564" y="587489"/>
                  </a:lnTo>
                  <a:lnTo>
                    <a:pt x="779564" y="603199"/>
                  </a:lnTo>
                  <a:lnTo>
                    <a:pt x="592607" y="872083"/>
                  </a:lnTo>
                  <a:lnTo>
                    <a:pt x="581990" y="856767"/>
                  </a:lnTo>
                  <a:lnTo>
                    <a:pt x="581990" y="878967"/>
                  </a:lnTo>
                  <a:lnTo>
                    <a:pt x="578980" y="878967"/>
                  </a:lnTo>
                  <a:lnTo>
                    <a:pt x="578980" y="891667"/>
                  </a:lnTo>
                  <a:lnTo>
                    <a:pt x="425945" y="1111783"/>
                  </a:lnTo>
                  <a:lnTo>
                    <a:pt x="417156" y="1088910"/>
                  </a:lnTo>
                  <a:lnTo>
                    <a:pt x="417156" y="1124419"/>
                  </a:lnTo>
                  <a:lnTo>
                    <a:pt x="394220" y="1157389"/>
                  </a:lnTo>
                  <a:lnTo>
                    <a:pt x="386969" y="1152169"/>
                  </a:lnTo>
                  <a:lnTo>
                    <a:pt x="386969" y="1167841"/>
                  </a:lnTo>
                  <a:lnTo>
                    <a:pt x="260273" y="1350035"/>
                  </a:lnTo>
                  <a:lnTo>
                    <a:pt x="24333" y="906424"/>
                  </a:lnTo>
                  <a:lnTo>
                    <a:pt x="386969" y="1167841"/>
                  </a:lnTo>
                  <a:lnTo>
                    <a:pt x="386969" y="1152169"/>
                  </a:lnTo>
                  <a:lnTo>
                    <a:pt x="25679" y="891667"/>
                  </a:lnTo>
                  <a:lnTo>
                    <a:pt x="327736" y="891667"/>
                  </a:lnTo>
                  <a:lnTo>
                    <a:pt x="417156" y="1124419"/>
                  </a:lnTo>
                  <a:lnTo>
                    <a:pt x="417156" y="1088910"/>
                  </a:lnTo>
                  <a:lnTo>
                    <a:pt x="341388" y="891667"/>
                  </a:lnTo>
                  <a:lnTo>
                    <a:pt x="578980" y="891667"/>
                  </a:lnTo>
                  <a:lnTo>
                    <a:pt x="578980" y="878967"/>
                  </a:lnTo>
                  <a:lnTo>
                    <a:pt x="336511" y="878967"/>
                  </a:lnTo>
                  <a:lnTo>
                    <a:pt x="322859" y="843445"/>
                  </a:lnTo>
                  <a:lnTo>
                    <a:pt x="322859" y="878967"/>
                  </a:lnTo>
                  <a:lnTo>
                    <a:pt x="25679" y="878967"/>
                  </a:lnTo>
                  <a:lnTo>
                    <a:pt x="258381" y="711200"/>
                  </a:lnTo>
                  <a:lnTo>
                    <a:pt x="322859" y="878967"/>
                  </a:lnTo>
                  <a:lnTo>
                    <a:pt x="322859" y="843445"/>
                  </a:lnTo>
                  <a:lnTo>
                    <a:pt x="269087" y="703491"/>
                  </a:lnTo>
                  <a:lnTo>
                    <a:pt x="396684" y="611505"/>
                  </a:lnTo>
                  <a:lnTo>
                    <a:pt x="581990" y="878967"/>
                  </a:lnTo>
                  <a:lnTo>
                    <a:pt x="581990" y="856767"/>
                  </a:lnTo>
                  <a:lnTo>
                    <a:pt x="406933" y="604113"/>
                  </a:lnTo>
                  <a:lnTo>
                    <a:pt x="594080" y="469188"/>
                  </a:lnTo>
                  <a:lnTo>
                    <a:pt x="779564" y="603199"/>
                  </a:lnTo>
                  <a:lnTo>
                    <a:pt x="779564" y="587489"/>
                  </a:lnTo>
                  <a:lnTo>
                    <a:pt x="604964" y="461340"/>
                  </a:lnTo>
                  <a:lnTo>
                    <a:pt x="1119263" y="90563"/>
                  </a:lnTo>
                  <a:lnTo>
                    <a:pt x="1121537" y="92151"/>
                  </a:lnTo>
                  <a:lnTo>
                    <a:pt x="1116330" y="96901"/>
                  </a:lnTo>
                  <a:lnTo>
                    <a:pt x="1128369" y="101561"/>
                  </a:lnTo>
                  <a:lnTo>
                    <a:pt x="1128369" y="12674"/>
                  </a:lnTo>
                  <a:lnTo>
                    <a:pt x="1111783" y="4356"/>
                  </a:lnTo>
                  <a:lnTo>
                    <a:pt x="1111783" y="76314"/>
                  </a:lnTo>
                  <a:lnTo>
                    <a:pt x="1104519" y="80264"/>
                  </a:lnTo>
                  <a:lnTo>
                    <a:pt x="1108278" y="82892"/>
                  </a:lnTo>
                  <a:lnTo>
                    <a:pt x="594118" y="453504"/>
                  </a:lnTo>
                  <a:lnTo>
                    <a:pt x="583234" y="445643"/>
                  </a:lnTo>
                  <a:lnTo>
                    <a:pt x="583234" y="461352"/>
                  </a:lnTo>
                  <a:lnTo>
                    <a:pt x="399694" y="593648"/>
                  </a:lnTo>
                  <a:lnTo>
                    <a:pt x="389432" y="578840"/>
                  </a:lnTo>
                  <a:lnTo>
                    <a:pt x="389432" y="601052"/>
                  </a:lnTo>
                  <a:lnTo>
                    <a:pt x="264363" y="691197"/>
                  </a:lnTo>
                  <a:lnTo>
                    <a:pt x="30886" y="83502"/>
                  </a:lnTo>
                  <a:lnTo>
                    <a:pt x="389432" y="601052"/>
                  </a:lnTo>
                  <a:lnTo>
                    <a:pt x="389432" y="578840"/>
                  </a:lnTo>
                  <a:lnTo>
                    <a:pt x="32232" y="63296"/>
                  </a:lnTo>
                  <a:lnTo>
                    <a:pt x="583234" y="461352"/>
                  </a:lnTo>
                  <a:lnTo>
                    <a:pt x="583234" y="445643"/>
                  </a:lnTo>
                  <a:lnTo>
                    <a:pt x="25692" y="42837"/>
                  </a:lnTo>
                  <a:lnTo>
                    <a:pt x="1103045" y="44564"/>
                  </a:lnTo>
                  <a:lnTo>
                    <a:pt x="1103033" y="51930"/>
                  </a:lnTo>
                  <a:lnTo>
                    <a:pt x="1095121" y="53213"/>
                  </a:lnTo>
                  <a:lnTo>
                    <a:pt x="1103007" y="64147"/>
                  </a:lnTo>
                  <a:lnTo>
                    <a:pt x="1102995" y="76200"/>
                  </a:lnTo>
                  <a:lnTo>
                    <a:pt x="1109408" y="73012"/>
                  </a:lnTo>
                  <a:lnTo>
                    <a:pt x="1111783" y="76314"/>
                  </a:lnTo>
                  <a:lnTo>
                    <a:pt x="1111783" y="4356"/>
                  </a:lnTo>
                  <a:lnTo>
                    <a:pt x="1103122" y="0"/>
                  </a:lnTo>
                  <a:lnTo>
                    <a:pt x="1103058" y="31864"/>
                  </a:lnTo>
                  <a:lnTo>
                    <a:pt x="5969" y="30099"/>
                  </a:lnTo>
                  <a:lnTo>
                    <a:pt x="5969" y="36449"/>
                  </a:lnTo>
                  <a:lnTo>
                    <a:pt x="0" y="38735"/>
                  </a:lnTo>
                  <a:lnTo>
                    <a:pt x="253669" y="698906"/>
                  </a:lnTo>
                  <a:lnTo>
                    <a:pt x="2286" y="880110"/>
                  </a:lnTo>
                  <a:lnTo>
                    <a:pt x="5969" y="885317"/>
                  </a:lnTo>
                  <a:lnTo>
                    <a:pt x="381" y="888238"/>
                  </a:lnTo>
                  <a:lnTo>
                    <a:pt x="252183" y="1361681"/>
                  </a:lnTo>
                  <a:lnTo>
                    <a:pt x="762" y="1723263"/>
                  </a:lnTo>
                  <a:lnTo>
                    <a:pt x="5753" y="1726755"/>
                  </a:lnTo>
                  <a:lnTo>
                    <a:pt x="1143" y="1730756"/>
                  </a:lnTo>
                  <a:lnTo>
                    <a:pt x="360172" y="2148255"/>
                  </a:lnTo>
                  <a:lnTo>
                    <a:pt x="0" y="3083306"/>
                  </a:lnTo>
                  <a:lnTo>
                    <a:pt x="5537" y="3085439"/>
                  </a:lnTo>
                  <a:lnTo>
                    <a:pt x="5969" y="3085681"/>
                  </a:lnTo>
                  <a:lnTo>
                    <a:pt x="5969" y="3090799"/>
                  </a:lnTo>
                  <a:lnTo>
                    <a:pt x="1103020" y="3096082"/>
                  </a:lnTo>
                  <a:lnTo>
                    <a:pt x="1115695" y="3096133"/>
                  </a:lnTo>
                  <a:lnTo>
                    <a:pt x="1167345" y="3096082"/>
                  </a:lnTo>
                  <a:lnTo>
                    <a:pt x="1178356" y="3090646"/>
                  </a:lnTo>
                  <a:lnTo>
                    <a:pt x="1179322" y="3091307"/>
                  </a:lnTo>
                  <a:lnTo>
                    <a:pt x="1179309" y="3090926"/>
                  </a:lnTo>
                  <a:lnTo>
                    <a:pt x="1179283" y="3090189"/>
                  </a:lnTo>
                  <a:lnTo>
                    <a:pt x="1179283" y="3090011"/>
                  </a:lnTo>
                  <a:lnTo>
                    <a:pt x="1184770" y="3033141"/>
                  </a:lnTo>
                  <a:lnTo>
                    <a:pt x="1187450" y="3005328"/>
                  </a:lnTo>
                  <a:lnTo>
                    <a:pt x="1177239" y="3009252"/>
                  </a:lnTo>
                  <a:lnTo>
                    <a:pt x="1177163" y="3006090"/>
                  </a:lnTo>
                  <a:lnTo>
                    <a:pt x="1160183" y="3015119"/>
                  </a:lnTo>
                  <a:lnTo>
                    <a:pt x="1158494" y="3008376"/>
                  </a:lnTo>
                  <a:lnTo>
                    <a:pt x="1155598" y="3010865"/>
                  </a:lnTo>
                  <a:lnTo>
                    <a:pt x="1137818" y="2964599"/>
                  </a:lnTo>
                  <a:lnTo>
                    <a:pt x="1137818" y="2999854"/>
                  </a:lnTo>
                  <a:lnTo>
                    <a:pt x="1136738" y="2997835"/>
                  </a:lnTo>
                  <a:lnTo>
                    <a:pt x="1136738" y="3024797"/>
                  </a:lnTo>
                  <a:lnTo>
                    <a:pt x="1132306" y="3026499"/>
                  </a:lnTo>
                  <a:lnTo>
                    <a:pt x="1120355" y="3012605"/>
                  </a:lnTo>
                  <a:lnTo>
                    <a:pt x="1120355" y="3036316"/>
                  </a:lnTo>
                  <a:lnTo>
                    <a:pt x="1109853" y="3041904"/>
                  </a:lnTo>
                  <a:lnTo>
                    <a:pt x="1115110" y="3045650"/>
                  </a:lnTo>
                  <a:lnTo>
                    <a:pt x="1106297" y="3053232"/>
                  </a:lnTo>
                  <a:lnTo>
                    <a:pt x="1103249" y="3051683"/>
                  </a:lnTo>
                  <a:lnTo>
                    <a:pt x="1103223" y="3055874"/>
                  </a:lnTo>
                  <a:lnTo>
                    <a:pt x="1100709" y="3058033"/>
                  </a:lnTo>
                  <a:lnTo>
                    <a:pt x="1103198" y="3059087"/>
                  </a:lnTo>
                  <a:lnTo>
                    <a:pt x="1103083" y="3083382"/>
                  </a:lnTo>
                  <a:lnTo>
                    <a:pt x="20853" y="3078175"/>
                  </a:lnTo>
                  <a:lnTo>
                    <a:pt x="592429" y="2418346"/>
                  </a:lnTo>
                  <a:lnTo>
                    <a:pt x="1119632" y="3031363"/>
                  </a:lnTo>
                  <a:lnTo>
                    <a:pt x="1116330" y="3032633"/>
                  </a:lnTo>
                  <a:lnTo>
                    <a:pt x="1120355" y="3036316"/>
                  </a:lnTo>
                  <a:lnTo>
                    <a:pt x="1120355" y="3012605"/>
                  </a:lnTo>
                  <a:lnTo>
                    <a:pt x="600887" y="2408580"/>
                  </a:lnTo>
                  <a:lnTo>
                    <a:pt x="729805" y="2259749"/>
                  </a:lnTo>
                  <a:lnTo>
                    <a:pt x="1136738" y="3024797"/>
                  </a:lnTo>
                  <a:lnTo>
                    <a:pt x="1136738" y="2997835"/>
                  </a:lnTo>
                  <a:lnTo>
                    <a:pt x="738670" y="2249513"/>
                  </a:lnTo>
                  <a:lnTo>
                    <a:pt x="815416" y="2160917"/>
                  </a:lnTo>
                  <a:lnTo>
                    <a:pt x="1137818" y="2999854"/>
                  </a:lnTo>
                  <a:lnTo>
                    <a:pt x="1137818" y="2964599"/>
                  </a:lnTo>
                  <a:lnTo>
                    <a:pt x="824839" y="2150033"/>
                  </a:lnTo>
                  <a:lnTo>
                    <a:pt x="1134211" y="1792897"/>
                  </a:lnTo>
                  <a:lnTo>
                    <a:pt x="1158240" y="1813687"/>
                  </a:lnTo>
                  <a:lnTo>
                    <a:pt x="1168120" y="1774952"/>
                  </a:lnTo>
                  <a:lnTo>
                    <a:pt x="1179322" y="1731137"/>
                  </a:lnTo>
                  <a:lnTo>
                    <a:pt x="1174623" y="1733092"/>
                  </a:lnTo>
                  <a:lnTo>
                    <a:pt x="1178737" y="1731048"/>
                  </a:lnTo>
                  <a:lnTo>
                    <a:pt x="1179322" y="1731137"/>
                  </a:lnTo>
                  <a:lnTo>
                    <a:pt x="1179156" y="1730844"/>
                  </a:lnTo>
                  <a:lnTo>
                    <a:pt x="1179322" y="1730756"/>
                  </a:lnTo>
                  <a:lnTo>
                    <a:pt x="1179042" y="1730629"/>
                  </a:lnTo>
                  <a:lnTo>
                    <a:pt x="1178382" y="1729359"/>
                  </a:lnTo>
                  <a:lnTo>
                    <a:pt x="1179322" y="1729867"/>
                  </a:lnTo>
                  <a:lnTo>
                    <a:pt x="1172375" y="1681353"/>
                  </a:lnTo>
                  <a:lnTo>
                    <a:pt x="1167257" y="1645539"/>
                  </a:lnTo>
                  <a:lnTo>
                    <a:pt x="1143127" y="1662252"/>
                  </a:lnTo>
                  <a:lnTo>
                    <a:pt x="1139698" y="1655699"/>
                  </a:lnTo>
                  <a:lnTo>
                    <a:pt x="1137577" y="1658620"/>
                  </a:lnTo>
                  <a:lnTo>
                    <a:pt x="1129703" y="1647266"/>
                  </a:lnTo>
                  <a:lnTo>
                    <a:pt x="1129703" y="1669529"/>
                  </a:lnTo>
                  <a:lnTo>
                    <a:pt x="1126807" y="1673542"/>
                  </a:lnTo>
                  <a:lnTo>
                    <a:pt x="1124546" y="1675117"/>
                  </a:lnTo>
                  <a:lnTo>
                    <a:pt x="1124546" y="1784527"/>
                  </a:lnTo>
                  <a:lnTo>
                    <a:pt x="819658" y="2136533"/>
                  </a:lnTo>
                  <a:lnTo>
                    <a:pt x="810234" y="2112010"/>
                  </a:lnTo>
                  <a:lnTo>
                    <a:pt x="810234" y="2147417"/>
                  </a:lnTo>
                  <a:lnTo>
                    <a:pt x="732256" y="2237448"/>
                  </a:lnTo>
                  <a:lnTo>
                    <a:pt x="723379" y="2220760"/>
                  </a:lnTo>
                  <a:lnTo>
                    <a:pt x="723379" y="2247684"/>
                  </a:lnTo>
                  <a:lnTo>
                    <a:pt x="592480" y="2398814"/>
                  </a:lnTo>
                  <a:lnTo>
                    <a:pt x="584022" y="2388984"/>
                  </a:lnTo>
                  <a:lnTo>
                    <a:pt x="584022" y="2408580"/>
                  </a:lnTo>
                  <a:lnTo>
                    <a:pt x="38100" y="3038868"/>
                  </a:lnTo>
                  <a:lnTo>
                    <a:pt x="454494" y="2257945"/>
                  </a:lnTo>
                  <a:lnTo>
                    <a:pt x="584022" y="2408580"/>
                  </a:lnTo>
                  <a:lnTo>
                    <a:pt x="584022" y="2388984"/>
                  </a:lnTo>
                  <a:lnTo>
                    <a:pt x="460946" y="2245842"/>
                  </a:lnTo>
                  <a:lnTo>
                    <a:pt x="591845" y="2000377"/>
                  </a:lnTo>
                  <a:lnTo>
                    <a:pt x="723379" y="2247684"/>
                  </a:lnTo>
                  <a:lnTo>
                    <a:pt x="723379" y="2220760"/>
                  </a:lnTo>
                  <a:lnTo>
                    <a:pt x="599008" y="1986940"/>
                  </a:lnTo>
                  <a:lnTo>
                    <a:pt x="685927" y="1823923"/>
                  </a:lnTo>
                  <a:lnTo>
                    <a:pt x="810234" y="2147417"/>
                  </a:lnTo>
                  <a:lnTo>
                    <a:pt x="810234" y="2112010"/>
                  </a:lnTo>
                  <a:lnTo>
                    <a:pt x="693851" y="1809076"/>
                  </a:lnTo>
                  <a:lnTo>
                    <a:pt x="733082" y="1735505"/>
                  </a:lnTo>
                  <a:lnTo>
                    <a:pt x="1103096" y="1736813"/>
                  </a:lnTo>
                  <a:lnTo>
                    <a:pt x="1103007" y="1762772"/>
                  </a:lnTo>
                  <a:lnTo>
                    <a:pt x="1100582" y="1763776"/>
                  </a:lnTo>
                  <a:lnTo>
                    <a:pt x="1102995" y="1765884"/>
                  </a:lnTo>
                  <a:lnTo>
                    <a:pt x="1102995" y="1768602"/>
                  </a:lnTo>
                  <a:lnTo>
                    <a:pt x="1105001" y="1767611"/>
                  </a:lnTo>
                  <a:lnTo>
                    <a:pt x="1124546" y="1784527"/>
                  </a:lnTo>
                  <a:lnTo>
                    <a:pt x="1124546" y="1675117"/>
                  </a:lnTo>
                  <a:lnTo>
                    <a:pt x="1118323" y="1679409"/>
                  </a:lnTo>
                  <a:lnTo>
                    <a:pt x="1112507" y="1675218"/>
                  </a:lnTo>
                  <a:lnTo>
                    <a:pt x="1112507" y="1693354"/>
                  </a:lnTo>
                  <a:lnTo>
                    <a:pt x="1110538" y="1696085"/>
                  </a:lnTo>
                  <a:lnTo>
                    <a:pt x="1103249" y="1692402"/>
                  </a:lnTo>
                  <a:lnTo>
                    <a:pt x="1103198" y="1706245"/>
                  </a:lnTo>
                  <a:lnTo>
                    <a:pt x="1095121" y="1717421"/>
                  </a:lnTo>
                  <a:lnTo>
                    <a:pt x="1103147" y="1718741"/>
                  </a:lnTo>
                  <a:lnTo>
                    <a:pt x="1103134" y="1724113"/>
                  </a:lnTo>
                  <a:lnTo>
                    <a:pt x="739838" y="1722843"/>
                  </a:lnTo>
                  <a:lnTo>
                    <a:pt x="855624" y="1505673"/>
                  </a:lnTo>
                  <a:lnTo>
                    <a:pt x="1107287" y="1687055"/>
                  </a:lnTo>
                  <a:lnTo>
                    <a:pt x="1104519" y="1688973"/>
                  </a:lnTo>
                  <a:lnTo>
                    <a:pt x="1112507" y="1693354"/>
                  </a:lnTo>
                  <a:lnTo>
                    <a:pt x="1112507" y="1675218"/>
                  </a:lnTo>
                  <a:lnTo>
                    <a:pt x="861656" y="1494383"/>
                  </a:lnTo>
                  <a:lnTo>
                    <a:pt x="925449" y="1374736"/>
                  </a:lnTo>
                  <a:lnTo>
                    <a:pt x="1129703" y="1669529"/>
                  </a:lnTo>
                  <a:lnTo>
                    <a:pt x="1129703" y="1647266"/>
                  </a:lnTo>
                  <a:lnTo>
                    <a:pt x="932154" y="1362163"/>
                  </a:lnTo>
                  <a:lnTo>
                    <a:pt x="1148981" y="955535"/>
                  </a:lnTo>
                  <a:lnTo>
                    <a:pt x="1177036" y="970534"/>
                  </a:lnTo>
                  <a:lnTo>
                    <a:pt x="1177886" y="938403"/>
                  </a:lnTo>
                  <a:lnTo>
                    <a:pt x="1179322" y="885317"/>
                  </a:lnTo>
                  <a:lnTo>
                    <a:pt x="1175550" y="883437"/>
                  </a:lnTo>
                  <a:lnTo>
                    <a:pt x="1179322" y="884047"/>
                  </a:lnTo>
                  <a:lnTo>
                    <a:pt x="1162558" y="852043"/>
                  </a:lnTo>
                  <a:lnTo>
                    <a:pt x="1139825" y="808609"/>
                  </a:lnTo>
                  <a:lnTo>
                    <a:pt x="1135164" y="815073"/>
                  </a:lnTo>
                  <a:lnTo>
                    <a:pt x="1135164" y="954506"/>
                  </a:lnTo>
                  <a:lnTo>
                    <a:pt x="924039" y="1350441"/>
                  </a:lnTo>
                  <a:lnTo>
                    <a:pt x="917333" y="1340764"/>
                  </a:lnTo>
                  <a:lnTo>
                    <a:pt x="917333" y="1363014"/>
                  </a:lnTo>
                  <a:lnTo>
                    <a:pt x="851281" y="1486903"/>
                  </a:lnTo>
                  <a:lnTo>
                    <a:pt x="845248" y="1482559"/>
                  </a:lnTo>
                  <a:lnTo>
                    <a:pt x="845248" y="1498193"/>
                  </a:lnTo>
                  <a:lnTo>
                    <a:pt x="725500" y="1722793"/>
                  </a:lnTo>
                  <a:lnTo>
                    <a:pt x="718743" y="1722780"/>
                  </a:lnTo>
                  <a:lnTo>
                    <a:pt x="718743" y="1735455"/>
                  </a:lnTo>
                  <a:lnTo>
                    <a:pt x="687832" y="1793430"/>
                  </a:lnTo>
                  <a:lnTo>
                    <a:pt x="679919" y="1772831"/>
                  </a:lnTo>
                  <a:lnTo>
                    <a:pt x="679919" y="1808264"/>
                  </a:lnTo>
                  <a:lnTo>
                    <a:pt x="591832" y="1973453"/>
                  </a:lnTo>
                  <a:lnTo>
                    <a:pt x="584669" y="1959991"/>
                  </a:lnTo>
                  <a:lnTo>
                    <a:pt x="584669" y="1986889"/>
                  </a:lnTo>
                  <a:lnTo>
                    <a:pt x="452081" y="2235543"/>
                  </a:lnTo>
                  <a:lnTo>
                    <a:pt x="445630" y="2228050"/>
                  </a:lnTo>
                  <a:lnTo>
                    <a:pt x="445630" y="2247646"/>
                  </a:lnTo>
                  <a:lnTo>
                    <a:pt x="49225" y="2991066"/>
                  </a:lnTo>
                  <a:lnTo>
                    <a:pt x="369620" y="2159241"/>
                  </a:lnTo>
                  <a:lnTo>
                    <a:pt x="445630" y="2247646"/>
                  </a:lnTo>
                  <a:lnTo>
                    <a:pt x="445630" y="2228050"/>
                  </a:lnTo>
                  <a:lnTo>
                    <a:pt x="374840" y="2145703"/>
                  </a:lnTo>
                  <a:lnTo>
                    <a:pt x="498449" y="1824774"/>
                  </a:lnTo>
                  <a:lnTo>
                    <a:pt x="584669" y="1986889"/>
                  </a:lnTo>
                  <a:lnTo>
                    <a:pt x="584669" y="1959991"/>
                  </a:lnTo>
                  <a:lnTo>
                    <a:pt x="504456" y="1809165"/>
                  </a:lnTo>
                  <a:lnTo>
                    <a:pt x="533107" y="1734794"/>
                  </a:lnTo>
                  <a:lnTo>
                    <a:pt x="651852" y="1735213"/>
                  </a:lnTo>
                  <a:lnTo>
                    <a:pt x="679919" y="1808264"/>
                  </a:lnTo>
                  <a:lnTo>
                    <a:pt x="679919" y="1772831"/>
                  </a:lnTo>
                  <a:lnTo>
                    <a:pt x="665492" y="1735264"/>
                  </a:lnTo>
                  <a:lnTo>
                    <a:pt x="718743" y="1735455"/>
                  </a:lnTo>
                  <a:lnTo>
                    <a:pt x="718743" y="1722780"/>
                  </a:lnTo>
                  <a:lnTo>
                    <a:pt x="660603" y="1722551"/>
                  </a:lnTo>
                  <a:lnTo>
                    <a:pt x="646976" y="1687093"/>
                  </a:lnTo>
                  <a:lnTo>
                    <a:pt x="646976" y="1722501"/>
                  </a:lnTo>
                  <a:lnTo>
                    <a:pt x="537997" y="1722120"/>
                  </a:lnTo>
                  <a:lnTo>
                    <a:pt x="592467" y="1580680"/>
                  </a:lnTo>
                  <a:lnTo>
                    <a:pt x="646976" y="1722501"/>
                  </a:lnTo>
                  <a:lnTo>
                    <a:pt x="646976" y="1687093"/>
                  </a:lnTo>
                  <a:lnTo>
                    <a:pt x="599287" y="1562976"/>
                  </a:lnTo>
                  <a:lnTo>
                    <a:pt x="672274" y="1373505"/>
                  </a:lnTo>
                  <a:lnTo>
                    <a:pt x="845248" y="1498193"/>
                  </a:lnTo>
                  <a:lnTo>
                    <a:pt x="845248" y="1482559"/>
                  </a:lnTo>
                  <a:lnTo>
                    <a:pt x="676986" y="1361249"/>
                  </a:lnTo>
                  <a:lnTo>
                    <a:pt x="734390" y="1212240"/>
                  </a:lnTo>
                  <a:lnTo>
                    <a:pt x="786815" y="1174623"/>
                  </a:lnTo>
                  <a:lnTo>
                    <a:pt x="917333" y="1363014"/>
                  </a:lnTo>
                  <a:lnTo>
                    <a:pt x="917333" y="1340764"/>
                  </a:lnTo>
                  <a:lnTo>
                    <a:pt x="797115" y="1167244"/>
                  </a:lnTo>
                  <a:lnTo>
                    <a:pt x="1116469" y="938149"/>
                  </a:lnTo>
                  <a:lnTo>
                    <a:pt x="1127721" y="944168"/>
                  </a:lnTo>
                  <a:lnTo>
                    <a:pt x="1135164" y="954506"/>
                  </a:lnTo>
                  <a:lnTo>
                    <a:pt x="1135164" y="815073"/>
                  </a:lnTo>
                  <a:lnTo>
                    <a:pt x="1121257" y="834313"/>
                  </a:lnTo>
                  <a:lnTo>
                    <a:pt x="1113802" y="828941"/>
                  </a:lnTo>
                  <a:lnTo>
                    <a:pt x="1113802" y="844638"/>
                  </a:lnTo>
                  <a:lnTo>
                    <a:pt x="1113650" y="844854"/>
                  </a:lnTo>
                  <a:lnTo>
                    <a:pt x="1113650" y="924585"/>
                  </a:lnTo>
                  <a:lnTo>
                    <a:pt x="789889" y="1156817"/>
                  </a:lnTo>
                  <a:lnTo>
                    <a:pt x="779589" y="1141971"/>
                  </a:lnTo>
                  <a:lnTo>
                    <a:pt x="779589" y="1164196"/>
                  </a:lnTo>
                  <a:lnTo>
                    <a:pt x="742696" y="1190663"/>
                  </a:lnTo>
                  <a:lnTo>
                    <a:pt x="762431" y="1139431"/>
                  </a:lnTo>
                  <a:lnTo>
                    <a:pt x="779589" y="1164196"/>
                  </a:lnTo>
                  <a:lnTo>
                    <a:pt x="779589" y="1141971"/>
                  </a:lnTo>
                  <a:lnTo>
                    <a:pt x="767930" y="1125143"/>
                  </a:lnTo>
                  <a:lnTo>
                    <a:pt x="857859" y="891667"/>
                  </a:lnTo>
                  <a:lnTo>
                    <a:pt x="1103122" y="891667"/>
                  </a:lnTo>
                  <a:lnTo>
                    <a:pt x="1103122" y="897509"/>
                  </a:lnTo>
                  <a:lnTo>
                    <a:pt x="1095121" y="898779"/>
                  </a:lnTo>
                  <a:lnTo>
                    <a:pt x="1103122" y="909929"/>
                  </a:lnTo>
                  <a:lnTo>
                    <a:pt x="1103122" y="923417"/>
                  </a:lnTo>
                  <a:lnTo>
                    <a:pt x="1110246" y="919861"/>
                  </a:lnTo>
                  <a:lnTo>
                    <a:pt x="1113650" y="924585"/>
                  </a:lnTo>
                  <a:lnTo>
                    <a:pt x="1113650" y="844854"/>
                  </a:lnTo>
                  <a:lnTo>
                    <a:pt x="1109599" y="850468"/>
                  </a:lnTo>
                  <a:lnTo>
                    <a:pt x="1103122" y="847217"/>
                  </a:lnTo>
                  <a:lnTo>
                    <a:pt x="1103122" y="859434"/>
                  </a:lnTo>
                  <a:lnTo>
                    <a:pt x="1095248" y="870331"/>
                  </a:lnTo>
                  <a:lnTo>
                    <a:pt x="1103122" y="871626"/>
                  </a:lnTo>
                  <a:lnTo>
                    <a:pt x="1103122" y="878967"/>
                  </a:lnTo>
                  <a:lnTo>
                    <a:pt x="862749" y="878967"/>
                  </a:lnTo>
                  <a:lnTo>
                    <a:pt x="927735" y="710247"/>
                  </a:lnTo>
                  <a:lnTo>
                    <a:pt x="1113802" y="844638"/>
                  </a:lnTo>
                  <a:lnTo>
                    <a:pt x="1113802" y="828941"/>
                  </a:lnTo>
                  <a:lnTo>
                    <a:pt x="932472" y="697953"/>
                  </a:lnTo>
                  <a:lnTo>
                    <a:pt x="1156449" y="116484"/>
                  </a:lnTo>
                  <a:lnTo>
                    <a:pt x="1167003" y="123825"/>
                  </a:lnTo>
                  <a:lnTo>
                    <a:pt x="1168019" y="116852"/>
                  </a:lnTo>
                  <a:lnTo>
                    <a:pt x="1187450" y="12433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337047" y="1210055"/>
              <a:ext cx="541020" cy="541020"/>
            </a:xfrm>
            <a:custGeom>
              <a:avLst/>
              <a:gdLst/>
              <a:ahLst/>
              <a:cxnLst/>
              <a:rect l="l" t="t" r="r" b="b"/>
              <a:pathLst>
                <a:path w="541020" h="541019">
                  <a:moveTo>
                    <a:pt x="270510" y="0"/>
                  </a:moveTo>
                  <a:lnTo>
                    <a:pt x="221897" y="4359"/>
                  </a:lnTo>
                  <a:lnTo>
                    <a:pt x="176139" y="16929"/>
                  </a:lnTo>
                  <a:lnTo>
                    <a:pt x="133999" y="36942"/>
                  </a:lnTo>
                  <a:lnTo>
                    <a:pt x="96243" y="63635"/>
                  </a:lnTo>
                  <a:lnTo>
                    <a:pt x="63635" y="96243"/>
                  </a:lnTo>
                  <a:lnTo>
                    <a:pt x="36942" y="133999"/>
                  </a:lnTo>
                  <a:lnTo>
                    <a:pt x="16929" y="176139"/>
                  </a:lnTo>
                  <a:lnTo>
                    <a:pt x="4359" y="221897"/>
                  </a:lnTo>
                  <a:lnTo>
                    <a:pt x="0" y="270510"/>
                  </a:lnTo>
                  <a:lnTo>
                    <a:pt x="4359" y="319122"/>
                  </a:lnTo>
                  <a:lnTo>
                    <a:pt x="16929" y="364880"/>
                  </a:lnTo>
                  <a:lnTo>
                    <a:pt x="36942" y="407020"/>
                  </a:lnTo>
                  <a:lnTo>
                    <a:pt x="63635" y="444776"/>
                  </a:lnTo>
                  <a:lnTo>
                    <a:pt x="96243" y="477384"/>
                  </a:lnTo>
                  <a:lnTo>
                    <a:pt x="133999" y="504077"/>
                  </a:lnTo>
                  <a:lnTo>
                    <a:pt x="176139" y="524090"/>
                  </a:lnTo>
                  <a:lnTo>
                    <a:pt x="221897" y="536660"/>
                  </a:lnTo>
                  <a:lnTo>
                    <a:pt x="270510" y="541020"/>
                  </a:lnTo>
                  <a:lnTo>
                    <a:pt x="319122" y="536660"/>
                  </a:lnTo>
                  <a:lnTo>
                    <a:pt x="364880" y="524090"/>
                  </a:lnTo>
                  <a:lnTo>
                    <a:pt x="407020" y="504077"/>
                  </a:lnTo>
                  <a:lnTo>
                    <a:pt x="444776" y="477384"/>
                  </a:lnTo>
                  <a:lnTo>
                    <a:pt x="477384" y="444776"/>
                  </a:lnTo>
                  <a:lnTo>
                    <a:pt x="504077" y="407020"/>
                  </a:lnTo>
                  <a:lnTo>
                    <a:pt x="524090" y="364880"/>
                  </a:lnTo>
                  <a:lnTo>
                    <a:pt x="536660" y="319122"/>
                  </a:lnTo>
                  <a:lnTo>
                    <a:pt x="541019" y="270510"/>
                  </a:lnTo>
                  <a:lnTo>
                    <a:pt x="536660" y="221897"/>
                  </a:lnTo>
                  <a:lnTo>
                    <a:pt x="524090" y="176139"/>
                  </a:lnTo>
                  <a:lnTo>
                    <a:pt x="504077" y="133999"/>
                  </a:lnTo>
                  <a:lnTo>
                    <a:pt x="477384" y="96243"/>
                  </a:lnTo>
                  <a:lnTo>
                    <a:pt x="444776" y="63635"/>
                  </a:lnTo>
                  <a:lnTo>
                    <a:pt x="407020" y="36942"/>
                  </a:lnTo>
                  <a:lnTo>
                    <a:pt x="364880" y="16929"/>
                  </a:lnTo>
                  <a:lnTo>
                    <a:pt x="319122" y="4359"/>
                  </a:lnTo>
                  <a:lnTo>
                    <a:pt x="27051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337047" y="1210055"/>
              <a:ext cx="541020" cy="541020"/>
            </a:xfrm>
            <a:custGeom>
              <a:avLst/>
              <a:gdLst/>
              <a:ahLst/>
              <a:cxnLst/>
              <a:rect l="l" t="t" r="r" b="b"/>
              <a:pathLst>
                <a:path w="541020" h="541019">
                  <a:moveTo>
                    <a:pt x="0" y="270510"/>
                  </a:moveTo>
                  <a:lnTo>
                    <a:pt x="4359" y="221897"/>
                  </a:lnTo>
                  <a:lnTo>
                    <a:pt x="16929" y="176139"/>
                  </a:lnTo>
                  <a:lnTo>
                    <a:pt x="36942" y="133999"/>
                  </a:lnTo>
                  <a:lnTo>
                    <a:pt x="63635" y="96243"/>
                  </a:lnTo>
                  <a:lnTo>
                    <a:pt x="96243" y="63635"/>
                  </a:lnTo>
                  <a:lnTo>
                    <a:pt x="133999" y="36942"/>
                  </a:lnTo>
                  <a:lnTo>
                    <a:pt x="176139" y="16929"/>
                  </a:lnTo>
                  <a:lnTo>
                    <a:pt x="221897" y="4359"/>
                  </a:lnTo>
                  <a:lnTo>
                    <a:pt x="270510" y="0"/>
                  </a:lnTo>
                  <a:lnTo>
                    <a:pt x="319122" y="4359"/>
                  </a:lnTo>
                  <a:lnTo>
                    <a:pt x="364880" y="16929"/>
                  </a:lnTo>
                  <a:lnTo>
                    <a:pt x="407020" y="36942"/>
                  </a:lnTo>
                  <a:lnTo>
                    <a:pt x="444776" y="63635"/>
                  </a:lnTo>
                  <a:lnTo>
                    <a:pt x="477384" y="96243"/>
                  </a:lnTo>
                  <a:lnTo>
                    <a:pt x="504077" y="133999"/>
                  </a:lnTo>
                  <a:lnTo>
                    <a:pt x="524090" y="176139"/>
                  </a:lnTo>
                  <a:lnTo>
                    <a:pt x="536660" y="221897"/>
                  </a:lnTo>
                  <a:lnTo>
                    <a:pt x="541019" y="270510"/>
                  </a:lnTo>
                  <a:lnTo>
                    <a:pt x="536660" y="319122"/>
                  </a:lnTo>
                  <a:lnTo>
                    <a:pt x="524090" y="364880"/>
                  </a:lnTo>
                  <a:lnTo>
                    <a:pt x="504077" y="407020"/>
                  </a:lnTo>
                  <a:lnTo>
                    <a:pt x="477384" y="444776"/>
                  </a:lnTo>
                  <a:lnTo>
                    <a:pt x="444776" y="477384"/>
                  </a:lnTo>
                  <a:lnTo>
                    <a:pt x="407020" y="504077"/>
                  </a:lnTo>
                  <a:lnTo>
                    <a:pt x="364880" y="524090"/>
                  </a:lnTo>
                  <a:lnTo>
                    <a:pt x="319122" y="536660"/>
                  </a:lnTo>
                  <a:lnTo>
                    <a:pt x="270510" y="541020"/>
                  </a:lnTo>
                  <a:lnTo>
                    <a:pt x="221897" y="536660"/>
                  </a:lnTo>
                  <a:lnTo>
                    <a:pt x="176139" y="524090"/>
                  </a:lnTo>
                  <a:lnTo>
                    <a:pt x="133999" y="504077"/>
                  </a:lnTo>
                  <a:lnTo>
                    <a:pt x="96243" y="477384"/>
                  </a:lnTo>
                  <a:lnTo>
                    <a:pt x="63635" y="444776"/>
                  </a:lnTo>
                  <a:lnTo>
                    <a:pt x="36942" y="407020"/>
                  </a:lnTo>
                  <a:lnTo>
                    <a:pt x="16929" y="364880"/>
                  </a:lnTo>
                  <a:lnTo>
                    <a:pt x="4359" y="319122"/>
                  </a:lnTo>
                  <a:lnTo>
                    <a:pt x="0" y="270510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797807" y="629920"/>
              <a:ext cx="1539875" cy="851535"/>
            </a:xfrm>
            <a:custGeom>
              <a:avLst/>
              <a:gdLst/>
              <a:ahLst/>
              <a:cxnLst/>
              <a:rect l="l" t="t" r="r" b="b"/>
              <a:pathLst>
                <a:path w="1539875" h="851535">
                  <a:moveTo>
                    <a:pt x="1469668" y="820249"/>
                  </a:moveTo>
                  <a:lnTo>
                    <a:pt x="1454403" y="847978"/>
                  </a:lnTo>
                  <a:lnTo>
                    <a:pt x="1539493" y="851407"/>
                  </a:lnTo>
                  <a:lnTo>
                    <a:pt x="1522225" y="826388"/>
                  </a:lnTo>
                  <a:lnTo>
                    <a:pt x="1480819" y="826388"/>
                  </a:lnTo>
                  <a:lnTo>
                    <a:pt x="1469668" y="820249"/>
                  </a:lnTo>
                  <a:close/>
                </a:path>
                <a:path w="1539875" h="851535">
                  <a:moveTo>
                    <a:pt x="1475807" y="809097"/>
                  </a:moveTo>
                  <a:lnTo>
                    <a:pt x="1469668" y="820249"/>
                  </a:lnTo>
                  <a:lnTo>
                    <a:pt x="1480819" y="826388"/>
                  </a:lnTo>
                  <a:lnTo>
                    <a:pt x="1486915" y="815213"/>
                  </a:lnTo>
                  <a:lnTo>
                    <a:pt x="1475807" y="809097"/>
                  </a:lnTo>
                  <a:close/>
                </a:path>
                <a:path w="1539875" h="851535">
                  <a:moveTo>
                    <a:pt x="1491106" y="781303"/>
                  </a:moveTo>
                  <a:lnTo>
                    <a:pt x="1475807" y="809097"/>
                  </a:lnTo>
                  <a:lnTo>
                    <a:pt x="1486915" y="815213"/>
                  </a:lnTo>
                  <a:lnTo>
                    <a:pt x="1480819" y="826388"/>
                  </a:lnTo>
                  <a:lnTo>
                    <a:pt x="1522225" y="826388"/>
                  </a:lnTo>
                  <a:lnTo>
                    <a:pt x="1491106" y="781303"/>
                  </a:lnTo>
                  <a:close/>
                </a:path>
                <a:path w="1539875" h="851535">
                  <a:moveTo>
                    <a:pt x="6095" y="0"/>
                  </a:moveTo>
                  <a:lnTo>
                    <a:pt x="0" y="11175"/>
                  </a:lnTo>
                  <a:lnTo>
                    <a:pt x="1469668" y="820249"/>
                  </a:lnTo>
                  <a:lnTo>
                    <a:pt x="1475807" y="809097"/>
                  </a:lnTo>
                  <a:lnTo>
                    <a:pt x="609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337047" y="2055875"/>
              <a:ext cx="541020" cy="541020"/>
            </a:xfrm>
            <a:custGeom>
              <a:avLst/>
              <a:gdLst/>
              <a:ahLst/>
              <a:cxnLst/>
              <a:rect l="l" t="t" r="r" b="b"/>
              <a:pathLst>
                <a:path w="541020" h="541019">
                  <a:moveTo>
                    <a:pt x="270510" y="0"/>
                  </a:moveTo>
                  <a:lnTo>
                    <a:pt x="221897" y="4359"/>
                  </a:lnTo>
                  <a:lnTo>
                    <a:pt x="176139" y="16929"/>
                  </a:lnTo>
                  <a:lnTo>
                    <a:pt x="133999" y="36942"/>
                  </a:lnTo>
                  <a:lnTo>
                    <a:pt x="96243" y="63635"/>
                  </a:lnTo>
                  <a:lnTo>
                    <a:pt x="63635" y="96243"/>
                  </a:lnTo>
                  <a:lnTo>
                    <a:pt x="36942" y="133999"/>
                  </a:lnTo>
                  <a:lnTo>
                    <a:pt x="16929" y="176139"/>
                  </a:lnTo>
                  <a:lnTo>
                    <a:pt x="4359" y="221897"/>
                  </a:lnTo>
                  <a:lnTo>
                    <a:pt x="0" y="270510"/>
                  </a:lnTo>
                  <a:lnTo>
                    <a:pt x="4359" y="319122"/>
                  </a:lnTo>
                  <a:lnTo>
                    <a:pt x="16929" y="364880"/>
                  </a:lnTo>
                  <a:lnTo>
                    <a:pt x="36942" y="407020"/>
                  </a:lnTo>
                  <a:lnTo>
                    <a:pt x="63635" y="444776"/>
                  </a:lnTo>
                  <a:lnTo>
                    <a:pt x="96243" y="477384"/>
                  </a:lnTo>
                  <a:lnTo>
                    <a:pt x="133999" y="504077"/>
                  </a:lnTo>
                  <a:lnTo>
                    <a:pt x="176139" y="524090"/>
                  </a:lnTo>
                  <a:lnTo>
                    <a:pt x="221897" y="536660"/>
                  </a:lnTo>
                  <a:lnTo>
                    <a:pt x="270510" y="541020"/>
                  </a:lnTo>
                  <a:lnTo>
                    <a:pt x="319122" y="536660"/>
                  </a:lnTo>
                  <a:lnTo>
                    <a:pt x="364880" y="524090"/>
                  </a:lnTo>
                  <a:lnTo>
                    <a:pt x="407020" y="504077"/>
                  </a:lnTo>
                  <a:lnTo>
                    <a:pt x="444776" y="477384"/>
                  </a:lnTo>
                  <a:lnTo>
                    <a:pt x="477384" y="444776"/>
                  </a:lnTo>
                  <a:lnTo>
                    <a:pt x="504077" y="407020"/>
                  </a:lnTo>
                  <a:lnTo>
                    <a:pt x="524090" y="364880"/>
                  </a:lnTo>
                  <a:lnTo>
                    <a:pt x="536660" y="319122"/>
                  </a:lnTo>
                  <a:lnTo>
                    <a:pt x="541019" y="270510"/>
                  </a:lnTo>
                  <a:lnTo>
                    <a:pt x="536660" y="221897"/>
                  </a:lnTo>
                  <a:lnTo>
                    <a:pt x="524090" y="176139"/>
                  </a:lnTo>
                  <a:lnTo>
                    <a:pt x="504077" y="133999"/>
                  </a:lnTo>
                  <a:lnTo>
                    <a:pt x="477384" y="96243"/>
                  </a:lnTo>
                  <a:lnTo>
                    <a:pt x="444776" y="63635"/>
                  </a:lnTo>
                  <a:lnTo>
                    <a:pt x="407020" y="36942"/>
                  </a:lnTo>
                  <a:lnTo>
                    <a:pt x="364880" y="16929"/>
                  </a:lnTo>
                  <a:lnTo>
                    <a:pt x="319122" y="4359"/>
                  </a:lnTo>
                  <a:lnTo>
                    <a:pt x="27051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337047" y="2055875"/>
              <a:ext cx="541020" cy="541020"/>
            </a:xfrm>
            <a:custGeom>
              <a:avLst/>
              <a:gdLst/>
              <a:ahLst/>
              <a:cxnLst/>
              <a:rect l="l" t="t" r="r" b="b"/>
              <a:pathLst>
                <a:path w="541020" h="541019">
                  <a:moveTo>
                    <a:pt x="0" y="270510"/>
                  </a:moveTo>
                  <a:lnTo>
                    <a:pt x="4359" y="221897"/>
                  </a:lnTo>
                  <a:lnTo>
                    <a:pt x="16929" y="176139"/>
                  </a:lnTo>
                  <a:lnTo>
                    <a:pt x="36942" y="133999"/>
                  </a:lnTo>
                  <a:lnTo>
                    <a:pt x="63635" y="96243"/>
                  </a:lnTo>
                  <a:lnTo>
                    <a:pt x="96243" y="63635"/>
                  </a:lnTo>
                  <a:lnTo>
                    <a:pt x="133999" y="36942"/>
                  </a:lnTo>
                  <a:lnTo>
                    <a:pt x="176139" y="16929"/>
                  </a:lnTo>
                  <a:lnTo>
                    <a:pt x="221897" y="4359"/>
                  </a:lnTo>
                  <a:lnTo>
                    <a:pt x="270510" y="0"/>
                  </a:lnTo>
                  <a:lnTo>
                    <a:pt x="319122" y="4359"/>
                  </a:lnTo>
                  <a:lnTo>
                    <a:pt x="364880" y="16929"/>
                  </a:lnTo>
                  <a:lnTo>
                    <a:pt x="407020" y="36942"/>
                  </a:lnTo>
                  <a:lnTo>
                    <a:pt x="444776" y="63635"/>
                  </a:lnTo>
                  <a:lnTo>
                    <a:pt x="477384" y="96243"/>
                  </a:lnTo>
                  <a:lnTo>
                    <a:pt x="504077" y="133999"/>
                  </a:lnTo>
                  <a:lnTo>
                    <a:pt x="524090" y="176139"/>
                  </a:lnTo>
                  <a:lnTo>
                    <a:pt x="536660" y="221897"/>
                  </a:lnTo>
                  <a:lnTo>
                    <a:pt x="541019" y="270510"/>
                  </a:lnTo>
                  <a:lnTo>
                    <a:pt x="536660" y="319122"/>
                  </a:lnTo>
                  <a:lnTo>
                    <a:pt x="524090" y="364880"/>
                  </a:lnTo>
                  <a:lnTo>
                    <a:pt x="504077" y="407020"/>
                  </a:lnTo>
                  <a:lnTo>
                    <a:pt x="477384" y="444776"/>
                  </a:lnTo>
                  <a:lnTo>
                    <a:pt x="444776" y="477384"/>
                  </a:lnTo>
                  <a:lnTo>
                    <a:pt x="407020" y="504077"/>
                  </a:lnTo>
                  <a:lnTo>
                    <a:pt x="364880" y="524090"/>
                  </a:lnTo>
                  <a:lnTo>
                    <a:pt x="319122" y="536660"/>
                  </a:lnTo>
                  <a:lnTo>
                    <a:pt x="270510" y="541020"/>
                  </a:lnTo>
                  <a:lnTo>
                    <a:pt x="221897" y="536660"/>
                  </a:lnTo>
                  <a:lnTo>
                    <a:pt x="176139" y="524090"/>
                  </a:lnTo>
                  <a:lnTo>
                    <a:pt x="133999" y="504077"/>
                  </a:lnTo>
                  <a:lnTo>
                    <a:pt x="96243" y="477384"/>
                  </a:lnTo>
                  <a:lnTo>
                    <a:pt x="63635" y="444776"/>
                  </a:lnTo>
                  <a:lnTo>
                    <a:pt x="36942" y="407020"/>
                  </a:lnTo>
                  <a:lnTo>
                    <a:pt x="16929" y="364880"/>
                  </a:lnTo>
                  <a:lnTo>
                    <a:pt x="4359" y="319122"/>
                  </a:lnTo>
                  <a:lnTo>
                    <a:pt x="0" y="270510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796156" y="631190"/>
              <a:ext cx="1541145" cy="1696085"/>
            </a:xfrm>
            <a:custGeom>
              <a:avLst/>
              <a:gdLst/>
              <a:ahLst/>
              <a:cxnLst/>
              <a:rect l="l" t="t" r="r" b="b"/>
              <a:pathLst>
                <a:path w="1541145" h="1696085">
                  <a:moveTo>
                    <a:pt x="1485229" y="1643878"/>
                  </a:moveTo>
                  <a:lnTo>
                    <a:pt x="1461769" y="1665224"/>
                  </a:lnTo>
                  <a:lnTo>
                    <a:pt x="1541144" y="1695958"/>
                  </a:lnTo>
                  <a:lnTo>
                    <a:pt x="1529188" y="1653286"/>
                  </a:lnTo>
                  <a:lnTo>
                    <a:pt x="1493773" y="1653286"/>
                  </a:lnTo>
                  <a:lnTo>
                    <a:pt x="1485229" y="1643878"/>
                  </a:lnTo>
                  <a:close/>
                </a:path>
                <a:path w="1541145" h="1696085">
                  <a:moveTo>
                    <a:pt x="1494669" y="1635288"/>
                  </a:moveTo>
                  <a:lnTo>
                    <a:pt x="1485229" y="1643878"/>
                  </a:lnTo>
                  <a:lnTo>
                    <a:pt x="1493773" y="1653286"/>
                  </a:lnTo>
                  <a:lnTo>
                    <a:pt x="1503171" y="1644650"/>
                  </a:lnTo>
                  <a:lnTo>
                    <a:pt x="1494669" y="1635288"/>
                  </a:lnTo>
                  <a:close/>
                </a:path>
                <a:path w="1541145" h="1696085">
                  <a:moveTo>
                    <a:pt x="1518157" y="1613915"/>
                  </a:moveTo>
                  <a:lnTo>
                    <a:pt x="1494669" y="1635288"/>
                  </a:lnTo>
                  <a:lnTo>
                    <a:pt x="1503171" y="1644650"/>
                  </a:lnTo>
                  <a:lnTo>
                    <a:pt x="1493773" y="1653286"/>
                  </a:lnTo>
                  <a:lnTo>
                    <a:pt x="1529188" y="1653286"/>
                  </a:lnTo>
                  <a:lnTo>
                    <a:pt x="1518157" y="1613915"/>
                  </a:lnTo>
                  <a:close/>
                </a:path>
                <a:path w="1541145" h="1696085">
                  <a:moveTo>
                    <a:pt x="9397" y="0"/>
                  </a:moveTo>
                  <a:lnTo>
                    <a:pt x="0" y="8636"/>
                  </a:lnTo>
                  <a:lnTo>
                    <a:pt x="1485229" y="1643878"/>
                  </a:lnTo>
                  <a:lnTo>
                    <a:pt x="1494669" y="1635288"/>
                  </a:lnTo>
                  <a:lnTo>
                    <a:pt x="939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337047" y="3416808"/>
              <a:ext cx="541020" cy="539750"/>
            </a:xfrm>
            <a:custGeom>
              <a:avLst/>
              <a:gdLst/>
              <a:ahLst/>
              <a:cxnLst/>
              <a:rect l="l" t="t" r="r" b="b"/>
              <a:pathLst>
                <a:path w="541020" h="539750">
                  <a:moveTo>
                    <a:pt x="270510" y="0"/>
                  </a:moveTo>
                  <a:lnTo>
                    <a:pt x="221897" y="4346"/>
                  </a:lnTo>
                  <a:lnTo>
                    <a:pt x="176139" y="16876"/>
                  </a:lnTo>
                  <a:lnTo>
                    <a:pt x="133999" y="36830"/>
                  </a:lnTo>
                  <a:lnTo>
                    <a:pt x="96243" y="63443"/>
                  </a:lnTo>
                  <a:lnTo>
                    <a:pt x="63635" y="95955"/>
                  </a:lnTo>
                  <a:lnTo>
                    <a:pt x="36942" y="133604"/>
                  </a:lnTo>
                  <a:lnTo>
                    <a:pt x="16929" y="175626"/>
                  </a:lnTo>
                  <a:lnTo>
                    <a:pt x="4359" y="221262"/>
                  </a:lnTo>
                  <a:lnTo>
                    <a:pt x="0" y="269747"/>
                  </a:lnTo>
                  <a:lnTo>
                    <a:pt x="4359" y="318233"/>
                  </a:lnTo>
                  <a:lnTo>
                    <a:pt x="16929" y="363869"/>
                  </a:lnTo>
                  <a:lnTo>
                    <a:pt x="36942" y="405891"/>
                  </a:lnTo>
                  <a:lnTo>
                    <a:pt x="63635" y="443540"/>
                  </a:lnTo>
                  <a:lnTo>
                    <a:pt x="96243" y="476052"/>
                  </a:lnTo>
                  <a:lnTo>
                    <a:pt x="133999" y="502665"/>
                  </a:lnTo>
                  <a:lnTo>
                    <a:pt x="176139" y="522619"/>
                  </a:lnTo>
                  <a:lnTo>
                    <a:pt x="221897" y="535149"/>
                  </a:lnTo>
                  <a:lnTo>
                    <a:pt x="270510" y="539495"/>
                  </a:lnTo>
                  <a:lnTo>
                    <a:pt x="319122" y="535149"/>
                  </a:lnTo>
                  <a:lnTo>
                    <a:pt x="364880" y="522619"/>
                  </a:lnTo>
                  <a:lnTo>
                    <a:pt x="407020" y="502665"/>
                  </a:lnTo>
                  <a:lnTo>
                    <a:pt x="444776" y="476052"/>
                  </a:lnTo>
                  <a:lnTo>
                    <a:pt x="477384" y="443540"/>
                  </a:lnTo>
                  <a:lnTo>
                    <a:pt x="504077" y="405891"/>
                  </a:lnTo>
                  <a:lnTo>
                    <a:pt x="524090" y="363869"/>
                  </a:lnTo>
                  <a:lnTo>
                    <a:pt x="536660" y="318233"/>
                  </a:lnTo>
                  <a:lnTo>
                    <a:pt x="541019" y="269747"/>
                  </a:lnTo>
                  <a:lnTo>
                    <a:pt x="536660" y="221262"/>
                  </a:lnTo>
                  <a:lnTo>
                    <a:pt x="524090" y="175626"/>
                  </a:lnTo>
                  <a:lnTo>
                    <a:pt x="504077" y="133604"/>
                  </a:lnTo>
                  <a:lnTo>
                    <a:pt x="477384" y="95955"/>
                  </a:lnTo>
                  <a:lnTo>
                    <a:pt x="444776" y="63443"/>
                  </a:lnTo>
                  <a:lnTo>
                    <a:pt x="407020" y="36830"/>
                  </a:lnTo>
                  <a:lnTo>
                    <a:pt x="364880" y="16876"/>
                  </a:lnTo>
                  <a:lnTo>
                    <a:pt x="319122" y="4346"/>
                  </a:lnTo>
                  <a:lnTo>
                    <a:pt x="27051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337047" y="3416808"/>
              <a:ext cx="541020" cy="539750"/>
            </a:xfrm>
            <a:custGeom>
              <a:avLst/>
              <a:gdLst/>
              <a:ahLst/>
              <a:cxnLst/>
              <a:rect l="l" t="t" r="r" b="b"/>
              <a:pathLst>
                <a:path w="541020" h="539750">
                  <a:moveTo>
                    <a:pt x="0" y="269747"/>
                  </a:moveTo>
                  <a:lnTo>
                    <a:pt x="4359" y="221262"/>
                  </a:lnTo>
                  <a:lnTo>
                    <a:pt x="16929" y="175626"/>
                  </a:lnTo>
                  <a:lnTo>
                    <a:pt x="36942" y="133604"/>
                  </a:lnTo>
                  <a:lnTo>
                    <a:pt x="63635" y="95955"/>
                  </a:lnTo>
                  <a:lnTo>
                    <a:pt x="96243" y="63443"/>
                  </a:lnTo>
                  <a:lnTo>
                    <a:pt x="133999" y="36830"/>
                  </a:lnTo>
                  <a:lnTo>
                    <a:pt x="176139" y="16876"/>
                  </a:lnTo>
                  <a:lnTo>
                    <a:pt x="221897" y="4346"/>
                  </a:lnTo>
                  <a:lnTo>
                    <a:pt x="270510" y="0"/>
                  </a:lnTo>
                  <a:lnTo>
                    <a:pt x="319122" y="4346"/>
                  </a:lnTo>
                  <a:lnTo>
                    <a:pt x="364880" y="16876"/>
                  </a:lnTo>
                  <a:lnTo>
                    <a:pt x="407020" y="36830"/>
                  </a:lnTo>
                  <a:lnTo>
                    <a:pt x="444776" y="63443"/>
                  </a:lnTo>
                  <a:lnTo>
                    <a:pt x="477384" y="95955"/>
                  </a:lnTo>
                  <a:lnTo>
                    <a:pt x="504077" y="133604"/>
                  </a:lnTo>
                  <a:lnTo>
                    <a:pt x="524090" y="175626"/>
                  </a:lnTo>
                  <a:lnTo>
                    <a:pt x="536660" y="221262"/>
                  </a:lnTo>
                  <a:lnTo>
                    <a:pt x="541019" y="269747"/>
                  </a:lnTo>
                  <a:lnTo>
                    <a:pt x="536660" y="318233"/>
                  </a:lnTo>
                  <a:lnTo>
                    <a:pt x="524090" y="363869"/>
                  </a:lnTo>
                  <a:lnTo>
                    <a:pt x="504077" y="405891"/>
                  </a:lnTo>
                  <a:lnTo>
                    <a:pt x="477384" y="443540"/>
                  </a:lnTo>
                  <a:lnTo>
                    <a:pt x="444776" y="476052"/>
                  </a:lnTo>
                  <a:lnTo>
                    <a:pt x="407020" y="502665"/>
                  </a:lnTo>
                  <a:lnTo>
                    <a:pt x="364880" y="522619"/>
                  </a:lnTo>
                  <a:lnTo>
                    <a:pt x="319122" y="535149"/>
                  </a:lnTo>
                  <a:lnTo>
                    <a:pt x="270510" y="539495"/>
                  </a:lnTo>
                  <a:lnTo>
                    <a:pt x="221897" y="535149"/>
                  </a:lnTo>
                  <a:lnTo>
                    <a:pt x="176139" y="522619"/>
                  </a:lnTo>
                  <a:lnTo>
                    <a:pt x="133999" y="502665"/>
                  </a:lnTo>
                  <a:lnTo>
                    <a:pt x="96243" y="476052"/>
                  </a:lnTo>
                  <a:lnTo>
                    <a:pt x="63635" y="443540"/>
                  </a:lnTo>
                  <a:lnTo>
                    <a:pt x="36942" y="405891"/>
                  </a:lnTo>
                  <a:lnTo>
                    <a:pt x="16929" y="363869"/>
                  </a:lnTo>
                  <a:lnTo>
                    <a:pt x="4359" y="318233"/>
                  </a:lnTo>
                  <a:lnTo>
                    <a:pt x="0" y="269747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795141" y="597407"/>
              <a:ext cx="1542415" cy="3127375"/>
            </a:xfrm>
            <a:custGeom>
              <a:avLst/>
              <a:gdLst/>
              <a:ahLst/>
              <a:cxnLst/>
              <a:rect l="l" t="t" r="r" b="b"/>
              <a:pathLst>
                <a:path w="1542414" h="3127375">
                  <a:moveTo>
                    <a:pt x="1542161" y="38100"/>
                  </a:moveTo>
                  <a:lnTo>
                    <a:pt x="1529461" y="31750"/>
                  </a:lnTo>
                  <a:lnTo>
                    <a:pt x="1501762" y="17907"/>
                  </a:lnTo>
                  <a:lnTo>
                    <a:pt x="1501762" y="104330"/>
                  </a:lnTo>
                  <a:lnTo>
                    <a:pt x="1112456" y="877570"/>
                  </a:lnTo>
                  <a:lnTo>
                    <a:pt x="1106055" y="877570"/>
                  </a:lnTo>
                  <a:lnTo>
                    <a:pt x="1106055" y="890270"/>
                  </a:lnTo>
                  <a:lnTo>
                    <a:pt x="948321" y="1203566"/>
                  </a:lnTo>
                  <a:lnTo>
                    <a:pt x="938199" y="1209141"/>
                  </a:lnTo>
                  <a:lnTo>
                    <a:pt x="938199" y="1223670"/>
                  </a:lnTo>
                  <a:lnTo>
                    <a:pt x="872617" y="1353921"/>
                  </a:lnTo>
                  <a:lnTo>
                    <a:pt x="866889" y="1350772"/>
                  </a:lnTo>
                  <a:lnTo>
                    <a:pt x="866889" y="1365300"/>
                  </a:lnTo>
                  <a:lnTo>
                    <a:pt x="773938" y="1549933"/>
                  </a:lnTo>
                  <a:lnTo>
                    <a:pt x="766838" y="1535836"/>
                  </a:lnTo>
                  <a:lnTo>
                    <a:pt x="766838" y="1564030"/>
                  </a:lnTo>
                  <a:lnTo>
                    <a:pt x="686600" y="1723390"/>
                  </a:lnTo>
                  <a:lnTo>
                    <a:pt x="680199" y="1723390"/>
                  </a:lnTo>
                  <a:lnTo>
                    <a:pt x="680199" y="1736090"/>
                  </a:lnTo>
                  <a:lnTo>
                    <a:pt x="649478" y="1797126"/>
                  </a:lnTo>
                  <a:lnTo>
                    <a:pt x="642962" y="1787779"/>
                  </a:lnTo>
                  <a:lnTo>
                    <a:pt x="642962" y="1810054"/>
                  </a:lnTo>
                  <a:lnTo>
                    <a:pt x="477405" y="2138896"/>
                  </a:lnTo>
                  <a:lnTo>
                    <a:pt x="22377" y="1736090"/>
                  </a:lnTo>
                  <a:lnTo>
                    <a:pt x="591464" y="1736090"/>
                  </a:lnTo>
                  <a:lnTo>
                    <a:pt x="642962" y="1810054"/>
                  </a:lnTo>
                  <a:lnTo>
                    <a:pt x="642962" y="1787779"/>
                  </a:lnTo>
                  <a:lnTo>
                    <a:pt x="606983" y="1736090"/>
                  </a:lnTo>
                  <a:lnTo>
                    <a:pt x="680199" y="1736090"/>
                  </a:lnTo>
                  <a:lnTo>
                    <a:pt x="680199" y="1723390"/>
                  </a:lnTo>
                  <a:lnTo>
                    <a:pt x="598131" y="1723390"/>
                  </a:lnTo>
                  <a:lnTo>
                    <a:pt x="582625" y="1701126"/>
                  </a:lnTo>
                  <a:lnTo>
                    <a:pt x="582625" y="1723390"/>
                  </a:lnTo>
                  <a:lnTo>
                    <a:pt x="30441" y="1723390"/>
                  </a:lnTo>
                  <a:lnTo>
                    <a:pt x="429577" y="1503667"/>
                  </a:lnTo>
                  <a:lnTo>
                    <a:pt x="582625" y="1723390"/>
                  </a:lnTo>
                  <a:lnTo>
                    <a:pt x="582625" y="1701126"/>
                  </a:lnTo>
                  <a:lnTo>
                    <a:pt x="440791" y="1497495"/>
                  </a:lnTo>
                  <a:lnTo>
                    <a:pt x="669848" y="1371396"/>
                  </a:lnTo>
                  <a:lnTo>
                    <a:pt x="766838" y="1564030"/>
                  </a:lnTo>
                  <a:lnTo>
                    <a:pt x="766838" y="1535836"/>
                  </a:lnTo>
                  <a:lnTo>
                    <a:pt x="680974" y="1365275"/>
                  </a:lnTo>
                  <a:lnTo>
                    <a:pt x="773912" y="1314107"/>
                  </a:lnTo>
                  <a:lnTo>
                    <a:pt x="866889" y="1365300"/>
                  </a:lnTo>
                  <a:lnTo>
                    <a:pt x="866889" y="1350772"/>
                  </a:lnTo>
                  <a:lnTo>
                    <a:pt x="787107" y="1306842"/>
                  </a:lnTo>
                  <a:lnTo>
                    <a:pt x="938199" y="1223670"/>
                  </a:lnTo>
                  <a:lnTo>
                    <a:pt x="938199" y="1209141"/>
                  </a:lnTo>
                  <a:lnTo>
                    <a:pt x="773912" y="1299578"/>
                  </a:lnTo>
                  <a:lnTo>
                    <a:pt x="760704" y="1292313"/>
                  </a:lnTo>
                  <a:lnTo>
                    <a:pt x="760704" y="1306842"/>
                  </a:lnTo>
                  <a:lnTo>
                    <a:pt x="675246" y="1353896"/>
                  </a:lnTo>
                  <a:lnTo>
                    <a:pt x="664121" y="1331798"/>
                  </a:lnTo>
                  <a:lnTo>
                    <a:pt x="664121" y="1360017"/>
                  </a:lnTo>
                  <a:lnTo>
                    <a:pt x="433476" y="1486992"/>
                  </a:lnTo>
                  <a:lnTo>
                    <a:pt x="422262" y="1470888"/>
                  </a:lnTo>
                  <a:lnTo>
                    <a:pt x="422262" y="1493164"/>
                  </a:lnTo>
                  <a:lnTo>
                    <a:pt x="36131" y="1705737"/>
                  </a:lnTo>
                  <a:lnTo>
                    <a:pt x="338480" y="1372857"/>
                  </a:lnTo>
                  <a:lnTo>
                    <a:pt x="422262" y="1493164"/>
                  </a:lnTo>
                  <a:lnTo>
                    <a:pt x="422262" y="1470888"/>
                  </a:lnTo>
                  <a:lnTo>
                    <a:pt x="347268" y="1363179"/>
                  </a:lnTo>
                  <a:lnTo>
                    <a:pt x="519201" y="1173886"/>
                  </a:lnTo>
                  <a:lnTo>
                    <a:pt x="590042" y="1212875"/>
                  </a:lnTo>
                  <a:lnTo>
                    <a:pt x="664121" y="1360017"/>
                  </a:lnTo>
                  <a:lnTo>
                    <a:pt x="664121" y="1331798"/>
                  </a:lnTo>
                  <a:lnTo>
                    <a:pt x="609714" y="1223708"/>
                  </a:lnTo>
                  <a:lnTo>
                    <a:pt x="760704" y="1306842"/>
                  </a:lnTo>
                  <a:lnTo>
                    <a:pt x="760704" y="1292313"/>
                  </a:lnTo>
                  <a:lnTo>
                    <a:pt x="599592" y="1203604"/>
                  </a:lnTo>
                  <a:lnTo>
                    <a:pt x="579920" y="1164551"/>
                  </a:lnTo>
                  <a:lnTo>
                    <a:pt x="579920" y="1192771"/>
                  </a:lnTo>
                  <a:lnTo>
                    <a:pt x="528002" y="1164196"/>
                  </a:lnTo>
                  <a:lnTo>
                    <a:pt x="552145" y="1137615"/>
                  </a:lnTo>
                  <a:lnTo>
                    <a:pt x="579920" y="1192771"/>
                  </a:lnTo>
                  <a:lnTo>
                    <a:pt x="579920" y="1164551"/>
                  </a:lnTo>
                  <a:lnTo>
                    <a:pt x="561289" y="1127544"/>
                  </a:lnTo>
                  <a:lnTo>
                    <a:pt x="776795" y="890270"/>
                  </a:lnTo>
                  <a:lnTo>
                    <a:pt x="1106055" y="890270"/>
                  </a:lnTo>
                  <a:lnTo>
                    <a:pt x="1106055" y="877570"/>
                  </a:lnTo>
                  <a:lnTo>
                    <a:pt x="788327" y="877570"/>
                  </a:lnTo>
                  <a:lnTo>
                    <a:pt x="1491259" y="103644"/>
                  </a:lnTo>
                  <a:lnTo>
                    <a:pt x="1493774" y="108204"/>
                  </a:lnTo>
                  <a:lnTo>
                    <a:pt x="1498447" y="101434"/>
                  </a:lnTo>
                  <a:lnTo>
                    <a:pt x="1498739" y="101587"/>
                  </a:lnTo>
                  <a:lnTo>
                    <a:pt x="1501762" y="104330"/>
                  </a:lnTo>
                  <a:lnTo>
                    <a:pt x="1501762" y="17907"/>
                  </a:lnTo>
                  <a:lnTo>
                    <a:pt x="1483144" y="8597"/>
                  </a:lnTo>
                  <a:lnTo>
                    <a:pt x="1483144" y="93726"/>
                  </a:lnTo>
                  <a:lnTo>
                    <a:pt x="771144" y="877570"/>
                  </a:lnTo>
                  <a:lnTo>
                    <a:pt x="759612" y="877570"/>
                  </a:lnTo>
                  <a:lnTo>
                    <a:pt x="759612" y="890270"/>
                  </a:lnTo>
                  <a:lnTo>
                    <a:pt x="555155" y="1115364"/>
                  </a:lnTo>
                  <a:lnTo>
                    <a:pt x="546011" y="1097203"/>
                  </a:lnTo>
                  <a:lnTo>
                    <a:pt x="546011" y="1125435"/>
                  </a:lnTo>
                  <a:lnTo>
                    <a:pt x="516534" y="1157884"/>
                  </a:lnTo>
                  <a:lnTo>
                    <a:pt x="507733" y="1153045"/>
                  </a:lnTo>
                  <a:lnTo>
                    <a:pt x="507733" y="1167574"/>
                  </a:lnTo>
                  <a:lnTo>
                    <a:pt x="339788" y="1352461"/>
                  </a:lnTo>
                  <a:lnTo>
                    <a:pt x="26517" y="902652"/>
                  </a:lnTo>
                  <a:lnTo>
                    <a:pt x="507733" y="1167574"/>
                  </a:lnTo>
                  <a:lnTo>
                    <a:pt x="507733" y="1153045"/>
                  </a:lnTo>
                  <a:lnTo>
                    <a:pt x="30441" y="890270"/>
                  </a:lnTo>
                  <a:lnTo>
                    <a:pt x="427621" y="890270"/>
                  </a:lnTo>
                  <a:lnTo>
                    <a:pt x="546011" y="1125435"/>
                  </a:lnTo>
                  <a:lnTo>
                    <a:pt x="546011" y="1097203"/>
                  </a:lnTo>
                  <a:lnTo>
                    <a:pt x="441845" y="890270"/>
                  </a:lnTo>
                  <a:lnTo>
                    <a:pt x="759612" y="890270"/>
                  </a:lnTo>
                  <a:lnTo>
                    <a:pt x="759612" y="877570"/>
                  </a:lnTo>
                  <a:lnTo>
                    <a:pt x="435457" y="877570"/>
                  </a:lnTo>
                  <a:lnTo>
                    <a:pt x="421220" y="849299"/>
                  </a:lnTo>
                  <a:lnTo>
                    <a:pt x="421220" y="877570"/>
                  </a:lnTo>
                  <a:lnTo>
                    <a:pt x="30441" y="877570"/>
                  </a:lnTo>
                  <a:lnTo>
                    <a:pt x="336423" y="709129"/>
                  </a:lnTo>
                  <a:lnTo>
                    <a:pt x="421220" y="877570"/>
                  </a:lnTo>
                  <a:lnTo>
                    <a:pt x="421220" y="849299"/>
                  </a:lnTo>
                  <a:lnTo>
                    <a:pt x="347573" y="702995"/>
                  </a:lnTo>
                  <a:lnTo>
                    <a:pt x="1476616" y="81445"/>
                  </a:lnTo>
                  <a:lnTo>
                    <a:pt x="1479943" y="84480"/>
                  </a:lnTo>
                  <a:lnTo>
                    <a:pt x="1473835" y="89027"/>
                  </a:lnTo>
                  <a:lnTo>
                    <a:pt x="1483144" y="93726"/>
                  </a:lnTo>
                  <a:lnTo>
                    <a:pt x="1483144" y="8597"/>
                  </a:lnTo>
                  <a:lnTo>
                    <a:pt x="1465961" y="0"/>
                  </a:lnTo>
                  <a:lnTo>
                    <a:pt x="1465961" y="31750"/>
                  </a:lnTo>
                  <a:lnTo>
                    <a:pt x="1465961" y="57696"/>
                  </a:lnTo>
                  <a:lnTo>
                    <a:pt x="1465961" y="67614"/>
                  </a:lnTo>
                  <a:lnTo>
                    <a:pt x="1462786" y="68834"/>
                  </a:lnTo>
                  <a:lnTo>
                    <a:pt x="1465961" y="71729"/>
                  </a:lnTo>
                  <a:lnTo>
                    <a:pt x="1465961" y="72771"/>
                  </a:lnTo>
                  <a:lnTo>
                    <a:pt x="341845" y="691616"/>
                  </a:lnTo>
                  <a:lnTo>
                    <a:pt x="16027" y="44450"/>
                  </a:lnTo>
                  <a:lnTo>
                    <a:pt x="1458671" y="44450"/>
                  </a:lnTo>
                  <a:lnTo>
                    <a:pt x="1465961" y="57696"/>
                  </a:lnTo>
                  <a:lnTo>
                    <a:pt x="1465961" y="31750"/>
                  </a:lnTo>
                  <a:lnTo>
                    <a:pt x="5715" y="31750"/>
                  </a:lnTo>
                  <a:lnTo>
                    <a:pt x="5715" y="38100"/>
                  </a:lnTo>
                  <a:lnTo>
                    <a:pt x="0" y="40894"/>
                  </a:lnTo>
                  <a:lnTo>
                    <a:pt x="330695" y="697750"/>
                  </a:lnTo>
                  <a:lnTo>
                    <a:pt x="2667" y="878332"/>
                  </a:lnTo>
                  <a:lnTo>
                    <a:pt x="5715" y="883920"/>
                  </a:lnTo>
                  <a:lnTo>
                    <a:pt x="508" y="887603"/>
                  </a:lnTo>
                  <a:lnTo>
                    <a:pt x="331000" y="1362138"/>
                  </a:lnTo>
                  <a:lnTo>
                    <a:pt x="1016" y="1725422"/>
                  </a:lnTo>
                  <a:lnTo>
                    <a:pt x="5715" y="1729740"/>
                  </a:lnTo>
                  <a:lnTo>
                    <a:pt x="1524" y="1734439"/>
                  </a:lnTo>
                  <a:lnTo>
                    <a:pt x="471538" y="2150554"/>
                  </a:lnTo>
                  <a:lnTo>
                    <a:pt x="0" y="3087116"/>
                  </a:lnTo>
                  <a:lnTo>
                    <a:pt x="5715" y="3089910"/>
                  </a:lnTo>
                  <a:lnTo>
                    <a:pt x="5715" y="3095498"/>
                  </a:lnTo>
                  <a:lnTo>
                    <a:pt x="1465961" y="3095498"/>
                  </a:lnTo>
                  <a:lnTo>
                    <a:pt x="1465961" y="3127248"/>
                  </a:lnTo>
                  <a:lnTo>
                    <a:pt x="1529461" y="3095498"/>
                  </a:lnTo>
                  <a:lnTo>
                    <a:pt x="1541157" y="3089656"/>
                  </a:lnTo>
                  <a:lnTo>
                    <a:pt x="1542161" y="3089910"/>
                  </a:lnTo>
                  <a:lnTo>
                    <a:pt x="1542148" y="3089160"/>
                  </a:lnTo>
                  <a:lnTo>
                    <a:pt x="1541995" y="3036062"/>
                  </a:lnTo>
                  <a:lnTo>
                    <a:pt x="1541907" y="3004693"/>
                  </a:lnTo>
                  <a:lnTo>
                    <a:pt x="1530540" y="3010420"/>
                  </a:lnTo>
                  <a:lnTo>
                    <a:pt x="1529842" y="3005582"/>
                  </a:lnTo>
                  <a:lnTo>
                    <a:pt x="1512989" y="3017342"/>
                  </a:lnTo>
                  <a:lnTo>
                    <a:pt x="1510411" y="3010916"/>
                  </a:lnTo>
                  <a:lnTo>
                    <a:pt x="1509826" y="3011576"/>
                  </a:lnTo>
                  <a:lnTo>
                    <a:pt x="1496593" y="2985300"/>
                  </a:lnTo>
                  <a:lnTo>
                    <a:pt x="1496593" y="3013430"/>
                  </a:lnTo>
                  <a:lnTo>
                    <a:pt x="1492415" y="3007436"/>
                  </a:lnTo>
                  <a:lnTo>
                    <a:pt x="1492415" y="3029635"/>
                  </a:lnTo>
                  <a:lnTo>
                    <a:pt x="1486839" y="3032442"/>
                  </a:lnTo>
                  <a:lnTo>
                    <a:pt x="1477746" y="3024403"/>
                  </a:lnTo>
                  <a:lnTo>
                    <a:pt x="1477746" y="3041904"/>
                  </a:lnTo>
                  <a:lnTo>
                    <a:pt x="1467358" y="3049143"/>
                  </a:lnTo>
                  <a:lnTo>
                    <a:pt x="1473530" y="3052521"/>
                  </a:lnTo>
                  <a:lnTo>
                    <a:pt x="1472107" y="3054134"/>
                  </a:lnTo>
                  <a:lnTo>
                    <a:pt x="1465961" y="3051048"/>
                  </a:lnTo>
                  <a:lnTo>
                    <a:pt x="1465961" y="3061068"/>
                  </a:lnTo>
                  <a:lnTo>
                    <a:pt x="1459865" y="3067939"/>
                  </a:lnTo>
                  <a:lnTo>
                    <a:pt x="1465961" y="3069577"/>
                  </a:lnTo>
                  <a:lnTo>
                    <a:pt x="1465961" y="3082798"/>
                  </a:lnTo>
                  <a:lnTo>
                    <a:pt x="23241" y="3082798"/>
                  </a:lnTo>
                  <a:lnTo>
                    <a:pt x="773950" y="2418283"/>
                  </a:lnTo>
                  <a:lnTo>
                    <a:pt x="1474635" y="3038576"/>
                  </a:lnTo>
                  <a:lnTo>
                    <a:pt x="1473835" y="3038983"/>
                  </a:lnTo>
                  <a:lnTo>
                    <a:pt x="1477746" y="3041904"/>
                  </a:lnTo>
                  <a:lnTo>
                    <a:pt x="1477746" y="3024403"/>
                  </a:lnTo>
                  <a:lnTo>
                    <a:pt x="783475" y="2409850"/>
                  </a:lnTo>
                  <a:lnTo>
                    <a:pt x="954976" y="2258034"/>
                  </a:lnTo>
                  <a:lnTo>
                    <a:pt x="1492415" y="3029635"/>
                  </a:lnTo>
                  <a:lnTo>
                    <a:pt x="1492415" y="3007436"/>
                  </a:lnTo>
                  <a:lnTo>
                    <a:pt x="964565" y="2249551"/>
                  </a:lnTo>
                  <a:lnTo>
                    <a:pt x="1066520" y="2159292"/>
                  </a:lnTo>
                  <a:lnTo>
                    <a:pt x="1496593" y="3013430"/>
                  </a:lnTo>
                  <a:lnTo>
                    <a:pt x="1496593" y="2985300"/>
                  </a:lnTo>
                  <a:lnTo>
                    <a:pt x="1076350" y="2150605"/>
                  </a:lnTo>
                  <a:lnTo>
                    <a:pt x="1489367" y="1784997"/>
                  </a:lnTo>
                  <a:lnTo>
                    <a:pt x="1510411" y="1808734"/>
                  </a:lnTo>
                  <a:lnTo>
                    <a:pt x="1527149" y="1767078"/>
                  </a:lnTo>
                  <a:lnTo>
                    <a:pt x="1542161" y="1729740"/>
                  </a:lnTo>
                  <a:lnTo>
                    <a:pt x="1524889" y="1704721"/>
                  </a:lnTo>
                  <a:lnTo>
                    <a:pt x="1493774" y="1659636"/>
                  </a:lnTo>
                  <a:lnTo>
                    <a:pt x="1480947" y="1682940"/>
                  </a:lnTo>
                  <a:lnTo>
                    <a:pt x="1480947" y="1775510"/>
                  </a:lnTo>
                  <a:lnTo>
                    <a:pt x="1070457" y="2138908"/>
                  </a:lnTo>
                  <a:lnTo>
                    <a:pt x="1060640" y="2119414"/>
                  </a:lnTo>
                  <a:lnTo>
                    <a:pt x="1060640" y="2147595"/>
                  </a:lnTo>
                  <a:lnTo>
                    <a:pt x="957287" y="2239099"/>
                  </a:lnTo>
                  <a:lnTo>
                    <a:pt x="947699" y="2225332"/>
                  </a:lnTo>
                  <a:lnTo>
                    <a:pt x="947699" y="2247582"/>
                  </a:lnTo>
                  <a:lnTo>
                    <a:pt x="773938" y="2401417"/>
                  </a:lnTo>
                  <a:lnTo>
                    <a:pt x="764413" y="2392997"/>
                  </a:lnTo>
                  <a:lnTo>
                    <a:pt x="764413" y="2409837"/>
                  </a:lnTo>
                  <a:lnTo>
                    <a:pt x="41249" y="3050044"/>
                  </a:lnTo>
                  <a:lnTo>
                    <a:pt x="592886" y="2257983"/>
                  </a:lnTo>
                  <a:lnTo>
                    <a:pt x="764413" y="2409837"/>
                  </a:lnTo>
                  <a:lnTo>
                    <a:pt x="764413" y="2392997"/>
                  </a:lnTo>
                  <a:lnTo>
                    <a:pt x="600151" y="2247569"/>
                  </a:lnTo>
                  <a:lnTo>
                    <a:pt x="773912" y="1998065"/>
                  </a:lnTo>
                  <a:lnTo>
                    <a:pt x="947699" y="2247582"/>
                  </a:lnTo>
                  <a:lnTo>
                    <a:pt x="947699" y="2225332"/>
                  </a:lnTo>
                  <a:lnTo>
                    <a:pt x="781672" y="1986927"/>
                  </a:lnTo>
                  <a:lnTo>
                    <a:pt x="896632" y="1821853"/>
                  </a:lnTo>
                  <a:lnTo>
                    <a:pt x="1060640" y="2147595"/>
                  </a:lnTo>
                  <a:lnTo>
                    <a:pt x="1060640" y="2119414"/>
                  </a:lnTo>
                  <a:lnTo>
                    <a:pt x="904887" y="1810016"/>
                  </a:lnTo>
                  <a:lnTo>
                    <a:pt x="956360" y="1736090"/>
                  </a:lnTo>
                  <a:lnTo>
                    <a:pt x="1465961" y="1736090"/>
                  </a:lnTo>
                  <a:lnTo>
                    <a:pt x="1465961" y="1750085"/>
                  </a:lnTo>
                  <a:lnTo>
                    <a:pt x="1459865" y="1751711"/>
                  </a:lnTo>
                  <a:lnTo>
                    <a:pt x="1465961" y="1758594"/>
                  </a:lnTo>
                  <a:lnTo>
                    <a:pt x="1465961" y="1767840"/>
                  </a:lnTo>
                  <a:lnTo>
                    <a:pt x="1471625" y="1765007"/>
                  </a:lnTo>
                  <a:lnTo>
                    <a:pt x="1480947" y="1775510"/>
                  </a:lnTo>
                  <a:lnTo>
                    <a:pt x="1480947" y="1682940"/>
                  </a:lnTo>
                  <a:lnTo>
                    <a:pt x="1478470" y="1687436"/>
                  </a:lnTo>
                  <a:lnTo>
                    <a:pt x="1465961" y="1680552"/>
                  </a:lnTo>
                  <a:lnTo>
                    <a:pt x="1465961" y="1695094"/>
                  </a:lnTo>
                  <a:lnTo>
                    <a:pt x="1465961" y="1710156"/>
                  </a:lnTo>
                  <a:lnTo>
                    <a:pt x="1458671" y="1723390"/>
                  </a:lnTo>
                  <a:lnTo>
                    <a:pt x="965212" y="1723390"/>
                  </a:lnTo>
                  <a:lnTo>
                    <a:pt x="1118235" y="1503680"/>
                  </a:lnTo>
                  <a:lnTo>
                    <a:pt x="1465961" y="1695094"/>
                  </a:lnTo>
                  <a:lnTo>
                    <a:pt x="1465961" y="1680552"/>
                  </a:lnTo>
                  <a:lnTo>
                    <a:pt x="1125550" y="1493164"/>
                  </a:lnTo>
                  <a:lnTo>
                    <a:pt x="1503781" y="950099"/>
                  </a:lnTo>
                  <a:lnTo>
                    <a:pt x="1529842" y="968248"/>
                  </a:lnTo>
                  <a:lnTo>
                    <a:pt x="1535061" y="932434"/>
                  </a:lnTo>
                  <a:lnTo>
                    <a:pt x="1542161" y="883920"/>
                  </a:lnTo>
                  <a:lnTo>
                    <a:pt x="1529461" y="877570"/>
                  </a:lnTo>
                  <a:lnTo>
                    <a:pt x="1490154" y="857923"/>
                  </a:lnTo>
                  <a:lnTo>
                    <a:pt x="1490154" y="947470"/>
                  </a:lnTo>
                  <a:lnTo>
                    <a:pt x="1114361" y="1487004"/>
                  </a:lnTo>
                  <a:lnTo>
                    <a:pt x="1107046" y="1482979"/>
                  </a:lnTo>
                  <a:lnTo>
                    <a:pt x="1107046" y="1497520"/>
                  </a:lnTo>
                  <a:lnTo>
                    <a:pt x="949718" y="1723390"/>
                  </a:lnTo>
                  <a:lnTo>
                    <a:pt x="940866" y="1723390"/>
                  </a:lnTo>
                  <a:lnTo>
                    <a:pt x="940866" y="1736090"/>
                  </a:lnTo>
                  <a:lnTo>
                    <a:pt x="898385" y="1797100"/>
                  </a:lnTo>
                  <a:lnTo>
                    <a:pt x="890130" y="1780705"/>
                  </a:lnTo>
                  <a:lnTo>
                    <a:pt x="890130" y="1808937"/>
                  </a:lnTo>
                  <a:lnTo>
                    <a:pt x="773912" y="1975802"/>
                  </a:lnTo>
                  <a:lnTo>
                    <a:pt x="766152" y="1964664"/>
                  </a:lnTo>
                  <a:lnTo>
                    <a:pt x="766152" y="1986940"/>
                  </a:lnTo>
                  <a:lnTo>
                    <a:pt x="590550" y="2239073"/>
                  </a:lnTo>
                  <a:lnTo>
                    <a:pt x="583285" y="2232647"/>
                  </a:lnTo>
                  <a:lnTo>
                    <a:pt x="583285" y="2249500"/>
                  </a:lnTo>
                  <a:lnTo>
                    <a:pt x="51663" y="3012770"/>
                  </a:lnTo>
                  <a:lnTo>
                    <a:pt x="481368" y="2159254"/>
                  </a:lnTo>
                  <a:lnTo>
                    <a:pt x="583285" y="2249500"/>
                  </a:lnTo>
                  <a:lnTo>
                    <a:pt x="583285" y="2232647"/>
                  </a:lnTo>
                  <a:lnTo>
                    <a:pt x="487235" y="2147608"/>
                  </a:lnTo>
                  <a:lnTo>
                    <a:pt x="651217" y="1821903"/>
                  </a:lnTo>
                  <a:lnTo>
                    <a:pt x="766152" y="1986940"/>
                  </a:lnTo>
                  <a:lnTo>
                    <a:pt x="766152" y="1964664"/>
                  </a:lnTo>
                  <a:lnTo>
                    <a:pt x="657733" y="1808962"/>
                  </a:lnTo>
                  <a:lnTo>
                    <a:pt x="694410" y="1736090"/>
                  </a:lnTo>
                  <a:lnTo>
                    <a:pt x="853465" y="1736090"/>
                  </a:lnTo>
                  <a:lnTo>
                    <a:pt x="890130" y="1808937"/>
                  </a:lnTo>
                  <a:lnTo>
                    <a:pt x="890130" y="1780705"/>
                  </a:lnTo>
                  <a:lnTo>
                    <a:pt x="867676" y="1736090"/>
                  </a:lnTo>
                  <a:lnTo>
                    <a:pt x="940866" y="1736090"/>
                  </a:lnTo>
                  <a:lnTo>
                    <a:pt x="940866" y="1723390"/>
                  </a:lnTo>
                  <a:lnTo>
                    <a:pt x="861275" y="1723390"/>
                  </a:lnTo>
                  <a:lnTo>
                    <a:pt x="847077" y="1695196"/>
                  </a:lnTo>
                  <a:lnTo>
                    <a:pt x="847077" y="1723390"/>
                  </a:lnTo>
                  <a:lnTo>
                    <a:pt x="700811" y="1723390"/>
                  </a:lnTo>
                  <a:lnTo>
                    <a:pt x="773938" y="1578140"/>
                  </a:lnTo>
                  <a:lnTo>
                    <a:pt x="847077" y="1723390"/>
                  </a:lnTo>
                  <a:lnTo>
                    <a:pt x="847077" y="1695196"/>
                  </a:lnTo>
                  <a:lnTo>
                    <a:pt x="781037" y="1564043"/>
                  </a:lnTo>
                  <a:lnTo>
                    <a:pt x="878014" y="1371422"/>
                  </a:lnTo>
                  <a:lnTo>
                    <a:pt x="1107046" y="1497520"/>
                  </a:lnTo>
                  <a:lnTo>
                    <a:pt x="1107046" y="1482979"/>
                  </a:lnTo>
                  <a:lnTo>
                    <a:pt x="883742" y="1360043"/>
                  </a:lnTo>
                  <a:lnTo>
                    <a:pt x="957846" y="1212850"/>
                  </a:lnTo>
                  <a:lnTo>
                    <a:pt x="1473492" y="928979"/>
                  </a:lnTo>
                  <a:lnTo>
                    <a:pt x="1484007" y="936307"/>
                  </a:lnTo>
                  <a:lnTo>
                    <a:pt x="1490154" y="947470"/>
                  </a:lnTo>
                  <a:lnTo>
                    <a:pt x="1490154" y="857923"/>
                  </a:lnTo>
                  <a:lnTo>
                    <a:pt x="1465961" y="845820"/>
                  </a:lnTo>
                  <a:lnTo>
                    <a:pt x="1465961" y="877570"/>
                  </a:lnTo>
                  <a:lnTo>
                    <a:pt x="1465961" y="903516"/>
                  </a:lnTo>
                  <a:lnTo>
                    <a:pt x="1465961" y="918591"/>
                  </a:lnTo>
                  <a:lnTo>
                    <a:pt x="967968" y="1192745"/>
                  </a:lnTo>
                  <a:lnTo>
                    <a:pt x="1120254" y="890270"/>
                  </a:lnTo>
                  <a:lnTo>
                    <a:pt x="1458671" y="890270"/>
                  </a:lnTo>
                  <a:lnTo>
                    <a:pt x="1465961" y="903516"/>
                  </a:lnTo>
                  <a:lnTo>
                    <a:pt x="1465961" y="877570"/>
                  </a:lnTo>
                  <a:lnTo>
                    <a:pt x="1126642" y="877570"/>
                  </a:lnTo>
                  <a:lnTo>
                    <a:pt x="1511490" y="113169"/>
                  </a:lnTo>
                  <a:lnTo>
                    <a:pt x="1519174" y="120142"/>
                  </a:lnTo>
                  <a:lnTo>
                    <a:pt x="1521193" y="112903"/>
                  </a:lnTo>
                  <a:lnTo>
                    <a:pt x="1541907" y="123317"/>
                  </a:lnTo>
                  <a:lnTo>
                    <a:pt x="1541995" y="91948"/>
                  </a:lnTo>
                  <a:lnTo>
                    <a:pt x="1542161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414259" y="1007363"/>
              <a:ext cx="539750" cy="539750"/>
            </a:xfrm>
            <a:custGeom>
              <a:avLst/>
              <a:gdLst/>
              <a:ahLst/>
              <a:cxnLst/>
              <a:rect l="l" t="t" r="r" b="b"/>
              <a:pathLst>
                <a:path w="539750" h="539750">
                  <a:moveTo>
                    <a:pt x="269748" y="0"/>
                  </a:moveTo>
                  <a:lnTo>
                    <a:pt x="221262" y="4346"/>
                  </a:lnTo>
                  <a:lnTo>
                    <a:pt x="175626" y="16876"/>
                  </a:lnTo>
                  <a:lnTo>
                    <a:pt x="133603" y="36829"/>
                  </a:lnTo>
                  <a:lnTo>
                    <a:pt x="95955" y="63443"/>
                  </a:lnTo>
                  <a:lnTo>
                    <a:pt x="63443" y="95955"/>
                  </a:lnTo>
                  <a:lnTo>
                    <a:pt x="36829" y="133603"/>
                  </a:lnTo>
                  <a:lnTo>
                    <a:pt x="16876" y="175626"/>
                  </a:lnTo>
                  <a:lnTo>
                    <a:pt x="4346" y="221262"/>
                  </a:lnTo>
                  <a:lnTo>
                    <a:pt x="0" y="269748"/>
                  </a:lnTo>
                  <a:lnTo>
                    <a:pt x="4346" y="318233"/>
                  </a:lnTo>
                  <a:lnTo>
                    <a:pt x="16876" y="363869"/>
                  </a:lnTo>
                  <a:lnTo>
                    <a:pt x="36830" y="405891"/>
                  </a:lnTo>
                  <a:lnTo>
                    <a:pt x="63443" y="443540"/>
                  </a:lnTo>
                  <a:lnTo>
                    <a:pt x="95955" y="476052"/>
                  </a:lnTo>
                  <a:lnTo>
                    <a:pt x="133603" y="502665"/>
                  </a:lnTo>
                  <a:lnTo>
                    <a:pt x="175626" y="522619"/>
                  </a:lnTo>
                  <a:lnTo>
                    <a:pt x="221262" y="535149"/>
                  </a:lnTo>
                  <a:lnTo>
                    <a:pt x="269748" y="539496"/>
                  </a:lnTo>
                  <a:lnTo>
                    <a:pt x="318233" y="535149"/>
                  </a:lnTo>
                  <a:lnTo>
                    <a:pt x="363869" y="522619"/>
                  </a:lnTo>
                  <a:lnTo>
                    <a:pt x="405892" y="502666"/>
                  </a:lnTo>
                  <a:lnTo>
                    <a:pt x="443540" y="476052"/>
                  </a:lnTo>
                  <a:lnTo>
                    <a:pt x="476052" y="443540"/>
                  </a:lnTo>
                  <a:lnTo>
                    <a:pt x="502666" y="405892"/>
                  </a:lnTo>
                  <a:lnTo>
                    <a:pt x="522619" y="363869"/>
                  </a:lnTo>
                  <a:lnTo>
                    <a:pt x="535149" y="318233"/>
                  </a:lnTo>
                  <a:lnTo>
                    <a:pt x="539496" y="269748"/>
                  </a:lnTo>
                  <a:lnTo>
                    <a:pt x="535149" y="221262"/>
                  </a:lnTo>
                  <a:lnTo>
                    <a:pt x="522619" y="175626"/>
                  </a:lnTo>
                  <a:lnTo>
                    <a:pt x="502665" y="133604"/>
                  </a:lnTo>
                  <a:lnTo>
                    <a:pt x="476052" y="95955"/>
                  </a:lnTo>
                  <a:lnTo>
                    <a:pt x="443540" y="63443"/>
                  </a:lnTo>
                  <a:lnTo>
                    <a:pt x="405892" y="36830"/>
                  </a:lnTo>
                  <a:lnTo>
                    <a:pt x="363869" y="16876"/>
                  </a:lnTo>
                  <a:lnTo>
                    <a:pt x="318233" y="4346"/>
                  </a:lnTo>
                  <a:lnTo>
                    <a:pt x="269748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414259" y="1007363"/>
              <a:ext cx="539750" cy="539750"/>
            </a:xfrm>
            <a:custGeom>
              <a:avLst/>
              <a:gdLst/>
              <a:ahLst/>
              <a:cxnLst/>
              <a:rect l="l" t="t" r="r" b="b"/>
              <a:pathLst>
                <a:path w="539750" h="539750">
                  <a:moveTo>
                    <a:pt x="0" y="269748"/>
                  </a:moveTo>
                  <a:lnTo>
                    <a:pt x="4346" y="221262"/>
                  </a:lnTo>
                  <a:lnTo>
                    <a:pt x="16876" y="175626"/>
                  </a:lnTo>
                  <a:lnTo>
                    <a:pt x="36829" y="133603"/>
                  </a:lnTo>
                  <a:lnTo>
                    <a:pt x="63443" y="95955"/>
                  </a:lnTo>
                  <a:lnTo>
                    <a:pt x="95955" y="63443"/>
                  </a:lnTo>
                  <a:lnTo>
                    <a:pt x="133603" y="36829"/>
                  </a:lnTo>
                  <a:lnTo>
                    <a:pt x="175626" y="16876"/>
                  </a:lnTo>
                  <a:lnTo>
                    <a:pt x="221262" y="4346"/>
                  </a:lnTo>
                  <a:lnTo>
                    <a:pt x="269748" y="0"/>
                  </a:lnTo>
                  <a:lnTo>
                    <a:pt x="318233" y="4346"/>
                  </a:lnTo>
                  <a:lnTo>
                    <a:pt x="363869" y="16876"/>
                  </a:lnTo>
                  <a:lnTo>
                    <a:pt x="405892" y="36830"/>
                  </a:lnTo>
                  <a:lnTo>
                    <a:pt x="443540" y="63443"/>
                  </a:lnTo>
                  <a:lnTo>
                    <a:pt x="476052" y="95955"/>
                  </a:lnTo>
                  <a:lnTo>
                    <a:pt x="502665" y="133604"/>
                  </a:lnTo>
                  <a:lnTo>
                    <a:pt x="522619" y="175626"/>
                  </a:lnTo>
                  <a:lnTo>
                    <a:pt x="535149" y="221262"/>
                  </a:lnTo>
                  <a:lnTo>
                    <a:pt x="539496" y="269748"/>
                  </a:lnTo>
                  <a:lnTo>
                    <a:pt x="535149" y="318233"/>
                  </a:lnTo>
                  <a:lnTo>
                    <a:pt x="522619" y="363869"/>
                  </a:lnTo>
                  <a:lnTo>
                    <a:pt x="502666" y="405892"/>
                  </a:lnTo>
                  <a:lnTo>
                    <a:pt x="476052" y="443540"/>
                  </a:lnTo>
                  <a:lnTo>
                    <a:pt x="443540" y="476052"/>
                  </a:lnTo>
                  <a:lnTo>
                    <a:pt x="405892" y="502666"/>
                  </a:lnTo>
                  <a:lnTo>
                    <a:pt x="363869" y="522619"/>
                  </a:lnTo>
                  <a:lnTo>
                    <a:pt x="318233" y="535149"/>
                  </a:lnTo>
                  <a:lnTo>
                    <a:pt x="269748" y="539496"/>
                  </a:lnTo>
                  <a:lnTo>
                    <a:pt x="221262" y="535149"/>
                  </a:lnTo>
                  <a:lnTo>
                    <a:pt x="175626" y="522619"/>
                  </a:lnTo>
                  <a:lnTo>
                    <a:pt x="133603" y="502665"/>
                  </a:lnTo>
                  <a:lnTo>
                    <a:pt x="95955" y="476052"/>
                  </a:lnTo>
                  <a:lnTo>
                    <a:pt x="63443" y="443540"/>
                  </a:lnTo>
                  <a:lnTo>
                    <a:pt x="36830" y="405891"/>
                  </a:lnTo>
                  <a:lnTo>
                    <a:pt x="16876" y="363869"/>
                  </a:lnTo>
                  <a:lnTo>
                    <a:pt x="4346" y="318233"/>
                  </a:lnTo>
                  <a:lnTo>
                    <a:pt x="0" y="269748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875655" y="626617"/>
              <a:ext cx="1539240" cy="860425"/>
            </a:xfrm>
            <a:custGeom>
              <a:avLst/>
              <a:gdLst/>
              <a:ahLst/>
              <a:cxnLst/>
              <a:rect l="l" t="t" r="r" b="b"/>
              <a:pathLst>
                <a:path w="1539240" h="860425">
                  <a:moveTo>
                    <a:pt x="1538859" y="649859"/>
                  </a:moveTo>
                  <a:lnTo>
                    <a:pt x="1522717" y="631063"/>
                  </a:lnTo>
                  <a:lnTo>
                    <a:pt x="1483360" y="585216"/>
                  </a:lnTo>
                  <a:lnTo>
                    <a:pt x="1471066" y="614502"/>
                  </a:lnTo>
                  <a:lnTo>
                    <a:pt x="4826" y="0"/>
                  </a:lnTo>
                  <a:lnTo>
                    <a:pt x="0" y="11684"/>
                  </a:lnTo>
                  <a:lnTo>
                    <a:pt x="1458366" y="622896"/>
                  </a:lnTo>
                  <a:lnTo>
                    <a:pt x="1460563" y="639533"/>
                  </a:lnTo>
                  <a:lnTo>
                    <a:pt x="1453934" y="655345"/>
                  </a:lnTo>
                  <a:lnTo>
                    <a:pt x="1524" y="847852"/>
                  </a:lnTo>
                  <a:lnTo>
                    <a:pt x="3302" y="860425"/>
                  </a:lnTo>
                  <a:lnTo>
                    <a:pt x="1464183" y="666775"/>
                  </a:lnTo>
                  <a:lnTo>
                    <a:pt x="1468374" y="698246"/>
                  </a:lnTo>
                  <a:lnTo>
                    <a:pt x="1535849" y="652526"/>
                  </a:lnTo>
                  <a:lnTo>
                    <a:pt x="1538859" y="650494"/>
                  </a:lnTo>
                  <a:lnTo>
                    <a:pt x="1537309" y="649960"/>
                  </a:lnTo>
                  <a:lnTo>
                    <a:pt x="1538859" y="64985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414259" y="1853183"/>
              <a:ext cx="539750" cy="539750"/>
            </a:xfrm>
            <a:custGeom>
              <a:avLst/>
              <a:gdLst/>
              <a:ahLst/>
              <a:cxnLst/>
              <a:rect l="l" t="t" r="r" b="b"/>
              <a:pathLst>
                <a:path w="539750" h="539750">
                  <a:moveTo>
                    <a:pt x="269748" y="0"/>
                  </a:moveTo>
                  <a:lnTo>
                    <a:pt x="221262" y="4346"/>
                  </a:lnTo>
                  <a:lnTo>
                    <a:pt x="175626" y="16876"/>
                  </a:lnTo>
                  <a:lnTo>
                    <a:pt x="133603" y="36829"/>
                  </a:lnTo>
                  <a:lnTo>
                    <a:pt x="95955" y="63443"/>
                  </a:lnTo>
                  <a:lnTo>
                    <a:pt x="63443" y="95955"/>
                  </a:lnTo>
                  <a:lnTo>
                    <a:pt x="36829" y="133603"/>
                  </a:lnTo>
                  <a:lnTo>
                    <a:pt x="16876" y="175626"/>
                  </a:lnTo>
                  <a:lnTo>
                    <a:pt x="4346" y="221262"/>
                  </a:lnTo>
                  <a:lnTo>
                    <a:pt x="0" y="269748"/>
                  </a:lnTo>
                  <a:lnTo>
                    <a:pt x="4346" y="318233"/>
                  </a:lnTo>
                  <a:lnTo>
                    <a:pt x="16876" y="363869"/>
                  </a:lnTo>
                  <a:lnTo>
                    <a:pt x="36830" y="405891"/>
                  </a:lnTo>
                  <a:lnTo>
                    <a:pt x="63443" y="443540"/>
                  </a:lnTo>
                  <a:lnTo>
                    <a:pt x="95955" y="476052"/>
                  </a:lnTo>
                  <a:lnTo>
                    <a:pt x="133603" y="502665"/>
                  </a:lnTo>
                  <a:lnTo>
                    <a:pt x="175626" y="522619"/>
                  </a:lnTo>
                  <a:lnTo>
                    <a:pt x="221262" y="535149"/>
                  </a:lnTo>
                  <a:lnTo>
                    <a:pt x="269748" y="539495"/>
                  </a:lnTo>
                  <a:lnTo>
                    <a:pt x="318233" y="535149"/>
                  </a:lnTo>
                  <a:lnTo>
                    <a:pt x="363869" y="522619"/>
                  </a:lnTo>
                  <a:lnTo>
                    <a:pt x="405892" y="502665"/>
                  </a:lnTo>
                  <a:lnTo>
                    <a:pt x="443540" y="476052"/>
                  </a:lnTo>
                  <a:lnTo>
                    <a:pt x="476052" y="443540"/>
                  </a:lnTo>
                  <a:lnTo>
                    <a:pt x="502666" y="405891"/>
                  </a:lnTo>
                  <a:lnTo>
                    <a:pt x="522619" y="363869"/>
                  </a:lnTo>
                  <a:lnTo>
                    <a:pt x="535149" y="318233"/>
                  </a:lnTo>
                  <a:lnTo>
                    <a:pt x="539496" y="269748"/>
                  </a:lnTo>
                  <a:lnTo>
                    <a:pt x="535149" y="221262"/>
                  </a:lnTo>
                  <a:lnTo>
                    <a:pt x="522619" y="175626"/>
                  </a:lnTo>
                  <a:lnTo>
                    <a:pt x="502665" y="133604"/>
                  </a:lnTo>
                  <a:lnTo>
                    <a:pt x="476052" y="95955"/>
                  </a:lnTo>
                  <a:lnTo>
                    <a:pt x="443540" y="63443"/>
                  </a:lnTo>
                  <a:lnTo>
                    <a:pt x="405892" y="36830"/>
                  </a:lnTo>
                  <a:lnTo>
                    <a:pt x="363869" y="16876"/>
                  </a:lnTo>
                  <a:lnTo>
                    <a:pt x="318233" y="4346"/>
                  </a:lnTo>
                  <a:lnTo>
                    <a:pt x="269748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7414259" y="1853183"/>
              <a:ext cx="539750" cy="539750"/>
            </a:xfrm>
            <a:custGeom>
              <a:avLst/>
              <a:gdLst/>
              <a:ahLst/>
              <a:cxnLst/>
              <a:rect l="l" t="t" r="r" b="b"/>
              <a:pathLst>
                <a:path w="539750" h="539750">
                  <a:moveTo>
                    <a:pt x="0" y="269748"/>
                  </a:moveTo>
                  <a:lnTo>
                    <a:pt x="4346" y="221262"/>
                  </a:lnTo>
                  <a:lnTo>
                    <a:pt x="16876" y="175626"/>
                  </a:lnTo>
                  <a:lnTo>
                    <a:pt x="36829" y="133603"/>
                  </a:lnTo>
                  <a:lnTo>
                    <a:pt x="63443" y="95955"/>
                  </a:lnTo>
                  <a:lnTo>
                    <a:pt x="95955" y="63443"/>
                  </a:lnTo>
                  <a:lnTo>
                    <a:pt x="133603" y="36829"/>
                  </a:lnTo>
                  <a:lnTo>
                    <a:pt x="175626" y="16876"/>
                  </a:lnTo>
                  <a:lnTo>
                    <a:pt x="221262" y="4346"/>
                  </a:lnTo>
                  <a:lnTo>
                    <a:pt x="269748" y="0"/>
                  </a:lnTo>
                  <a:lnTo>
                    <a:pt x="318233" y="4346"/>
                  </a:lnTo>
                  <a:lnTo>
                    <a:pt x="363869" y="16876"/>
                  </a:lnTo>
                  <a:lnTo>
                    <a:pt x="405892" y="36830"/>
                  </a:lnTo>
                  <a:lnTo>
                    <a:pt x="443540" y="63443"/>
                  </a:lnTo>
                  <a:lnTo>
                    <a:pt x="476052" y="95955"/>
                  </a:lnTo>
                  <a:lnTo>
                    <a:pt x="502665" y="133604"/>
                  </a:lnTo>
                  <a:lnTo>
                    <a:pt x="522619" y="175626"/>
                  </a:lnTo>
                  <a:lnTo>
                    <a:pt x="535149" y="221262"/>
                  </a:lnTo>
                  <a:lnTo>
                    <a:pt x="539496" y="269748"/>
                  </a:lnTo>
                  <a:lnTo>
                    <a:pt x="535149" y="318233"/>
                  </a:lnTo>
                  <a:lnTo>
                    <a:pt x="522619" y="363869"/>
                  </a:lnTo>
                  <a:lnTo>
                    <a:pt x="502666" y="405891"/>
                  </a:lnTo>
                  <a:lnTo>
                    <a:pt x="476052" y="443540"/>
                  </a:lnTo>
                  <a:lnTo>
                    <a:pt x="443540" y="476052"/>
                  </a:lnTo>
                  <a:lnTo>
                    <a:pt x="405892" y="502665"/>
                  </a:lnTo>
                  <a:lnTo>
                    <a:pt x="363869" y="522619"/>
                  </a:lnTo>
                  <a:lnTo>
                    <a:pt x="318233" y="535149"/>
                  </a:lnTo>
                  <a:lnTo>
                    <a:pt x="269748" y="539495"/>
                  </a:lnTo>
                  <a:lnTo>
                    <a:pt x="221262" y="535149"/>
                  </a:lnTo>
                  <a:lnTo>
                    <a:pt x="175626" y="522619"/>
                  </a:lnTo>
                  <a:lnTo>
                    <a:pt x="133603" y="502665"/>
                  </a:lnTo>
                  <a:lnTo>
                    <a:pt x="95955" y="476052"/>
                  </a:lnTo>
                  <a:lnTo>
                    <a:pt x="63443" y="443540"/>
                  </a:lnTo>
                  <a:lnTo>
                    <a:pt x="36830" y="405891"/>
                  </a:lnTo>
                  <a:lnTo>
                    <a:pt x="16876" y="363869"/>
                  </a:lnTo>
                  <a:lnTo>
                    <a:pt x="4346" y="318233"/>
                  </a:lnTo>
                  <a:lnTo>
                    <a:pt x="0" y="269748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874512" y="1277111"/>
              <a:ext cx="1540510" cy="1056005"/>
            </a:xfrm>
            <a:custGeom>
              <a:avLst/>
              <a:gdLst/>
              <a:ahLst/>
              <a:cxnLst/>
              <a:rect l="l" t="t" r="r" b="b"/>
              <a:pathLst>
                <a:path w="1540509" h="1056005">
                  <a:moveTo>
                    <a:pt x="1540002" y="0"/>
                  </a:moveTo>
                  <a:lnTo>
                    <a:pt x="1455547" y="11557"/>
                  </a:lnTo>
                  <a:lnTo>
                    <a:pt x="1473492" y="37782"/>
                  </a:lnTo>
                  <a:lnTo>
                    <a:pt x="0" y="1044194"/>
                  </a:lnTo>
                  <a:lnTo>
                    <a:pt x="3556" y="1049464"/>
                  </a:lnTo>
                  <a:lnTo>
                    <a:pt x="4445" y="1055751"/>
                  </a:lnTo>
                  <a:lnTo>
                    <a:pt x="1465326" y="862101"/>
                  </a:lnTo>
                  <a:lnTo>
                    <a:pt x="1469517" y="893572"/>
                  </a:lnTo>
                  <a:lnTo>
                    <a:pt x="1536992" y="847852"/>
                  </a:lnTo>
                  <a:lnTo>
                    <a:pt x="1540002" y="845820"/>
                  </a:lnTo>
                  <a:lnTo>
                    <a:pt x="1459484" y="818007"/>
                  </a:lnTo>
                  <a:lnTo>
                    <a:pt x="1463662" y="849528"/>
                  </a:lnTo>
                  <a:lnTo>
                    <a:pt x="29171" y="1039672"/>
                  </a:lnTo>
                  <a:lnTo>
                    <a:pt x="1480616" y="48183"/>
                  </a:lnTo>
                  <a:lnTo>
                    <a:pt x="1498600" y="74422"/>
                  </a:lnTo>
                  <a:lnTo>
                    <a:pt x="1522971" y="30607"/>
                  </a:lnTo>
                  <a:lnTo>
                    <a:pt x="154000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414259" y="2699003"/>
              <a:ext cx="539750" cy="539750"/>
            </a:xfrm>
            <a:custGeom>
              <a:avLst/>
              <a:gdLst/>
              <a:ahLst/>
              <a:cxnLst/>
              <a:rect l="l" t="t" r="r" b="b"/>
              <a:pathLst>
                <a:path w="539750" h="539750">
                  <a:moveTo>
                    <a:pt x="269748" y="0"/>
                  </a:moveTo>
                  <a:lnTo>
                    <a:pt x="221262" y="4346"/>
                  </a:lnTo>
                  <a:lnTo>
                    <a:pt x="175626" y="16876"/>
                  </a:lnTo>
                  <a:lnTo>
                    <a:pt x="133603" y="36829"/>
                  </a:lnTo>
                  <a:lnTo>
                    <a:pt x="95955" y="63443"/>
                  </a:lnTo>
                  <a:lnTo>
                    <a:pt x="63443" y="95955"/>
                  </a:lnTo>
                  <a:lnTo>
                    <a:pt x="36829" y="133603"/>
                  </a:lnTo>
                  <a:lnTo>
                    <a:pt x="16876" y="175626"/>
                  </a:lnTo>
                  <a:lnTo>
                    <a:pt x="4346" y="221262"/>
                  </a:lnTo>
                  <a:lnTo>
                    <a:pt x="0" y="269748"/>
                  </a:lnTo>
                  <a:lnTo>
                    <a:pt x="4346" y="318233"/>
                  </a:lnTo>
                  <a:lnTo>
                    <a:pt x="16876" y="363869"/>
                  </a:lnTo>
                  <a:lnTo>
                    <a:pt x="36830" y="405891"/>
                  </a:lnTo>
                  <a:lnTo>
                    <a:pt x="63443" y="443540"/>
                  </a:lnTo>
                  <a:lnTo>
                    <a:pt x="95955" y="476052"/>
                  </a:lnTo>
                  <a:lnTo>
                    <a:pt x="133603" y="502665"/>
                  </a:lnTo>
                  <a:lnTo>
                    <a:pt x="175626" y="522619"/>
                  </a:lnTo>
                  <a:lnTo>
                    <a:pt x="221262" y="535149"/>
                  </a:lnTo>
                  <a:lnTo>
                    <a:pt x="269748" y="539496"/>
                  </a:lnTo>
                  <a:lnTo>
                    <a:pt x="318233" y="535149"/>
                  </a:lnTo>
                  <a:lnTo>
                    <a:pt x="363869" y="522619"/>
                  </a:lnTo>
                  <a:lnTo>
                    <a:pt x="405892" y="502666"/>
                  </a:lnTo>
                  <a:lnTo>
                    <a:pt x="443540" y="476052"/>
                  </a:lnTo>
                  <a:lnTo>
                    <a:pt x="476052" y="443540"/>
                  </a:lnTo>
                  <a:lnTo>
                    <a:pt x="502666" y="405892"/>
                  </a:lnTo>
                  <a:lnTo>
                    <a:pt x="522619" y="363869"/>
                  </a:lnTo>
                  <a:lnTo>
                    <a:pt x="535149" y="318233"/>
                  </a:lnTo>
                  <a:lnTo>
                    <a:pt x="539496" y="269748"/>
                  </a:lnTo>
                  <a:lnTo>
                    <a:pt x="535149" y="221262"/>
                  </a:lnTo>
                  <a:lnTo>
                    <a:pt x="522619" y="175626"/>
                  </a:lnTo>
                  <a:lnTo>
                    <a:pt x="502665" y="133604"/>
                  </a:lnTo>
                  <a:lnTo>
                    <a:pt x="476052" y="95955"/>
                  </a:lnTo>
                  <a:lnTo>
                    <a:pt x="443540" y="63443"/>
                  </a:lnTo>
                  <a:lnTo>
                    <a:pt x="405892" y="36830"/>
                  </a:lnTo>
                  <a:lnTo>
                    <a:pt x="363869" y="16876"/>
                  </a:lnTo>
                  <a:lnTo>
                    <a:pt x="318233" y="4346"/>
                  </a:lnTo>
                  <a:lnTo>
                    <a:pt x="269748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414259" y="2699003"/>
              <a:ext cx="539750" cy="539750"/>
            </a:xfrm>
            <a:custGeom>
              <a:avLst/>
              <a:gdLst/>
              <a:ahLst/>
              <a:cxnLst/>
              <a:rect l="l" t="t" r="r" b="b"/>
              <a:pathLst>
                <a:path w="539750" h="539750">
                  <a:moveTo>
                    <a:pt x="0" y="269748"/>
                  </a:moveTo>
                  <a:lnTo>
                    <a:pt x="4346" y="221262"/>
                  </a:lnTo>
                  <a:lnTo>
                    <a:pt x="16876" y="175626"/>
                  </a:lnTo>
                  <a:lnTo>
                    <a:pt x="36829" y="133603"/>
                  </a:lnTo>
                  <a:lnTo>
                    <a:pt x="63443" y="95955"/>
                  </a:lnTo>
                  <a:lnTo>
                    <a:pt x="95955" y="63443"/>
                  </a:lnTo>
                  <a:lnTo>
                    <a:pt x="133603" y="36829"/>
                  </a:lnTo>
                  <a:lnTo>
                    <a:pt x="175626" y="16876"/>
                  </a:lnTo>
                  <a:lnTo>
                    <a:pt x="221262" y="4346"/>
                  </a:lnTo>
                  <a:lnTo>
                    <a:pt x="269748" y="0"/>
                  </a:lnTo>
                  <a:lnTo>
                    <a:pt x="318233" y="4346"/>
                  </a:lnTo>
                  <a:lnTo>
                    <a:pt x="363869" y="16876"/>
                  </a:lnTo>
                  <a:lnTo>
                    <a:pt x="405892" y="36830"/>
                  </a:lnTo>
                  <a:lnTo>
                    <a:pt x="443540" y="63443"/>
                  </a:lnTo>
                  <a:lnTo>
                    <a:pt x="476052" y="95955"/>
                  </a:lnTo>
                  <a:lnTo>
                    <a:pt x="502665" y="133604"/>
                  </a:lnTo>
                  <a:lnTo>
                    <a:pt x="522619" y="175626"/>
                  </a:lnTo>
                  <a:lnTo>
                    <a:pt x="535149" y="221262"/>
                  </a:lnTo>
                  <a:lnTo>
                    <a:pt x="539496" y="269748"/>
                  </a:lnTo>
                  <a:lnTo>
                    <a:pt x="535149" y="318233"/>
                  </a:lnTo>
                  <a:lnTo>
                    <a:pt x="522619" y="363869"/>
                  </a:lnTo>
                  <a:lnTo>
                    <a:pt x="502666" y="405892"/>
                  </a:lnTo>
                  <a:lnTo>
                    <a:pt x="476052" y="443540"/>
                  </a:lnTo>
                  <a:lnTo>
                    <a:pt x="443540" y="476052"/>
                  </a:lnTo>
                  <a:lnTo>
                    <a:pt x="405892" y="502666"/>
                  </a:lnTo>
                  <a:lnTo>
                    <a:pt x="363869" y="522619"/>
                  </a:lnTo>
                  <a:lnTo>
                    <a:pt x="318233" y="535149"/>
                  </a:lnTo>
                  <a:lnTo>
                    <a:pt x="269748" y="539496"/>
                  </a:lnTo>
                  <a:lnTo>
                    <a:pt x="221262" y="535149"/>
                  </a:lnTo>
                  <a:lnTo>
                    <a:pt x="175626" y="522619"/>
                  </a:lnTo>
                  <a:lnTo>
                    <a:pt x="133603" y="502665"/>
                  </a:lnTo>
                  <a:lnTo>
                    <a:pt x="95955" y="476052"/>
                  </a:lnTo>
                  <a:lnTo>
                    <a:pt x="63443" y="443540"/>
                  </a:lnTo>
                  <a:lnTo>
                    <a:pt x="36830" y="405891"/>
                  </a:lnTo>
                  <a:lnTo>
                    <a:pt x="16876" y="363869"/>
                  </a:lnTo>
                  <a:lnTo>
                    <a:pt x="4346" y="318233"/>
                  </a:lnTo>
                  <a:lnTo>
                    <a:pt x="0" y="269748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872734" y="630935"/>
              <a:ext cx="2621280" cy="3061970"/>
            </a:xfrm>
            <a:custGeom>
              <a:avLst/>
              <a:gdLst/>
              <a:ahLst/>
              <a:cxnLst/>
              <a:rect l="l" t="t" r="r" b="b"/>
              <a:pathLst>
                <a:path w="2621279" h="3061970">
                  <a:moveTo>
                    <a:pt x="1541780" y="646176"/>
                  </a:moveTo>
                  <a:lnTo>
                    <a:pt x="1468628" y="689991"/>
                  </a:lnTo>
                  <a:lnTo>
                    <a:pt x="1495437" y="707059"/>
                  </a:lnTo>
                  <a:lnTo>
                    <a:pt x="1206969" y="1159484"/>
                  </a:lnTo>
                  <a:lnTo>
                    <a:pt x="1200010" y="1152753"/>
                  </a:lnTo>
                  <a:lnTo>
                    <a:pt x="1200010" y="1170393"/>
                  </a:lnTo>
                  <a:lnTo>
                    <a:pt x="1113205" y="1306537"/>
                  </a:lnTo>
                  <a:lnTo>
                    <a:pt x="1106246" y="1303642"/>
                  </a:lnTo>
                  <a:lnTo>
                    <a:pt x="1106246" y="1317447"/>
                  </a:lnTo>
                  <a:lnTo>
                    <a:pt x="993584" y="1494142"/>
                  </a:lnTo>
                  <a:lnTo>
                    <a:pt x="986091" y="1482763"/>
                  </a:lnTo>
                  <a:lnTo>
                    <a:pt x="986091" y="1505889"/>
                  </a:lnTo>
                  <a:lnTo>
                    <a:pt x="873556" y="1682394"/>
                  </a:lnTo>
                  <a:lnTo>
                    <a:pt x="33896" y="869188"/>
                  </a:lnTo>
                  <a:lnTo>
                    <a:pt x="769315" y="1176616"/>
                  </a:lnTo>
                  <a:lnTo>
                    <a:pt x="986091" y="1505889"/>
                  </a:lnTo>
                  <a:lnTo>
                    <a:pt x="986091" y="1482763"/>
                  </a:lnTo>
                  <a:lnTo>
                    <a:pt x="790321" y="1185392"/>
                  </a:lnTo>
                  <a:lnTo>
                    <a:pt x="1106246" y="1317447"/>
                  </a:lnTo>
                  <a:lnTo>
                    <a:pt x="1106246" y="1303642"/>
                  </a:lnTo>
                  <a:lnTo>
                    <a:pt x="777798" y="1166380"/>
                  </a:lnTo>
                  <a:lnTo>
                    <a:pt x="42392" y="49352"/>
                  </a:lnTo>
                  <a:lnTo>
                    <a:pt x="1200010" y="1170393"/>
                  </a:lnTo>
                  <a:lnTo>
                    <a:pt x="1200010" y="1152753"/>
                  </a:lnTo>
                  <a:lnTo>
                    <a:pt x="9779" y="0"/>
                  </a:lnTo>
                  <a:lnTo>
                    <a:pt x="5334" y="4572"/>
                  </a:lnTo>
                  <a:lnTo>
                    <a:pt x="0" y="8001"/>
                  </a:lnTo>
                  <a:lnTo>
                    <a:pt x="756805" y="1157605"/>
                  </a:lnTo>
                  <a:lnTo>
                    <a:pt x="7747" y="844550"/>
                  </a:lnTo>
                  <a:lnTo>
                    <a:pt x="5334" y="850392"/>
                  </a:lnTo>
                  <a:lnTo>
                    <a:pt x="889" y="854964"/>
                  </a:lnTo>
                  <a:lnTo>
                    <a:pt x="866584" y="1693316"/>
                  </a:lnTo>
                  <a:lnTo>
                    <a:pt x="687374" y="1974392"/>
                  </a:lnTo>
                  <a:lnTo>
                    <a:pt x="7747" y="1690370"/>
                  </a:lnTo>
                  <a:lnTo>
                    <a:pt x="2921" y="1702054"/>
                  </a:lnTo>
                  <a:lnTo>
                    <a:pt x="680427" y="1985276"/>
                  </a:lnTo>
                  <a:lnTo>
                    <a:pt x="0" y="3052445"/>
                  </a:lnTo>
                  <a:lnTo>
                    <a:pt x="5283" y="3055848"/>
                  </a:lnTo>
                  <a:lnTo>
                    <a:pt x="8001" y="3061589"/>
                  </a:lnTo>
                  <a:lnTo>
                    <a:pt x="1475384" y="2375852"/>
                  </a:lnTo>
                  <a:lnTo>
                    <a:pt x="1488821" y="2404618"/>
                  </a:lnTo>
                  <a:lnTo>
                    <a:pt x="1525054" y="2358898"/>
                  </a:lnTo>
                  <a:lnTo>
                    <a:pt x="1541348" y="2338362"/>
                  </a:lnTo>
                  <a:lnTo>
                    <a:pt x="1541780" y="2338324"/>
                  </a:lnTo>
                  <a:lnTo>
                    <a:pt x="1541716" y="2337892"/>
                  </a:lnTo>
                  <a:lnTo>
                    <a:pt x="1535899" y="2288794"/>
                  </a:lnTo>
                  <a:lnTo>
                    <a:pt x="1531747" y="2253742"/>
                  </a:lnTo>
                  <a:lnTo>
                    <a:pt x="1515795" y="2264257"/>
                  </a:lnTo>
                  <a:lnTo>
                    <a:pt x="1513586" y="2257933"/>
                  </a:lnTo>
                  <a:lnTo>
                    <a:pt x="1503375" y="2268461"/>
                  </a:lnTo>
                  <a:lnTo>
                    <a:pt x="1494282" y="2254656"/>
                  </a:lnTo>
                  <a:lnTo>
                    <a:pt x="1494282" y="2277834"/>
                  </a:lnTo>
                  <a:lnTo>
                    <a:pt x="1492694" y="2279472"/>
                  </a:lnTo>
                  <a:lnTo>
                    <a:pt x="1491627" y="2280170"/>
                  </a:lnTo>
                  <a:lnTo>
                    <a:pt x="1486154" y="2273808"/>
                  </a:lnTo>
                  <a:lnTo>
                    <a:pt x="1485595" y="2275141"/>
                  </a:lnTo>
                  <a:lnTo>
                    <a:pt x="1480299" y="2270023"/>
                  </a:lnTo>
                  <a:lnTo>
                    <a:pt x="1480299" y="2287638"/>
                  </a:lnTo>
                  <a:lnTo>
                    <a:pt x="1468120" y="2295652"/>
                  </a:lnTo>
                  <a:lnTo>
                    <a:pt x="1473796" y="2298954"/>
                  </a:lnTo>
                  <a:lnTo>
                    <a:pt x="1470977" y="2301862"/>
                  </a:lnTo>
                  <a:lnTo>
                    <a:pt x="1469999" y="2301456"/>
                  </a:lnTo>
                  <a:lnTo>
                    <a:pt x="1469999" y="2364321"/>
                  </a:lnTo>
                  <a:lnTo>
                    <a:pt x="34734" y="3035058"/>
                  </a:lnTo>
                  <a:lnTo>
                    <a:pt x="953808" y="2099551"/>
                  </a:lnTo>
                  <a:lnTo>
                    <a:pt x="1461401" y="2311730"/>
                  </a:lnTo>
                  <a:lnTo>
                    <a:pt x="1460500" y="2312670"/>
                  </a:lnTo>
                  <a:lnTo>
                    <a:pt x="1468831" y="2315311"/>
                  </a:lnTo>
                  <a:lnTo>
                    <a:pt x="1460360" y="2335644"/>
                  </a:lnTo>
                  <a:lnTo>
                    <a:pt x="1456563" y="2335530"/>
                  </a:lnTo>
                  <a:lnTo>
                    <a:pt x="1458595" y="2339898"/>
                  </a:lnTo>
                  <a:lnTo>
                    <a:pt x="1456817" y="2344166"/>
                  </a:lnTo>
                  <a:lnTo>
                    <a:pt x="1460474" y="2343924"/>
                  </a:lnTo>
                  <a:lnTo>
                    <a:pt x="1469999" y="2364321"/>
                  </a:lnTo>
                  <a:lnTo>
                    <a:pt x="1469999" y="2301456"/>
                  </a:lnTo>
                  <a:lnTo>
                    <a:pt x="963422" y="2089759"/>
                  </a:lnTo>
                  <a:lnTo>
                    <a:pt x="1115796" y="1934667"/>
                  </a:lnTo>
                  <a:lnTo>
                    <a:pt x="1480299" y="2287638"/>
                  </a:lnTo>
                  <a:lnTo>
                    <a:pt x="1480299" y="2270023"/>
                  </a:lnTo>
                  <a:lnTo>
                    <a:pt x="1124686" y="1925612"/>
                  </a:lnTo>
                  <a:lnTo>
                    <a:pt x="1207147" y="1841677"/>
                  </a:lnTo>
                  <a:lnTo>
                    <a:pt x="1494282" y="2277834"/>
                  </a:lnTo>
                  <a:lnTo>
                    <a:pt x="1494282" y="2254656"/>
                  </a:lnTo>
                  <a:lnTo>
                    <a:pt x="1216279" y="1832381"/>
                  </a:lnTo>
                  <a:lnTo>
                    <a:pt x="1492935" y="1550771"/>
                  </a:lnTo>
                  <a:lnTo>
                    <a:pt x="1515618" y="1573022"/>
                  </a:lnTo>
                  <a:lnTo>
                    <a:pt x="1528572" y="1532890"/>
                  </a:lnTo>
                  <a:lnTo>
                    <a:pt x="1541602" y="1492516"/>
                  </a:lnTo>
                  <a:lnTo>
                    <a:pt x="1541780" y="1492504"/>
                  </a:lnTo>
                  <a:lnTo>
                    <a:pt x="1541691" y="1492262"/>
                  </a:lnTo>
                  <a:lnTo>
                    <a:pt x="1541780" y="1491996"/>
                  </a:lnTo>
                  <a:lnTo>
                    <a:pt x="1541614" y="1492059"/>
                  </a:lnTo>
                  <a:lnTo>
                    <a:pt x="1539925" y="1487246"/>
                  </a:lnTo>
                  <a:lnTo>
                    <a:pt x="1539925" y="1492631"/>
                  </a:lnTo>
                  <a:lnTo>
                    <a:pt x="1461262" y="1519682"/>
                  </a:lnTo>
                  <a:lnTo>
                    <a:pt x="1483893" y="1541907"/>
                  </a:lnTo>
                  <a:lnTo>
                    <a:pt x="1209141" y="1821548"/>
                  </a:lnTo>
                  <a:lnTo>
                    <a:pt x="1200010" y="1807679"/>
                  </a:lnTo>
                  <a:lnTo>
                    <a:pt x="1200010" y="1830844"/>
                  </a:lnTo>
                  <a:lnTo>
                    <a:pt x="1115568" y="1916785"/>
                  </a:lnTo>
                  <a:lnTo>
                    <a:pt x="1106678" y="1908187"/>
                  </a:lnTo>
                  <a:lnTo>
                    <a:pt x="1106678" y="1925828"/>
                  </a:lnTo>
                  <a:lnTo>
                    <a:pt x="950798" y="2084489"/>
                  </a:lnTo>
                  <a:lnTo>
                    <a:pt x="941184" y="2080475"/>
                  </a:lnTo>
                  <a:lnTo>
                    <a:pt x="941184" y="2094268"/>
                  </a:lnTo>
                  <a:lnTo>
                    <a:pt x="43268" y="3008160"/>
                  </a:lnTo>
                  <a:lnTo>
                    <a:pt x="692277" y="1990229"/>
                  </a:lnTo>
                  <a:lnTo>
                    <a:pt x="941184" y="2094268"/>
                  </a:lnTo>
                  <a:lnTo>
                    <a:pt x="941184" y="2080475"/>
                  </a:lnTo>
                  <a:lnTo>
                    <a:pt x="699211" y="1979345"/>
                  </a:lnTo>
                  <a:lnTo>
                    <a:pt x="875855" y="1702295"/>
                  </a:lnTo>
                  <a:lnTo>
                    <a:pt x="1106678" y="1925828"/>
                  </a:lnTo>
                  <a:lnTo>
                    <a:pt x="1106678" y="1908187"/>
                  </a:lnTo>
                  <a:lnTo>
                    <a:pt x="882815" y="1691360"/>
                  </a:lnTo>
                  <a:lnTo>
                    <a:pt x="993698" y="1517459"/>
                  </a:lnTo>
                  <a:lnTo>
                    <a:pt x="1200010" y="1830844"/>
                  </a:lnTo>
                  <a:lnTo>
                    <a:pt x="1200010" y="1807679"/>
                  </a:lnTo>
                  <a:lnTo>
                    <a:pt x="1001204" y="1505699"/>
                  </a:lnTo>
                  <a:lnTo>
                    <a:pt x="1118069" y="1322400"/>
                  </a:lnTo>
                  <a:lnTo>
                    <a:pt x="1461401" y="1465910"/>
                  </a:lnTo>
                  <a:lnTo>
                    <a:pt x="1460500" y="1466850"/>
                  </a:lnTo>
                  <a:lnTo>
                    <a:pt x="1468831" y="1469491"/>
                  </a:lnTo>
                  <a:lnTo>
                    <a:pt x="1456817" y="1498346"/>
                  </a:lnTo>
                  <a:lnTo>
                    <a:pt x="1539925" y="1492631"/>
                  </a:lnTo>
                  <a:lnTo>
                    <a:pt x="1539925" y="1487246"/>
                  </a:lnTo>
                  <a:lnTo>
                    <a:pt x="1527873" y="1452880"/>
                  </a:lnTo>
                  <a:lnTo>
                    <a:pt x="1513586" y="1412113"/>
                  </a:lnTo>
                  <a:lnTo>
                    <a:pt x="1491805" y="1434566"/>
                  </a:lnTo>
                  <a:lnTo>
                    <a:pt x="1486154" y="1427988"/>
                  </a:lnTo>
                  <a:lnTo>
                    <a:pt x="1485595" y="1429321"/>
                  </a:lnTo>
                  <a:lnTo>
                    <a:pt x="1480350" y="1424254"/>
                  </a:lnTo>
                  <a:lnTo>
                    <a:pt x="1480350" y="1441881"/>
                  </a:lnTo>
                  <a:lnTo>
                    <a:pt x="1477060" y="1449768"/>
                  </a:lnTo>
                  <a:lnTo>
                    <a:pt x="1470977" y="1456042"/>
                  </a:lnTo>
                  <a:lnTo>
                    <a:pt x="1125042" y="1311478"/>
                  </a:lnTo>
                  <a:lnTo>
                    <a:pt x="1209268" y="1179360"/>
                  </a:lnTo>
                  <a:lnTo>
                    <a:pt x="1480350" y="1441881"/>
                  </a:lnTo>
                  <a:lnTo>
                    <a:pt x="1480350" y="1424254"/>
                  </a:lnTo>
                  <a:lnTo>
                    <a:pt x="1216228" y="1168450"/>
                  </a:lnTo>
                  <a:lnTo>
                    <a:pt x="1506080" y="713841"/>
                  </a:lnTo>
                  <a:lnTo>
                    <a:pt x="1532890" y="730885"/>
                  </a:lnTo>
                  <a:lnTo>
                    <a:pt x="1536509" y="696341"/>
                  </a:lnTo>
                  <a:lnTo>
                    <a:pt x="1541780" y="646176"/>
                  </a:lnTo>
                  <a:close/>
                </a:path>
                <a:path w="2621279" h="3061970">
                  <a:moveTo>
                    <a:pt x="2618105" y="2343912"/>
                  </a:moveTo>
                  <a:lnTo>
                    <a:pt x="2605405" y="2337562"/>
                  </a:lnTo>
                  <a:lnTo>
                    <a:pt x="2541905" y="2305812"/>
                  </a:lnTo>
                  <a:lnTo>
                    <a:pt x="2541905" y="2337562"/>
                  </a:lnTo>
                  <a:lnTo>
                    <a:pt x="2077974" y="2337562"/>
                  </a:lnTo>
                  <a:lnTo>
                    <a:pt x="2077974" y="2350262"/>
                  </a:lnTo>
                  <a:lnTo>
                    <a:pt x="2541905" y="2350262"/>
                  </a:lnTo>
                  <a:lnTo>
                    <a:pt x="2541905" y="2382012"/>
                  </a:lnTo>
                  <a:lnTo>
                    <a:pt x="2605405" y="2350262"/>
                  </a:lnTo>
                  <a:lnTo>
                    <a:pt x="2618105" y="2343912"/>
                  </a:lnTo>
                  <a:close/>
                </a:path>
                <a:path w="2621279" h="3061970">
                  <a:moveTo>
                    <a:pt x="2621153" y="1491996"/>
                  </a:moveTo>
                  <a:lnTo>
                    <a:pt x="2608453" y="1485646"/>
                  </a:lnTo>
                  <a:lnTo>
                    <a:pt x="2544953" y="1453896"/>
                  </a:lnTo>
                  <a:lnTo>
                    <a:pt x="2544953" y="1485646"/>
                  </a:lnTo>
                  <a:lnTo>
                    <a:pt x="2081022" y="1485646"/>
                  </a:lnTo>
                  <a:lnTo>
                    <a:pt x="2081022" y="1498346"/>
                  </a:lnTo>
                  <a:lnTo>
                    <a:pt x="2544953" y="1498346"/>
                  </a:lnTo>
                  <a:lnTo>
                    <a:pt x="2544953" y="1530096"/>
                  </a:lnTo>
                  <a:lnTo>
                    <a:pt x="2608453" y="1498346"/>
                  </a:lnTo>
                  <a:lnTo>
                    <a:pt x="2621153" y="1491996"/>
                  </a:lnTo>
                  <a:close/>
                </a:path>
                <a:path w="2621279" h="3061970">
                  <a:moveTo>
                    <a:pt x="2621153" y="646176"/>
                  </a:moveTo>
                  <a:lnTo>
                    <a:pt x="2608453" y="639826"/>
                  </a:lnTo>
                  <a:lnTo>
                    <a:pt x="2544953" y="608076"/>
                  </a:lnTo>
                  <a:lnTo>
                    <a:pt x="2544953" y="639826"/>
                  </a:lnTo>
                  <a:lnTo>
                    <a:pt x="2081022" y="639826"/>
                  </a:lnTo>
                  <a:lnTo>
                    <a:pt x="2081022" y="652526"/>
                  </a:lnTo>
                  <a:lnTo>
                    <a:pt x="2544953" y="652526"/>
                  </a:lnTo>
                  <a:lnTo>
                    <a:pt x="2544953" y="684276"/>
                  </a:lnTo>
                  <a:lnTo>
                    <a:pt x="2608453" y="652526"/>
                  </a:lnTo>
                  <a:lnTo>
                    <a:pt x="2621153" y="6461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1972182" y="2522601"/>
            <a:ext cx="8318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623186" y="467995"/>
            <a:ext cx="1473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𝑥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739010" y="576199"/>
            <a:ext cx="12255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40" dirty="0">
                <a:latin typeface="Cambria Math"/>
                <a:cs typeface="Cambria Math"/>
              </a:rPr>
              <a:t>1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597786" y="1313129"/>
            <a:ext cx="2940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𝑥</a:t>
            </a:r>
            <a:r>
              <a:rPr sz="1950" spc="-37" baseline="-14957" dirty="0">
                <a:latin typeface="Cambria Math"/>
                <a:cs typeface="Cambria Math"/>
              </a:rPr>
              <a:t>2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597786" y="2154682"/>
            <a:ext cx="294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𝑥</a:t>
            </a:r>
            <a:r>
              <a:rPr sz="1950" spc="-37" baseline="-14957" dirty="0">
                <a:latin typeface="Cambria Math"/>
                <a:cs typeface="Cambria Math"/>
              </a:rPr>
              <a:t>3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597786" y="3516629"/>
            <a:ext cx="3175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𝑥</a:t>
            </a:r>
            <a:r>
              <a:rPr sz="1950" spc="-37" baseline="-14957" dirty="0">
                <a:latin typeface="Cambria Math"/>
                <a:cs typeface="Cambria Math"/>
              </a:rPr>
              <a:t>𝐾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504691" y="2535428"/>
            <a:ext cx="8318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576061" y="2522601"/>
            <a:ext cx="8318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8545068" y="1076020"/>
            <a:ext cx="28956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𝑦</a:t>
            </a:r>
            <a:r>
              <a:rPr sz="1950" spc="-37" baseline="-17094" dirty="0">
                <a:latin typeface="Cambria Math"/>
                <a:cs typeface="Cambria Math"/>
              </a:rPr>
              <a:t>1</a:t>
            </a:r>
            <a:endParaRPr sz="1950" baseline="-17094">
              <a:latin typeface="Cambria Math"/>
              <a:cs typeface="Cambria Math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8545068" y="1918208"/>
            <a:ext cx="294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𝑦</a:t>
            </a:r>
            <a:r>
              <a:rPr sz="1950" spc="-37" baseline="-14957" dirty="0">
                <a:latin typeface="Cambria Math"/>
                <a:cs typeface="Cambria Math"/>
              </a:rPr>
              <a:t>2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8545068" y="2775965"/>
            <a:ext cx="3136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𝑦</a:t>
            </a:r>
            <a:r>
              <a:rPr sz="1950" spc="-37" baseline="-14957" dirty="0">
                <a:latin typeface="Cambria Math"/>
                <a:cs typeface="Cambria Math"/>
              </a:rPr>
              <a:t>𝑄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3047745" y="4005148"/>
            <a:ext cx="966469" cy="849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78740" algn="just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Primeira camada escondida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482089" y="4005148"/>
            <a:ext cx="1064895" cy="57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Camada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de</a:t>
            </a:r>
            <a:endParaRPr sz="1800">
              <a:latin typeface="Calibri"/>
              <a:cs typeface="Calibri"/>
            </a:endParaRPr>
          </a:p>
          <a:p>
            <a:pPr marL="635" algn="ctr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Calibri"/>
                <a:cs typeface="Calibri"/>
              </a:rPr>
              <a:t>Entrada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5124703" y="4001261"/>
            <a:ext cx="966469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71120" algn="just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Segunda camada escondida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7154036" y="4011295"/>
            <a:ext cx="10642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2735" marR="5080" indent="-28067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Camada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de </a:t>
            </a:r>
            <a:r>
              <a:rPr sz="1800" spc="-10" dirty="0">
                <a:latin typeface="Calibri"/>
                <a:cs typeface="Calibri"/>
              </a:rPr>
              <a:t>saída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1577086" y="5185917"/>
            <a:ext cx="372745" cy="372745"/>
            <a:chOff x="1577086" y="5185917"/>
            <a:chExt cx="372745" cy="372745"/>
          </a:xfrm>
        </p:grpSpPr>
        <p:sp>
          <p:nvSpPr>
            <p:cNvPr id="56" name="object 56"/>
            <p:cNvSpPr/>
            <p:nvPr/>
          </p:nvSpPr>
          <p:spPr>
            <a:xfrm>
              <a:off x="1583436" y="5192267"/>
              <a:ext cx="360045" cy="360045"/>
            </a:xfrm>
            <a:custGeom>
              <a:avLst/>
              <a:gdLst/>
              <a:ahLst/>
              <a:cxnLst/>
              <a:rect l="l" t="t" r="r" b="b"/>
              <a:pathLst>
                <a:path w="360044" h="360045">
                  <a:moveTo>
                    <a:pt x="179831" y="0"/>
                  </a:moveTo>
                  <a:lnTo>
                    <a:pt x="132027" y="6424"/>
                  </a:lnTo>
                  <a:lnTo>
                    <a:pt x="89069" y="24553"/>
                  </a:lnTo>
                  <a:lnTo>
                    <a:pt x="52673" y="52673"/>
                  </a:lnTo>
                  <a:lnTo>
                    <a:pt x="24553" y="89069"/>
                  </a:lnTo>
                  <a:lnTo>
                    <a:pt x="6424" y="132027"/>
                  </a:lnTo>
                  <a:lnTo>
                    <a:pt x="0" y="179831"/>
                  </a:lnTo>
                  <a:lnTo>
                    <a:pt x="6424" y="227636"/>
                  </a:lnTo>
                  <a:lnTo>
                    <a:pt x="24553" y="270594"/>
                  </a:lnTo>
                  <a:lnTo>
                    <a:pt x="52673" y="306990"/>
                  </a:lnTo>
                  <a:lnTo>
                    <a:pt x="89069" y="335110"/>
                  </a:lnTo>
                  <a:lnTo>
                    <a:pt x="132027" y="353239"/>
                  </a:lnTo>
                  <a:lnTo>
                    <a:pt x="179831" y="359663"/>
                  </a:lnTo>
                  <a:lnTo>
                    <a:pt x="227636" y="353239"/>
                  </a:lnTo>
                  <a:lnTo>
                    <a:pt x="270594" y="335110"/>
                  </a:lnTo>
                  <a:lnTo>
                    <a:pt x="306990" y="306990"/>
                  </a:lnTo>
                  <a:lnTo>
                    <a:pt x="335110" y="270594"/>
                  </a:lnTo>
                  <a:lnTo>
                    <a:pt x="353239" y="227636"/>
                  </a:lnTo>
                  <a:lnTo>
                    <a:pt x="359663" y="179831"/>
                  </a:lnTo>
                  <a:lnTo>
                    <a:pt x="353239" y="132027"/>
                  </a:lnTo>
                  <a:lnTo>
                    <a:pt x="335110" y="89069"/>
                  </a:lnTo>
                  <a:lnTo>
                    <a:pt x="306990" y="52673"/>
                  </a:lnTo>
                  <a:lnTo>
                    <a:pt x="270594" y="24553"/>
                  </a:lnTo>
                  <a:lnTo>
                    <a:pt x="227636" y="6424"/>
                  </a:lnTo>
                  <a:lnTo>
                    <a:pt x="179831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1583436" y="5192267"/>
              <a:ext cx="360045" cy="360045"/>
            </a:xfrm>
            <a:custGeom>
              <a:avLst/>
              <a:gdLst/>
              <a:ahLst/>
              <a:cxnLst/>
              <a:rect l="l" t="t" r="r" b="b"/>
              <a:pathLst>
                <a:path w="360044" h="360045">
                  <a:moveTo>
                    <a:pt x="0" y="179831"/>
                  </a:moveTo>
                  <a:lnTo>
                    <a:pt x="6424" y="132027"/>
                  </a:lnTo>
                  <a:lnTo>
                    <a:pt x="24553" y="89069"/>
                  </a:lnTo>
                  <a:lnTo>
                    <a:pt x="52673" y="52673"/>
                  </a:lnTo>
                  <a:lnTo>
                    <a:pt x="89069" y="24553"/>
                  </a:lnTo>
                  <a:lnTo>
                    <a:pt x="132027" y="6424"/>
                  </a:lnTo>
                  <a:lnTo>
                    <a:pt x="179831" y="0"/>
                  </a:lnTo>
                  <a:lnTo>
                    <a:pt x="227636" y="6424"/>
                  </a:lnTo>
                  <a:lnTo>
                    <a:pt x="270594" y="24553"/>
                  </a:lnTo>
                  <a:lnTo>
                    <a:pt x="306990" y="52673"/>
                  </a:lnTo>
                  <a:lnTo>
                    <a:pt x="335110" y="89069"/>
                  </a:lnTo>
                  <a:lnTo>
                    <a:pt x="353239" y="132027"/>
                  </a:lnTo>
                  <a:lnTo>
                    <a:pt x="359663" y="179831"/>
                  </a:lnTo>
                  <a:lnTo>
                    <a:pt x="353239" y="227636"/>
                  </a:lnTo>
                  <a:lnTo>
                    <a:pt x="335110" y="270594"/>
                  </a:lnTo>
                  <a:lnTo>
                    <a:pt x="306990" y="306990"/>
                  </a:lnTo>
                  <a:lnTo>
                    <a:pt x="270594" y="335110"/>
                  </a:lnTo>
                  <a:lnTo>
                    <a:pt x="227636" y="353239"/>
                  </a:lnTo>
                  <a:lnTo>
                    <a:pt x="179831" y="359663"/>
                  </a:lnTo>
                  <a:lnTo>
                    <a:pt x="132027" y="353239"/>
                  </a:lnTo>
                  <a:lnTo>
                    <a:pt x="89069" y="335110"/>
                  </a:lnTo>
                  <a:lnTo>
                    <a:pt x="52673" y="306990"/>
                  </a:lnTo>
                  <a:lnTo>
                    <a:pt x="24553" y="270594"/>
                  </a:lnTo>
                  <a:lnTo>
                    <a:pt x="6424" y="227636"/>
                  </a:lnTo>
                  <a:lnTo>
                    <a:pt x="0" y="179831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2019045" y="5266690"/>
            <a:ext cx="2531745" cy="7353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Nó,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unidade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ou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neurônio.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Calibri"/>
                <a:cs typeface="Calibri"/>
              </a:rPr>
              <a:t>Ligação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entre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i</a:t>
            </a:r>
            <a:r>
              <a:rPr sz="1400" dirty="0">
                <a:latin typeface="Calibri"/>
                <a:cs typeface="Calibri"/>
              </a:rPr>
              <a:t>-ésimo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j</a:t>
            </a:r>
            <a:r>
              <a:rPr sz="1400" dirty="0">
                <a:latin typeface="Calibri"/>
                <a:cs typeface="Calibri"/>
              </a:rPr>
              <a:t>-ésimo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nó.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9" name="object 59"/>
          <p:cNvSpPr txBox="1">
            <a:spLocks noGrp="1"/>
          </p:cNvSpPr>
          <p:nvPr>
            <p:ph type="title"/>
          </p:nvPr>
        </p:nvSpPr>
        <p:spPr>
          <a:xfrm>
            <a:off x="4345178" y="333502"/>
            <a:ext cx="3765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b="0" spc="-37" baseline="10802" dirty="0">
                <a:latin typeface="Cambria Math"/>
                <a:cs typeface="Cambria Math"/>
              </a:rPr>
              <a:t>𝑤</a:t>
            </a:r>
            <a:r>
              <a:rPr sz="1300" b="0" spc="-25" dirty="0">
                <a:latin typeface="Cambria Math"/>
                <a:cs typeface="Cambria Math"/>
              </a:rPr>
              <a:t>𝑖𝑗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1543811" y="5843015"/>
            <a:ext cx="396240" cy="76200"/>
          </a:xfrm>
          <a:custGeom>
            <a:avLst/>
            <a:gdLst/>
            <a:ahLst/>
            <a:cxnLst/>
            <a:rect l="l" t="t" r="r" b="b"/>
            <a:pathLst>
              <a:path w="396239" h="76200">
                <a:moveTo>
                  <a:pt x="319786" y="0"/>
                </a:moveTo>
                <a:lnTo>
                  <a:pt x="319786" y="76200"/>
                </a:lnTo>
                <a:lnTo>
                  <a:pt x="383286" y="44450"/>
                </a:lnTo>
                <a:lnTo>
                  <a:pt x="332486" y="44450"/>
                </a:lnTo>
                <a:lnTo>
                  <a:pt x="332486" y="31750"/>
                </a:lnTo>
                <a:lnTo>
                  <a:pt x="383286" y="31750"/>
                </a:lnTo>
                <a:lnTo>
                  <a:pt x="319786" y="0"/>
                </a:lnTo>
                <a:close/>
              </a:path>
              <a:path w="396239" h="76200">
                <a:moveTo>
                  <a:pt x="319786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319786" y="44450"/>
                </a:lnTo>
                <a:lnTo>
                  <a:pt x="319786" y="31750"/>
                </a:lnTo>
                <a:close/>
              </a:path>
              <a:path w="396239" h="76200">
                <a:moveTo>
                  <a:pt x="383286" y="31750"/>
                </a:moveTo>
                <a:lnTo>
                  <a:pt x="332486" y="31750"/>
                </a:lnTo>
                <a:lnTo>
                  <a:pt x="332486" y="44450"/>
                </a:lnTo>
                <a:lnTo>
                  <a:pt x="383286" y="44450"/>
                </a:lnTo>
                <a:lnTo>
                  <a:pt x="395986" y="38100"/>
                </a:lnTo>
                <a:lnTo>
                  <a:pt x="383286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 txBox="1"/>
          <p:nvPr/>
        </p:nvSpPr>
        <p:spPr>
          <a:xfrm>
            <a:off x="1533778" y="6208267"/>
            <a:ext cx="37655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7" baseline="10802" dirty="0">
                <a:latin typeface="Cambria Math"/>
                <a:cs typeface="Cambria Math"/>
              </a:rPr>
              <a:t>𝑤</a:t>
            </a:r>
            <a:r>
              <a:rPr sz="1300" spc="-25" dirty="0">
                <a:latin typeface="Cambria Math"/>
                <a:cs typeface="Cambria Math"/>
              </a:rPr>
              <a:t>𝑖𝑗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1991360" y="6204915"/>
            <a:ext cx="309816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Calibri"/>
                <a:cs typeface="Calibri"/>
              </a:rPr>
              <a:t>Peso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da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ligação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entre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i</a:t>
            </a:r>
            <a:r>
              <a:rPr sz="1400" dirty="0">
                <a:latin typeface="Calibri"/>
                <a:cs typeface="Calibri"/>
              </a:rPr>
              <a:t>-ésimo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i="1" spc="-10" dirty="0">
                <a:latin typeface="Calibri"/>
                <a:cs typeface="Calibri"/>
              </a:rPr>
              <a:t>j</a:t>
            </a:r>
            <a:r>
              <a:rPr sz="1400" spc="-10" dirty="0">
                <a:latin typeface="Calibri"/>
                <a:cs typeface="Calibri"/>
              </a:rPr>
              <a:t>-</a:t>
            </a:r>
            <a:r>
              <a:rPr sz="1400" dirty="0">
                <a:latin typeface="Calibri"/>
                <a:cs typeface="Calibri"/>
              </a:rPr>
              <a:t>ésimo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nó.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98064" y="1477771"/>
            <a:ext cx="289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𝑥</a:t>
            </a:r>
            <a:r>
              <a:rPr sz="1950" spc="-37" baseline="-14957" dirty="0">
                <a:latin typeface="Cambria Math"/>
                <a:cs typeface="Cambria Math"/>
              </a:rPr>
              <a:t>1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798064" y="2043810"/>
            <a:ext cx="294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𝑥</a:t>
            </a:r>
            <a:r>
              <a:rPr sz="1950" spc="-37" baseline="-14957" dirty="0">
                <a:latin typeface="Cambria Math"/>
                <a:cs typeface="Cambria Math"/>
              </a:rPr>
              <a:t>2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86126" y="2576576"/>
            <a:ext cx="3175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𝑥</a:t>
            </a:r>
            <a:r>
              <a:rPr sz="1950" spc="-37" baseline="-14957" dirty="0">
                <a:latin typeface="Cambria Math"/>
                <a:cs typeface="Cambria Math"/>
              </a:rPr>
              <a:t>𝐾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618096" y="1996821"/>
            <a:ext cx="289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𝑦</a:t>
            </a:r>
            <a:r>
              <a:rPr sz="1950" spc="-37" baseline="-14957" dirty="0">
                <a:latin typeface="Cambria Math"/>
                <a:cs typeface="Cambria Math"/>
              </a:rPr>
              <a:t>1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618096" y="2644902"/>
            <a:ext cx="294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𝑦</a:t>
            </a:r>
            <a:r>
              <a:rPr sz="1950" spc="-37" baseline="-14957" dirty="0">
                <a:latin typeface="Cambria Math"/>
                <a:cs typeface="Cambria Math"/>
              </a:rPr>
              <a:t>2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78021" y="3642436"/>
            <a:ext cx="966469" cy="57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541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Camada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Calibri"/>
                <a:cs typeface="Calibri"/>
              </a:rPr>
              <a:t>escondida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60269" y="3185921"/>
            <a:ext cx="1115695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526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𝑥</a:t>
            </a:r>
            <a:r>
              <a:rPr sz="1950" spc="-37" baseline="-14957" dirty="0">
                <a:latin typeface="Cambria Math"/>
                <a:cs typeface="Cambria Math"/>
              </a:rPr>
              <a:t>𝐾</a:t>
            </a:r>
            <a:endParaRPr sz="1950" baseline="-14957">
              <a:latin typeface="Cambria Math"/>
              <a:cs typeface="Cambria Math"/>
            </a:endParaRPr>
          </a:p>
          <a:p>
            <a:pPr algn="ctr">
              <a:lnSpc>
                <a:spcPct val="100000"/>
              </a:lnSpc>
              <a:spcBef>
                <a:spcPts val="1435"/>
              </a:spcBef>
            </a:pPr>
            <a:r>
              <a:rPr sz="1800" dirty="0">
                <a:latin typeface="Calibri"/>
                <a:cs typeface="Calibri"/>
              </a:rPr>
              <a:t>Camada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de</a:t>
            </a:r>
            <a:endParaRPr sz="1800">
              <a:latin typeface="Calibri"/>
              <a:cs typeface="Calibri"/>
            </a:endParaRPr>
          </a:p>
          <a:p>
            <a:pPr marL="635" algn="ctr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Calibri"/>
                <a:cs typeface="Calibri"/>
              </a:rPr>
              <a:t>Entrada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274690" y="3641217"/>
            <a:ext cx="10642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3370" marR="5080" indent="-28067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Camada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de </a:t>
            </a:r>
            <a:r>
              <a:rPr sz="1800" spc="-10" dirty="0">
                <a:latin typeface="Calibri"/>
                <a:cs typeface="Calibri"/>
              </a:rPr>
              <a:t>saída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37661" y="1438021"/>
            <a:ext cx="3429889" cy="2068322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58667" y="1869948"/>
            <a:ext cx="143510" cy="143510"/>
          </a:xfrm>
          <a:custGeom>
            <a:avLst/>
            <a:gdLst/>
            <a:ahLst/>
            <a:cxnLst/>
            <a:rect l="l" t="t" r="r" b="b"/>
            <a:pathLst>
              <a:path w="143510" h="143510">
                <a:moveTo>
                  <a:pt x="0" y="143255"/>
                </a:moveTo>
                <a:lnTo>
                  <a:pt x="143256" y="143255"/>
                </a:lnTo>
                <a:lnTo>
                  <a:pt x="143256" y="0"/>
                </a:lnTo>
                <a:lnTo>
                  <a:pt x="0" y="0"/>
                </a:lnTo>
                <a:lnTo>
                  <a:pt x="0" y="143255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058667" y="2945892"/>
            <a:ext cx="143510" cy="144780"/>
          </a:xfrm>
          <a:custGeom>
            <a:avLst/>
            <a:gdLst/>
            <a:ahLst/>
            <a:cxnLst/>
            <a:rect l="l" t="t" r="r" b="b"/>
            <a:pathLst>
              <a:path w="143510" h="144780">
                <a:moveTo>
                  <a:pt x="0" y="144779"/>
                </a:moveTo>
                <a:lnTo>
                  <a:pt x="143256" y="144779"/>
                </a:lnTo>
                <a:lnTo>
                  <a:pt x="143256" y="0"/>
                </a:lnTo>
                <a:lnTo>
                  <a:pt x="0" y="0"/>
                </a:lnTo>
                <a:lnTo>
                  <a:pt x="0" y="144779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4184650" y="1665477"/>
            <a:ext cx="552450" cy="552450"/>
            <a:chOff x="4184650" y="1665477"/>
            <a:chExt cx="552450" cy="552450"/>
          </a:xfrm>
        </p:grpSpPr>
        <p:sp>
          <p:nvSpPr>
            <p:cNvPr id="5" name="object 5"/>
            <p:cNvSpPr/>
            <p:nvPr/>
          </p:nvSpPr>
          <p:spPr>
            <a:xfrm>
              <a:off x="4191000" y="1671827"/>
              <a:ext cx="539750" cy="539750"/>
            </a:xfrm>
            <a:custGeom>
              <a:avLst/>
              <a:gdLst/>
              <a:ahLst/>
              <a:cxnLst/>
              <a:rect l="l" t="t" r="r" b="b"/>
              <a:pathLst>
                <a:path w="539750" h="539750">
                  <a:moveTo>
                    <a:pt x="269748" y="0"/>
                  </a:moveTo>
                  <a:lnTo>
                    <a:pt x="221262" y="4346"/>
                  </a:lnTo>
                  <a:lnTo>
                    <a:pt x="175626" y="16876"/>
                  </a:lnTo>
                  <a:lnTo>
                    <a:pt x="133604" y="36829"/>
                  </a:lnTo>
                  <a:lnTo>
                    <a:pt x="95955" y="63443"/>
                  </a:lnTo>
                  <a:lnTo>
                    <a:pt x="63443" y="95955"/>
                  </a:lnTo>
                  <a:lnTo>
                    <a:pt x="36830" y="133603"/>
                  </a:lnTo>
                  <a:lnTo>
                    <a:pt x="16876" y="175626"/>
                  </a:lnTo>
                  <a:lnTo>
                    <a:pt x="4346" y="221262"/>
                  </a:lnTo>
                  <a:lnTo>
                    <a:pt x="0" y="269748"/>
                  </a:lnTo>
                  <a:lnTo>
                    <a:pt x="4346" y="318233"/>
                  </a:lnTo>
                  <a:lnTo>
                    <a:pt x="16876" y="363869"/>
                  </a:lnTo>
                  <a:lnTo>
                    <a:pt x="36829" y="405891"/>
                  </a:lnTo>
                  <a:lnTo>
                    <a:pt x="63443" y="443540"/>
                  </a:lnTo>
                  <a:lnTo>
                    <a:pt x="95955" y="476052"/>
                  </a:lnTo>
                  <a:lnTo>
                    <a:pt x="133603" y="502665"/>
                  </a:lnTo>
                  <a:lnTo>
                    <a:pt x="175626" y="522619"/>
                  </a:lnTo>
                  <a:lnTo>
                    <a:pt x="221262" y="535149"/>
                  </a:lnTo>
                  <a:lnTo>
                    <a:pt x="269748" y="539496"/>
                  </a:lnTo>
                  <a:lnTo>
                    <a:pt x="318233" y="535149"/>
                  </a:lnTo>
                  <a:lnTo>
                    <a:pt x="363869" y="522619"/>
                  </a:lnTo>
                  <a:lnTo>
                    <a:pt x="405891" y="502666"/>
                  </a:lnTo>
                  <a:lnTo>
                    <a:pt x="443540" y="476052"/>
                  </a:lnTo>
                  <a:lnTo>
                    <a:pt x="476052" y="443540"/>
                  </a:lnTo>
                  <a:lnTo>
                    <a:pt x="502665" y="405892"/>
                  </a:lnTo>
                  <a:lnTo>
                    <a:pt x="522619" y="363869"/>
                  </a:lnTo>
                  <a:lnTo>
                    <a:pt x="535149" y="318233"/>
                  </a:lnTo>
                  <a:lnTo>
                    <a:pt x="539496" y="269748"/>
                  </a:lnTo>
                  <a:lnTo>
                    <a:pt x="535149" y="221262"/>
                  </a:lnTo>
                  <a:lnTo>
                    <a:pt x="522619" y="175626"/>
                  </a:lnTo>
                  <a:lnTo>
                    <a:pt x="502666" y="133604"/>
                  </a:lnTo>
                  <a:lnTo>
                    <a:pt x="476052" y="95955"/>
                  </a:lnTo>
                  <a:lnTo>
                    <a:pt x="443540" y="63443"/>
                  </a:lnTo>
                  <a:lnTo>
                    <a:pt x="405892" y="36830"/>
                  </a:lnTo>
                  <a:lnTo>
                    <a:pt x="363869" y="16876"/>
                  </a:lnTo>
                  <a:lnTo>
                    <a:pt x="318233" y="4346"/>
                  </a:lnTo>
                  <a:lnTo>
                    <a:pt x="269748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191000" y="1671827"/>
              <a:ext cx="539750" cy="539750"/>
            </a:xfrm>
            <a:custGeom>
              <a:avLst/>
              <a:gdLst/>
              <a:ahLst/>
              <a:cxnLst/>
              <a:rect l="l" t="t" r="r" b="b"/>
              <a:pathLst>
                <a:path w="539750" h="539750">
                  <a:moveTo>
                    <a:pt x="0" y="269748"/>
                  </a:moveTo>
                  <a:lnTo>
                    <a:pt x="4346" y="221262"/>
                  </a:lnTo>
                  <a:lnTo>
                    <a:pt x="16876" y="175626"/>
                  </a:lnTo>
                  <a:lnTo>
                    <a:pt x="36830" y="133603"/>
                  </a:lnTo>
                  <a:lnTo>
                    <a:pt x="63443" y="95955"/>
                  </a:lnTo>
                  <a:lnTo>
                    <a:pt x="95955" y="63443"/>
                  </a:lnTo>
                  <a:lnTo>
                    <a:pt x="133604" y="36829"/>
                  </a:lnTo>
                  <a:lnTo>
                    <a:pt x="175626" y="16876"/>
                  </a:lnTo>
                  <a:lnTo>
                    <a:pt x="221262" y="4346"/>
                  </a:lnTo>
                  <a:lnTo>
                    <a:pt x="269748" y="0"/>
                  </a:lnTo>
                  <a:lnTo>
                    <a:pt x="318233" y="4346"/>
                  </a:lnTo>
                  <a:lnTo>
                    <a:pt x="363869" y="16876"/>
                  </a:lnTo>
                  <a:lnTo>
                    <a:pt x="405892" y="36830"/>
                  </a:lnTo>
                  <a:lnTo>
                    <a:pt x="443540" y="63443"/>
                  </a:lnTo>
                  <a:lnTo>
                    <a:pt x="476052" y="95955"/>
                  </a:lnTo>
                  <a:lnTo>
                    <a:pt x="502666" y="133604"/>
                  </a:lnTo>
                  <a:lnTo>
                    <a:pt x="522619" y="175626"/>
                  </a:lnTo>
                  <a:lnTo>
                    <a:pt x="535149" y="221262"/>
                  </a:lnTo>
                  <a:lnTo>
                    <a:pt x="539496" y="269748"/>
                  </a:lnTo>
                  <a:lnTo>
                    <a:pt x="535149" y="318233"/>
                  </a:lnTo>
                  <a:lnTo>
                    <a:pt x="522619" y="363869"/>
                  </a:lnTo>
                  <a:lnTo>
                    <a:pt x="502665" y="405892"/>
                  </a:lnTo>
                  <a:lnTo>
                    <a:pt x="476052" y="443540"/>
                  </a:lnTo>
                  <a:lnTo>
                    <a:pt x="443540" y="476052"/>
                  </a:lnTo>
                  <a:lnTo>
                    <a:pt x="405891" y="502666"/>
                  </a:lnTo>
                  <a:lnTo>
                    <a:pt x="363869" y="522619"/>
                  </a:lnTo>
                  <a:lnTo>
                    <a:pt x="318233" y="535149"/>
                  </a:lnTo>
                  <a:lnTo>
                    <a:pt x="269748" y="539496"/>
                  </a:lnTo>
                  <a:lnTo>
                    <a:pt x="221262" y="535149"/>
                  </a:lnTo>
                  <a:lnTo>
                    <a:pt x="175626" y="522619"/>
                  </a:lnTo>
                  <a:lnTo>
                    <a:pt x="133603" y="502665"/>
                  </a:lnTo>
                  <a:lnTo>
                    <a:pt x="95955" y="476052"/>
                  </a:lnTo>
                  <a:lnTo>
                    <a:pt x="63443" y="443540"/>
                  </a:lnTo>
                  <a:lnTo>
                    <a:pt x="36829" y="405891"/>
                  </a:lnTo>
                  <a:lnTo>
                    <a:pt x="16876" y="363869"/>
                  </a:lnTo>
                  <a:lnTo>
                    <a:pt x="4346" y="318233"/>
                  </a:lnTo>
                  <a:lnTo>
                    <a:pt x="0" y="269748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4184650" y="2742945"/>
            <a:ext cx="552450" cy="552450"/>
            <a:chOff x="4184650" y="2742945"/>
            <a:chExt cx="552450" cy="552450"/>
          </a:xfrm>
        </p:grpSpPr>
        <p:sp>
          <p:nvSpPr>
            <p:cNvPr id="8" name="object 8"/>
            <p:cNvSpPr/>
            <p:nvPr/>
          </p:nvSpPr>
          <p:spPr>
            <a:xfrm>
              <a:off x="4191000" y="2749295"/>
              <a:ext cx="539750" cy="539750"/>
            </a:xfrm>
            <a:custGeom>
              <a:avLst/>
              <a:gdLst/>
              <a:ahLst/>
              <a:cxnLst/>
              <a:rect l="l" t="t" r="r" b="b"/>
              <a:pathLst>
                <a:path w="539750" h="539750">
                  <a:moveTo>
                    <a:pt x="269748" y="0"/>
                  </a:moveTo>
                  <a:lnTo>
                    <a:pt x="221262" y="4346"/>
                  </a:lnTo>
                  <a:lnTo>
                    <a:pt x="175626" y="16876"/>
                  </a:lnTo>
                  <a:lnTo>
                    <a:pt x="133604" y="36829"/>
                  </a:lnTo>
                  <a:lnTo>
                    <a:pt x="95955" y="63443"/>
                  </a:lnTo>
                  <a:lnTo>
                    <a:pt x="63443" y="95955"/>
                  </a:lnTo>
                  <a:lnTo>
                    <a:pt x="36830" y="133603"/>
                  </a:lnTo>
                  <a:lnTo>
                    <a:pt x="16876" y="175626"/>
                  </a:lnTo>
                  <a:lnTo>
                    <a:pt x="4346" y="221262"/>
                  </a:lnTo>
                  <a:lnTo>
                    <a:pt x="0" y="269748"/>
                  </a:lnTo>
                  <a:lnTo>
                    <a:pt x="4346" y="318233"/>
                  </a:lnTo>
                  <a:lnTo>
                    <a:pt x="16876" y="363869"/>
                  </a:lnTo>
                  <a:lnTo>
                    <a:pt x="36829" y="405891"/>
                  </a:lnTo>
                  <a:lnTo>
                    <a:pt x="63443" y="443540"/>
                  </a:lnTo>
                  <a:lnTo>
                    <a:pt x="95955" y="476052"/>
                  </a:lnTo>
                  <a:lnTo>
                    <a:pt x="133603" y="502665"/>
                  </a:lnTo>
                  <a:lnTo>
                    <a:pt x="175626" y="522619"/>
                  </a:lnTo>
                  <a:lnTo>
                    <a:pt x="221262" y="535149"/>
                  </a:lnTo>
                  <a:lnTo>
                    <a:pt x="269748" y="539495"/>
                  </a:lnTo>
                  <a:lnTo>
                    <a:pt x="318233" y="535149"/>
                  </a:lnTo>
                  <a:lnTo>
                    <a:pt x="363869" y="522619"/>
                  </a:lnTo>
                  <a:lnTo>
                    <a:pt x="405891" y="502665"/>
                  </a:lnTo>
                  <a:lnTo>
                    <a:pt x="443540" y="476052"/>
                  </a:lnTo>
                  <a:lnTo>
                    <a:pt x="476052" y="443540"/>
                  </a:lnTo>
                  <a:lnTo>
                    <a:pt x="502665" y="405891"/>
                  </a:lnTo>
                  <a:lnTo>
                    <a:pt x="522619" y="363869"/>
                  </a:lnTo>
                  <a:lnTo>
                    <a:pt x="535149" y="318233"/>
                  </a:lnTo>
                  <a:lnTo>
                    <a:pt x="539496" y="269748"/>
                  </a:lnTo>
                  <a:lnTo>
                    <a:pt x="535149" y="221262"/>
                  </a:lnTo>
                  <a:lnTo>
                    <a:pt x="522619" y="175626"/>
                  </a:lnTo>
                  <a:lnTo>
                    <a:pt x="502666" y="133604"/>
                  </a:lnTo>
                  <a:lnTo>
                    <a:pt x="476052" y="95955"/>
                  </a:lnTo>
                  <a:lnTo>
                    <a:pt x="443540" y="63443"/>
                  </a:lnTo>
                  <a:lnTo>
                    <a:pt x="405892" y="36830"/>
                  </a:lnTo>
                  <a:lnTo>
                    <a:pt x="363869" y="16876"/>
                  </a:lnTo>
                  <a:lnTo>
                    <a:pt x="318233" y="4346"/>
                  </a:lnTo>
                  <a:lnTo>
                    <a:pt x="269748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191000" y="2749295"/>
              <a:ext cx="539750" cy="539750"/>
            </a:xfrm>
            <a:custGeom>
              <a:avLst/>
              <a:gdLst/>
              <a:ahLst/>
              <a:cxnLst/>
              <a:rect l="l" t="t" r="r" b="b"/>
              <a:pathLst>
                <a:path w="539750" h="539750">
                  <a:moveTo>
                    <a:pt x="0" y="269748"/>
                  </a:moveTo>
                  <a:lnTo>
                    <a:pt x="4346" y="221262"/>
                  </a:lnTo>
                  <a:lnTo>
                    <a:pt x="16876" y="175626"/>
                  </a:lnTo>
                  <a:lnTo>
                    <a:pt x="36830" y="133603"/>
                  </a:lnTo>
                  <a:lnTo>
                    <a:pt x="63443" y="95955"/>
                  </a:lnTo>
                  <a:lnTo>
                    <a:pt x="95955" y="63443"/>
                  </a:lnTo>
                  <a:lnTo>
                    <a:pt x="133604" y="36829"/>
                  </a:lnTo>
                  <a:lnTo>
                    <a:pt x="175626" y="16876"/>
                  </a:lnTo>
                  <a:lnTo>
                    <a:pt x="221262" y="4346"/>
                  </a:lnTo>
                  <a:lnTo>
                    <a:pt x="269748" y="0"/>
                  </a:lnTo>
                  <a:lnTo>
                    <a:pt x="318233" y="4346"/>
                  </a:lnTo>
                  <a:lnTo>
                    <a:pt x="363869" y="16876"/>
                  </a:lnTo>
                  <a:lnTo>
                    <a:pt x="405892" y="36830"/>
                  </a:lnTo>
                  <a:lnTo>
                    <a:pt x="443540" y="63443"/>
                  </a:lnTo>
                  <a:lnTo>
                    <a:pt x="476052" y="95955"/>
                  </a:lnTo>
                  <a:lnTo>
                    <a:pt x="502666" y="133604"/>
                  </a:lnTo>
                  <a:lnTo>
                    <a:pt x="522619" y="175626"/>
                  </a:lnTo>
                  <a:lnTo>
                    <a:pt x="535149" y="221262"/>
                  </a:lnTo>
                  <a:lnTo>
                    <a:pt x="539496" y="269748"/>
                  </a:lnTo>
                  <a:lnTo>
                    <a:pt x="535149" y="318233"/>
                  </a:lnTo>
                  <a:lnTo>
                    <a:pt x="522619" y="363869"/>
                  </a:lnTo>
                  <a:lnTo>
                    <a:pt x="502665" y="405891"/>
                  </a:lnTo>
                  <a:lnTo>
                    <a:pt x="476052" y="443540"/>
                  </a:lnTo>
                  <a:lnTo>
                    <a:pt x="443540" y="476052"/>
                  </a:lnTo>
                  <a:lnTo>
                    <a:pt x="405891" y="502665"/>
                  </a:lnTo>
                  <a:lnTo>
                    <a:pt x="363869" y="522619"/>
                  </a:lnTo>
                  <a:lnTo>
                    <a:pt x="318233" y="535149"/>
                  </a:lnTo>
                  <a:lnTo>
                    <a:pt x="269748" y="539495"/>
                  </a:lnTo>
                  <a:lnTo>
                    <a:pt x="221262" y="535149"/>
                  </a:lnTo>
                  <a:lnTo>
                    <a:pt x="175626" y="522619"/>
                  </a:lnTo>
                  <a:lnTo>
                    <a:pt x="133603" y="502665"/>
                  </a:lnTo>
                  <a:lnTo>
                    <a:pt x="95955" y="476052"/>
                  </a:lnTo>
                  <a:lnTo>
                    <a:pt x="63443" y="443540"/>
                  </a:lnTo>
                  <a:lnTo>
                    <a:pt x="36829" y="405891"/>
                  </a:lnTo>
                  <a:lnTo>
                    <a:pt x="16876" y="363869"/>
                  </a:lnTo>
                  <a:lnTo>
                    <a:pt x="4346" y="318233"/>
                  </a:lnTo>
                  <a:lnTo>
                    <a:pt x="0" y="269748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4725796" y="1937257"/>
            <a:ext cx="1572260" cy="1085215"/>
            <a:chOff x="4725796" y="1937257"/>
            <a:chExt cx="1572260" cy="1085215"/>
          </a:xfrm>
        </p:grpSpPr>
        <p:sp>
          <p:nvSpPr>
            <p:cNvPr id="11" name="object 11"/>
            <p:cNvSpPr/>
            <p:nvPr/>
          </p:nvSpPr>
          <p:spPr>
            <a:xfrm>
              <a:off x="5216651" y="2208275"/>
              <a:ext cx="541020" cy="541020"/>
            </a:xfrm>
            <a:custGeom>
              <a:avLst/>
              <a:gdLst/>
              <a:ahLst/>
              <a:cxnLst/>
              <a:rect l="l" t="t" r="r" b="b"/>
              <a:pathLst>
                <a:path w="541020" h="541019">
                  <a:moveTo>
                    <a:pt x="270510" y="0"/>
                  </a:moveTo>
                  <a:lnTo>
                    <a:pt x="221897" y="4359"/>
                  </a:lnTo>
                  <a:lnTo>
                    <a:pt x="176139" y="16929"/>
                  </a:lnTo>
                  <a:lnTo>
                    <a:pt x="133999" y="36942"/>
                  </a:lnTo>
                  <a:lnTo>
                    <a:pt x="96243" y="63635"/>
                  </a:lnTo>
                  <a:lnTo>
                    <a:pt x="63635" y="96243"/>
                  </a:lnTo>
                  <a:lnTo>
                    <a:pt x="36942" y="133999"/>
                  </a:lnTo>
                  <a:lnTo>
                    <a:pt x="16929" y="176139"/>
                  </a:lnTo>
                  <a:lnTo>
                    <a:pt x="4359" y="221897"/>
                  </a:lnTo>
                  <a:lnTo>
                    <a:pt x="0" y="270510"/>
                  </a:lnTo>
                  <a:lnTo>
                    <a:pt x="4359" y="319122"/>
                  </a:lnTo>
                  <a:lnTo>
                    <a:pt x="16929" y="364880"/>
                  </a:lnTo>
                  <a:lnTo>
                    <a:pt x="36942" y="407020"/>
                  </a:lnTo>
                  <a:lnTo>
                    <a:pt x="63635" y="444776"/>
                  </a:lnTo>
                  <a:lnTo>
                    <a:pt x="96243" y="477384"/>
                  </a:lnTo>
                  <a:lnTo>
                    <a:pt x="133999" y="504077"/>
                  </a:lnTo>
                  <a:lnTo>
                    <a:pt x="176139" y="524090"/>
                  </a:lnTo>
                  <a:lnTo>
                    <a:pt x="221897" y="536660"/>
                  </a:lnTo>
                  <a:lnTo>
                    <a:pt x="270510" y="541020"/>
                  </a:lnTo>
                  <a:lnTo>
                    <a:pt x="319122" y="536660"/>
                  </a:lnTo>
                  <a:lnTo>
                    <a:pt x="364880" y="524090"/>
                  </a:lnTo>
                  <a:lnTo>
                    <a:pt x="407020" y="504077"/>
                  </a:lnTo>
                  <a:lnTo>
                    <a:pt x="444776" y="477384"/>
                  </a:lnTo>
                  <a:lnTo>
                    <a:pt x="477384" y="444776"/>
                  </a:lnTo>
                  <a:lnTo>
                    <a:pt x="504077" y="407020"/>
                  </a:lnTo>
                  <a:lnTo>
                    <a:pt x="524090" y="364880"/>
                  </a:lnTo>
                  <a:lnTo>
                    <a:pt x="536660" y="319122"/>
                  </a:lnTo>
                  <a:lnTo>
                    <a:pt x="541020" y="270510"/>
                  </a:lnTo>
                  <a:lnTo>
                    <a:pt x="536660" y="221897"/>
                  </a:lnTo>
                  <a:lnTo>
                    <a:pt x="524090" y="176139"/>
                  </a:lnTo>
                  <a:lnTo>
                    <a:pt x="504077" y="133999"/>
                  </a:lnTo>
                  <a:lnTo>
                    <a:pt x="477384" y="96243"/>
                  </a:lnTo>
                  <a:lnTo>
                    <a:pt x="444776" y="63635"/>
                  </a:lnTo>
                  <a:lnTo>
                    <a:pt x="407020" y="36942"/>
                  </a:lnTo>
                  <a:lnTo>
                    <a:pt x="364880" y="16929"/>
                  </a:lnTo>
                  <a:lnTo>
                    <a:pt x="319122" y="4359"/>
                  </a:lnTo>
                  <a:lnTo>
                    <a:pt x="27051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216651" y="2208275"/>
              <a:ext cx="541020" cy="541020"/>
            </a:xfrm>
            <a:custGeom>
              <a:avLst/>
              <a:gdLst/>
              <a:ahLst/>
              <a:cxnLst/>
              <a:rect l="l" t="t" r="r" b="b"/>
              <a:pathLst>
                <a:path w="541020" h="541019">
                  <a:moveTo>
                    <a:pt x="0" y="270510"/>
                  </a:moveTo>
                  <a:lnTo>
                    <a:pt x="4359" y="221897"/>
                  </a:lnTo>
                  <a:lnTo>
                    <a:pt x="16929" y="176139"/>
                  </a:lnTo>
                  <a:lnTo>
                    <a:pt x="36942" y="133999"/>
                  </a:lnTo>
                  <a:lnTo>
                    <a:pt x="63635" y="96243"/>
                  </a:lnTo>
                  <a:lnTo>
                    <a:pt x="96243" y="63635"/>
                  </a:lnTo>
                  <a:lnTo>
                    <a:pt x="133999" y="36942"/>
                  </a:lnTo>
                  <a:lnTo>
                    <a:pt x="176139" y="16929"/>
                  </a:lnTo>
                  <a:lnTo>
                    <a:pt x="221897" y="4359"/>
                  </a:lnTo>
                  <a:lnTo>
                    <a:pt x="270510" y="0"/>
                  </a:lnTo>
                  <a:lnTo>
                    <a:pt x="319122" y="4359"/>
                  </a:lnTo>
                  <a:lnTo>
                    <a:pt x="364880" y="16929"/>
                  </a:lnTo>
                  <a:lnTo>
                    <a:pt x="407020" y="36942"/>
                  </a:lnTo>
                  <a:lnTo>
                    <a:pt x="444776" y="63635"/>
                  </a:lnTo>
                  <a:lnTo>
                    <a:pt x="477384" y="96243"/>
                  </a:lnTo>
                  <a:lnTo>
                    <a:pt x="504077" y="133999"/>
                  </a:lnTo>
                  <a:lnTo>
                    <a:pt x="524090" y="176139"/>
                  </a:lnTo>
                  <a:lnTo>
                    <a:pt x="536660" y="221897"/>
                  </a:lnTo>
                  <a:lnTo>
                    <a:pt x="541020" y="270510"/>
                  </a:lnTo>
                  <a:lnTo>
                    <a:pt x="536660" y="319122"/>
                  </a:lnTo>
                  <a:lnTo>
                    <a:pt x="524090" y="364880"/>
                  </a:lnTo>
                  <a:lnTo>
                    <a:pt x="504077" y="407020"/>
                  </a:lnTo>
                  <a:lnTo>
                    <a:pt x="477384" y="444776"/>
                  </a:lnTo>
                  <a:lnTo>
                    <a:pt x="444776" y="477384"/>
                  </a:lnTo>
                  <a:lnTo>
                    <a:pt x="407020" y="504077"/>
                  </a:lnTo>
                  <a:lnTo>
                    <a:pt x="364880" y="524090"/>
                  </a:lnTo>
                  <a:lnTo>
                    <a:pt x="319122" y="536660"/>
                  </a:lnTo>
                  <a:lnTo>
                    <a:pt x="270510" y="541020"/>
                  </a:lnTo>
                  <a:lnTo>
                    <a:pt x="221897" y="536660"/>
                  </a:lnTo>
                  <a:lnTo>
                    <a:pt x="176139" y="524090"/>
                  </a:lnTo>
                  <a:lnTo>
                    <a:pt x="133999" y="504077"/>
                  </a:lnTo>
                  <a:lnTo>
                    <a:pt x="96243" y="477384"/>
                  </a:lnTo>
                  <a:lnTo>
                    <a:pt x="63635" y="444776"/>
                  </a:lnTo>
                  <a:lnTo>
                    <a:pt x="36942" y="407020"/>
                  </a:lnTo>
                  <a:lnTo>
                    <a:pt x="16929" y="364880"/>
                  </a:lnTo>
                  <a:lnTo>
                    <a:pt x="4359" y="319122"/>
                  </a:lnTo>
                  <a:lnTo>
                    <a:pt x="0" y="270510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757671" y="2439923"/>
              <a:ext cx="540385" cy="76200"/>
            </a:xfrm>
            <a:custGeom>
              <a:avLst/>
              <a:gdLst/>
              <a:ahLst/>
              <a:cxnLst/>
              <a:rect l="l" t="t" r="r" b="b"/>
              <a:pathLst>
                <a:path w="540385" h="76200">
                  <a:moveTo>
                    <a:pt x="463930" y="0"/>
                  </a:moveTo>
                  <a:lnTo>
                    <a:pt x="463930" y="76200"/>
                  </a:lnTo>
                  <a:lnTo>
                    <a:pt x="527430" y="44450"/>
                  </a:lnTo>
                  <a:lnTo>
                    <a:pt x="476630" y="44450"/>
                  </a:lnTo>
                  <a:lnTo>
                    <a:pt x="476630" y="31750"/>
                  </a:lnTo>
                  <a:lnTo>
                    <a:pt x="527430" y="31750"/>
                  </a:lnTo>
                  <a:lnTo>
                    <a:pt x="463930" y="0"/>
                  </a:lnTo>
                  <a:close/>
                </a:path>
                <a:path w="540385" h="76200">
                  <a:moveTo>
                    <a:pt x="463930" y="31750"/>
                  </a:moveTo>
                  <a:lnTo>
                    <a:pt x="0" y="31750"/>
                  </a:lnTo>
                  <a:lnTo>
                    <a:pt x="0" y="44450"/>
                  </a:lnTo>
                  <a:lnTo>
                    <a:pt x="463930" y="44450"/>
                  </a:lnTo>
                  <a:lnTo>
                    <a:pt x="463930" y="31750"/>
                  </a:lnTo>
                  <a:close/>
                </a:path>
                <a:path w="540385" h="76200">
                  <a:moveTo>
                    <a:pt x="527430" y="31750"/>
                  </a:moveTo>
                  <a:lnTo>
                    <a:pt x="476630" y="31750"/>
                  </a:lnTo>
                  <a:lnTo>
                    <a:pt x="476630" y="44450"/>
                  </a:lnTo>
                  <a:lnTo>
                    <a:pt x="527430" y="44450"/>
                  </a:lnTo>
                  <a:lnTo>
                    <a:pt x="540130" y="38100"/>
                  </a:lnTo>
                  <a:lnTo>
                    <a:pt x="527430" y="317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725797" y="1937257"/>
              <a:ext cx="490855" cy="1085215"/>
            </a:xfrm>
            <a:custGeom>
              <a:avLst/>
              <a:gdLst/>
              <a:ahLst/>
              <a:cxnLst/>
              <a:rect l="l" t="t" r="r" b="b"/>
              <a:pathLst>
                <a:path w="490854" h="1085214">
                  <a:moveTo>
                    <a:pt x="490728" y="540766"/>
                  </a:moveTo>
                  <a:lnTo>
                    <a:pt x="490588" y="540816"/>
                  </a:lnTo>
                  <a:lnTo>
                    <a:pt x="478790" y="498475"/>
                  </a:lnTo>
                  <a:lnTo>
                    <a:pt x="467868" y="459232"/>
                  </a:lnTo>
                  <a:lnTo>
                    <a:pt x="444334" y="480542"/>
                  </a:lnTo>
                  <a:lnTo>
                    <a:pt x="9398" y="0"/>
                  </a:lnTo>
                  <a:lnTo>
                    <a:pt x="0" y="8636"/>
                  </a:lnTo>
                  <a:lnTo>
                    <a:pt x="434936" y="489051"/>
                  </a:lnTo>
                  <a:lnTo>
                    <a:pt x="411353" y="510413"/>
                  </a:lnTo>
                  <a:lnTo>
                    <a:pt x="490067" y="541032"/>
                  </a:lnTo>
                  <a:lnTo>
                    <a:pt x="411480" y="571881"/>
                  </a:lnTo>
                  <a:lnTo>
                    <a:pt x="435076" y="593166"/>
                  </a:lnTo>
                  <a:lnTo>
                    <a:pt x="0" y="1076579"/>
                  </a:lnTo>
                  <a:lnTo>
                    <a:pt x="9398" y="1084961"/>
                  </a:lnTo>
                  <a:lnTo>
                    <a:pt x="444500" y="601649"/>
                  </a:lnTo>
                  <a:lnTo>
                    <a:pt x="468122" y="622935"/>
                  </a:lnTo>
                  <a:lnTo>
                    <a:pt x="478917" y="583692"/>
                  </a:lnTo>
                  <a:lnTo>
                    <a:pt x="490601" y="541235"/>
                  </a:lnTo>
                  <a:lnTo>
                    <a:pt x="490728" y="541274"/>
                  </a:lnTo>
                  <a:lnTo>
                    <a:pt x="490651" y="541032"/>
                  </a:lnTo>
                  <a:lnTo>
                    <a:pt x="490728" y="54076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741802" y="1776729"/>
            <a:ext cx="1473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𝑥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857626" y="1884933"/>
            <a:ext cx="12255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40" dirty="0">
                <a:latin typeface="Cambria Math"/>
                <a:cs typeface="Cambria Math"/>
              </a:rPr>
              <a:t>1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716402" y="2819780"/>
            <a:ext cx="294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𝑥</a:t>
            </a:r>
            <a:r>
              <a:rPr sz="1950" spc="-37" baseline="-14957" dirty="0">
                <a:latin typeface="Cambria Math"/>
                <a:cs typeface="Cambria Math"/>
              </a:rPr>
              <a:t>2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376796" y="2279345"/>
            <a:ext cx="1536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𝑦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978021" y="3348354"/>
            <a:ext cx="96646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9271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Camada escondida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685669" y="3348354"/>
            <a:ext cx="10642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2085" marR="5080" indent="-16002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Camada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de </a:t>
            </a:r>
            <a:r>
              <a:rPr sz="1800" spc="-10" dirty="0">
                <a:latin typeface="Calibri"/>
                <a:cs typeface="Calibri"/>
              </a:rPr>
              <a:t>Entrada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274690" y="3346145"/>
            <a:ext cx="1064895" cy="57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Camada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de</a:t>
            </a:r>
            <a:endParaRPr sz="1800">
              <a:latin typeface="Calibri"/>
              <a:cs typeface="Calibri"/>
            </a:endParaRPr>
          </a:p>
          <a:p>
            <a:pPr marL="2540" algn="ctr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Calibri"/>
                <a:cs typeface="Calibri"/>
              </a:rPr>
              <a:t>saída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197225" y="1903475"/>
            <a:ext cx="993140" cy="1153795"/>
          </a:xfrm>
          <a:custGeom>
            <a:avLst/>
            <a:gdLst/>
            <a:ahLst/>
            <a:cxnLst/>
            <a:rect l="l" t="t" r="r" b="b"/>
            <a:pathLst>
              <a:path w="993139" h="1153795">
                <a:moveTo>
                  <a:pt x="993140" y="38100"/>
                </a:moveTo>
                <a:lnTo>
                  <a:pt x="980440" y="31750"/>
                </a:lnTo>
                <a:lnTo>
                  <a:pt x="936967" y="10020"/>
                </a:lnTo>
                <a:lnTo>
                  <a:pt x="936967" y="89954"/>
                </a:lnTo>
                <a:lnTo>
                  <a:pt x="498944" y="567220"/>
                </a:lnTo>
                <a:lnTo>
                  <a:pt x="19177" y="44450"/>
                </a:lnTo>
                <a:lnTo>
                  <a:pt x="916940" y="44450"/>
                </a:lnTo>
                <a:lnTo>
                  <a:pt x="916940" y="67157"/>
                </a:lnTo>
                <a:lnTo>
                  <a:pt x="913511" y="68453"/>
                </a:lnTo>
                <a:lnTo>
                  <a:pt x="916940" y="71602"/>
                </a:lnTo>
                <a:lnTo>
                  <a:pt x="916940" y="76200"/>
                </a:lnTo>
                <a:lnTo>
                  <a:pt x="920178" y="74587"/>
                </a:lnTo>
                <a:lnTo>
                  <a:pt x="936967" y="89954"/>
                </a:lnTo>
                <a:lnTo>
                  <a:pt x="936967" y="10020"/>
                </a:lnTo>
                <a:lnTo>
                  <a:pt x="916940" y="0"/>
                </a:lnTo>
                <a:lnTo>
                  <a:pt x="916940" y="31750"/>
                </a:lnTo>
                <a:lnTo>
                  <a:pt x="4699" y="31750"/>
                </a:lnTo>
                <a:lnTo>
                  <a:pt x="4699" y="38100"/>
                </a:lnTo>
                <a:lnTo>
                  <a:pt x="0" y="42418"/>
                </a:lnTo>
                <a:lnTo>
                  <a:pt x="490296" y="576656"/>
                </a:lnTo>
                <a:lnTo>
                  <a:pt x="0" y="1110869"/>
                </a:lnTo>
                <a:lnTo>
                  <a:pt x="4699" y="1115123"/>
                </a:lnTo>
                <a:lnTo>
                  <a:pt x="4699" y="1121918"/>
                </a:lnTo>
                <a:lnTo>
                  <a:pt x="916940" y="1121918"/>
                </a:lnTo>
                <a:lnTo>
                  <a:pt x="916940" y="1153668"/>
                </a:lnTo>
                <a:lnTo>
                  <a:pt x="980440" y="1121918"/>
                </a:lnTo>
                <a:lnTo>
                  <a:pt x="993140" y="1115568"/>
                </a:lnTo>
                <a:lnTo>
                  <a:pt x="988860" y="1113434"/>
                </a:lnTo>
                <a:lnTo>
                  <a:pt x="993140" y="1115060"/>
                </a:lnTo>
                <a:lnTo>
                  <a:pt x="981011" y="1072642"/>
                </a:lnTo>
                <a:lnTo>
                  <a:pt x="969772" y="1033272"/>
                </a:lnTo>
                <a:lnTo>
                  <a:pt x="946353" y="1054684"/>
                </a:lnTo>
                <a:lnTo>
                  <a:pt x="936929" y="1044422"/>
                </a:lnTo>
                <a:lnTo>
                  <a:pt x="936929" y="1063294"/>
                </a:lnTo>
                <a:lnTo>
                  <a:pt x="919835" y="1078928"/>
                </a:lnTo>
                <a:lnTo>
                  <a:pt x="916940" y="1077468"/>
                </a:lnTo>
                <a:lnTo>
                  <a:pt x="916940" y="1081582"/>
                </a:lnTo>
                <a:lnTo>
                  <a:pt x="913511" y="1084707"/>
                </a:lnTo>
                <a:lnTo>
                  <a:pt x="916940" y="1086015"/>
                </a:lnTo>
                <a:lnTo>
                  <a:pt x="916940" y="1109218"/>
                </a:lnTo>
                <a:lnTo>
                  <a:pt x="18719" y="1109218"/>
                </a:lnTo>
                <a:lnTo>
                  <a:pt x="498894" y="586028"/>
                </a:lnTo>
                <a:lnTo>
                  <a:pt x="936929" y="1063294"/>
                </a:lnTo>
                <a:lnTo>
                  <a:pt x="936929" y="1044422"/>
                </a:lnTo>
                <a:lnTo>
                  <a:pt x="507555" y="576592"/>
                </a:lnTo>
                <a:lnTo>
                  <a:pt x="946315" y="98526"/>
                </a:lnTo>
                <a:lnTo>
                  <a:pt x="969772" y="120015"/>
                </a:lnTo>
                <a:lnTo>
                  <a:pt x="980998" y="80645"/>
                </a:lnTo>
                <a:lnTo>
                  <a:pt x="99314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3479291" y="1653032"/>
            <a:ext cx="4527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7" baseline="10802" dirty="0">
                <a:latin typeface="Cambria Math"/>
                <a:cs typeface="Cambria Math"/>
              </a:rPr>
              <a:t>𝑊</a:t>
            </a:r>
            <a:r>
              <a:rPr sz="1300" spc="-25" dirty="0">
                <a:latin typeface="Cambria Math"/>
                <a:cs typeface="Cambria Math"/>
              </a:rPr>
              <a:t>11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997707" y="2008608"/>
            <a:ext cx="466090" cy="843280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51435">
              <a:lnSpc>
                <a:spcPct val="100000"/>
              </a:lnSpc>
              <a:spcBef>
                <a:spcPts val="1155"/>
              </a:spcBef>
            </a:pPr>
            <a:r>
              <a:rPr sz="2700" spc="-37" baseline="10802" dirty="0">
                <a:latin typeface="Cambria Math"/>
                <a:cs typeface="Cambria Math"/>
              </a:rPr>
              <a:t>𝑊</a:t>
            </a:r>
            <a:r>
              <a:rPr sz="1300" spc="-25" dirty="0">
                <a:latin typeface="Cambria Math"/>
                <a:cs typeface="Cambria Math"/>
              </a:rPr>
              <a:t>12</a:t>
            </a:r>
            <a:endParaRPr sz="1300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1060"/>
              </a:spcBef>
            </a:pPr>
            <a:r>
              <a:rPr sz="2700" spc="-37" baseline="10802" dirty="0">
                <a:latin typeface="Cambria Math"/>
                <a:cs typeface="Cambria Math"/>
              </a:rPr>
              <a:t>𝑊</a:t>
            </a:r>
            <a:r>
              <a:rPr sz="1300" spc="-25" dirty="0">
                <a:latin typeface="Cambria Math"/>
                <a:cs typeface="Cambria Math"/>
              </a:rPr>
              <a:t>21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470783" y="3024885"/>
            <a:ext cx="4572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7" baseline="10802" dirty="0">
                <a:latin typeface="Cambria Math"/>
                <a:cs typeface="Cambria Math"/>
              </a:rPr>
              <a:t>𝑊</a:t>
            </a:r>
            <a:r>
              <a:rPr sz="1300" spc="-25" dirty="0">
                <a:latin typeface="Cambria Math"/>
                <a:cs typeface="Cambria Math"/>
              </a:rPr>
              <a:t>22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857877" y="1843227"/>
            <a:ext cx="3302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𝑤</a:t>
            </a:r>
            <a:r>
              <a:rPr sz="1950" spc="-37" baseline="-14957" dirty="0">
                <a:latin typeface="Cambria Math"/>
                <a:cs typeface="Cambria Math"/>
              </a:rPr>
              <a:t>1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857877" y="2761945"/>
            <a:ext cx="33528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𝑤</a:t>
            </a:r>
            <a:r>
              <a:rPr sz="1950" spc="-37" baseline="-14957" dirty="0">
                <a:latin typeface="Cambria Math"/>
                <a:cs typeface="Cambria Math"/>
              </a:rPr>
              <a:t>2</a:t>
            </a:r>
            <a:endParaRPr sz="1950" baseline="-14957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58667" y="1869948"/>
            <a:ext cx="143510" cy="143510"/>
          </a:xfrm>
          <a:custGeom>
            <a:avLst/>
            <a:gdLst/>
            <a:ahLst/>
            <a:cxnLst/>
            <a:rect l="l" t="t" r="r" b="b"/>
            <a:pathLst>
              <a:path w="143510" h="143510">
                <a:moveTo>
                  <a:pt x="0" y="143255"/>
                </a:moveTo>
                <a:lnTo>
                  <a:pt x="143256" y="143255"/>
                </a:lnTo>
                <a:lnTo>
                  <a:pt x="143256" y="0"/>
                </a:lnTo>
                <a:lnTo>
                  <a:pt x="0" y="0"/>
                </a:lnTo>
                <a:lnTo>
                  <a:pt x="0" y="143255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058667" y="2945892"/>
            <a:ext cx="143510" cy="144780"/>
          </a:xfrm>
          <a:custGeom>
            <a:avLst/>
            <a:gdLst/>
            <a:ahLst/>
            <a:cxnLst/>
            <a:rect l="l" t="t" r="r" b="b"/>
            <a:pathLst>
              <a:path w="143510" h="144780">
                <a:moveTo>
                  <a:pt x="0" y="144779"/>
                </a:moveTo>
                <a:lnTo>
                  <a:pt x="143256" y="144779"/>
                </a:lnTo>
                <a:lnTo>
                  <a:pt x="143256" y="0"/>
                </a:lnTo>
                <a:lnTo>
                  <a:pt x="0" y="0"/>
                </a:lnTo>
                <a:lnTo>
                  <a:pt x="0" y="144779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191000" y="1671827"/>
            <a:ext cx="539750" cy="539750"/>
          </a:xfrm>
          <a:custGeom>
            <a:avLst/>
            <a:gdLst/>
            <a:ahLst/>
            <a:cxnLst/>
            <a:rect l="l" t="t" r="r" b="b"/>
            <a:pathLst>
              <a:path w="539750" h="539750">
                <a:moveTo>
                  <a:pt x="0" y="269748"/>
                </a:moveTo>
                <a:lnTo>
                  <a:pt x="4346" y="221262"/>
                </a:lnTo>
                <a:lnTo>
                  <a:pt x="16876" y="175626"/>
                </a:lnTo>
                <a:lnTo>
                  <a:pt x="36830" y="133603"/>
                </a:lnTo>
                <a:lnTo>
                  <a:pt x="63443" y="95955"/>
                </a:lnTo>
                <a:lnTo>
                  <a:pt x="95955" y="63443"/>
                </a:lnTo>
                <a:lnTo>
                  <a:pt x="133604" y="36829"/>
                </a:lnTo>
                <a:lnTo>
                  <a:pt x="175626" y="16876"/>
                </a:lnTo>
                <a:lnTo>
                  <a:pt x="221262" y="4346"/>
                </a:lnTo>
                <a:lnTo>
                  <a:pt x="269748" y="0"/>
                </a:lnTo>
                <a:lnTo>
                  <a:pt x="318233" y="4346"/>
                </a:lnTo>
                <a:lnTo>
                  <a:pt x="363869" y="16876"/>
                </a:lnTo>
                <a:lnTo>
                  <a:pt x="405892" y="36830"/>
                </a:lnTo>
                <a:lnTo>
                  <a:pt x="443540" y="63443"/>
                </a:lnTo>
                <a:lnTo>
                  <a:pt x="476052" y="95955"/>
                </a:lnTo>
                <a:lnTo>
                  <a:pt x="502666" y="133604"/>
                </a:lnTo>
                <a:lnTo>
                  <a:pt x="522619" y="175626"/>
                </a:lnTo>
                <a:lnTo>
                  <a:pt x="535149" y="221262"/>
                </a:lnTo>
                <a:lnTo>
                  <a:pt x="539496" y="269748"/>
                </a:lnTo>
                <a:lnTo>
                  <a:pt x="535149" y="318233"/>
                </a:lnTo>
                <a:lnTo>
                  <a:pt x="522619" y="363869"/>
                </a:lnTo>
                <a:lnTo>
                  <a:pt x="502665" y="405892"/>
                </a:lnTo>
                <a:lnTo>
                  <a:pt x="476052" y="443540"/>
                </a:lnTo>
                <a:lnTo>
                  <a:pt x="443540" y="476052"/>
                </a:lnTo>
                <a:lnTo>
                  <a:pt x="405891" y="502666"/>
                </a:lnTo>
                <a:lnTo>
                  <a:pt x="363869" y="522619"/>
                </a:lnTo>
                <a:lnTo>
                  <a:pt x="318233" y="535149"/>
                </a:lnTo>
                <a:lnTo>
                  <a:pt x="269748" y="539496"/>
                </a:lnTo>
                <a:lnTo>
                  <a:pt x="221262" y="535149"/>
                </a:lnTo>
                <a:lnTo>
                  <a:pt x="175626" y="522619"/>
                </a:lnTo>
                <a:lnTo>
                  <a:pt x="133603" y="502665"/>
                </a:lnTo>
                <a:lnTo>
                  <a:pt x="95955" y="476052"/>
                </a:lnTo>
                <a:lnTo>
                  <a:pt x="63443" y="443540"/>
                </a:lnTo>
                <a:lnTo>
                  <a:pt x="36829" y="405891"/>
                </a:lnTo>
                <a:lnTo>
                  <a:pt x="16876" y="363869"/>
                </a:lnTo>
                <a:lnTo>
                  <a:pt x="4346" y="318233"/>
                </a:lnTo>
                <a:lnTo>
                  <a:pt x="0" y="269748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191000" y="2749295"/>
            <a:ext cx="539750" cy="539750"/>
          </a:xfrm>
          <a:custGeom>
            <a:avLst/>
            <a:gdLst/>
            <a:ahLst/>
            <a:cxnLst/>
            <a:rect l="l" t="t" r="r" b="b"/>
            <a:pathLst>
              <a:path w="539750" h="539750">
                <a:moveTo>
                  <a:pt x="0" y="269748"/>
                </a:moveTo>
                <a:lnTo>
                  <a:pt x="4346" y="221262"/>
                </a:lnTo>
                <a:lnTo>
                  <a:pt x="16876" y="175626"/>
                </a:lnTo>
                <a:lnTo>
                  <a:pt x="36830" y="133603"/>
                </a:lnTo>
                <a:lnTo>
                  <a:pt x="63443" y="95955"/>
                </a:lnTo>
                <a:lnTo>
                  <a:pt x="95955" y="63443"/>
                </a:lnTo>
                <a:lnTo>
                  <a:pt x="133604" y="36829"/>
                </a:lnTo>
                <a:lnTo>
                  <a:pt x="175626" y="16876"/>
                </a:lnTo>
                <a:lnTo>
                  <a:pt x="221262" y="4346"/>
                </a:lnTo>
                <a:lnTo>
                  <a:pt x="269748" y="0"/>
                </a:lnTo>
                <a:lnTo>
                  <a:pt x="318233" y="4346"/>
                </a:lnTo>
                <a:lnTo>
                  <a:pt x="363869" y="16876"/>
                </a:lnTo>
                <a:lnTo>
                  <a:pt x="405892" y="36830"/>
                </a:lnTo>
                <a:lnTo>
                  <a:pt x="443540" y="63443"/>
                </a:lnTo>
                <a:lnTo>
                  <a:pt x="476052" y="95955"/>
                </a:lnTo>
                <a:lnTo>
                  <a:pt x="502666" y="133604"/>
                </a:lnTo>
                <a:lnTo>
                  <a:pt x="522619" y="175626"/>
                </a:lnTo>
                <a:lnTo>
                  <a:pt x="535149" y="221262"/>
                </a:lnTo>
                <a:lnTo>
                  <a:pt x="539496" y="269748"/>
                </a:lnTo>
                <a:lnTo>
                  <a:pt x="535149" y="318233"/>
                </a:lnTo>
                <a:lnTo>
                  <a:pt x="522619" y="363869"/>
                </a:lnTo>
                <a:lnTo>
                  <a:pt x="502665" y="405891"/>
                </a:lnTo>
                <a:lnTo>
                  <a:pt x="476052" y="443540"/>
                </a:lnTo>
                <a:lnTo>
                  <a:pt x="443540" y="476052"/>
                </a:lnTo>
                <a:lnTo>
                  <a:pt x="405891" y="502665"/>
                </a:lnTo>
                <a:lnTo>
                  <a:pt x="363869" y="522619"/>
                </a:lnTo>
                <a:lnTo>
                  <a:pt x="318233" y="535149"/>
                </a:lnTo>
                <a:lnTo>
                  <a:pt x="269748" y="539495"/>
                </a:lnTo>
                <a:lnTo>
                  <a:pt x="221262" y="535149"/>
                </a:lnTo>
                <a:lnTo>
                  <a:pt x="175626" y="522619"/>
                </a:lnTo>
                <a:lnTo>
                  <a:pt x="133603" y="502665"/>
                </a:lnTo>
                <a:lnTo>
                  <a:pt x="95955" y="476052"/>
                </a:lnTo>
                <a:lnTo>
                  <a:pt x="63443" y="443540"/>
                </a:lnTo>
                <a:lnTo>
                  <a:pt x="36829" y="405891"/>
                </a:lnTo>
                <a:lnTo>
                  <a:pt x="16876" y="363869"/>
                </a:lnTo>
                <a:lnTo>
                  <a:pt x="4346" y="318233"/>
                </a:lnTo>
                <a:lnTo>
                  <a:pt x="0" y="269748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4725796" y="1937257"/>
            <a:ext cx="1320165" cy="1085215"/>
            <a:chOff x="4725796" y="1937257"/>
            <a:chExt cx="1320165" cy="1085215"/>
          </a:xfrm>
        </p:grpSpPr>
        <p:sp>
          <p:nvSpPr>
            <p:cNvPr id="7" name="object 7"/>
            <p:cNvSpPr/>
            <p:nvPr/>
          </p:nvSpPr>
          <p:spPr>
            <a:xfrm>
              <a:off x="5216651" y="2208275"/>
              <a:ext cx="541020" cy="541020"/>
            </a:xfrm>
            <a:custGeom>
              <a:avLst/>
              <a:gdLst/>
              <a:ahLst/>
              <a:cxnLst/>
              <a:rect l="l" t="t" r="r" b="b"/>
              <a:pathLst>
                <a:path w="541020" h="541019">
                  <a:moveTo>
                    <a:pt x="0" y="270510"/>
                  </a:moveTo>
                  <a:lnTo>
                    <a:pt x="4359" y="221897"/>
                  </a:lnTo>
                  <a:lnTo>
                    <a:pt x="16929" y="176139"/>
                  </a:lnTo>
                  <a:lnTo>
                    <a:pt x="36942" y="133999"/>
                  </a:lnTo>
                  <a:lnTo>
                    <a:pt x="63635" y="96243"/>
                  </a:lnTo>
                  <a:lnTo>
                    <a:pt x="96243" y="63635"/>
                  </a:lnTo>
                  <a:lnTo>
                    <a:pt x="133999" y="36942"/>
                  </a:lnTo>
                  <a:lnTo>
                    <a:pt x="176139" y="16929"/>
                  </a:lnTo>
                  <a:lnTo>
                    <a:pt x="221897" y="4359"/>
                  </a:lnTo>
                  <a:lnTo>
                    <a:pt x="270510" y="0"/>
                  </a:lnTo>
                  <a:lnTo>
                    <a:pt x="319122" y="4359"/>
                  </a:lnTo>
                  <a:lnTo>
                    <a:pt x="364880" y="16929"/>
                  </a:lnTo>
                  <a:lnTo>
                    <a:pt x="407020" y="36942"/>
                  </a:lnTo>
                  <a:lnTo>
                    <a:pt x="444776" y="63635"/>
                  </a:lnTo>
                  <a:lnTo>
                    <a:pt x="477384" y="96243"/>
                  </a:lnTo>
                  <a:lnTo>
                    <a:pt x="504077" y="133999"/>
                  </a:lnTo>
                  <a:lnTo>
                    <a:pt x="524090" y="176139"/>
                  </a:lnTo>
                  <a:lnTo>
                    <a:pt x="536660" y="221897"/>
                  </a:lnTo>
                  <a:lnTo>
                    <a:pt x="541020" y="270510"/>
                  </a:lnTo>
                  <a:lnTo>
                    <a:pt x="536660" y="319122"/>
                  </a:lnTo>
                  <a:lnTo>
                    <a:pt x="524090" y="364880"/>
                  </a:lnTo>
                  <a:lnTo>
                    <a:pt x="504077" y="407020"/>
                  </a:lnTo>
                  <a:lnTo>
                    <a:pt x="477384" y="444776"/>
                  </a:lnTo>
                  <a:lnTo>
                    <a:pt x="444776" y="477384"/>
                  </a:lnTo>
                  <a:lnTo>
                    <a:pt x="407020" y="504077"/>
                  </a:lnTo>
                  <a:lnTo>
                    <a:pt x="364880" y="524090"/>
                  </a:lnTo>
                  <a:lnTo>
                    <a:pt x="319122" y="536660"/>
                  </a:lnTo>
                  <a:lnTo>
                    <a:pt x="270510" y="541020"/>
                  </a:lnTo>
                  <a:lnTo>
                    <a:pt x="221897" y="536660"/>
                  </a:lnTo>
                  <a:lnTo>
                    <a:pt x="176139" y="524090"/>
                  </a:lnTo>
                  <a:lnTo>
                    <a:pt x="133999" y="504077"/>
                  </a:lnTo>
                  <a:lnTo>
                    <a:pt x="96243" y="477384"/>
                  </a:lnTo>
                  <a:lnTo>
                    <a:pt x="63635" y="444776"/>
                  </a:lnTo>
                  <a:lnTo>
                    <a:pt x="36942" y="407020"/>
                  </a:lnTo>
                  <a:lnTo>
                    <a:pt x="16929" y="364880"/>
                  </a:lnTo>
                  <a:lnTo>
                    <a:pt x="4359" y="319122"/>
                  </a:lnTo>
                  <a:lnTo>
                    <a:pt x="0" y="27051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757671" y="2439923"/>
              <a:ext cx="288290" cy="76200"/>
            </a:xfrm>
            <a:custGeom>
              <a:avLst/>
              <a:gdLst/>
              <a:ahLst/>
              <a:cxnLst/>
              <a:rect l="l" t="t" r="r" b="b"/>
              <a:pathLst>
                <a:path w="288289" h="76200">
                  <a:moveTo>
                    <a:pt x="211836" y="0"/>
                  </a:moveTo>
                  <a:lnTo>
                    <a:pt x="211836" y="76200"/>
                  </a:lnTo>
                  <a:lnTo>
                    <a:pt x="275336" y="44450"/>
                  </a:lnTo>
                  <a:lnTo>
                    <a:pt x="224536" y="44450"/>
                  </a:lnTo>
                  <a:lnTo>
                    <a:pt x="224536" y="31750"/>
                  </a:lnTo>
                  <a:lnTo>
                    <a:pt x="275336" y="31750"/>
                  </a:lnTo>
                  <a:lnTo>
                    <a:pt x="211836" y="0"/>
                  </a:lnTo>
                  <a:close/>
                </a:path>
                <a:path w="288289" h="76200">
                  <a:moveTo>
                    <a:pt x="211836" y="31750"/>
                  </a:moveTo>
                  <a:lnTo>
                    <a:pt x="0" y="31750"/>
                  </a:lnTo>
                  <a:lnTo>
                    <a:pt x="0" y="44450"/>
                  </a:lnTo>
                  <a:lnTo>
                    <a:pt x="211836" y="44450"/>
                  </a:lnTo>
                  <a:lnTo>
                    <a:pt x="211836" y="31750"/>
                  </a:lnTo>
                  <a:close/>
                </a:path>
                <a:path w="288289" h="76200">
                  <a:moveTo>
                    <a:pt x="275336" y="31750"/>
                  </a:moveTo>
                  <a:lnTo>
                    <a:pt x="224536" y="31750"/>
                  </a:lnTo>
                  <a:lnTo>
                    <a:pt x="224536" y="44450"/>
                  </a:lnTo>
                  <a:lnTo>
                    <a:pt x="275336" y="44450"/>
                  </a:lnTo>
                  <a:lnTo>
                    <a:pt x="288036" y="38100"/>
                  </a:lnTo>
                  <a:lnTo>
                    <a:pt x="275336" y="317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725797" y="1937257"/>
              <a:ext cx="490855" cy="1085215"/>
            </a:xfrm>
            <a:custGeom>
              <a:avLst/>
              <a:gdLst/>
              <a:ahLst/>
              <a:cxnLst/>
              <a:rect l="l" t="t" r="r" b="b"/>
              <a:pathLst>
                <a:path w="490854" h="1085214">
                  <a:moveTo>
                    <a:pt x="490728" y="540766"/>
                  </a:moveTo>
                  <a:lnTo>
                    <a:pt x="490588" y="540816"/>
                  </a:lnTo>
                  <a:lnTo>
                    <a:pt x="478790" y="498475"/>
                  </a:lnTo>
                  <a:lnTo>
                    <a:pt x="467868" y="459232"/>
                  </a:lnTo>
                  <a:lnTo>
                    <a:pt x="444334" y="480542"/>
                  </a:lnTo>
                  <a:lnTo>
                    <a:pt x="9398" y="0"/>
                  </a:lnTo>
                  <a:lnTo>
                    <a:pt x="0" y="8636"/>
                  </a:lnTo>
                  <a:lnTo>
                    <a:pt x="434936" y="489051"/>
                  </a:lnTo>
                  <a:lnTo>
                    <a:pt x="411353" y="510413"/>
                  </a:lnTo>
                  <a:lnTo>
                    <a:pt x="490067" y="541032"/>
                  </a:lnTo>
                  <a:lnTo>
                    <a:pt x="411480" y="571881"/>
                  </a:lnTo>
                  <a:lnTo>
                    <a:pt x="435076" y="593166"/>
                  </a:lnTo>
                  <a:lnTo>
                    <a:pt x="0" y="1076579"/>
                  </a:lnTo>
                  <a:lnTo>
                    <a:pt x="9398" y="1084961"/>
                  </a:lnTo>
                  <a:lnTo>
                    <a:pt x="444500" y="601649"/>
                  </a:lnTo>
                  <a:lnTo>
                    <a:pt x="468122" y="622935"/>
                  </a:lnTo>
                  <a:lnTo>
                    <a:pt x="478917" y="583692"/>
                  </a:lnTo>
                  <a:lnTo>
                    <a:pt x="490601" y="541235"/>
                  </a:lnTo>
                  <a:lnTo>
                    <a:pt x="490728" y="541274"/>
                  </a:lnTo>
                  <a:lnTo>
                    <a:pt x="490651" y="541032"/>
                  </a:lnTo>
                  <a:lnTo>
                    <a:pt x="490728" y="54076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779141" y="1752727"/>
            <a:ext cx="289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𝑥</a:t>
            </a:r>
            <a:r>
              <a:rPr sz="1950" spc="-37" baseline="-14957" dirty="0">
                <a:latin typeface="Cambria Math"/>
                <a:cs typeface="Cambria Math"/>
              </a:rPr>
              <a:t>1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779141" y="2819780"/>
            <a:ext cx="294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𝑥</a:t>
            </a:r>
            <a:r>
              <a:rPr sz="1950" spc="-37" baseline="-14957" dirty="0">
                <a:latin typeface="Cambria Math"/>
                <a:cs typeface="Cambria Math"/>
              </a:rPr>
              <a:t>2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062217" y="2279345"/>
            <a:ext cx="1536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𝑦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197225" y="1903475"/>
            <a:ext cx="993140" cy="1153795"/>
          </a:xfrm>
          <a:custGeom>
            <a:avLst/>
            <a:gdLst/>
            <a:ahLst/>
            <a:cxnLst/>
            <a:rect l="l" t="t" r="r" b="b"/>
            <a:pathLst>
              <a:path w="993139" h="1153795">
                <a:moveTo>
                  <a:pt x="993140" y="38100"/>
                </a:moveTo>
                <a:lnTo>
                  <a:pt x="980440" y="31750"/>
                </a:lnTo>
                <a:lnTo>
                  <a:pt x="936967" y="10020"/>
                </a:lnTo>
                <a:lnTo>
                  <a:pt x="936967" y="89954"/>
                </a:lnTo>
                <a:lnTo>
                  <a:pt x="498944" y="567220"/>
                </a:lnTo>
                <a:lnTo>
                  <a:pt x="19177" y="44450"/>
                </a:lnTo>
                <a:lnTo>
                  <a:pt x="916940" y="44450"/>
                </a:lnTo>
                <a:lnTo>
                  <a:pt x="916940" y="67157"/>
                </a:lnTo>
                <a:lnTo>
                  <a:pt x="913511" y="68453"/>
                </a:lnTo>
                <a:lnTo>
                  <a:pt x="916940" y="71602"/>
                </a:lnTo>
                <a:lnTo>
                  <a:pt x="916940" y="76200"/>
                </a:lnTo>
                <a:lnTo>
                  <a:pt x="920178" y="74587"/>
                </a:lnTo>
                <a:lnTo>
                  <a:pt x="936967" y="89954"/>
                </a:lnTo>
                <a:lnTo>
                  <a:pt x="936967" y="10020"/>
                </a:lnTo>
                <a:lnTo>
                  <a:pt x="916940" y="0"/>
                </a:lnTo>
                <a:lnTo>
                  <a:pt x="916940" y="31750"/>
                </a:lnTo>
                <a:lnTo>
                  <a:pt x="4699" y="31750"/>
                </a:lnTo>
                <a:lnTo>
                  <a:pt x="4699" y="38100"/>
                </a:lnTo>
                <a:lnTo>
                  <a:pt x="0" y="42418"/>
                </a:lnTo>
                <a:lnTo>
                  <a:pt x="490296" y="576656"/>
                </a:lnTo>
                <a:lnTo>
                  <a:pt x="0" y="1110869"/>
                </a:lnTo>
                <a:lnTo>
                  <a:pt x="4699" y="1115123"/>
                </a:lnTo>
                <a:lnTo>
                  <a:pt x="4699" y="1121918"/>
                </a:lnTo>
                <a:lnTo>
                  <a:pt x="916940" y="1121918"/>
                </a:lnTo>
                <a:lnTo>
                  <a:pt x="916940" y="1153668"/>
                </a:lnTo>
                <a:lnTo>
                  <a:pt x="980440" y="1121918"/>
                </a:lnTo>
                <a:lnTo>
                  <a:pt x="993140" y="1115568"/>
                </a:lnTo>
                <a:lnTo>
                  <a:pt x="988860" y="1113434"/>
                </a:lnTo>
                <a:lnTo>
                  <a:pt x="993140" y="1115060"/>
                </a:lnTo>
                <a:lnTo>
                  <a:pt x="981011" y="1072642"/>
                </a:lnTo>
                <a:lnTo>
                  <a:pt x="969772" y="1033272"/>
                </a:lnTo>
                <a:lnTo>
                  <a:pt x="946353" y="1054684"/>
                </a:lnTo>
                <a:lnTo>
                  <a:pt x="936929" y="1044422"/>
                </a:lnTo>
                <a:lnTo>
                  <a:pt x="936929" y="1063294"/>
                </a:lnTo>
                <a:lnTo>
                  <a:pt x="919835" y="1078928"/>
                </a:lnTo>
                <a:lnTo>
                  <a:pt x="916940" y="1077468"/>
                </a:lnTo>
                <a:lnTo>
                  <a:pt x="916940" y="1081582"/>
                </a:lnTo>
                <a:lnTo>
                  <a:pt x="913511" y="1084707"/>
                </a:lnTo>
                <a:lnTo>
                  <a:pt x="916940" y="1086015"/>
                </a:lnTo>
                <a:lnTo>
                  <a:pt x="916940" y="1109218"/>
                </a:lnTo>
                <a:lnTo>
                  <a:pt x="18719" y="1109218"/>
                </a:lnTo>
                <a:lnTo>
                  <a:pt x="498894" y="586028"/>
                </a:lnTo>
                <a:lnTo>
                  <a:pt x="936929" y="1063294"/>
                </a:lnTo>
                <a:lnTo>
                  <a:pt x="936929" y="1044422"/>
                </a:lnTo>
                <a:lnTo>
                  <a:pt x="507555" y="576592"/>
                </a:lnTo>
                <a:lnTo>
                  <a:pt x="946315" y="98526"/>
                </a:lnTo>
                <a:lnTo>
                  <a:pt x="969772" y="120015"/>
                </a:lnTo>
                <a:lnTo>
                  <a:pt x="980998" y="80645"/>
                </a:lnTo>
                <a:lnTo>
                  <a:pt x="99314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594861" y="1642109"/>
            <a:ext cx="162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𝛼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327272" y="2046858"/>
            <a:ext cx="162560" cy="723900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1800" spc="-50" dirty="0">
                <a:latin typeface="Cambria Math"/>
                <a:cs typeface="Cambria Math"/>
              </a:rPr>
              <a:t>𝛼</a:t>
            </a:r>
            <a:endParaRPr sz="18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sz="1800" spc="-50" dirty="0">
                <a:latin typeface="Cambria Math"/>
                <a:cs typeface="Cambria Math"/>
              </a:rPr>
              <a:t>𝛼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594861" y="2958846"/>
            <a:ext cx="162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𝛼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918709" y="1799335"/>
            <a:ext cx="1644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𝛽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892166" y="2780157"/>
            <a:ext cx="1644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𝛽</a:t>
            </a:r>
            <a:endParaRPr sz="18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Imagem 66">
            <a:extLst>
              <a:ext uri="{FF2B5EF4-FFF2-40B4-BE49-F238E27FC236}">
                <a16:creationId xmlns:a16="http://schemas.microsoft.com/office/drawing/2014/main" id="{02B47E82-9D1A-AC1D-84E2-48B3F89E68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8988" y="1143000"/>
            <a:ext cx="7394023" cy="2505212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5119" y="2674620"/>
            <a:ext cx="539750" cy="53975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119380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940"/>
              </a:spcBef>
            </a:pPr>
            <a:r>
              <a:rPr sz="1800" dirty="0">
                <a:latin typeface="Cambria Math"/>
                <a:cs typeface="Cambria Math"/>
              </a:rPr>
              <a:t>𝑓(.</a:t>
            </a:r>
            <a:r>
              <a:rPr sz="1800" spc="-50" dirty="0">
                <a:latin typeface="Cambria Math"/>
                <a:cs typeface="Cambria Math"/>
              </a:rPr>
              <a:t> 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75119" y="3924300"/>
            <a:ext cx="539750" cy="53975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120014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944"/>
              </a:spcBef>
            </a:pPr>
            <a:r>
              <a:rPr sz="1800" dirty="0">
                <a:latin typeface="Cambria Math"/>
                <a:cs typeface="Cambria Math"/>
              </a:rPr>
              <a:t>𝑓(.</a:t>
            </a:r>
            <a:r>
              <a:rPr sz="1800" spc="-50" dirty="0">
                <a:latin typeface="Cambria Math"/>
                <a:cs typeface="Cambria Math"/>
              </a:rPr>
              <a:t> 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787128" y="3223260"/>
            <a:ext cx="539750" cy="53975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119380" rIns="0" bIns="0" rtlCol="0">
            <a:spAutoFit/>
          </a:bodyPr>
          <a:lstStyle/>
          <a:p>
            <a:pPr marL="40640">
              <a:lnSpc>
                <a:spcPct val="100000"/>
              </a:lnSpc>
              <a:spcBef>
                <a:spcPts val="940"/>
              </a:spcBef>
            </a:pPr>
            <a:r>
              <a:rPr sz="1800" dirty="0">
                <a:latin typeface="Cambria Math"/>
                <a:cs typeface="Cambria Math"/>
              </a:rPr>
              <a:t>𝑓(.</a:t>
            </a:r>
            <a:r>
              <a:rPr sz="1800" spc="-50" dirty="0">
                <a:latin typeface="Cambria Math"/>
                <a:cs typeface="Cambria Math"/>
              </a:rPr>
              <a:t> 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757671" y="2674620"/>
            <a:ext cx="539750" cy="467995"/>
          </a:xfrm>
          <a:custGeom>
            <a:avLst/>
            <a:gdLst/>
            <a:ahLst/>
            <a:cxnLst/>
            <a:rect l="l" t="t" r="r" b="b"/>
            <a:pathLst>
              <a:path w="539750" h="467994">
                <a:moveTo>
                  <a:pt x="0" y="233933"/>
                </a:moveTo>
                <a:lnTo>
                  <a:pt x="4346" y="191894"/>
                </a:lnTo>
                <a:lnTo>
                  <a:pt x="16876" y="152322"/>
                </a:lnTo>
                <a:lnTo>
                  <a:pt x="36830" y="115880"/>
                </a:lnTo>
                <a:lnTo>
                  <a:pt x="63443" y="83229"/>
                </a:lnTo>
                <a:lnTo>
                  <a:pt x="95955" y="55031"/>
                </a:lnTo>
                <a:lnTo>
                  <a:pt x="133604" y="31947"/>
                </a:lnTo>
                <a:lnTo>
                  <a:pt x="175626" y="14640"/>
                </a:lnTo>
                <a:lnTo>
                  <a:pt x="221262" y="3770"/>
                </a:lnTo>
                <a:lnTo>
                  <a:pt x="269748" y="0"/>
                </a:lnTo>
                <a:lnTo>
                  <a:pt x="318233" y="3770"/>
                </a:lnTo>
                <a:lnTo>
                  <a:pt x="363869" y="14640"/>
                </a:lnTo>
                <a:lnTo>
                  <a:pt x="405891" y="31947"/>
                </a:lnTo>
                <a:lnTo>
                  <a:pt x="443540" y="55031"/>
                </a:lnTo>
                <a:lnTo>
                  <a:pt x="476052" y="83229"/>
                </a:lnTo>
                <a:lnTo>
                  <a:pt x="502665" y="115880"/>
                </a:lnTo>
                <a:lnTo>
                  <a:pt x="522619" y="152322"/>
                </a:lnTo>
                <a:lnTo>
                  <a:pt x="535149" y="191894"/>
                </a:lnTo>
                <a:lnTo>
                  <a:pt x="539495" y="233933"/>
                </a:lnTo>
                <a:lnTo>
                  <a:pt x="535149" y="275973"/>
                </a:lnTo>
                <a:lnTo>
                  <a:pt x="522619" y="315545"/>
                </a:lnTo>
                <a:lnTo>
                  <a:pt x="502665" y="351987"/>
                </a:lnTo>
                <a:lnTo>
                  <a:pt x="476052" y="384638"/>
                </a:lnTo>
                <a:lnTo>
                  <a:pt x="443540" y="412836"/>
                </a:lnTo>
                <a:lnTo>
                  <a:pt x="405891" y="435920"/>
                </a:lnTo>
                <a:lnTo>
                  <a:pt x="363869" y="453227"/>
                </a:lnTo>
                <a:lnTo>
                  <a:pt x="318233" y="464097"/>
                </a:lnTo>
                <a:lnTo>
                  <a:pt x="269748" y="467867"/>
                </a:lnTo>
                <a:lnTo>
                  <a:pt x="221262" y="464097"/>
                </a:lnTo>
                <a:lnTo>
                  <a:pt x="175626" y="453227"/>
                </a:lnTo>
                <a:lnTo>
                  <a:pt x="133603" y="435920"/>
                </a:lnTo>
                <a:lnTo>
                  <a:pt x="95955" y="412836"/>
                </a:lnTo>
                <a:lnTo>
                  <a:pt x="63443" y="384638"/>
                </a:lnTo>
                <a:lnTo>
                  <a:pt x="36829" y="351987"/>
                </a:lnTo>
                <a:lnTo>
                  <a:pt x="16876" y="315545"/>
                </a:lnTo>
                <a:lnTo>
                  <a:pt x="4346" y="275973"/>
                </a:lnTo>
                <a:lnTo>
                  <a:pt x="0" y="233933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5743702" y="2868548"/>
            <a:ext cx="932180" cy="1530350"/>
            <a:chOff x="5743702" y="2868548"/>
            <a:chExt cx="932180" cy="1530350"/>
          </a:xfrm>
        </p:grpSpPr>
        <p:sp>
          <p:nvSpPr>
            <p:cNvPr id="8" name="object 8"/>
            <p:cNvSpPr/>
            <p:nvPr/>
          </p:nvSpPr>
          <p:spPr>
            <a:xfrm>
              <a:off x="6297168" y="2868548"/>
              <a:ext cx="378460" cy="76200"/>
            </a:xfrm>
            <a:custGeom>
              <a:avLst/>
              <a:gdLst/>
              <a:ahLst/>
              <a:cxnLst/>
              <a:rect l="l" t="t" r="r" b="b"/>
              <a:pathLst>
                <a:path w="378459" h="76200">
                  <a:moveTo>
                    <a:pt x="302058" y="44556"/>
                  </a:moveTo>
                  <a:lnTo>
                    <a:pt x="302006" y="76200"/>
                  </a:lnTo>
                  <a:lnTo>
                    <a:pt x="365463" y="44576"/>
                  </a:lnTo>
                  <a:lnTo>
                    <a:pt x="314706" y="44576"/>
                  </a:lnTo>
                  <a:lnTo>
                    <a:pt x="302058" y="44556"/>
                  </a:lnTo>
                  <a:close/>
                </a:path>
                <a:path w="378459" h="76200">
                  <a:moveTo>
                    <a:pt x="302079" y="31856"/>
                  </a:moveTo>
                  <a:lnTo>
                    <a:pt x="302058" y="44556"/>
                  </a:lnTo>
                  <a:lnTo>
                    <a:pt x="314706" y="44576"/>
                  </a:lnTo>
                  <a:lnTo>
                    <a:pt x="314706" y="31876"/>
                  </a:lnTo>
                  <a:lnTo>
                    <a:pt x="302079" y="31856"/>
                  </a:lnTo>
                  <a:close/>
                </a:path>
                <a:path w="378459" h="76200">
                  <a:moveTo>
                    <a:pt x="302133" y="0"/>
                  </a:moveTo>
                  <a:lnTo>
                    <a:pt x="302079" y="31856"/>
                  </a:lnTo>
                  <a:lnTo>
                    <a:pt x="314706" y="31876"/>
                  </a:lnTo>
                  <a:lnTo>
                    <a:pt x="314706" y="44576"/>
                  </a:lnTo>
                  <a:lnTo>
                    <a:pt x="365463" y="44576"/>
                  </a:lnTo>
                  <a:lnTo>
                    <a:pt x="378206" y="38226"/>
                  </a:lnTo>
                  <a:lnTo>
                    <a:pt x="302133" y="0"/>
                  </a:lnTo>
                  <a:close/>
                </a:path>
                <a:path w="378459" h="76200">
                  <a:moveTo>
                    <a:pt x="0" y="31368"/>
                  </a:moveTo>
                  <a:lnTo>
                    <a:pt x="0" y="44068"/>
                  </a:lnTo>
                  <a:lnTo>
                    <a:pt x="302058" y="44556"/>
                  </a:lnTo>
                  <a:lnTo>
                    <a:pt x="302079" y="31856"/>
                  </a:lnTo>
                  <a:lnTo>
                    <a:pt x="0" y="313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750052" y="3924299"/>
              <a:ext cx="541020" cy="467995"/>
            </a:xfrm>
            <a:custGeom>
              <a:avLst/>
              <a:gdLst/>
              <a:ahLst/>
              <a:cxnLst/>
              <a:rect l="l" t="t" r="r" b="b"/>
              <a:pathLst>
                <a:path w="541020" h="467995">
                  <a:moveTo>
                    <a:pt x="0" y="233933"/>
                  </a:moveTo>
                  <a:lnTo>
                    <a:pt x="4359" y="191894"/>
                  </a:lnTo>
                  <a:lnTo>
                    <a:pt x="16929" y="152322"/>
                  </a:lnTo>
                  <a:lnTo>
                    <a:pt x="36942" y="115880"/>
                  </a:lnTo>
                  <a:lnTo>
                    <a:pt x="63635" y="83229"/>
                  </a:lnTo>
                  <a:lnTo>
                    <a:pt x="96243" y="55031"/>
                  </a:lnTo>
                  <a:lnTo>
                    <a:pt x="133999" y="31947"/>
                  </a:lnTo>
                  <a:lnTo>
                    <a:pt x="176139" y="14640"/>
                  </a:lnTo>
                  <a:lnTo>
                    <a:pt x="221897" y="3770"/>
                  </a:lnTo>
                  <a:lnTo>
                    <a:pt x="270510" y="0"/>
                  </a:lnTo>
                  <a:lnTo>
                    <a:pt x="319122" y="3770"/>
                  </a:lnTo>
                  <a:lnTo>
                    <a:pt x="364880" y="14640"/>
                  </a:lnTo>
                  <a:lnTo>
                    <a:pt x="407020" y="31947"/>
                  </a:lnTo>
                  <a:lnTo>
                    <a:pt x="444776" y="55031"/>
                  </a:lnTo>
                  <a:lnTo>
                    <a:pt x="477384" y="83229"/>
                  </a:lnTo>
                  <a:lnTo>
                    <a:pt x="504077" y="115880"/>
                  </a:lnTo>
                  <a:lnTo>
                    <a:pt x="524090" y="152322"/>
                  </a:lnTo>
                  <a:lnTo>
                    <a:pt x="536660" y="191894"/>
                  </a:lnTo>
                  <a:lnTo>
                    <a:pt x="541020" y="233933"/>
                  </a:lnTo>
                  <a:lnTo>
                    <a:pt x="536660" y="275973"/>
                  </a:lnTo>
                  <a:lnTo>
                    <a:pt x="524090" y="315545"/>
                  </a:lnTo>
                  <a:lnTo>
                    <a:pt x="504077" y="351987"/>
                  </a:lnTo>
                  <a:lnTo>
                    <a:pt x="477384" y="384638"/>
                  </a:lnTo>
                  <a:lnTo>
                    <a:pt x="444776" y="412836"/>
                  </a:lnTo>
                  <a:lnTo>
                    <a:pt x="407020" y="435920"/>
                  </a:lnTo>
                  <a:lnTo>
                    <a:pt x="364880" y="453227"/>
                  </a:lnTo>
                  <a:lnTo>
                    <a:pt x="319122" y="464097"/>
                  </a:lnTo>
                  <a:lnTo>
                    <a:pt x="270510" y="467868"/>
                  </a:lnTo>
                  <a:lnTo>
                    <a:pt x="221897" y="464097"/>
                  </a:lnTo>
                  <a:lnTo>
                    <a:pt x="176139" y="453227"/>
                  </a:lnTo>
                  <a:lnTo>
                    <a:pt x="133999" y="435920"/>
                  </a:lnTo>
                  <a:lnTo>
                    <a:pt x="96243" y="412836"/>
                  </a:lnTo>
                  <a:lnTo>
                    <a:pt x="63635" y="384638"/>
                  </a:lnTo>
                  <a:lnTo>
                    <a:pt x="36942" y="351987"/>
                  </a:lnTo>
                  <a:lnTo>
                    <a:pt x="16929" y="315545"/>
                  </a:lnTo>
                  <a:lnTo>
                    <a:pt x="4359" y="275973"/>
                  </a:lnTo>
                  <a:lnTo>
                    <a:pt x="0" y="233933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/>
          <p:nvPr/>
        </p:nvSpPr>
        <p:spPr>
          <a:xfrm>
            <a:off x="8868156" y="3256788"/>
            <a:ext cx="541020" cy="467995"/>
          </a:xfrm>
          <a:custGeom>
            <a:avLst/>
            <a:gdLst/>
            <a:ahLst/>
            <a:cxnLst/>
            <a:rect l="l" t="t" r="r" b="b"/>
            <a:pathLst>
              <a:path w="541020" h="467995">
                <a:moveTo>
                  <a:pt x="0" y="233934"/>
                </a:moveTo>
                <a:lnTo>
                  <a:pt x="4359" y="191894"/>
                </a:lnTo>
                <a:lnTo>
                  <a:pt x="16929" y="152322"/>
                </a:lnTo>
                <a:lnTo>
                  <a:pt x="36942" y="115880"/>
                </a:lnTo>
                <a:lnTo>
                  <a:pt x="63635" y="83229"/>
                </a:lnTo>
                <a:lnTo>
                  <a:pt x="96243" y="55031"/>
                </a:lnTo>
                <a:lnTo>
                  <a:pt x="133999" y="31947"/>
                </a:lnTo>
                <a:lnTo>
                  <a:pt x="176139" y="14640"/>
                </a:lnTo>
                <a:lnTo>
                  <a:pt x="221897" y="3770"/>
                </a:lnTo>
                <a:lnTo>
                  <a:pt x="270510" y="0"/>
                </a:lnTo>
                <a:lnTo>
                  <a:pt x="319122" y="3770"/>
                </a:lnTo>
                <a:lnTo>
                  <a:pt x="364880" y="14640"/>
                </a:lnTo>
                <a:lnTo>
                  <a:pt x="407020" y="31947"/>
                </a:lnTo>
                <a:lnTo>
                  <a:pt x="444776" y="55031"/>
                </a:lnTo>
                <a:lnTo>
                  <a:pt x="477384" y="83229"/>
                </a:lnTo>
                <a:lnTo>
                  <a:pt x="504077" y="115880"/>
                </a:lnTo>
                <a:lnTo>
                  <a:pt x="524090" y="152322"/>
                </a:lnTo>
                <a:lnTo>
                  <a:pt x="536660" y="191894"/>
                </a:lnTo>
                <a:lnTo>
                  <a:pt x="541020" y="233934"/>
                </a:lnTo>
                <a:lnTo>
                  <a:pt x="536660" y="275973"/>
                </a:lnTo>
                <a:lnTo>
                  <a:pt x="524090" y="315545"/>
                </a:lnTo>
                <a:lnTo>
                  <a:pt x="504077" y="351987"/>
                </a:lnTo>
                <a:lnTo>
                  <a:pt x="477384" y="384638"/>
                </a:lnTo>
                <a:lnTo>
                  <a:pt x="444776" y="412836"/>
                </a:lnTo>
                <a:lnTo>
                  <a:pt x="407020" y="435920"/>
                </a:lnTo>
                <a:lnTo>
                  <a:pt x="364880" y="453227"/>
                </a:lnTo>
                <a:lnTo>
                  <a:pt x="319122" y="464097"/>
                </a:lnTo>
                <a:lnTo>
                  <a:pt x="270510" y="467868"/>
                </a:lnTo>
                <a:lnTo>
                  <a:pt x="221897" y="464097"/>
                </a:lnTo>
                <a:lnTo>
                  <a:pt x="176139" y="453227"/>
                </a:lnTo>
                <a:lnTo>
                  <a:pt x="133999" y="435920"/>
                </a:lnTo>
                <a:lnTo>
                  <a:pt x="96243" y="412836"/>
                </a:lnTo>
                <a:lnTo>
                  <a:pt x="63635" y="384638"/>
                </a:lnTo>
                <a:lnTo>
                  <a:pt x="36942" y="351987"/>
                </a:lnTo>
                <a:lnTo>
                  <a:pt x="16929" y="315545"/>
                </a:lnTo>
                <a:lnTo>
                  <a:pt x="4359" y="275973"/>
                </a:lnTo>
                <a:lnTo>
                  <a:pt x="0" y="233934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" name="object 13"/>
          <p:cNvGrpSpPr/>
          <p:nvPr/>
        </p:nvGrpSpPr>
        <p:grpSpPr>
          <a:xfrm>
            <a:off x="7606030" y="2666745"/>
            <a:ext cx="2181860" cy="864869"/>
            <a:chOff x="7606030" y="2666745"/>
            <a:chExt cx="2181860" cy="864869"/>
          </a:xfrm>
        </p:grpSpPr>
        <p:sp>
          <p:nvSpPr>
            <p:cNvPr id="14" name="object 14"/>
            <p:cNvSpPr/>
            <p:nvPr/>
          </p:nvSpPr>
          <p:spPr>
            <a:xfrm>
              <a:off x="9409176" y="3455288"/>
              <a:ext cx="378460" cy="76200"/>
            </a:xfrm>
            <a:custGeom>
              <a:avLst/>
              <a:gdLst/>
              <a:ahLst/>
              <a:cxnLst/>
              <a:rect l="l" t="t" r="r" b="b"/>
              <a:pathLst>
                <a:path w="378459" h="76200">
                  <a:moveTo>
                    <a:pt x="302058" y="44556"/>
                  </a:moveTo>
                  <a:lnTo>
                    <a:pt x="302005" y="76200"/>
                  </a:lnTo>
                  <a:lnTo>
                    <a:pt x="365463" y="44576"/>
                  </a:lnTo>
                  <a:lnTo>
                    <a:pt x="314705" y="44576"/>
                  </a:lnTo>
                  <a:lnTo>
                    <a:pt x="302058" y="44556"/>
                  </a:lnTo>
                  <a:close/>
                </a:path>
                <a:path w="378459" h="76200">
                  <a:moveTo>
                    <a:pt x="302079" y="31856"/>
                  </a:moveTo>
                  <a:lnTo>
                    <a:pt x="302058" y="44556"/>
                  </a:lnTo>
                  <a:lnTo>
                    <a:pt x="314705" y="44576"/>
                  </a:lnTo>
                  <a:lnTo>
                    <a:pt x="314705" y="31876"/>
                  </a:lnTo>
                  <a:lnTo>
                    <a:pt x="302079" y="31856"/>
                  </a:lnTo>
                  <a:close/>
                </a:path>
                <a:path w="378459" h="76200">
                  <a:moveTo>
                    <a:pt x="302132" y="0"/>
                  </a:moveTo>
                  <a:lnTo>
                    <a:pt x="302079" y="31856"/>
                  </a:lnTo>
                  <a:lnTo>
                    <a:pt x="314705" y="31876"/>
                  </a:lnTo>
                  <a:lnTo>
                    <a:pt x="314705" y="44576"/>
                  </a:lnTo>
                  <a:lnTo>
                    <a:pt x="365463" y="44576"/>
                  </a:lnTo>
                  <a:lnTo>
                    <a:pt x="378205" y="38226"/>
                  </a:lnTo>
                  <a:lnTo>
                    <a:pt x="302132" y="0"/>
                  </a:lnTo>
                  <a:close/>
                </a:path>
                <a:path w="378459" h="76200">
                  <a:moveTo>
                    <a:pt x="0" y="31369"/>
                  </a:moveTo>
                  <a:lnTo>
                    <a:pt x="0" y="44069"/>
                  </a:lnTo>
                  <a:lnTo>
                    <a:pt x="302058" y="44556"/>
                  </a:lnTo>
                  <a:lnTo>
                    <a:pt x="302079" y="31856"/>
                  </a:lnTo>
                  <a:lnTo>
                    <a:pt x="0" y="3136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612380" y="2673095"/>
              <a:ext cx="539750" cy="541020"/>
            </a:xfrm>
            <a:custGeom>
              <a:avLst/>
              <a:gdLst/>
              <a:ahLst/>
              <a:cxnLst/>
              <a:rect l="l" t="t" r="r" b="b"/>
              <a:pathLst>
                <a:path w="539750" h="541019">
                  <a:moveTo>
                    <a:pt x="0" y="270509"/>
                  </a:moveTo>
                  <a:lnTo>
                    <a:pt x="4346" y="221897"/>
                  </a:lnTo>
                  <a:lnTo>
                    <a:pt x="16876" y="176139"/>
                  </a:lnTo>
                  <a:lnTo>
                    <a:pt x="36829" y="133999"/>
                  </a:lnTo>
                  <a:lnTo>
                    <a:pt x="63443" y="96243"/>
                  </a:lnTo>
                  <a:lnTo>
                    <a:pt x="95955" y="63635"/>
                  </a:lnTo>
                  <a:lnTo>
                    <a:pt x="133603" y="36942"/>
                  </a:lnTo>
                  <a:lnTo>
                    <a:pt x="175626" y="16929"/>
                  </a:lnTo>
                  <a:lnTo>
                    <a:pt x="221262" y="4359"/>
                  </a:lnTo>
                  <a:lnTo>
                    <a:pt x="269748" y="0"/>
                  </a:lnTo>
                  <a:lnTo>
                    <a:pt x="318233" y="4359"/>
                  </a:lnTo>
                  <a:lnTo>
                    <a:pt x="363869" y="16929"/>
                  </a:lnTo>
                  <a:lnTo>
                    <a:pt x="405892" y="36942"/>
                  </a:lnTo>
                  <a:lnTo>
                    <a:pt x="443540" y="63635"/>
                  </a:lnTo>
                  <a:lnTo>
                    <a:pt x="476052" y="96243"/>
                  </a:lnTo>
                  <a:lnTo>
                    <a:pt x="502665" y="133999"/>
                  </a:lnTo>
                  <a:lnTo>
                    <a:pt x="522619" y="176139"/>
                  </a:lnTo>
                  <a:lnTo>
                    <a:pt x="535149" y="221897"/>
                  </a:lnTo>
                  <a:lnTo>
                    <a:pt x="539496" y="270509"/>
                  </a:lnTo>
                  <a:lnTo>
                    <a:pt x="535149" y="319122"/>
                  </a:lnTo>
                  <a:lnTo>
                    <a:pt x="522619" y="364880"/>
                  </a:lnTo>
                  <a:lnTo>
                    <a:pt x="502666" y="407020"/>
                  </a:lnTo>
                  <a:lnTo>
                    <a:pt x="476052" y="444776"/>
                  </a:lnTo>
                  <a:lnTo>
                    <a:pt x="443540" y="477384"/>
                  </a:lnTo>
                  <a:lnTo>
                    <a:pt x="405892" y="504077"/>
                  </a:lnTo>
                  <a:lnTo>
                    <a:pt x="363869" y="524090"/>
                  </a:lnTo>
                  <a:lnTo>
                    <a:pt x="318233" y="536660"/>
                  </a:lnTo>
                  <a:lnTo>
                    <a:pt x="269748" y="541019"/>
                  </a:lnTo>
                  <a:lnTo>
                    <a:pt x="221262" y="536660"/>
                  </a:lnTo>
                  <a:lnTo>
                    <a:pt x="175626" y="524090"/>
                  </a:lnTo>
                  <a:lnTo>
                    <a:pt x="133603" y="504077"/>
                  </a:lnTo>
                  <a:lnTo>
                    <a:pt x="95955" y="477384"/>
                  </a:lnTo>
                  <a:lnTo>
                    <a:pt x="63443" y="444776"/>
                  </a:lnTo>
                  <a:lnTo>
                    <a:pt x="36830" y="407020"/>
                  </a:lnTo>
                  <a:lnTo>
                    <a:pt x="16876" y="364880"/>
                  </a:lnTo>
                  <a:lnTo>
                    <a:pt x="4346" y="319122"/>
                  </a:lnTo>
                  <a:lnTo>
                    <a:pt x="0" y="27050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7779766" y="2924682"/>
            <a:ext cx="25527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-25" dirty="0">
                <a:latin typeface="Cambria Math"/>
                <a:cs typeface="Cambria Math"/>
              </a:rPr>
              <a:t>1,1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605014" y="2671698"/>
            <a:ext cx="4965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0" baseline="-29320" dirty="0">
                <a:latin typeface="Cambria Math"/>
                <a:cs typeface="Cambria Math"/>
              </a:rPr>
              <a:t>𝑤</a:t>
            </a:r>
            <a:r>
              <a:rPr sz="1300" spc="-20" dirty="0">
                <a:latin typeface="Cambria Math"/>
                <a:cs typeface="Cambria Math"/>
              </a:rPr>
              <a:t>(2)</a:t>
            </a:r>
            <a:endParaRPr sz="1300">
              <a:latin typeface="Cambria Math"/>
              <a:cs typeface="Cambria Math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7214616" y="2906648"/>
            <a:ext cx="943610" cy="1564005"/>
            <a:chOff x="7214616" y="2906648"/>
            <a:chExt cx="943610" cy="1564005"/>
          </a:xfrm>
        </p:grpSpPr>
        <p:sp>
          <p:nvSpPr>
            <p:cNvPr id="19" name="object 19"/>
            <p:cNvSpPr/>
            <p:nvPr/>
          </p:nvSpPr>
          <p:spPr>
            <a:xfrm>
              <a:off x="7214616" y="2906648"/>
              <a:ext cx="378460" cy="76200"/>
            </a:xfrm>
            <a:custGeom>
              <a:avLst/>
              <a:gdLst/>
              <a:ahLst/>
              <a:cxnLst/>
              <a:rect l="l" t="t" r="r" b="b"/>
              <a:pathLst>
                <a:path w="378459" h="76200">
                  <a:moveTo>
                    <a:pt x="302058" y="44556"/>
                  </a:moveTo>
                  <a:lnTo>
                    <a:pt x="302005" y="76200"/>
                  </a:lnTo>
                  <a:lnTo>
                    <a:pt x="365463" y="44576"/>
                  </a:lnTo>
                  <a:lnTo>
                    <a:pt x="314705" y="44576"/>
                  </a:lnTo>
                  <a:lnTo>
                    <a:pt x="302058" y="44556"/>
                  </a:lnTo>
                  <a:close/>
                </a:path>
                <a:path w="378459" h="76200">
                  <a:moveTo>
                    <a:pt x="302079" y="31856"/>
                  </a:moveTo>
                  <a:lnTo>
                    <a:pt x="302058" y="44556"/>
                  </a:lnTo>
                  <a:lnTo>
                    <a:pt x="314705" y="44576"/>
                  </a:lnTo>
                  <a:lnTo>
                    <a:pt x="314705" y="31876"/>
                  </a:lnTo>
                  <a:lnTo>
                    <a:pt x="302079" y="31856"/>
                  </a:lnTo>
                  <a:close/>
                </a:path>
                <a:path w="378459" h="76200">
                  <a:moveTo>
                    <a:pt x="302132" y="0"/>
                  </a:moveTo>
                  <a:lnTo>
                    <a:pt x="302079" y="31856"/>
                  </a:lnTo>
                  <a:lnTo>
                    <a:pt x="314705" y="31876"/>
                  </a:lnTo>
                  <a:lnTo>
                    <a:pt x="314705" y="44576"/>
                  </a:lnTo>
                  <a:lnTo>
                    <a:pt x="365463" y="44576"/>
                  </a:lnTo>
                  <a:lnTo>
                    <a:pt x="378205" y="38226"/>
                  </a:lnTo>
                  <a:lnTo>
                    <a:pt x="302132" y="0"/>
                  </a:lnTo>
                  <a:close/>
                </a:path>
                <a:path w="378459" h="76200">
                  <a:moveTo>
                    <a:pt x="0" y="31368"/>
                  </a:moveTo>
                  <a:lnTo>
                    <a:pt x="0" y="44068"/>
                  </a:lnTo>
                  <a:lnTo>
                    <a:pt x="302058" y="44556"/>
                  </a:lnTo>
                  <a:lnTo>
                    <a:pt x="302079" y="31856"/>
                  </a:lnTo>
                  <a:lnTo>
                    <a:pt x="0" y="313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612380" y="3924299"/>
              <a:ext cx="539750" cy="539750"/>
            </a:xfrm>
            <a:custGeom>
              <a:avLst/>
              <a:gdLst/>
              <a:ahLst/>
              <a:cxnLst/>
              <a:rect l="l" t="t" r="r" b="b"/>
              <a:pathLst>
                <a:path w="539750" h="539750">
                  <a:moveTo>
                    <a:pt x="0" y="269748"/>
                  </a:moveTo>
                  <a:lnTo>
                    <a:pt x="4346" y="221262"/>
                  </a:lnTo>
                  <a:lnTo>
                    <a:pt x="16876" y="175626"/>
                  </a:lnTo>
                  <a:lnTo>
                    <a:pt x="36829" y="133603"/>
                  </a:lnTo>
                  <a:lnTo>
                    <a:pt x="63443" y="95955"/>
                  </a:lnTo>
                  <a:lnTo>
                    <a:pt x="95955" y="63443"/>
                  </a:lnTo>
                  <a:lnTo>
                    <a:pt x="133603" y="36829"/>
                  </a:lnTo>
                  <a:lnTo>
                    <a:pt x="175626" y="16876"/>
                  </a:lnTo>
                  <a:lnTo>
                    <a:pt x="221262" y="4346"/>
                  </a:lnTo>
                  <a:lnTo>
                    <a:pt x="269748" y="0"/>
                  </a:lnTo>
                  <a:lnTo>
                    <a:pt x="318233" y="4346"/>
                  </a:lnTo>
                  <a:lnTo>
                    <a:pt x="363869" y="16876"/>
                  </a:lnTo>
                  <a:lnTo>
                    <a:pt x="405892" y="36830"/>
                  </a:lnTo>
                  <a:lnTo>
                    <a:pt x="443540" y="63443"/>
                  </a:lnTo>
                  <a:lnTo>
                    <a:pt x="476052" y="95955"/>
                  </a:lnTo>
                  <a:lnTo>
                    <a:pt x="502665" y="133604"/>
                  </a:lnTo>
                  <a:lnTo>
                    <a:pt x="522619" y="175626"/>
                  </a:lnTo>
                  <a:lnTo>
                    <a:pt x="535149" y="221262"/>
                  </a:lnTo>
                  <a:lnTo>
                    <a:pt x="539496" y="269748"/>
                  </a:lnTo>
                  <a:lnTo>
                    <a:pt x="535149" y="318233"/>
                  </a:lnTo>
                  <a:lnTo>
                    <a:pt x="522619" y="363869"/>
                  </a:lnTo>
                  <a:lnTo>
                    <a:pt x="502666" y="405891"/>
                  </a:lnTo>
                  <a:lnTo>
                    <a:pt x="476052" y="443540"/>
                  </a:lnTo>
                  <a:lnTo>
                    <a:pt x="443540" y="476052"/>
                  </a:lnTo>
                  <a:lnTo>
                    <a:pt x="405892" y="502665"/>
                  </a:lnTo>
                  <a:lnTo>
                    <a:pt x="363869" y="522619"/>
                  </a:lnTo>
                  <a:lnTo>
                    <a:pt x="318233" y="535149"/>
                  </a:lnTo>
                  <a:lnTo>
                    <a:pt x="269748" y="539495"/>
                  </a:lnTo>
                  <a:lnTo>
                    <a:pt x="221262" y="535149"/>
                  </a:lnTo>
                  <a:lnTo>
                    <a:pt x="175626" y="522619"/>
                  </a:lnTo>
                  <a:lnTo>
                    <a:pt x="133603" y="502665"/>
                  </a:lnTo>
                  <a:lnTo>
                    <a:pt x="95955" y="476052"/>
                  </a:lnTo>
                  <a:lnTo>
                    <a:pt x="63443" y="443540"/>
                  </a:lnTo>
                  <a:lnTo>
                    <a:pt x="36830" y="405891"/>
                  </a:lnTo>
                  <a:lnTo>
                    <a:pt x="16876" y="363869"/>
                  </a:lnTo>
                  <a:lnTo>
                    <a:pt x="4346" y="318233"/>
                  </a:lnTo>
                  <a:lnTo>
                    <a:pt x="0" y="269748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7779766" y="4175252"/>
            <a:ext cx="25527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-25" dirty="0">
                <a:latin typeface="Cambria Math"/>
                <a:cs typeface="Cambria Math"/>
              </a:rPr>
              <a:t>1,2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605014" y="3922267"/>
            <a:ext cx="4965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0" baseline="-29320" dirty="0">
                <a:latin typeface="Cambria Math"/>
                <a:cs typeface="Cambria Math"/>
              </a:rPr>
              <a:t>𝑤</a:t>
            </a:r>
            <a:r>
              <a:rPr sz="1300" spc="-20" dirty="0">
                <a:latin typeface="Cambria Math"/>
                <a:cs typeface="Cambria Math"/>
              </a:rPr>
              <a:t>(2)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222236" y="2939287"/>
            <a:ext cx="1645920" cy="1263015"/>
          </a:xfrm>
          <a:custGeom>
            <a:avLst/>
            <a:gdLst/>
            <a:ahLst/>
            <a:cxnLst/>
            <a:rect l="l" t="t" r="r" b="b"/>
            <a:pathLst>
              <a:path w="1645920" h="1263014">
                <a:moveTo>
                  <a:pt x="378206" y="1224788"/>
                </a:moveTo>
                <a:lnTo>
                  <a:pt x="302133" y="1186561"/>
                </a:lnTo>
                <a:lnTo>
                  <a:pt x="302069" y="1218425"/>
                </a:lnTo>
                <a:lnTo>
                  <a:pt x="0" y="1217930"/>
                </a:lnTo>
                <a:lnTo>
                  <a:pt x="0" y="1230630"/>
                </a:lnTo>
                <a:lnTo>
                  <a:pt x="302056" y="1231125"/>
                </a:lnTo>
                <a:lnTo>
                  <a:pt x="302006" y="1262761"/>
                </a:lnTo>
                <a:lnTo>
                  <a:pt x="365455" y="1231138"/>
                </a:lnTo>
                <a:lnTo>
                  <a:pt x="378206" y="1224788"/>
                </a:lnTo>
                <a:close/>
              </a:path>
              <a:path w="1645920" h="1263014">
                <a:moveTo>
                  <a:pt x="1645793" y="550672"/>
                </a:moveTo>
                <a:lnTo>
                  <a:pt x="1645462" y="550786"/>
                </a:lnTo>
                <a:lnTo>
                  <a:pt x="1629422" y="518033"/>
                </a:lnTo>
                <a:lnTo>
                  <a:pt x="1608328" y="474980"/>
                </a:lnTo>
                <a:lnTo>
                  <a:pt x="1589087" y="500189"/>
                </a:lnTo>
                <a:lnTo>
                  <a:pt x="933450" y="0"/>
                </a:lnTo>
                <a:lnTo>
                  <a:pt x="925830" y="10160"/>
                </a:lnTo>
                <a:lnTo>
                  <a:pt x="1581340" y="510336"/>
                </a:lnTo>
                <a:lnTo>
                  <a:pt x="1562100" y="535559"/>
                </a:lnTo>
                <a:lnTo>
                  <a:pt x="1644307" y="551154"/>
                </a:lnTo>
                <a:lnTo>
                  <a:pt x="1564767" y="576961"/>
                </a:lnTo>
                <a:lnTo>
                  <a:pt x="1587042" y="599617"/>
                </a:lnTo>
                <a:lnTo>
                  <a:pt x="925195" y="1250188"/>
                </a:lnTo>
                <a:lnTo>
                  <a:pt x="934085" y="1259205"/>
                </a:lnTo>
                <a:lnTo>
                  <a:pt x="1595920" y="608647"/>
                </a:lnTo>
                <a:lnTo>
                  <a:pt x="1618234" y="631317"/>
                </a:lnTo>
                <a:lnTo>
                  <a:pt x="1632115" y="590677"/>
                </a:lnTo>
                <a:lnTo>
                  <a:pt x="1645539" y="551395"/>
                </a:lnTo>
                <a:lnTo>
                  <a:pt x="1645793" y="551434"/>
                </a:lnTo>
                <a:lnTo>
                  <a:pt x="1645627" y="551129"/>
                </a:lnTo>
                <a:lnTo>
                  <a:pt x="1645793" y="5506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0326623" y="3462909"/>
            <a:ext cx="378460" cy="76200"/>
          </a:xfrm>
          <a:custGeom>
            <a:avLst/>
            <a:gdLst/>
            <a:ahLst/>
            <a:cxnLst/>
            <a:rect l="l" t="t" r="r" b="b"/>
            <a:pathLst>
              <a:path w="378459" h="76200">
                <a:moveTo>
                  <a:pt x="302058" y="44556"/>
                </a:moveTo>
                <a:lnTo>
                  <a:pt x="302005" y="76200"/>
                </a:lnTo>
                <a:lnTo>
                  <a:pt x="365463" y="44576"/>
                </a:lnTo>
                <a:lnTo>
                  <a:pt x="314705" y="44576"/>
                </a:lnTo>
                <a:lnTo>
                  <a:pt x="302058" y="44556"/>
                </a:lnTo>
                <a:close/>
              </a:path>
              <a:path w="378459" h="76200">
                <a:moveTo>
                  <a:pt x="302079" y="31856"/>
                </a:moveTo>
                <a:lnTo>
                  <a:pt x="302058" y="44556"/>
                </a:lnTo>
                <a:lnTo>
                  <a:pt x="314705" y="44576"/>
                </a:lnTo>
                <a:lnTo>
                  <a:pt x="314705" y="31876"/>
                </a:lnTo>
                <a:lnTo>
                  <a:pt x="302079" y="31856"/>
                </a:lnTo>
                <a:close/>
              </a:path>
              <a:path w="378459" h="76200">
                <a:moveTo>
                  <a:pt x="302132" y="0"/>
                </a:moveTo>
                <a:lnTo>
                  <a:pt x="302079" y="31856"/>
                </a:lnTo>
                <a:lnTo>
                  <a:pt x="314705" y="31876"/>
                </a:lnTo>
                <a:lnTo>
                  <a:pt x="314705" y="44576"/>
                </a:lnTo>
                <a:lnTo>
                  <a:pt x="365463" y="44576"/>
                </a:lnTo>
                <a:lnTo>
                  <a:pt x="378205" y="38226"/>
                </a:lnTo>
                <a:lnTo>
                  <a:pt x="302132" y="0"/>
                </a:lnTo>
                <a:close/>
              </a:path>
              <a:path w="378459" h="76200">
                <a:moveTo>
                  <a:pt x="0" y="31368"/>
                </a:moveTo>
                <a:lnTo>
                  <a:pt x="0" y="44068"/>
                </a:lnTo>
                <a:lnTo>
                  <a:pt x="302058" y="44556"/>
                </a:lnTo>
                <a:lnTo>
                  <a:pt x="302079" y="31856"/>
                </a:lnTo>
                <a:lnTo>
                  <a:pt x="0" y="313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10722102" y="3303778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𝑦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4815840" y="1423416"/>
            <a:ext cx="541020" cy="539750"/>
          </a:xfrm>
          <a:custGeom>
            <a:avLst/>
            <a:gdLst/>
            <a:ahLst/>
            <a:cxnLst/>
            <a:rect l="l" t="t" r="r" b="b"/>
            <a:pathLst>
              <a:path w="541020" h="539750">
                <a:moveTo>
                  <a:pt x="0" y="269748"/>
                </a:moveTo>
                <a:lnTo>
                  <a:pt x="4359" y="221262"/>
                </a:lnTo>
                <a:lnTo>
                  <a:pt x="16929" y="175626"/>
                </a:lnTo>
                <a:lnTo>
                  <a:pt x="36942" y="133603"/>
                </a:lnTo>
                <a:lnTo>
                  <a:pt x="63635" y="95955"/>
                </a:lnTo>
                <a:lnTo>
                  <a:pt x="96243" y="63443"/>
                </a:lnTo>
                <a:lnTo>
                  <a:pt x="133999" y="36829"/>
                </a:lnTo>
                <a:lnTo>
                  <a:pt x="176139" y="16876"/>
                </a:lnTo>
                <a:lnTo>
                  <a:pt x="221897" y="4346"/>
                </a:lnTo>
                <a:lnTo>
                  <a:pt x="270510" y="0"/>
                </a:lnTo>
                <a:lnTo>
                  <a:pt x="319122" y="4346"/>
                </a:lnTo>
                <a:lnTo>
                  <a:pt x="364880" y="16876"/>
                </a:lnTo>
                <a:lnTo>
                  <a:pt x="407020" y="36830"/>
                </a:lnTo>
                <a:lnTo>
                  <a:pt x="444776" y="63443"/>
                </a:lnTo>
                <a:lnTo>
                  <a:pt x="477384" y="95955"/>
                </a:lnTo>
                <a:lnTo>
                  <a:pt x="504077" y="133604"/>
                </a:lnTo>
                <a:lnTo>
                  <a:pt x="524090" y="175626"/>
                </a:lnTo>
                <a:lnTo>
                  <a:pt x="536660" y="221262"/>
                </a:lnTo>
                <a:lnTo>
                  <a:pt x="541020" y="269748"/>
                </a:lnTo>
                <a:lnTo>
                  <a:pt x="536660" y="318233"/>
                </a:lnTo>
                <a:lnTo>
                  <a:pt x="524090" y="363869"/>
                </a:lnTo>
                <a:lnTo>
                  <a:pt x="504077" y="405892"/>
                </a:lnTo>
                <a:lnTo>
                  <a:pt x="477384" y="443540"/>
                </a:lnTo>
                <a:lnTo>
                  <a:pt x="444776" y="476052"/>
                </a:lnTo>
                <a:lnTo>
                  <a:pt x="407020" y="502666"/>
                </a:lnTo>
                <a:lnTo>
                  <a:pt x="364880" y="522619"/>
                </a:lnTo>
                <a:lnTo>
                  <a:pt x="319122" y="535149"/>
                </a:lnTo>
                <a:lnTo>
                  <a:pt x="270510" y="539496"/>
                </a:lnTo>
                <a:lnTo>
                  <a:pt x="221897" y="535149"/>
                </a:lnTo>
                <a:lnTo>
                  <a:pt x="176139" y="522619"/>
                </a:lnTo>
                <a:lnTo>
                  <a:pt x="133999" y="502665"/>
                </a:lnTo>
                <a:lnTo>
                  <a:pt x="96243" y="476052"/>
                </a:lnTo>
                <a:lnTo>
                  <a:pt x="63635" y="443540"/>
                </a:lnTo>
                <a:lnTo>
                  <a:pt x="36942" y="405891"/>
                </a:lnTo>
                <a:lnTo>
                  <a:pt x="16929" y="363869"/>
                </a:lnTo>
                <a:lnTo>
                  <a:pt x="4359" y="318233"/>
                </a:lnTo>
                <a:lnTo>
                  <a:pt x="0" y="269748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4982971" y="1673732"/>
            <a:ext cx="25527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-25" dirty="0">
                <a:latin typeface="Cambria Math"/>
                <a:cs typeface="Cambria Math"/>
              </a:rPr>
              <a:t>1,1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title"/>
          </p:nvPr>
        </p:nvSpPr>
        <p:spPr>
          <a:xfrm>
            <a:off x="4808220" y="1420748"/>
            <a:ext cx="4965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b="0" spc="-30" baseline="-29320" dirty="0">
                <a:latin typeface="Cambria Math"/>
                <a:cs typeface="Cambria Math"/>
              </a:rPr>
              <a:t>𝑤</a:t>
            </a:r>
            <a:r>
              <a:rPr sz="1300" b="0" spc="-20" dirty="0">
                <a:latin typeface="Cambria Math"/>
                <a:cs typeface="Cambria Math"/>
              </a:rPr>
              <a:t>(1)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4820411" y="2638044"/>
            <a:ext cx="539750" cy="539750"/>
          </a:xfrm>
          <a:custGeom>
            <a:avLst/>
            <a:gdLst/>
            <a:ahLst/>
            <a:cxnLst/>
            <a:rect l="l" t="t" r="r" b="b"/>
            <a:pathLst>
              <a:path w="539750" h="539750">
                <a:moveTo>
                  <a:pt x="0" y="269747"/>
                </a:moveTo>
                <a:lnTo>
                  <a:pt x="4346" y="221262"/>
                </a:lnTo>
                <a:lnTo>
                  <a:pt x="16876" y="175626"/>
                </a:lnTo>
                <a:lnTo>
                  <a:pt x="36830" y="133603"/>
                </a:lnTo>
                <a:lnTo>
                  <a:pt x="63443" y="95955"/>
                </a:lnTo>
                <a:lnTo>
                  <a:pt x="95955" y="63443"/>
                </a:lnTo>
                <a:lnTo>
                  <a:pt x="133604" y="36829"/>
                </a:lnTo>
                <a:lnTo>
                  <a:pt x="175626" y="16876"/>
                </a:lnTo>
                <a:lnTo>
                  <a:pt x="221262" y="4346"/>
                </a:lnTo>
                <a:lnTo>
                  <a:pt x="269748" y="0"/>
                </a:lnTo>
                <a:lnTo>
                  <a:pt x="318233" y="4346"/>
                </a:lnTo>
                <a:lnTo>
                  <a:pt x="363869" y="16876"/>
                </a:lnTo>
                <a:lnTo>
                  <a:pt x="405891" y="36830"/>
                </a:lnTo>
                <a:lnTo>
                  <a:pt x="443540" y="63443"/>
                </a:lnTo>
                <a:lnTo>
                  <a:pt x="476052" y="95955"/>
                </a:lnTo>
                <a:lnTo>
                  <a:pt x="502665" y="133604"/>
                </a:lnTo>
                <a:lnTo>
                  <a:pt x="522619" y="175626"/>
                </a:lnTo>
                <a:lnTo>
                  <a:pt x="535149" y="221262"/>
                </a:lnTo>
                <a:lnTo>
                  <a:pt x="539496" y="269747"/>
                </a:lnTo>
                <a:lnTo>
                  <a:pt x="535149" y="318233"/>
                </a:lnTo>
                <a:lnTo>
                  <a:pt x="522619" y="363869"/>
                </a:lnTo>
                <a:lnTo>
                  <a:pt x="502665" y="405891"/>
                </a:lnTo>
                <a:lnTo>
                  <a:pt x="476052" y="443540"/>
                </a:lnTo>
                <a:lnTo>
                  <a:pt x="443540" y="476052"/>
                </a:lnTo>
                <a:lnTo>
                  <a:pt x="405891" y="502665"/>
                </a:lnTo>
                <a:lnTo>
                  <a:pt x="363869" y="522619"/>
                </a:lnTo>
                <a:lnTo>
                  <a:pt x="318233" y="535149"/>
                </a:lnTo>
                <a:lnTo>
                  <a:pt x="269748" y="539495"/>
                </a:lnTo>
                <a:lnTo>
                  <a:pt x="221262" y="535149"/>
                </a:lnTo>
                <a:lnTo>
                  <a:pt x="175626" y="522619"/>
                </a:lnTo>
                <a:lnTo>
                  <a:pt x="133603" y="502665"/>
                </a:lnTo>
                <a:lnTo>
                  <a:pt x="95955" y="476052"/>
                </a:lnTo>
                <a:lnTo>
                  <a:pt x="63443" y="443540"/>
                </a:lnTo>
                <a:lnTo>
                  <a:pt x="36829" y="405891"/>
                </a:lnTo>
                <a:lnTo>
                  <a:pt x="16876" y="363869"/>
                </a:lnTo>
                <a:lnTo>
                  <a:pt x="4346" y="318233"/>
                </a:lnTo>
                <a:lnTo>
                  <a:pt x="0" y="269747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4986909" y="2888995"/>
            <a:ext cx="25527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-25" dirty="0">
                <a:latin typeface="Cambria Math"/>
                <a:cs typeface="Cambria Math"/>
              </a:rPr>
              <a:t>1,2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811903" y="2635758"/>
            <a:ext cx="4972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0" baseline="-29320" dirty="0">
                <a:latin typeface="Cambria Math"/>
                <a:cs typeface="Cambria Math"/>
              </a:rPr>
              <a:t>𝑤</a:t>
            </a:r>
            <a:r>
              <a:rPr sz="1300" spc="-20" dirty="0">
                <a:latin typeface="Cambria Math"/>
                <a:cs typeface="Cambria Math"/>
              </a:rPr>
              <a:t>(1)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4815840" y="3889247"/>
            <a:ext cx="541020" cy="539750"/>
          </a:xfrm>
          <a:custGeom>
            <a:avLst/>
            <a:gdLst/>
            <a:ahLst/>
            <a:cxnLst/>
            <a:rect l="l" t="t" r="r" b="b"/>
            <a:pathLst>
              <a:path w="541020" h="539750">
                <a:moveTo>
                  <a:pt x="0" y="269747"/>
                </a:moveTo>
                <a:lnTo>
                  <a:pt x="4359" y="221262"/>
                </a:lnTo>
                <a:lnTo>
                  <a:pt x="16929" y="175626"/>
                </a:lnTo>
                <a:lnTo>
                  <a:pt x="36942" y="133604"/>
                </a:lnTo>
                <a:lnTo>
                  <a:pt x="63635" y="95955"/>
                </a:lnTo>
                <a:lnTo>
                  <a:pt x="96243" y="63443"/>
                </a:lnTo>
                <a:lnTo>
                  <a:pt x="133999" y="36830"/>
                </a:lnTo>
                <a:lnTo>
                  <a:pt x="176139" y="16876"/>
                </a:lnTo>
                <a:lnTo>
                  <a:pt x="221897" y="4346"/>
                </a:lnTo>
                <a:lnTo>
                  <a:pt x="270510" y="0"/>
                </a:lnTo>
                <a:lnTo>
                  <a:pt x="319122" y="4346"/>
                </a:lnTo>
                <a:lnTo>
                  <a:pt x="364880" y="16876"/>
                </a:lnTo>
                <a:lnTo>
                  <a:pt x="407020" y="36830"/>
                </a:lnTo>
                <a:lnTo>
                  <a:pt x="444776" y="63443"/>
                </a:lnTo>
                <a:lnTo>
                  <a:pt x="477384" y="95955"/>
                </a:lnTo>
                <a:lnTo>
                  <a:pt x="504077" y="133604"/>
                </a:lnTo>
                <a:lnTo>
                  <a:pt x="524090" y="175626"/>
                </a:lnTo>
                <a:lnTo>
                  <a:pt x="536660" y="221262"/>
                </a:lnTo>
                <a:lnTo>
                  <a:pt x="541020" y="269747"/>
                </a:lnTo>
                <a:lnTo>
                  <a:pt x="536660" y="318233"/>
                </a:lnTo>
                <a:lnTo>
                  <a:pt x="524090" y="363869"/>
                </a:lnTo>
                <a:lnTo>
                  <a:pt x="504077" y="405892"/>
                </a:lnTo>
                <a:lnTo>
                  <a:pt x="477384" y="443540"/>
                </a:lnTo>
                <a:lnTo>
                  <a:pt x="444776" y="476052"/>
                </a:lnTo>
                <a:lnTo>
                  <a:pt x="407020" y="502666"/>
                </a:lnTo>
                <a:lnTo>
                  <a:pt x="364880" y="522619"/>
                </a:lnTo>
                <a:lnTo>
                  <a:pt x="319122" y="535149"/>
                </a:lnTo>
                <a:lnTo>
                  <a:pt x="270510" y="539495"/>
                </a:lnTo>
                <a:lnTo>
                  <a:pt x="221897" y="535149"/>
                </a:lnTo>
                <a:lnTo>
                  <a:pt x="176139" y="522619"/>
                </a:lnTo>
                <a:lnTo>
                  <a:pt x="133999" y="502665"/>
                </a:lnTo>
                <a:lnTo>
                  <a:pt x="96243" y="476052"/>
                </a:lnTo>
                <a:lnTo>
                  <a:pt x="63635" y="443540"/>
                </a:lnTo>
                <a:lnTo>
                  <a:pt x="36942" y="405891"/>
                </a:lnTo>
                <a:lnTo>
                  <a:pt x="16929" y="363869"/>
                </a:lnTo>
                <a:lnTo>
                  <a:pt x="4359" y="318233"/>
                </a:lnTo>
                <a:lnTo>
                  <a:pt x="0" y="269747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4987544" y="4139564"/>
            <a:ext cx="25527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-25" dirty="0">
                <a:latin typeface="Cambria Math"/>
                <a:cs typeface="Cambria Math"/>
              </a:rPr>
              <a:t>2,1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808220" y="3886580"/>
            <a:ext cx="4965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0" baseline="-29320" dirty="0">
                <a:latin typeface="Cambria Math"/>
                <a:cs typeface="Cambria Math"/>
              </a:rPr>
              <a:t>𝑤</a:t>
            </a:r>
            <a:r>
              <a:rPr sz="1300" spc="-20" dirty="0">
                <a:latin typeface="Cambria Math"/>
                <a:cs typeface="Cambria Math"/>
              </a:rPr>
              <a:t>(1)</a:t>
            </a:r>
            <a:endParaRPr sz="1300">
              <a:latin typeface="Cambria Math"/>
              <a:cs typeface="Cambria Math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4809490" y="2869692"/>
            <a:ext cx="948055" cy="2851785"/>
            <a:chOff x="4809490" y="2869692"/>
            <a:chExt cx="948055" cy="2851785"/>
          </a:xfrm>
        </p:grpSpPr>
        <p:sp>
          <p:nvSpPr>
            <p:cNvPr id="36" name="object 36"/>
            <p:cNvSpPr/>
            <p:nvPr/>
          </p:nvSpPr>
          <p:spPr>
            <a:xfrm>
              <a:off x="5356860" y="2869691"/>
              <a:ext cx="400685" cy="1327785"/>
            </a:xfrm>
            <a:custGeom>
              <a:avLst/>
              <a:gdLst/>
              <a:ahLst/>
              <a:cxnLst/>
              <a:rect l="l" t="t" r="r" b="b"/>
              <a:pathLst>
                <a:path w="400685" h="1327785">
                  <a:moveTo>
                    <a:pt x="394589" y="1289304"/>
                  </a:moveTo>
                  <a:lnTo>
                    <a:pt x="381889" y="1282954"/>
                  </a:lnTo>
                  <a:lnTo>
                    <a:pt x="318389" y="1251204"/>
                  </a:lnTo>
                  <a:lnTo>
                    <a:pt x="318389" y="1282954"/>
                  </a:lnTo>
                  <a:lnTo>
                    <a:pt x="0" y="1282954"/>
                  </a:lnTo>
                  <a:lnTo>
                    <a:pt x="0" y="1295654"/>
                  </a:lnTo>
                  <a:lnTo>
                    <a:pt x="318389" y="1295654"/>
                  </a:lnTo>
                  <a:lnTo>
                    <a:pt x="318389" y="1327404"/>
                  </a:lnTo>
                  <a:lnTo>
                    <a:pt x="381889" y="1295654"/>
                  </a:lnTo>
                  <a:lnTo>
                    <a:pt x="394589" y="1289304"/>
                  </a:lnTo>
                  <a:close/>
                </a:path>
                <a:path w="400685" h="1327785">
                  <a:moveTo>
                    <a:pt x="400304" y="38100"/>
                  </a:moveTo>
                  <a:lnTo>
                    <a:pt x="387604" y="31750"/>
                  </a:lnTo>
                  <a:lnTo>
                    <a:pt x="324104" y="0"/>
                  </a:lnTo>
                  <a:lnTo>
                    <a:pt x="324104" y="31750"/>
                  </a:lnTo>
                  <a:lnTo>
                    <a:pt x="3048" y="31750"/>
                  </a:lnTo>
                  <a:lnTo>
                    <a:pt x="3048" y="44450"/>
                  </a:lnTo>
                  <a:lnTo>
                    <a:pt x="324104" y="44450"/>
                  </a:lnTo>
                  <a:lnTo>
                    <a:pt x="324104" y="76200"/>
                  </a:lnTo>
                  <a:lnTo>
                    <a:pt x="387604" y="44450"/>
                  </a:lnTo>
                  <a:lnTo>
                    <a:pt x="400304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815840" y="5173980"/>
              <a:ext cx="541020" cy="541020"/>
            </a:xfrm>
            <a:custGeom>
              <a:avLst/>
              <a:gdLst/>
              <a:ahLst/>
              <a:cxnLst/>
              <a:rect l="l" t="t" r="r" b="b"/>
              <a:pathLst>
                <a:path w="541020" h="541020">
                  <a:moveTo>
                    <a:pt x="0" y="270510"/>
                  </a:moveTo>
                  <a:lnTo>
                    <a:pt x="4359" y="221897"/>
                  </a:lnTo>
                  <a:lnTo>
                    <a:pt x="16929" y="176139"/>
                  </a:lnTo>
                  <a:lnTo>
                    <a:pt x="36942" y="133999"/>
                  </a:lnTo>
                  <a:lnTo>
                    <a:pt x="63635" y="96243"/>
                  </a:lnTo>
                  <a:lnTo>
                    <a:pt x="96243" y="63635"/>
                  </a:lnTo>
                  <a:lnTo>
                    <a:pt x="133999" y="36942"/>
                  </a:lnTo>
                  <a:lnTo>
                    <a:pt x="176139" y="16929"/>
                  </a:lnTo>
                  <a:lnTo>
                    <a:pt x="221897" y="4359"/>
                  </a:lnTo>
                  <a:lnTo>
                    <a:pt x="270510" y="0"/>
                  </a:lnTo>
                  <a:lnTo>
                    <a:pt x="319122" y="4359"/>
                  </a:lnTo>
                  <a:lnTo>
                    <a:pt x="364880" y="16929"/>
                  </a:lnTo>
                  <a:lnTo>
                    <a:pt x="407020" y="36942"/>
                  </a:lnTo>
                  <a:lnTo>
                    <a:pt x="444776" y="63635"/>
                  </a:lnTo>
                  <a:lnTo>
                    <a:pt x="477384" y="96243"/>
                  </a:lnTo>
                  <a:lnTo>
                    <a:pt x="504077" y="133999"/>
                  </a:lnTo>
                  <a:lnTo>
                    <a:pt x="524090" y="176139"/>
                  </a:lnTo>
                  <a:lnTo>
                    <a:pt x="536660" y="221897"/>
                  </a:lnTo>
                  <a:lnTo>
                    <a:pt x="541020" y="270510"/>
                  </a:lnTo>
                  <a:lnTo>
                    <a:pt x="536660" y="319135"/>
                  </a:lnTo>
                  <a:lnTo>
                    <a:pt x="524090" y="364901"/>
                  </a:lnTo>
                  <a:lnTo>
                    <a:pt x="504077" y="407043"/>
                  </a:lnTo>
                  <a:lnTo>
                    <a:pt x="477384" y="444797"/>
                  </a:lnTo>
                  <a:lnTo>
                    <a:pt x="444776" y="477400"/>
                  </a:lnTo>
                  <a:lnTo>
                    <a:pt x="407020" y="504088"/>
                  </a:lnTo>
                  <a:lnTo>
                    <a:pt x="364880" y="524096"/>
                  </a:lnTo>
                  <a:lnTo>
                    <a:pt x="319122" y="536661"/>
                  </a:lnTo>
                  <a:lnTo>
                    <a:pt x="270510" y="541020"/>
                  </a:lnTo>
                  <a:lnTo>
                    <a:pt x="221897" y="536661"/>
                  </a:lnTo>
                  <a:lnTo>
                    <a:pt x="176139" y="524096"/>
                  </a:lnTo>
                  <a:lnTo>
                    <a:pt x="133999" y="504088"/>
                  </a:lnTo>
                  <a:lnTo>
                    <a:pt x="96243" y="477400"/>
                  </a:lnTo>
                  <a:lnTo>
                    <a:pt x="63635" y="444797"/>
                  </a:lnTo>
                  <a:lnTo>
                    <a:pt x="36942" y="407043"/>
                  </a:lnTo>
                  <a:lnTo>
                    <a:pt x="16929" y="364901"/>
                  </a:lnTo>
                  <a:lnTo>
                    <a:pt x="4359" y="319135"/>
                  </a:lnTo>
                  <a:lnTo>
                    <a:pt x="0" y="27051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4987544" y="5425846"/>
            <a:ext cx="25527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-25" dirty="0">
                <a:latin typeface="Cambria Math"/>
                <a:cs typeface="Cambria Math"/>
              </a:rPr>
              <a:t>2,2</a:t>
            </a:r>
            <a:endParaRPr sz="1300">
              <a:latin typeface="Cambria Math"/>
              <a:cs typeface="Cambria Math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3398265" y="1691132"/>
            <a:ext cx="3271520" cy="3756025"/>
            <a:chOff x="3398265" y="1691132"/>
            <a:chExt cx="3271520" cy="3756025"/>
          </a:xfrm>
        </p:grpSpPr>
        <p:sp>
          <p:nvSpPr>
            <p:cNvPr id="40" name="object 40"/>
            <p:cNvSpPr/>
            <p:nvPr/>
          </p:nvSpPr>
          <p:spPr>
            <a:xfrm>
              <a:off x="3410711" y="1691131"/>
              <a:ext cx="2359660" cy="1217295"/>
            </a:xfrm>
            <a:custGeom>
              <a:avLst/>
              <a:gdLst/>
              <a:ahLst/>
              <a:cxnLst/>
              <a:rect l="l" t="t" r="r" b="b"/>
              <a:pathLst>
                <a:path w="2359660" h="1217295">
                  <a:moveTo>
                    <a:pt x="179832" y="520192"/>
                  </a:moveTo>
                  <a:lnTo>
                    <a:pt x="0" y="520192"/>
                  </a:lnTo>
                  <a:lnTo>
                    <a:pt x="0" y="700024"/>
                  </a:lnTo>
                  <a:lnTo>
                    <a:pt x="179832" y="700024"/>
                  </a:lnTo>
                  <a:lnTo>
                    <a:pt x="179832" y="520192"/>
                  </a:lnTo>
                  <a:close/>
                </a:path>
                <a:path w="2359660" h="1217295">
                  <a:moveTo>
                    <a:pt x="2359279" y="1132586"/>
                  </a:moveTo>
                  <a:lnTo>
                    <a:pt x="2329142" y="1142542"/>
                  </a:lnTo>
                  <a:lnTo>
                    <a:pt x="1952117" y="0"/>
                  </a:lnTo>
                  <a:lnTo>
                    <a:pt x="1940179" y="4064"/>
                  </a:lnTo>
                  <a:lnTo>
                    <a:pt x="2317064" y="1146543"/>
                  </a:lnTo>
                  <a:lnTo>
                    <a:pt x="2287016" y="1156462"/>
                  </a:lnTo>
                  <a:lnTo>
                    <a:pt x="2347087" y="1216914"/>
                  </a:lnTo>
                  <a:lnTo>
                    <a:pt x="2355507" y="1158621"/>
                  </a:lnTo>
                  <a:lnTo>
                    <a:pt x="2359279" y="113258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410711" y="2211324"/>
              <a:ext cx="180340" cy="180340"/>
            </a:xfrm>
            <a:custGeom>
              <a:avLst/>
              <a:gdLst/>
              <a:ahLst/>
              <a:cxnLst/>
              <a:rect l="l" t="t" r="r" b="b"/>
              <a:pathLst>
                <a:path w="180339" h="180339">
                  <a:moveTo>
                    <a:pt x="0" y="179832"/>
                  </a:moveTo>
                  <a:lnTo>
                    <a:pt x="179832" y="179832"/>
                  </a:lnTo>
                  <a:lnTo>
                    <a:pt x="179832" y="0"/>
                  </a:lnTo>
                  <a:lnTo>
                    <a:pt x="0" y="0"/>
                  </a:lnTo>
                  <a:lnTo>
                    <a:pt x="0" y="17983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404615" y="1692909"/>
              <a:ext cx="3265170" cy="3754120"/>
            </a:xfrm>
            <a:custGeom>
              <a:avLst/>
              <a:gdLst/>
              <a:ahLst/>
              <a:cxnLst/>
              <a:rect l="l" t="t" r="r" b="b"/>
              <a:pathLst>
                <a:path w="3265170" h="3754120">
                  <a:moveTo>
                    <a:pt x="179832" y="3023870"/>
                  </a:moveTo>
                  <a:lnTo>
                    <a:pt x="0" y="3023870"/>
                  </a:lnTo>
                  <a:lnTo>
                    <a:pt x="0" y="3203702"/>
                  </a:lnTo>
                  <a:lnTo>
                    <a:pt x="179832" y="3203702"/>
                  </a:lnTo>
                  <a:lnTo>
                    <a:pt x="179832" y="3023870"/>
                  </a:lnTo>
                  <a:close/>
                </a:path>
                <a:path w="3265170" h="3754120">
                  <a:moveTo>
                    <a:pt x="1411478" y="254"/>
                  </a:moveTo>
                  <a:lnTo>
                    <a:pt x="1326261" y="0"/>
                  </a:lnTo>
                  <a:lnTo>
                    <a:pt x="1340370" y="28397"/>
                  </a:lnTo>
                  <a:lnTo>
                    <a:pt x="183134" y="601980"/>
                  </a:lnTo>
                  <a:lnTo>
                    <a:pt x="186156" y="608177"/>
                  </a:lnTo>
                  <a:lnTo>
                    <a:pt x="180594" y="611886"/>
                  </a:lnTo>
                  <a:lnTo>
                    <a:pt x="1364208" y="2406078"/>
                  </a:lnTo>
                  <a:lnTo>
                    <a:pt x="1337691" y="2423541"/>
                  </a:lnTo>
                  <a:lnTo>
                    <a:pt x="1411478" y="2466213"/>
                  </a:lnTo>
                  <a:lnTo>
                    <a:pt x="1405521" y="2416683"/>
                  </a:lnTo>
                  <a:lnTo>
                    <a:pt x="1401318" y="2381631"/>
                  </a:lnTo>
                  <a:lnTo>
                    <a:pt x="1374775" y="2399119"/>
                  </a:lnTo>
                  <a:lnTo>
                    <a:pt x="194919" y="610336"/>
                  </a:lnTo>
                  <a:lnTo>
                    <a:pt x="1346034" y="39789"/>
                  </a:lnTo>
                  <a:lnTo>
                    <a:pt x="1360170" y="68199"/>
                  </a:lnTo>
                  <a:lnTo>
                    <a:pt x="1394498" y="22733"/>
                  </a:lnTo>
                  <a:lnTo>
                    <a:pt x="1411478" y="254"/>
                  </a:lnTo>
                  <a:close/>
                </a:path>
                <a:path w="3265170" h="3754120">
                  <a:moveTo>
                    <a:pt x="2360930" y="2550160"/>
                  </a:moveTo>
                  <a:lnTo>
                    <a:pt x="2356688" y="2524887"/>
                  </a:lnTo>
                  <a:lnTo>
                    <a:pt x="2346833" y="2466086"/>
                  </a:lnTo>
                  <a:lnTo>
                    <a:pt x="2288032" y="2527808"/>
                  </a:lnTo>
                  <a:lnTo>
                    <a:pt x="2318321" y="2537104"/>
                  </a:lnTo>
                  <a:lnTo>
                    <a:pt x="1946148" y="3750183"/>
                  </a:lnTo>
                  <a:lnTo>
                    <a:pt x="1958340" y="3753993"/>
                  </a:lnTo>
                  <a:lnTo>
                    <a:pt x="2330526" y="2540851"/>
                  </a:lnTo>
                  <a:lnTo>
                    <a:pt x="2360930" y="2550160"/>
                  </a:lnTo>
                  <a:close/>
                </a:path>
                <a:path w="3265170" h="3754120">
                  <a:moveTo>
                    <a:pt x="3264662" y="2465070"/>
                  </a:moveTo>
                  <a:lnTo>
                    <a:pt x="3188589" y="2426843"/>
                  </a:lnTo>
                  <a:lnTo>
                    <a:pt x="3188525" y="2458707"/>
                  </a:lnTo>
                  <a:lnTo>
                    <a:pt x="2886456" y="2458212"/>
                  </a:lnTo>
                  <a:lnTo>
                    <a:pt x="2886456" y="2470912"/>
                  </a:lnTo>
                  <a:lnTo>
                    <a:pt x="3188512" y="2471407"/>
                  </a:lnTo>
                  <a:lnTo>
                    <a:pt x="3188462" y="2503043"/>
                  </a:lnTo>
                  <a:lnTo>
                    <a:pt x="3251911" y="2471420"/>
                  </a:lnTo>
                  <a:lnTo>
                    <a:pt x="3264662" y="24650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404615" y="4716780"/>
              <a:ext cx="180340" cy="180340"/>
            </a:xfrm>
            <a:custGeom>
              <a:avLst/>
              <a:gdLst/>
              <a:ahLst/>
              <a:cxnLst/>
              <a:rect l="l" t="t" r="r" b="b"/>
              <a:pathLst>
                <a:path w="180339" h="180339">
                  <a:moveTo>
                    <a:pt x="0" y="179832"/>
                  </a:moveTo>
                  <a:lnTo>
                    <a:pt x="179832" y="179832"/>
                  </a:lnTo>
                  <a:lnTo>
                    <a:pt x="179832" y="0"/>
                  </a:lnTo>
                  <a:lnTo>
                    <a:pt x="0" y="0"/>
                  </a:lnTo>
                  <a:lnTo>
                    <a:pt x="0" y="17983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579113" y="2907791"/>
              <a:ext cx="1241425" cy="2538095"/>
            </a:xfrm>
            <a:custGeom>
              <a:avLst/>
              <a:gdLst/>
              <a:ahLst/>
              <a:cxnLst/>
              <a:rect l="l" t="t" r="r" b="b"/>
              <a:pathLst>
                <a:path w="1241425" h="2538095">
                  <a:moveTo>
                    <a:pt x="1240917" y="0"/>
                  </a:moveTo>
                  <a:lnTo>
                    <a:pt x="1167384" y="43053"/>
                  </a:lnTo>
                  <a:lnTo>
                    <a:pt x="1193990" y="60413"/>
                  </a:lnTo>
                  <a:lnTo>
                    <a:pt x="0" y="1894332"/>
                  </a:lnTo>
                  <a:lnTo>
                    <a:pt x="5778" y="1898053"/>
                  </a:lnTo>
                  <a:lnTo>
                    <a:pt x="2413" y="1904492"/>
                  </a:lnTo>
                  <a:lnTo>
                    <a:pt x="1166622" y="2508110"/>
                  </a:lnTo>
                  <a:lnTo>
                    <a:pt x="1152017" y="2536317"/>
                  </a:lnTo>
                  <a:lnTo>
                    <a:pt x="1237234" y="2537587"/>
                  </a:lnTo>
                  <a:lnTo>
                    <a:pt x="1220038" y="2513965"/>
                  </a:lnTo>
                  <a:lnTo>
                    <a:pt x="1187069" y="2468626"/>
                  </a:lnTo>
                  <a:lnTo>
                    <a:pt x="1172464" y="2496820"/>
                  </a:lnTo>
                  <a:lnTo>
                    <a:pt x="13881" y="1896249"/>
                  </a:lnTo>
                  <a:lnTo>
                    <a:pt x="1204607" y="67335"/>
                  </a:lnTo>
                  <a:lnTo>
                    <a:pt x="1231265" y="84709"/>
                  </a:lnTo>
                  <a:lnTo>
                    <a:pt x="1235240" y="49784"/>
                  </a:lnTo>
                  <a:lnTo>
                    <a:pt x="124091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87922" y="2417064"/>
              <a:ext cx="76200" cy="251968"/>
            </a:xfrm>
            <a:prstGeom prst="rect">
              <a:avLst/>
            </a:prstGeom>
          </p:spPr>
        </p:pic>
      </p:grpSp>
      <p:sp>
        <p:nvSpPr>
          <p:cNvPr id="46" name="object 46"/>
          <p:cNvSpPr txBox="1"/>
          <p:nvPr/>
        </p:nvSpPr>
        <p:spPr>
          <a:xfrm>
            <a:off x="3101085" y="2088896"/>
            <a:ext cx="1473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𝑥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3216910" y="2197100"/>
            <a:ext cx="12255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40" dirty="0">
                <a:latin typeface="Cambria Math"/>
                <a:cs typeface="Cambria Math"/>
              </a:rPr>
              <a:t>1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3075685" y="4637913"/>
            <a:ext cx="294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𝑥</a:t>
            </a:r>
            <a:r>
              <a:rPr sz="1950" spc="-37" baseline="-14957" dirty="0">
                <a:latin typeface="Cambria Math"/>
                <a:cs typeface="Cambria Math"/>
              </a:rPr>
              <a:t>2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5970270" y="1411604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5960745" y="2157730"/>
            <a:ext cx="12255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40" dirty="0">
                <a:latin typeface="Cambria Math"/>
                <a:cs typeface="Cambria Math"/>
              </a:rPr>
              <a:t>1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5824092" y="1904746"/>
            <a:ext cx="4445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0" baseline="-29320" dirty="0">
                <a:latin typeface="Cambria Math"/>
                <a:cs typeface="Cambria Math"/>
              </a:rPr>
              <a:t>𝑏</a:t>
            </a:r>
            <a:r>
              <a:rPr sz="1300" spc="-20" dirty="0">
                <a:latin typeface="Cambria Math"/>
                <a:cs typeface="Cambria Math"/>
              </a:rPr>
              <a:t>(1)</a:t>
            </a:r>
            <a:endParaRPr sz="1300">
              <a:latin typeface="Cambria Math"/>
              <a:cs typeface="Cambria Math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5793994" y="1677923"/>
            <a:ext cx="480695" cy="735330"/>
            <a:chOff x="5793994" y="1677923"/>
            <a:chExt cx="480695" cy="735330"/>
          </a:xfrm>
        </p:grpSpPr>
        <p:sp>
          <p:nvSpPr>
            <p:cNvPr id="53" name="object 53"/>
            <p:cNvSpPr/>
            <p:nvPr/>
          </p:nvSpPr>
          <p:spPr>
            <a:xfrm>
              <a:off x="5800344" y="1938527"/>
              <a:ext cx="467995" cy="467995"/>
            </a:xfrm>
            <a:custGeom>
              <a:avLst/>
              <a:gdLst/>
              <a:ahLst/>
              <a:cxnLst/>
              <a:rect l="l" t="t" r="r" b="b"/>
              <a:pathLst>
                <a:path w="467995" h="467994">
                  <a:moveTo>
                    <a:pt x="0" y="233934"/>
                  </a:moveTo>
                  <a:lnTo>
                    <a:pt x="4754" y="186799"/>
                  </a:lnTo>
                  <a:lnTo>
                    <a:pt x="18389" y="142892"/>
                  </a:lnTo>
                  <a:lnTo>
                    <a:pt x="39962" y="103156"/>
                  </a:lnTo>
                  <a:lnTo>
                    <a:pt x="68532" y="68532"/>
                  </a:lnTo>
                  <a:lnTo>
                    <a:pt x="103156" y="39962"/>
                  </a:lnTo>
                  <a:lnTo>
                    <a:pt x="142892" y="18389"/>
                  </a:lnTo>
                  <a:lnTo>
                    <a:pt x="186799" y="4754"/>
                  </a:lnTo>
                  <a:lnTo>
                    <a:pt x="233933" y="0"/>
                  </a:lnTo>
                  <a:lnTo>
                    <a:pt x="281068" y="4754"/>
                  </a:lnTo>
                  <a:lnTo>
                    <a:pt x="324975" y="18389"/>
                  </a:lnTo>
                  <a:lnTo>
                    <a:pt x="364711" y="39962"/>
                  </a:lnTo>
                  <a:lnTo>
                    <a:pt x="399335" y="68532"/>
                  </a:lnTo>
                  <a:lnTo>
                    <a:pt x="427905" y="103156"/>
                  </a:lnTo>
                  <a:lnTo>
                    <a:pt x="449478" y="142892"/>
                  </a:lnTo>
                  <a:lnTo>
                    <a:pt x="463113" y="186799"/>
                  </a:lnTo>
                  <a:lnTo>
                    <a:pt x="467867" y="233934"/>
                  </a:lnTo>
                  <a:lnTo>
                    <a:pt x="463113" y="281068"/>
                  </a:lnTo>
                  <a:lnTo>
                    <a:pt x="449478" y="324975"/>
                  </a:lnTo>
                  <a:lnTo>
                    <a:pt x="427905" y="364711"/>
                  </a:lnTo>
                  <a:lnTo>
                    <a:pt x="399335" y="399335"/>
                  </a:lnTo>
                  <a:lnTo>
                    <a:pt x="364711" y="427905"/>
                  </a:lnTo>
                  <a:lnTo>
                    <a:pt x="324975" y="449478"/>
                  </a:lnTo>
                  <a:lnTo>
                    <a:pt x="281068" y="463113"/>
                  </a:lnTo>
                  <a:lnTo>
                    <a:pt x="233933" y="467868"/>
                  </a:lnTo>
                  <a:lnTo>
                    <a:pt x="186799" y="463113"/>
                  </a:lnTo>
                  <a:lnTo>
                    <a:pt x="142892" y="449478"/>
                  </a:lnTo>
                  <a:lnTo>
                    <a:pt x="103156" y="427905"/>
                  </a:lnTo>
                  <a:lnTo>
                    <a:pt x="68532" y="399335"/>
                  </a:lnTo>
                  <a:lnTo>
                    <a:pt x="39962" y="364711"/>
                  </a:lnTo>
                  <a:lnTo>
                    <a:pt x="18389" y="324975"/>
                  </a:lnTo>
                  <a:lnTo>
                    <a:pt x="4754" y="281068"/>
                  </a:lnTo>
                  <a:lnTo>
                    <a:pt x="0" y="23393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4" name="object 5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95543" y="1677923"/>
              <a:ext cx="76200" cy="251967"/>
            </a:xfrm>
            <a:prstGeom prst="rect">
              <a:avLst/>
            </a:prstGeom>
          </p:spPr>
        </p:pic>
      </p:grpSp>
      <p:sp>
        <p:nvSpPr>
          <p:cNvPr id="55" name="object 55"/>
          <p:cNvSpPr txBox="1"/>
          <p:nvPr/>
        </p:nvSpPr>
        <p:spPr>
          <a:xfrm>
            <a:off x="5947409" y="5374640"/>
            <a:ext cx="1416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6" name="object 5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986653" y="4392167"/>
            <a:ext cx="76200" cy="251968"/>
          </a:xfrm>
          <a:prstGeom prst="rect">
            <a:avLst/>
          </a:prstGeom>
        </p:spPr>
      </p:pic>
      <p:sp>
        <p:nvSpPr>
          <p:cNvPr id="57" name="object 57"/>
          <p:cNvSpPr txBox="1"/>
          <p:nvPr/>
        </p:nvSpPr>
        <p:spPr>
          <a:xfrm>
            <a:off x="4795520" y="4834305"/>
            <a:ext cx="1294765" cy="63881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R="17780" algn="r">
              <a:lnSpc>
                <a:spcPct val="100000"/>
              </a:lnSpc>
              <a:spcBef>
                <a:spcPts val="575"/>
              </a:spcBef>
            </a:pPr>
            <a:r>
              <a:rPr sz="1300" spc="40" dirty="0">
                <a:latin typeface="Cambria Math"/>
                <a:cs typeface="Cambria Math"/>
              </a:rPr>
              <a:t>2</a:t>
            </a:r>
            <a:endParaRPr sz="1300">
              <a:latin typeface="Cambria Math"/>
              <a:cs typeface="Cambria Math"/>
            </a:endParaRPr>
          </a:p>
          <a:p>
            <a:pPr marL="50800">
              <a:lnSpc>
                <a:spcPct val="100000"/>
              </a:lnSpc>
              <a:spcBef>
                <a:spcPts val="630"/>
              </a:spcBef>
            </a:pPr>
            <a:r>
              <a:rPr sz="2700" spc="-30" baseline="-29320" dirty="0">
                <a:latin typeface="Cambria Math"/>
                <a:cs typeface="Cambria Math"/>
              </a:rPr>
              <a:t>𝑤</a:t>
            </a:r>
            <a:r>
              <a:rPr sz="1300" spc="-20" dirty="0">
                <a:latin typeface="Cambria Math"/>
                <a:cs typeface="Cambria Math"/>
              </a:rPr>
              <a:t>(1)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5813805" y="4639436"/>
            <a:ext cx="4445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0" baseline="-29320" dirty="0">
                <a:latin typeface="Cambria Math"/>
                <a:cs typeface="Cambria Math"/>
              </a:rPr>
              <a:t>𝑏</a:t>
            </a:r>
            <a:r>
              <a:rPr sz="1300" spc="-20" dirty="0">
                <a:latin typeface="Cambria Math"/>
                <a:cs typeface="Cambria Math"/>
              </a:rPr>
              <a:t>(1)</a:t>
            </a:r>
            <a:endParaRPr sz="1300">
              <a:latin typeface="Cambria Math"/>
              <a:cs typeface="Cambria Math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5777229" y="4657090"/>
            <a:ext cx="482600" cy="756920"/>
            <a:chOff x="5777229" y="4657090"/>
            <a:chExt cx="482600" cy="756920"/>
          </a:xfrm>
        </p:grpSpPr>
        <p:sp>
          <p:nvSpPr>
            <p:cNvPr id="60" name="object 60"/>
            <p:cNvSpPr/>
            <p:nvPr/>
          </p:nvSpPr>
          <p:spPr>
            <a:xfrm>
              <a:off x="5783579" y="4663440"/>
              <a:ext cx="469900" cy="467995"/>
            </a:xfrm>
            <a:custGeom>
              <a:avLst/>
              <a:gdLst/>
              <a:ahLst/>
              <a:cxnLst/>
              <a:rect l="l" t="t" r="r" b="b"/>
              <a:pathLst>
                <a:path w="469900" h="467995">
                  <a:moveTo>
                    <a:pt x="0" y="233934"/>
                  </a:moveTo>
                  <a:lnTo>
                    <a:pt x="4766" y="186799"/>
                  </a:lnTo>
                  <a:lnTo>
                    <a:pt x="18436" y="142892"/>
                  </a:lnTo>
                  <a:lnTo>
                    <a:pt x="40069" y="103156"/>
                  </a:lnTo>
                  <a:lnTo>
                    <a:pt x="68722" y="68532"/>
                  </a:lnTo>
                  <a:lnTo>
                    <a:pt x="103454" y="39962"/>
                  </a:lnTo>
                  <a:lnTo>
                    <a:pt x="143321" y="18389"/>
                  </a:lnTo>
                  <a:lnTo>
                    <a:pt x="187382" y="4754"/>
                  </a:lnTo>
                  <a:lnTo>
                    <a:pt x="234696" y="0"/>
                  </a:lnTo>
                  <a:lnTo>
                    <a:pt x="282009" y="4754"/>
                  </a:lnTo>
                  <a:lnTo>
                    <a:pt x="326070" y="18389"/>
                  </a:lnTo>
                  <a:lnTo>
                    <a:pt x="365937" y="39962"/>
                  </a:lnTo>
                  <a:lnTo>
                    <a:pt x="400669" y="68532"/>
                  </a:lnTo>
                  <a:lnTo>
                    <a:pt x="429322" y="103156"/>
                  </a:lnTo>
                  <a:lnTo>
                    <a:pt x="450955" y="142892"/>
                  </a:lnTo>
                  <a:lnTo>
                    <a:pt x="464625" y="186799"/>
                  </a:lnTo>
                  <a:lnTo>
                    <a:pt x="469392" y="233934"/>
                  </a:lnTo>
                  <a:lnTo>
                    <a:pt x="464625" y="281068"/>
                  </a:lnTo>
                  <a:lnTo>
                    <a:pt x="450955" y="324975"/>
                  </a:lnTo>
                  <a:lnTo>
                    <a:pt x="429322" y="364711"/>
                  </a:lnTo>
                  <a:lnTo>
                    <a:pt x="400669" y="399335"/>
                  </a:lnTo>
                  <a:lnTo>
                    <a:pt x="365937" y="427905"/>
                  </a:lnTo>
                  <a:lnTo>
                    <a:pt x="326070" y="449478"/>
                  </a:lnTo>
                  <a:lnTo>
                    <a:pt x="282009" y="463113"/>
                  </a:lnTo>
                  <a:lnTo>
                    <a:pt x="234696" y="467868"/>
                  </a:lnTo>
                  <a:lnTo>
                    <a:pt x="187382" y="463113"/>
                  </a:lnTo>
                  <a:lnTo>
                    <a:pt x="143321" y="449478"/>
                  </a:lnTo>
                  <a:lnTo>
                    <a:pt x="103454" y="427905"/>
                  </a:lnTo>
                  <a:lnTo>
                    <a:pt x="68722" y="399335"/>
                  </a:lnTo>
                  <a:lnTo>
                    <a:pt x="40069" y="364711"/>
                  </a:lnTo>
                  <a:lnTo>
                    <a:pt x="18436" y="324975"/>
                  </a:lnTo>
                  <a:lnTo>
                    <a:pt x="4766" y="281068"/>
                  </a:lnTo>
                  <a:lnTo>
                    <a:pt x="0" y="23393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80556" y="5161788"/>
              <a:ext cx="76200" cy="251968"/>
            </a:xfrm>
            <a:prstGeom prst="rect">
              <a:avLst/>
            </a:prstGeom>
          </p:spPr>
        </p:pic>
      </p:grpSp>
      <p:sp>
        <p:nvSpPr>
          <p:cNvPr id="62" name="object 62"/>
          <p:cNvSpPr txBox="1"/>
          <p:nvPr/>
        </p:nvSpPr>
        <p:spPr>
          <a:xfrm>
            <a:off x="9084309" y="4200270"/>
            <a:ext cx="12255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40" dirty="0">
                <a:latin typeface="Cambria Math"/>
                <a:cs typeface="Cambria Math"/>
              </a:rPr>
              <a:t>1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8947657" y="3947286"/>
            <a:ext cx="4445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0" baseline="-29320" dirty="0">
                <a:latin typeface="Cambria Math"/>
                <a:cs typeface="Cambria Math"/>
              </a:rPr>
              <a:t>𝑏</a:t>
            </a:r>
            <a:r>
              <a:rPr sz="1300" spc="-20" dirty="0">
                <a:latin typeface="Cambria Math"/>
                <a:cs typeface="Cambria Math"/>
              </a:rPr>
              <a:t>(2)</a:t>
            </a:r>
            <a:endParaRPr sz="1300">
              <a:latin typeface="Cambria Math"/>
              <a:cs typeface="Cambria Math"/>
            </a:endParaRPr>
          </a:p>
        </p:txBody>
      </p:sp>
      <p:grpSp>
        <p:nvGrpSpPr>
          <p:cNvPr id="64" name="object 64"/>
          <p:cNvGrpSpPr/>
          <p:nvPr/>
        </p:nvGrpSpPr>
        <p:grpSpPr>
          <a:xfrm>
            <a:off x="8912097" y="3721608"/>
            <a:ext cx="480695" cy="724535"/>
            <a:chOff x="8912097" y="3721608"/>
            <a:chExt cx="480695" cy="724535"/>
          </a:xfrm>
        </p:grpSpPr>
        <p:sp>
          <p:nvSpPr>
            <p:cNvPr id="65" name="object 65"/>
            <p:cNvSpPr/>
            <p:nvPr/>
          </p:nvSpPr>
          <p:spPr>
            <a:xfrm>
              <a:off x="8918447" y="3971544"/>
              <a:ext cx="467995" cy="467995"/>
            </a:xfrm>
            <a:custGeom>
              <a:avLst/>
              <a:gdLst/>
              <a:ahLst/>
              <a:cxnLst/>
              <a:rect l="l" t="t" r="r" b="b"/>
              <a:pathLst>
                <a:path w="467995" h="467995">
                  <a:moveTo>
                    <a:pt x="0" y="233933"/>
                  </a:moveTo>
                  <a:lnTo>
                    <a:pt x="4754" y="186799"/>
                  </a:lnTo>
                  <a:lnTo>
                    <a:pt x="18389" y="142892"/>
                  </a:lnTo>
                  <a:lnTo>
                    <a:pt x="39962" y="103156"/>
                  </a:lnTo>
                  <a:lnTo>
                    <a:pt x="68532" y="68532"/>
                  </a:lnTo>
                  <a:lnTo>
                    <a:pt x="103156" y="39962"/>
                  </a:lnTo>
                  <a:lnTo>
                    <a:pt x="142892" y="18389"/>
                  </a:lnTo>
                  <a:lnTo>
                    <a:pt x="186799" y="4754"/>
                  </a:lnTo>
                  <a:lnTo>
                    <a:pt x="233933" y="0"/>
                  </a:lnTo>
                  <a:lnTo>
                    <a:pt x="281068" y="4754"/>
                  </a:lnTo>
                  <a:lnTo>
                    <a:pt x="324975" y="18389"/>
                  </a:lnTo>
                  <a:lnTo>
                    <a:pt x="364711" y="39962"/>
                  </a:lnTo>
                  <a:lnTo>
                    <a:pt x="399335" y="68532"/>
                  </a:lnTo>
                  <a:lnTo>
                    <a:pt x="427905" y="103156"/>
                  </a:lnTo>
                  <a:lnTo>
                    <a:pt x="449478" y="142892"/>
                  </a:lnTo>
                  <a:lnTo>
                    <a:pt x="463113" y="186799"/>
                  </a:lnTo>
                  <a:lnTo>
                    <a:pt x="467868" y="233933"/>
                  </a:lnTo>
                  <a:lnTo>
                    <a:pt x="463113" y="281068"/>
                  </a:lnTo>
                  <a:lnTo>
                    <a:pt x="449478" y="324975"/>
                  </a:lnTo>
                  <a:lnTo>
                    <a:pt x="427905" y="364711"/>
                  </a:lnTo>
                  <a:lnTo>
                    <a:pt x="399335" y="399335"/>
                  </a:lnTo>
                  <a:lnTo>
                    <a:pt x="364711" y="427905"/>
                  </a:lnTo>
                  <a:lnTo>
                    <a:pt x="324975" y="449478"/>
                  </a:lnTo>
                  <a:lnTo>
                    <a:pt x="281068" y="463113"/>
                  </a:lnTo>
                  <a:lnTo>
                    <a:pt x="233933" y="467867"/>
                  </a:lnTo>
                  <a:lnTo>
                    <a:pt x="186799" y="463113"/>
                  </a:lnTo>
                  <a:lnTo>
                    <a:pt x="142892" y="449478"/>
                  </a:lnTo>
                  <a:lnTo>
                    <a:pt x="103156" y="427905"/>
                  </a:lnTo>
                  <a:lnTo>
                    <a:pt x="68532" y="399335"/>
                  </a:lnTo>
                  <a:lnTo>
                    <a:pt x="39962" y="364711"/>
                  </a:lnTo>
                  <a:lnTo>
                    <a:pt x="18389" y="324975"/>
                  </a:lnTo>
                  <a:lnTo>
                    <a:pt x="4754" y="281068"/>
                  </a:lnTo>
                  <a:lnTo>
                    <a:pt x="0" y="233933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6" name="object 6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106280" y="3721608"/>
              <a:ext cx="76200" cy="251968"/>
            </a:xfrm>
            <a:prstGeom prst="rect">
              <a:avLst/>
            </a:prstGeom>
          </p:spPr>
        </p:pic>
      </p:grpSp>
      <p:sp>
        <p:nvSpPr>
          <p:cNvPr id="67" name="object 67"/>
          <p:cNvSpPr txBox="1"/>
          <p:nvPr/>
        </p:nvSpPr>
        <p:spPr>
          <a:xfrm>
            <a:off x="9074022" y="4652213"/>
            <a:ext cx="1416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68" name="object 6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106281" y="4439411"/>
            <a:ext cx="76200" cy="25196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9" name="CaixaDeTexto 68">
                <a:extLst>
                  <a:ext uri="{FF2B5EF4-FFF2-40B4-BE49-F238E27FC236}">
                    <a16:creationId xmlns:a16="http://schemas.microsoft.com/office/drawing/2014/main" id="{0396038B-552C-64A7-38F1-93F3B2C0C29D}"/>
                  </a:ext>
                </a:extLst>
              </p:cNvPr>
              <p:cNvSpPr txBox="1"/>
              <p:nvPr/>
            </p:nvSpPr>
            <p:spPr>
              <a:xfrm>
                <a:off x="5921785" y="2755431"/>
                <a:ext cx="22762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∑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69" name="CaixaDeTexto 68">
                <a:extLst>
                  <a:ext uri="{FF2B5EF4-FFF2-40B4-BE49-F238E27FC236}">
                    <a16:creationId xmlns:a16="http://schemas.microsoft.com/office/drawing/2014/main" id="{0396038B-552C-64A7-38F1-93F3B2C0C2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1785" y="2755431"/>
                <a:ext cx="227626" cy="276999"/>
              </a:xfrm>
              <a:prstGeom prst="rect">
                <a:avLst/>
              </a:prstGeom>
              <a:blipFill>
                <a:blip r:embed="rId6"/>
                <a:stretch>
                  <a:fillRect l="-34211" r="-31579" b="-3777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CaixaDeTexto 69">
                <a:extLst>
                  <a:ext uri="{FF2B5EF4-FFF2-40B4-BE49-F238E27FC236}">
                    <a16:creationId xmlns:a16="http://schemas.microsoft.com/office/drawing/2014/main" id="{73978877-31D3-0041-DF03-085A40F8B55C}"/>
                  </a:ext>
                </a:extLst>
              </p:cNvPr>
              <p:cNvSpPr txBox="1"/>
              <p:nvPr/>
            </p:nvSpPr>
            <p:spPr>
              <a:xfrm>
                <a:off x="5923186" y="4002932"/>
                <a:ext cx="22762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∑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0" name="CaixaDeTexto 69">
                <a:extLst>
                  <a:ext uri="{FF2B5EF4-FFF2-40B4-BE49-F238E27FC236}">
                    <a16:creationId xmlns:a16="http://schemas.microsoft.com/office/drawing/2014/main" id="{73978877-31D3-0041-DF03-085A40F8B5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3186" y="4002932"/>
                <a:ext cx="227626" cy="276999"/>
              </a:xfrm>
              <a:prstGeom prst="rect">
                <a:avLst/>
              </a:prstGeom>
              <a:blipFill>
                <a:blip r:embed="rId7"/>
                <a:stretch>
                  <a:fillRect l="-35135" t="-2222" r="-35135" b="-3777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CaixaDeTexto 70">
                <a:extLst>
                  <a:ext uri="{FF2B5EF4-FFF2-40B4-BE49-F238E27FC236}">
                    <a16:creationId xmlns:a16="http://schemas.microsoft.com/office/drawing/2014/main" id="{164F6C8A-D9F4-3821-3DB8-921DEE9AFF72}"/>
                  </a:ext>
                </a:extLst>
              </p:cNvPr>
              <p:cNvSpPr txBox="1"/>
              <p:nvPr/>
            </p:nvSpPr>
            <p:spPr>
              <a:xfrm>
                <a:off x="9030108" y="3330246"/>
                <a:ext cx="22762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∑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1" name="CaixaDeTexto 70">
                <a:extLst>
                  <a:ext uri="{FF2B5EF4-FFF2-40B4-BE49-F238E27FC236}">
                    <a16:creationId xmlns:a16="http://schemas.microsoft.com/office/drawing/2014/main" id="{164F6C8A-D9F4-3821-3DB8-921DEE9AFF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0108" y="3330246"/>
                <a:ext cx="227626" cy="276999"/>
              </a:xfrm>
              <a:prstGeom prst="rect">
                <a:avLst/>
              </a:prstGeom>
              <a:blipFill>
                <a:blip r:embed="rId8"/>
                <a:stretch>
                  <a:fillRect l="-34211" r="-31579" b="-3478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1448</TotalTime>
  <Words>8994</Words>
  <Application>Microsoft Office PowerPoint</Application>
  <PresentationFormat>Widescreen</PresentationFormat>
  <Paragraphs>750</Paragraphs>
  <Slides>81</Slides>
  <Notes>1</Notes>
  <HiddenSlides>1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81</vt:i4>
      </vt:variant>
    </vt:vector>
  </HeadingPairs>
  <TitlesOfParts>
    <vt:vector size="90" baseType="lpstr">
      <vt:lpstr>Aptos</vt:lpstr>
      <vt:lpstr>Arial</vt:lpstr>
      <vt:lpstr>Calibri</vt:lpstr>
      <vt:lpstr>Calibri Light</vt:lpstr>
      <vt:lpstr>Cambria Math</vt:lpstr>
      <vt:lpstr>Courier New</vt:lpstr>
      <vt:lpstr>Times New Roman</vt:lpstr>
      <vt:lpstr>Wingdings</vt:lpstr>
      <vt:lpstr>Office Theme</vt:lpstr>
      <vt:lpstr>TP555 - Inteligência Artificial e Machine Learning: Redes Neurais Artificiais (Parte II)</vt:lpstr>
      <vt:lpstr>Perceptron de Múltiplas Camadas</vt:lpstr>
      <vt:lpstr>Perceptron de Múltiplas Camadas</vt:lpstr>
      <vt:lpstr>Perceptron de Múltiplas Camadas</vt:lpstr>
      <vt:lpstr>Perceptron de Múltiplas Camadas</vt:lpstr>
      <vt:lpstr>Funções de ativação</vt:lpstr>
      <vt:lpstr>Funções de ativação</vt:lpstr>
      <vt:lpstr>Funções de ativação</vt:lpstr>
      <vt:lpstr>O Problema da Dissipação do Gradiente</vt:lpstr>
      <vt:lpstr>O Problema da Dissipação do Gradiente</vt:lpstr>
      <vt:lpstr>O Problema da Dissipação do Gradiente</vt:lpstr>
      <vt:lpstr>O Problema da Dissipação do Gradiente</vt:lpstr>
      <vt:lpstr>Funções de ativação</vt:lpstr>
      <vt:lpstr>Funções de ativação</vt:lpstr>
      <vt:lpstr>Funções de ativação</vt:lpstr>
      <vt:lpstr>Evitando a dissipação e explosão do gradiente</vt:lpstr>
      <vt:lpstr>Conectando Neurônios</vt:lpstr>
      <vt:lpstr>Conectando Neurônios</vt:lpstr>
      <vt:lpstr>Regressão Não-Linear</vt:lpstr>
      <vt:lpstr>Aprendizado em Redes Neurais</vt:lpstr>
      <vt:lpstr>Aprendizado em Redes Neurais</vt:lpstr>
      <vt:lpstr>Aprendizado em Redes Neurais</vt:lpstr>
      <vt:lpstr>Aprendizado em Redes Neurais</vt:lpstr>
      <vt:lpstr>Mínimos Locais, Globais, Pontos de Sela e Platôs</vt:lpstr>
      <vt:lpstr>Mínimos Locais, Globais, Pontos de Sela e Platôs</vt:lpstr>
      <vt:lpstr>Mínimos Locais, Globais, Pontos de Sela e Platôs</vt:lpstr>
      <vt:lpstr>Retropropagação do Erro</vt:lpstr>
      <vt:lpstr>Retropropagação do Erro</vt:lpstr>
      <vt:lpstr>Retropropagação do Erro</vt:lpstr>
      <vt:lpstr>Retropropagação do Erro</vt:lpstr>
      <vt:lpstr>Algumas visões práticas de algoritmos de aprendizado</vt:lpstr>
      <vt:lpstr>Algumas visões práticas de algoritmos de aprendizado</vt:lpstr>
      <vt:lpstr>Algumas visões práticas de algoritmos de aprendizado</vt:lpstr>
      <vt:lpstr>Algumas visões práticas de algoritmos de aprendizado</vt:lpstr>
      <vt:lpstr>Algumas visões práticas de algoritmos de aprendizado</vt:lpstr>
      <vt:lpstr>Algumas visões práticas de algoritmos de aprendizado</vt:lpstr>
      <vt:lpstr>Variações dos algoritmos de otimização dos pesos</vt:lpstr>
      <vt:lpstr>Variações dos algoritmos de otimização dos pesos</vt:lpstr>
      <vt:lpstr>Variações dos algoritmos de otimização dos pesos</vt:lpstr>
      <vt:lpstr>Variações dos algoritmos de otimização dos pesos</vt:lpstr>
      <vt:lpstr>Variações dos algoritmos de otimização dos pesos</vt:lpstr>
      <vt:lpstr>Inicialização dos Pesos</vt:lpstr>
      <vt:lpstr>Inicialização dos Pesos</vt:lpstr>
      <vt:lpstr>Inicialização dos Pesos</vt:lpstr>
      <vt:lpstr>Redes Neurais MLP com SciKit-Learn</vt:lpstr>
      <vt:lpstr>Classificação com MLPClassifier</vt:lpstr>
      <vt:lpstr>Regressão com MLPRegressor</vt:lpstr>
      <vt:lpstr>Avisos</vt:lpstr>
      <vt:lpstr>Obrigado!</vt:lpstr>
      <vt:lpstr>Apresentação do PowerPoint</vt:lpstr>
      <vt:lpstr>Avisos</vt:lpstr>
      <vt:lpstr>Aproximação universal de funções</vt:lpstr>
      <vt:lpstr>Aproximação universal de funções</vt:lpstr>
      <vt:lpstr>Retropropagação do Erro</vt:lpstr>
      <vt:lpstr>Retropropagação do Erro</vt:lpstr>
      <vt:lpstr>Retropropagação do Erro</vt:lpstr>
      <vt:lpstr>Retropropagação: Algumas noções básicas</vt:lpstr>
      <vt:lpstr>Retropropagação: Algumas noções básicas</vt:lpstr>
      <vt:lpstr>Retropropagando o erro</vt:lpstr>
      <vt:lpstr>Retropropagando o erro</vt:lpstr>
      <vt:lpstr>Retropropagando o erro</vt:lpstr>
      <vt:lpstr>Tarefa</vt:lpstr>
      <vt:lpstr>Exemplo da retropropagação do erro</vt:lpstr>
      <vt:lpstr>Exemplo da retropropagação do erro,</vt:lpstr>
      <vt:lpstr>Exemplo da retropropagação do erro</vt:lpstr>
      <vt:lpstr>Exemplo da retropropagação do erro</vt:lpstr>
      <vt:lpstr>Exemplo da retropropagação do erro</vt:lpstr>
      <vt:lpstr>Figuras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𝑤𝑖𝑗</vt:lpstr>
      <vt:lpstr>Apresentação do PowerPoint</vt:lpstr>
      <vt:lpstr>Apresentação do PowerPoint</vt:lpstr>
      <vt:lpstr>Apresentação do PowerPoint</vt:lpstr>
      <vt:lpstr>Apresentação do PowerPoint</vt:lpstr>
      <vt:lpstr>𝑤(1)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TP555 - Inteligência Artificial e Machine Learning: Classificadores Lineares</dc:title>
  <dc:creator>Felipe Augusto Pereira de Figueiredo</dc:creator>
  <cp:lastModifiedBy>Luiz Augusto Melo Pereira</cp:lastModifiedBy>
  <cp:revision>4</cp:revision>
  <dcterms:created xsi:type="dcterms:W3CDTF">2025-01-25T02:32:00Z</dcterms:created>
  <dcterms:modified xsi:type="dcterms:W3CDTF">2025-06-13T04:21:16Z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2023-06-14T00:00:00Z</vt:filetime>
  </property>
  <property fmtid="{D5CDD505-2E9C-101B-9397-08002B2CF9AE}" pid="3" name="Creator">
    <vt:lpwstr>Microsoft® PowerPoint® LTSC</vt:lpwstr>
  </property>
  <property fmtid="{D5CDD505-2E9C-101B-9397-08002B2CF9AE}" pid="4" name="LastSaved">
    <vt:filetime>2025-01-25T00:00:00Z</vt:filetime>
  </property>
  <property fmtid="{D5CDD505-2E9C-101B-9397-08002B2CF9AE}" pid="5" name="Producer">
    <vt:lpwstr>Microsoft® PowerPoint® LTSC</vt:lpwstr>
  </property>
</Properties>
</file>